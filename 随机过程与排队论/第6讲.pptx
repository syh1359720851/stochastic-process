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4">
  <p:sldMasterIdLst>
    <p:sldMasterId id="2147483648" r:id="rId1"/>
  </p:sldMasterIdLst>
  <p:notesMasterIdLst>
    <p:notesMasterId r:id="rId59"/>
  </p:notesMasterIdLst>
  <p:sldIdLst>
    <p:sldId id="256" r:id="rId2"/>
    <p:sldId id="429" r:id="rId3"/>
    <p:sldId id="417" r:id="rId4"/>
    <p:sldId id="272" r:id="rId5"/>
    <p:sldId id="277" r:id="rId6"/>
    <p:sldId id="432" r:id="rId7"/>
    <p:sldId id="426" r:id="rId8"/>
    <p:sldId id="411" r:id="rId9"/>
    <p:sldId id="343" r:id="rId10"/>
    <p:sldId id="342" r:id="rId11"/>
    <p:sldId id="351" r:id="rId12"/>
    <p:sldId id="311" r:id="rId13"/>
    <p:sldId id="312" r:id="rId14"/>
    <p:sldId id="310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45" r:id="rId23"/>
    <p:sldId id="344" r:id="rId24"/>
    <p:sldId id="320" r:id="rId25"/>
    <p:sldId id="346" r:id="rId26"/>
    <p:sldId id="350" r:id="rId27"/>
    <p:sldId id="321" r:id="rId28"/>
    <p:sldId id="322" r:id="rId29"/>
    <p:sldId id="323" r:id="rId30"/>
    <p:sldId id="348" r:id="rId31"/>
    <p:sldId id="347" r:id="rId32"/>
    <p:sldId id="349" r:id="rId33"/>
    <p:sldId id="324" r:id="rId34"/>
    <p:sldId id="327" r:id="rId35"/>
    <p:sldId id="328" r:id="rId36"/>
    <p:sldId id="329" r:id="rId37"/>
    <p:sldId id="332" r:id="rId38"/>
    <p:sldId id="333" r:id="rId39"/>
    <p:sldId id="334" r:id="rId40"/>
    <p:sldId id="330" r:id="rId41"/>
    <p:sldId id="331" r:id="rId42"/>
    <p:sldId id="340" r:id="rId43"/>
    <p:sldId id="341" r:id="rId44"/>
    <p:sldId id="436" r:id="rId45"/>
    <p:sldId id="294" r:id="rId46"/>
    <p:sldId id="433" r:id="rId47"/>
    <p:sldId id="434" r:id="rId48"/>
    <p:sldId id="297" r:id="rId49"/>
    <p:sldId id="298" r:id="rId50"/>
    <p:sldId id="299" r:id="rId51"/>
    <p:sldId id="300" r:id="rId52"/>
    <p:sldId id="301" r:id="rId53"/>
    <p:sldId id="302" r:id="rId54"/>
    <p:sldId id="437" r:id="rId55"/>
    <p:sldId id="290" r:id="rId56"/>
    <p:sldId id="259" r:id="rId57"/>
    <p:sldId id="435" r:id="rId58"/>
  </p:sldIdLst>
  <p:sldSz cx="12198350" cy="6859588"/>
  <p:notesSz cx="9144000" cy="6858000"/>
  <p:defaultTextStyle>
    <a:defPPr>
      <a:defRPr lang="en-US"/>
    </a:defPPr>
    <a:lvl1pPr marL="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22">
          <p15:clr>
            <a:srgbClr val="A4A3A4"/>
          </p15:clr>
        </p15:guide>
        <p15:guide id="3" orient="horz" pos="2878">
          <p15:clr>
            <a:srgbClr val="A4A3A4"/>
          </p15:clr>
        </p15:guide>
        <p15:guide id="4" pos="38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990033"/>
    <a:srgbClr val="0000FF"/>
    <a:srgbClr val="92D050"/>
    <a:srgbClr val="CC00CC"/>
    <a:srgbClr val="BD9B53"/>
    <a:srgbClr val="009900"/>
    <a:srgbClr val="F4FA12"/>
    <a:srgbClr val="1157AB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31361" autoAdjust="0"/>
    <p:restoredTop sz="92627" autoAdjust="0"/>
  </p:normalViewPr>
  <p:slideViewPr>
    <p:cSldViewPr>
      <p:cViewPr varScale="1">
        <p:scale>
          <a:sx n="63" d="100"/>
          <a:sy n="63" d="100"/>
        </p:scale>
        <p:origin x="216" y="1896"/>
      </p:cViewPr>
      <p:guideLst>
        <p:guide orient="horz" pos="2160"/>
        <p:guide pos="2822"/>
        <p:guide orient="horz" pos="2878"/>
        <p:guide pos="384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5" d="100"/>
          <a:sy n="95" d="100"/>
        </p:scale>
        <p:origin x="4042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8.xml"/><Relationship Id="rId18" Type="http://schemas.openxmlformats.org/officeDocument/2006/relationships/slide" Target="slides/slide23.xml"/><Relationship Id="rId26" Type="http://schemas.openxmlformats.org/officeDocument/2006/relationships/slide" Target="slides/slide34.xml"/><Relationship Id="rId39" Type="http://schemas.openxmlformats.org/officeDocument/2006/relationships/slide" Target="slides/slide48.xml"/><Relationship Id="rId21" Type="http://schemas.openxmlformats.org/officeDocument/2006/relationships/slide" Target="slides/slide27.xml"/><Relationship Id="rId34" Type="http://schemas.openxmlformats.org/officeDocument/2006/relationships/slide" Target="slides/slide42.xml"/><Relationship Id="rId42" Type="http://schemas.openxmlformats.org/officeDocument/2006/relationships/slide" Target="slides/slide51.xml"/><Relationship Id="rId7" Type="http://schemas.openxmlformats.org/officeDocument/2006/relationships/slide" Target="slides/slide12.xml"/><Relationship Id="rId2" Type="http://schemas.openxmlformats.org/officeDocument/2006/relationships/slide" Target="slides/slide4.xml"/><Relationship Id="rId16" Type="http://schemas.openxmlformats.org/officeDocument/2006/relationships/slide" Target="slides/slide21.xml"/><Relationship Id="rId29" Type="http://schemas.openxmlformats.org/officeDocument/2006/relationships/slide" Target="slides/slide37.xml"/><Relationship Id="rId1" Type="http://schemas.openxmlformats.org/officeDocument/2006/relationships/slide" Target="slides/slide3.xml"/><Relationship Id="rId6" Type="http://schemas.openxmlformats.org/officeDocument/2006/relationships/slide" Target="slides/slide11.xml"/><Relationship Id="rId11" Type="http://schemas.openxmlformats.org/officeDocument/2006/relationships/slide" Target="slides/slide16.xml"/><Relationship Id="rId24" Type="http://schemas.openxmlformats.org/officeDocument/2006/relationships/slide" Target="slides/slide31.xml"/><Relationship Id="rId32" Type="http://schemas.openxmlformats.org/officeDocument/2006/relationships/slide" Target="slides/slide40.xml"/><Relationship Id="rId37" Type="http://schemas.openxmlformats.org/officeDocument/2006/relationships/slide" Target="slides/slide46.xml"/><Relationship Id="rId40" Type="http://schemas.openxmlformats.org/officeDocument/2006/relationships/slide" Target="slides/slide49.xml"/><Relationship Id="rId45" Type="http://schemas.openxmlformats.org/officeDocument/2006/relationships/slide" Target="slides/slide55.xml"/><Relationship Id="rId5" Type="http://schemas.openxmlformats.org/officeDocument/2006/relationships/slide" Target="slides/slide9.xml"/><Relationship Id="rId15" Type="http://schemas.openxmlformats.org/officeDocument/2006/relationships/slide" Target="slides/slide20.xml"/><Relationship Id="rId23" Type="http://schemas.openxmlformats.org/officeDocument/2006/relationships/slide" Target="slides/slide29.xml"/><Relationship Id="rId28" Type="http://schemas.openxmlformats.org/officeDocument/2006/relationships/slide" Target="slides/slide36.xml"/><Relationship Id="rId36" Type="http://schemas.openxmlformats.org/officeDocument/2006/relationships/slide" Target="slides/slide45.xml"/><Relationship Id="rId10" Type="http://schemas.openxmlformats.org/officeDocument/2006/relationships/slide" Target="slides/slide15.xml"/><Relationship Id="rId19" Type="http://schemas.openxmlformats.org/officeDocument/2006/relationships/slide" Target="slides/slide24.xml"/><Relationship Id="rId31" Type="http://schemas.openxmlformats.org/officeDocument/2006/relationships/slide" Target="slides/slide39.xml"/><Relationship Id="rId44" Type="http://schemas.openxmlformats.org/officeDocument/2006/relationships/slide" Target="slides/slide53.xml"/><Relationship Id="rId4" Type="http://schemas.openxmlformats.org/officeDocument/2006/relationships/slide" Target="slides/slide6.xml"/><Relationship Id="rId9" Type="http://schemas.openxmlformats.org/officeDocument/2006/relationships/slide" Target="slides/slide14.xml"/><Relationship Id="rId14" Type="http://schemas.openxmlformats.org/officeDocument/2006/relationships/slide" Target="slides/slide19.xml"/><Relationship Id="rId22" Type="http://schemas.openxmlformats.org/officeDocument/2006/relationships/slide" Target="slides/slide28.xml"/><Relationship Id="rId27" Type="http://schemas.openxmlformats.org/officeDocument/2006/relationships/slide" Target="slides/slide35.xml"/><Relationship Id="rId30" Type="http://schemas.openxmlformats.org/officeDocument/2006/relationships/slide" Target="slides/slide38.xml"/><Relationship Id="rId35" Type="http://schemas.openxmlformats.org/officeDocument/2006/relationships/slide" Target="slides/slide43.xml"/><Relationship Id="rId43" Type="http://schemas.openxmlformats.org/officeDocument/2006/relationships/slide" Target="slides/slide52.xml"/><Relationship Id="rId8" Type="http://schemas.openxmlformats.org/officeDocument/2006/relationships/slide" Target="slides/slide13.xml"/><Relationship Id="rId3" Type="http://schemas.openxmlformats.org/officeDocument/2006/relationships/slide" Target="slides/slide5.xml"/><Relationship Id="rId12" Type="http://schemas.openxmlformats.org/officeDocument/2006/relationships/slide" Target="slides/slide17.xml"/><Relationship Id="rId17" Type="http://schemas.openxmlformats.org/officeDocument/2006/relationships/slide" Target="slides/slide22.xml"/><Relationship Id="rId25" Type="http://schemas.openxmlformats.org/officeDocument/2006/relationships/slide" Target="slides/slide33.xml"/><Relationship Id="rId33" Type="http://schemas.openxmlformats.org/officeDocument/2006/relationships/slide" Target="slides/slide41.xml"/><Relationship Id="rId38" Type="http://schemas.openxmlformats.org/officeDocument/2006/relationships/slide" Target="slides/slide47.xml"/><Relationship Id="rId46" Type="http://schemas.openxmlformats.org/officeDocument/2006/relationships/slide" Target="slides/slide56.xml"/><Relationship Id="rId20" Type="http://schemas.openxmlformats.org/officeDocument/2006/relationships/slide" Target="slides/slide25.xml"/><Relationship Id="rId41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881824-7EDF-4B1D-9D44-4D7461D95900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F2A367-4377-4BC9-85D6-558F91AD7B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901B6A2E-D260-CD32-41A2-BB40034162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86B3DB7-4F84-4856-AE93-DA628C5A4456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0C71F08D-5AEF-9912-04D0-3803618CF5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E13E2ED5-F928-478D-591D-5324F02B30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930EF00-27D8-403D-ABDF-E178B6F56116}" type="slidenum">
              <a:rPr lang="en-US" altLang="zh-CN" smtClean="0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7837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2FB4130-683A-4DB5-B430-E0CE07AD0B37}" type="slidenum">
              <a:rPr lang="en-US" altLang="zh-CN" smtClean="0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9715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AA82D-0FBB-7FA6-52F8-2BA27CA39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8AF7D647-1366-3D16-DFD6-1FED4249C5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2FB4130-683A-4DB5-B430-E0CE07AD0B37}" type="slidenum">
              <a:rPr lang="en-US" altLang="zh-CN" smtClean="0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B5233001-596D-7DF9-292C-03DFD229A2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FE7C5FEB-FA6F-18D6-A6AE-A7F0EC562E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0971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9C055-D5A5-190A-8569-D8A311B92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C57D4F-A5D4-8310-AFFA-93FFE103B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43463D-99CD-00B5-D16F-C760C94C4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8F1BAE-B0C9-341A-1968-0E97E86FF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449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4B8CE59-CBD5-421B-8840-BB3F41586073}" type="slidenum">
              <a:rPr lang="en-US" altLang="zh-CN" smtClean="0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8B983D-C3C4-4A38-9F20-0804232F459D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3847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875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E528368-6877-4B29-A8AC-F9A68CC1831B}" type="slidenum">
              <a:rPr lang="en-US" altLang="zh-CN" sz="1200" smtClean="0"/>
              <a:pPr/>
              <a:t>27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d(j)|</a:t>
            </a: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m+n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且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d(j)|</a:t>
            </a: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m+n+s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从而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d(j)|s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，说明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d(j)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是</a:t>
            </a: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m+n;m+n+s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和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s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的公约数；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036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8B983D-C3C4-4A38-9F20-0804232F459D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96434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9560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0BAB1-342D-2126-F5DC-CD03941AB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0F5F33-631E-5C13-1A3B-C1AD3F720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133E5B-E9F2-8BFF-F2D7-528C224F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6C8D6A-936D-ABFC-BE10-7CB0B7446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3141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B380F80E-BBAB-3B08-1824-A0F10A56EC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58477AE-67CC-4183-9F6E-93D6D95841D2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DB6DDDC3-5E48-E5F8-7BDB-545E7F71A7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4CDA71FF-EA00-8759-D50A-A3F36756DF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1A725439-C45D-7D84-A3D0-F2AF644556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F0361DE-1C9D-4FA8-B9A2-7D0085FDCDC8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350F3E4-B64C-05E6-894E-FEC10C9D16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DB8B5CDF-5C49-44F7-0841-D6DE44DED8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A9F5D867-224A-35C7-F022-A726A6D1C9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99DB8CE-892E-4643-A1FD-129F7148E9BE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48993393-D980-EB1F-EBDD-8BC4F4418A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9EF202A1-E576-9859-6865-6CA5CBDA73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68B9B2DE-7593-8933-35FE-E3EDAE55F7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A977FAA-916C-4690-B5A5-E37A6D918765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1B80EA4F-0936-BC48-DB5E-675E223A0A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57FCBE9A-D269-BEC0-E568-EA66627CD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3078308A-330C-8156-605E-93E96F8EF8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D444E59-157D-40CF-912A-85783049E2B1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6BF52EEA-AB52-6D1B-C198-B83C0AFEBF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DA43EB1D-1A3C-54EB-9B37-C81CF4E8B6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76350C06-904C-4407-5AD5-42E845EDC7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5DD6324-E5B8-4909-9A49-5A764F1A1F30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71EBBE08-000F-D9A7-A74F-69D392A1EC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AA6A8FE6-5A63-7177-7CE7-80625D18DF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98A782F2-7CF8-976D-819D-8C793D51A9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C3466C2-4545-46AE-8D11-786BFCB67957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FBEBEE12-E731-EC80-6399-DE1A10A34E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8BE29FE5-B416-22B7-0304-4A9EC7865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 err="1"/>
              <a:t>Pii</a:t>
            </a:r>
            <a:r>
              <a:rPr lang="en-US" altLang="zh-CN" dirty="0"/>
              <a:t>’(+0)=</a:t>
            </a:r>
            <a:r>
              <a:rPr lang="en-US" altLang="zh-CN" dirty="0" err="1"/>
              <a:t>lim</a:t>
            </a:r>
            <a:r>
              <a:rPr lang="en-US" altLang="zh-CN" dirty="0"/>
              <a:t>(t-&gt;0+)</a:t>
            </a:r>
            <a:r>
              <a:rPr lang="en-US" altLang="zh-CN" dirty="0" err="1"/>
              <a:t>qii</a:t>
            </a:r>
            <a:r>
              <a:rPr lang="en-US" altLang="zh-CN" dirty="0"/>
              <a:t>(t)-</a:t>
            </a:r>
            <a:r>
              <a:rPr lang="en-US" altLang="zh-CN" dirty="0" err="1"/>
              <a:t>qii</a:t>
            </a:r>
            <a:r>
              <a:rPr lang="en-US" altLang="zh-CN" dirty="0"/>
              <a:t>(0)/t=-</a:t>
            </a:r>
            <a:r>
              <a:rPr lang="en-US" altLang="zh-CN" dirty="0" err="1"/>
              <a:t>qii</a:t>
            </a:r>
            <a:r>
              <a:rPr lang="zh-CN" altLang="en-US" dirty="0"/>
              <a:t>（上一页</a:t>
            </a:r>
            <a:r>
              <a:rPr lang="en-US" altLang="zh-CN" dirty="0"/>
              <a:t>ppt</a:t>
            </a:r>
            <a:r>
              <a:rPr lang="zh-CN" altLang="en-US" dirty="0"/>
              <a:t>的第</a:t>
            </a:r>
            <a:r>
              <a:rPr lang="en-US" altLang="zh-CN" dirty="0"/>
              <a:t>6</a:t>
            </a:r>
            <a:r>
              <a:rPr lang="zh-CN" altLang="en-US" dirty="0"/>
              <a:t>条）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B8CF621D-E772-77A9-E31D-AE6A2DEB5A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8434461-9898-4615-97D1-E9367FD6C1BA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AE90BC6B-900D-9BCD-9F76-A4666FDBF6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61299292-6439-E130-28EA-8AE12193D4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05C415DE-8A66-3579-58EC-24574CE706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A8F3624-5FBD-4D0E-83E6-E510345F7C5B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A6EE0386-E1C5-14A7-A171-72201B0435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8880579B-2E4C-7CB9-BB85-0D3A993D0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363CC3E4-DFED-0F4A-4899-FB8871ACC5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F1326E1-5C9E-4434-90B4-B244DF554B71}" type="slidenum">
              <a:rPr lang="en-US" altLang="zh-CN"/>
              <a:pPr>
                <a:spcBef>
                  <a:spcPct val="0"/>
                </a:spcBef>
              </a:pPr>
              <a:t>55</a:t>
            </a:fld>
            <a:endParaRPr lang="en-US" altLang="zh-CN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927F7030-79AB-712B-1A28-77D4CABD08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841FF0D4-8B26-9AD2-1269-2B0227A2BF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876" y="2841225"/>
            <a:ext cx="10368598" cy="19604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9753" y="5182800"/>
            <a:ext cx="8538845" cy="23373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9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9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8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一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352424"/>
            <a:ext cx="5334000" cy="42941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143795"/>
            <a:ext cx="10978515" cy="5029200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400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2400">
                <a:solidFill>
                  <a:schemeClr val="tx1"/>
                </a:solidFill>
                <a:latin typeface="+mn-ea"/>
                <a:ea typeface="+mn-ea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2400">
                <a:solidFill>
                  <a:schemeClr val="tx1"/>
                </a:solidFill>
                <a:latin typeface="+mn-ea"/>
                <a:ea typeface="+mn-ea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2400">
                <a:solidFill>
                  <a:schemeClr val="tx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两级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362744"/>
            <a:ext cx="6581775" cy="400050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+mn-ea"/>
                <a:ea typeface="+mn-e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600994"/>
            <a:ext cx="10978515" cy="457200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30000"/>
              </a:lnSpc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lnSpc>
                <a:spcPct val="130000"/>
              </a:lnSpc>
              <a:defRPr sz="2400" b="1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lnSpc>
                <a:spcPct val="130000"/>
              </a:lnSpc>
              <a:defRPr sz="2400" b="1">
                <a:solidFill>
                  <a:schemeClr val="tx1"/>
                </a:solidFill>
                <a:latin typeface="+mn-ea"/>
                <a:ea typeface="+mn-ea"/>
              </a:defRPr>
            </a:lvl3pPr>
            <a:lvl4pPr>
              <a:lnSpc>
                <a:spcPct val="130000"/>
              </a:lnSpc>
              <a:defRPr sz="2400" b="1">
                <a:solidFill>
                  <a:schemeClr val="tx1"/>
                </a:solidFill>
                <a:latin typeface="+mn-ea"/>
                <a:ea typeface="+mn-ea"/>
              </a:defRPr>
            </a:lvl4pPr>
            <a:lvl5pPr>
              <a:lnSpc>
                <a:spcPct val="130000"/>
              </a:lnSpc>
              <a:defRPr sz="2400" b="1">
                <a:solidFill>
                  <a:schemeClr val="tx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841375" y="984137"/>
            <a:ext cx="10747058" cy="4644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SzPct val="80000"/>
              <a:buFont typeface="Wingdings" panose="05000000000000000000" pitchFamily="2" charset="2"/>
              <a:buNone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/>
          <p:cNvSpPr/>
          <p:nvPr userDrawn="1"/>
        </p:nvSpPr>
        <p:spPr>
          <a:xfrm>
            <a:off x="-73026" y="0"/>
            <a:ext cx="12271375" cy="6859588"/>
          </a:xfrm>
          <a:custGeom>
            <a:avLst/>
            <a:gdLst>
              <a:gd name="connsiteX0" fmla="*/ 0 w 9144000"/>
              <a:gd name="connsiteY0" fmla="*/ 5143500 h 5143500"/>
              <a:gd name="connsiteX1" fmla="*/ 9144000 w 9144000"/>
              <a:gd name="connsiteY1" fmla="*/ 5143500 h 5143500"/>
              <a:gd name="connsiteX2" fmla="*/ 9144000 w 9144000"/>
              <a:gd name="connsiteY2" fmla="*/ 0 h 5143500"/>
              <a:gd name="connsiteX3" fmla="*/ 0 w 9144000"/>
              <a:gd name="connsiteY3" fmla="*/ 0 h 5143500"/>
              <a:gd name="connsiteX4" fmla="*/ 0 w 9144000"/>
              <a:gd name="connsiteY4" fmla="*/ 5143500 h 5143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5143500">
                <a:moveTo>
                  <a:pt x="0" y="5143500"/>
                </a:moveTo>
                <a:lnTo>
                  <a:pt x="9144000" y="5143500"/>
                </a:lnTo>
                <a:lnTo>
                  <a:pt x="9144000" y="0"/>
                </a:lnTo>
                <a:lnTo>
                  <a:pt x="0" y="0"/>
                </a:lnTo>
                <a:lnTo>
                  <a:pt x="0" y="5143500"/>
                </a:lnTo>
              </a:path>
            </a:pathLst>
          </a:custGeom>
          <a:solidFill>
            <a:srgbClr val="ECECF2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917" y="2134095"/>
            <a:ext cx="5387605" cy="603601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0828" y="2134095"/>
            <a:ext cx="5387605" cy="603601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8" y="2047291"/>
            <a:ext cx="5389723" cy="85321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835" indent="0">
              <a:buNone/>
              <a:defRPr sz="2400" b="1"/>
            </a:lvl3pPr>
            <a:lvl4pPr marL="1829435" indent="0">
              <a:buNone/>
              <a:defRPr sz="2100" b="1"/>
            </a:lvl4pPr>
            <a:lvl5pPr marL="2439035" indent="0">
              <a:buNone/>
              <a:defRPr sz="2100" b="1"/>
            </a:lvl5pPr>
            <a:lvl6pPr marL="3049270" indent="0">
              <a:buNone/>
              <a:defRPr sz="2100" b="1"/>
            </a:lvl6pPr>
            <a:lvl7pPr marL="3658870" indent="0">
              <a:buNone/>
              <a:defRPr sz="2100" b="1"/>
            </a:lvl7pPr>
            <a:lvl8pPr marL="4268470" indent="0">
              <a:buNone/>
              <a:defRPr sz="2100" b="1"/>
            </a:lvl8pPr>
            <a:lvl9pPr marL="4878705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918" y="2900505"/>
            <a:ext cx="5389723" cy="526960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593" y="2047291"/>
            <a:ext cx="5391840" cy="85321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835" indent="0">
              <a:buNone/>
              <a:defRPr sz="2400" b="1"/>
            </a:lvl3pPr>
            <a:lvl4pPr marL="1829435" indent="0">
              <a:buNone/>
              <a:defRPr sz="2100" b="1"/>
            </a:lvl4pPr>
            <a:lvl5pPr marL="2439035" indent="0">
              <a:buNone/>
              <a:defRPr sz="2100" b="1"/>
            </a:lvl5pPr>
            <a:lvl6pPr marL="3049270" indent="0">
              <a:buNone/>
              <a:defRPr sz="2100" b="1"/>
            </a:lvl6pPr>
            <a:lvl7pPr marL="3658870" indent="0">
              <a:buNone/>
              <a:defRPr sz="2100" b="1"/>
            </a:lvl7pPr>
            <a:lvl8pPr marL="4268470" indent="0">
              <a:buNone/>
              <a:defRPr sz="2100" b="1"/>
            </a:lvl8pPr>
            <a:lvl9pPr marL="4878705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593" y="2900505"/>
            <a:ext cx="5391840" cy="526960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4151"/>
            <a:ext cx="4013173" cy="1549759"/>
          </a:xfrm>
          <a:prstGeom prst="rect">
            <a:avLst/>
          </a:prstGeo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9216" y="364152"/>
            <a:ext cx="6819216" cy="7805958"/>
          </a:xfrm>
          <a:prstGeom prst="rect">
            <a:avLst/>
          </a:prstGeo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918" y="1913910"/>
            <a:ext cx="4013173" cy="6256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62" y="6402282"/>
            <a:ext cx="7319010" cy="755826"/>
          </a:xfrm>
          <a:prstGeom prst="rect">
            <a:avLst/>
          </a:prstGeo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962" y="817223"/>
            <a:ext cx="7319010" cy="548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962" y="7158108"/>
            <a:ext cx="7319010" cy="10733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918" y="2134095"/>
            <a:ext cx="10978515" cy="603601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3804" y="366269"/>
            <a:ext cx="2744629" cy="780384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918" y="366269"/>
            <a:ext cx="8030580" cy="780384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7770" y="8477096"/>
            <a:ext cx="3862811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2151" y="8477096"/>
            <a:ext cx="2846282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609521" y="1143794"/>
            <a:ext cx="10971372" cy="5000369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0" y="332656"/>
            <a:ext cx="12198350" cy="432048"/>
          </a:xfrm>
          <a:prstGeom prst="rect">
            <a:avLst/>
          </a:prstGeom>
          <a:solidFill>
            <a:srgbClr val="3A418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矩形 24"/>
          <p:cNvSpPr/>
          <p:nvPr userDrawn="1"/>
        </p:nvSpPr>
        <p:spPr>
          <a:xfrm>
            <a:off x="0" y="764704"/>
            <a:ext cx="12198350" cy="7200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>
            <a:off x="11280775" y="330107"/>
            <a:ext cx="485233" cy="485233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15"/>
          <p:cNvSpPr txBox="1"/>
          <p:nvPr userDrawn="1"/>
        </p:nvSpPr>
        <p:spPr>
          <a:xfrm>
            <a:off x="11283362" y="442092"/>
            <a:ext cx="48339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r>
              <a:rPr lang="zh-CN" altLang="en-US" sz="16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9" name="矩形 28"/>
          <p:cNvSpPr/>
          <p:nvPr userDrawn="1"/>
        </p:nvSpPr>
        <p:spPr>
          <a:xfrm>
            <a:off x="8030581" y="332656"/>
            <a:ext cx="3173994" cy="43204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0" rtlCol="0" anchor="ctr"/>
          <a:lstStyle/>
          <a:p>
            <a:pPr marL="0" marR="0" lvl="0" indent="0" algn="ctr" defTabSz="1219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讲</a:t>
            </a:r>
            <a:endParaRPr lang="zh-CN" altLang="en-US" sz="18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772942" y="362834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0" name="等腰三角形 39">
            <a:hlinkClick r:id="" action="ppaction://hlinkshowjump?jump=previousslide"/>
          </p:cNvPr>
          <p:cNvSpPr/>
          <p:nvPr userDrawn="1"/>
        </p:nvSpPr>
        <p:spPr>
          <a:xfrm rot="5400000" flipH="1">
            <a:off x="38541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41" name="等腰三角形 40">
            <a:hlinkClick r:id="" action="ppaction://hlinkshowjump?jump=previousslide"/>
          </p:cNvPr>
          <p:cNvSpPr/>
          <p:nvPr userDrawn="1"/>
        </p:nvSpPr>
        <p:spPr>
          <a:xfrm rot="5400000" flipH="1">
            <a:off x="52511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42" name="等腰三角形 41">
            <a:hlinkClick r:id="" action="ppaction://hlinkshowjump?jump=previousslide"/>
          </p:cNvPr>
          <p:cNvSpPr/>
          <p:nvPr userDrawn="1"/>
        </p:nvSpPr>
        <p:spPr>
          <a:xfrm rot="5400000" flipH="1">
            <a:off x="65846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835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835" rtl="0" eaLnBrk="1" latinLnBrk="0" hangingPunct="1">
        <a:lnSpc>
          <a:spcPct val="150000"/>
        </a:lnSpc>
        <a:spcBef>
          <a:spcPct val="20000"/>
        </a:spcBef>
        <a:buSzPct val="80000"/>
        <a:buFont typeface="Wingdings" panose="05000000000000000000" pitchFamily="2" charset="2"/>
        <a:buChar char="l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991235" indent="-381000" algn="l" defTabSz="1219835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–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2pPr>
      <a:lvl3pPr marL="1524635" indent="-304800" algn="l" defTabSz="1219835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3pPr>
      <a:lvl4pPr marL="2134235" indent="-304800" algn="l" defTabSz="1219835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–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4pPr>
      <a:lvl5pPr marL="2744470" indent="-304800" algn="l" defTabSz="1219835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»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5pPr>
      <a:lvl6pPr marL="33540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6.wmf"/><Relationship Id="rId4" Type="http://schemas.openxmlformats.org/officeDocument/2006/relationships/image" Target="../media/image3.emf"/><Relationship Id="rId9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3.wmf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oleObject" Target="../embeddings/oleObject12.bin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2.wmf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18.png"/><Relationship Id="rId5" Type="http://schemas.openxmlformats.org/officeDocument/2006/relationships/image" Target="../media/image29.wmf"/><Relationship Id="rId10" Type="http://schemas.openxmlformats.org/officeDocument/2006/relationships/image" Target="../media/image32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15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41.wmf"/><Relationship Id="rId3" Type="http://schemas.openxmlformats.org/officeDocument/2006/relationships/image" Target="../media/image36.emf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43.wmf"/><Relationship Id="rId2" Type="http://schemas.openxmlformats.org/officeDocument/2006/relationships/oleObject" Target="../embeddings/oleObject17.bin"/><Relationship Id="rId16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5" Type="http://schemas.openxmlformats.org/officeDocument/2006/relationships/image" Target="../media/image42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9.wmf"/><Relationship Id="rId14" Type="http://schemas.openxmlformats.org/officeDocument/2006/relationships/oleObject" Target="../embeddings/oleObject2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44.wmf"/><Relationship Id="rId7" Type="http://schemas.openxmlformats.org/officeDocument/2006/relationships/image" Target="../media/image46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47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7" Type="http://schemas.openxmlformats.org/officeDocument/2006/relationships/image" Target="../media/image50.e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49.emf"/><Relationship Id="rId4" Type="http://schemas.openxmlformats.org/officeDocument/2006/relationships/oleObject" Target="../embeddings/oleObject3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48.emf"/><Relationship Id="rId3" Type="http://schemas.openxmlformats.org/officeDocument/2006/relationships/image" Target="../media/image51.wmf"/><Relationship Id="rId7" Type="http://schemas.openxmlformats.org/officeDocument/2006/relationships/image" Target="../media/image53.wmf"/><Relationship Id="rId12" Type="http://schemas.openxmlformats.org/officeDocument/2006/relationships/oleObject" Target="../embeddings/oleObject37.bin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55.wmf"/><Relationship Id="rId5" Type="http://schemas.openxmlformats.org/officeDocument/2006/relationships/image" Target="../media/image52.wmf"/><Relationship Id="rId15" Type="http://schemas.openxmlformats.org/officeDocument/2006/relationships/image" Target="../media/image49.e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54.wmf"/><Relationship Id="rId14" Type="http://schemas.openxmlformats.org/officeDocument/2006/relationships/oleObject" Target="../embeddings/oleObject3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wmf"/><Relationship Id="rId4" Type="http://schemas.openxmlformats.org/officeDocument/2006/relationships/oleObject" Target="../embeddings/oleObject4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image" Target="../media/image58.emf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62.e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oleObject" Target="../embeddings/oleObject45.bin"/><Relationship Id="rId5" Type="http://schemas.openxmlformats.org/officeDocument/2006/relationships/image" Target="../media/image59.emf"/><Relationship Id="rId10" Type="http://schemas.openxmlformats.org/officeDocument/2006/relationships/image" Target="../media/image61.emf"/><Relationship Id="rId4" Type="http://schemas.openxmlformats.org/officeDocument/2006/relationships/oleObject" Target="../embeddings/oleObject42.bin"/><Relationship Id="rId9" Type="http://schemas.openxmlformats.org/officeDocument/2006/relationships/oleObject" Target="../embeddings/oleObject4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71.wmf"/><Relationship Id="rId26" Type="http://schemas.openxmlformats.org/officeDocument/2006/relationships/image" Target="../media/image75.wmf"/><Relationship Id="rId3" Type="http://schemas.openxmlformats.org/officeDocument/2006/relationships/oleObject" Target="../embeddings/oleObject47.bin"/><Relationship Id="rId21" Type="http://schemas.openxmlformats.org/officeDocument/2006/relationships/oleObject" Target="../embeddings/oleObject56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68.wmf"/><Relationship Id="rId17" Type="http://schemas.openxmlformats.org/officeDocument/2006/relationships/oleObject" Target="../embeddings/oleObject54.bin"/><Relationship Id="rId25" Type="http://schemas.openxmlformats.org/officeDocument/2006/relationships/oleObject" Target="../embeddings/oleObject58.bin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0.wmf"/><Relationship Id="rId20" Type="http://schemas.openxmlformats.org/officeDocument/2006/relationships/image" Target="../media/image72.wmf"/><Relationship Id="rId29" Type="http://schemas.openxmlformats.org/officeDocument/2006/relationships/oleObject" Target="../embeddings/oleObject6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51.bin"/><Relationship Id="rId24" Type="http://schemas.openxmlformats.org/officeDocument/2006/relationships/image" Target="../media/image74.wmf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23" Type="http://schemas.openxmlformats.org/officeDocument/2006/relationships/oleObject" Target="../embeddings/oleObject57.bin"/><Relationship Id="rId28" Type="http://schemas.openxmlformats.org/officeDocument/2006/relationships/image" Target="../media/image76.wmf"/><Relationship Id="rId10" Type="http://schemas.openxmlformats.org/officeDocument/2006/relationships/image" Target="../media/image67.wmf"/><Relationship Id="rId19" Type="http://schemas.openxmlformats.org/officeDocument/2006/relationships/oleObject" Target="../embeddings/oleObject55.bin"/><Relationship Id="rId4" Type="http://schemas.openxmlformats.org/officeDocument/2006/relationships/image" Target="../media/image64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69.wmf"/><Relationship Id="rId22" Type="http://schemas.openxmlformats.org/officeDocument/2006/relationships/image" Target="../media/image73.wmf"/><Relationship Id="rId27" Type="http://schemas.openxmlformats.org/officeDocument/2006/relationships/oleObject" Target="../embeddings/oleObject59.bin"/><Relationship Id="rId30" Type="http://schemas.openxmlformats.org/officeDocument/2006/relationships/image" Target="../media/image77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0.png"/><Relationship Id="rId3" Type="http://schemas.openxmlformats.org/officeDocument/2006/relationships/image" Target="../media/image80.png"/><Relationship Id="rId7" Type="http://schemas.openxmlformats.org/officeDocument/2006/relationships/image" Target="../media/image81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3.bin"/><Relationship Id="rId5" Type="http://schemas.openxmlformats.org/officeDocument/2006/relationships/image" Target="../media/image80.wmf"/><Relationship Id="rId4" Type="http://schemas.openxmlformats.org/officeDocument/2006/relationships/oleObject" Target="../embeddings/oleObject62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3" Type="http://schemas.openxmlformats.org/officeDocument/2006/relationships/image" Target="../media/image82.emf"/><Relationship Id="rId7" Type="http://schemas.openxmlformats.org/officeDocument/2006/relationships/image" Target="../media/image84.e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6.bin"/><Relationship Id="rId5" Type="http://schemas.openxmlformats.org/officeDocument/2006/relationships/image" Target="../media/image83.emf"/><Relationship Id="rId4" Type="http://schemas.openxmlformats.org/officeDocument/2006/relationships/oleObject" Target="../embeddings/oleObject65.bin"/><Relationship Id="rId9" Type="http://schemas.openxmlformats.org/officeDocument/2006/relationships/image" Target="../media/image85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13" Type="http://schemas.openxmlformats.org/officeDocument/2006/relationships/oleObject" Target="../embeddings/oleObject74.bin"/><Relationship Id="rId3" Type="http://schemas.openxmlformats.org/officeDocument/2006/relationships/image" Target="../media/image86.wmf"/><Relationship Id="rId7" Type="http://schemas.openxmlformats.org/officeDocument/2006/relationships/image" Target="../media/image88.wmf"/><Relationship Id="rId12" Type="http://schemas.openxmlformats.org/officeDocument/2006/relationships/oleObject" Target="../embeddings/oleObject73.bin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90.wmf"/><Relationship Id="rId5" Type="http://schemas.openxmlformats.org/officeDocument/2006/relationships/image" Target="../media/image87.wmf"/><Relationship Id="rId10" Type="http://schemas.openxmlformats.org/officeDocument/2006/relationships/oleObject" Target="../embeddings/oleObject72.bin"/><Relationship Id="rId4" Type="http://schemas.openxmlformats.org/officeDocument/2006/relationships/oleObject" Target="../embeddings/oleObject69.bin"/><Relationship Id="rId9" Type="http://schemas.openxmlformats.org/officeDocument/2006/relationships/image" Target="../media/image89.wmf"/><Relationship Id="rId14" Type="http://schemas.openxmlformats.org/officeDocument/2006/relationships/image" Target="../media/image91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image" Target="../media/image97.wmf"/><Relationship Id="rId3" Type="http://schemas.openxmlformats.org/officeDocument/2006/relationships/image" Target="../media/image92.wmf"/><Relationship Id="rId7" Type="http://schemas.openxmlformats.org/officeDocument/2006/relationships/image" Target="../media/image94.wmf"/><Relationship Id="rId12" Type="http://schemas.openxmlformats.org/officeDocument/2006/relationships/oleObject" Target="../embeddings/oleObject80.bin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96.wmf"/><Relationship Id="rId5" Type="http://schemas.openxmlformats.org/officeDocument/2006/relationships/image" Target="../media/image93.wmf"/><Relationship Id="rId15" Type="http://schemas.openxmlformats.org/officeDocument/2006/relationships/image" Target="../media/image98.wmf"/><Relationship Id="rId10" Type="http://schemas.openxmlformats.org/officeDocument/2006/relationships/oleObject" Target="../embeddings/oleObject79.bin"/><Relationship Id="rId4" Type="http://schemas.openxmlformats.org/officeDocument/2006/relationships/oleObject" Target="../embeddings/oleObject76.bin"/><Relationship Id="rId9" Type="http://schemas.openxmlformats.org/officeDocument/2006/relationships/image" Target="../media/image95.wmf"/><Relationship Id="rId14" Type="http://schemas.openxmlformats.org/officeDocument/2006/relationships/oleObject" Target="../embeddings/oleObject81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3" Type="http://schemas.openxmlformats.org/officeDocument/2006/relationships/image" Target="../media/image99.wmf"/><Relationship Id="rId7" Type="http://schemas.openxmlformats.org/officeDocument/2006/relationships/image" Target="../media/image90.wmf"/><Relationship Id="rId2" Type="http://schemas.openxmlformats.org/officeDocument/2006/relationships/oleObject" Target="../embeddings/oleObject8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87.wmf"/><Relationship Id="rId4" Type="http://schemas.openxmlformats.org/officeDocument/2006/relationships/oleObject" Target="../embeddings/oleObject83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image" Target="../media/image104.w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12" Type="http://schemas.openxmlformats.org/officeDocument/2006/relationships/oleObject" Target="../embeddings/oleObject90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wmf"/><Relationship Id="rId11" Type="http://schemas.openxmlformats.org/officeDocument/2006/relationships/image" Target="../media/image108.png"/><Relationship Id="rId5" Type="http://schemas.openxmlformats.org/officeDocument/2006/relationships/oleObject" Target="../embeddings/oleObject87.bin"/><Relationship Id="rId10" Type="http://schemas.openxmlformats.org/officeDocument/2006/relationships/image" Target="../media/image103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89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3" Type="http://schemas.openxmlformats.org/officeDocument/2006/relationships/image" Target="../media/image106.wmf"/><Relationship Id="rId7" Type="http://schemas.openxmlformats.org/officeDocument/2006/relationships/image" Target="../media/image88.wmf"/><Relationship Id="rId2" Type="http://schemas.openxmlformats.org/officeDocument/2006/relationships/oleObject" Target="../embeddings/oleObject9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4.bin"/><Relationship Id="rId5" Type="http://schemas.openxmlformats.org/officeDocument/2006/relationships/image" Target="../media/image107.wmf"/><Relationship Id="rId4" Type="http://schemas.openxmlformats.org/officeDocument/2006/relationships/oleObject" Target="../embeddings/oleObject93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112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100.bin"/><Relationship Id="rId5" Type="http://schemas.openxmlformats.org/officeDocument/2006/relationships/oleObject" Target="../embeddings/oleObject97.bin"/><Relationship Id="rId10" Type="http://schemas.openxmlformats.org/officeDocument/2006/relationships/image" Target="../media/image111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99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13" Type="http://schemas.openxmlformats.org/officeDocument/2006/relationships/image" Target="../media/image118.wmf"/><Relationship Id="rId18" Type="http://schemas.openxmlformats.org/officeDocument/2006/relationships/oleObject" Target="../embeddings/oleObject108.bin"/><Relationship Id="rId3" Type="http://schemas.openxmlformats.org/officeDocument/2006/relationships/image" Target="../media/image113.wmf"/><Relationship Id="rId21" Type="http://schemas.openxmlformats.org/officeDocument/2006/relationships/image" Target="../media/image121.wmf"/><Relationship Id="rId7" Type="http://schemas.openxmlformats.org/officeDocument/2006/relationships/image" Target="../media/image115.wmf"/><Relationship Id="rId12" Type="http://schemas.openxmlformats.org/officeDocument/2006/relationships/oleObject" Target="../embeddings/oleObject106.bin"/><Relationship Id="rId17" Type="http://schemas.openxmlformats.org/officeDocument/2006/relationships/image" Target="../media/image119.wmf"/><Relationship Id="rId2" Type="http://schemas.openxmlformats.org/officeDocument/2006/relationships/oleObject" Target="../embeddings/oleObject101.bin"/><Relationship Id="rId16" Type="http://schemas.openxmlformats.org/officeDocument/2006/relationships/oleObject" Target="../embeddings/oleObject107.bin"/><Relationship Id="rId20" Type="http://schemas.openxmlformats.org/officeDocument/2006/relationships/oleObject" Target="../embeddings/oleObject10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3.bin"/><Relationship Id="rId11" Type="http://schemas.openxmlformats.org/officeDocument/2006/relationships/image" Target="../media/image117.wmf"/><Relationship Id="rId5" Type="http://schemas.openxmlformats.org/officeDocument/2006/relationships/image" Target="../media/image114.wmf"/><Relationship Id="rId15" Type="http://schemas.openxmlformats.org/officeDocument/2006/relationships/image" Target="../media/image88.wmf"/><Relationship Id="rId10" Type="http://schemas.openxmlformats.org/officeDocument/2006/relationships/oleObject" Target="../embeddings/oleObject105.bin"/><Relationship Id="rId19" Type="http://schemas.openxmlformats.org/officeDocument/2006/relationships/image" Target="../media/image120.wmf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116.wmf"/><Relationship Id="rId14" Type="http://schemas.openxmlformats.org/officeDocument/2006/relationships/oleObject" Target="../embeddings/oleObject95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3" Type="http://schemas.openxmlformats.org/officeDocument/2006/relationships/image" Target="../media/image122.wmf"/><Relationship Id="rId7" Type="http://schemas.openxmlformats.org/officeDocument/2006/relationships/image" Target="../media/image124.wmf"/><Relationship Id="rId2" Type="http://schemas.openxmlformats.org/officeDocument/2006/relationships/oleObject" Target="../embeddings/oleObject1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2.bin"/><Relationship Id="rId11" Type="http://schemas.openxmlformats.org/officeDocument/2006/relationships/image" Target="../media/image126.wmf"/><Relationship Id="rId5" Type="http://schemas.openxmlformats.org/officeDocument/2006/relationships/image" Target="../media/image123.wmf"/><Relationship Id="rId10" Type="http://schemas.openxmlformats.org/officeDocument/2006/relationships/oleObject" Target="../embeddings/oleObject114.bin"/><Relationship Id="rId4" Type="http://schemas.openxmlformats.org/officeDocument/2006/relationships/oleObject" Target="../embeddings/oleObject111.bin"/><Relationship Id="rId9" Type="http://schemas.openxmlformats.org/officeDocument/2006/relationships/image" Target="../media/image125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7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6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28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30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36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135.wmf"/><Relationship Id="rId4" Type="http://schemas.openxmlformats.org/officeDocument/2006/relationships/image" Target="../media/image128.wmf"/><Relationship Id="rId9" Type="http://schemas.openxmlformats.org/officeDocument/2006/relationships/oleObject" Target="../embeddings/oleObject124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37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40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12" Type="http://schemas.openxmlformats.org/officeDocument/2006/relationships/image" Target="../media/image146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wmf"/><Relationship Id="rId11" Type="http://schemas.openxmlformats.org/officeDocument/2006/relationships/oleObject" Target="../embeddings/oleObject135.bin"/><Relationship Id="rId5" Type="http://schemas.openxmlformats.org/officeDocument/2006/relationships/oleObject" Target="../embeddings/oleObject132.bin"/><Relationship Id="rId10" Type="http://schemas.openxmlformats.org/officeDocument/2006/relationships/image" Target="../media/image145.wmf"/><Relationship Id="rId4" Type="http://schemas.openxmlformats.org/officeDocument/2006/relationships/image" Target="../media/image142.wmf"/><Relationship Id="rId9" Type="http://schemas.openxmlformats.org/officeDocument/2006/relationships/oleObject" Target="../embeddings/oleObject134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6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47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2" Type="http://schemas.openxmlformats.org/officeDocument/2006/relationships/oleObject" Target="../embeddings/oleObject138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50" cy="68595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01096" y="2310557"/>
            <a:ext cx="4560279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             《</a:t>
            </a:r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随机过程与排队论</a:t>
            </a:r>
            <a:r>
              <a:rPr lang="en-US" altLang="zh-CN" sz="2000" dirty="0">
                <a:solidFill>
                  <a:schemeClr val="bg1"/>
                </a:solidFill>
              </a:rPr>
              <a:t>》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43207" y="1101971"/>
            <a:ext cx="2076056" cy="861817"/>
          </a:xfrm>
          <a:prstGeom prst="rect">
            <a:avLst/>
          </a:prstGeom>
          <a:solidFill>
            <a:srgbClr val="28A7E1"/>
          </a:solidFill>
        </p:spPr>
        <p:txBody>
          <a:bodyPr wrap="square" lIns="121963" tIns="60981" rIns="121963" bIns="60981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</a:rPr>
              <a:t>第</a:t>
            </a:r>
            <a:r>
              <a:rPr lang="en-US" altLang="zh-CN" sz="4800" dirty="0">
                <a:solidFill>
                  <a:schemeClr val="bg1"/>
                </a:solidFill>
              </a:rPr>
              <a:t>6</a:t>
            </a:r>
            <a:r>
              <a:rPr lang="zh-CN" altLang="en-US" sz="4800" dirty="0">
                <a:solidFill>
                  <a:schemeClr val="bg1"/>
                </a:solidFill>
              </a:rPr>
              <a:t>讲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135" y="3519164"/>
            <a:ext cx="4854640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chemeClr val="bg1"/>
                </a:solidFill>
                <a:ea typeface="华文行楷" panose="02010800040101010101" pitchFamily="2" charset="-122"/>
              </a:rPr>
              <a:t>Email</a:t>
            </a:r>
            <a:r>
              <a:rPr lang="zh-CN" altLang="en-US" sz="2000" dirty="0">
                <a:solidFill>
                  <a:schemeClr val="bg1"/>
                </a:solidFill>
                <a:ea typeface="华文行楷" panose="02010800040101010101" pitchFamily="2" charset="-122"/>
              </a:rPr>
              <a:t>：</a:t>
            </a:r>
            <a:r>
              <a:rPr lang="en-US" altLang="zh-CN" sz="2000" dirty="0">
                <a:solidFill>
                  <a:schemeClr val="bg1"/>
                </a:solidFill>
                <a:ea typeface="华文行楷" panose="02010800040101010101" pitchFamily="2" charset="-122"/>
              </a:rPr>
              <a:t>qxwang@uestc.edu.cn</a:t>
            </a:r>
          </a:p>
        </p:txBody>
      </p:sp>
      <p:sp>
        <p:nvSpPr>
          <p:cNvPr id="22" name="矩形 21"/>
          <p:cNvSpPr/>
          <p:nvPr/>
        </p:nvSpPr>
        <p:spPr>
          <a:xfrm>
            <a:off x="2258147" y="2210312"/>
            <a:ext cx="7682056" cy="60973"/>
          </a:xfrm>
          <a:prstGeom prst="rect">
            <a:avLst/>
          </a:prstGeom>
          <a:gradFill flip="none" rotWithShape="1">
            <a:gsLst>
              <a:gs pos="0">
                <a:srgbClr val="28A7E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rgbClr val="28A7E1"/>
              </a:gs>
            </a:gsLst>
            <a:lin ang="540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2258147" y="4025019"/>
            <a:ext cx="7682056" cy="60973"/>
          </a:xfrm>
          <a:prstGeom prst="rect">
            <a:avLst/>
          </a:prstGeom>
          <a:gradFill flip="none" rotWithShape="1">
            <a:gsLst>
              <a:gs pos="0">
                <a:srgbClr val="28A7E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rgbClr val="28A7E1"/>
              </a:gs>
            </a:gsLst>
            <a:lin ang="540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794375" y="2900778"/>
            <a:ext cx="1754309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王庆先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98775" y="2900930"/>
            <a:ext cx="3078481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</a:p>
        </p:txBody>
      </p:sp>
      <p:sp>
        <p:nvSpPr>
          <p:cNvPr id="2" name="矩形 1"/>
          <p:cNvSpPr/>
          <p:nvPr/>
        </p:nvSpPr>
        <p:spPr>
          <a:xfrm>
            <a:off x="5748656" y="2975515"/>
            <a:ext cx="45719" cy="3217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F0A1F-4C26-2165-009A-71A02A5DD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B41EF9-000B-0284-5088-9CEC3F9F9E35}"/>
              </a:ext>
            </a:extLst>
          </p:cNvPr>
          <p:cNvSpPr txBox="1">
            <a:spLocks noChangeArrowheads="1"/>
          </p:cNvSpPr>
          <p:nvPr/>
        </p:nvSpPr>
        <p:spPr>
          <a:xfrm>
            <a:off x="536575" y="1219994"/>
            <a:ext cx="5181600" cy="474946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马尔可夫过程</a:t>
            </a:r>
          </a:p>
          <a:p>
            <a:pPr lvl="1">
              <a:lnSpc>
                <a:spcPct val="160000"/>
              </a:lnSpc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马尔可夫过程的概念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马尔可夫过程的分类</a:t>
            </a:r>
          </a:p>
          <a:p>
            <a:pPr lvl="1">
              <a:lnSpc>
                <a:spcPct val="160000"/>
              </a:lnSpc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离散参数马氏链</a:t>
            </a:r>
            <a:endParaRPr lang="en-US" altLang="zh-CN" dirty="0">
              <a:solidFill>
                <a:srgbClr val="CC00CC"/>
              </a:solidFill>
              <a:latin typeface="黑体" panose="02010609060101010101" pitchFamily="49" charset="-122"/>
            </a:endParaRPr>
          </a:p>
          <a:p>
            <a:pPr lvl="1">
              <a:lnSpc>
                <a:spcPct val="160000"/>
              </a:lnSpc>
              <a:buClr>
                <a:srgbClr val="FF0000"/>
              </a:buClr>
              <a:buFontTx/>
              <a:buChar char="•"/>
            </a:pPr>
            <a:r>
              <a:rPr lang="en-US" altLang="zh-CN" dirty="0">
                <a:solidFill>
                  <a:srgbClr val="CC00CC"/>
                </a:solidFill>
                <a:latin typeface="黑体" panose="02010609060101010101" pitchFamily="49" charset="-122"/>
              </a:rPr>
              <a:t>k</a:t>
            </a: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步转移概率、 </a:t>
            </a:r>
            <a:r>
              <a:rPr lang="en-US" altLang="zh-CN" dirty="0">
                <a:solidFill>
                  <a:srgbClr val="CC00CC"/>
                </a:solidFill>
                <a:latin typeface="黑体" panose="02010609060101010101" pitchFamily="49" charset="-122"/>
              </a:rPr>
              <a:t>k</a:t>
            </a: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步转移矩阵</a:t>
            </a:r>
          </a:p>
          <a:p>
            <a:pPr lvl="1">
              <a:lnSpc>
                <a:spcPct val="160000"/>
              </a:lnSpc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齐次马尔可夫链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FC47A08-ACB7-889B-3368-421900854E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84975" y="1763705"/>
            <a:ext cx="3999806" cy="4211025"/>
          </a:xfrm>
        </p:spPr>
        <p:txBody>
          <a:bodyPr>
            <a:normAutofit/>
          </a:bodyPr>
          <a:lstStyle/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齐次马氏链的性质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初始分布、绝对分布、极限分布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遍历性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平稳性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696A134-6FA0-A70D-9963-4397053575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4700" y="352424"/>
            <a:ext cx="5334000" cy="429419"/>
          </a:xfrm>
        </p:spPr>
        <p:txBody>
          <a:bodyPr/>
          <a:lstStyle/>
          <a:p>
            <a:r>
              <a:rPr lang="zh-CN" altLang="en-US" dirty="0"/>
              <a:t>上一讲主要内容</a:t>
            </a:r>
          </a:p>
        </p:txBody>
      </p:sp>
    </p:spTree>
    <p:extLst>
      <p:ext uri="{BB962C8B-B14F-4D97-AF65-F5344CB8AC3E}">
        <p14:creationId xmlns:p14="http://schemas.microsoft.com/office/powerpoint/2010/main" val="92793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967F440-1D22-651E-6CAC-4B9D6A652D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回顾</a:t>
            </a:r>
          </a:p>
        </p:txBody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4093F0E8-423B-0261-339E-2D13BB28EC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1186" y="949550"/>
            <a:ext cx="11795978" cy="80346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dirty="0">
                <a:solidFill>
                  <a:srgbClr val="990033"/>
                </a:solidFill>
                <a:sym typeface="Symbol" pitchFamily="18" charset="2"/>
              </a:rPr>
              <a:t>1.</a:t>
            </a:r>
            <a:r>
              <a:rPr lang="zh-CN" altLang="en-US" dirty="0">
                <a:solidFill>
                  <a:srgbClr val="990033"/>
                </a:solidFill>
                <a:sym typeface="Symbol" pitchFamily="18" charset="2"/>
              </a:rPr>
              <a:t> 马尔可夫性、无后效性或无记忆性</a:t>
            </a:r>
          </a:p>
        </p:txBody>
      </p:sp>
      <p:sp>
        <p:nvSpPr>
          <p:cNvPr id="260100" name="Rectangle 4">
            <a:extLst>
              <a:ext uri="{FF2B5EF4-FFF2-40B4-BE49-F238E27FC236}">
                <a16:creationId xmlns:a16="http://schemas.microsoft.com/office/drawing/2014/main" id="{18793173-1571-4500-8C76-387DB3BFF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080" y="1728099"/>
            <a:ext cx="11626083" cy="1042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 eaLnBrk="1" hangingPunct="1">
              <a:lnSpc>
                <a:spcPct val="150000"/>
              </a:lnSpc>
              <a:buClr>
                <a:srgbClr val="00FF00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P{X(</a:t>
            </a:r>
            <a:r>
              <a:rPr lang="en-US" altLang="zh-CN" b="1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t</a:t>
            </a:r>
            <a:r>
              <a:rPr lang="en-US" altLang="zh-CN" b="1" baseline="-25000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)&lt;</a:t>
            </a:r>
            <a:r>
              <a:rPr lang="en-US" altLang="zh-CN" b="1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x</a:t>
            </a:r>
            <a:r>
              <a:rPr lang="en-US" altLang="zh-CN" b="1" baseline="-25000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n</a:t>
            </a:r>
            <a:r>
              <a:rPr lang="en-US" altLang="zh-CN" b="1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|X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(t</a:t>
            </a:r>
            <a:r>
              <a:rPr lang="en-US" altLang="zh-CN" b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)=x</a:t>
            </a:r>
            <a:r>
              <a:rPr lang="en-US" altLang="zh-CN" b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,X(t</a:t>
            </a:r>
            <a:r>
              <a:rPr lang="en-US" altLang="zh-CN" b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)=x</a:t>
            </a:r>
            <a:r>
              <a:rPr lang="en-US" altLang="zh-CN" b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,…,X(t</a:t>
            </a:r>
            <a:r>
              <a:rPr lang="en-US" altLang="zh-CN" b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n-1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)=x</a:t>
            </a:r>
            <a:r>
              <a:rPr lang="en-US" altLang="zh-CN" b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n-1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}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＝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P{X(</a:t>
            </a:r>
            <a:r>
              <a:rPr lang="en-US" altLang="zh-CN" b="1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t</a:t>
            </a:r>
            <a:r>
              <a:rPr lang="en-US" altLang="zh-CN" b="1" baseline="-25000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)&lt;</a:t>
            </a:r>
            <a:r>
              <a:rPr lang="en-US" altLang="zh-CN" b="1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x</a:t>
            </a:r>
            <a:r>
              <a:rPr lang="en-US" altLang="zh-CN" b="1" baseline="-25000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n</a:t>
            </a:r>
            <a:r>
              <a:rPr lang="en-US" altLang="zh-CN" b="1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|X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(t</a:t>
            </a:r>
            <a:r>
              <a:rPr lang="en-US" altLang="zh-CN" b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n-1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)=x</a:t>
            </a:r>
            <a:r>
              <a:rPr lang="en-US" altLang="zh-CN" b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n-1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}	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sym typeface="Symbol" pitchFamily="18" charset="2"/>
              </a:rPr>
              <a:t>(4.1)</a:t>
            </a:r>
          </a:p>
          <a:p>
            <a:pPr>
              <a:lnSpc>
                <a:spcPct val="150000"/>
              </a:lnSpc>
              <a:buClr>
                <a:srgbClr val="00FF00"/>
              </a:buClr>
              <a:defRPr/>
            </a:pPr>
            <a:r>
              <a:rPr lang="zh-CN" altLang="en-US" b="1" dirty="0">
                <a:sym typeface="Symbol" panose="05050102010706020507" pitchFamily="18" charset="2"/>
              </a:rPr>
              <a:t>其中，</a:t>
            </a:r>
            <a:r>
              <a:rPr lang="en-US" altLang="zh-CN" b="1" dirty="0">
                <a:sym typeface="Symbol" panose="05050102010706020507" pitchFamily="18" charset="2"/>
              </a:rPr>
              <a:t>n</a:t>
            </a:r>
            <a:r>
              <a:rPr lang="zh-CN" altLang="en-US" b="1" dirty="0">
                <a:sym typeface="Symbol" panose="05050102010706020507" pitchFamily="18" charset="2"/>
              </a:rPr>
              <a:t>个时刻</a:t>
            </a:r>
            <a:r>
              <a:rPr lang="en-US" altLang="zh-CN" b="1" dirty="0" err="1">
                <a:sym typeface="Symbol" panose="05050102010706020507" pitchFamily="18" charset="2"/>
              </a:rPr>
              <a:t>t</a:t>
            </a:r>
            <a:r>
              <a:rPr lang="en-US" altLang="zh-CN" b="1" baseline="-25000" dirty="0" err="1">
                <a:sym typeface="Symbol" panose="05050102010706020507" pitchFamily="18" charset="2"/>
              </a:rPr>
              <a:t>i</a:t>
            </a:r>
            <a:r>
              <a:rPr lang="en-US" altLang="zh-CN" b="1" dirty="0" err="1">
                <a:sym typeface="Symbol" panose="05050102010706020507" pitchFamily="18" charset="2"/>
              </a:rPr>
              <a:t>,i</a:t>
            </a:r>
            <a:r>
              <a:rPr lang="en-US" altLang="zh-CN" b="1" dirty="0">
                <a:sym typeface="Symbol" panose="05050102010706020507" pitchFamily="18" charset="2"/>
              </a:rPr>
              <a:t>=1,2,…,n</a:t>
            </a:r>
            <a:r>
              <a:rPr lang="zh-CN" altLang="en-US" b="1" dirty="0">
                <a:sym typeface="Symbol" panose="05050102010706020507" pitchFamily="18" charset="2"/>
              </a:rPr>
              <a:t>，</a:t>
            </a:r>
            <a:r>
              <a:rPr lang="en-US" altLang="zh-CN" b="1" dirty="0">
                <a:sym typeface="Symbol" panose="05050102010706020507" pitchFamily="18" charset="2"/>
              </a:rPr>
              <a:t>t</a:t>
            </a:r>
            <a:r>
              <a:rPr lang="en-US" altLang="zh-CN" b="1" baseline="-25000" dirty="0">
                <a:sym typeface="Symbol" panose="05050102010706020507" pitchFamily="18" charset="2"/>
              </a:rPr>
              <a:t>1</a:t>
            </a:r>
            <a:r>
              <a:rPr lang="en-US" altLang="zh-CN" b="1" dirty="0">
                <a:sym typeface="Symbol" panose="05050102010706020507" pitchFamily="18" charset="2"/>
              </a:rPr>
              <a:t>&lt;t</a:t>
            </a:r>
            <a:r>
              <a:rPr lang="en-US" altLang="zh-CN" b="1" baseline="-25000" dirty="0">
                <a:sym typeface="Symbol" panose="05050102010706020507" pitchFamily="18" charset="2"/>
              </a:rPr>
              <a:t>2</a:t>
            </a:r>
            <a:r>
              <a:rPr lang="en-US" altLang="zh-CN" b="1" dirty="0">
                <a:sym typeface="Symbol" panose="05050102010706020507" pitchFamily="18" charset="2"/>
              </a:rPr>
              <a:t>&lt;…&lt;</a:t>
            </a:r>
            <a:r>
              <a:rPr lang="en-US" altLang="zh-CN" b="1" dirty="0" err="1">
                <a:sym typeface="Symbol" panose="05050102010706020507" pitchFamily="18" charset="2"/>
              </a:rPr>
              <a:t>t</a:t>
            </a:r>
            <a:r>
              <a:rPr lang="en-US" altLang="zh-CN" b="1" baseline="-25000" dirty="0" err="1">
                <a:sym typeface="Symbol" panose="05050102010706020507" pitchFamily="18" charset="2"/>
              </a:rPr>
              <a:t>n</a:t>
            </a:r>
            <a:endParaRPr lang="en-US" altLang="zh-CN" b="1" dirty="0">
              <a:solidFill>
                <a:srgbClr val="0000FF"/>
              </a:solidFill>
              <a:latin typeface="+mn-ea"/>
              <a:sym typeface="Symbol" pitchFamily="18" charset="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D6E17F8-A2BE-6C57-0E45-2E5A8C785222}"/>
              </a:ext>
            </a:extLst>
          </p:cNvPr>
          <p:cNvSpPr txBox="1">
            <a:spLocks noChangeArrowheads="1"/>
          </p:cNvSpPr>
          <p:nvPr/>
        </p:nvSpPr>
        <p:spPr>
          <a:xfrm>
            <a:off x="201186" y="2972594"/>
            <a:ext cx="11582400" cy="803461"/>
          </a:xfrm>
          <a:prstGeom prst="rect">
            <a:avLst/>
          </a:prstGeom>
        </p:spPr>
        <p:txBody>
          <a:bodyPr vert="horz" lIns="121917" tIns="60958" rIns="121917" bIns="60958" rtlCol="0">
            <a:no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CN" dirty="0">
                <a:solidFill>
                  <a:srgbClr val="990033"/>
                </a:solidFill>
              </a:rPr>
              <a:t> 2.</a:t>
            </a:r>
            <a:r>
              <a:rPr lang="zh-CN" altLang="en-US" dirty="0">
                <a:solidFill>
                  <a:srgbClr val="990033"/>
                </a:solidFill>
              </a:rPr>
              <a:t> </a:t>
            </a:r>
            <a:r>
              <a:rPr lang="zh-CN" altLang="en-US" dirty="0">
                <a:solidFill>
                  <a:srgbClr val="990033"/>
                </a:solidFill>
                <a:sym typeface="Symbol" panose="05050102010706020507" pitchFamily="18" charset="2"/>
              </a:rPr>
              <a:t>转移概率 ：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p(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s,t;x,y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P{X(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s+t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)&lt;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y|X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(s)=x}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8F9191C-866D-1D99-5888-5A9622229C30}"/>
              </a:ext>
            </a:extLst>
          </p:cNvPr>
          <p:cNvSpPr txBox="1">
            <a:spLocks noChangeArrowheads="1"/>
          </p:cNvSpPr>
          <p:nvPr/>
        </p:nvSpPr>
        <p:spPr>
          <a:xfrm>
            <a:off x="277387" y="3859737"/>
            <a:ext cx="4983587" cy="1627457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en-US" altLang="zh-CN" dirty="0">
                <a:solidFill>
                  <a:srgbClr val="990033"/>
                </a:solidFill>
              </a:rPr>
              <a:t>3.</a:t>
            </a:r>
            <a:r>
              <a:rPr lang="zh-CN" altLang="en-US" dirty="0">
                <a:solidFill>
                  <a:srgbClr val="990033"/>
                </a:solidFill>
              </a:rPr>
              <a:t>在</a:t>
            </a:r>
            <a:r>
              <a:rPr lang="en-US" altLang="zh-CN" dirty="0">
                <a:solidFill>
                  <a:srgbClr val="990033"/>
                </a:solidFill>
              </a:rPr>
              <a:t>m</a:t>
            </a:r>
            <a:r>
              <a:rPr lang="zh-CN" altLang="en-US" dirty="0">
                <a:solidFill>
                  <a:srgbClr val="990033"/>
                </a:solidFill>
              </a:rPr>
              <a:t>时刻的</a:t>
            </a:r>
            <a:r>
              <a:rPr lang="en-US" altLang="zh-CN" dirty="0">
                <a:solidFill>
                  <a:srgbClr val="990033"/>
                </a:solidFill>
              </a:rPr>
              <a:t>k</a:t>
            </a:r>
            <a:r>
              <a:rPr lang="zh-CN" altLang="en-US" dirty="0">
                <a:solidFill>
                  <a:srgbClr val="990033"/>
                </a:solidFill>
              </a:rPr>
              <a:t>步转移概率  </a:t>
            </a:r>
            <a:endParaRPr lang="en-US" altLang="zh-CN" dirty="0">
              <a:solidFill>
                <a:srgbClr val="990033"/>
              </a:solidFill>
            </a:endParaRPr>
          </a:p>
          <a:p>
            <a:pPr algn="just">
              <a:buNone/>
            </a:pPr>
            <a:r>
              <a:rPr lang="en-US" altLang="zh-CN" dirty="0" err="1"/>
              <a:t>p</a:t>
            </a:r>
            <a:r>
              <a:rPr lang="en-US" altLang="zh-CN" baseline="-25000" dirty="0" err="1"/>
              <a:t>ij</a:t>
            </a:r>
            <a:r>
              <a:rPr lang="en-US" altLang="zh-CN" dirty="0"/>
              <a:t>(</a:t>
            </a:r>
            <a:r>
              <a:rPr lang="en-US" altLang="zh-CN" dirty="0" err="1"/>
              <a:t>m,k</a:t>
            </a:r>
            <a:r>
              <a:rPr lang="en-US" altLang="zh-CN" dirty="0"/>
              <a:t>)</a:t>
            </a:r>
            <a:r>
              <a:rPr lang="zh-CN" altLang="en-US" dirty="0"/>
              <a:t>＝</a:t>
            </a:r>
            <a:r>
              <a:rPr lang="en-US" altLang="zh-CN" dirty="0"/>
              <a:t>P{X(</a:t>
            </a:r>
            <a:r>
              <a:rPr lang="en-US" altLang="zh-CN" dirty="0" err="1"/>
              <a:t>m+k</a:t>
            </a:r>
            <a:r>
              <a:rPr lang="en-US" altLang="zh-CN" dirty="0"/>
              <a:t>)=</a:t>
            </a:r>
            <a:r>
              <a:rPr lang="en-US" altLang="zh-CN" dirty="0" err="1"/>
              <a:t>j|X</a:t>
            </a:r>
            <a:r>
              <a:rPr lang="en-US" altLang="zh-CN" dirty="0"/>
              <a:t>(m)=</a:t>
            </a:r>
            <a:r>
              <a:rPr lang="en-US" altLang="zh-CN" dirty="0" err="1"/>
              <a:t>i</a:t>
            </a:r>
            <a:r>
              <a:rPr lang="en-US" altLang="zh-CN" dirty="0"/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C029CB-4E4D-0F1F-2DC6-4FD2D64FBFF9}"/>
              </a:ext>
            </a:extLst>
          </p:cNvPr>
          <p:cNvSpPr txBox="1">
            <a:spLocks noChangeArrowheads="1"/>
          </p:cNvSpPr>
          <p:nvPr/>
        </p:nvSpPr>
        <p:spPr>
          <a:xfrm>
            <a:off x="251254" y="5454869"/>
            <a:ext cx="4983587" cy="80346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en-US" altLang="zh-CN" dirty="0">
                <a:solidFill>
                  <a:srgbClr val="990033"/>
                </a:solidFill>
              </a:rPr>
              <a:t>4.</a:t>
            </a:r>
            <a:r>
              <a:rPr lang="zh-CN" altLang="en-US" dirty="0">
                <a:solidFill>
                  <a:srgbClr val="990033"/>
                </a:solidFill>
              </a:rPr>
              <a:t> </a:t>
            </a:r>
            <a:r>
              <a:rPr lang="en-US" altLang="zh-CN" dirty="0">
                <a:solidFill>
                  <a:srgbClr val="990033"/>
                </a:solidFill>
              </a:rPr>
              <a:t>k</a:t>
            </a:r>
            <a:r>
              <a:rPr lang="zh-CN" altLang="en-US" dirty="0">
                <a:solidFill>
                  <a:srgbClr val="990033"/>
                </a:solidFill>
              </a:rPr>
              <a:t>步转移矩阵</a:t>
            </a:r>
            <a:endParaRPr lang="en-US" altLang="zh-CN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29D349F-ACAC-757C-7DBF-A677FEFDB6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909344"/>
              </p:ext>
            </p:extLst>
          </p:nvPr>
        </p:nvGraphicFramePr>
        <p:xfrm>
          <a:off x="5574403" y="3885201"/>
          <a:ext cx="6346560" cy="2881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08300" imgH="1320800" progId="Equation.3">
                  <p:embed/>
                </p:oleObj>
              </mc:Choice>
              <mc:Fallback>
                <p:oleObj name="Equation" r:id="rId3" imgW="2908300" imgH="1320800" progId="Equation.3">
                  <p:embed/>
                  <p:pic>
                    <p:nvPicPr>
                      <p:cNvPr id="269316" name="Object 4">
                        <a:extLst>
                          <a:ext uri="{FF2B5EF4-FFF2-40B4-BE49-F238E27FC236}">
                            <a16:creationId xmlns:a16="http://schemas.microsoft.com/office/drawing/2014/main" id="{EA5E4989-EFD9-D2FA-598E-E9DD87E97B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4403" y="3885201"/>
                        <a:ext cx="6346560" cy="28817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0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0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0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0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099" grpId="0" build="p"/>
      <p:bldP spid="260100" grpId="0" build="p"/>
      <p:bldP spid="2" grpId="0" build="p"/>
      <p:bldP spid="3" grpId="0" build="p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回顾</a:t>
            </a:r>
            <a:r>
              <a:rPr lang="en-US" altLang="zh-CN" dirty="0"/>
              <a:t>2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1573" y="743742"/>
            <a:ext cx="11268075" cy="1472660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zh-CN" altLang="en-US" dirty="0">
                <a:solidFill>
                  <a:srgbClr val="990033"/>
                </a:solidFill>
              </a:rPr>
              <a:t>性质</a:t>
            </a:r>
            <a:r>
              <a:rPr lang="en-US" altLang="zh-CN" dirty="0">
                <a:solidFill>
                  <a:srgbClr val="990033"/>
                </a:solidFill>
              </a:rPr>
              <a:t>1</a:t>
            </a:r>
            <a:r>
              <a:rPr lang="zh-CN" altLang="en-US" dirty="0">
                <a:solidFill>
                  <a:srgbClr val="990033"/>
                </a:solidFill>
              </a:rPr>
              <a:t>  </a:t>
            </a:r>
            <a:r>
              <a:rPr lang="zh-CN" altLang="en-US" dirty="0">
                <a:solidFill>
                  <a:srgbClr val="0000FF"/>
                </a:solidFill>
              </a:rPr>
              <a:t>齐次马氏链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{X(n), n=0, 1, 2, …}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的转移概率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ij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(k)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满足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C-K(Chapman-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Kolmogrov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切普曼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-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柯尔莫哥洛夫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方程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:</a:t>
            </a:r>
            <a:endParaRPr lang="zh-CN" altLang="en-US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11270" name="Object 4"/>
          <p:cNvGraphicFramePr>
            <a:graphicFrameLocks noChangeAspect="1"/>
          </p:cNvGraphicFramePr>
          <p:nvPr/>
        </p:nvGraphicFramePr>
        <p:xfrm>
          <a:off x="6045187" y="1727044"/>
          <a:ext cx="3199552" cy="665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198960" imgH="584280" progId="Equation.3">
                  <p:embed/>
                </p:oleObj>
              </mc:Choice>
              <mc:Fallback>
                <p:oleObj name="公式" r:id="rId3" imgW="3198960" imgH="584280" progId="Equation.3">
                  <p:embed/>
                  <p:pic>
                    <p:nvPicPr>
                      <p:cNvPr id="1127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187" y="1727044"/>
                        <a:ext cx="3199552" cy="6653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Rectangle 5"/>
          <p:cNvSpPr>
            <a:spLocks noChangeArrowheads="1"/>
          </p:cNvSpPr>
          <p:nvPr/>
        </p:nvSpPr>
        <p:spPr bwMode="auto">
          <a:xfrm>
            <a:off x="465138" y="2109331"/>
            <a:ext cx="7088240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采用矩阵记号为：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P(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k+s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P(k)P(s)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119B57D-C82A-AECE-AF3C-FC722B685744}"/>
              </a:ext>
            </a:extLst>
          </p:cNvPr>
          <p:cNvSpPr txBox="1">
            <a:spLocks noChangeArrowheads="1"/>
          </p:cNvSpPr>
          <p:nvPr/>
        </p:nvSpPr>
        <p:spPr>
          <a:xfrm>
            <a:off x="465138" y="2657886"/>
            <a:ext cx="11268074" cy="1600728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rgbClr val="990033"/>
                </a:solidFill>
              </a:rPr>
              <a:t>性质</a:t>
            </a:r>
            <a:r>
              <a:rPr lang="en-US" altLang="zh-CN" dirty="0">
                <a:solidFill>
                  <a:srgbClr val="990033"/>
                </a:solidFill>
              </a:rPr>
              <a:t>2</a:t>
            </a:r>
            <a:r>
              <a:rPr lang="zh-CN" altLang="en-US" dirty="0">
                <a:solidFill>
                  <a:srgbClr val="990033"/>
                </a:solidFill>
              </a:rPr>
              <a:t>  </a:t>
            </a:r>
            <a:r>
              <a:rPr lang="zh-CN" altLang="en-US" dirty="0">
                <a:solidFill>
                  <a:srgbClr val="0000FF"/>
                </a:solidFill>
              </a:rPr>
              <a:t>齐次马氏链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{X(n), n=0, 1, 2, …}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的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步转移矩阵等于一步转移矩阵的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次方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即：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P(n)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P</a:t>
            </a:r>
            <a:r>
              <a:rPr lang="en-US" altLang="zh-CN" baseline="50000" dirty="0" err="1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7C434F3-4BEF-FEA1-C4BE-0F3D628FB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138" y="3893226"/>
            <a:ext cx="7174613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Ctr="1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990033"/>
                </a:solidFill>
                <a:latin typeface="+mn-ea"/>
                <a:ea typeface="+mn-ea"/>
              </a:rPr>
              <a:t>性质</a:t>
            </a:r>
            <a:r>
              <a:rPr lang="en-US" altLang="zh-CN" sz="2400" dirty="0">
                <a:solidFill>
                  <a:srgbClr val="990033"/>
                </a:solidFill>
                <a:latin typeface="+mn-ea"/>
                <a:ea typeface="+mn-ea"/>
              </a:rPr>
              <a:t>3 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绝对分布由初始分布和转移概率确定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,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且满足</a:t>
            </a:r>
            <a:endParaRPr lang="zh-CN" altLang="en-US" sz="2400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25B5C40C-E319-F1A8-E618-AC39AE3C72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267966"/>
              </p:ext>
            </p:extLst>
          </p:nvPr>
        </p:nvGraphicFramePr>
        <p:xfrm>
          <a:off x="1404732" y="4466260"/>
          <a:ext cx="3834491" cy="59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87520" imgH="584280" progId="Equation.3">
                  <p:embed/>
                </p:oleObj>
              </mc:Choice>
              <mc:Fallback>
                <p:oleObj name="Equation" r:id="rId5" imgW="3287520" imgH="584280" progId="Equation.3">
                  <p:embed/>
                  <p:pic>
                    <p:nvPicPr>
                      <p:cNvPr id="27137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732" y="4466260"/>
                        <a:ext cx="3834491" cy="59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2">
            <a:extLst>
              <a:ext uri="{FF2B5EF4-FFF2-40B4-BE49-F238E27FC236}">
                <a16:creationId xmlns:a16="http://schemas.microsoft.com/office/drawing/2014/main" id="{1A5EBF63-8CF9-B561-C484-FCBAE2D6E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223" y="4507054"/>
            <a:ext cx="1438919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Ctr="1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或记为</a:t>
            </a:r>
          </a:p>
        </p:txBody>
      </p:sp>
      <p:graphicFrame>
        <p:nvGraphicFramePr>
          <p:cNvPr id="6" name="Object 13">
            <a:extLst>
              <a:ext uri="{FF2B5EF4-FFF2-40B4-BE49-F238E27FC236}">
                <a16:creationId xmlns:a16="http://schemas.microsoft.com/office/drawing/2014/main" id="{E2EC405F-6830-9A63-1F49-7FC2D04882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0192898"/>
              </p:ext>
            </p:extLst>
          </p:nvPr>
        </p:nvGraphicFramePr>
        <p:xfrm>
          <a:off x="6798133" y="4441648"/>
          <a:ext cx="1683235" cy="474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4920" imgH="393840" progId="Equation.3">
                  <p:embed/>
                </p:oleObj>
              </mc:Choice>
              <mc:Fallback>
                <p:oleObj name="Equation" r:id="rId7" imgW="1294920" imgH="393840" progId="Equation.3">
                  <p:embed/>
                  <p:pic>
                    <p:nvPicPr>
                      <p:cNvPr id="27137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8133" y="4441648"/>
                        <a:ext cx="1683235" cy="4747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56151812-5CB6-7DA2-030E-3799E1839F29}"/>
              </a:ext>
            </a:extLst>
          </p:cNvPr>
          <p:cNvSpPr txBox="1">
            <a:spLocks noChangeArrowheads="1"/>
          </p:cNvSpPr>
          <p:nvPr/>
        </p:nvSpPr>
        <p:spPr>
          <a:xfrm>
            <a:off x="465138" y="5068403"/>
            <a:ext cx="9650425" cy="693897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990033"/>
                </a:solidFill>
              </a:rPr>
              <a:t>性质</a:t>
            </a:r>
            <a:r>
              <a:rPr lang="en-US" altLang="zh-CN" dirty="0">
                <a:solidFill>
                  <a:srgbClr val="990033"/>
                </a:solidFill>
              </a:rPr>
              <a:t>4</a:t>
            </a:r>
            <a:r>
              <a:rPr lang="zh-CN" altLang="en-US" dirty="0">
                <a:solidFill>
                  <a:srgbClr val="990033"/>
                </a:solidFill>
              </a:rPr>
              <a:t>  </a:t>
            </a:r>
            <a:r>
              <a:rPr lang="zh-CN" altLang="en-US" dirty="0">
                <a:solidFill>
                  <a:srgbClr val="0000FF"/>
                </a:solidFill>
              </a:rPr>
              <a:t>齐次马氏链的有限维分布由初始分布和转移概率确定</a:t>
            </a:r>
            <a:r>
              <a:rPr lang="en-US" altLang="zh-CN" dirty="0">
                <a:solidFill>
                  <a:srgbClr val="0000FF"/>
                </a:solidFill>
              </a:rPr>
              <a:t>, </a:t>
            </a:r>
            <a:r>
              <a:rPr lang="zh-CN" altLang="en-US" dirty="0">
                <a:solidFill>
                  <a:srgbClr val="0000FF"/>
                </a:solidFill>
              </a:rPr>
              <a:t>且满足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B7C0569-4B30-3A20-0DFD-276E9C33D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758" y="5777834"/>
            <a:ext cx="4954147" cy="496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P{X(n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dirty="0">
                <a:solidFill>
                  <a:srgbClr val="0000FF"/>
                </a:solidFill>
              </a:rPr>
              <a:t>) = i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dirty="0">
                <a:solidFill>
                  <a:srgbClr val="0000FF"/>
                </a:solidFill>
              </a:rPr>
              <a:t>, X(n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2</a:t>
            </a:r>
            <a:r>
              <a:rPr lang="en-US" altLang="zh-CN" sz="2400" dirty="0">
                <a:solidFill>
                  <a:srgbClr val="0000FF"/>
                </a:solidFill>
              </a:rPr>
              <a:t>) = i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2</a:t>
            </a:r>
            <a:r>
              <a:rPr lang="en-US" altLang="zh-CN" sz="2400" dirty="0">
                <a:solidFill>
                  <a:srgbClr val="0000FF"/>
                </a:solidFill>
              </a:rPr>
              <a:t>, …, X(</a:t>
            </a:r>
            <a:r>
              <a:rPr lang="en-US" altLang="zh-CN" sz="2400" dirty="0" err="1">
                <a:solidFill>
                  <a:srgbClr val="0000FF"/>
                </a:solidFill>
              </a:rPr>
              <a:t>n</a:t>
            </a:r>
            <a:r>
              <a:rPr lang="en-US" altLang="zh-CN" sz="2400" baseline="-25000" dirty="0" err="1">
                <a:solidFill>
                  <a:srgbClr val="0000FF"/>
                </a:solidFill>
              </a:rPr>
              <a:t>k</a:t>
            </a:r>
            <a:r>
              <a:rPr lang="en-US" altLang="zh-CN" sz="2400" dirty="0">
                <a:solidFill>
                  <a:srgbClr val="0000FF"/>
                </a:solidFill>
              </a:rPr>
              <a:t>) = </a:t>
            </a:r>
            <a:r>
              <a:rPr lang="en-US" altLang="zh-CN" sz="2400" dirty="0" err="1">
                <a:solidFill>
                  <a:srgbClr val="0000FF"/>
                </a:solidFill>
              </a:rPr>
              <a:t>i</a:t>
            </a:r>
            <a:r>
              <a:rPr lang="en-US" altLang="zh-CN" sz="2400" baseline="-25000" dirty="0" err="1">
                <a:solidFill>
                  <a:srgbClr val="0000FF"/>
                </a:solidFill>
              </a:rPr>
              <a:t>k</a:t>
            </a:r>
            <a:r>
              <a:rPr lang="en-US" altLang="zh-CN" sz="2400" dirty="0">
                <a:solidFill>
                  <a:srgbClr val="0000FF"/>
                </a:solidFill>
              </a:rPr>
              <a:t>}</a:t>
            </a:r>
          </a:p>
        </p:txBody>
      </p:sp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8AFCF36B-7521-B2B5-7D08-D6CD10835A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9310638"/>
              </p:ext>
            </p:extLst>
          </p:nvPr>
        </p:nvGraphicFramePr>
        <p:xfrm>
          <a:off x="5483905" y="5805961"/>
          <a:ext cx="6086297" cy="633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289300" imgH="342900" progId="Equation.DSMT4">
                  <p:embed/>
                </p:oleObj>
              </mc:Choice>
              <mc:Fallback>
                <p:oleObj name="Equation" r:id="rId9" imgW="3289300" imgH="342900" progId="Equation.DSMT4">
                  <p:embed/>
                  <p:pic>
                    <p:nvPicPr>
                      <p:cNvPr id="17416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3905" y="5805961"/>
                        <a:ext cx="6086297" cy="633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7">
            <a:extLst>
              <a:ext uri="{FF2B5EF4-FFF2-40B4-BE49-F238E27FC236}">
                <a16:creationId xmlns:a16="http://schemas.microsoft.com/office/drawing/2014/main" id="{61255B20-9F85-EDE8-599D-E45FF59B2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779" y="6397923"/>
            <a:ext cx="94599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其中</a:t>
            </a:r>
            <a:r>
              <a:rPr lang="en-US" altLang="zh-CN" sz="2400" dirty="0">
                <a:solidFill>
                  <a:srgbClr val="0000FF"/>
                </a:solidFill>
              </a:rPr>
              <a:t>P{X(n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dirty="0">
                <a:solidFill>
                  <a:srgbClr val="0000FF"/>
                </a:solidFill>
              </a:rPr>
              <a:t>)=i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dirty="0">
                <a:solidFill>
                  <a:srgbClr val="0000FF"/>
                </a:solidFill>
              </a:rPr>
              <a:t>, X(n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2</a:t>
            </a:r>
            <a:r>
              <a:rPr lang="en-US" altLang="zh-CN" sz="2400" dirty="0">
                <a:solidFill>
                  <a:srgbClr val="0000FF"/>
                </a:solidFill>
              </a:rPr>
              <a:t>)=i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2</a:t>
            </a:r>
            <a:r>
              <a:rPr lang="en-US" altLang="zh-CN" sz="2400" dirty="0">
                <a:solidFill>
                  <a:srgbClr val="0000FF"/>
                </a:solidFill>
              </a:rPr>
              <a:t>, …, X(</a:t>
            </a:r>
            <a:r>
              <a:rPr lang="en-US" altLang="zh-CN" sz="2400" dirty="0" err="1">
                <a:solidFill>
                  <a:srgbClr val="0000FF"/>
                </a:solidFill>
              </a:rPr>
              <a:t>n</a:t>
            </a:r>
            <a:r>
              <a:rPr lang="en-US" altLang="zh-CN" sz="2400" baseline="-25000" dirty="0" err="1">
                <a:solidFill>
                  <a:srgbClr val="0000FF"/>
                </a:solidFill>
              </a:rPr>
              <a:t>k</a:t>
            </a:r>
            <a:r>
              <a:rPr lang="en-US" altLang="zh-CN" sz="2400" dirty="0">
                <a:solidFill>
                  <a:srgbClr val="0000FF"/>
                </a:solidFill>
              </a:rPr>
              <a:t>)=</a:t>
            </a:r>
            <a:r>
              <a:rPr lang="en-US" altLang="zh-CN" sz="2400" dirty="0" err="1">
                <a:solidFill>
                  <a:srgbClr val="0000FF"/>
                </a:solidFill>
              </a:rPr>
              <a:t>i</a:t>
            </a:r>
            <a:r>
              <a:rPr lang="en-US" altLang="zh-CN" sz="2400" baseline="-25000" dirty="0" err="1">
                <a:solidFill>
                  <a:srgbClr val="0000FF"/>
                </a:solidFill>
              </a:rPr>
              <a:t>k</a:t>
            </a:r>
            <a:r>
              <a:rPr lang="en-US" altLang="zh-CN" sz="2400" dirty="0">
                <a:solidFill>
                  <a:srgbClr val="0000FF"/>
                </a:solidFill>
              </a:rPr>
              <a:t>}</a:t>
            </a:r>
            <a:r>
              <a:rPr lang="zh-CN" altLang="en-US" sz="2400" dirty="0">
                <a:solidFill>
                  <a:srgbClr val="0000FF"/>
                </a:solidFill>
              </a:rPr>
              <a:t>为齐次马氏链的</a:t>
            </a:r>
            <a:r>
              <a:rPr lang="en-US" altLang="zh-CN" sz="2400" dirty="0">
                <a:solidFill>
                  <a:srgbClr val="0000FF"/>
                </a:solidFill>
              </a:rPr>
              <a:t>k</a:t>
            </a:r>
            <a:r>
              <a:rPr lang="zh-CN" altLang="en-US" sz="2400" dirty="0">
                <a:solidFill>
                  <a:srgbClr val="0000FF"/>
                </a:solidFill>
              </a:rPr>
              <a:t>维概率分布。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3329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</a:t>
            </a:r>
            <a:r>
              <a:rPr lang="en-US" altLang="zh-CN" dirty="0"/>
              <a:t>3</a:t>
            </a:r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975" y="983540"/>
            <a:ext cx="11582400" cy="1219729"/>
          </a:xfrm>
        </p:spPr>
        <p:txBody>
          <a:bodyPr/>
          <a:lstStyle/>
          <a:p>
            <a:pPr marL="0" indent="0" algn="just">
              <a:buNone/>
            </a:pPr>
            <a:r>
              <a:rPr lang="zh-CN" altLang="en-US" dirty="0">
                <a:solidFill>
                  <a:srgbClr val="990033"/>
                </a:solidFill>
                <a:sym typeface="Symbol" panose="05050102010706020507" pitchFamily="18" charset="2"/>
              </a:rPr>
              <a:t>性质</a:t>
            </a:r>
            <a:r>
              <a:rPr lang="en-US" altLang="zh-CN" dirty="0">
                <a:solidFill>
                  <a:srgbClr val="990033"/>
                </a:solidFill>
                <a:sym typeface="Symbol" panose="05050102010706020507" pitchFamily="18" charset="2"/>
              </a:rPr>
              <a:t>5</a:t>
            </a:r>
            <a:r>
              <a:rPr lang="zh-CN" altLang="en-US" dirty="0">
                <a:solidFill>
                  <a:srgbClr val="990033"/>
                </a:solidFill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设</a:t>
            </a:r>
            <a:r>
              <a:rPr lang="zh-CN" altLang="en-US" dirty="0">
                <a:solidFill>
                  <a:srgbClr val="0000FF"/>
                </a:solidFill>
              </a:rPr>
              <a:t>齐次马氏链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{X(n), n=0, 1, 2, …}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的状态空间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E={1, 2, …, s}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为有限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若存在正整数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对任意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i,jE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有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ij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(n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)&gt;0,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则此马氏链是遍历的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且极限分布是方程组</a:t>
            </a:r>
          </a:p>
        </p:txBody>
      </p:sp>
      <p:graphicFrame>
        <p:nvGraphicFramePr>
          <p:cNvPr id="6349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068293"/>
              </p:ext>
            </p:extLst>
          </p:nvPr>
        </p:nvGraphicFramePr>
        <p:xfrm>
          <a:off x="2982756" y="2050621"/>
          <a:ext cx="4573058" cy="1052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55800" imgH="762120" progId="Equation.3">
                  <p:embed/>
                </p:oleObj>
              </mc:Choice>
              <mc:Fallback>
                <p:oleObj name="Equation" r:id="rId3" imgW="3655800" imgH="762120" progId="Equation.3">
                  <p:embed/>
                  <p:pic>
                    <p:nvPicPr>
                      <p:cNvPr id="6349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756" y="2050621"/>
                        <a:ext cx="4573058" cy="10527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6" name="Rectangle 6"/>
          <p:cNvSpPr>
            <a:spLocks noChangeArrowheads="1"/>
          </p:cNvSpPr>
          <p:nvPr/>
        </p:nvSpPr>
        <p:spPr bwMode="auto">
          <a:xfrm>
            <a:off x="340458" y="3492688"/>
            <a:ext cx="1970544" cy="5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801" dirty="0">
                <a:solidFill>
                  <a:srgbClr val="0000FF"/>
                </a:solidFill>
                <a:sym typeface="Symbol" panose="05050102010706020507" pitchFamily="18" charset="2"/>
              </a:rPr>
              <a:t>在满足条件</a:t>
            </a:r>
          </a:p>
        </p:txBody>
      </p:sp>
      <p:graphicFrame>
        <p:nvGraphicFramePr>
          <p:cNvPr id="6349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6609564"/>
              </p:ext>
            </p:extLst>
          </p:nvPr>
        </p:nvGraphicFramePr>
        <p:xfrm>
          <a:off x="2348756" y="3210841"/>
          <a:ext cx="3217020" cy="1082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26120" imgH="774720" progId="Equation.3">
                  <p:embed/>
                </p:oleObj>
              </mc:Choice>
              <mc:Fallback>
                <p:oleObj name="Equation" r:id="rId5" imgW="2526120" imgH="774720" progId="Equation.3">
                  <p:embed/>
                  <p:pic>
                    <p:nvPicPr>
                      <p:cNvPr id="6349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8756" y="3210841"/>
                        <a:ext cx="3217020" cy="10829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8" name="Rectangle 8"/>
          <p:cNvSpPr>
            <a:spLocks noChangeArrowheads="1"/>
          </p:cNvSpPr>
          <p:nvPr/>
        </p:nvSpPr>
        <p:spPr bwMode="auto">
          <a:xfrm>
            <a:off x="5586236" y="3413003"/>
            <a:ext cx="2327814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801" dirty="0">
                <a:solidFill>
                  <a:srgbClr val="0000FF"/>
                </a:solidFill>
                <a:sym typeface="Symbol" panose="05050102010706020507" pitchFamily="18" charset="2"/>
              </a:rPr>
              <a:t>下的唯一解。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13FCB6A-57AD-EB7B-96D1-E8309D27C702}"/>
              </a:ext>
            </a:extLst>
          </p:cNvPr>
          <p:cNvSpPr txBox="1">
            <a:spLocks noChangeArrowheads="1"/>
          </p:cNvSpPr>
          <p:nvPr/>
        </p:nvSpPr>
        <p:spPr>
          <a:xfrm>
            <a:off x="311150" y="4216130"/>
            <a:ext cx="8078188" cy="838729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990033"/>
                </a:solidFill>
                <a:sym typeface="Symbol" panose="05050102010706020507" pitchFamily="18" charset="2"/>
              </a:rPr>
              <a:t>推论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  设</a:t>
            </a:r>
            <a:r>
              <a:rPr lang="zh-CN" altLang="en-US" dirty="0">
                <a:solidFill>
                  <a:srgbClr val="0000FF"/>
                </a:solidFill>
              </a:rPr>
              <a:t>齐次马氏链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{X(n), n=0, 1, 2, …}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具有遍历性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则</a:t>
            </a: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C8C0660A-51CB-FAF3-9C96-ECC1AEAECB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507095"/>
              </p:ext>
            </p:extLst>
          </p:nvPr>
        </p:nvGraphicFramePr>
        <p:xfrm>
          <a:off x="8090609" y="4249225"/>
          <a:ext cx="3799766" cy="681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21120" imgH="457200" progId="Equation.3">
                  <p:embed/>
                </p:oleObj>
              </mc:Choice>
              <mc:Fallback>
                <p:oleObj name="Equation" r:id="rId7" imgW="3021120" imgH="457200" progId="Equation.3">
                  <p:embed/>
                  <p:pic>
                    <p:nvPicPr>
                      <p:cNvPr id="2355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0609" y="4249225"/>
                        <a:ext cx="3799766" cy="6811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>
            <a:extLst>
              <a:ext uri="{FF2B5EF4-FFF2-40B4-BE49-F238E27FC236}">
                <a16:creationId xmlns:a16="http://schemas.microsoft.com/office/drawing/2014/main" id="{89C75E8E-1537-C2CB-DFA3-6D0F11C94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335" y="5079002"/>
            <a:ext cx="9668881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即遍历的齐次马氏链的绝对分布与转移概率有相同的极限。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727CB85-8D1A-8937-D086-B7075FBF9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56" y="5944078"/>
            <a:ext cx="7774199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990033"/>
                </a:solidFill>
                <a:latin typeface="+mn-ea"/>
                <a:ea typeface="+mn-ea"/>
              </a:rPr>
              <a:t>性质</a:t>
            </a:r>
            <a:r>
              <a:rPr lang="en-US" altLang="zh-CN" sz="2400" dirty="0">
                <a:solidFill>
                  <a:srgbClr val="990033"/>
                </a:solidFill>
                <a:latin typeface="+mn-ea"/>
                <a:ea typeface="+mn-ea"/>
              </a:rPr>
              <a:t>6</a:t>
            </a:r>
            <a:r>
              <a:rPr lang="en-US" altLang="zh-CN" sz="2400" dirty="0">
                <a:solidFill>
                  <a:srgbClr val="339933"/>
                </a:solidFill>
                <a:latin typeface="+mn-ea"/>
                <a:ea typeface="+mn-ea"/>
              </a:rPr>
              <a:t> 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遍历的齐次马氏链的极限分布是平稳分布。</a:t>
            </a:r>
            <a:endParaRPr lang="zh-CN" altLang="en-US" sz="2400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6600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 build="p"/>
      <p:bldP spid="63496" grpId="0"/>
      <p:bldP spid="63498" grpId="0"/>
      <p:bldP spid="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F797B-BBD0-1544-A529-1732CE856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>
            <a:extLst>
              <a:ext uri="{FF2B5EF4-FFF2-40B4-BE49-F238E27FC236}">
                <a16:creationId xmlns:a16="http://schemas.microsoft.com/office/drawing/2014/main" id="{FB12DDE8-CEDB-682B-8E82-B821CCA30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</a:t>
            </a:r>
            <a:r>
              <a:rPr lang="en-US" altLang="zh-CN" dirty="0"/>
              <a:t>4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10434FB-124B-8BBC-921C-27AE9ED8AD79}"/>
              </a:ext>
            </a:extLst>
          </p:cNvPr>
          <p:cNvSpPr txBox="1">
            <a:spLocks noChangeArrowheads="1"/>
          </p:cNvSpPr>
          <p:nvPr/>
        </p:nvSpPr>
        <p:spPr>
          <a:xfrm>
            <a:off x="307975" y="1106745"/>
            <a:ext cx="11506200" cy="875249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zh-CN" altLang="en-US" dirty="0">
                <a:solidFill>
                  <a:srgbClr val="990033"/>
                </a:solidFill>
              </a:rPr>
              <a:t>性质</a:t>
            </a:r>
            <a:r>
              <a:rPr lang="en-US" altLang="zh-CN" dirty="0">
                <a:solidFill>
                  <a:srgbClr val="990033"/>
                </a:solidFill>
              </a:rPr>
              <a:t>7</a:t>
            </a:r>
            <a:r>
              <a:rPr lang="zh-CN" altLang="en-US" dirty="0">
                <a:solidFill>
                  <a:srgbClr val="990033"/>
                </a:solidFill>
              </a:rPr>
              <a:t> 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设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{X(n), n=0, 1, 2, …}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的平稳分布为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v</a:t>
            </a:r>
            <a:r>
              <a:rPr lang="en-US" altLang="zh-CN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j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jE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},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则有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V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VP</a:t>
            </a:r>
            <a:r>
              <a:rPr lang="en-US" altLang="zh-CN" baseline="50000" dirty="0" err="1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n=0, 1, 2, …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36C5DD7-FA54-582A-13CC-155819DA5A2C}"/>
              </a:ext>
            </a:extLst>
          </p:cNvPr>
          <p:cNvSpPr txBox="1">
            <a:spLocks noChangeArrowheads="1"/>
          </p:cNvSpPr>
          <p:nvPr/>
        </p:nvSpPr>
        <p:spPr>
          <a:xfrm>
            <a:off x="308965" y="2306896"/>
            <a:ext cx="11125200" cy="2610402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zh-CN" altLang="en-US" dirty="0">
                <a:solidFill>
                  <a:srgbClr val="990033"/>
                </a:solidFill>
              </a:rPr>
              <a:t>性质</a:t>
            </a:r>
            <a:r>
              <a:rPr lang="en-US" altLang="zh-CN" dirty="0">
                <a:solidFill>
                  <a:srgbClr val="990033"/>
                </a:solidFill>
              </a:rPr>
              <a:t>8</a:t>
            </a:r>
            <a:r>
              <a:rPr lang="zh-CN" altLang="en-US" dirty="0">
                <a:solidFill>
                  <a:srgbClr val="990033"/>
                </a:solidFill>
              </a:rPr>
              <a:t> 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如果齐次马氏链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{X(n), n=0, 1, 2, …}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的初始分布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j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(0), 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jE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恰好是平稳分布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则对一切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有</a:t>
            </a: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j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(n)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j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(0),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	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n=0, 1, 2, …, 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jE</a:t>
            </a:r>
            <a:endParaRPr lang="en-US" altLang="zh-CN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即            。</a:t>
            </a:r>
          </a:p>
        </p:txBody>
      </p: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B24BC544-6586-6F75-6D25-4E84180BB6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8425626"/>
              </p:ext>
            </p:extLst>
          </p:nvPr>
        </p:nvGraphicFramePr>
        <p:xfrm>
          <a:off x="764185" y="3963194"/>
          <a:ext cx="1111507" cy="628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2391" imgH="253890" progId="Equation.DSMT4">
                  <p:embed/>
                </p:oleObj>
              </mc:Choice>
              <mc:Fallback>
                <p:oleObj name="Equation" r:id="rId3" imgW="482391" imgH="253890" progId="Equation.DSMT4">
                  <p:embed/>
                  <p:pic>
                    <p:nvPicPr>
                      <p:cNvPr id="2970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185" y="3963194"/>
                        <a:ext cx="1111507" cy="628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1104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2B618AF9-A156-AC3C-11F1-62B603588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4700" y="352424"/>
            <a:ext cx="5334000" cy="429419"/>
          </a:xfrm>
        </p:spPr>
        <p:txBody>
          <a:bodyPr/>
          <a:lstStyle/>
          <a:p>
            <a:r>
              <a:rPr lang="zh-CN" altLang="en-US" dirty="0"/>
              <a:t>本讲主要内容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4254F88-A7ED-F192-8F20-3265902D05D7}"/>
              </a:ext>
            </a:extLst>
          </p:cNvPr>
          <p:cNvSpPr txBox="1">
            <a:spLocks noChangeArrowheads="1"/>
          </p:cNvSpPr>
          <p:nvPr/>
        </p:nvSpPr>
        <p:spPr>
          <a:xfrm>
            <a:off x="609917" y="1143795"/>
            <a:ext cx="11051857" cy="40386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</a:rPr>
              <a:t>齐次马氏链状态的分类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互通  首达</a:t>
            </a:r>
            <a:endParaRPr lang="zh-CN" altLang="en-US" dirty="0">
              <a:solidFill>
                <a:srgbClr val="CC00CC"/>
              </a:solidFill>
            </a:endParaRP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常返与非常返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正常返与零常返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状态空间分解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不可约马氏链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状态的周期性</a:t>
            </a:r>
            <a:endParaRPr lang="en-US" altLang="zh-CN" dirty="0">
              <a:solidFill>
                <a:srgbClr val="CC00CC"/>
              </a:solidFill>
            </a:endParaRPr>
          </a:p>
          <a:p>
            <a:pPr lvl="1">
              <a:buClr>
                <a:srgbClr val="FF0000"/>
              </a:buClr>
              <a:buFontTx/>
              <a:buChar char="•"/>
            </a:pPr>
            <a:endParaRPr lang="zh-CN" altLang="en-US" dirty="0">
              <a:solidFill>
                <a:srgbClr val="CC00CC"/>
              </a:solidFill>
              <a:latin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F36EF48-B771-9999-17F1-B2925F09C624}"/>
              </a:ext>
            </a:extLst>
          </p:cNvPr>
          <p:cNvSpPr txBox="1">
            <a:spLocks noChangeArrowheads="1"/>
          </p:cNvSpPr>
          <p:nvPr/>
        </p:nvSpPr>
        <p:spPr>
          <a:xfrm>
            <a:off x="4879975" y="1143795"/>
            <a:ext cx="7086601" cy="40386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连续参数马尔可夫链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转移概率函数、转移矩阵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连续参数齐次马氏链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初始分布、绝对分布、遍历性、平稳分布</a:t>
            </a:r>
            <a:endParaRPr lang="zh-CN" altLang="en-US" dirty="0">
              <a:solidFill>
                <a:srgbClr val="CC00CC"/>
              </a:solidFill>
              <a:latin typeface="黑体" panose="02010609060101010101" pitchFamily="49" charset="-122"/>
            </a:endParaRP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转移概率函数的性质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状态转移速度矩阵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</a:endParaRPr>
          </a:p>
          <a:p>
            <a:pPr lvl="1">
              <a:buClr>
                <a:srgbClr val="FF0000"/>
              </a:buClr>
              <a:buFontTx/>
              <a:buChar char="•"/>
            </a:pPr>
            <a:endParaRPr lang="zh-CN" altLang="en-US" dirty="0">
              <a:solidFill>
                <a:srgbClr val="CC00CC"/>
              </a:solidFill>
              <a:latin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6871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2F304-56AA-88F4-704B-02D45B5A9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CDE02879-A9A9-931C-721B-06E864BAC1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50" cy="68595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9A42E94-F5E7-6CDF-1407-E29CFD7190B3}"/>
              </a:ext>
            </a:extLst>
          </p:cNvPr>
          <p:cNvSpPr txBox="1"/>
          <p:nvPr/>
        </p:nvSpPr>
        <p:spPr>
          <a:xfrm>
            <a:off x="2289175" y="2599608"/>
            <a:ext cx="1295400" cy="861817"/>
          </a:xfrm>
          <a:prstGeom prst="rect">
            <a:avLst/>
          </a:prstGeom>
          <a:solidFill>
            <a:srgbClr val="28A7E1"/>
          </a:solidFill>
        </p:spPr>
        <p:txBody>
          <a:bodyPr wrap="square" lIns="121963" tIns="60981" rIns="121963" bIns="60981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</a:rPr>
              <a:t>6.1</a:t>
            </a:r>
            <a:r>
              <a:rPr lang="zh-CN" altLang="en-US" sz="48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9EB65A-9BE1-28FE-CDD1-CC0CD1959DAD}"/>
              </a:ext>
            </a:extLst>
          </p:cNvPr>
          <p:cNvSpPr txBox="1"/>
          <p:nvPr/>
        </p:nvSpPr>
        <p:spPr>
          <a:xfrm>
            <a:off x="3736975" y="2599608"/>
            <a:ext cx="6858000" cy="861817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齐次马氏链状态的分类</a:t>
            </a:r>
          </a:p>
        </p:txBody>
      </p:sp>
    </p:spTree>
    <p:extLst>
      <p:ext uri="{BB962C8B-B14F-4D97-AF65-F5344CB8AC3E}">
        <p14:creationId xmlns:p14="http://schemas.microsoft.com/office/powerpoint/2010/main" val="444774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5287" y="997635"/>
            <a:ext cx="11355088" cy="2350044"/>
          </a:xfrm>
        </p:spPr>
        <p:txBody>
          <a:bodyPr>
            <a:normAutofit/>
          </a:bodyPr>
          <a:lstStyle/>
          <a:p>
            <a:pPr marL="0" indent="719282" algn="just">
              <a:buNone/>
            </a:pPr>
            <a:r>
              <a:rPr lang="zh-CN" altLang="en-US" dirty="0"/>
              <a:t>设有</a:t>
            </a:r>
            <a:r>
              <a:rPr lang="en-US" altLang="zh-CN" dirty="0"/>
              <a:t>6</a:t>
            </a:r>
            <a:r>
              <a:rPr lang="zh-CN" altLang="en-US" dirty="0"/>
              <a:t>个球</a:t>
            </a:r>
            <a:r>
              <a:rPr lang="en-US" altLang="zh-CN" dirty="0"/>
              <a:t>(</a:t>
            </a:r>
            <a:r>
              <a:rPr lang="zh-CN" altLang="en-US" dirty="0"/>
              <a:t>其中</a:t>
            </a:r>
            <a:r>
              <a:rPr lang="en-US" altLang="zh-CN" dirty="0"/>
              <a:t>2</a:t>
            </a:r>
            <a:r>
              <a:rPr lang="zh-CN" altLang="en-US" dirty="0"/>
              <a:t>个红球</a:t>
            </a:r>
            <a:r>
              <a:rPr lang="en-US" altLang="zh-CN" dirty="0"/>
              <a:t>4</a:t>
            </a:r>
            <a:r>
              <a:rPr lang="zh-CN" altLang="en-US" dirty="0"/>
              <a:t>个白球</a:t>
            </a:r>
            <a:r>
              <a:rPr lang="en-US" altLang="zh-CN" dirty="0"/>
              <a:t>)</a:t>
            </a:r>
            <a:r>
              <a:rPr lang="zh-CN" altLang="en-US" dirty="0"/>
              <a:t>分别放于甲、乙两个盒子中</a:t>
            </a:r>
            <a:r>
              <a:rPr lang="en-US" altLang="zh-CN" dirty="0"/>
              <a:t>, </a:t>
            </a:r>
            <a:r>
              <a:rPr lang="zh-CN" altLang="en-US" dirty="0"/>
              <a:t>每盒</a:t>
            </a:r>
            <a:r>
              <a:rPr lang="en-US" altLang="zh-CN" dirty="0"/>
              <a:t>3</a:t>
            </a:r>
            <a:r>
              <a:rPr lang="zh-CN" altLang="en-US" dirty="0"/>
              <a:t>个。令每次从两个盒子中各取一个球进行交换</a:t>
            </a:r>
            <a:r>
              <a:rPr lang="en-US" altLang="zh-CN" dirty="0"/>
              <a:t>, X(0)</a:t>
            </a:r>
            <a:r>
              <a:rPr lang="zh-CN" altLang="en-US" dirty="0"/>
              <a:t>表示开始时甲盒中红球的个数</a:t>
            </a:r>
            <a:r>
              <a:rPr lang="en-US" altLang="zh-CN" dirty="0"/>
              <a:t>, X(n), n=1, 2, …</a:t>
            </a:r>
            <a:r>
              <a:rPr lang="zh-CN" altLang="en-US" dirty="0"/>
              <a:t>表示经过</a:t>
            </a:r>
            <a:r>
              <a:rPr lang="en-US" altLang="zh-CN" dirty="0"/>
              <a:t>n</a:t>
            </a:r>
            <a:r>
              <a:rPr lang="zh-CN" altLang="en-US" dirty="0"/>
              <a:t>次交换后甲盒中的红球数。</a:t>
            </a:r>
            <a:r>
              <a:rPr lang="en-US" altLang="zh-CN" dirty="0"/>
              <a:t>{X(n), n=0, 1, 2, …}</a:t>
            </a:r>
            <a:r>
              <a:rPr lang="zh-CN" altLang="en-US" dirty="0"/>
              <a:t>是状态空间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{0, 1, 2}</a:t>
            </a:r>
            <a:r>
              <a:rPr lang="zh-CN" altLang="en-US" dirty="0"/>
              <a:t>的齐次马氏链。</a:t>
            </a:r>
          </a:p>
        </p:txBody>
      </p:sp>
      <p:sp>
        <p:nvSpPr>
          <p:cNvPr id="283652" name="Rectangle 4"/>
          <p:cNvSpPr>
            <a:spLocks noChangeArrowheads="1"/>
          </p:cNvSpPr>
          <p:nvPr/>
        </p:nvSpPr>
        <p:spPr bwMode="auto">
          <a:xfrm>
            <a:off x="1426904" y="3500958"/>
            <a:ext cx="18453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(1)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初始分布</a:t>
            </a:r>
          </a:p>
        </p:txBody>
      </p:sp>
      <p:sp>
        <p:nvSpPr>
          <p:cNvPr id="283653" name="Rectangle 5"/>
          <p:cNvSpPr>
            <a:spLocks noChangeArrowheads="1"/>
          </p:cNvSpPr>
          <p:nvPr/>
        </p:nvSpPr>
        <p:spPr bwMode="auto">
          <a:xfrm>
            <a:off x="6556375" y="3594567"/>
            <a:ext cx="18453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(2)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转移矩阵</a:t>
            </a:r>
          </a:p>
        </p:txBody>
      </p:sp>
      <p:graphicFrame>
        <p:nvGraphicFramePr>
          <p:cNvPr id="283654" name="Group 6">
            <a:extLst>
              <a:ext uri="{FF2B5EF4-FFF2-40B4-BE49-F238E27FC236}">
                <a16:creationId xmlns:a16="http://schemas.microsoft.com/office/drawing/2014/main" id="{546030D1-25B3-4F89-AC0F-88537AA7D47A}"/>
              </a:ext>
            </a:extLst>
          </p:cNvPr>
          <p:cNvGraphicFramePr>
            <a:graphicFrameLocks noGrp="1"/>
          </p:cNvGraphicFramePr>
          <p:nvPr/>
        </p:nvGraphicFramePr>
        <p:xfrm>
          <a:off x="1426904" y="4499759"/>
          <a:ext cx="2820053" cy="1060696"/>
        </p:xfrm>
        <a:graphic>
          <a:graphicData uri="http://schemas.openxmlformats.org/drawingml/2006/table">
            <a:tbl>
              <a:tblPr/>
              <a:tblGrid>
                <a:gridCol w="762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48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X(0)</a:t>
                      </a:r>
                    </a:p>
                  </a:txBody>
                  <a:tcPr marL="91461" marR="91461" marT="45685" marB="45685" horzOverflow="overflow">
                    <a:lnL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0</a:t>
                      </a:r>
                    </a:p>
                  </a:txBody>
                  <a:tcPr marL="91461" marR="91461" marT="45685" marB="4568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1</a:t>
                      </a:r>
                    </a:p>
                  </a:txBody>
                  <a:tcPr marL="91461" marR="91461" marT="45685" marB="4568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2</a:t>
                      </a:r>
                    </a:p>
                  </a:txBody>
                  <a:tcPr marL="91461" marR="91461" marT="45685" marB="4568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48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P</a:t>
                      </a:r>
                    </a:p>
                  </a:txBody>
                  <a:tcPr marL="91461" marR="91461" marT="45685" marB="45685" horzOverflow="overflow">
                    <a:lnL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1/5</a:t>
                      </a:r>
                    </a:p>
                  </a:txBody>
                  <a:tcPr marL="91461" marR="91461" marT="45685" marB="4568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3/5</a:t>
                      </a:r>
                    </a:p>
                  </a:txBody>
                  <a:tcPr marL="91461" marR="91461" marT="45685" marB="4568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1/5</a:t>
                      </a:r>
                    </a:p>
                  </a:txBody>
                  <a:tcPr marL="91461" marR="91461" marT="45685" marB="4568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2050937" y="5490589"/>
            <a:ext cx="2653326" cy="1219482"/>
            <a:chOff x="1248" y="3408"/>
            <a:chExt cx="1671" cy="768"/>
          </a:xfrm>
        </p:grpSpPr>
        <p:graphicFrame>
          <p:nvGraphicFramePr>
            <p:cNvPr id="11292" name="Object 24"/>
            <p:cNvGraphicFramePr>
              <a:graphicFrameLocks noChangeAspect="1"/>
            </p:cNvGraphicFramePr>
            <p:nvPr/>
          </p:nvGraphicFramePr>
          <p:xfrm>
            <a:off x="1248" y="3562"/>
            <a:ext cx="1671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244600" imgH="457200" progId="Equation.3">
                    <p:embed/>
                  </p:oleObj>
                </mc:Choice>
                <mc:Fallback>
                  <p:oleObj name="Equation" r:id="rId3" imgW="1244600" imgH="457200" progId="Equation.3">
                    <p:embed/>
                    <p:pic>
                      <p:nvPicPr>
                        <p:cNvPr id="11292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3562"/>
                          <a:ext cx="1671" cy="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3" name="Line 25"/>
            <p:cNvSpPr>
              <a:spLocks noChangeShapeType="1"/>
            </p:cNvSpPr>
            <p:nvPr/>
          </p:nvSpPr>
          <p:spPr bwMode="auto">
            <a:xfrm flipV="1">
              <a:off x="1440" y="3408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4" name="Line 26"/>
            <p:cNvSpPr>
              <a:spLocks noChangeShapeType="1"/>
            </p:cNvSpPr>
            <p:nvPr/>
          </p:nvSpPr>
          <p:spPr bwMode="auto">
            <a:xfrm flipV="1">
              <a:off x="1968" y="340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5" name="Line 27"/>
            <p:cNvSpPr>
              <a:spLocks noChangeShapeType="1"/>
            </p:cNvSpPr>
            <p:nvPr/>
          </p:nvSpPr>
          <p:spPr bwMode="auto">
            <a:xfrm flipH="1" flipV="1">
              <a:off x="2448" y="340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283676" name="Object 28"/>
          <p:cNvGraphicFramePr>
            <a:graphicFrameLocks noChangeAspect="1"/>
          </p:cNvGraphicFramePr>
          <p:nvPr/>
        </p:nvGraphicFramePr>
        <p:xfrm>
          <a:off x="6728275" y="4388218"/>
          <a:ext cx="2038822" cy="2286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40948" imgH="1167893" progId="Equation.3">
                  <p:embed/>
                </p:oleObj>
              </mc:Choice>
              <mc:Fallback>
                <p:oleObj name="Equation" r:id="rId5" imgW="1040948" imgH="1167893" progId="Equation.3">
                  <p:embed/>
                  <p:pic>
                    <p:nvPicPr>
                      <p:cNvPr id="28367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8275" y="4388218"/>
                        <a:ext cx="2038822" cy="22865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2">
            <a:extLst>
              <a:ext uri="{FF2B5EF4-FFF2-40B4-BE49-F238E27FC236}">
                <a16:creationId xmlns:a16="http://schemas.microsoft.com/office/drawing/2014/main" id="{B79038CD-393A-49E1-B758-7E7F0D801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8092" y="369027"/>
            <a:ext cx="60728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CC00CC"/>
                </a:solidFill>
                <a:latin typeface="Times New Roman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CC00CC"/>
                </a:solidFill>
                <a:latin typeface="Times New Roman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CC00CC"/>
                </a:solidFill>
                <a:latin typeface="Times New Roman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CC00CC"/>
                </a:solidFill>
                <a:latin typeface="Times New Roman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indent="817200" algn="l" eaLnBrk="1" hangingPunct="1"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</a:rPr>
              <a:t>例题回顾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28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8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500"/>
                                        <p:tgtEl>
                                          <p:spTgt spid="283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28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 build="p"/>
      <p:bldP spid="283652" grpId="0" autoUpdateAnimBg="0"/>
      <p:bldP spid="28365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问题引入</a:t>
            </a:r>
          </a:p>
        </p:txBody>
      </p:sp>
      <p:graphicFrame>
        <p:nvGraphicFramePr>
          <p:cNvPr id="13318" name="Object 4"/>
          <p:cNvGraphicFramePr>
            <a:graphicFrameLocks noChangeAspect="1"/>
          </p:cNvGraphicFramePr>
          <p:nvPr/>
        </p:nvGraphicFramePr>
        <p:xfrm>
          <a:off x="5707769" y="943788"/>
          <a:ext cx="2896270" cy="248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200" imgH="1155700" progId="Equation.3">
                  <p:embed/>
                </p:oleObj>
              </mc:Choice>
              <mc:Fallback>
                <p:oleObj name="Equation" r:id="rId2" imgW="1346200" imgH="1155700" progId="Equation.3">
                  <p:embed/>
                  <p:pic>
                    <p:nvPicPr>
                      <p:cNvPr id="133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7769" y="943788"/>
                        <a:ext cx="2896270" cy="248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28"/>
          <p:cNvGraphicFramePr>
            <a:graphicFrameLocks noChangeAspect="1"/>
          </p:cNvGraphicFramePr>
          <p:nvPr/>
        </p:nvGraphicFramePr>
        <p:xfrm>
          <a:off x="2003222" y="1100370"/>
          <a:ext cx="2038822" cy="2286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0948" imgH="1167893" progId="Equation.3">
                  <p:embed/>
                </p:oleObj>
              </mc:Choice>
              <mc:Fallback>
                <p:oleObj name="Equation" r:id="rId4" imgW="1040948" imgH="1167893" progId="Equation.3">
                  <p:embed/>
                  <p:pic>
                    <p:nvPicPr>
                      <p:cNvPr id="1331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222" y="1100370"/>
                        <a:ext cx="2038822" cy="22865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3390463" y="3268622"/>
            <a:ext cx="2970409" cy="1464231"/>
          </a:xfrm>
          <a:prstGeom prst="wedgeRoundRectCallout">
            <a:avLst>
              <a:gd name="adj1" fmla="val -37440"/>
              <a:gd name="adj2" fmla="val 69683"/>
              <a:gd name="adj3" fmla="val 16667"/>
            </a:avLst>
          </a:prstGeom>
          <a:solidFill>
            <a:schemeClr val="tx2">
              <a:lumMod val="75000"/>
            </a:schemeClr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000" dirty="0">
                <a:solidFill>
                  <a:srgbClr val="FFFF00"/>
                </a:solidFill>
                <a:latin typeface="+mn-ea"/>
                <a:ea typeface="+mn-ea"/>
              </a:rPr>
              <a:t>以状态为结点，以状态转移概率为有向边的权值得到的赋权有向图</a:t>
            </a:r>
            <a:r>
              <a:rPr lang="en-US" altLang="zh-CN" sz="2000" dirty="0">
                <a:solidFill>
                  <a:srgbClr val="FFFF00"/>
                </a:solidFill>
                <a:latin typeface="+mn-ea"/>
                <a:ea typeface="+mn-ea"/>
              </a:rPr>
              <a:t>—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状态转移图</a:t>
            </a:r>
          </a:p>
        </p:txBody>
      </p:sp>
      <p:sp>
        <p:nvSpPr>
          <p:cNvPr id="2" name="Arc 25">
            <a:extLst>
              <a:ext uri="{FF2B5EF4-FFF2-40B4-BE49-F238E27FC236}">
                <a16:creationId xmlns:a16="http://schemas.microsoft.com/office/drawing/2014/main" id="{C4426949-D0A1-5A58-BFC0-4EB487A4FABE}"/>
              </a:ext>
            </a:extLst>
          </p:cNvPr>
          <p:cNvSpPr>
            <a:spLocks/>
          </p:cNvSpPr>
          <p:nvPr/>
        </p:nvSpPr>
        <p:spPr bwMode="auto">
          <a:xfrm rot="4163643" flipH="1">
            <a:off x="1894682" y="5390356"/>
            <a:ext cx="381000" cy="363537"/>
          </a:xfrm>
          <a:custGeom>
            <a:avLst/>
            <a:gdLst>
              <a:gd name="T0" fmla="*/ 0 w 43200"/>
              <a:gd name="T1" fmla="*/ 0 h 43200"/>
              <a:gd name="T2" fmla="*/ 0 w 43200"/>
              <a:gd name="T3" fmla="*/ 0 h 43200"/>
              <a:gd name="T4" fmla="*/ 0 w 43200"/>
              <a:gd name="T5" fmla="*/ 0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3" name="Freeform 27">
            <a:extLst>
              <a:ext uri="{FF2B5EF4-FFF2-40B4-BE49-F238E27FC236}">
                <a16:creationId xmlns:a16="http://schemas.microsoft.com/office/drawing/2014/main" id="{63CD7BB5-5034-ABE5-DF43-CC074509CCD6}"/>
              </a:ext>
            </a:extLst>
          </p:cNvPr>
          <p:cNvSpPr>
            <a:spLocks/>
          </p:cNvSpPr>
          <p:nvPr/>
        </p:nvSpPr>
        <p:spPr bwMode="auto">
          <a:xfrm>
            <a:off x="2289175" y="4295775"/>
            <a:ext cx="698500" cy="1263650"/>
          </a:xfrm>
          <a:custGeom>
            <a:avLst/>
            <a:gdLst>
              <a:gd name="T0" fmla="*/ 1297 w 10227"/>
              <a:gd name="T1" fmla="*/ 0 h 10448"/>
              <a:gd name="T2" fmla="*/ 956 w 10227"/>
              <a:gd name="T3" fmla="*/ 3265 h 10448"/>
              <a:gd name="T4" fmla="*/ 0 w 10227"/>
              <a:gd name="T5" fmla="*/ 7377 h 104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227" h="10448">
                <a:moveTo>
                  <a:pt x="10227" y="0"/>
                </a:moveTo>
                <a:cubicBezTo>
                  <a:pt x="10227" y="0"/>
                  <a:pt x="9379" y="2931"/>
                  <a:pt x="7580" y="4626"/>
                </a:cubicBezTo>
                <a:cubicBezTo>
                  <a:pt x="5781" y="6322"/>
                  <a:pt x="1533" y="9327"/>
                  <a:pt x="0" y="10448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4" name="Freeform 28">
            <a:extLst>
              <a:ext uri="{FF2B5EF4-FFF2-40B4-BE49-F238E27FC236}">
                <a16:creationId xmlns:a16="http://schemas.microsoft.com/office/drawing/2014/main" id="{57326573-53B3-57B0-600F-2A27E475C0C2}"/>
              </a:ext>
            </a:extLst>
          </p:cNvPr>
          <p:cNvSpPr>
            <a:spLocks/>
          </p:cNvSpPr>
          <p:nvPr/>
        </p:nvSpPr>
        <p:spPr bwMode="auto">
          <a:xfrm>
            <a:off x="2259013" y="4287838"/>
            <a:ext cx="703262" cy="1203325"/>
          </a:xfrm>
          <a:custGeom>
            <a:avLst/>
            <a:gdLst>
              <a:gd name="T0" fmla="*/ 0 w 10000"/>
              <a:gd name="T1" fmla="*/ 6858 h 10000"/>
              <a:gd name="T2" fmla="*/ 492 w 10000"/>
              <a:gd name="T3" fmla="*/ 2888 h 10000"/>
              <a:gd name="T4" fmla="*/ 1406 w 10000"/>
              <a:gd name="T5" fmla="*/ 0 h 10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0" h="10000">
                <a:moveTo>
                  <a:pt x="0" y="10000"/>
                </a:moveTo>
                <a:cubicBezTo>
                  <a:pt x="600" y="9018"/>
                  <a:pt x="1900" y="5789"/>
                  <a:pt x="3571" y="4128"/>
                </a:cubicBezTo>
                <a:cubicBezTo>
                  <a:pt x="5243" y="2468"/>
                  <a:pt x="8657" y="862"/>
                  <a:pt x="10000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" name="Arc 29">
            <a:extLst>
              <a:ext uri="{FF2B5EF4-FFF2-40B4-BE49-F238E27FC236}">
                <a16:creationId xmlns:a16="http://schemas.microsoft.com/office/drawing/2014/main" id="{2E5DB343-99CC-AE56-7EFD-0C70EC94042A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2854325" y="3870325"/>
            <a:ext cx="366713" cy="381000"/>
          </a:xfrm>
          <a:custGeom>
            <a:avLst/>
            <a:gdLst>
              <a:gd name="T0" fmla="*/ 0 w 43200"/>
              <a:gd name="T1" fmla="*/ 0 h 43200"/>
              <a:gd name="T2" fmla="*/ 0 w 43200"/>
              <a:gd name="T3" fmla="*/ 0 h 43200"/>
              <a:gd name="T4" fmla="*/ 0 w 43200"/>
              <a:gd name="T5" fmla="*/ 0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6" name="Text Box 30">
            <a:extLst>
              <a:ext uri="{FF2B5EF4-FFF2-40B4-BE49-F238E27FC236}">
                <a16:creationId xmlns:a16="http://schemas.microsoft.com/office/drawing/2014/main" id="{BA4A6B01-E40C-188D-D77D-66DD0F819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25" y="3987800"/>
            <a:ext cx="2159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黑体" panose="02010609060101010101" pitchFamily="49" charset="-122"/>
              </a:rPr>
              <a:t>0</a:t>
            </a:r>
          </a:p>
        </p:txBody>
      </p:sp>
      <p:sp>
        <p:nvSpPr>
          <p:cNvPr id="7" name="Text Box 31">
            <a:extLst>
              <a:ext uri="{FF2B5EF4-FFF2-40B4-BE49-F238E27FC236}">
                <a16:creationId xmlns:a16="http://schemas.microsoft.com/office/drawing/2014/main" id="{B540D0E2-FFC8-EBBE-4E12-BE789F95B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0" y="5402263"/>
            <a:ext cx="2016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黑体" panose="02010609060101010101" pitchFamily="49" charset="-122"/>
              </a:rPr>
              <a:t>1</a:t>
            </a:r>
          </a:p>
        </p:txBody>
      </p:sp>
      <p:sp>
        <p:nvSpPr>
          <p:cNvPr id="8" name="Arc 32">
            <a:extLst>
              <a:ext uri="{FF2B5EF4-FFF2-40B4-BE49-F238E27FC236}">
                <a16:creationId xmlns:a16="http://schemas.microsoft.com/office/drawing/2014/main" id="{E8283167-D21B-F757-66ED-CF134F6F0ED0}"/>
              </a:ext>
            </a:extLst>
          </p:cNvPr>
          <p:cNvSpPr>
            <a:spLocks/>
          </p:cNvSpPr>
          <p:nvPr/>
        </p:nvSpPr>
        <p:spPr bwMode="auto">
          <a:xfrm rot="16179309" flipH="1">
            <a:off x="3736182" y="5423694"/>
            <a:ext cx="381000" cy="363537"/>
          </a:xfrm>
          <a:custGeom>
            <a:avLst/>
            <a:gdLst>
              <a:gd name="T0" fmla="*/ 0 w 43200"/>
              <a:gd name="T1" fmla="*/ 0 h 43200"/>
              <a:gd name="T2" fmla="*/ 0 w 43200"/>
              <a:gd name="T3" fmla="*/ 0 h 43200"/>
              <a:gd name="T4" fmla="*/ 0 w 43200"/>
              <a:gd name="T5" fmla="*/ 0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9" name="Freeform 36">
            <a:extLst>
              <a:ext uri="{FF2B5EF4-FFF2-40B4-BE49-F238E27FC236}">
                <a16:creationId xmlns:a16="http://schemas.microsoft.com/office/drawing/2014/main" id="{AC64570F-6830-86E2-92EC-36C0EF1F6273}"/>
              </a:ext>
            </a:extLst>
          </p:cNvPr>
          <p:cNvSpPr>
            <a:spLocks/>
          </p:cNvSpPr>
          <p:nvPr/>
        </p:nvSpPr>
        <p:spPr bwMode="auto">
          <a:xfrm>
            <a:off x="2290763" y="5591175"/>
            <a:ext cx="1419225" cy="117475"/>
          </a:xfrm>
          <a:custGeom>
            <a:avLst/>
            <a:gdLst>
              <a:gd name="T0" fmla="*/ 0 w 9683"/>
              <a:gd name="T1" fmla="*/ 0 h 12747"/>
              <a:gd name="T2" fmla="*/ 5422 w 9683"/>
              <a:gd name="T3" fmla="*/ 0 h 12747"/>
              <a:gd name="T4" fmla="*/ 12162 w 9683"/>
              <a:gd name="T5" fmla="*/ 0 h 1274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83" h="12747">
                <a:moveTo>
                  <a:pt x="0" y="0"/>
                </a:moveTo>
                <a:cubicBezTo>
                  <a:pt x="788" y="1463"/>
                  <a:pt x="2690" y="12988"/>
                  <a:pt x="4355" y="12744"/>
                </a:cubicBezTo>
                <a:cubicBezTo>
                  <a:pt x="6019" y="12500"/>
                  <a:pt x="8574" y="5061"/>
                  <a:pt x="9683" y="2988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0" name="Freeform 37">
            <a:extLst>
              <a:ext uri="{FF2B5EF4-FFF2-40B4-BE49-F238E27FC236}">
                <a16:creationId xmlns:a16="http://schemas.microsoft.com/office/drawing/2014/main" id="{01012329-D3FB-080C-42E4-46DDD5136C0A}"/>
              </a:ext>
            </a:extLst>
          </p:cNvPr>
          <p:cNvSpPr>
            <a:spLocks/>
          </p:cNvSpPr>
          <p:nvPr/>
        </p:nvSpPr>
        <p:spPr bwMode="auto">
          <a:xfrm>
            <a:off x="2292350" y="5414963"/>
            <a:ext cx="1473200" cy="158750"/>
          </a:xfrm>
          <a:custGeom>
            <a:avLst/>
            <a:gdLst>
              <a:gd name="T0" fmla="*/ 8557 w 1377"/>
              <a:gd name="T1" fmla="*/ 1118 h 142"/>
              <a:gd name="T2" fmla="*/ 5348 w 1377"/>
              <a:gd name="T3" fmla="*/ 1118 h 142"/>
              <a:gd name="T4" fmla="*/ 0 w 1377"/>
              <a:gd name="T5" fmla="*/ 1118 h 142"/>
              <a:gd name="T6" fmla="*/ 0 60000 65536"/>
              <a:gd name="T7" fmla="*/ 0 60000 65536"/>
              <a:gd name="T8" fmla="*/ 0 60000 65536"/>
              <a:gd name="T9" fmla="*/ 0 w 1377"/>
              <a:gd name="T10" fmla="*/ 0 h 142"/>
              <a:gd name="T11" fmla="*/ 1377 w 1377"/>
              <a:gd name="T12" fmla="*/ 142 h 1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77" h="142">
                <a:moveTo>
                  <a:pt x="1377" y="132"/>
                </a:moveTo>
                <a:cubicBezTo>
                  <a:pt x="1279" y="110"/>
                  <a:pt x="1016" y="0"/>
                  <a:pt x="787" y="2"/>
                </a:cubicBezTo>
                <a:cubicBezTo>
                  <a:pt x="560" y="0"/>
                  <a:pt x="164" y="113"/>
                  <a:pt x="0" y="142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1" name="Text Box 38">
            <a:extLst>
              <a:ext uri="{FF2B5EF4-FFF2-40B4-BE49-F238E27FC236}">
                <a16:creationId xmlns:a16="http://schemas.microsoft.com/office/drawing/2014/main" id="{D0A6E93F-7E18-52A7-D8D5-705EE0428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5713" y="5438775"/>
            <a:ext cx="1603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黑体" panose="02010609060101010101" pitchFamily="49" charset="-122"/>
              </a:rPr>
              <a:t>2</a:t>
            </a:r>
          </a:p>
        </p:txBody>
      </p:sp>
      <p:sp>
        <p:nvSpPr>
          <p:cNvPr id="19" name="Oval 26">
            <a:extLst>
              <a:ext uri="{FF2B5EF4-FFF2-40B4-BE49-F238E27FC236}">
                <a16:creationId xmlns:a16="http://schemas.microsoft.com/office/drawing/2014/main" id="{63986B0A-2C20-BB9D-6D7E-2FA8B6BBD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163" y="4214813"/>
            <a:ext cx="71437" cy="71437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0000FF"/>
            </a:solidFill>
            <a:round/>
            <a:headEnd/>
            <a:tailEnd type="none" w="sm" len="med"/>
          </a:ln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endParaRPr lang="zh-CN" altLang="en-US" sz="3200" b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20" name="Oval 33">
            <a:extLst>
              <a:ext uri="{FF2B5EF4-FFF2-40B4-BE49-F238E27FC236}">
                <a16:creationId xmlns:a16="http://schemas.microsoft.com/office/drawing/2014/main" id="{1808AE8A-A8E8-705A-3787-7125E4382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763" y="5548313"/>
            <a:ext cx="71437" cy="71437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0000FF"/>
            </a:solidFill>
            <a:round/>
            <a:headEnd/>
            <a:tailEnd type="none" w="sm" len="med"/>
          </a:ln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endParaRPr lang="zh-CN" altLang="en-US" sz="3200" b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21" name="Oval 39">
            <a:extLst>
              <a:ext uri="{FF2B5EF4-FFF2-40B4-BE49-F238E27FC236}">
                <a16:creationId xmlns:a16="http://schemas.microsoft.com/office/drawing/2014/main" id="{B84D25E7-C661-365A-55C4-8CAA372A6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725" y="5508625"/>
            <a:ext cx="71438" cy="714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0000FF"/>
            </a:solidFill>
            <a:round/>
            <a:headEnd/>
            <a:tailEnd type="none" w="sm" len="med"/>
          </a:ln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endParaRPr lang="zh-CN" altLang="en-US" sz="3200" b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22" name="Text Box 30">
            <a:extLst>
              <a:ext uri="{FF2B5EF4-FFF2-40B4-BE49-F238E27FC236}">
                <a16:creationId xmlns:a16="http://schemas.microsoft.com/office/drawing/2014/main" id="{4D654048-DE04-46C5-7135-CB8CC5C86F1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929735" y="3489325"/>
            <a:ext cx="215844" cy="346863"/>
          </a:xfrm>
          <a:prstGeom prst="rect">
            <a:avLst/>
          </a:prstGeom>
          <a:blipFill>
            <a:blip r:embed="rId6"/>
            <a:stretch>
              <a:fillRect t="-1754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3" name="Text Box 30">
            <a:extLst>
              <a:ext uri="{FF2B5EF4-FFF2-40B4-BE49-F238E27FC236}">
                <a16:creationId xmlns:a16="http://schemas.microsoft.com/office/drawing/2014/main" id="{B2FAD979-831E-4BCC-F136-FF908CD0BB8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318262" y="4453956"/>
            <a:ext cx="215844" cy="346863"/>
          </a:xfrm>
          <a:prstGeom prst="rect">
            <a:avLst/>
          </a:prstGeom>
          <a:blipFill>
            <a:blip r:embed="rId7"/>
            <a:stretch>
              <a:fillRect t="-3571" b="-16071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4" name="Text Box 30">
            <a:extLst>
              <a:ext uri="{FF2B5EF4-FFF2-40B4-BE49-F238E27FC236}">
                <a16:creationId xmlns:a16="http://schemas.microsoft.com/office/drawing/2014/main" id="{019F0888-E92B-636C-9637-376914851B7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755047" y="4775601"/>
            <a:ext cx="215844" cy="346863"/>
          </a:xfrm>
          <a:prstGeom prst="rect">
            <a:avLst/>
          </a:prstGeom>
          <a:blipFill>
            <a:blip r:embed="rId8"/>
            <a:stretch>
              <a:fillRect t="-1754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5" name="Text Box 30">
            <a:extLst>
              <a:ext uri="{FF2B5EF4-FFF2-40B4-BE49-F238E27FC236}">
                <a16:creationId xmlns:a16="http://schemas.microsoft.com/office/drawing/2014/main" id="{500B5B93-9D21-AD51-1737-5D66AAFA528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695450" y="5431479"/>
            <a:ext cx="215844" cy="350646"/>
          </a:xfrm>
          <a:prstGeom prst="rect">
            <a:avLst/>
          </a:prstGeom>
          <a:blipFill>
            <a:blip r:embed="rId9"/>
            <a:stretch>
              <a:fillRect t="-3509" b="-15789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6" name="Text Box 30">
            <a:extLst>
              <a:ext uri="{FF2B5EF4-FFF2-40B4-BE49-F238E27FC236}">
                <a16:creationId xmlns:a16="http://schemas.microsoft.com/office/drawing/2014/main" id="{BA412621-8A41-F40D-FBA7-D8442C06CEF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888564" y="5566575"/>
            <a:ext cx="215844" cy="346863"/>
          </a:xfrm>
          <a:prstGeom prst="rect">
            <a:avLst/>
          </a:prstGeom>
          <a:blipFill>
            <a:blip r:embed="rId10"/>
            <a:stretch>
              <a:fillRect t="-3509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7" name="Text Box 30">
            <a:extLst>
              <a:ext uri="{FF2B5EF4-FFF2-40B4-BE49-F238E27FC236}">
                <a16:creationId xmlns:a16="http://schemas.microsoft.com/office/drawing/2014/main" id="{F212CA18-CDFD-C494-7923-1C44DD1B807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951904" y="5256957"/>
            <a:ext cx="414193" cy="346863"/>
          </a:xfrm>
          <a:prstGeom prst="rect">
            <a:avLst/>
          </a:prstGeom>
          <a:blipFill>
            <a:blip r:embed="rId11"/>
            <a:stretch>
              <a:fillRect t="-1754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8" name="Text Box 30">
            <a:extLst>
              <a:ext uri="{FF2B5EF4-FFF2-40B4-BE49-F238E27FC236}">
                <a16:creationId xmlns:a16="http://schemas.microsoft.com/office/drawing/2014/main" id="{DDD64A45-77F9-C434-DC15-DEF30029387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084694" y="5362021"/>
            <a:ext cx="215844" cy="346863"/>
          </a:xfrm>
          <a:prstGeom prst="rect">
            <a:avLst/>
          </a:prstGeom>
          <a:blipFill>
            <a:blip r:embed="rId12"/>
            <a:stretch>
              <a:fillRect t="-3571" b="-16071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9" name="Arc 25">
            <a:extLst>
              <a:ext uri="{FF2B5EF4-FFF2-40B4-BE49-F238E27FC236}">
                <a16:creationId xmlns:a16="http://schemas.microsoft.com/office/drawing/2014/main" id="{D17E56C7-C235-0154-B9CB-30F831A79ED7}"/>
              </a:ext>
            </a:extLst>
          </p:cNvPr>
          <p:cNvSpPr>
            <a:spLocks/>
          </p:cNvSpPr>
          <p:nvPr/>
        </p:nvSpPr>
        <p:spPr bwMode="auto">
          <a:xfrm rot="4163643" flipH="1">
            <a:off x="5898357" y="5461794"/>
            <a:ext cx="381000" cy="363537"/>
          </a:xfrm>
          <a:custGeom>
            <a:avLst/>
            <a:gdLst>
              <a:gd name="T0" fmla="*/ 0 w 43200"/>
              <a:gd name="T1" fmla="*/ 0 h 43200"/>
              <a:gd name="T2" fmla="*/ 0 w 43200"/>
              <a:gd name="T3" fmla="*/ 0 h 43200"/>
              <a:gd name="T4" fmla="*/ 0 w 43200"/>
              <a:gd name="T5" fmla="*/ 0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30" name="Freeform 27">
            <a:extLst>
              <a:ext uri="{FF2B5EF4-FFF2-40B4-BE49-F238E27FC236}">
                <a16:creationId xmlns:a16="http://schemas.microsoft.com/office/drawing/2014/main" id="{14E0A6EE-DAAC-7D61-2AE9-0721472D9801}"/>
              </a:ext>
            </a:extLst>
          </p:cNvPr>
          <p:cNvSpPr>
            <a:spLocks/>
          </p:cNvSpPr>
          <p:nvPr/>
        </p:nvSpPr>
        <p:spPr bwMode="auto">
          <a:xfrm>
            <a:off x="6292850" y="4367213"/>
            <a:ext cx="698500" cy="1263650"/>
          </a:xfrm>
          <a:custGeom>
            <a:avLst/>
            <a:gdLst>
              <a:gd name="T0" fmla="*/ 1297 w 10227"/>
              <a:gd name="T1" fmla="*/ 0 h 10448"/>
              <a:gd name="T2" fmla="*/ 956 w 10227"/>
              <a:gd name="T3" fmla="*/ 3265 h 10448"/>
              <a:gd name="T4" fmla="*/ 0 w 10227"/>
              <a:gd name="T5" fmla="*/ 7376 h 104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227" h="10448">
                <a:moveTo>
                  <a:pt x="10227" y="0"/>
                </a:moveTo>
                <a:cubicBezTo>
                  <a:pt x="10227" y="0"/>
                  <a:pt x="9379" y="2931"/>
                  <a:pt x="7580" y="4626"/>
                </a:cubicBezTo>
                <a:cubicBezTo>
                  <a:pt x="5781" y="6322"/>
                  <a:pt x="1533" y="9327"/>
                  <a:pt x="0" y="10448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31" name="Freeform 28">
            <a:extLst>
              <a:ext uri="{FF2B5EF4-FFF2-40B4-BE49-F238E27FC236}">
                <a16:creationId xmlns:a16="http://schemas.microsoft.com/office/drawing/2014/main" id="{06DB7F30-A3E2-F4EA-6B23-932CC48C5431}"/>
              </a:ext>
            </a:extLst>
          </p:cNvPr>
          <p:cNvSpPr>
            <a:spLocks/>
          </p:cNvSpPr>
          <p:nvPr/>
        </p:nvSpPr>
        <p:spPr bwMode="auto">
          <a:xfrm>
            <a:off x="6262688" y="4359275"/>
            <a:ext cx="703262" cy="1203325"/>
          </a:xfrm>
          <a:custGeom>
            <a:avLst/>
            <a:gdLst>
              <a:gd name="T0" fmla="*/ 0 w 10000"/>
              <a:gd name="T1" fmla="*/ 6858 h 10000"/>
              <a:gd name="T2" fmla="*/ 492 w 10000"/>
              <a:gd name="T3" fmla="*/ 2887 h 10000"/>
              <a:gd name="T4" fmla="*/ 1406 w 10000"/>
              <a:gd name="T5" fmla="*/ 0 h 10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0" h="10000">
                <a:moveTo>
                  <a:pt x="0" y="10000"/>
                </a:moveTo>
                <a:cubicBezTo>
                  <a:pt x="600" y="9018"/>
                  <a:pt x="1900" y="5789"/>
                  <a:pt x="3571" y="4128"/>
                </a:cubicBezTo>
                <a:cubicBezTo>
                  <a:pt x="5243" y="2468"/>
                  <a:pt x="8657" y="862"/>
                  <a:pt x="10000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32" name="Arc 29">
            <a:extLst>
              <a:ext uri="{FF2B5EF4-FFF2-40B4-BE49-F238E27FC236}">
                <a16:creationId xmlns:a16="http://schemas.microsoft.com/office/drawing/2014/main" id="{8B0FCFD5-4FCF-6B3E-08EC-9856604853A9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6858000" y="3941763"/>
            <a:ext cx="366713" cy="381000"/>
          </a:xfrm>
          <a:custGeom>
            <a:avLst/>
            <a:gdLst>
              <a:gd name="T0" fmla="*/ 0 w 43200"/>
              <a:gd name="T1" fmla="*/ 0 h 43200"/>
              <a:gd name="T2" fmla="*/ 0 w 43200"/>
              <a:gd name="T3" fmla="*/ 0 h 43200"/>
              <a:gd name="T4" fmla="*/ 0 w 43200"/>
              <a:gd name="T5" fmla="*/ 0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B8751D2F-FF54-EF56-1302-DF43D66F0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4059238"/>
            <a:ext cx="2159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黑体" panose="02010609060101010101" pitchFamily="49" charset="-122"/>
              </a:rPr>
              <a:t>0</a:t>
            </a:r>
          </a:p>
        </p:txBody>
      </p:sp>
      <p:sp>
        <p:nvSpPr>
          <p:cNvPr id="38" name="Text Box 31">
            <a:extLst>
              <a:ext uri="{FF2B5EF4-FFF2-40B4-BE49-F238E27FC236}">
                <a16:creationId xmlns:a16="http://schemas.microsoft.com/office/drawing/2014/main" id="{1030A10D-FA64-A9FD-EF6E-86C2CA9C4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9175" y="5473700"/>
            <a:ext cx="2016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黑体" panose="02010609060101010101" pitchFamily="49" charset="-122"/>
              </a:rPr>
              <a:t>1</a:t>
            </a:r>
          </a:p>
        </p:txBody>
      </p:sp>
      <p:sp>
        <p:nvSpPr>
          <p:cNvPr id="39" name="Arc 32">
            <a:extLst>
              <a:ext uri="{FF2B5EF4-FFF2-40B4-BE49-F238E27FC236}">
                <a16:creationId xmlns:a16="http://schemas.microsoft.com/office/drawing/2014/main" id="{00BF1E02-3AEB-CDD1-8EA9-51C40F0AC0D8}"/>
              </a:ext>
            </a:extLst>
          </p:cNvPr>
          <p:cNvSpPr>
            <a:spLocks/>
          </p:cNvSpPr>
          <p:nvPr/>
        </p:nvSpPr>
        <p:spPr bwMode="auto">
          <a:xfrm rot="16179309" flipH="1">
            <a:off x="7740650" y="5494338"/>
            <a:ext cx="379413" cy="363537"/>
          </a:xfrm>
          <a:custGeom>
            <a:avLst/>
            <a:gdLst>
              <a:gd name="T0" fmla="*/ 0 w 43200"/>
              <a:gd name="T1" fmla="*/ 0 h 43200"/>
              <a:gd name="T2" fmla="*/ 0 w 43200"/>
              <a:gd name="T3" fmla="*/ 0 h 43200"/>
              <a:gd name="T4" fmla="*/ 0 w 43200"/>
              <a:gd name="T5" fmla="*/ 0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41" name="Freeform 36">
            <a:extLst>
              <a:ext uri="{FF2B5EF4-FFF2-40B4-BE49-F238E27FC236}">
                <a16:creationId xmlns:a16="http://schemas.microsoft.com/office/drawing/2014/main" id="{938FFF30-1011-B799-A4E7-ED9BCF9414C2}"/>
              </a:ext>
            </a:extLst>
          </p:cNvPr>
          <p:cNvSpPr>
            <a:spLocks/>
          </p:cNvSpPr>
          <p:nvPr/>
        </p:nvSpPr>
        <p:spPr bwMode="auto">
          <a:xfrm>
            <a:off x="6294438" y="5662613"/>
            <a:ext cx="1419225" cy="117475"/>
          </a:xfrm>
          <a:custGeom>
            <a:avLst/>
            <a:gdLst>
              <a:gd name="T0" fmla="*/ 0 w 9683"/>
              <a:gd name="T1" fmla="*/ 0 h 12747"/>
              <a:gd name="T2" fmla="*/ 5422 w 9683"/>
              <a:gd name="T3" fmla="*/ 0 h 12747"/>
              <a:gd name="T4" fmla="*/ 12162 w 9683"/>
              <a:gd name="T5" fmla="*/ 0 h 1274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83" h="12747">
                <a:moveTo>
                  <a:pt x="0" y="0"/>
                </a:moveTo>
                <a:cubicBezTo>
                  <a:pt x="788" y="1463"/>
                  <a:pt x="2690" y="12988"/>
                  <a:pt x="4355" y="12744"/>
                </a:cubicBezTo>
                <a:cubicBezTo>
                  <a:pt x="6019" y="12500"/>
                  <a:pt x="8574" y="5061"/>
                  <a:pt x="9683" y="2988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42" name="Freeform 37">
            <a:extLst>
              <a:ext uri="{FF2B5EF4-FFF2-40B4-BE49-F238E27FC236}">
                <a16:creationId xmlns:a16="http://schemas.microsoft.com/office/drawing/2014/main" id="{EF41C432-CD8C-5841-1746-6CCF4FFCA320}"/>
              </a:ext>
            </a:extLst>
          </p:cNvPr>
          <p:cNvSpPr>
            <a:spLocks/>
          </p:cNvSpPr>
          <p:nvPr/>
        </p:nvSpPr>
        <p:spPr bwMode="auto">
          <a:xfrm>
            <a:off x="6296025" y="5486400"/>
            <a:ext cx="1473200" cy="158750"/>
          </a:xfrm>
          <a:custGeom>
            <a:avLst/>
            <a:gdLst>
              <a:gd name="T0" fmla="*/ 8557 w 1377"/>
              <a:gd name="T1" fmla="*/ 1118 h 142"/>
              <a:gd name="T2" fmla="*/ 5348 w 1377"/>
              <a:gd name="T3" fmla="*/ 1118 h 142"/>
              <a:gd name="T4" fmla="*/ 0 w 1377"/>
              <a:gd name="T5" fmla="*/ 1118 h 142"/>
              <a:gd name="T6" fmla="*/ 0 60000 65536"/>
              <a:gd name="T7" fmla="*/ 0 60000 65536"/>
              <a:gd name="T8" fmla="*/ 0 60000 65536"/>
              <a:gd name="T9" fmla="*/ 0 w 1377"/>
              <a:gd name="T10" fmla="*/ 0 h 142"/>
              <a:gd name="T11" fmla="*/ 1377 w 1377"/>
              <a:gd name="T12" fmla="*/ 142 h 1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77" h="142">
                <a:moveTo>
                  <a:pt x="1377" y="132"/>
                </a:moveTo>
                <a:cubicBezTo>
                  <a:pt x="1279" y="110"/>
                  <a:pt x="1016" y="0"/>
                  <a:pt x="787" y="2"/>
                </a:cubicBezTo>
                <a:cubicBezTo>
                  <a:pt x="560" y="0"/>
                  <a:pt x="164" y="113"/>
                  <a:pt x="0" y="142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43" name="Text Box 38">
            <a:extLst>
              <a:ext uri="{FF2B5EF4-FFF2-40B4-BE49-F238E27FC236}">
                <a16:creationId xmlns:a16="http://schemas.microsoft.com/office/drawing/2014/main" id="{B1D3657A-EA31-CAFE-51C3-43BBBA89B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9388" y="5510213"/>
            <a:ext cx="1603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黑体" panose="02010609060101010101" pitchFamily="49" charset="-122"/>
              </a:rPr>
              <a:t>2</a:t>
            </a:r>
          </a:p>
        </p:txBody>
      </p:sp>
      <p:sp>
        <p:nvSpPr>
          <p:cNvPr id="44" name="Oval 26">
            <a:extLst>
              <a:ext uri="{FF2B5EF4-FFF2-40B4-BE49-F238E27FC236}">
                <a16:creationId xmlns:a16="http://schemas.microsoft.com/office/drawing/2014/main" id="{B5512420-3144-8BC6-158E-BEB243CD1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838" y="4286250"/>
            <a:ext cx="71437" cy="714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0000FF"/>
            </a:solidFill>
            <a:round/>
            <a:headEnd/>
            <a:tailEnd type="none" w="sm" len="med"/>
          </a:ln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endParaRPr lang="zh-CN" altLang="en-US" sz="3200" b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45" name="Oval 33">
            <a:extLst>
              <a:ext uri="{FF2B5EF4-FFF2-40B4-BE49-F238E27FC236}">
                <a16:creationId xmlns:a16="http://schemas.microsoft.com/office/drawing/2014/main" id="{83C49206-A0CA-D792-777C-3ADACD146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1438" y="5619750"/>
            <a:ext cx="71437" cy="714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0000FF"/>
            </a:solidFill>
            <a:round/>
            <a:headEnd/>
            <a:tailEnd type="none" w="sm" len="med"/>
          </a:ln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endParaRPr lang="zh-CN" altLang="en-US" sz="3200" b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46" name="Oval 39">
            <a:extLst>
              <a:ext uri="{FF2B5EF4-FFF2-40B4-BE49-F238E27FC236}">
                <a16:creationId xmlns:a16="http://schemas.microsoft.com/office/drawing/2014/main" id="{E8B86EC9-C7AB-43CF-9EC4-3303BD2B0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580063"/>
            <a:ext cx="71438" cy="71437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0000FF"/>
            </a:solidFill>
            <a:round/>
            <a:headEnd/>
            <a:tailEnd type="none" w="sm" len="med"/>
          </a:ln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endParaRPr lang="zh-CN" altLang="en-US" sz="3200" b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47" name="Text Box 30">
            <a:extLst>
              <a:ext uri="{FF2B5EF4-FFF2-40B4-BE49-F238E27FC236}">
                <a16:creationId xmlns:a16="http://schemas.microsoft.com/office/drawing/2014/main" id="{09DF79C2-C665-7118-3DC5-C6CB6951CCA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933410" y="3560763"/>
            <a:ext cx="215844" cy="346829"/>
          </a:xfrm>
          <a:prstGeom prst="rect">
            <a:avLst/>
          </a:prstGeom>
          <a:blipFill>
            <a:blip r:embed="rId13"/>
            <a:stretch>
              <a:fillRect l="-16667" t="-3509" r="-16667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48" name="Text Box 30">
            <a:extLst>
              <a:ext uri="{FF2B5EF4-FFF2-40B4-BE49-F238E27FC236}">
                <a16:creationId xmlns:a16="http://schemas.microsoft.com/office/drawing/2014/main" id="{08795997-57A1-467A-E626-6316504319D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321937" y="4525298"/>
            <a:ext cx="215844" cy="346893"/>
          </a:xfrm>
          <a:prstGeom prst="rect">
            <a:avLst/>
          </a:prstGeom>
          <a:blipFill>
            <a:blip r:embed="rId14"/>
            <a:stretch>
              <a:fillRect l="-17143" t="-1754" r="-20000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49" name="Text Box 30">
            <a:extLst>
              <a:ext uri="{FF2B5EF4-FFF2-40B4-BE49-F238E27FC236}">
                <a16:creationId xmlns:a16="http://schemas.microsoft.com/office/drawing/2014/main" id="{2CCDDC23-ECCC-A1A8-638C-8D1CE805F44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758722" y="4846912"/>
            <a:ext cx="215844" cy="345803"/>
          </a:xfrm>
          <a:prstGeom prst="rect">
            <a:avLst/>
          </a:prstGeom>
          <a:blipFill>
            <a:blip r:embed="rId15"/>
            <a:stretch>
              <a:fillRect l="-17143" t="-3509" r="-20000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50" name="Text Box 30">
            <a:extLst>
              <a:ext uri="{FF2B5EF4-FFF2-40B4-BE49-F238E27FC236}">
                <a16:creationId xmlns:a16="http://schemas.microsoft.com/office/drawing/2014/main" id="{B72C9BDB-63C1-AECA-6563-08C8D2D2AA8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699125" y="5502725"/>
            <a:ext cx="215844" cy="346252"/>
          </a:xfrm>
          <a:prstGeom prst="rect">
            <a:avLst/>
          </a:prstGeom>
          <a:blipFill>
            <a:blip r:embed="rId16"/>
            <a:stretch>
              <a:fillRect l="-17143" t="-3509" r="-20000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51" name="Text Box 30">
            <a:extLst>
              <a:ext uri="{FF2B5EF4-FFF2-40B4-BE49-F238E27FC236}">
                <a16:creationId xmlns:a16="http://schemas.microsoft.com/office/drawing/2014/main" id="{434336E3-3958-BE0C-DDF2-BF113DCAC97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088369" y="5433274"/>
            <a:ext cx="215844" cy="346829"/>
          </a:xfrm>
          <a:prstGeom prst="rect">
            <a:avLst/>
          </a:prstGeom>
          <a:blipFill>
            <a:blip r:embed="rId17"/>
            <a:stretch>
              <a:fillRect l="-17143" t="-1754" r="-20000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53" name="Freeform 27">
            <a:extLst>
              <a:ext uri="{FF2B5EF4-FFF2-40B4-BE49-F238E27FC236}">
                <a16:creationId xmlns:a16="http://schemas.microsoft.com/office/drawing/2014/main" id="{31CE20AC-6E9D-1EE9-B24C-D01B4A549136}"/>
              </a:ext>
            </a:extLst>
          </p:cNvPr>
          <p:cNvSpPr>
            <a:spLocks/>
          </p:cNvSpPr>
          <p:nvPr/>
        </p:nvSpPr>
        <p:spPr bwMode="auto">
          <a:xfrm>
            <a:off x="7019925" y="4318000"/>
            <a:ext cx="711200" cy="1331913"/>
          </a:xfrm>
          <a:custGeom>
            <a:avLst/>
            <a:gdLst>
              <a:gd name="T0" fmla="*/ 0 w 10000"/>
              <a:gd name="T1" fmla="*/ 0 h 10000"/>
              <a:gd name="T2" fmla="*/ 2147483646 w 10000"/>
              <a:gd name="T3" fmla="*/ 2147483646 h 10000"/>
              <a:gd name="T4" fmla="*/ 2147483646 w 10000"/>
              <a:gd name="T5" fmla="*/ 2147483646 h 10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0" h="10000">
                <a:moveTo>
                  <a:pt x="0" y="0"/>
                </a:moveTo>
                <a:cubicBezTo>
                  <a:pt x="1528" y="1489"/>
                  <a:pt x="8731" y="4639"/>
                  <a:pt x="9048" y="5979"/>
                </a:cubicBezTo>
                <a:lnTo>
                  <a:pt x="10000" y="1000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4" name="Freeform 28">
            <a:extLst>
              <a:ext uri="{FF2B5EF4-FFF2-40B4-BE49-F238E27FC236}">
                <a16:creationId xmlns:a16="http://schemas.microsoft.com/office/drawing/2014/main" id="{4B5D3CA3-A547-45D1-CB45-DAA7F7C4B17D}"/>
              </a:ext>
            </a:extLst>
          </p:cNvPr>
          <p:cNvSpPr>
            <a:spLocks/>
          </p:cNvSpPr>
          <p:nvPr/>
        </p:nvSpPr>
        <p:spPr bwMode="auto">
          <a:xfrm>
            <a:off x="7040563" y="4302125"/>
            <a:ext cx="738187" cy="1335088"/>
          </a:xfrm>
          <a:custGeom>
            <a:avLst/>
            <a:gdLst>
              <a:gd name="T0" fmla="*/ 2147483646 w 10000"/>
              <a:gd name="T1" fmla="*/ 2147483646 h 10000"/>
              <a:gd name="T2" fmla="*/ 1454707695 w 10000"/>
              <a:gd name="T3" fmla="*/ 2147483646 h 10000"/>
              <a:gd name="T4" fmla="*/ 0 w 10000"/>
              <a:gd name="T5" fmla="*/ 0 h 10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0" h="10000">
                <a:moveTo>
                  <a:pt x="10000" y="10000"/>
                </a:moveTo>
                <a:lnTo>
                  <a:pt x="3617" y="6143"/>
                </a:lnTo>
                <a:cubicBezTo>
                  <a:pt x="1489" y="4857"/>
                  <a:pt x="491" y="1062"/>
                  <a:pt x="0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5" name="Text Box 30">
            <a:extLst>
              <a:ext uri="{FF2B5EF4-FFF2-40B4-BE49-F238E27FC236}">
                <a16:creationId xmlns:a16="http://schemas.microsoft.com/office/drawing/2014/main" id="{7257E1B4-C59F-414A-1C78-2A86A03A7DF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828639" y="5787115"/>
            <a:ext cx="215900" cy="346954"/>
          </a:xfrm>
          <a:prstGeom prst="rect">
            <a:avLst/>
          </a:prstGeom>
          <a:blipFill>
            <a:blip r:embed="rId14"/>
            <a:stretch>
              <a:fillRect l="-16667" t="-1754" r="-16667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0" name="Text Box 30">
            <a:extLst>
              <a:ext uri="{FF2B5EF4-FFF2-40B4-BE49-F238E27FC236}">
                <a16:creationId xmlns:a16="http://schemas.microsoft.com/office/drawing/2014/main" id="{D9192C85-E03E-AC20-2257-C2E678D8CCF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7121606" y="5343851"/>
            <a:ext cx="215900" cy="345864"/>
          </a:xfrm>
          <a:prstGeom prst="rect">
            <a:avLst/>
          </a:prstGeom>
          <a:blipFill>
            <a:blip r:embed="rId15"/>
            <a:stretch>
              <a:fillRect l="-16667" t="-3571" r="-16667" b="-16071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61" name="Text Box 30">
            <a:extLst>
              <a:ext uri="{FF2B5EF4-FFF2-40B4-BE49-F238E27FC236}">
                <a16:creationId xmlns:a16="http://schemas.microsoft.com/office/drawing/2014/main" id="{A559B6D7-4D65-E676-076D-953A78B827E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7590003" y="4653581"/>
            <a:ext cx="215900" cy="345864"/>
          </a:xfrm>
          <a:prstGeom prst="rect">
            <a:avLst/>
          </a:prstGeom>
          <a:blipFill>
            <a:blip r:embed="rId18"/>
            <a:stretch>
              <a:fillRect l="-17143" t="-1754" r="-20000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2" name="Text Box 30">
            <a:extLst>
              <a:ext uri="{FF2B5EF4-FFF2-40B4-BE49-F238E27FC236}">
                <a16:creationId xmlns:a16="http://schemas.microsoft.com/office/drawing/2014/main" id="{62B01A3A-4364-3F8E-4FB5-8D07F156C43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7303647" y="4847139"/>
            <a:ext cx="215900" cy="346954"/>
          </a:xfrm>
          <a:prstGeom prst="rect">
            <a:avLst/>
          </a:prstGeom>
          <a:blipFill>
            <a:blip r:embed="rId19"/>
            <a:stretch>
              <a:fillRect l="-16667" t="-3509" r="-16667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首达</a:t>
            </a:r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975" y="1146441"/>
            <a:ext cx="11049000" cy="2704138"/>
          </a:xfrm>
        </p:spPr>
        <p:txBody>
          <a:bodyPr>
            <a:normAutofit lnSpcReduction="10000"/>
          </a:bodyPr>
          <a:lstStyle/>
          <a:p>
            <a:pPr eaLnBrk="1" hangingPunct="1">
              <a:buClrTx/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　　从状态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zh-CN" altLang="en-US" dirty="0">
                <a:sym typeface="Symbol" panose="05050102010706020507" pitchFamily="18" charset="2"/>
              </a:rPr>
              <a:t>出发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经过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步</a:t>
            </a:r>
            <a:r>
              <a:rPr lang="zh-CN" altLang="en-US" dirty="0">
                <a:solidFill>
                  <a:srgbClr val="000099"/>
                </a:solidFill>
                <a:sym typeface="Symbol" panose="05050102010706020507" pitchFamily="18" charset="2"/>
              </a:rPr>
              <a:t>首次到达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状态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j</a:t>
            </a:r>
            <a:r>
              <a:rPr lang="zh-CN" altLang="en-US" dirty="0">
                <a:sym typeface="Symbol" panose="05050102010706020507" pitchFamily="18" charset="2"/>
              </a:rPr>
              <a:t>的时刻</a:t>
            </a:r>
          </a:p>
          <a:p>
            <a:pPr algn="ctr" eaLnBrk="1" hangingPunct="1">
              <a:buClrTx/>
              <a:buFontTx/>
              <a:buNone/>
            </a:pPr>
            <a:r>
              <a:rPr lang="en-US" altLang="zh-CN" dirty="0" err="1">
                <a:sym typeface="Symbol" panose="05050102010706020507" pitchFamily="18" charset="2"/>
              </a:rPr>
              <a:t>T</a:t>
            </a:r>
            <a:r>
              <a:rPr lang="en-US" altLang="zh-CN" baseline="-25000" dirty="0" err="1">
                <a:sym typeface="Symbol" panose="05050102010706020507" pitchFamily="18" charset="2"/>
              </a:rPr>
              <a:t>ij</a:t>
            </a:r>
            <a:r>
              <a:rPr lang="zh-CN" altLang="en-US" dirty="0">
                <a:sym typeface="Symbol" panose="05050102010706020507" pitchFamily="18" charset="2"/>
              </a:rPr>
              <a:t>＝</a:t>
            </a:r>
            <a:r>
              <a:rPr lang="en-US" altLang="zh-CN" dirty="0">
                <a:sym typeface="Symbol" panose="05050102010706020507" pitchFamily="18" charset="2"/>
              </a:rPr>
              <a:t>min{n</a:t>
            </a:r>
            <a:r>
              <a:rPr lang="zh-CN" altLang="en-US" dirty="0">
                <a:sym typeface="Symbol" panose="05050102010706020507" pitchFamily="18" charset="2"/>
              </a:rPr>
              <a:t>：</a:t>
            </a:r>
            <a:r>
              <a:rPr lang="en-US" altLang="zh-CN" dirty="0">
                <a:sym typeface="Symbol" panose="05050102010706020507" pitchFamily="18" charset="2"/>
              </a:rPr>
              <a:t>X(m)=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, X(</a:t>
            </a:r>
            <a:r>
              <a:rPr lang="en-US" altLang="zh-CN" dirty="0" err="1">
                <a:sym typeface="Symbol" panose="05050102010706020507" pitchFamily="18" charset="2"/>
              </a:rPr>
              <a:t>m+n</a:t>
            </a:r>
            <a:r>
              <a:rPr lang="en-US" altLang="zh-CN" dirty="0">
                <a:sym typeface="Symbol" panose="05050102010706020507" pitchFamily="18" charset="2"/>
              </a:rPr>
              <a:t>)=j, </a:t>
            </a:r>
            <a:r>
              <a:rPr lang="en-US" altLang="zh-CN" dirty="0" err="1">
                <a:sym typeface="Symbol" panose="05050102010706020507" pitchFamily="18" charset="2"/>
              </a:rPr>
              <a:t>nN</a:t>
            </a:r>
            <a:r>
              <a:rPr lang="en-US" altLang="zh-CN" dirty="0">
                <a:sym typeface="Symbol" panose="05050102010706020507" pitchFamily="18" charset="2"/>
              </a:rPr>
              <a:t>}</a:t>
            </a:r>
          </a:p>
          <a:p>
            <a:pPr eaLnBrk="1" hangingPunct="1">
              <a:buClrTx/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称为</a:t>
            </a:r>
            <a:r>
              <a:rPr lang="zh-CN" altLang="en-US" dirty="0">
                <a:solidFill>
                  <a:srgbClr val="6600CC"/>
                </a:solidFill>
                <a:sym typeface="Symbol" panose="05050102010706020507" pitchFamily="18" charset="2"/>
              </a:rPr>
              <a:t>首达时刻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</a:p>
          <a:p>
            <a:pPr eaLnBrk="1" hangingPunct="1">
              <a:buClrTx/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　   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首达时刻是一个随机变量</a:t>
            </a:r>
            <a:r>
              <a:rPr lang="zh-CN" altLang="en-US" dirty="0">
                <a:sym typeface="Symbol" panose="05050102010706020507" pitchFamily="18" charset="2"/>
              </a:rPr>
              <a:t>，它的取值是从状</a:t>
            </a:r>
          </a:p>
          <a:p>
            <a:pPr eaLnBrk="1" hangingPunct="1">
              <a:buClrTx/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态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zh-CN" altLang="en-US" dirty="0">
                <a:sym typeface="Symbol" panose="05050102010706020507" pitchFamily="18" charset="2"/>
              </a:rPr>
              <a:t>出发，使得</a:t>
            </a:r>
            <a:r>
              <a:rPr lang="en-US" altLang="zh-CN" dirty="0">
                <a:sym typeface="Symbol" panose="05050102010706020507" pitchFamily="18" charset="2"/>
              </a:rPr>
              <a:t>X(n)</a:t>
            </a:r>
            <a:r>
              <a:rPr lang="zh-CN" altLang="en-US" dirty="0">
                <a:sym typeface="Symbol" panose="05050102010706020507" pitchFamily="18" charset="2"/>
              </a:rPr>
              <a:t>＝</a:t>
            </a:r>
            <a:r>
              <a:rPr lang="en-US" altLang="zh-CN" dirty="0">
                <a:sym typeface="Symbol" panose="05050102010706020507" pitchFamily="18" charset="2"/>
              </a:rPr>
              <a:t>j</a:t>
            </a:r>
            <a:r>
              <a:rPr lang="zh-CN" altLang="en-US" dirty="0">
                <a:sym typeface="Symbol" panose="05050102010706020507" pitchFamily="18" charset="2"/>
              </a:rPr>
              <a:t>的最小正整数</a:t>
            </a:r>
            <a:r>
              <a:rPr lang="en-US" altLang="zh-CN" dirty="0">
                <a:sym typeface="Symbol" panose="05050102010706020507" pitchFamily="18" charset="2"/>
              </a:rPr>
              <a:t>n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endParaRPr lang="zh-CN" altLang="en-US" dirty="0"/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A38A175B-ACE2-4E21-AE63-11D17E3CD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2475" y="3886994"/>
            <a:ext cx="6134100" cy="2704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990600" indent="-5334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3716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752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2098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  <a:lvl6pPr marL="2667000" indent="-3810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124200" indent="-3810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81400" indent="-3810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038600" indent="-3810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  <a:defRPr/>
            </a:pP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例如：当按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0-0-1</a:t>
            </a: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转移时，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kern="0" baseline="-25000" dirty="0">
                <a:latin typeface="+mn-ea"/>
                <a:ea typeface="+mn-ea"/>
                <a:sym typeface="Symbol" panose="05050102010706020507" pitchFamily="18" charset="2"/>
              </a:rPr>
              <a:t>01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=2</a:t>
            </a: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；</a:t>
            </a:r>
            <a:endParaRPr lang="en-US" altLang="zh-CN" sz="2400" kern="0" dirty="0">
              <a:latin typeface="+mn-ea"/>
              <a:ea typeface="+mn-ea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ClrTx/>
              <a:buFont typeface="Wingdings" panose="05000000000000000000" pitchFamily="2" charset="2"/>
              <a:buNone/>
              <a:defRPr/>
            </a:pP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当按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0-1</a:t>
            </a: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转移时，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kern="0" baseline="-25000" dirty="0">
                <a:latin typeface="+mn-ea"/>
                <a:ea typeface="+mn-ea"/>
                <a:sym typeface="Symbol" panose="05050102010706020507" pitchFamily="18" charset="2"/>
              </a:rPr>
              <a:t>01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=1</a:t>
            </a: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；</a:t>
            </a:r>
            <a:endParaRPr lang="en-US" altLang="zh-CN" sz="2400" kern="0" dirty="0">
              <a:latin typeface="+mn-ea"/>
              <a:ea typeface="+mn-ea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ClrTx/>
              <a:buFont typeface="Wingdings" panose="05000000000000000000" pitchFamily="2" charset="2"/>
              <a:buNone/>
              <a:defRPr/>
            </a:pP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当按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0-0-0-0-1</a:t>
            </a: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转移时，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kern="0" baseline="-25000" dirty="0">
                <a:latin typeface="+mn-ea"/>
                <a:ea typeface="+mn-ea"/>
                <a:sym typeface="Symbol" panose="05050102010706020507" pitchFamily="18" charset="2"/>
              </a:rPr>
              <a:t>01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=4</a:t>
            </a: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；</a:t>
            </a:r>
            <a:endParaRPr lang="en-US" altLang="zh-CN" sz="2400" kern="0" dirty="0">
              <a:latin typeface="+mn-ea"/>
              <a:ea typeface="+mn-ea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ClrTx/>
              <a:buFont typeface="Wingdings" panose="05000000000000000000" pitchFamily="2" charset="2"/>
              <a:buNone/>
              <a:defRPr/>
            </a:pP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当按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0-0-0-</a:t>
            </a:r>
            <a:r>
              <a:rPr lang="en-US" altLang="zh-CN" sz="2400" kern="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-1</a:t>
            </a: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转移时，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kern="0" baseline="-25000" dirty="0">
                <a:latin typeface="+mn-ea"/>
                <a:ea typeface="+mn-ea"/>
                <a:sym typeface="Symbol" panose="05050102010706020507" pitchFamily="18" charset="2"/>
              </a:rPr>
              <a:t>01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=3</a:t>
            </a: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；</a:t>
            </a:r>
            <a:endParaRPr lang="en-US" altLang="zh-CN" sz="2400" kern="0" dirty="0">
              <a:latin typeface="+mn-ea"/>
              <a:ea typeface="+mn-ea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buClrTx/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……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F8A69F6-F43B-BCD6-1023-6C6BE4A8A67F}"/>
              </a:ext>
            </a:extLst>
          </p:cNvPr>
          <p:cNvGrpSpPr>
            <a:grpSpLocks/>
          </p:cNvGrpSpPr>
          <p:nvPr/>
        </p:nvGrpSpPr>
        <p:grpSpPr bwMode="auto">
          <a:xfrm>
            <a:off x="1984375" y="3844116"/>
            <a:ext cx="2605088" cy="2424113"/>
            <a:chOff x="1695127" y="3488688"/>
            <a:chExt cx="2605761" cy="2424302"/>
          </a:xfrm>
        </p:grpSpPr>
        <p:grpSp>
          <p:nvGrpSpPr>
            <p:cNvPr id="3" name="Group 56">
              <a:extLst>
                <a:ext uri="{FF2B5EF4-FFF2-40B4-BE49-F238E27FC236}">
                  <a16:creationId xmlns:a16="http://schemas.microsoft.com/office/drawing/2014/main" id="{AA743358-2D9E-92DE-50CB-A372530132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1825" y="3870095"/>
              <a:ext cx="2206625" cy="1925638"/>
              <a:chOff x="1020" y="2791"/>
              <a:chExt cx="1390" cy="1213"/>
            </a:xfrm>
          </p:grpSpPr>
          <p:sp>
            <p:nvSpPr>
              <p:cNvPr id="11" name="Arc 25">
                <a:extLst>
                  <a:ext uri="{FF2B5EF4-FFF2-40B4-BE49-F238E27FC236}">
                    <a16:creationId xmlns:a16="http://schemas.microsoft.com/office/drawing/2014/main" id="{2AF5428F-FF0C-7B26-E0DD-ABA606B78E88}"/>
                  </a:ext>
                </a:extLst>
              </p:cNvPr>
              <p:cNvSpPr>
                <a:spLocks/>
              </p:cNvSpPr>
              <p:nvPr/>
            </p:nvSpPr>
            <p:spPr bwMode="auto">
              <a:xfrm rot="4163643" flipH="1">
                <a:off x="1015" y="3748"/>
                <a:ext cx="240" cy="229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27">
                <a:extLst>
                  <a:ext uri="{FF2B5EF4-FFF2-40B4-BE49-F238E27FC236}">
                    <a16:creationId xmlns:a16="http://schemas.microsoft.com/office/drawing/2014/main" id="{CCE50723-1B29-CC0A-4458-AA3469F5C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4" y="3059"/>
                <a:ext cx="440" cy="796"/>
              </a:xfrm>
              <a:custGeom>
                <a:avLst/>
                <a:gdLst>
                  <a:gd name="T0" fmla="*/ 1 w 10227"/>
                  <a:gd name="T1" fmla="*/ 0 h 10448"/>
                  <a:gd name="T2" fmla="*/ 1 w 10227"/>
                  <a:gd name="T3" fmla="*/ 2 h 10448"/>
                  <a:gd name="T4" fmla="*/ 0 w 10227"/>
                  <a:gd name="T5" fmla="*/ 5 h 1044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227" h="10448">
                    <a:moveTo>
                      <a:pt x="10227" y="0"/>
                    </a:moveTo>
                    <a:cubicBezTo>
                      <a:pt x="10227" y="0"/>
                      <a:pt x="9379" y="2931"/>
                      <a:pt x="7580" y="4626"/>
                    </a:cubicBezTo>
                    <a:cubicBezTo>
                      <a:pt x="5781" y="6322"/>
                      <a:pt x="1533" y="9327"/>
                      <a:pt x="0" y="10448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28">
                <a:extLst>
                  <a:ext uri="{FF2B5EF4-FFF2-40B4-BE49-F238E27FC236}">
                    <a16:creationId xmlns:a16="http://schemas.microsoft.com/office/drawing/2014/main" id="{9C8A8C2F-7290-9043-BD1B-2B3F77CDB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5" y="3054"/>
                <a:ext cx="443" cy="758"/>
              </a:xfrm>
              <a:custGeom>
                <a:avLst/>
                <a:gdLst>
                  <a:gd name="T0" fmla="*/ 0 w 10000"/>
                  <a:gd name="T1" fmla="*/ 4 h 10000"/>
                  <a:gd name="T2" fmla="*/ 0 w 10000"/>
                  <a:gd name="T3" fmla="*/ 2 h 10000"/>
                  <a:gd name="T4" fmla="*/ 1 w 10000"/>
                  <a:gd name="T5" fmla="*/ 0 h 10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00" h="10000">
                    <a:moveTo>
                      <a:pt x="0" y="10000"/>
                    </a:moveTo>
                    <a:cubicBezTo>
                      <a:pt x="600" y="9018"/>
                      <a:pt x="1900" y="5789"/>
                      <a:pt x="3571" y="4128"/>
                    </a:cubicBezTo>
                    <a:cubicBezTo>
                      <a:pt x="5243" y="2468"/>
                      <a:pt x="8657" y="862"/>
                      <a:pt x="10000" y="0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" name="Arc 29">
                <a:extLst>
                  <a:ext uri="{FF2B5EF4-FFF2-40B4-BE49-F238E27FC236}">
                    <a16:creationId xmlns:a16="http://schemas.microsoft.com/office/drawing/2014/main" id="{0C146B8E-ED4F-887A-443E-249B46F26175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 flipH="1">
                <a:off x="1620" y="2791"/>
                <a:ext cx="231" cy="24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" name="Text Box 30">
                <a:extLst>
                  <a:ext uri="{FF2B5EF4-FFF2-40B4-BE49-F238E27FC236}">
                    <a16:creationId xmlns:a16="http://schemas.microsoft.com/office/drawing/2014/main" id="{B25A72D9-6B85-2ED0-72CF-F9F518A311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2" y="2865"/>
                <a:ext cx="13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sm" len="med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16" name="Text Box 31">
                <a:extLst>
                  <a:ext uri="{FF2B5EF4-FFF2-40B4-BE49-F238E27FC236}">
                    <a16:creationId xmlns:a16="http://schemas.microsoft.com/office/drawing/2014/main" id="{06D91F9B-EE17-8489-EDFF-C01EE9B370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2" y="3756"/>
                <a:ext cx="127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sm" len="med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7" name="Arc 32">
                <a:extLst>
                  <a:ext uri="{FF2B5EF4-FFF2-40B4-BE49-F238E27FC236}">
                    <a16:creationId xmlns:a16="http://schemas.microsoft.com/office/drawing/2014/main" id="{058E0E78-6027-29F3-E97B-0D950785955E}"/>
                  </a:ext>
                </a:extLst>
              </p:cNvPr>
              <p:cNvSpPr>
                <a:spLocks/>
              </p:cNvSpPr>
              <p:nvPr/>
            </p:nvSpPr>
            <p:spPr bwMode="auto">
              <a:xfrm rot="16179309" flipH="1">
                <a:off x="2176" y="3769"/>
                <a:ext cx="240" cy="229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FE7A21BE-510B-B8CA-985A-8D5FF849AD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5" y="3875"/>
                <a:ext cx="894" cy="74"/>
              </a:xfrm>
              <a:custGeom>
                <a:avLst/>
                <a:gdLst>
                  <a:gd name="T0" fmla="*/ 0 w 9683"/>
                  <a:gd name="T1" fmla="*/ 0 h 12747"/>
                  <a:gd name="T2" fmla="*/ 3 w 9683"/>
                  <a:gd name="T3" fmla="*/ 0 h 12747"/>
                  <a:gd name="T4" fmla="*/ 8 w 9683"/>
                  <a:gd name="T5" fmla="*/ 0 h 127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83" h="12747">
                    <a:moveTo>
                      <a:pt x="0" y="0"/>
                    </a:moveTo>
                    <a:cubicBezTo>
                      <a:pt x="788" y="1463"/>
                      <a:pt x="2690" y="12988"/>
                      <a:pt x="4355" y="12744"/>
                    </a:cubicBezTo>
                    <a:cubicBezTo>
                      <a:pt x="6019" y="12500"/>
                      <a:pt x="8574" y="5061"/>
                      <a:pt x="9683" y="2988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F9239AC6-E7E6-57C0-EE4C-BCC10AD05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6" y="3764"/>
                <a:ext cx="928" cy="100"/>
              </a:xfrm>
              <a:custGeom>
                <a:avLst/>
                <a:gdLst>
                  <a:gd name="T0" fmla="*/ 5 w 1377"/>
                  <a:gd name="T1" fmla="*/ 1 h 142"/>
                  <a:gd name="T2" fmla="*/ 3 w 1377"/>
                  <a:gd name="T3" fmla="*/ 1 h 142"/>
                  <a:gd name="T4" fmla="*/ 0 w 1377"/>
                  <a:gd name="T5" fmla="*/ 1 h 142"/>
                  <a:gd name="T6" fmla="*/ 0 60000 65536"/>
                  <a:gd name="T7" fmla="*/ 0 60000 65536"/>
                  <a:gd name="T8" fmla="*/ 0 60000 65536"/>
                  <a:gd name="T9" fmla="*/ 0 w 1377"/>
                  <a:gd name="T10" fmla="*/ 0 h 142"/>
                  <a:gd name="T11" fmla="*/ 1377 w 1377"/>
                  <a:gd name="T12" fmla="*/ 142 h 1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77" h="142">
                    <a:moveTo>
                      <a:pt x="1377" y="132"/>
                    </a:moveTo>
                    <a:cubicBezTo>
                      <a:pt x="1279" y="110"/>
                      <a:pt x="1016" y="0"/>
                      <a:pt x="787" y="2"/>
                    </a:cubicBezTo>
                    <a:cubicBezTo>
                      <a:pt x="560" y="0"/>
                      <a:pt x="164" y="113"/>
                      <a:pt x="0" y="142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" name="Text Box 38">
                <a:extLst>
                  <a:ext uri="{FF2B5EF4-FFF2-40B4-BE49-F238E27FC236}">
                    <a16:creationId xmlns:a16="http://schemas.microsoft.com/office/drawing/2014/main" id="{C02ECB8C-9FD9-E98E-D2C1-3AD7593D93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3" y="3779"/>
                <a:ext cx="10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sm" len="med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21" name="Oval 26">
                <a:extLst>
                  <a:ext uri="{FF2B5EF4-FFF2-40B4-BE49-F238E27FC236}">
                    <a16:creationId xmlns:a16="http://schemas.microsoft.com/office/drawing/2014/main" id="{656E893A-5058-222B-9193-7558B0647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1" y="3008"/>
                <a:ext cx="45" cy="45"/>
              </a:xfrm>
              <a:prstGeom prst="ellipse">
                <a:avLst/>
              </a:prstGeom>
              <a:solidFill>
                <a:srgbClr val="FFFFFF"/>
              </a:solidFill>
              <a:ln w="28575" algn="ctr">
                <a:solidFill>
                  <a:srgbClr val="0000FF"/>
                </a:solidFill>
                <a:round/>
                <a:headEnd/>
                <a:tailEnd type="none" w="sm" len="med"/>
              </a:ln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3200" b="0">
                  <a:solidFill>
                    <a:srgbClr val="FF0000"/>
                  </a:solidFill>
                  <a:latin typeface="黑体" panose="02010609060101010101" pitchFamily="49" charset="-122"/>
                </a:endParaRPr>
              </a:p>
            </p:txBody>
          </p:sp>
          <p:sp>
            <p:nvSpPr>
              <p:cNvPr id="22" name="Oval 33">
                <a:extLst>
                  <a:ext uri="{FF2B5EF4-FFF2-40B4-BE49-F238E27FC236}">
                    <a16:creationId xmlns:a16="http://schemas.microsoft.com/office/drawing/2014/main" id="{2B47B1DA-C6AB-D995-3D45-AB3BC2CA74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5" y="3848"/>
                <a:ext cx="45" cy="45"/>
              </a:xfrm>
              <a:prstGeom prst="ellipse">
                <a:avLst/>
              </a:prstGeom>
              <a:solidFill>
                <a:srgbClr val="FFFFFF"/>
              </a:solidFill>
              <a:ln w="28575" algn="ctr">
                <a:solidFill>
                  <a:srgbClr val="0000FF"/>
                </a:solidFill>
                <a:round/>
                <a:headEnd/>
                <a:tailEnd type="none" w="sm" len="med"/>
              </a:ln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3200" b="0">
                  <a:solidFill>
                    <a:srgbClr val="FF0000"/>
                  </a:solidFill>
                  <a:latin typeface="黑体" panose="02010609060101010101" pitchFamily="49" charset="-122"/>
                </a:endParaRPr>
              </a:p>
            </p:txBody>
          </p:sp>
          <p:sp>
            <p:nvSpPr>
              <p:cNvPr id="23" name="Oval 39">
                <a:extLst>
                  <a:ext uri="{FF2B5EF4-FFF2-40B4-BE49-F238E27FC236}">
                    <a16:creationId xmlns:a16="http://schemas.microsoft.com/office/drawing/2014/main" id="{E85C2757-7CD1-8ED5-D3CA-FC87D9CE22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6" y="3823"/>
                <a:ext cx="45" cy="45"/>
              </a:xfrm>
              <a:prstGeom prst="ellipse">
                <a:avLst/>
              </a:prstGeom>
              <a:solidFill>
                <a:srgbClr val="FFFFFF"/>
              </a:solidFill>
              <a:ln w="28575" algn="ctr">
                <a:solidFill>
                  <a:srgbClr val="0000FF"/>
                </a:solidFill>
                <a:round/>
                <a:headEnd/>
                <a:tailEnd type="none" w="sm" len="med"/>
              </a:ln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3200" b="0">
                  <a:solidFill>
                    <a:srgbClr val="FF0000"/>
                  </a:solidFill>
                  <a:latin typeface="黑体" panose="02010609060101010101" pitchFamily="49" charset="-122"/>
                </a:endParaRPr>
              </a:p>
            </p:txBody>
          </p:sp>
        </p:grpSp>
        <p:sp>
          <p:nvSpPr>
            <p:cNvPr id="4" name="Text Box 30">
              <a:extLst>
                <a:ext uri="{FF2B5EF4-FFF2-40B4-BE49-F238E27FC236}">
                  <a16:creationId xmlns:a16="http://schemas.microsoft.com/office/drawing/2014/main" id="{C5075E1B-DC52-DFB3-FB6D-5722C7AFD966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929731" y="3488688"/>
              <a:ext cx="215900" cy="346890"/>
            </a:xfrm>
            <a:prstGeom prst="rect">
              <a:avLst/>
            </a:prstGeom>
            <a:blipFill>
              <a:blip r:embed="rId2"/>
              <a:stretch>
                <a:fillRect t="-1754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5" name="Text Box 30">
              <a:extLst>
                <a:ext uri="{FF2B5EF4-FFF2-40B4-BE49-F238E27FC236}">
                  <a16:creationId xmlns:a16="http://schemas.microsoft.com/office/drawing/2014/main" id="{53C8F941-4C34-3F56-4986-C26671CFE331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318100" y="4453394"/>
              <a:ext cx="215900" cy="346890"/>
            </a:xfrm>
            <a:prstGeom prst="rect">
              <a:avLst/>
            </a:prstGeom>
            <a:blipFill>
              <a:blip r:embed="rId3"/>
              <a:stretch>
                <a:fillRect t="-3571" b="-16071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6" name="Text Box 30">
              <a:extLst>
                <a:ext uri="{FF2B5EF4-FFF2-40B4-BE49-F238E27FC236}">
                  <a16:creationId xmlns:a16="http://schemas.microsoft.com/office/drawing/2014/main" id="{19D58DA2-6570-557C-63A2-B7B201DB3717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754998" y="4775064"/>
              <a:ext cx="215900" cy="346890"/>
            </a:xfrm>
            <a:prstGeom prst="rect">
              <a:avLst/>
            </a:prstGeom>
            <a:blipFill>
              <a:blip r:embed="rId4"/>
              <a:stretch>
                <a:fillRect t="-1754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7" name="Text Box 30">
              <a:extLst>
                <a:ext uri="{FF2B5EF4-FFF2-40B4-BE49-F238E27FC236}">
                  <a16:creationId xmlns:a16="http://schemas.microsoft.com/office/drawing/2014/main" id="{E0FED2E2-6281-72F1-3FA9-41CB02E63631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1695127" y="5430993"/>
              <a:ext cx="215900" cy="350673"/>
            </a:xfrm>
            <a:prstGeom prst="rect">
              <a:avLst/>
            </a:prstGeom>
            <a:blipFill>
              <a:blip r:embed="rId5"/>
              <a:stretch>
                <a:fillRect t="-3509" b="-15789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8" name="Text Box 30">
              <a:extLst>
                <a:ext uri="{FF2B5EF4-FFF2-40B4-BE49-F238E27FC236}">
                  <a16:creationId xmlns:a16="http://schemas.microsoft.com/office/drawing/2014/main" id="{B0DC94D1-49C2-C098-9D6C-66435F989116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888549" y="5566100"/>
              <a:ext cx="215900" cy="346890"/>
            </a:xfrm>
            <a:prstGeom prst="rect">
              <a:avLst/>
            </a:prstGeom>
            <a:blipFill>
              <a:blip r:embed="rId6"/>
              <a:stretch>
                <a:fillRect t="-3509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9" name="Text Box 30">
              <a:extLst>
                <a:ext uri="{FF2B5EF4-FFF2-40B4-BE49-F238E27FC236}">
                  <a16:creationId xmlns:a16="http://schemas.microsoft.com/office/drawing/2014/main" id="{E66A959D-AD40-66FA-AD7D-2AD6F2AC9B39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951906" y="5256458"/>
              <a:ext cx="414300" cy="346890"/>
            </a:xfrm>
            <a:prstGeom prst="rect">
              <a:avLst/>
            </a:prstGeom>
            <a:blipFill>
              <a:blip r:embed="rId7"/>
              <a:stretch>
                <a:fillRect t="-1754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10" name="Text Box 30">
              <a:extLst>
                <a:ext uri="{FF2B5EF4-FFF2-40B4-BE49-F238E27FC236}">
                  <a16:creationId xmlns:a16="http://schemas.microsoft.com/office/drawing/2014/main" id="{2AC1F683-B9B8-8F91-F8BA-42E9C20F6DAF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4084988" y="5361530"/>
              <a:ext cx="215900" cy="346890"/>
            </a:xfrm>
            <a:prstGeom prst="rect">
              <a:avLst/>
            </a:prstGeom>
            <a:blipFill>
              <a:blip r:embed="rId8"/>
              <a:stretch>
                <a:fillRect t="-3571" b="-16071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6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6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6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6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099" grpId="0" build="p" autoUpdateAnimBg="0" advAuto="0"/>
      <p:bldP spid="56" grpId="0" build="p" autoUpdateAnimBg="0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">
            <a:extLst>
              <a:ext uri="{FF2B5EF4-FFF2-40B4-BE49-F238E27FC236}">
                <a16:creationId xmlns:a16="http://schemas.microsoft.com/office/drawing/2014/main" id="{164608FA-33A8-41A5-9392-41C48ECBFBF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303069" y="3857303"/>
            <a:ext cx="4418685" cy="2253511"/>
          </a:xfrm>
          <a:prstGeom prst="rect">
            <a:avLst/>
          </a:prstGeom>
          <a:blipFill>
            <a:blip r:embed="rId3"/>
            <a:stretch>
              <a:fillRect l="-3448" b="-5962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首达</a:t>
            </a: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774700" y="1107340"/>
            <a:ext cx="10125075" cy="22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自状态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出发经过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步首次到达状态</a:t>
            </a:r>
            <a:r>
              <a:rPr lang="en-US" altLang="zh-CN" sz="2400" dirty="0">
                <a:latin typeface="+mn-ea"/>
                <a:ea typeface="+mn-ea"/>
              </a:rPr>
              <a:t>j</a:t>
            </a:r>
            <a:r>
              <a:rPr lang="zh-CN" altLang="en-US" sz="2400" dirty="0">
                <a:latin typeface="+mn-ea"/>
                <a:ea typeface="+mn-ea"/>
              </a:rPr>
              <a:t>的概率</a:t>
            </a: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	</a:t>
            </a:r>
            <a:r>
              <a:rPr lang="en-US" altLang="zh-CN" sz="2400" dirty="0" err="1">
                <a:latin typeface="+mn-ea"/>
                <a:ea typeface="+mn-ea"/>
              </a:rPr>
              <a:t>f</a:t>
            </a:r>
            <a:r>
              <a:rPr lang="en-US" altLang="zh-CN" sz="2400" baseline="-25000" dirty="0" err="1">
                <a:latin typeface="+mn-ea"/>
                <a:ea typeface="+mn-ea"/>
              </a:rPr>
              <a:t>ij</a:t>
            </a:r>
            <a:r>
              <a:rPr lang="en-US" altLang="zh-CN" sz="2400" dirty="0">
                <a:latin typeface="+mn-ea"/>
                <a:ea typeface="+mn-ea"/>
              </a:rPr>
              <a:t>(n)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P{</a:t>
            </a:r>
            <a:r>
              <a:rPr lang="en-US" altLang="zh-CN" sz="2400" dirty="0" err="1">
                <a:latin typeface="+mn-ea"/>
                <a:ea typeface="+mn-ea"/>
              </a:rPr>
              <a:t>T</a:t>
            </a:r>
            <a:r>
              <a:rPr lang="en-US" altLang="zh-CN" sz="2400" baseline="-25000" dirty="0" err="1">
                <a:latin typeface="+mn-ea"/>
                <a:ea typeface="+mn-ea"/>
              </a:rPr>
              <a:t>ij</a:t>
            </a:r>
            <a:r>
              <a:rPr lang="en-US" altLang="zh-CN" sz="2400" dirty="0">
                <a:latin typeface="+mn-ea"/>
                <a:ea typeface="+mn-ea"/>
              </a:rPr>
              <a:t>=</a:t>
            </a:r>
            <a:r>
              <a:rPr lang="en-US" altLang="zh-CN" sz="2400" dirty="0" err="1">
                <a:latin typeface="+mn-ea"/>
                <a:ea typeface="+mn-ea"/>
              </a:rPr>
              <a:t>n|X</a:t>
            </a:r>
            <a:r>
              <a:rPr lang="en-US" altLang="zh-CN" sz="2400" dirty="0">
                <a:latin typeface="+mn-ea"/>
                <a:ea typeface="+mn-ea"/>
              </a:rPr>
              <a:t>(m)=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en-US" altLang="zh-CN" sz="2400" dirty="0">
                <a:latin typeface="+mn-ea"/>
                <a:ea typeface="+mn-ea"/>
              </a:rPr>
              <a:t>}</a:t>
            </a:r>
          </a:p>
          <a:p>
            <a:pPr algn="ctr"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P{X(</a:t>
            </a:r>
            <a:r>
              <a:rPr lang="en-US" altLang="zh-CN" sz="2400" dirty="0" err="1">
                <a:latin typeface="+mn-ea"/>
                <a:ea typeface="+mn-ea"/>
              </a:rPr>
              <a:t>m+n</a:t>
            </a:r>
            <a:r>
              <a:rPr lang="en-US" altLang="zh-CN" sz="2400" dirty="0">
                <a:latin typeface="+mn-ea"/>
                <a:ea typeface="+mn-ea"/>
              </a:rPr>
              <a:t>)=j, X(</a:t>
            </a:r>
            <a:r>
              <a:rPr lang="en-US" altLang="zh-CN" sz="2400" dirty="0" err="1">
                <a:latin typeface="+mn-ea"/>
                <a:ea typeface="+mn-ea"/>
              </a:rPr>
              <a:t>m+k</a:t>
            </a:r>
            <a:r>
              <a:rPr lang="en-US" altLang="zh-CN" sz="2400" dirty="0">
                <a:latin typeface="+mn-ea"/>
                <a:ea typeface="+mn-ea"/>
              </a:rPr>
              <a:t>)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j, 1k&lt;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n|X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(m)=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+mn-ea"/>
                <a:ea typeface="+mn-ea"/>
              </a:rPr>
              <a:t>}</a:t>
            </a: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称为</a:t>
            </a:r>
            <a:r>
              <a:rPr lang="zh-CN" altLang="en-US" sz="2400" dirty="0">
                <a:solidFill>
                  <a:srgbClr val="6600CC"/>
                </a:solidFill>
                <a:latin typeface="+mn-ea"/>
                <a:ea typeface="+mn-ea"/>
              </a:rPr>
              <a:t>首达概率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  <p:sp>
        <p:nvSpPr>
          <p:cNvPr id="260101" name="Rectangle 5"/>
          <p:cNvSpPr>
            <a:spLocks noChangeArrowheads="1"/>
          </p:cNvSpPr>
          <p:nvPr/>
        </p:nvSpPr>
        <p:spPr bwMode="auto">
          <a:xfrm>
            <a:off x="2907613" y="2855470"/>
            <a:ext cx="7774199" cy="462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自状态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出发</a:t>
            </a:r>
            <a:r>
              <a:rPr lang="zh-CN" altLang="en-US" sz="2400" dirty="0">
                <a:solidFill>
                  <a:srgbClr val="6600CC"/>
                </a:solidFill>
                <a:latin typeface="+mn-ea"/>
                <a:ea typeface="+mn-ea"/>
              </a:rPr>
              <a:t>迟早</a:t>
            </a:r>
            <a:r>
              <a:rPr lang="en-US" altLang="zh-CN" sz="2400" dirty="0">
                <a:latin typeface="+mn-ea"/>
                <a:ea typeface="+mn-ea"/>
              </a:rPr>
              <a:t>(</a:t>
            </a:r>
            <a:r>
              <a:rPr lang="zh-CN" altLang="en-US" sz="2400" dirty="0">
                <a:solidFill>
                  <a:srgbClr val="6600CC"/>
                </a:solidFill>
                <a:latin typeface="+mn-ea"/>
                <a:ea typeface="+mn-ea"/>
              </a:rPr>
              <a:t>最终</a:t>
            </a:r>
            <a:r>
              <a:rPr lang="en-US" altLang="zh-CN" sz="2400" dirty="0">
                <a:latin typeface="+mn-ea"/>
                <a:ea typeface="+mn-ea"/>
              </a:rPr>
              <a:t>)</a:t>
            </a:r>
            <a:r>
              <a:rPr lang="zh-CN" altLang="en-US" sz="2400" dirty="0">
                <a:solidFill>
                  <a:srgbClr val="6600CC"/>
                </a:solidFill>
                <a:latin typeface="+mn-ea"/>
                <a:ea typeface="+mn-ea"/>
              </a:rPr>
              <a:t>到达</a:t>
            </a:r>
            <a:r>
              <a:rPr lang="zh-CN" altLang="en-US" sz="2400" dirty="0">
                <a:latin typeface="+mn-ea"/>
                <a:ea typeface="+mn-ea"/>
              </a:rPr>
              <a:t>状态</a:t>
            </a:r>
            <a:r>
              <a:rPr lang="en-US" altLang="zh-CN" sz="2400" dirty="0">
                <a:latin typeface="+mn-ea"/>
                <a:ea typeface="+mn-ea"/>
              </a:rPr>
              <a:t>j</a:t>
            </a:r>
            <a:r>
              <a:rPr lang="zh-CN" altLang="en-US" sz="2400" dirty="0">
                <a:latin typeface="+mn-ea"/>
                <a:ea typeface="+mn-ea"/>
              </a:rPr>
              <a:t>的概率定义为</a:t>
            </a:r>
          </a:p>
        </p:txBody>
      </p:sp>
      <p:graphicFrame>
        <p:nvGraphicFramePr>
          <p:cNvPr id="260102" name="Object 6"/>
          <p:cNvGraphicFramePr>
            <a:graphicFrameLocks noChangeAspect="1"/>
          </p:cNvGraphicFramePr>
          <p:nvPr/>
        </p:nvGraphicFramePr>
        <p:xfrm>
          <a:off x="1904863" y="3327520"/>
          <a:ext cx="5741729" cy="75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76600" imgH="431800" progId="Equation.DSMT4">
                  <p:embed/>
                </p:oleObj>
              </mc:Choice>
              <mc:Fallback>
                <p:oleObj name="Equation" r:id="rId4" imgW="3276600" imgH="431800" progId="Equation.DSMT4">
                  <p:embed/>
                  <p:pic>
                    <p:nvPicPr>
                      <p:cNvPr id="2601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4863" y="3327520"/>
                        <a:ext cx="5741729" cy="75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0695C561-BA1D-D061-A944-0DB677BE815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92130" y="6059000"/>
            <a:ext cx="4571182" cy="415050"/>
          </a:xfrm>
          <a:prstGeom prst="rect">
            <a:avLst/>
          </a:prstGeom>
          <a:blipFill>
            <a:blip r:embed="rId6"/>
            <a:stretch>
              <a:fillRect t="-108824" b="-17352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grpSp>
        <p:nvGrpSpPr>
          <p:cNvPr id="3" name="组合 11">
            <a:extLst>
              <a:ext uri="{FF2B5EF4-FFF2-40B4-BE49-F238E27FC236}">
                <a16:creationId xmlns:a16="http://schemas.microsoft.com/office/drawing/2014/main" id="{B59BDDE4-2BB0-BF77-7381-BA8076787D09}"/>
              </a:ext>
            </a:extLst>
          </p:cNvPr>
          <p:cNvGrpSpPr>
            <a:grpSpLocks/>
          </p:cNvGrpSpPr>
          <p:nvPr/>
        </p:nvGrpSpPr>
        <p:grpSpPr bwMode="auto">
          <a:xfrm>
            <a:off x="1214438" y="4038600"/>
            <a:ext cx="2605087" cy="2424113"/>
            <a:chOff x="1695127" y="3488688"/>
            <a:chExt cx="2605761" cy="2424302"/>
          </a:xfrm>
        </p:grpSpPr>
        <p:grpSp>
          <p:nvGrpSpPr>
            <p:cNvPr id="5" name="Group 56">
              <a:extLst>
                <a:ext uri="{FF2B5EF4-FFF2-40B4-BE49-F238E27FC236}">
                  <a16:creationId xmlns:a16="http://schemas.microsoft.com/office/drawing/2014/main" id="{D5E35B2B-93E2-A6F6-CA1F-20E640C56D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1825" y="3870095"/>
              <a:ext cx="2206625" cy="1925638"/>
              <a:chOff x="1020" y="2791"/>
              <a:chExt cx="1390" cy="1213"/>
            </a:xfrm>
          </p:grpSpPr>
          <p:sp>
            <p:nvSpPr>
              <p:cNvPr id="13" name="Arc 25">
                <a:extLst>
                  <a:ext uri="{FF2B5EF4-FFF2-40B4-BE49-F238E27FC236}">
                    <a16:creationId xmlns:a16="http://schemas.microsoft.com/office/drawing/2014/main" id="{97D60176-A960-C25B-BE4C-5FF0BFC68B4C}"/>
                  </a:ext>
                </a:extLst>
              </p:cNvPr>
              <p:cNvSpPr>
                <a:spLocks/>
              </p:cNvSpPr>
              <p:nvPr/>
            </p:nvSpPr>
            <p:spPr bwMode="auto">
              <a:xfrm rot="4163643" flipH="1">
                <a:off x="1015" y="3748"/>
                <a:ext cx="240" cy="229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27">
                <a:extLst>
                  <a:ext uri="{FF2B5EF4-FFF2-40B4-BE49-F238E27FC236}">
                    <a16:creationId xmlns:a16="http://schemas.microsoft.com/office/drawing/2014/main" id="{E9F21EDD-48F0-D5DB-9E1E-8D1AB01ABC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4" y="3059"/>
                <a:ext cx="440" cy="796"/>
              </a:xfrm>
              <a:custGeom>
                <a:avLst/>
                <a:gdLst>
                  <a:gd name="T0" fmla="*/ 1 w 10227"/>
                  <a:gd name="T1" fmla="*/ 0 h 10448"/>
                  <a:gd name="T2" fmla="*/ 1 w 10227"/>
                  <a:gd name="T3" fmla="*/ 2 h 10448"/>
                  <a:gd name="T4" fmla="*/ 0 w 10227"/>
                  <a:gd name="T5" fmla="*/ 5 h 1044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227" h="10448">
                    <a:moveTo>
                      <a:pt x="10227" y="0"/>
                    </a:moveTo>
                    <a:cubicBezTo>
                      <a:pt x="10227" y="0"/>
                      <a:pt x="9379" y="2931"/>
                      <a:pt x="7580" y="4626"/>
                    </a:cubicBezTo>
                    <a:cubicBezTo>
                      <a:pt x="5781" y="6322"/>
                      <a:pt x="1533" y="9327"/>
                      <a:pt x="0" y="10448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28">
                <a:extLst>
                  <a:ext uri="{FF2B5EF4-FFF2-40B4-BE49-F238E27FC236}">
                    <a16:creationId xmlns:a16="http://schemas.microsoft.com/office/drawing/2014/main" id="{74321641-5047-7571-BD30-564AF85C22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5" y="3054"/>
                <a:ext cx="443" cy="758"/>
              </a:xfrm>
              <a:custGeom>
                <a:avLst/>
                <a:gdLst>
                  <a:gd name="T0" fmla="*/ 0 w 10000"/>
                  <a:gd name="T1" fmla="*/ 4 h 10000"/>
                  <a:gd name="T2" fmla="*/ 0 w 10000"/>
                  <a:gd name="T3" fmla="*/ 2 h 10000"/>
                  <a:gd name="T4" fmla="*/ 1 w 10000"/>
                  <a:gd name="T5" fmla="*/ 0 h 10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00" h="10000">
                    <a:moveTo>
                      <a:pt x="0" y="10000"/>
                    </a:moveTo>
                    <a:cubicBezTo>
                      <a:pt x="600" y="9018"/>
                      <a:pt x="1900" y="5789"/>
                      <a:pt x="3571" y="4128"/>
                    </a:cubicBezTo>
                    <a:cubicBezTo>
                      <a:pt x="5243" y="2468"/>
                      <a:pt x="8657" y="862"/>
                      <a:pt x="10000" y="0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" name="Arc 29">
                <a:extLst>
                  <a:ext uri="{FF2B5EF4-FFF2-40B4-BE49-F238E27FC236}">
                    <a16:creationId xmlns:a16="http://schemas.microsoft.com/office/drawing/2014/main" id="{B678620E-3D12-5798-3A4E-9A0B3BEAFE17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 flipH="1">
                <a:off x="1620" y="2791"/>
                <a:ext cx="231" cy="24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Text Box 30">
                <a:extLst>
                  <a:ext uri="{FF2B5EF4-FFF2-40B4-BE49-F238E27FC236}">
                    <a16:creationId xmlns:a16="http://schemas.microsoft.com/office/drawing/2014/main" id="{3C7F79AD-CFB9-254F-1934-3F7AA9922E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2" y="2865"/>
                <a:ext cx="13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sm" len="med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25" name="Text Box 31">
                <a:extLst>
                  <a:ext uri="{FF2B5EF4-FFF2-40B4-BE49-F238E27FC236}">
                    <a16:creationId xmlns:a16="http://schemas.microsoft.com/office/drawing/2014/main" id="{58EB316B-13DF-D445-FA6C-B88980AF4A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2" y="3756"/>
                <a:ext cx="127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sm" len="med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6" name="Arc 32">
                <a:extLst>
                  <a:ext uri="{FF2B5EF4-FFF2-40B4-BE49-F238E27FC236}">
                    <a16:creationId xmlns:a16="http://schemas.microsoft.com/office/drawing/2014/main" id="{2DC64F2E-1976-C6D6-AE3A-0C72D486877A}"/>
                  </a:ext>
                </a:extLst>
              </p:cNvPr>
              <p:cNvSpPr>
                <a:spLocks/>
              </p:cNvSpPr>
              <p:nvPr/>
            </p:nvSpPr>
            <p:spPr bwMode="auto">
              <a:xfrm rot="16179309" flipH="1">
                <a:off x="2176" y="3769"/>
                <a:ext cx="240" cy="229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36">
                <a:extLst>
                  <a:ext uri="{FF2B5EF4-FFF2-40B4-BE49-F238E27FC236}">
                    <a16:creationId xmlns:a16="http://schemas.microsoft.com/office/drawing/2014/main" id="{5F3C7839-402D-0B66-66E5-5B5E963140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5" y="3875"/>
                <a:ext cx="894" cy="74"/>
              </a:xfrm>
              <a:custGeom>
                <a:avLst/>
                <a:gdLst>
                  <a:gd name="T0" fmla="*/ 0 w 9683"/>
                  <a:gd name="T1" fmla="*/ 0 h 12747"/>
                  <a:gd name="T2" fmla="*/ 3 w 9683"/>
                  <a:gd name="T3" fmla="*/ 0 h 12747"/>
                  <a:gd name="T4" fmla="*/ 8 w 9683"/>
                  <a:gd name="T5" fmla="*/ 0 h 127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83" h="12747">
                    <a:moveTo>
                      <a:pt x="0" y="0"/>
                    </a:moveTo>
                    <a:cubicBezTo>
                      <a:pt x="788" y="1463"/>
                      <a:pt x="2690" y="12988"/>
                      <a:pt x="4355" y="12744"/>
                    </a:cubicBezTo>
                    <a:cubicBezTo>
                      <a:pt x="6019" y="12500"/>
                      <a:pt x="8574" y="5061"/>
                      <a:pt x="9683" y="2988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37">
                <a:extLst>
                  <a:ext uri="{FF2B5EF4-FFF2-40B4-BE49-F238E27FC236}">
                    <a16:creationId xmlns:a16="http://schemas.microsoft.com/office/drawing/2014/main" id="{8C196A4B-534D-B0BC-9E5D-D6FD3B3B34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6" y="3764"/>
                <a:ext cx="928" cy="100"/>
              </a:xfrm>
              <a:custGeom>
                <a:avLst/>
                <a:gdLst>
                  <a:gd name="T0" fmla="*/ 5 w 1377"/>
                  <a:gd name="T1" fmla="*/ 1 h 142"/>
                  <a:gd name="T2" fmla="*/ 3 w 1377"/>
                  <a:gd name="T3" fmla="*/ 1 h 142"/>
                  <a:gd name="T4" fmla="*/ 0 w 1377"/>
                  <a:gd name="T5" fmla="*/ 1 h 142"/>
                  <a:gd name="T6" fmla="*/ 0 60000 65536"/>
                  <a:gd name="T7" fmla="*/ 0 60000 65536"/>
                  <a:gd name="T8" fmla="*/ 0 60000 65536"/>
                  <a:gd name="T9" fmla="*/ 0 w 1377"/>
                  <a:gd name="T10" fmla="*/ 0 h 142"/>
                  <a:gd name="T11" fmla="*/ 1377 w 1377"/>
                  <a:gd name="T12" fmla="*/ 142 h 1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77" h="142">
                    <a:moveTo>
                      <a:pt x="1377" y="132"/>
                    </a:moveTo>
                    <a:cubicBezTo>
                      <a:pt x="1279" y="110"/>
                      <a:pt x="1016" y="0"/>
                      <a:pt x="787" y="2"/>
                    </a:cubicBezTo>
                    <a:cubicBezTo>
                      <a:pt x="560" y="0"/>
                      <a:pt x="164" y="113"/>
                      <a:pt x="0" y="142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Text Box 38">
                <a:extLst>
                  <a:ext uri="{FF2B5EF4-FFF2-40B4-BE49-F238E27FC236}">
                    <a16:creationId xmlns:a16="http://schemas.microsoft.com/office/drawing/2014/main" id="{64872631-DC54-AAFA-C919-7577E2261A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3" y="3779"/>
                <a:ext cx="10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sm" len="med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30" name="Oval 26">
                <a:extLst>
                  <a:ext uri="{FF2B5EF4-FFF2-40B4-BE49-F238E27FC236}">
                    <a16:creationId xmlns:a16="http://schemas.microsoft.com/office/drawing/2014/main" id="{D5C43841-31F7-495F-9E04-3C6D26B19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1" y="3008"/>
                <a:ext cx="45" cy="45"/>
              </a:xfrm>
              <a:prstGeom prst="ellipse">
                <a:avLst/>
              </a:prstGeom>
              <a:solidFill>
                <a:srgbClr val="FFFFFF"/>
              </a:solidFill>
              <a:ln w="28575" algn="ctr">
                <a:solidFill>
                  <a:srgbClr val="0000FF"/>
                </a:solidFill>
                <a:round/>
                <a:headEnd/>
                <a:tailEnd type="none" w="sm" len="med"/>
              </a:ln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3200" b="0">
                  <a:solidFill>
                    <a:srgbClr val="FF0000"/>
                  </a:solidFill>
                  <a:latin typeface="黑体" panose="02010609060101010101" pitchFamily="49" charset="-122"/>
                </a:endParaRPr>
              </a:p>
            </p:txBody>
          </p:sp>
          <p:sp>
            <p:nvSpPr>
              <p:cNvPr id="31" name="Oval 33">
                <a:extLst>
                  <a:ext uri="{FF2B5EF4-FFF2-40B4-BE49-F238E27FC236}">
                    <a16:creationId xmlns:a16="http://schemas.microsoft.com/office/drawing/2014/main" id="{71355D36-8896-F359-D822-B8F9ADEAB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5" y="3848"/>
                <a:ext cx="45" cy="45"/>
              </a:xfrm>
              <a:prstGeom prst="ellipse">
                <a:avLst/>
              </a:prstGeom>
              <a:solidFill>
                <a:srgbClr val="FFFFFF"/>
              </a:solidFill>
              <a:ln w="28575" algn="ctr">
                <a:solidFill>
                  <a:srgbClr val="0000FF"/>
                </a:solidFill>
                <a:round/>
                <a:headEnd/>
                <a:tailEnd type="none" w="sm" len="med"/>
              </a:ln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3200" b="0">
                  <a:solidFill>
                    <a:srgbClr val="FF0000"/>
                  </a:solidFill>
                  <a:latin typeface="黑体" panose="02010609060101010101" pitchFamily="49" charset="-122"/>
                </a:endParaRPr>
              </a:p>
            </p:txBody>
          </p:sp>
          <p:sp>
            <p:nvSpPr>
              <p:cNvPr id="260096" name="Oval 39">
                <a:extLst>
                  <a:ext uri="{FF2B5EF4-FFF2-40B4-BE49-F238E27FC236}">
                    <a16:creationId xmlns:a16="http://schemas.microsoft.com/office/drawing/2014/main" id="{EA6DC538-E04D-1456-B4C9-951FBBECCD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6" y="3823"/>
                <a:ext cx="45" cy="45"/>
              </a:xfrm>
              <a:prstGeom prst="ellipse">
                <a:avLst/>
              </a:prstGeom>
              <a:solidFill>
                <a:srgbClr val="FFFFFF"/>
              </a:solidFill>
              <a:ln w="28575" algn="ctr">
                <a:solidFill>
                  <a:srgbClr val="0000FF"/>
                </a:solidFill>
                <a:round/>
                <a:headEnd/>
                <a:tailEnd type="none" w="sm" len="med"/>
              </a:ln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3200" b="0">
                  <a:solidFill>
                    <a:srgbClr val="FF0000"/>
                  </a:solidFill>
                  <a:latin typeface="黑体" panose="02010609060101010101" pitchFamily="49" charset="-122"/>
                </a:endParaRPr>
              </a:p>
            </p:txBody>
          </p:sp>
        </p:grpSp>
        <p:sp>
          <p:nvSpPr>
            <p:cNvPr id="6" name="Text Box 30">
              <a:extLst>
                <a:ext uri="{FF2B5EF4-FFF2-40B4-BE49-F238E27FC236}">
                  <a16:creationId xmlns:a16="http://schemas.microsoft.com/office/drawing/2014/main" id="{451690FC-C524-BFC0-379C-804C66EA0EEF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929731" y="3488688"/>
              <a:ext cx="215900" cy="346890"/>
            </a:xfrm>
            <a:prstGeom prst="rect">
              <a:avLst/>
            </a:prstGeom>
            <a:blipFill>
              <a:blip r:embed="rId7"/>
              <a:stretch>
                <a:fillRect t="-1754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7" name="Text Box 30">
              <a:extLst>
                <a:ext uri="{FF2B5EF4-FFF2-40B4-BE49-F238E27FC236}">
                  <a16:creationId xmlns:a16="http://schemas.microsoft.com/office/drawing/2014/main" id="{B9550324-9330-60C2-5B39-1BFEE9C83802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318100" y="4453394"/>
              <a:ext cx="215900" cy="346890"/>
            </a:xfrm>
            <a:prstGeom prst="rect">
              <a:avLst/>
            </a:prstGeom>
            <a:blipFill>
              <a:blip r:embed="rId8"/>
              <a:stretch>
                <a:fillRect t="-3509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8" name="Text Box 30">
              <a:extLst>
                <a:ext uri="{FF2B5EF4-FFF2-40B4-BE49-F238E27FC236}">
                  <a16:creationId xmlns:a16="http://schemas.microsoft.com/office/drawing/2014/main" id="{67B13BFD-6619-8C32-D481-96538B3F6F78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754998" y="4775064"/>
              <a:ext cx="215900" cy="346890"/>
            </a:xfrm>
            <a:prstGeom prst="rect">
              <a:avLst/>
            </a:prstGeom>
            <a:blipFill>
              <a:blip r:embed="rId9"/>
              <a:stretch>
                <a:fillRect t="-1754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9" name="Text Box 30">
              <a:extLst>
                <a:ext uri="{FF2B5EF4-FFF2-40B4-BE49-F238E27FC236}">
                  <a16:creationId xmlns:a16="http://schemas.microsoft.com/office/drawing/2014/main" id="{F5CC8B60-75E1-55AF-6589-A9CA392C5F9F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1695127" y="5430993"/>
              <a:ext cx="215900" cy="350673"/>
            </a:xfrm>
            <a:prstGeom prst="rect">
              <a:avLst/>
            </a:prstGeom>
            <a:blipFill>
              <a:blip r:embed="rId10"/>
              <a:stretch>
                <a:fillRect t="-3448" b="-13793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10" name="Text Box 30">
              <a:extLst>
                <a:ext uri="{FF2B5EF4-FFF2-40B4-BE49-F238E27FC236}">
                  <a16:creationId xmlns:a16="http://schemas.microsoft.com/office/drawing/2014/main" id="{8833E10D-119A-E601-734D-E18BAAB5F57E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888549" y="5566100"/>
              <a:ext cx="215900" cy="346890"/>
            </a:xfrm>
            <a:prstGeom prst="rect">
              <a:avLst/>
            </a:prstGeom>
            <a:blipFill>
              <a:blip r:embed="rId11"/>
              <a:stretch>
                <a:fillRect t="-3509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11" name="Text Box 30">
              <a:extLst>
                <a:ext uri="{FF2B5EF4-FFF2-40B4-BE49-F238E27FC236}">
                  <a16:creationId xmlns:a16="http://schemas.microsoft.com/office/drawing/2014/main" id="{64E4CE8F-096B-432B-F275-820160312DF5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951906" y="5256458"/>
              <a:ext cx="414300" cy="346890"/>
            </a:xfrm>
            <a:prstGeom prst="rect">
              <a:avLst/>
            </a:prstGeom>
            <a:blipFill>
              <a:blip r:embed="rId12"/>
              <a:stretch>
                <a:fillRect t="-1754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12" name="Text Box 30">
              <a:extLst>
                <a:ext uri="{FF2B5EF4-FFF2-40B4-BE49-F238E27FC236}">
                  <a16:creationId xmlns:a16="http://schemas.microsoft.com/office/drawing/2014/main" id="{039CC6E7-3A10-F86D-FDF9-12E756CCC911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4084988" y="5361530"/>
              <a:ext cx="215900" cy="346890"/>
            </a:xfrm>
            <a:prstGeom prst="rect">
              <a:avLst/>
            </a:prstGeom>
            <a:blipFill>
              <a:blip r:embed="rId13"/>
              <a:stretch>
                <a:fillRect t="-3509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0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60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01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返回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375" y="1064483"/>
            <a:ext cx="7164458" cy="427137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当</a:t>
            </a:r>
            <a:r>
              <a:rPr lang="en-US" altLang="zh-CN" dirty="0"/>
              <a:t>j</a:t>
            </a:r>
            <a:r>
              <a:rPr lang="zh-CN" altLang="en-US" dirty="0"/>
              <a:t>＝</a:t>
            </a:r>
            <a:r>
              <a:rPr lang="en-US" altLang="zh-CN" dirty="0" err="1"/>
              <a:t>i</a:t>
            </a:r>
            <a:r>
              <a:rPr lang="zh-CN" altLang="en-US" dirty="0"/>
              <a:t>时</a:t>
            </a:r>
          </a:p>
        </p:txBody>
      </p:sp>
      <p:sp>
        <p:nvSpPr>
          <p:cNvPr id="281607" name="Rectangle 7"/>
          <p:cNvSpPr>
            <a:spLocks noChangeArrowheads="1"/>
          </p:cNvSpPr>
          <p:nvPr/>
        </p:nvSpPr>
        <p:spPr bwMode="auto">
          <a:xfrm>
            <a:off x="897779" y="1488932"/>
            <a:ext cx="9849596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latin typeface="+mn-ea"/>
                <a:ea typeface="+mn-ea"/>
              </a:rPr>
              <a:t>T</a:t>
            </a:r>
            <a:r>
              <a:rPr lang="en-US" altLang="zh-CN" sz="2400" baseline="-25000" dirty="0" err="1">
                <a:latin typeface="+mn-ea"/>
                <a:ea typeface="+mn-ea"/>
              </a:rPr>
              <a:t>ii</a:t>
            </a:r>
            <a:r>
              <a:rPr lang="zh-CN" altLang="en-US" sz="2400" dirty="0">
                <a:latin typeface="+mn-ea"/>
                <a:ea typeface="+mn-ea"/>
              </a:rPr>
              <a:t>：表示从状态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出发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首次返回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的时刻；</a:t>
            </a:r>
          </a:p>
          <a:p>
            <a:pPr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latin typeface="+mn-ea"/>
                <a:ea typeface="+mn-ea"/>
              </a:rPr>
              <a:t>f</a:t>
            </a:r>
            <a:r>
              <a:rPr lang="en-US" altLang="zh-CN" sz="2400" baseline="-25000" dirty="0" err="1">
                <a:latin typeface="+mn-ea"/>
                <a:ea typeface="+mn-ea"/>
              </a:rPr>
              <a:t>ii</a:t>
            </a:r>
            <a:r>
              <a:rPr lang="en-US" altLang="zh-CN" sz="2400" dirty="0">
                <a:latin typeface="+mn-ea"/>
                <a:ea typeface="+mn-ea"/>
              </a:rPr>
              <a:t>(n)</a:t>
            </a:r>
            <a:r>
              <a:rPr lang="zh-CN" altLang="en-US" sz="2400" dirty="0">
                <a:latin typeface="+mn-ea"/>
                <a:ea typeface="+mn-ea"/>
              </a:rPr>
              <a:t>：表示从状态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出发经过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步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首次返回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的概率；</a:t>
            </a:r>
          </a:p>
          <a:p>
            <a:pPr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latin typeface="+mn-ea"/>
                <a:ea typeface="+mn-ea"/>
              </a:rPr>
              <a:t>f</a:t>
            </a:r>
            <a:r>
              <a:rPr lang="en-US" altLang="zh-CN" sz="2400" baseline="-25000" dirty="0" err="1">
                <a:latin typeface="+mn-ea"/>
                <a:ea typeface="+mn-ea"/>
              </a:rPr>
              <a:t>ii</a:t>
            </a:r>
            <a:r>
              <a:rPr lang="zh-CN" altLang="en-US" sz="2400" dirty="0">
                <a:latin typeface="+mn-ea"/>
                <a:ea typeface="+mn-ea"/>
              </a:rPr>
              <a:t>：表示从状态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出发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迟早返回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的概率。</a:t>
            </a:r>
          </a:p>
        </p:txBody>
      </p:sp>
      <p:graphicFrame>
        <p:nvGraphicFramePr>
          <p:cNvPr id="281609" name="Object 9"/>
          <p:cNvGraphicFramePr>
            <a:graphicFrameLocks noChangeAspect="1"/>
          </p:cNvGraphicFramePr>
          <p:nvPr/>
        </p:nvGraphicFramePr>
        <p:xfrm>
          <a:off x="438560" y="4316982"/>
          <a:ext cx="2590800" cy="765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59866" imgH="431613" progId="Equation.3">
                  <p:embed/>
                </p:oleObj>
              </mc:Choice>
              <mc:Fallback>
                <p:oleObj name="Equation" r:id="rId2" imgW="1459866" imgH="431613" progId="Equation.3">
                  <p:embed/>
                  <p:pic>
                    <p:nvPicPr>
                      <p:cNvPr id="281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560" y="4316982"/>
                        <a:ext cx="2590800" cy="765931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0" name="Rectangle 10"/>
          <p:cNvSpPr>
            <a:spLocks noChangeArrowheads="1"/>
          </p:cNvSpPr>
          <p:nvPr/>
        </p:nvSpPr>
        <p:spPr bwMode="auto">
          <a:xfrm>
            <a:off x="3098755" y="4343176"/>
            <a:ext cx="7572419" cy="497957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称为自状态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出发首次到达</a:t>
            </a:r>
            <a:r>
              <a:rPr lang="en-US" altLang="zh-CN" sz="2400" dirty="0">
                <a:latin typeface="+mn-ea"/>
                <a:ea typeface="+mn-ea"/>
              </a:rPr>
              <a:t>j</a:t>
            </a:r>
            <a:r>
              <a:rPr lang="zh-CN" altLang="en-US" sz="2400" dirty="0"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平均时间</a:t>
            </a:r>
            <a:r>
              <a:rPr lang="en-US" altLang="zh-CN" sz="2400" dirty="0">
                <a:latin typeface="+mn-ea"/>
                <a:ea typeface="+mn-ea"/>
              </a:rPr>
              <a:t>(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平均步数</a:t>
            </a:r>
            <a:r>
              <a:rPr lang="en-US" altLang="zh-CN" sz="2400" dirty="0">
                <a:latin typeface="+mn-ea"/>
                <a:ea typeface="+mn-ea"/>
              </a:rPr>
              <a:t>)</a:t>
            </a:r>
            <a:r>
              <a:rPr lang="zh-CN" altLang="en-US" sz="2400" dirty="0">
                <a:latin typeface="+mn-ea"/>
                <a:ea typeface="+mn-ea"/>
              </a:rPr>
              <a:t>；</a:t>
            </a:r>
          </a:p>
        </p:txBody>
      </p:sp>
      <p:graphicFrame>
        <p:nvGraphicFramePr>
          <p:cNvPr id="281612" name="Object 12"/>
          <p:cNvGraphicFramePr>
            <a:graphicFrameLocks noChangeAspect="1"/>
          </p:cNvGraphicFramePr>
          <p:nvPr/>
        </p:nvGraphicFramePr>
        <p:xfrm>
          <a:off x="430849" y="5405400"/>
          <a:ext cx="3047894" cy="746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65300" imgH="431800" progId="Equation.3">
                  <p:embed/>
                </p:oleObj>
              </mc:Choice>
              <mc:Fallback>
                <p:oleObj name="Equation" r:id="rId4" imgW="1765300" imgH="431800" progId="Equation.3">
                  <p:embed/>
                  <p:pic>
                    <p:nvPicPr>
                      <p:cNvPr id="2816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849" y="5405400"/>
                        <a:ext cx="3047894" cy="746099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3" name="Rectangle 13"/>
          <p:cNvSpPr>
            <a:spLocks noChangeArrowheads="1"/>
          </p:cNvSpPr>
          <p:nvPr/>
        </p:nvSpPr>
        <p:spPr bwMode="auto">
          <a:xfrm>
            <a:off x="3660775" y="5370656"/>
            <a:ext cx="8382000" cy="802338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称为自状态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出发首次到达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平均返回时间</a:t>
            </a:r>
            <a:r>
              <a:rPr lang="en-US" altLang="zh-CN" sz="2400" dirty="0">
                <a:latin typeface="+mn-ea"/>
                <a:ea typeface="+mn-ea"/>
              </a:rPr>
              <a:t>(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平均返回步数</a:t>
            </a:r>
            <a:r>
              <a:rPr lang="en-US" altLang="zh-CN" sz="2400" dirty="0">
                <a:latin typeface="+mn-ea"/>
                <a:ea typeface="+mn-ea"/>
              </a:rPr>
              <a:t>)</a:t>
            </a:r>
            <a:r>
              <a:rPr lang="zh-CN" altLang="en-US" sz="2400" dirty="0">
                <a:latin typeface="+mn-ea"/>
                <a:ea typeface="+mn-ea"/>
              </a:rPr>
              <a:t>；</a:t>
            </a:r>
          </a:p>
        </p:txBody>
      </p:sp>
      <p:graphicFrame>
        <p:nvGraphicFramePr>
          <p:cNvPr id="12" name="Object 9"/>
          <p:cNvGraphicFramePr>
            <a:graphicFrameLocks noChangeAspect="1"/>
          </p:cNvGraphicFramePr>
          <p:nvPr/>
        </p:nvGraphicFramePr>
        <p:xfrm>
          <a:off x="2060575" y="3206776"/>
          <a:ext cx="6353058" cy="765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98900" imgH="469900" progId="Equation.DSMT4">
                  <p:embed/>
                </p:oleObj>
              </mc:Choice>
              <mc:Fallback>
                <p:oleObj name="Equation" r:id="rId6" imgW="3898900" imgH="469900" progId="Equation.DSMT4">
                  <p:embed/>
                  <p:pic>
                    <p:nvPicPr>
                      <p:cNvPr id="1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575" y="3206776"/>
                        <a:ext cx="6353058" cy="765352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1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1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16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8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28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28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8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7" grpId="0" build="p" autoUpdateAnimBg="0"/>
      <p:bldP spid="281610" grpId="0" animBg="1" autoUpdateAnimBg="0"/>
      <p:bldP spid="281613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917575" y="249297"/>
            <a:ext cx="7469329" cy="61609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可达与互通</a:t>
            </a:r>
          </a:p>
        </p:txBody>
      </p:sp>
      <p:sp>
        <p:nvSpPr>
          <p:cNvPr id="259076" name="Rectangle 4"/>
          <p:cNvSpPr>
            <a:spLocks noChangeArrowheads="1"/>
          </p:cNvSpPr>
          <p:nvPr/>
        </p:nvSpPr>
        <p:spPr bwMode="auto">
          <a:xfrm>
            <a:off x="765139" y="1067594"/>
            <a:ext cx="10820436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      </a:t>
            </a:r>
            <a:r>
              <a:rPr lang="zh-CN" altLang="en-US" sz="2400" dirty="0">
                <a:latin typeface="+mn-ea"/>
                <a:ea typeface="+mn-ea"/>
              </a:rPr>
              <a:t>如果存在某一个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≥0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，使得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  <a:sym typeface="Symbol" panose="05050102010706020507" pitchFamily="18" charset="2"/>
              </a:rPr>
              <a:t>ij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(n)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＞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，则称从状态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可到达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状态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，记为</a:t>
            </a:r>
            <a:r>
              <a:rPr lang="en-US" altLang="zh-CN" sz="2400" dirty="0" err="1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i→j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；否则称状态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不能到达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状态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，记为</a:t>
            </a:r>
            <a:r>
              <a:rPr lang="en-US" altLang="zh-CN" sz="2400" dirty="0" err="1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i→j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，此时对一切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，均有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  <a:sym typeface="Symbol" panose="05050102010706020507" pitchFamily="18" charset="2"/>
              </a:rPr>
              <a:t>ij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(n)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59077" name="Line 5"/>
          <p:cNvSpPr>
            <a:spLocks noChangeShapeType="1"/>
          </p:cNvSpPr>
          <p:nvPr/>
        </p:nvSpPr>
        <p:spPr bwMode="auto">
          <a:xfrm>
            <a:off x="6861175" y="1829594"/>
            <a:ext cx="179429" cy="252470"/>
          </a:xfrm>
          <a:prstGeom prst="line">
            <a:avLst/>
          </a:prstGeom>
          <a:noFill/>
          <a:ln w="3175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078" name="Rectangle 6"/>
              <p:cNvSpPr>
                <a:spLocks noChangeArrowheads="1"/>
              </p:cNvSpPr>
              <p:nvPr/>
            </p:nvSpPr>
            <p:spPr bwMode="auto">
              <a:xfrm>
                <a:off x="765139" y="2690787"/>
                <a:ext cx="10450739" cy="2796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buClrTx/>
                  <a:buFontTx/>
                  <a:buNone/>
                </a:pPr>
                <a:r>
                  <a:rPr lang="en-US" altLang="zh-CN" sz="2400" dirty="0">
                    <a:latin typeface="+mn-ea"/>
                    <a:ea typeface="+mn-ea"/>
                  </a:rPr>
                  <a:t>    </a:t>
                </a:r>
                <a:r>
                  <a:rPr lang="zh-CN" altLang="en-US" sz="2400" dirty="0">
                    <a:latin typeface="+mn-ea"/>
                    <a:ea typeface="+mn-ea"/>
                    <a:sym typeface="Symbol" panose="05050102010706020507" pitchFamily="18" charset="2"/>
                  </a:rPr>
                  <a:t>如果</a:t>
                </a:r>
                <a:r>
                  <a:rPr lang="en-US" altLang="zh-CN" sz="2400" dirty="0" err="1">
                    <a:latin typeface="+mn-ea"/>
                    <a:ea typeface="+mn-ea"/>
                    <a:sym typeface="Symbol" panose="05050102010706020507" pitchFamily="18" charset="2"/>
                  </a:rPr>
                  <a:t>i→j</a:t>
                </a:r>
                <a:r>
                  <a:rPr lang="zh-CN" altLang="en-US" sz="2400" dirty="0">
                    <a:latin typeface="+mn-ea"/>
                    <a:ea typeface="+mn-ea"/>
                    <a:sym typeface="Symbol" panose="05050102010706020507" pitchFamily="18" charset="2"/>
                  </a:rPr>
                  <a:t>且</a:t>
                </a:r>
                <a:r>
                  <a:rPr lang="en-US" altLang="zh-CN" sz="2400" dirty="0" err="1">
                    <a:latin typeface="+mn-ea"/>
                    <a:ea typeface="+mn-ea"/>
                    <a:sym typeface="Symbol" panose="05050102010706020507" pitchFamily="18" charset="2"/>
                  </a:rPr>
                  <a:t>j→i</a:t>
                </a:r>
                <a:r>
                  <a:rPr lang="zh-CN" altLang="en-US" sz="2400" dirty="0">
                    <a:latin typeface="+mn-ea"/>
                    <a:ea typeface="+mn-ea"/>
                    <a:sym typeface="Symbol" panose="05050102010706020507" pitchFamily="18" charset="2"/>
                  </a:rPr>
                  <a:t>，则称状态</a:t>
                </a:r>
                <a:r>
                  <a:rPr lang="en-US" altLang="zh-CN" sz="2400" dirty="0" err="1">
                    <a:latin typeface="+mn-ea"/>
                    <a:ea typeface="+mn-ea"/>
                    <a:sym typeface="Symbol" panose="05050102010706020507" pitchFamily="18" charset="2"/>
                  </a:rPr>
                  <a:t>i</a:t>
                </a:r>
                <a:r>
                  <a:rPr lang="zh-CN" altLang="en-US" sz="2400" dirty="0">
                    <a:latin typeface="+mn-ea"/>
                    <a:ea typeface="+mn-ea"/>
                    <a:sym typeface="Symbol" panose="05050102010706020507" pitchFamily="18" charset="2"/>
                  </a:rPr>
                  <a:t>和</a:t>
                </a:r>
                <a:r>
                  <a:rPr lang="en-US" altLang="zh-CN" sz="2400" dirty="0">
                    <a:latin typeface="+mn-ea"/>
                    <a:ea typeface="+mn-ea"/>
                    <a:sym typeface="Symbol" panose="05050102010706020507" pitchFamily="18" charset="2"/>
                  </a:rPr>
                  <a:t>j</a:t>
                </a:r>
                <a:r>
                  <a:rPr lang="zh-CN" altLang="en-US" sz="2400" dirty="0">
                    <a:solidFill>
                      <a:srgbClr val="CC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互通</a:t>
                </a:r>
                <a:r>
                  <a:rPr lang="zh-CN" altLang="en-US" sz="2400" dirty="0">
                    <a:latin typeface="+mn-ea"/>
                    <a:ea typeface="+mn-ea"/>
                    <a:sym typeface="Symbol" panose="05050102010706020507" pitchFamily="18" charset="2"/>
                  </a:rPr>
                  <a:t>，或称</a:t>
                </a:r>
                <a:r>
                  <a:rPr lang="zh-CN" altLang="en-US" sz="2400" dirty="0">
                    <a:solidFill>
                      <a:srgbClr val="CC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相通</a:t>
                </a:r>
                <a:r>
                  <a:rPr lang="zh-CN" altLang="en-US" sz="2400" dirty="0">
                    <a:latin typeface="+mn-ea"/>
                    <a:ea typeface="+mn-ea"/>
                    <a:sym typeface="Symbol" panose="05050102010706020507" pitchFamily="18" charset="2"/>
                  </a:rPr>
                  <a:t>，记为</a:t>
                </a:r>
                <a:r>
                  <a:rPr lang="en-US" altLang="zh-CN" sz="2400" dirty="0" err="1">
                    <a:solidFill>
                      <a:srgbClr val="CC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i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⟷</m:t>
                    </m:r>
                  </m:oMath>
                </a14:m>
                <a:r>
                  <a:rPr lang="en-US" altLang="zh-CN" sz="2400" dirty="0">
                    <a:solidFill>
                      <a:srgbClr val="CC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j</a:t>
                </a:r>
                <a:r>
                  <a:rPr lang="zh-CN" altLang="en-US" sz="2400" dirty="0">
                    <a:latin typeface="+mn-ea"/>
                    <a:ea typeface="+mn-ea"/>
                    <a:sym typeface="Symbol" panose="05050102010706020507" pitchFamily="18" charset="2"/>
                  </a:rPr>
                  <a:t>。</a:t>
                </a:r>
              </a:p>
              <a:p>
                <a:pPr eaLnBrk="1" hangingPunct="1">
                  <a:lnSpc>
                    <a:spcPct val="150000"/>
                  </a:lnSpc>
                  <a:buClrTx/>
                  <a:buFontTx/>
                  <a:buNone/>
                </a:pPr>
                <a:r>
                  <a:rPr lang="zh-CN" altLang="en-US" sz="2400" dirty="0">
                    <a:latin typeface="+mn-ea"/>
                    <a:ea typeface="+mn-ea"/>
                    <a:sym typeface="Symbol" panose="05050102010706020507" pitchFamily="18" charset="2"/>
                  </a:rPr>
                  <a:t>    容易证明，互通关系具有以下三个性质：</a:t>
                </a:r>
              </a:p>
              <a:p>
                <a:pPr lvl="1">
                  <a:lnSpc>
                    <a:spcPct val="150000"/>
                  </a:lnSpc>
                  <a:buClrTx/>
                  <a:buNone/>
                </a:pPr>
                <a:r>
                  <a:rPr lang="zh-CN" altLang="en-US" sz="2400" dirty="0">
                    <a:solidFill>
                      <a:srgbClr val="00FF00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	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(1)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自反性：</a:t>
                </a:r>
                <a:r>
                  <a:rPr lang="en-US" altLang="zh-CN" sz="2400" dirty="0" err="1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i</a:t>
                </a:r>
                <a:r>
                  <a:rPr lang="en-US" altLang="zh-CN" sz="2400" dirty="0">
                    <a:solidFill>
                      <a:srgbClr val="0000CC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⟷ </m:t>
                    </m:r>
                  </m:oMath>
                </a14:m>
                <a:r>
                  <a:rPr lang="en-US" altLang="zh-CN" sz="2400" dirty="0" err="1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i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；</a:t>
                </a:r>
              </a:p>
              <a:p>
                <a:pPr lvl="1">
                  <a:lnSpc>
                    <a:spcPct val="150000"/>
                  </a:lnSpc>
                  <a:buClrTx/>
                  <a:buNone/>
                </a:pPr>
                <a:r>
                  <a:rPr lang="zh-CN" altLang="en-US" sz="2400" dirty="0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	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(2)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对称性：若</a:t>
                </a:r>
                <a:r>
                  <a:rPr lang="en-US" altLang="zh-CN" sz="2400" dirty="0" err="1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i</a:t>
                </a:r>
                <a:r>
                  <a:rPr lang="en-US" altLang="zh-CN" sz="2400" dirty="0">
                    <a:solidFill>
                      <a:srgbClr val="0000CC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⟷ </m:t>
                    </m:r>
                  </m:oMath>
                </a14:m>
                <a:r>
                  <a:rPr lang="en-US" altLang="zh-CN" sz="2400" dirty="0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j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，则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j</a:t>
                </a:r>
                <a:r>
                  <a:rPr lang="en-US" altLang="zh-CN" sz="2400" dirty="0">
                    <a:solidFill>
                      <a:srgbClr val="0000CC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⟷ </m:t>
                    </m:r>
                  </m:oMath>
                </a14:m>
                <a:r>
                  <a:rPr lang="en-US" altLang="zh-CN" sz="2400" dirty="0" err="1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i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；</a:t>
                </a:r>
              </a:p>
              <a:p>
                <a:pPr lvl="1">
                  <a:lnSpc>
                    <a:spcPct val="150000"/>
                  </a:lnSpc>
                  <a:buClrTx/>
                  <a:buNone/>
                </a:pPr>
                <a:r>
                  <a:rPr lang="zh-CN" altLang="en-US" sz="2400" dirty="0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	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(3)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传递性：若</a:t>
                </a:r>
                <a:r>
                  <a:rPr lang="en-US" altLang="zh-CN" sz="2400" dirty="0" err="1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i</a:t>
                </a:r>
                <a:r>
                  <a:rPr lang="en-US" altLang="zh-CN" sz="2400" dirty="0">
                    <a:solidFill>
                      <a:srgbClr val="0000CC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⟷ </m:t>
                    </m:r>
                  </m:oMath>
                </a14:m>
                <a:r>
                  <a:rPr lang="en-US" altLang="zh-CN" sz="2400" dirty="0" err="1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j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且</a:t>
                </a:r>
                <a:r>
                  <a:rPr lang="en-US" altLang="zh-CN" sz="2400" dirty="0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j</a:t>
                </a:r>
                <a:r>
                  <a:rPr lang="en-US" altLang="zh-CN" sz="2400" dirty="0">
                    <a:solidFill>
                      <a:srgbClr val="0000CC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⟷ </m:t>
                    </m:r>
                  </m:oMath>
                </a14:m>
                <a:r>
                  <a:rPr lang="en-US" altLang="zh-CN" sz="2400" dirty="0" err="1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k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，则</a:t>
                </a:r>
                <a:r>
                  <a:rPr lang="en-US" altLang="zh-CN" sz="2400" dirty="0" err="1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i</a:t>
                </a:r>
                <a:r>
                  <a:rPr lang="en-US" altLang="zh-CN" sz="2400" dirty="0">
                    <a:solidFill>
                      <a:srgbClr val="0000CC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⟷ </m:t>
                    </m:r>
                  </m:oMath>
                </a14:m>
                <a:r>
                  <a:rPr lang="en-US" altLang="zh-CN" sz="2400" dirty="0" err="1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k</a:t>
                </a:r>
                <a:r>
                  <a:rPr lang="zh-CN" altLang="en-US" sz="2400" dirty="0">
                    <a:solidFill>
                      <a:srgbClr val="00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。</a:t>
                </a:r>
              </a:p>
            </p:txBody>
          </p:sp>
        </mc:Choice>
        <mc:Fallback xmlns="">
          <p:sp>
            <p:nvSpPr>
              <p:cNvPr id="259078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5139" y="2690787"/>
                <a:ext cx="10450739" cy="2796407"/>
              </a:xfrm>
              <a:prstGeom prst="rect">
                <a:avLst/>
              </a:prstGeom>
              <a:blipFill>
                <a:blip r:embed="rId2"/>
                <a:stretch>
                  <a:fillRect b="-40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59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59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59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259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2590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590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6" grpId="0" build="p" autoUpdateAnimBg="0"/>
      <p:bldP spid="259078" grpId="0" build="p" bldLvl="2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定理</a:t>
            </a:r>
            <a:r>
              <a:rPr lang="en-US" altLang="zh-CN"/>
              <a:t>1  </a:t>
            </a:r>
            <a:r>
              <a:rPr lang="zh-CN" altLang="en-US"/>
              <a:t>首达分解定理</a:t>
            </a:r>
            <a:endParaRPr lang="en-US" altLang="zh-CN"/>
          </a:p>
        </p:txBody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6175" y="955780"/>
            <a:ext cx="7886884" cy="704402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对任意</a:t>
            </a:r>
            <a:r>
              <a:rPr lang="en-US" altLang="zh-CN" dirty="0" err="1">
                <a:solidFill>
                  <a:srgbClr val="0000FF"/>
                </a:solidFill>
              </a:rPr>
              <a:t>i</a:t>
            </a:r>
            <a:r>
              <a:rPr lang="en-US" altLang="zh-CN" dirty="0">
                <a:solidFill>
                  <a:srgbClr val="0000FF"/>
                </a:solidFill>
              </a:rPr>
              <a:t>, </a:t>
            </a:r>
            <a:r>
              <a:rPr lang="en-US" altLang="zh-CN" dirty="0" err="1">
                <a:solidFill>
                  <a:srgbClr val="0000FF"/>
                </a:solidFill>
              </a:rPr>
              <a:t>j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E</a:t>
            </a:r>
            <a:r>
              <a:rPr lang="zh-CN" altLang="en-US" dirty="0">
                <a:solidFill>
                  <a:srgbClr val="0000FF"/>
                </a:solidFill>
              </a:rPr>
              <a:t>及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n1</a:t>
            </a:r>
            <a:r>
              <a:rPr lang="zh-CN" altLang="en-US" dirty="0">
                <a:solidFill>
                  <a:srgbClr val="0000FF"/>
                </a:solidFill>
              </a:rPr>
              <a:t>，有</a:t>
            </a:r>
          </a:p>
        </p:txBody>
      </p:sp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4522633" y="877115"/>
          <a:ext cx="3391264" cy="852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51240" imgH="787320" progId="Equation.3">
                  <p:embed/>
                </p:oleObj>
              </mc:Choice>
              <mc:Fallback>
                <p:oleObj name="Equation" r:id="rId2" imgW="3351240" imgH="787320" progId="Equation.3">
                  <p:embed/>
                  <p:pic>
                    <p:nvPicPr>
                      <p:cNvPr id="2611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2633" y="877115"/>
                        <a:ext cx="3391264" cy="852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25" name="Rectangle 5"/>
          <p:cNvSpPr>
            <a:spLocks noChangeArrowheads="1"/>
          </p:cNvSpPr>
          <p:nvPr/>
        </p:nvSpPr>
        <p:spPr bwMode="auto">
          <a:xfrm>
            <a:off x="1326734" y="1858242"/>
            <a:ext cx="72811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证明</a:t>
            </a:r>
            <a:r>
              <a:rPr lang="zh-CN" altLang="en-US" sz="2400" dirty="0">
                <a:latin typeface="+mn-ea"/>
                <a:ea typeface="+mn-ea"/>
              </a:rPr>
              <a:t>  设系统从状态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出发经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步到达状态</a:t>
            </a:r>
            <a:r>
              <a:rPr lang="en-US" altLang="zh-CN" sz="2400" dirty="0">
                <a:latin typeface="+mn-ea"/>
                <a:ea typeface="+mn-ea"/>
              </a:rPr>
              <a:t>j</a:t>
            </a:r>
            <a:r>
              <a:rPr lang="zh-CN" altLang="en-US" sz="2400" dirty="0">
                <a:latin typeface="+mn-ea"/>
                <a:ea typeface="+mn-ea"/>
              </a:rPr>
              <a:t>，则</a:t>
            </a:r>
            <a:r>
              <a:rPr lang="en-US" altLang="zh-CN" sz="2400" dirty="0" err="1">
                <a:latin typeface="+mn-ea"/>
                <a:ea typeface="+mn-ea"/>
              </a:rPr>
              <a:t>T</a:t>
            </a:r>
            <a:r>
              <a:rPr lang="en-US" altLang="zh-CN" sz="2400" baseline="-25000" dirty="0" err="1">
                <a:latin typeface="+mn-ea"/>
                <a:ea typeface="+mn-ea"/>
              </a:rPr>
              <a:t>ij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</a:t>
            </a:r>
            <a:r>
              <a:rPr lang="en-US" altLang="zh-CN" sz="2400" dirty="0" err="1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</a:p>
        </p:txBody>
      </p:sp>
      <p:sp>
        <p:nvSpPr>
          <p:cNvPr id="261126" name="Rectangle 6"/>
          <p:cNvSpPr>
            <a:spLocks noChangeArrowheads="1"/>
          </p:cNvSpPr>
          <p:nvPr/>
        </p:nvSpPr>
        <p:spPr bwMode="auto">
          <a:xfrm>
            <a:off x="1409866" y="2582672"/>
            <a:ext cx="3488545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 dirty="0" err="1"/>
              <a:t>p</a:t>
            </a:r>
            <a:r>
              <a:rPr lang="en-US" altLang="zh-CN" sz="2400" baseline="-25000" dirty="0" err="1"/>
              <a:t>ij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n)</a:t>
            </a:r>
            <a:r>
              <a:rPr lang="zh-CN" altLang="en-US" sz="2400" dirty="0"/>
              <a:t>＝</a:t>
            </a:r>
            <a:r>
              <a:rPr lang="en-US" altLang="zh-CN" sz="2400" dirty="0"/>
              <a:t>P{X(n)</a:t>
            </a:r>
            <a:r>
              <a:rPr lang="zh-CN" altLang="en-US" sz="2400" dirty="0"/>
              <a:t>＝</a:t>
            </a:r>
            <a:r>
              <a:rPr lang="en-US" altLang="zh-CN" sz="2400" dirty="0" err="1"/>
              <a:t>j|X</a:t>
            </a:r>
            <a:r>
              <a:rPr lang="en-US" altLang="zh-CN" sz="2400" dirty="0"/>
              <a:t>(0)=</a:t>
            </a:r>
            <a:r>
              <a:rPr lang="en-US" altLang="zh-CN" sz="2400" dirty="0" err="1"/>
              <a:t>i</a:t>
            </a:r>
            <a:r>
              <a:rPr lang="en-US" altLang="zh-CN" sz="2400" dirty="0"/>
              <a:t>}</a:t>
            </a:r>
          </a:p>
        </p:txBody>
      </p:sp>
      <p:graphicFrame>
        <p:nvGraphicFramePr>
          <p:cNvPr id="261127" name="Object 7"/>
          <p:cNvGraphicFramePr>
            <a:graphicFrameLocks noChangeAspect="1"/>
          </p:cNvGraphicFramePr>
          <p:nvPr/>
        </p:nvGraphicFramePr>
        <p:xfrm>
          <a:off x="4858715" y="2487400"/>
          <a:ext cx="3737840" cy="64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97100" imgH="381000" progId="Equation.3">
                  <p:embed/>
                </p:oleObj>
              </mc:Choice>
              <mc:Fallback>
                <p:oleObj name="Equation" r:id="rId4" imgW="2197100" imgH="381000" progId="Equation.3">
                  <p:embed/>
                  <p:pic>
                    <p:nvPicPr>
                      <p:cNvPr id="2611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8715" y="2487400"/>
                        <a:ext cx="3737840" cy="64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8" name="Object 8"/>
          <p:cNvGraphicFramePr>
            <a:graphicFrameLocks noChangeAspect="1"/>
          </p:cNvGraphicFramePr>
          <p:nvPr/>
        </p:nvGraphicFramePr>
        <p:xfrm>
          <a:off x="2270490" y="2960585"/>
          <a:ext cx="3563175" cy="733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95500" imgH="431800" progId="Equation.3">
                  <p:embed/>
                </p:oleObj>
              </mc:Choice>
              <mc:Fallback>
                <p:oleObj name="Equation" r:id="rId6" imgW="2095500" imgH="431800" progId="Equation.3">
                  <p:embed/>
                  <p:pic>
                    <p:nvPicPr>
                      <p:cNvPr id="2611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490" y="2960585"/>
                        <a:ext cx="3563175" cy="733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9" name="Object 9"/>
          <p:cNvGraphicFramePr>
            <a:graphicFrameLocks noChangeAspect="1"/>
          </p:cNvGraphicFramePr>
          <p:nvPr/>
        </p:nvGraphicFramePr>
        <p:xfrm>
          <a:off x="2270491" y="3613198"/>
          <a:ext cx="5702033" cy="733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52800" imgH="431800" progId="Equation.3">
                  <p:embed/>
                </p:oleObj>
              </mc:Choice>
              <mc:Fallback>
                <p:oleObj name="Equation" r:id="rId8" imgW="3352800" imgH="431800" progId="Equation.3">
                  <p:embed/>
                  <p:pic>
                    <p:nvPicPr>
                      <p:cNvPr id="2611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491" y="3613198"/>
                        <a:ext cx="5702033" cy="733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0" name="Object 10"/>
          <p:cNvGraphicFramePr>
            <a:graphicFrameLocks noChangeAspect="1"/>
          </p:cNvGraphicFramePr>
          <p:nvPr/>
        </p:nvGraphicFramePr>
        <p:xfrm>
          <a:off x="2270490" y="4264223"/>
          <a:ext cx="4816003" cy="733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32100" imgH="431800" progId="Equation.3">
                  <p:embed/>
                </p:oleObj>
              </mc:Choice>
              <mc:Fallback>
                <p:oleObj name="Equation" r:id="rId10" imgW="2832100" imgH="431800" progId="Equation.3">
                  <p:embed/>
                  <p:pic>
                    <p:nvPicPr>
                      <p:cNvPr id="2611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490" y="4264223"/>
                        <a:ext cx="4816003" cy="733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1" name="Object 11"/>
          <p:cNvGraphicFramePr>
            <a:graphicFrameLocks noChangeAspect="1"/>
          </p:cNvGraphicFramePr>
          <p:nvPr/>
        </p:nvGraphicFramePr>
        <p:xfrm>
          <a:off x="7107811" y="4465424"/>
          <a:ext cx="4752487" cy="34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4000" imgH="203200" progId="Equation.3">
                  <p:embed/>
                </p:oleObj>
              </mc:Choice>
              <mc:Fallback>
                <p:oleObj name="Equation" r:id="rId12" imgW="2794000" imgH="203200" progId="Equation.3">
                  <p:embed/>
                  <p:pic>
                    <p:nvPicPr>
                      <p:cNvPr id="26113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7811" y="4465424"/>
                        <a:ext cx="4752487" cy="3461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2" name="Object 12"/>
          <p:cNvGraphicFramePr>
            <a:graphicFrameLocks noChangeAspect="1"/>
          </p:cNvGraphicFramePr>
          <p:nvPr/>
        </p:nvGraphicFramePr>
        <p:xfrm>
          <a:off x="2270490" y="5048630"/>
          <a:ext cx="4946208" cy="733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908300" imgH="431800" progId="Equation.3">
                  <p:embed/>
                </p:oleObj>
              </mc:Choice>
              <mc:Fallback>
                <p:oleObj name="Equation" r:id="rId14" imgW="2908300" imgH="431800" progId="Equation.3">
                  <p:embed/>
                  <p:pic>
                    <p:nvPicPr>
                      <p:cNvPr id="26113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490" y="5048630"/>
                        <a:ext cx="4946208" cy="733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3" name="Object 13"/>
          <p:cNvGraphicFramePr>
            <a:graphicFrameLocks noChangeAspect="1"/>
          </p:cNvGraphicFramePr>
          <p:nvPr/>
        </p:nvGraphicFramePr>
        <p:xfrm>
          <a:off x="2270490" y="5833037"/>
          <a:ext cx="2267475" cy="733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33500" imgH="431800" progId="Equation.3">
                  <p:embed/>
                </p:oleObj>
              </mc:Choice>
              <mc:Fallback>
                <p:oleObj name="Equation" r:id="rId16" imgW="1333500" imgH="431800" progId="Equation.3">
                  <p:embed/>
                  <p:pic>
                    <p:nvPicPr>
                      <p:cNvPr id="26113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490" y="5833037"/>
                        <a:ext cx="2267475" cy="733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3" grpId="0" build="p"/>
      <p:bldP spid="261125" grpId="0" autoUpdateAnimBg="0"/>
      <p:bldP spid="26112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定理</a:t>
            </a:r>
            <a:r>
              <a:rPr lang="en-US" altLang="zh-CN"/>
              <a:t>2</a:t>
            </a:r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4775" y="883604"/>
            <a:ext cx="7088240" cy="584335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err="1">
                <a:solidFill>
                  <a:srgbClr val="CC00CC"/>
                </a:solidFill>
              </a:rPr>
              <a:t>f</a:t>
            </a:r>
            <a:r>
              <a:rPr lang="en-US" altLang="zh-CN" baseline="-25000" dirty="0" err="1">
                <a:solidFill>
                  <a:srgbClr val="CC00CC"/>
                </a:solidFill>
              </a:rPr>
              <a:t>ij</a:t>
            </a:r>
            <a:r>
              <a:rPr lang="zh-CN" altLang="en-US" dirty="0">
                <a:solidFill>
                  <a:srgbClr val="CC00CC"/>
                </a:solidFill>
              </a:rPr>
              <a:t>＞</a:t>
            </a:r>
            <a:r>
              <a:rPr lang="en-US" altLang="zh-CN" dirty="0">
                <a:solidFill>
                  <a:srgbClr val="CC00CC"/>
                </a:solidFill>
              </a:rPr>
              <a:t>0</a:t>
            </a: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en-US" altLang="zh-CN" dirty="0" err="1">
                <a:solidFill>
                  <a:srgbClr val="CC00CC"/>
                </a:solidFill>
                <a:sym typeface="Symbol" panose="05050102010706020507" pitchFamily="18" charset="2"/>
              </a:rPr>
              <a:t>i→j</a:t>
            </a:r>
            <a:endParaRPr lang="en-US" altLang="zh-CN" dirty="0">
              <a:solidFill>
                <a:srgbClr val="CC00CC"/>
              </a:solidFill>
              <a:sym typeface="Symbol" panose="05050102010706020507" pitchFamily="18" charset="2"/>
            </a:endParaRPr>
          </a:p>
        </p:txBody>
      </p:sp>
      <p:sp>
        <p:nvSpPr>
          <p:cNvPr id="262148" name="Rectangle 4"/>
          <p:cNvSpPr>
            <a:spLocks noChangeArrowheads="1"/>
          </p:cNvSpPr>
          <p:nvPr/>
        </p:nvSpPr>
        <p:spPr bwMode="auto">
          <a:xfrm>
            <a:off x="1450975" y="1731481"/>
            <a:ext cx="9448800" cy="1033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60000"/>
              </a:spcAft>
              <a:buClrTx/>
              <a:buFontTx/>
              <a:buNone/>
            </a:pPr>
            <a:r>
              <a:rPr lang="zh-CN" altLang="en-US" sz="2400" dirty="0">
                <a:solidFill>
                  <a:srgbClr val="CC00CC"/>
                </a:solidFill>
              </a:rPr>
              <a:t>证明</a:t>
            </a:r>
            <a:r>
              <a:rPr lang="zh-CN" altLang="en-US" sz="2400" dirty="0"/>
              <a:t>  </a:t>
            </a:r>
            <a:r>
              <a:rPr lang="zh-CN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solidFill>
                  <a:srgbClr val="0000FF"/>
                </a:solidFill>
                <a:sym typeface="Symbol" panose="05050102010706020507" pitchFamily="18" charset="2"/>
              </a:rPr>
              <a:t>)  </a:t>
            </a:r>
            <a:r>
              <a:rPr lang="zh-CN" altLang="en-US" sz="2400" dirty="0"/>
              <a:t>设</a:t>
            </a:r>
            <a:r>
              <a:rPr lang="en-US" altLang="zh-CN" sz="2400" dirty="0" err="1"/>
              <a:t>f</a:t>
            </a:r>
            <a:r>
              <a:rPr lang="en-US" altLang="zh-CN" sz="2400" baseline="-25000" dirty="0" err="1"/>
              <a:t>ij</a:t>
            </a:r>
            <a:r>
              <a:rPr lang="zh-CN" altLang="en-US" sz="2400" dirty="0"/>
              <a:t>＞</a:t>
            </a:r>
            <a:r>
              <a:rPr lang="en-US" altLang="zh-CN" sz="2400" dirty="0"/>
              <a:t>0</a:t>
            </a:r>
            <a:r>
              <a:rPr lang="zh-CN" altLang="en-US" sz="2400" dirty="0"/>
              <a:t>，因为                        ，所以至少有</a:t>
            </a:r>
          </a:p>
          <a:p>
            <a:pPr eaLnBrk="1" hangingPunct="1">
              <a:lnSpc>
                <a:spcPct val="100000"/>
              </a:lnSpc>
              <a:spcAft>
                <a:spcPct val="60000"/>
              </a:spcAft>
              <a:buClrTx/>
              <a:buFontTx/>
              <a:buNone/>
            </a:pPr>
            <a:r>
              <a:rPr lang="zh-CN" altLang="en-US" sz="2400" dirty="0"/>
              <a:t>一个</a:t>
            </a:r>
            <a:r>
              <a:rPr lang="en-US" altLang="zh-CN" sz="2400" dirty="0"/>
              <a:t>n</a:t>
            </a:r>
            <a:r>
              <a:rPr lang="en-US" altLang="zh-CN" sz="2400" dirty="0">
                <a:sym typeface="Symbol" panose="05050102010706020507" pitchFamily="18" charset="2"/>
              </a:rPr>
              <a:t>≥</a:t>
            </a:r>
            <a:r>
              <a:rPr lang="en-US" altLang="zh-CN" sz="2400" dirty="0"/>
              <a:t>1</a:t>
            </a:r>
            <a:r>
              <a:rPr lang="zh-CN" altLang="en-US" sz="2400" dirty="0"/>
              <a:t>，使得</a:t>
            </a:r>
            <a:r>
              <a:rPr lang="en-US" altLang="zh-CN" sz="2400" dirty="0" err="1"/>
              <a:t>f</a:t>
            </a:r>
            <a:r>
              <a:rPr lang="en-US" altLang="zh-CN" sz="2400" baseline="-25000" dirty="0" err="1"/>
              <a:t>ij</a:t>
            </a:r>
            <a:r>
              <a:rPr lang="en-US" altLang="zh-CN" sz="2400" dirty="0"/>
              <a:t>(n)</a:t>
            </a:r>
            <a:r>
              <a:rPr lang="zh-CN" altLang="en-US" sz="2400" dirty="0"/>
              <a:t>＞</a:t>
            </a:r>
            <a:r>
              <a:rPr lang="en-US" altLang="zh-CN" sz="2400" dirty="0"/>
              <a:t>0</a:t>
            </a:r>
            <a:r>
              <a:rPr lang="zh-CN" altLang="en-US" sz="2400" dirty="0"/>
              <a:t>，由定理</a:t>
            </a:r>
            <a:r>
              <a:rPr lang="en-US" altLang="zh-CN" sz="2400" dirty="0"/>
              <a:t>1</a:t>
            </a:r>
            <a:r>
              <a:rPr lang="zh-CN" altLang="en-US" sz="2400" dirty="0"/>
              <a:t>得</a:t>
            </a:r>
          </a:p>
        </p:txBody>
      </p:sp>
      <p:graphicFrame>
        <p:nvGraphicFramePr>
          <p:cNvPr id="262149" name="Object 5"/>
          <p:cNvGraphicFramePr>
            <a:graphicFrameLocks noChangeAspect="1"/>
          </p:cNvGraphicFramePr>
          <p:nvPr/>
        </p:nvGraphicFramePr>
        <p:xfrm>
          <a:off x="4745264" y="1519570"/>
          <a:ext cx="1753006" cy="91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500" imgH="431800" progId="Equation.3">
                  <p:embed/>
                </p:oleObj>
              </mc:Choice>
              <mc:Fallback>
                <p:oleObj name="Equation" r:id="rId2" imgW="825500" imgH="431800" progId="Equation.3">
                  <p:embed/>
                  <p:pic>
                    <p:nvPicPr>
                      <p:cNvPr id="2621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5264" y="1519570"/>
                        <a:ext cx="1753006" cy="91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150" name="Object 6"/>
          <p:cNvGraphicFramePr>
            <a:graphicFrameLocks noChangeAspect="1"/>
          </p:cNvGraphicFramePr>
          <p:nvPr/>
        </p:nvGraphicFramePr>
        <p:xfrm>
          <a:off x="2781449" y="2752346"/>
          <a:ext cx="6295894" cy="841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25800" imgH="431800" progId="Equation.3">
                  <p:embed/>
                </p:oleObj>
              </mc:Choice>
              <mc:Fallback>
                <p:oleObj name="Equation" r:id="rId4" imgW="3225800" imgH="431800" progId="Equation.3">
                  <p:embed/>
                  <p:pic>
                    <p:nvPicPr>
                      <p:cNvPr id="2621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449" y="2752346"/>
                        <a:ext cx="6295894" cy="841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51" name="Rectangle 7"/>
          <p:cNvSpPr>
            <a:spLocks noChangeArrowheads="1"/>
          </p:cNvSpPr>
          <p:nvPr/>
        </p:nvSpPr>
        <p:spPr bwMode="auto">
          <a:xfrm>
            <a:off x="1527175" y="3429794"/>
            <a:ext cx="25085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故</a:t>
            </a:r>
            <a:r>
              <a:rPr lang="en-US" altLang="zh-CN" sz="2400" dirty="0" err="1">
                <a:sym typeface="Symbol" panose="05050102010706020507" pitchFamily="18" charset="2"/>
              </a:rPr>
              <a:t>i→j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62152" name="Rectangle 8"/>
          <p:cNvSpPr>
            <a:spLocks noChangeArrowheads="1"/>
          </p:cNvSpPr>
          <p:nvPr/>
        </p:nvSpPr>
        <p:spPr bwMode="auto">
          <a:xfrm>
            <a:off x="1472293" y="4090160"/>
            <a:ext cx="7124762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sym typeface="Symbol" panose="05050102010706020507" pitchFamily="18" charset="2"/>
              </a:rPr>
              <a:t>)</a:t>
            </a:r>
            <a:r>
              <a:rPr lang="en-US" altLang="zh-CN" sz="2400" dirty="0"/>
              <a:t>  </a:t>
            </a:r>
            <a:r>
              <a:rPr lang="zh-CN" altLang="en-US" sz="2400" dirty="0"/>
              <a:t>设</a:t>
            </a:r>
            <a:r>
              <a:rPr lang="en-US" altLang="zh-CN" sz="2400" dirty="0" err="1">
                <a:sym typeface="Symbol" panose="05050102010706020507" pitchFamily="18" charset="2"/>
              </a:rPr>
              <a:t>i→j</a:t>
            </a:r>
            <a:r>
              <a:rPr lang="zh-CN" altLang="en-US" sz="2400" dirty="0">
                <a:sym typeface="Symbol" panose="05050102010706020507" pitchFamily="18" charset="2"/>
              </a:rPr>
              <a:t>，则存在</a:t>
            </a:r>
            <a:r>
              <a:rPr lang="en-US" altLang="zh-CN" sz="2400" dirty="0"/>
              <a:t>n</a:t>
            </a:r>
            <a:r>
              <a:rPr lang="en-US" altLang="zh-CN" sz="2400" dirty="0">
                <a:sym typeface="Symbol" panose="05050102010706020507" pitchFamily="18" charset="2"/>
              </a:rPr>
              <a:t>≥</a:t>
            </a:r>
            <a:r>
              <a:rPr lang="en-US" altLang="zh-CN" sz="2400" dirty="0"/>
              <a:t>1</a:t>
            </a:r>
            <a:r>
              <a:rPr lang="zh-CN" altLang="en-US" sz="2400" dirty="0"/>
              <a:t>，使得</a:t>
            </a:r>
            <a:r>
              <a:rPr lang="en-US" altLang="zh-CN" sz="2400" dirty="0" err="1"/>
              <a:t>p</a:t>
            </a:r>
            <a:r>
              <a:rPr lang="en-US" altLang="zh-CN" sz="2400" baseline="-25000" dirty="0" err="1"/>
              <a:t>ij</a:t>
            </a:r>
            <a:r>
              <a:rPr lang="en-US" altLang="zh-CN" sz="2400" dirty="0"/>
              <a:t>(n)</a:t>
            </a:r>
            <a:r>
              <a:rPr lang="zh-CN" altLang="en-US" sz="2400" dirty="0"/>
              <a:t>＞</a:t>
            </a:r>
            <a:r>
              <a:rPr lang="en-US" altLang="zh-CN" sz="2400" dirty="0"/>
              <a:t>0</a:t>
            </a:r>
            <a:r>
              <a:rPr lang="zh-CN" altLang="en-US" sz="2400" dirty="0"/>
              <a:t>，由定理</a:t>
            </a:r>
            <a:r>
              <a:rPr lang="en-US" altLang="zh-CN" sz="2400" dirty="0"/>
              <a:t>1</a:t>
            </a:r>
            <a:r>
              <a:rPr lang="zh-CN" altLang="en-US" sz="2400" dirty="0"/>
              <a:t>得</a:t>
            </a:r>
          </a:p>
        </p:txBody>
      </p:sp>
      <p:graphicFrame>
        <p:nvGraphicFramePr>
          <p:cNvPr id="262153" name="Object 9"/>
          <p:cNvGraphicFramePr>
            <a:graphicFrameLocks noChangeAspect="1"/>
          </p:cNvGraphicFramePr>
          <p:nvPr/>
        </p:nvGraphicFramePr>
        <p:xfrm>
          <a:off x="3584575" y="4548014"/>
          <a:ext cx="3866457" cy="841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200" imgH="431800" progId="Equation.DSMT4">
                  <p:embed/>
                </p:oleObj>
              </mc:Choice>
              <mc:Fallback>
                <p:oleObj name="Equation" r:id="rId6" imgW="1981200" imgH="431800" progId="Equation.DSMT4">
                  <p:embed/>
                  <p:pic>
                    <p:nvPicPr>
                      <p:cNvPr id="2621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575" y="4548014"/>
                        <a:ext cx="3866457" cy="841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54" name="Rectangle 10"/>
          <p:cNvSpPr>
            <a:spLocks noChangeArrowheads="1"/>
          </p:cNvSpPr>
          <p:nvPr/>
        </p:nvSpPr>
        <p:spPr bwMode="auto">
          <a:xfrm>
            <a:off x="1975228" y="5456349"/>
            <a:ext cx="6913575" cy="46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/>
              <a:t>从而</a:t>
            </a:r>
            <a:r>
              <a:rPr lang="en-US" altLang="zh-CN" sz="2400" dirty="0" err="1"/>
              <a:t>f</a:t>
            </a:r>
            <a:r>
              <a:rPr lang="en-US" altLang="zh-CN" sz="2400" baseline="-25000" dirty="0" err="1"/>
              <a:t>ij</a:t>
            </a:r>
            <a:r>
              <a:rPr lang="en-US" altLang="zh-CN" sz="2400" dirty="0"/>
              <a:t>(1), </a:t>
            </a:r>
            <a:r>
              <a:rPr lang="en-US" altLang="zh-CN" sz="2400" dirty="0" err="1"/>
              <a:t>f</a:t>
            </a:r>
            <a:r>
              <a:rPr lang="en-US" altLang="zh-CN" sz="2400" baseline="-25000" dirty="0" err="1"/>
              <a:t>ij</a:t>
            </a:r>
            <a:r>
              <a:rPr lang="en-US" altLang="zh-CN" sz="2400" dirty="0"/>
              <a:t>(2), …, </a:t>
            </a:r>
            <a:r>
              <a:rPr lang="en-US" altLang="zh-CN" sz="2400" dirty="0" err="1"/>
              <a:t>f</a:t>
            </a:r>
            <a:r>
              <a:rPr lang="en-US" altLang="zh-CN" sz="2400" baseline="-25000" dirty="0" err="1"/>
              <a:t>ij</a:t>
            </a:r>
            <a:r>
              <a:rPr lang="en-US" altLang="zh-CN" sz="2400" dirty="0"/>
              <a:t>(n)</a:t>
            </a:r>
            <a:r>
              <a:rPr lang="zh-CN" altLang="en-US" sz="2400" dirty="0"/>
              <a:t>中至少有一个大于</a:t>
            </a:r>
            <a:r>
              <a:rPr lang="en-US" altLang="zh-CN" sz="2400" dirty="0"/>
              <a:t>0</a:t>
            </a:r>
            <a:r>
              <a:rPr lang="zh-CN" altLang="en-US" sz="2400" dirty="0"/>
              <a:t>，所以</a:t>
            </a:r>
          </a:p>
        </p:txBody>
      </p:sp>
      <p:graphicFrame>
        <p:nvGraphicFramePr>
          <p:cNvPr id="262155" name="Object 11"/>
          <p:cNvGraphicFramePr>
            <a:graphicFrameLocks noChangeAspect="1"/>
          </p:cNvGraphicFramePr>
          <p:nvPr/>
        </p:nvGraphicFramePr>
        <p:xfrm>
          <a:off x="4365763" y="5958635"/>
          <a:ext cx="2132507" cy="841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726" imgH="431613" progId="Equation.3">
                  <p:embed/>
                </p:oleObj>
              </mc:Choice>
              <mc:Fallback>
                <p:oleObj name="Equation" r:id="rId8" imgW="1091726" imgH="431613" progId="Equation.3">
                  <p:embed/>
                  <p:pic>
                    <p:nvPicPr>
                      <p:cNvPr id="26215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763" y="5958635"/>
                        <a:ext cx="2132507" cy="841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7" grpId="0" build="p"/>
      <p:bldP spid="262148" grpId="0" autoUpdateAnimBg="0"/>
      <p:bldP spid="262151" grpId="0" autoUpdateAnimBg="0"/>
      <p:bldP spid="262152" grpId="0" autoUpdateAnimBg="0"/>
      <p:bldP spid="26215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dirty="0"/>
              <a:t>推论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16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722139" y="1341749"/>
                <a:ext cx="5286010" cy="989241"/>
              </a:xfrm>
            </p:spPr>
            <p:txBody>
              <a:bodyPr/>
              <a:lstStyle/>
              <a:p>
                <a:pPr>
                  <a:buNone/>
                </a:pPr>
                <a:r>
                  <a:rPr lang="en-US" altLang="zh-CN" dirty="0" err="1">
                    <a:solidFill>
                      <a:srgbClr val="CC00CC"/>
                    </a:solidFill>
                    <a:sym typeface="Symbol" panose="05050102010706020507" pitchFamily="18" charset="2"/>
                  </a:rPr>
                  <a:t>i</a:t>
                </a:r>
                <a:r>
                  <a:rPr lang="en-US" altLang="zh-CN" dirty="0">
                    <a:solidFill>
                      <a:srgbClr val="CC00CC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⟷ </m:t>
                    </m:r>
                  </m:oMath>
                </a14:m>
                <a:r>
                  <a:rPr lang="en-US" altLang="zh-CN" dirty="0" err="1">
                    <a:solidFill>
                      <a:srgbClr val="CC00CC"/>
                    </a:solidFill>
                    <a:sym typeface="Symbol" panose="05050102010706020507" pitchFamily="18" charset="2"/>
                  </a:rPr>
                  <a:t>j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 </a:t>
                </a:r>
                <a:r>
                  <a:rPr lang="en-US" altLang="zh-CN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  </a:t>
                </a:r>
                <a:r>
                  <a:rPr lang="en-US" altLang="zh-CN" dirty="0" err="1">
                    <a:solidFill>
                      <a:srgbClr val="CC00CC"/>
                    </a:solidFill>
                  </a:rPr>
                  <a:t>f</a:t>
                </a:r>
                <a:r>
                  <a:rPr lang="en-US" altLang="zh-CN" baseline="-25000" dirty="0" err="1">
                    <a:solidFill>
                      <a:srgbClr val="CC00CC"/>
                    </a:solidFill>
                  </a:rPr>
                  <a:t>ij</a:t>
                </a:r>
                <a:r>
                  <a:rPr lang="zh-CN" altLang="en-US" dirty="0">
                    <a:solidFill>
                      <a:srgbClr val="CC00CC"/>
                    </a:solidFill>
                  </a:rPr>
                  <a:t>＞</a:t>
                </a:r>
                <a:r>
                  <a:rPr lang="en-US" altLang="zh-CN" dirty="0">
                    <a:solidFill>
                      <a:srgbClr val="CC00CC"/>
                    </a:solidFill>
                  </a:rPr>
                  <a:t>0</a:t>
                </a:r>
                <a:r>
                  <a:rPr lang="zh-CN" altLang="en-US" dirty="0">
                    <a:solidFill>
                      <a:srgbClr val="CC00CC"/>
                    </a:solidFill>
                  </a:rPr>
                  <a:t>且</a:t>
                </a:r>
                <a:r>
                  <a:rPr lang="en-US" altLang="zh-CN" dirty="0" err="1">
                    <a:solidFill>
                      <a:srgbClr val="CC00CC"/>
                    </a:solidFill>
                  </a:rPr>
                  <a:t>f</a:t>
                </a:r>
                <a:r>
                  <a:rPr lang="en-US" altLang="zh-CN" baseline="-25000" dirty="0" err="1">
                    <a:solidFill>
                      <a:srgbClr val="CC00CC"/>
                    </a:solidFill>
                  </a:rPr>
                  <a:t>ji</a:t>
                </a:r>
                <a:r>
                  <a:rPr lang="zh-CN" altLang="en-US" dirty="0">
                    <a:solidFill>
                      <a:srgbClr val="CC00CC"/>
                    </a:solidFill>
                  </a:rPr>
                  <a:t>＞</a:t>
                </a:r>
                <a:r>
                  <a:rPr lang="en-US" altLang="zh-CN" dirty="0">
                    <a:solidFill>
                      <a:srgbClr val="CC00CC"/>
                    </a:solidFill>
                  </a:rPr>
                  <a:t>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7" name="内容占位符 1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2139" y="1341749"/>
                <a:ext cx="5286010" cy="989241"/>
              </a:xfrm>
              <a:blipFill>
                <a:blip r:embed="rId2"/>
                <a:stretch>
                  <a:fillRect l="-11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 tmFilter="0,0; .5, 1; 1, 1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80" name="Rectangle 12"/>
          <p:cNvSpPr>
            <a:spLocks noChangeArrowheads="1"/>
          </p:cNvSpPr>
          <p:nvPr/>
        </p:nvSpPr>
        <p:spPr bwMode="auto">
          <a:xfrm>
            <a:off x="1778852" y="3915021"/>
            <a:ext cx="7850417" cy="567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80000"/>
              </a:lnSpc>
              <a:buClr>
                <a:srgbClr val="CC00CC"/>
              </a:buClr>
              <a:buFont typeface="Wingdings" panose="05000000000000000000" pitchFamily="2" charset="2"/>
              <a:buAutoNum type="arabicParenR" startAt="2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状态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非常返的充分必要条件是                       ；</a:t>
            </a:r>
          </a:p>
        </p:txBody>
      </p:sp>
      <p:sp>
        <p:nvSpPr>
          <p:cNvPr id="263179" name="Rectangle 11"/>
          <p:cNvSpPr>
            <a:spLocks noChangeArrowheads="1"/>
          </p:cNvSpPr>
          <p:nvPr/>
        </p:nvSpPr>
        <p:spPr bwMode="auto">
          <a:xfrm>
            <a:off x="1778852" y="3098857"/>
            <a:ext cx="7347062" cy="567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8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状态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常返的充分必要条件是                       ；</a:t>
            </a:r>
          </a:p>
        </p:txBody>
      </p:sp>
      <p:sp>
        <p:nvSpPr>
          <p:cNvPr id="215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二、常返</a:t>
            </a:r>
          </a:p>
        </p:txBody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7175" y="1151204"/>
            <a:ext cx="7850417" cy="121154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如果</a:t>
            </a:r>
            <a:r>
              <a:rPr lang="en-US" altLang="zh-CN" dirty="0" err="1"/>
              <a:t>f</a:t>
            </a:r>
            <a:r>
              <a:rPr lang="en-US" altLang="zh-CN" baseline="-25000" dirty="0" err="1"/>
              <a:t>ii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，则称状态</a:t>
            </a:r>
            <a:r>
              <a:rPr lang="en-US" altLang="zh-CN" dirty="0" err="1"/>
              <a:t>i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CC00CC"/>
                </a:solidFill>
              </a:rPr>
              <a:t>常返状态</a:t>
            </a:r>
            <a:r>
              <a:rPr lang="zh-CN" altLang="en-US" dirty="0"/>
              <a:t>；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如果</a:t>
            </a:r>
            <a:r>
              <a:rPr lang="en-US" altLang="zh-CN" dirty="0" err="1"/>
              <a:t>f</a:t>
            </a:r>
            <a:r>
              <a:rPr lang="en-US" altLang="zh-CN" baseline="-25000" dirty="0" err="1"/>
              <a:t>ii</a:t>
            </a:r>
            <a:r>
              <a:rPr lang="zh-CN" altLang="en-US" dirty="0"/>
              <a:t>＜</a:t>
            </a:r>
            <a:r>
              <a:rPr lang="en-US" altLang="zh-CN" dirty="0"/>
              <a:t>1</a:t>
            </a:r>
            <a:r>
              <a:rPr lang="zh-CN" altLang="en-US" dirty="0"/>
              <a:t>，则称状态</a:t>
            </a:r>
            <a:r>
              <a:rPr lang="en-US" altLang="zh-CN" dirty="0" err="1"/>
              <a:t>i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CC00CC"/>
                </a:solidFill>
              </a:rPr>
              <a:t>非常返状态</a:t>
            </a:r>
            <a:r>
              <a:rPr lang="zh-CN" altLang="en-US" dirty="0"/>
              <a:t>，或</a:t>
            </a:r>
            <a:r>
              <a:rPr lang="zh-CN" altLang="en-US" dirty="0">
                <a:solidFill>
                  <a:srgbClr val="CC00CC"/>
                </a:solidFill>
              </a:rPr>
              <a:t>瞬时状态</a:t>
            </a:r>
            <a:r>
              <a:rPr lang="zh-CN" altLang="en-US" dirty="0"/>
              <a:t>。</a:t>
            </a:r>
          </a:p>
        </p:txBody>
      </p:sp>
      <p:sp>
        <p:nvSpPr>
          <p:cNvPr id="263172" name="Rectangle 4"/>
          <p:cNvSpPr>
            <a:spLocks noChangeArrowheads="1"/>
          </p:cNvSpPr>
          <p:nvPr/>
        </p:nvSpPr>
        <p:spPr bwMode="auto">
          <a:xfrm>
            <a:off x="1679575" y="2384149"/>
            <a:ext cx="7850417" cy="567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判别常返状态的准则：</a:t>
            </a:r>
            <a:endParaRPr lang="zh-CN" altLang="en-US" sz="24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aphicFrame>
        <p:nvGraphicFramePr>
          <p:cNvPr id="263174" name="Object 6"/>
          <p:cNvGraphicFramePr>
            <a:graphicFrameLocks noChangeAspect="1"/>
          </p:cNvGraphicFramePr>
          <p:nvPr/>
        </p:nvGraphicFramePr>
        <p:xfrm>
          <a:off x="6133646" y="3010458"/>
          <a:ext cx="1924495" cy="886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89920" imgH="787320" progId="Equation.DSMT4">
                  <p:embed/>
                </p:oleObj>
              </mc:Choice>
              <mc:Fallback>
                <p:oleObj name="Equation" r:id="rId2" imgW="1789920" imgH="787320" progId="Equation.DSMT4">
                  <p:embed/>
                  <p:pic>
                    <p:nvPicPr>
                      <p:cNvPr id="2631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3646" y="3010458"/>
                        <a:ext cx="1924495" cy="886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5" name="Object 7"/>
          <p:cNvGraphicFramePr>
            <a:graphicFrameLocks noChangeAspect="1"/>
          </p:cNvGraphicFramePr>
          <p:nvPr/>
        </p:nvGraphicFramePr>
        <p:xfrm>
          <a:off x="6403975" y="3872455"/>
          <a:ext cx="1927671" cy="886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89920" imgH="787320" progId="Equation.DSMT4">
                  <p:embed/>
                </p:oleObj>
              </mc:Choice>
              <mc:Fallback>
                <p:oleObj name="Equation" r:id="rId4" imgW="1789920" imgH="787320" progId="Equation.DSMT4">
                  <p:embed/>
                  <p:pic>
                    <p:nvPicPr>
                      <p:cNvPr id="2631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3975" y="3872455"/>
                        <a:ext cx="1927671" cy="886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6" name="Object 8"/>
          <p:cNvGraphicFramePr>
            <a:graphicFrameLocks noChangeAspect="1"/>
          </p:cNvGraphicFramePr>
          <p:nvPr/>
        </p:nvGraphicFramePr>
        <p:xfrm>
          <a:off x="5433787" y="4860345"/>
          <a:ext cx="2057876" cy="668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37640" imgH="482760" progId="Equation.3">
                  <p:embed/>
                </p:oleObj>
              </mc:Choice>
              <mc:Fallback>
                <p:oleObj name="Equation" r:id="rId6" imgW="1637640" imgH="482760" progId="Equation.3">
                  <p:embed/>
                  <p:pic>
                    <p:nvPicPr>
                      <p:cNvPr id="26317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3787" y="4860345"/>
                        <a:ext cx="2057876" cy="6684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81" name="Rectangle 13"/>
          <p:cNvSpPr>
            <a:spLocks noChangeArrowheads="1"/>
          </p:cNvSpPr>
          <p:nvPr/>
        </p:nvSpPr>
        <p:spPr bwMode="auto">
          <a:xfrm>
            <a:off x="1778852" y="4751826"/>
            <a:ext cx="7850417" cy="567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80000"/>
              </a:lnSpc>
              <a:buClr>
                <a:srgbClr val="CC00CC"/>
              </a:buClr>
              <a:buFont typeface="Wingdings" panose="05000000000000000000" pitchFamily="2" charset="2"/>
              <a:buAutoNum type="arabicParenR" startAt="3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若状态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是非常返的，则                        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3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3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63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6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63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3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80" grpId="0" autoUpdateAnimBg="0"/>
      <p:bldP spid="263179" grpId="0" autoUpdateAnimBg="0"/>
      <p:bldP spid="263171" grpId="0" build="p"/>
      <p:bldP spid="263172" grpId="0" autoUpdateAnimBg="0"/>
      <p:bldP spid="26318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</a:rPr>
              <a:t>返回的次数</a:t>
            </a:r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2389" y="842900"/>
            <a:ext cx="8306788" cy="868563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定义随机变量</a:t>
            </a:r>
          </a:p>
        </p:txBody>
      </p:sp>
      <p:graphicFrame>
        <p:nvGraphicFramePr>
          <p:cNvPr id="264196" name="Object 4"/>
          <p:cNvGraphicFramePr>
            <a:graphicFrameLocks noChangeAspect="1"/>
          </p:cNvGraphicFramePr>
          <p:nvPr/>
        </p:nvGraphicFramePr>
        <p:xfrm>
          <a:off x="3203575" y="1311997"/>
          <a:ext cx="2519946" cy="86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900" imgH="469900" progId="Equation.3">
                  <p:embed/>
                </p:oleObj>
              </mc:Choice>
              <mc:Fallback>
                <p:oleObj name="Equation" r:id="rId2" imgW="1358900" imgH="469900" progId="Equation.3">
                  <p:embed/>
                  <p:pic>
                    <p:nvPicPr>
                      <p:cNvPr id="2641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1311997"/>
                        <a:ext cx="2519946" cy="86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197" name="Rectangle 5"/>
          <p:cNvSpPr>
            <a:spLocks noChangeArrowheads="1"/>
          </p:cNvSpPr>
          <p:nvPr/>
        </p:nvSpPr>
        <p:spPr bwMode="auto">
          <a:xfrm>
            <a:off x="986241" y="2465443"/>
            <a:ext cx="1676788" cy="369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则随机变量</a:t>
            </a:r>
          </a:p>
        </p:txBody>
      </p:sp>
      <p:graphicFrame>
        <p:nvGraphicFramePr>
          <p:cNvPr id="264198" name="Object 6"/>
          <p:cNvGraphicFramePr>
            <a:graphicFrameLocks noChangeAspect="1"/>
          </p:cNvGraphicFramePr>
          <p:nvPr/>
        </p:nvGraphicFramePr>
        <p:xfrm>
          <a:off x="2510595" y="2316184"/>
          <a:ext cx="1440196" cy="765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447" imgH="431613" progId="Equation.3">
                  <p:embed/>
                </p:oleObj>
              </mc:Choice>
              <mc:Fallback>
                <p:oleObj name="Equation" r:id="rId4" imgW="812447" imgH="431613" progId="Equation.3">
                  <p:embed/>
                  <p:pic>
                    <p:nvPicPr>
                      <p:cNvPr id="2641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0595" y="2316184"/>
                        <a:ext cx="1440196" cy="765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199" name="Rectangle 7"/>
          <p:cNvSpPr>
            <a:spLocks noChangeArrowheads="1"/>
          </p:cNvSpPr>
          <p:nvPr/>
        </p:nvSpPr>
        <p:spPr bwMode="auto">
          <a:xfrm>
            <a:off x="3965081" y="2459091"/>
            <a:ext cx="4268188" cy="369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表示质点到达状态</a:t>
            </a:r>
            <a:r>
              <a:rPr lang="en-US" altLang="zh-CN" sz="2400">
                <a:latin typeface="+mn-ea"/>
                <a:ea typeface="+mn-ea"/>
              </a:rPr>
              <a:t>j</a:t>
            </a:r>
            <a:r>
              <a:rPr lang="zh-CN" altLang="en-US" sz="2400">
                <a:latin typeface="+mn-ea"/>
                <a:ea typeface="+mn-ea"/>
              </a:rPr>
              <a:t>的次数，有</a:t>
            </a:r>
          </a:p>
        </p:txBody>
      </p:sp>
      <p:graphicFrame>
        <p:nvGraphicFramePr>
          <p:cNvPr id="264200" name="Object 8"/>
          <p:cNvGraphicFramePr>
            <a:graphicFrameLocks noChangeAspect="1"/>
          </p:cNvGraphicFramePr>
          <p:nvPr/>
        </p:nvGraphicFramePr>
        <p:xfrm>
          <a:off x="3396625" y="3069349"/>
          <a:ext cx="4074468" cy="746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62200" imgH="431800" progId="Equation.3">
                  <p:embed/>
                </p:oleObj>
              </mc:Choice>
              <mc:Fallback>
                <p:oleObj name="Equation" r:id="rId6" imgW="2362200" imgH="431800" progId="Equation.3">
                  <p:embed/>
                  <p:pic>
                    <p:nvPicPr>
                      <p:cNvPr id="2642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6625" y="3069349"/>
                        <a:ext cx="4074468" cy="7462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01" name="Object 9"/>
          <p:cNvGraphicFramePr>
            <a:graphicFrameLocks noChangeAspect="1"/>
          </p:cNvGraphicFramePr>
          <p:nvPr/>
        </p:nvGraphicFramePr>
        <p:xfrm>
          <a:off x="3126687" y="3860107"/>
          <a:ext cx="6554717" cy="746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97300" imgH="431800" progId="Equation.3">
                  <p:embed/>
                </p:oleObj>
              </mc:Choice>
              <mc:Fallback>
                <p:oleObj name="Equation" r:id="rId8" imgW="3797300" imgH="431800" progId="Equation.3">
                  <p:embed/>
                  <p:pic>
                    <p:nvPicPr>
                      <p:cNvPr id="2642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6687" y="3860107"/>
                        <a:ext cx="6554717" cy="7462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02" name="Rectangle 10"/>
          <p:cNvSpPr>
            <a:spLocks noChangeArrowheads="1"/>
          </p:cNvSpPr>
          <p:nvPr/>
        </p:nvSpPr>
        <p:spPr bwMode="auto">
          <a:xfrm>
            <a:off x="2669381" y="4825530"/>
            <a:ext cx="1676788" cy="369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由此可知，</a:t>
            </a:r>
          </a:p>
        </p:txBody>
      </p:sp>
      <p:graphicFrame>
        <p:nvGraphicFramePr>
          <p:cNvPr id="264203" name="Object 11"/>
          <p:cNvGraphicFramePr>
            <a:graphicFrameLocks noChangeAspect="1"/>
          </p:cNvGraphicFramePr>
          <p:nvPr/>
        </p:nvGraphicFramePr>
        <p:xfrm>
          <a:off x="4161977" y="4582586"/>
          <a:ext cx="1152792" cy="85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83947" imgH="431613" progId="Equation.3">
                  <p:embed/>
                </p:oleObj>
              </mc:Choice>
              <mc:Fallback>
                <p:oleObj name="Equation" r:id="rId10" imgW="583947" imgH="431613" progId="Equation.3">
                  <p:embed/>
                  <p:pic>
                    <p:nvPicPr>
                      <p:cNvPr id="2642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1977" y="4582586"/>
                        <a:ext cx="1152792" cy="852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04" name="Rectangle 12"/>
          <p:cNvSpPr>
            <a:spLocks noChangeArrowheads="1"/>
          </p:cNvSpPr>
          <p:nvPr/>
        </p:nvSpPr>
        <p:spPr bwMode="auto">
          <a:xfrm>
            <a:off x="5324296" y="4823941"/>
            <a:ext cx="4808063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表示由</a:t>
            </a:r>
            <a:r>
              <a:rPr lang="en-US" altLang="zh-CN" sz="2400">
                <a:latin typeface="+mn-ea"/>
                <a:ea typeface="+mn-ea"/>
              </a:rPr>
              <a:t>j</a:t>
            </a:r>
            <a:r>
              <a:rPr lang="zh-CN" altLang="en-US" sz="2400">
                <a:latin typeface="+mn-ea"/>
                <a:ea typeface="+mn-ea"/>
              </a:rPr>
              <a:t>出发再返回</a:t>
            </a:r>
            <a:r>
              <a:rPr lang="en-US" altLang="zh-CN" sz="2400">
                <a:latin typeface="+mn-ea"/>
                <a:ea typeface="+mn-ea"/>
              </a:rPr>
              <a:t>j</a:t>
            </a:r>
            <a:r>
              <a:rPr lang="zh-CN" altLang="en-US" sz="2400">
                <a:latin typeface="+mn-ea"/>
                <a:ea typeface="+mn-ea"/>
              </a:rPr>
              <a:t>的平均次数。</a:t>
            </a:r>
            <a:endParaRPr lang="en-US" altLang="zh-CN" sz="240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264205" name="Rectangle 13"/>
          <p:cNvSpPr>
            <a:spLocks noChangeArrowheads="1"/>
          </p:cNvSpPr>
          <p:nvPr/>
        </p:nvSpPr>
        <p:spPr bwMode="auto">
          <a:xfrm>
            <a:off x="2587606" y="5620328"/>
            <a:ext cx="7774199" cy="104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CC00CC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当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是常返状态时，返回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的次数是无穷多次；</a:t>
            </a:r>
            <a:endParaRPr lang="en-US" altLang="zh-CN" sz="2400" dirty="0">
              <a:solidFill>
                <a:srgbClr val="0000FF"/>
              </a:solidFill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buClr>
                <a:srgbClr val="CC00CC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当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是非常返状态时，返回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的次数只能是有限多次。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2556644" y="3398774"/>
            <a:ext cx="7836125" cy="1225954"/>
            <a:chOff x="1116013" y="3603999"/>
            <a:chExt cx="7345362" cy="1225272"/>
          </a:xfrm>
        </p:grpSpPr>
        <p:sp>
          <p:nvSpPr>
            <p:cNvPr id="17" name="Rectangle 11">
              <a:extLst>
                <a:ext uri="{FF2B5EF4-FFF2-40B4-BE49-F238E27FC236}">
                  <a16:creationId xmlns:a16="http://schemas.microsoft.com/office/drawing/2014/main" id="{B2BD8389-8C6C-4F9C-AD96-F71C59B1D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13" y="3704076"/>
              <a:ext cx="7345362" cy="112519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txBody>
            <a:bodyPr lIns="0" tIns="0" rIns="0" bIns="0">
              <a:spAutoFit/>
            </a:bodyPr>
            <a:lstStyle>
              <a:lvl1pPr marL="457200" indent="-457200"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buClr>
                  <a:srgbClr val="CC00CC"/>
                </a:buClr>
                <a:buFont typeface="Wingdings" panose="05000000000000000000" pitchFamily="2" charset="2"/>
                <a:buAutoNum type="arabicParenR"/>
                <a:defRPr/>
              </a:pPr>
              <a:r>
                <a:rPr lang="zh-CN" altLang="en-US" sz="2400" dirty="0">
                  <a:solidFill>
                    <a:srgbClr val="0000FF"/>
                  </a:solidFill>
                  <a:latin typeface="+mn-ea"/>
                  <a:ea typeface="+mn-ea"/>
                </a:rPr>
                <a:t>状态</a:t>
              </a:r>
              <a:r>
                <a:rPr lang="en-US" altLang="zh-CN" sz="2400" dirty="0">
                  <a:solidFill>
                    <a:srgbClr val="0000FF"/>
                  </a:solidFill>
                  <a:latin typeface="+mn-ea"/>
                  <a:ea typeface="+mn-ea"/>
                </a:rPr>
                <a:t>j</a:t>
              </a:r>
              <a:r>
                <a:rPr lang="zh-CN" altLang="en-US" sz="2400" dirty="0">
                  <a:solidFill>
                    <a:srgbClr val="0000FF"/>
                  </a:solidFill>
                  <a:latin typeface="+mn-ea"/>
                  <a:ea typeface="+mn-ea"/>
                </a:rPr>
                <a:t>常返的充分必要条件是                       ；</a:t>
              </a:r>
              <a:endParaRPr lang="en-US" altLang="zh-CN" sz="2400" dirty="0">
                <a:solidFill>
                  <a:srgbClr val="0000FF"/>
                </a:solidFill>
                <a:latin typeface="+mn-ea"/>
                <a:ea typeface="+mn-ea"/>
              </a:endParaRPr>
            </a:p>
            <a:p>
              <a:pPr algn="just" eaLnBrk="1" hangingPunct="1">
                <a:lnSpc>
                  <a:spcPct val="180000"/>
                </a:lnSpc>
                <a:buClr>
                  <a:srgbClr val="CC00CC"/>
                </a:buClr>
                <a:buFont typeface="Wingdings" panose="05000000000000000000" pitchFamily="2" charset="2"/>
                <a:buAutoNum type="arabicParenR"/>
                <a:defRPr/>
              </a:pPr>
              <a:endParaRPr lang="zh-CN" altLang="en-US" sz="2400" dirty="0">
                <a:solidFill>
                  <a:srgbClr val="0000FF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2550" name="Object 6"/>
            <p:cNvGraphicFramePr>
              <a:graphicFrameLocks noChangeAspect="1"/>
            </p:cNvGraphicFramePr>
            <p:nvPr/>
          </p:nvGraphicFramePr>
          <p:xfrm>
            <a:off x="5127648" y="3603999"/>
            <a:ext cx="1924050" cy="885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89920" imgH="787320" progId="Equation.DSMT4">
                    <p:embed/>
                  </p:oleObj>
                </mc:Choice>
                <mc:Fallback>
                  <p:oleObj name="Equation" r:id="rId12" imgW="1789920" imgH="787320" progId="Equation.DSMT4">
                    <p:embed/>
                    <p:pic>
                      <p:nvPicPr>
                        <p:cNvPr id="2255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7648" y="3603999"/>
                          <a:ext cx="1924050" cy="885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2556644" y="4542911"/>
            <a:ext cx="7850417" cy="1000247"/>
            <a:chOff x="1116013" y="4423610"/>
            <a:chExt cx="7848600" cy="1000016"/>
          </a:xfrm>
        </p:grpSpPr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11C1A2EA-C9AC-402F-B2D4-0E0FAA2E2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13" y="4519613"/>
              <a:ext cx="7848600" cy="9040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txBody>
            <a:bodyPr lIns="0" tIns="0" rIns="0" bIns="0">
              <a:spAutoFit/>
            </a:bodyPr>
            <a:lstStyle>
              <a:lvl1pPr marL="457200" indent="-457200"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300000"/>
                </a:lnSpc>
                <a:buClr>
                  <a:srgbClr val="CC00CC"/>
                </a:buClr>
                <a:buFont typeface="Wingdings" panose="05000000000000000000" pitchFamily="2" charset="2"/>
                <a:buAutoNum type="arabicParenR" startAt="2"/>
                <a:defRPr/>
              </a:pPr>
              <a:r>
                <a:rPr lang="zh-CN" altLang="en-US" sz="2400" dirty="0">
                  <a:solidFill>
                    <a:srgbClr val="0000FF"/>
                  </a:solidFill>
                  <a:latin typeface="+mn-ea"/>
                  <a:ea typeface="+mn-ea"/>
                </a:rPr>
                <a:t>状态</a:t>
              </a:r>
              <a:r>
                <a:rPr lang="en-US" altLang="zh-CN" sz="2400" dirty="0">
                  <a:solidFill>
                    <a:srgbClr val="0000FF"/>
                  </a:solidFill>
                  <a:latin typeface="+mn-ea"/>
                  <a:ea typeface="+mn-ea"/>
                </a:rPr>
                <a:t>j</a:t>
              </a:r>
              <a:r>
                <a:rPr lang="zh-CN" altLang="en-US" sz="2400" dirty="0">
                  <a:solidFill>
                    <a:srgbClr val="0000FF"/>
                  </a:solidFill>
                  <a:latin typeface="+mn-ea"/>
                  <a:ea typeface="+mn-ea"/>
                </a:rPr>
                <a:t>非常返的充分必要条件是                            ；</a:t>
              </a:r>
            </a:p>
          </p:txBody>
        </p:sp>
        <p:graphicFrame>
          <p:nvGraphicFramePr>
            <p:cNvPr id="22548" name="Object 7"/>
            <p:cNvGraphicFramePr>
              <a:graphicFrameLocks noChangeAspect="1"/>
            </p:cNvGraphicFramePr>
            <p:nvPr/>
          </p:nvGraphicFramePr>
          <p:xfrm>
            <a:off x="5827711" y="4423610"/>
            <a:ext cx="1927225" cy="885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789920" imgH="787320" progId="Equation.DSMT4">
                    <p:embed/>
                  </p:oleObj>
                </mc:Choice>
                <mc:Fallback>
                  <p:oleObj name="Equation" r:id="rId14" imgW="1789920" imgH="787320" progId="Equation.DSMT4">
                    <p:embed/>
                    <p:pic>
                      <p:nvPicPr>
                        <p:cNvPr id="22548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27711" y="4423610"/>
                          <a:ext cx="1927225" cy="885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 build="p"/>
      <p:bldP spid="264197" grpId="0"/>
      <p:bldP spid="264199" grpId="0"/>
      <p:bldP spid="264202" grpId="0"/>
      <p:bldP spid="264204" grpId="0"/>
      <p:bldP spid="26420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正常返与零常返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9975" y="1296194"/>
            <a:ext cx="10744200" cy="3863281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None/>
            </a:pPr>
            <a:r>
              <a:rPr lang="zh-CN" altLang="en-US" dirty="0"/>
              <a:t>设</a:t>
            </a:r>
            <a:r>
              <a:rPr lang="en-US" altLang="zh-CN" dirty="0" err="1"/>
              <a:t>i</a:t>
            </a:r>
            <a:r>
              <a:rPr lang="zh-CN" altLang="en-US" dirty="0"/>
              <a:t>是常返状态，</a:t>
            </a:r>
            <a:r>
              <a:rPr lang="en-US" altLang="zh-CN" dirty="0" err="1"/>
              <a:t>f</a:t>
            </a:r>
            <a:r>
              <a:rPr lang="en-US" altLang="zh-CN" baseline="-25000" dirty="0" err="1"/>
              <a:t>ii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AutoNum type="arabicParenR"/>
            </a:pPr>
            <a:r>
              <a:rPr lang="zh-CN" altLang="en-US" dirty="0"/>
              <a:t>如果                                ，称状态</a:t>
            </a:r>
            <a:r>
              <a:rPr lang="en-US" altLang="zh-CN" dirty="0" err="1"/>
              <a:t>i</a:t>
            </a:r>
            <a:r>
              <a:rPr lang="zh-CN" altLang="en-US" dirty="0"/>
              <a:t>是一个</a:t>
            </a:r>
            <a:r>
              <a:rPr lang="zh-CN" altLang="en-US" dirty="0">
                <a:solidFill>
                  <a:srgbClr val="CC00CC"/>
                </a:solidFill>
              </a:rPr>
              <a:t>正常返状态</a:t>
            </a:r>
            <a:r>
              <a:rPr lang="zh-CN" altLang="en-US" dirty="0"/>
              <a:t>；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AutoNum type="arabicParenR"/>
            </a:pPr>
            <a:endParaRPr lang="zh-CN" altLang="en-US" dirty="0"/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AutoNum type="arabicParenR"/>
            </a:pPr>
            <a:r>
              <a:rPr lang="zh-CN" altLang="en-US" dirty="0"/>
              <a:t>如果                                ，称状态</a:t>
            </a:r>
            <a:r>
              <a:rPr lang="en-US" altLang="zh-CN" dirty="0" err="1"/>
              <a:t>i</a:t>
            </a:r>
            <a:r>
              <a:rPr lang="zh-CN" altLang="en-US" dirty="0"/>
              <a:t>是一个</a:t>
            </a:r>
            <a:r>
              <a:rPr lang="zh-CN" altLang="en-US" dirty="0">
                <a:solidFill>
                  <a:srgbClr val="CC00CC"/>
                </a:solidFill>
              </a:rPr>
              <a:t>零常返状态</a:t>
            </a:r>
            <a:r>
              <a:rPr lang="zh-CN" altLang="en-US" dirty="0"/>
              <a:t>，或</a:t>
            </a:r>
            <a:r>
              <a:rPr lang="zh-CN" altLang="en-US" dirty="0">
                <a:solidFill>
                  <a:srgbClr val="CC00CC"/>
                </a:solidFill>
              </a:rPr>
              <a:t>消极常返状态</a:t>
            </a:r>
            <a:r>
              <a:rPr lang="zh-CN" altLang="en-US" dirty="0"/>
              <a:t>。</a:t>
            </a:r>
          </a:p>
        </p:txBody>
      </p:sp>
      <p:graphicFrame>
        <p:nvGraphicFramePr>
          <p:cNvPr id="265220" name="Object 4"/>
          <p:cNvGraphicFramePr>
            <a:graphicFrameLocks noChangeAspect="1"/>
          </p:cNvGraphicFramePr>
          <p:nvPr/>
        </p:nvGraphicFramePr>
        <p:xfrm>
          <a:off x="2365675" y="1979330"/>
          <a:ext cx="2667617" cy="897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700" imgH="431800" progId="Equation.3">
                  <p:embed/>
                </p:oleObj>
              </mc:Choice>
              <mc:Fallback>
                <p:oleObj name="Equation" r:id="rId2" imgW="1282700" imgH="431800" progId="Equation.3">
                  <p:embed/>
                  <p:pic>
                    <p:nvPicPr>
                      <p:cNvPr id="2652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675" y="1979330"/>
                        <a:ext cx="2667617" cy="8971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1" name="Object 5"/>
          <p:cNvGraphicFramePr>
            <a:graphicFrameLocks noChangeAspect="1"/>
          </p:cNvGraphicFramePr>
          <p:nvPr/>
        </p:nvGraphicFramePr>
        <p:xfrm>
          <a:off x="2289986" y="3111039"/>
          <a:ext cx="2667617" cy="897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700" imgH="431800" progId="Equation.3">
                  <p:embed/>
                </p:oleObj>
              </mc:Choice>
              <mc:Fallback>
                <p:oleObj name="Equation" r:id="rId4" imgW="1282700" imgH="431800" progId="Equation.3">
                  <p:embed/>
                  <p:pic>
                    <p:nvPicPr>
                      <p:cNvPr id="2652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986" y="3111039"/>
                        <a:ext cx="2667617" cy="8971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圆角矩形标注 8"/>
          <p:cNvSpPr>
            <a:spLocks noChangeArrowheads="1"/>
          </p:cNvSpPr>
          <p:nvPr/>
        </p:nvSpPr>
        <p:spPr bwMode="auto">
          <a:xfrm>
            <a:off x="5296878" y="1270789"/>
            <a:ext cx="3167796" cy="576396"/>
          </a:xfrm>
          <a:prstGeom prst="wedgeRoundRectCallout">
            <a:avLst>
              <a:gd name="adj1" fmla="val -79000"/>
              <a:gd name="adj2" fmla="val 77153"/>
              <a:gd name="adj3" fmla="val 16667"/>
            </a:avLst>
          </a:prstGeom>
          <a:solidFill>
            <a:schemeClr val="accent1"/>
          </a:solidFill>
          <a:ln w="9525" algn="ctr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平均返回时间有限</a:t>
            </a:r>
            <a:endParaRPr lang="zh-CN" altLang="en-US" sz="2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圆角矩形标注 9"/>
          <p:cNvSpPr>
            <a:spLocks noChangeArrowheads="1"/>
          </p:cNvSpPr>
          <p:nvPr/>
        </p:nvSpPr>
        <p:spPr bwMode="auto">
          <a:xfrm>
            <a:off x="5512828" y="4295677"/>
            <a:ext cx="3167796" cy="576395"/>
          </a:xfrm>
          <a:prstGeom prst="wedgeRoundRectCallout">
            <a:avLst>
              <a:gd name="adj1" fmla="val -68787"/>
              <a:gd name="adj2" fmla="val -176819"/>
              <a:gd name="adj3" fmla="val 16667"/>
            </a:avLst>
          </a:prstGeom>
          <a:solidFill>
            <a:schemeClr val="accent1"/>
          </a:solidFill>
          <a:ln w="9525" algn="ctr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平均返回时间无限</a:t>
            </a:r>
            <a:endParaRPr lang="zh-CN" altLang="en-US" sz="2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6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65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6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6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9" grpId="0" build="p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定理</a:t>
            </a:r>
            <a:r>
              <a:rPr lang="en-US" altLang="zh-CN" dirty="0"/>
              <a:t>5</a:t>
            </a:r>
            <a:r>
              <a:rPr lang="zh-CN" altLang="en-US" dirty="0"/>
              <a:t>和定理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1375" y="1125799"/>
            <a:ext cx="9373552" cy="1282997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buClr>
                <a:srgbClr val="6600CC"/>
              </a:buClr>
              <a:buFontTx/>
              <a:buAutoNum type="arabicParenR"/>
            </a:pPr>
            <a:r>
              <a:rPr lang="zh-CN" altLang="en-US" dirty="0">
                <a:solidFill>
                  <a:srgbClr val="CC00CC"/>
                </a:solidFill>
              </a:rPr>
              <a:t>设</a:t>
            </a:r>
            <a:r>
              <a:rPr lang="en-US" altLang="zh-CN" dirty="0" err="1">
                <a:solidFill>
                  <a:srgbClr val="CC00CC"/>
                </a:solidFill>
              </a:rPr>
              <a:t>i</a:t>
            </a:r>
            <a:r>
              <a:rPr lang="zh-CN" altLang="en-US" dirty="0">
                <a:solidFill>
                  <a:srgbClr val="CC00CC"/>
                </a:solidFill>
              </a:rPr>
              <a:t>是常返状态，则</a:t>
            </a:r>
            <a:r>
              <a:rPr lang="en-US" altLang="zh-CN" dirty="0" err="1">
                <a:solidFill>
                  <a:srgbClr val="CC00CC"/>
                </a:solidFill>
              </a:rPr>
              <a:t>i</a:t>
            </a:r>
            <a:r>
              <a:rPr lang="zh-CN" altLang="en-US" dirty="0">
                <a:solidFill>
                  <a:srgbClr val="CC00CC"/>
                </a:solidFill>
              </a:rPr>
              <a:t>是零常返的充分必要条件是                         </a:t>
            </a:r>
            <a:r>
              <a:rPr lang="en-US" altLang="zh-CN" dirty="0">
                <a:solidFill>
                  <a:srgbClr val="CC00CC"/>
                </a:solidFill>
              </a:rPr>
              <a:t>;</a:t>
            </a:r>
            <a:endParaRPr lang="zh-CN" altLang="en-US" dirty="0">
              <a:solidFill>
                <a:srgbClr val="CC00CC"/>
              </a:solidFill>
            </a:endParaRPr>
          </a:p>
        </p:txBody>
      </p:sp>
      <p:graphicFrame>
        <p:nvGraphicFramePr>
          <p:cNvPr id="283656" name="Object 8"/>
          <p:cNvGraphicFramePr>
            <a:graphicFrameLocks noChangeAspect="1"/>
          </p:cNvGraphicFramePr>
          <p:nvPr/>
        </p:nvGraphicFramePr>
        <p:xfrm>
          <a:off x="7775575" y="1200921"/>
          <a:ext cx="2134094" cy="690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7640" imgH="482760" progId="Equation.3">
                  <p:embed/>
                </p:oleObj>
              </mc:Choice>
              <mc:Fallback>
                <p:oleObj name="Equation" r:id="rId2" imgW="1637640" imgH="482760" progId="Equation.3">
                  <p:embed/>
                  <p:pic>
                    <p:nvPicPr>
                      <p:cNvPr id="2836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5575" y="1200921"/>
                        <a:ext cx="2134094" cy="690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57" name="Rectangle 9"/>
          <p:cNvSpPr>
            <a:spLocks noChangeArrowheads="1"/>
          </p:cNvSpPr>
          <p:nvPr/>
        </p:nvSpPr>
        <p:spPr bwMode="auto">
          <a:xfrm>
            <a:off x="1503887" y="2086928"/>
            <a:ext cx="45730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如果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j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也是零常返状态，则</a:t>
            </a:r>
          </a:p>
        </p:txBody>
      </p:sp>
      <p:graphicFrame>
        <p:nvGraphicFramePr>
          <p:cNvPr id="283658" name="Object 10"/>
          <p:cNvGraphicFramePr>
            <a:graphicFrameLocks noChangeAspect="1"/>
          </p:cNvGraphicFramePr>
          <p:nvPr/>
        </p:nvGraphicFramePr>
        <p:xfrm>
          <a:off x="4986077" y="1970544"/>
          <a:ext cx="2245245" cy="693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3600" imgH="482760" progId="Equation.3">
                  <p:embed/>
                </p:oleObj>
              </mc:Choice>
              <mc:Fallback>
                <p:oleObj name="Equation" r:id="rId4" imgW="1713600" imgH="482760" progId="Equation.3">
                  <p:embed/>
                  <p:pic>
                    <p:nvPicPr>
                      <p:cNvPr id="28365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077" y="1970544"/>
                        <a:ext cx="2245245" cy="693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83659" name="Rectangle 11"/>
              <p:cNvSpPr>
                <a:spLocks noChangeArrowheads="1"/>
              </p:cNvSpPr>
              <p:nvPr/>
            </p:nvSpPr>
            <p:spPr bwMode="auto">
              <a:xfrm>
                <a:off x="1022763" y="2850968"/>
                <a:ext cx="10258012" cy="10379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marL="457200" indent="-457200"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  <a:buClr>
                    <a:srgbClr val="6600CC"/>
                  </a:buClr>
                  <a:buFontTx/>
                  <a:buAutoNum type="arabicParenR" startAt="2"/>
                </a:pPr>
                <a:r>
                  <a:rPr lang="zh-CN" altLang="en-US" sz="2400" dirty="0">
                    <a:solidFill>
                      <a:srgbClr val="CC00CC"/>
                    </a:solidFill>
                    <a:latin typeface="+mn-ea"/>
                    <a:ea typeface="+mn-ea"/>
                  </a:rPr>
                  <a:t>如果</a:t>
                </a:r>
                <a:r>
                  <a:rPr lang="en-US" altLang="zh-CN" sz="2400" dirty="0" err="1">
                    <a:solidFill>
                      <a:srgbClr val="CC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i</a:t>
                </a:r>
                <a:r>
                  <a:rPr lang="en-US" altLang="zh-CN" sz="2400" dirty="0">
                    <a:solidFill>
                      <a:srgbClr val="CC00CC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⟷ </m:t>
                    </m:r>
                  </m:oMath>
                </a14:m>
                <a:r>
                  <a:rPr lang="en-US" altLang="zh-CN" sz="2400" dirty="0" err="1">
                    <a:solidFill>
                      <a:srgbClr val="CC00CC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j</a:t>
                </a:r>
                <a:r>
                  <a:rPr lang="zh-CN" altLang="en-US" sz="2400" dirty="0">
                    <a:solidFill>
                      <a:srgbClr val="CC00CC"/>
                    </a:solidFill>
                    <a:latin typeface="+mn-ea"/>
                    <a:ea typeface="+mn-ea"/>
                  </a:rPr>
                  <a:t>，则它们同为常返或非常返；如果它们均为常返时，则它们同为正常返或零常返。</a:t>
                </a:r>
              </a:p>
            </p:txBody>
          </p:sp>
        </mc:Choice>
        <mc:Fallback xmlns="">
          <p:sp>
            <p:nvSpPr>
              <p:cNvPr id="283659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2763" y="2850968"/>
                <a:ext cx="10258012" cy="1037913"/>
              </a:xfrm>
              <a:prstGeom prst="rect">
                <a:avLst/>
              </a:prstGeom>
              <a:blipFill>
                <a:blip r:embed="rId6"/>
                <a:stretch>
                  <a:fillRect l="-1978" t="-1205" b="-1807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374775" y="4255354"/>
            <a:ext cx="7323245" cy="2161088"/>
            <a:chOff x="672" y="2999"/>
            <a:chExt cx="4612" cy="1361"/>
          </a:xfrm>
        </p:grpSpPr>
        <p:sp>
          <p:nvSpPr>
            <p:cNvPr id="24588" name="Rectangle 13"/>
            <p:cNvSpPr>
              <a:spLocks noChangeArrowheads="1"/>
            </p:cNvSpPr>
            <p:nvPr/>
          </p:nvSpPr>
          <p:spPr bwMode="auto">
            <a:xfrm>
              <a:off x="672" y="3386"/>
              <a:ext cx="336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457200" indent="-457200"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FontTx/>
                <a:buNone/>
              </a:pPr>
              <a:r>
                <a:rPr lang="zh-CN" altLang="en-US" sz="2400" dirty="0">
                  <a:solidFill>
                    <a:srgbClr val="CC00CC"/>
                  </a:solidFill>
                  <a:latin typeface="+mn-ea"/>
                  <a:ea typeface="+mn-ea"/>
                </a:rPr>
                <a:t>归</a:t>
              </a:r>
            </a:p>
            <a:p>
              <a:pPr algn="ctr" eaLnBrk="1" hangingPunct="1">
                <a:lnSpc>
                  <a:spcPct val="100000"/>
                </a:lnSpc>
                <a:buFontTx/>
                <a:buNone/>
              </a:pPr>
              <a:r>
                <a:rPr lang="zh-CN" altLang="en-US" sz="2400" dirty="0">
                  <a:solidFill>
                    <a:srgbClr val="CC00CC"/>
                  </a:solidFill>
                  <a:latin typeface="+mn-ea"/>
                  <a:ea typeface="+mn-ea"/>
                </a:rPr>
                <a:t>纳</a:t>
              </a:r>
            </a:p>
          </p:txBody>
        </p:sp>
        <p:sp>
          <p:nvSpPr>
            <p:cNvPr id="24589" name="AutoShape 14"/>
            <p:cNvSpPr>
              <a:spLocks/>
            </p:cNvSpPr>
            <p:nvPr/>
          </p:nvSpPr>
          <p:spPr bwMode="auto">
            <a:xfrm>
              <a:off x="960" y="3168"/>
              <a:ext cx="192" cy="998"/>
            </a:xfrm>
            <a:prstGeom prst="leftBrace">
              <a:avLst>
                <a:gd name="adj1" fmla="val 31260"/>
                <a:gd name="adj2" fmla="val 50000"/>
              </a:avLst>
            </a:prstGeom>
            <a:noFill/>
            <a:ln w="222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latin typeface="+mn-ea"/>
                <a:ea typeface="+mn-ea"/>
              </a:endParaRPr>
            </a:p>
          </p:txBody>
        </p:sp>
        <p:sp>
          <p:nvSpPr>
            <p:cNvPr id="24590" name="Rectangle 15"/>
            <p:cNvSpPr>
              <a:spLocks noChangeArrowheads="1"/>
            </p:cNvSpPr>
            <p:nvPr/>
          </p:nvSpPr>
          <p:spPr bwMode="auto">
            <a:xfrm>
              <a:off x="1200" y="3072"/>
              <a:ext cx="1632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457200" indent="-457200"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>
                  <a:srgbClr val="6600CC"/>
                </a:buClr>
                <a:buFontTx/>
                <a:buAutoNum type="arabicParenR"/>
              </a:pPr>
              <a:r>
                <a:rPr lang="en-US" altLang="zh-CN" sz="2400" dirty="0" err="1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i</a:t>
              </a:r>
              <a:r>
                <a:rPr lang="zh-CN" altLang="en-US" sz="2400" dirty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是非常返 </a:t>
              </a:r>
            </a:p>
            <a:p>
              <a:pPr>
                <a:lnSpc>
                  <a:spcPct val="16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6600CC"/>
                </a:buClr>
                <a:buFontTx/>
                <a:buAutoNum type="arabicParenR"/>
              </a:pPr>
              <a:r>
                <a:rPr lang="en-US" altLang="zh-CN" sz="2400" dirty="0" err="1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i</a:t>
              </a:r>
              <a:r>
                <a:rPr lang="zh-CN" altLang="en-US" sz="2400" dirty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是零常返 </a:t>
              </a:r>
            </a:p>
            <a:p>
              <a:pPr eaLnBrk="1" hangingPunct="1">
                <a:lnSpc>
                  <a:spcPct val="160000"/>
                </a:lnSpc>
                <a:buClr>
                  <a:srgbClr val="6600CC"/>
                </a:buClr>
                <a:buFontTx/>
                <a:buAutoNum type="arabicParenR"/>
              </a:pPr>
              <a:r>
                <a:rPr lang="en-US" altLang="zh-CN" sz="2400" dirty="0" err="1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i</a:t>
              </a:r>
              <a:r>
                <a:rPr lang="zh-CN" altLang="en-US" sz="2400" dirty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是正常返 </a:t>
              </a:r>
              <a:endParaRPr lang="zh-CN" altLang="en-US" sz="2400" dirty="0">
                <a:solidFill>
                  <a:srgbClr val="0000FF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4591" name="Object 16"/>
            <p:cNvGraphicFramePr>
              <a:graphicFrameLocks noChangeAspect="1"/>
            </p:cNvGraphicFramePr>
            <p:nvPr/>
          </p:nvGraphicFramePr>
          <p:xfrm>
            <a:off x="2775" y="2999"/>
            <a:ext cx="2509" cy="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455360" imgH="787320" progId="Equation.3">
                    <p:embed/>
                  </p:oleObj>
                </mc:Choice>
                <mc:Fallback>
                  <p:oleObj name="Equation" r:id="rId7" imgW="4455360" imgH="787320" progId="Equation.3">
                    <p:embed/>
                    <p:pic>
                      <p:nvPicPr>
                        <p:cNvPr id="24591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5" y="2999"/>
                          <a:ext cx="2509" cy="4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2" name="Object 17"/>
            <p:cNvGraphicFramePr>
              <a:graphicFrameLocks noChangeAspect="1"/>
            </p:cNvGraphicFramePr>
            <p:nvPr/>
          </p:nvGraphicFramePr>
          <p:xfrm>
            <a:off x="2775" y="3418"/>
            <a:ext cx="2343" cy="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150800" imgH="787320" progId="Equation.3">
                    <p:embed/>
                  </p:oleObj>
                </mc:Choice>
                <mc:Fallback>
                  <p:oleObj name="Equation" r:id="rId9" imgW="4150800" imgH="787320" progId="Equation.3">
                    <p:embed/>
                    <p:pic>
                      <p:nvPicPr>
                        <p:cNvPr id="24592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5" y="3418"/>
                          <a:ext cx="2343" cy="4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3" name="Object 18"/>
            <p:cNvGraphicFramePr>
              <a:graphicFrameLocks noChangeAspect="1"/>
            </p:cNvGraphicFramePr>
            <p:nvPr/>
          </p:nvGraphicFramePr>
          <p:xfrm>
            <a:off x="2775" y="3884"/>
            <a:ext cx="2340" cy="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4150800" imgH="787320" progId="Equation.3">
                    <p:embed/>
                  </p:oleObj>
                </mc:Choice>
                <mc:Fallback>
                  <p:oleObj name="Equation" r:id="rId11" imgW="4150800" imgH="787320" progId="Equation.3">
                    <p:embed/>
                    <p:pic>
                      <p:nvPicPr>
                        <p:cNvPr id="24593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5" y="3884"/>
                          <a:ext cx="2340" cy="4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3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3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3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3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3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1" grpId="0" build="p"/>
      <p:bldP spid="283657" grpId="0"/>
      <p:bldP spid="28365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1  </a:t>
            </a:r>
            <a:r>
              <a:rPr lang="zh-CN" altLang="en-US"/>
              <a:t>两个吸收壁的随机游动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1167084"/>
            <a:ext cx="9754607" cy="104351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状态空间  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{1, 2, 3, 4}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状态转移矩阵</a:t>
            </a:r>
          </a:p>
        </p:txBody>
      </p:sp>
      <p:graphicFrame>
        <p:nvGraphicFramePr>
          <p:cNvPr id="271364" name="Object 4"/>
          <p:cNvGraphicFramePr>
            <a:graphicFrameLocks noChangeAspect="1"/>
          </p:cNvGraphicFramePr>
          <p:nvPr/>
        </p:nvGraphicFramePr>
        <p:xfrm>
          <a:off x="3007597" y="2320466"/>
          <a:ext cx="3839464" cy="1714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44700" imgH="914400" progId="Equation.3">
                  <p:embed/>
                </p:oleObj>
              </mc:Choice>
              <mc:Fallback>
                <p:oleObj name="公式" r:id="rId2" imgW="2044700" imgH="914400" progId="Equation.3">
                  <p:embed/>
                  <p:pic>
                    <p:nvPicPr>
                      <p:cNvPr id="271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7597" y="2320466"/>
                        <a:ext cx="3839464" cy="1714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65" name="Rectangle 5"/>
          <p:cNvSpPr>
            <a:spLocks noChangeArrowheads="1"/>
          </p:cNvSpPr>
          <p:nvPr/>
        </p:nvSpPr>
        <p:spPr bwMode="auto">
          <a:xfrm>
            <a:off x="917575" y="4194055"/>
            <a:ext cx="1984834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/>
              <a:t>状态转移图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4238195" y="5135164"/>
            <a:ext cx="360446" cy="457306"/>
            <a:chOff x="1708" y="3234"/>
            <a:chExt cx="227" cy="288"/>
          </a:xfrm>
        </p:grpSpPr>
        <p:sp>
          <p:nvSpPr>
            <p:cNvPr id="25638" name="Oval 7"/>
            <p:cNvSpPr>
              <a:spLocks noChangeArrowheads="1"/>
            </p:cNvSpPr>
            <p:nvPr/>
          </p:nvSpPr>
          <p:spPr bwMode="auto">
            <a:xfrm>
              <a:off x="1708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25639" name="Rectangle 8"/>
            <p:cNvSpPr>
              <a:spLocks noChangeArrowheads="1"/>
            </p:cNvSpPr>
            <p:nvPr/>
          </p:nvSpPr>
          <p:spPr bwMode="auto">
            <a:xfrm>
              <a:off x="1723" y="323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5362405" y="5135164"/>
            <a:ext cx="360446" cy="457306"/>
            <a:chOff x="2416" y="3234"/>
            <a:chExt cx="227" cy="288"/>
          </a:xfrm>
        </p:grpSpPr>
        <p:sp>
          <p:nvSpPr>
            <p:cNvPr id="25636" name="Oval 9"/>
            <p:cNvSpPr>
              <a:spLocks noChangeArrowheads="1"/>
            </p:cNvSpPr>
            <p:nvPr/>
          </p:nvSpPr>
          <p:spPr bwMode="auto">
            <a:xfrm>
              <a:off x="2416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25637" name="Rectangle 10"/>
            <p:cNvSpPr>
              <a:spLocks noChangeArrowheads="1"/>
            </p:cNvSpPr>
            <p:nvPr/>
          </p:nvSpPr>
          <p:spPr bwMode="auto">
            <a:xfrm>
              <a:off x="2431" y="323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2</a:t>
              </a:r>
            </a:p>
          </p:txBody>
        </p:sp>
      </p:grpSp>
      <p:grpSp>
        <p:nvGrpSpPr>
          <p:cNvPr id="4" name="Group 52"/>
          <p:cNvGrpSpPr>
            <a:grpSpLocks/>
          </p:cNvGrpSpPr>
          <p:nvPr/>
        </p:nvGrpSpPr>
        <p:grpSpPr bwMode="auto">
          <a:xfrm>
            <a:off x="6486615" y="5135164"/>
            <a:ext cx="360446" cy="457306"/>
            <a:chOff x="3124" y="3234"/>
            <a:chExt cx="227" cy="288"/>
          </a:xfrm>
        </p:grpSpPr>
        <p:sp>
          <p:nvSpPr>
            <p:cNvPr id="25634" name="Oval 11"/>
            <p:cNvSpPr>
              <a:spLocks noChangeArrowheads="1"/>
            </p:cNvSpPr>
            <p:nvPr/>
          </p:nvSpPr>
          <p:spPr bwMode="auto">
            <a:xfrm>
              <a:off x="3124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25635" name="Rectangle 12"/>
            <p:cNvSpPr>
              <a:spLocks noChangeArrowheads="1"/>
            </p:cNvSpPr>
            <p:nvPr/>
          </p:nvSpPr>
          <p:spPr bwMode="auto">
            <a:xfrm>
              <a:off x="3139" y="323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3</a:t>
              </a:r>
            </a:p>
          </p:txBody>
        </p:sp>
      </p:grpSp>
      <p:grpSp>
        <p:nvGrpSpPr>
          <p:cNvPr id="5" name="Group 53"/>
          <p:cNvGrpSpPr>
            <a:grpSpLocks/>
          </p:cNvGrpSpPr>
          <p:nvPr/>
        </p:nvGrpSpPr>
        <p:grpSpPr bwMode="auto">
          <a:xfrm>
            <a:off x="7612413" y="5135164"/>
            <a:ext cx="360445" cy="457306"/>
            <a:chOff x="3833" y="3234"/>
            <a:chExt cx="227" cy="288"/>
          </a:xfrm>
        </p:grpSpPr>
        <p:sp>
          <p:nvSpPr>
            <p:cNvPr id="25632" name="Oval 13"/>
            <p:cNvSpPr>
              <a:spLocks noChangeArrowheads="1"/>
            </p:cNvSpPr>
            <p:nvPr/>
          </p:nvSpPr>
          <p:spPr bwMode="auto">
            <a:xfrm>
              <a:off x="3833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25633" name="Rectangle 14"/>
            <p:cNvSpPr>
              <a:spLocks noChangeArrowheads="1"/>
            </p:cNvSpPr>
            <p:nvPr/>
          </p:nvSpPr>
          <p:spPr bwMode="auto">
            <a:xfrm>
              <a:off x="3848" y="323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4</a:t>
              </a:r>
            </a:p>
          </p:txBody>
        </p:sp>
      </p:grp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3704671" y="4801712"/>
            <a:ext cx="582748" cy="609741"/>
            <a:chOff x="1372" y="3024"/>
            <a:chExt cx="367" cy="384"/>
          </a:xfrm>
        </p:grpSpPr>
        <p:sp>
          <p:nvSpPr>
            <p:cNvPr id="25630" name="Rectangle 30"/>
            <p:cNvSpPr>
              <a:spLocks noChangeArrowheads="1"/>
            </p:cNvSpPr>
            <p:nvPr/>
          </p:nvSpPr>
          <p:spPr bwMode="auto">
            <a:xfrm>
              <a:off x="1372" y="302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25631" name="Arc 33"/>
            <p:cNvSpPr>
              <a:spLocks/>
            </p:cNvSpPr>
            <p:nvPr/>
          </p:nvSpPr>
          <p:spPr bwMode="auto">
            <a:xfrm flipH="1">
              <a:off x="1512" y="3181"/>
              <a:ext cx="227" cy="227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95" y="23626"/>
                  </a:moveTo>
                  <a:cubicBezTo>
                    <a:pt x="31" y="22953"/>
                    <a:pt x="0" y="2227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15135" y="43200"/>
                    <a:pt x="9009" y="40304"/>
                    <a:pt x="4907" y="35307"/>
                  </a:cubicBezTo>
                </a:path>
                <a:path w="43200" h="43200" stroke="0" extrusionOk="0">
                  <a:moveTo>
                    <a:pt x="95" y="23626"/>
                  </a:moveTo>
                  <a:cubicBezTo>
                    <a:pt x="31" y="22953"/>
                    <a:pt x="0" y="2227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15135" y="43200"/>
                    <a:pt x="9009" y="40304"/>
                    <a:pt x="4907" y="35307"/>
                  </a:cubicBezTo>
                  <a:lnTo>
                    <a:pt x="21600" y="21600"/>
                  </a:lnTo>
                  <a:lnTo>
                    <a:pt x="95" y="23626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42"/>
          <p:cNvGrpSpPr>
            <a:grpSpLocks/>
          </p:cNvGrpSpPr>
          <p:nvPr/>
        </p:nvGrpSpPr>
        <p:grpSpPr bwMode="auto">
          <a:xfrm>
            <a:off x="4404921" y="5548010"/>
            <a:ext cx="1067047" cy="549402"/>
            <a:chOff x="1813" y="3494"/>
            <a:chExt cx="672" cy="346"/>
          </a:xfrm>
        </p:grpSpPr>
        <p:sp>
          <p:nvSpPr>
            <p:cNvPr id="25628" name="Rectangle 17"/>
            <p:cNvSpPr>
              <a:spLocks noChangeArrowheads="1"/>
            </p:cNvSpPr>
            <p:nvPr/>
          </p:nvSpPr>
          <p:spPr bwMode="auto">
            <a:xfrm>
              <a:off x="2052" y="3552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q</a:t>
              </a:r>
            </a:p>
          </p:txBody>
        </p:sp>
        <p:sp>
          <p:nvSpPr>
            <p:cNvPr id="25629" name="Arc 35"/>
            <p:cNvSpPr>
              <a:spLocks/>
            </p:cNvSpPr>
            <p:nvPr/>
          </p:nvSpPr>
          <p:spPr bwMode="auto">
            <a:xfrm flipV="1">
              <a:off x="1813" y="3494"/>
              <a:ext cx="672" cy="153"/>
            </a:xfrm>
            <a:custGeom>
              <a:avLst/>
              <a:gdLst>
                <a:gd name="T0" fmla="*/ 0 w 43200"/>
                <a:gd name="T1" fmla="*/ 0 h 22995"/>
                <a:gd name="T2" fmla="*/ 0 w 43200"/>
                <a:gd name="T3" fmla="*/ 0 h 22995"/>
                <a:gd name="T4" fmla="*/ 0 w 43200"/>
                <a:gd name="T5" fmla="*/ 0 h 22995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995"/>
                <a:gd name="T11" fmla="*/ 43200 w 43200"/>
                <a:gd name="T12" fmla="*/ 22995 h 229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995" fill="none" extrusionOk="0">
                  <a:moveTo>
                    <a:pt x="45" y="22994"/>
                  </a:moveTo>
                  <a:cubicBezTo>
                    <a:pt x="15" y="22530"/>
                    <a:pt x="0" y="22065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2995" stroke="0" extrusionOk="0">
                  <a:moveTo>
                    <a:pt x="45" y="22994"/>
                  </a:moveTo>
                  <a:cubicBezTo>
                    <a:pt x="15" y="22530"/>
                    <a:pt x="0" y="22065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45" y="22994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5527543" y="4511133"/>
            <a:ext cx="1065460" cy="681195"/>
            <a:chOff x="2520" y="2841"/>
            <a:chExt cx="671" cy="429"/>
          </a:xfrm>
        </p:grpSpPr>
        <p:sp>
          <p:nvSpPr>
            <p:cNvPr id="25626" name="Rectangle 26"/>
            <p:cNvSpPr>
              <a:spLocks noChangeArrowheads="1"/>
            </p:cNvSpPr>
            <p:nvPr/>
          </p:nvSpPr>
          <p:spPr bwMode="auto">
            <a:xfrm>
              <a:off x="2778" y="2841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p</a:t>
              </a:r>
            </a:p>
          </p:txBody>
        </p:sp>
        <p:sp>
          <p:nvSpPr>
            <p:cNvPr id="25627" name="Arc 36"/>
            <p:cNvSpPr>
              <a:spLocks/>
            </p:cNvSpPr>
            <p:nvPr/>
          </p:nvSpPr>
          <p:spPr bwMode="auto">
            <a:xfrm flipH="1">
              <a:off x="2520" y="3107"/>
              <a:ext cx="671" cy="163"/>
            </a:xfrm>
            <a:custGeom>
              <a:avLst/>
              <a:gdLst>
                <a:gd name="T0" fmla="*/ 0 w 43200"/>
                <a:gd name="T1" fmla="*/ 0 h 23101"/>
                <a:gd name="T2" fmla="*/ 0 w 43200"/>
                <a:gd name="T3" fmla="*/ 0 h 23101"/>
                <a:gd name="T4" fmla="*/ 0 w 43200"/>
                <a:gd name="T5" fmla="*/ 0 h 23101"/>
                <a:gd name="T6" fmla="*/ 0 60000 65536"/>
                <a:gd name="T7" fmla="*/ 0 60000 65536"/>
                <a:gd name="T8" fmla="*/ 0 60000 65536"/>
                <a:gd name="T9" fmla="*/ 0 w 43200"/>
                <a:gd name="T10" fmla="*/ 0 h 23101"/>
                <a:gd name="T11" fmla="*/ 43200 w 43200"/>
                <a:gd name="T12" fmla="*/ 23101 h 231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3101" fill="none" extrusionOk="0">
                  <a:moveTo>
                    <a:pt x="52" y="23100"/>
                  </a:moveTo>
                  <a:cubicBezTo>
                    <a:pt x="17" y="22601"/>
                    <a:pt x="0" y="221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3101" stroke="0" extrusionOk="0">
                  <a:moveTo>
                    <a:pt x="52" y="23100"/>
                  </a:moveTo>
                  <a:cubicBezTo>
                    <a:pt x="17" y="22601"/>
                    <a:pt x="0" y="221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52" y="231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43"/>
          <p:cNvGrpSpPr>
            <a:grpSpLocks/>
          </p:cNvGrpSpPr>
          <p:nvPr/>
        </p:nvGrpSpPr>
        <p:grpSpPr bwMode="auto">
          <a:xfrm>
            <a:off x="5603760" y="5525780"/>
            <a:ext cx="1067047" cy="549402"/>
            <a:chOff x="2568" y="3480"/>
            <a:chExt cx="672" cy="346"/>
          </a:xfrm>
        </p:grpSpPr>
        <p:sp>
          <p:nvSpPr>
            <p:cNvPr id="25624" name="Rectangle 37"/>
            <p:cNvSpPr>
              <a:spLocks noChangeArrowheads="1"/>
            </p:cNvSpPr>
            <p:nvPr/>
          </p:nvSpPr>
          <p:spPr bwMode="auto">
            <a:xfrm>
              <a:off x="2807" y="353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q</a:t>
              </a:r>
            </a:p>
          </p:txBody>
        </p:sp>
        <p:sp>
          <p:nvSpPr>
            <p:cNvPr id="25625" name="Arc 38"/>
            <p:cNvSpPr>
              <a:spLocks/>
            </p:cNvSpPr>
            <p:nvPr/>
          </p:nvSpPr>
          <p:spPr bwMode="auto">
            <a:xfrm flipV="1">
              <a:off x="2568" y="3480"/>
              <a:ext cx="672" cy="153"/>
            </a:xfrm>
            <a:custGeom>
              <a:avLst/>
              <a:gdLst>
                <a:gd name="T0" fmla="*/ 0 w 43200"/>
                <a:gd name="T1" fmla="*/ 0 h 22995"/>
                <a:gd name="T2" fmla="*/ 0 w 43200"/>
                <a:gd name="T3" fmla="*/ 0 h 22995"/>
                <a:gd name="T4" fmla="*/ 0 w 43200"/>
                <a:gd name="T5" fmla="*/ 0 h 22995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995"/>
                <a:gd name="T11" fmla="*/ 43200 w 43200"/>
                <a:gd name="T12" fmla="*/ 22995 h 229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995" fill="none" extrusionOk="0">
                  <a:moveTo>
                    <a:pt x="45" y="22994"/>
                  </a:moveTo>
                  <a:cubicBezTo>
                    <a:pt x="15" y="22530"/>
                    <a:pt x="0" y="22065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2995" stroke="0" extrusionOk="0">
                  <a:moveTo>
                    <a:pt x="45" y="22994"/>
                  </a:moveTo>
                  <a:cubicBezTo>
                    <a:pt x="15" y="22530"/>
                    <a:pt x="0" y="22065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45" y="22994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</p:grpSp>
      <p:grpSp>
        <p:nvGrpSpPr>
          <p:cNvPr id="10" name="Group 45"/>
          <p:cNvGrpSpPr>
            <a:grpSpLocks/>
          </p:cNvGrpSpPr>
          <p:nvPr/>
        </p:nvGrpSpPr>
        <p:grpSpPr bwMode="auto">
          <a:xfrm>
            <a:off x="6718444" y="4515895"/>
            <a:ext cx="1065460" cy="681196"/>
            <a:chOff x="3270" y="2844"/>
            <a:chExt cx="671" cy="429"/>
          </a:xfrm>
        </p:grpSpPr>
        <p:sp>
          <p:nvSpPr>
            <p:cNvPr id="25622" name="Rectangle 39"/>
            <p:cNvSpPr>
              <a:spLocks noChangeArrowheads="1"/>
            </p:cNvSpPr>
            <p:nvPr/>
          </p:nvSpPr>
          <p:spPr bwMode="auto">
            <a:xfrm>
              <a:off x="3528" y="2844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p</a:t>
              </a:r>
            </a:p>
          </p:txBody>
        </p:sp>
        <p:sp>
          <p:nvSpPr>
            <p:cNvPr id="25623" name="Arc 40"/>
            <p:cNvSpPr>
              <a:spLocks/>
            </p:cNvSpPr>
            <p:nvPr/>
          </p:nvSpPr>
          <p:spPr bwMode="auto">
            <a:xfrm flipH="1">
              <a:off x="3270" y="3110"/>
              <a:ext cx="671" cy="163"/>
            </a:xfrm>
            <a:custGeom>
              <a:avLst/>
              <a:gdLst>
                <a:gd name="T0" fmla="*/ 0 w 43200"/>
                <a:gd name="T1" fmla="*/ 0 h 23101"/>
                <a:gd name="T2" fmla="*/ 0 w 43200"/>
                <a:gd name="T3" fmla="*/ 0 h 23101"/>
                <a:gd name="T4" fmla="*/ 0 w 43200"/>
                <a:gd name="T5" fmla="*/ 0 h 23101"/>
                <a:gd name="T6" fmla="*/ 0 60000 65536"/>
                <a:gd name="T7" fmla="*/ 0 60000 65536"/>
                <a:gd name="T8" fmla="*/ 0 60000 65536"/>
                <a:gd name="T9" fmla="*/ 0 w 43200"/>
                <a:gd name="T10" fmla="*/ 0 h 23101"/>
                <a:gd name="T11" fmla="*/ 43200 w 43200"/>
                <a:gd name="T12" fmla="*/ 23101 h 231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3101" fill="none" extrusionOk="0">
                  <a:moveTo>
                    <a:pt x="52" y="23100"/>
                  </a:moveTo>
                  <a:cubicBezTo>
                    <a:pt x="17" y="22601"/>
                    <a:pt x="0" y="221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3101" stroke="0" extrusionOk="0">
                  <a:moveTo>
                    <a:pt x="52" y="23100"/>
                  </a:moveTo>
                  <a:cubicBezTo>
                    <a:pt x="17" y="22601"/>
                    <a:pt x="0" y="221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52" y="231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47"/>
          <p:cNvGrpSpPr>
            <a:grpSpLocks/>
          </p:cNvGrpSpPr>
          <p:nvPr/>
        </p:nvGrpSpPr>
        <p:grpSpPr bwMode="auto">
          <a:xfrm>
            <a:off x="7899817" y="5182800"/>
            <a:ext cx="593862" cy="457306"/>
            <a:chOff x="4014" y="3264"/>
            <a:chExt cx="374" cy="288"/>
          </a:xfrm>
        </p:grpSpPr>
        <p:sp>
          <p:nvSpPr>
            <p:cNvPr id="25620" name="Rectangle 28"/>
            <p:cNvSpPr>
              <a:spLocks noChangeArrowheads="1"/>
            </p:cNvSpPr>
            <p:nvPr/>
          </p:nvSpPr>
          <p:spPr bwMode="auto">
            <a:xfrm>
              <a:off x="4176" y="32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25621" name="Arc 41"/>
            <p:cNvSpPr>
              <a:spLocks/>
            </p:cNvSpPr>
            <p:nvPr/>
          </p:nvSpPr>
          <p:spPr bwMode="auto">
            <a:xfrm flipH="1">
              <a:off x="4014" y="3301"/>
              <a:ext cx="186" cy="227"/>
            </a:xfrm>
            <a:custGeom>
              <a:avLst/>
              <a:gdLst>
                <a:gd name="T0" fmla="*/ 0 w 35385"/>
                <a:gd name="T1" fmla="*/ 0 h 43200"/>
                <a:gd name="T2" fmla="*/ 0 w 35385"/>
                <a:gd name="T3" fmla="*/ 0 h 43200"/>
                <a:gd name="T4" fmla="*/ 0 w 35385"/>
                <a:gd name="T5" fmla="*/ 0 h 43200"/>
                <a:gd name="T6" fmla="*/ 0 60000 65536"/>
                <a:gd name="T7" fmla="*/ 0 60000 65536"/>
                <a:gd name="T8" fmla="*/ 0 60000 65536"/>
                <a:gd name="T9" fmla="*/ 0 w 35385"/>
                <a:gd name="T10" fmla="*/ 0 h 43200"/>
                <a:gd name="T11" fmla="*/ 35385 w 35385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385" h="43200" fill="none" extrusionOk="0">
                  <a:moveTo>
                    <a:pt x="35385" y="38229"/>
                  </a:moveTo>
                  <a:cubicBezTo>
                    <a:pt x="31509" y="41441"/>
                    <a:pt x="26633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5251" y="-1"/>
                    <a:pt x="28844" y="925"/>
                    <a:pt x="32040" y="2691"/>
                  </a:cubicBezTo>
                </a:path>
                <a:path w="35385" h="43200" stroke="0" extrusionOk="0">
                  <a:moveTo>
                    <a:pt x="35385" y="38229"/>
                  </a:moveTo>
                  <a:cubicBezTo>
                    <a:pt x="31509" y="41441"/>
                    <a:pt x="26633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5251" y="-1"/>
                    <a:pt x="28844" y="925"/>
                    <a:pt x="32040" y="2691"/>
                  </a:cubicBezTo>
                  <a:lnTo>
                    <a:pt x="21600" y="21600"/>
                  </a:lnTo>
                  <a:lnTo>
                    <a:pt x="35385" y="38229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7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3" grpId="0" build="p"/>
      <p:bldP spid="27136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1(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0412" y="1425135"/>
            <a:ext cx="1674698" cy="582519"/>
          </a:xfrm>
        </p:spPr>
        <p:txBody>
          <a:bodyPr>
            <a:normAutofit fontScale="92500" lnSpcReduction="20000"/>
          </a:bodyPr>
          <a:lstStyle/>
          <a:p>
            <a:pPr marL="342969" indent="-342969">
              <a:lnSpc>
                <a:spcPct val="170000"/>
              </a:lnSpc>
              <a:buNone/>
            </a:pPr>
            <a:r>
              <a:rPr lang="en-US" altLang="zh-CN" dirty="0"/>
              <a:t>p</a:t>
            </a:r>
            <a:r>
              <a:rPr lang="en-US" altLang="zh-CN" baseline="-25000" dirty="0"/>
              <a:t>11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</a:p>
        </p:txBody>
      </p:sp>
      <p:sp>
        <p:nvSpPr>
          <p:cNvPr id="272388" name="Rectangle 4"/>
          <p:cNvSpPr>
            <a:spLocks noChangeArrowheads="1"/>
          </p:cNvSpPr>
          <p:nvPr/>
        </p:nvSpPr>
        <p:spPr bwMode="auto">
          <a:xfrm>
            <a:off x="1971461" y="1439507"/>
            <a:ext cx="1513237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f</a:t>
            </a:r>
            <a:r>
              <a:rPr lang="en-US" altLang="zh-CN" sz="2400" baseline="-25000" dirty="0"/>
              <a:t>11</a:t>
            </a:r>
            <a:r>
              <a:rPr lang="en-US" altLang="zh-CN" sz="2400" dirty="0"/>
              <a:t>(1)</a:t>
            </a:r>
            <a:r>
              <a:rPr lang="zh-CN" altLang="en-US" sz="2400" dirty="0"/>
              <a:t>＝</a:t>
            </a:r>
            <a:r>
              <a:rPr lang="en-US" altLang="zh-CN" sz="2400" dirty="0"/>
              <a:t>1</a:t>
            </a:r>
            <a:r>
              <a:rPr lang="zh-CN" altLang="en-US" sz="2400" dirty="0"/>
              <a:t>，</a:t>
            </a:r>
          </a:p>
        </p:txBody>
      </p:sp>
      <p:sp>
        <p:nvSpPr>
          <p:cNvPr id="272389" name="Rectangle 5"/>
          <p:cNvSpPr>
            <a:spLocks noChangeArrowheads="1"/>
          </p:cNvSpPr>
          <p:nvPr/>
        </p:nvSpPr>
        <p:spPr bwMode="auto">
          <a:xfrm>
            <a:off x="3465644" y="1439507"/>
            <a:ext cx="2450080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f</a:t>
            </a:r>
            <a:r>
              <a:rPr lang="en-US" altLang="zh-CN" sz="2400" baseline="-25000"/>
              <a:t>11</a:t>
            </a:r>
            <a:r>
              <a:rPr lang="en-US" altLang="zh-CN" sz="2400"/>
              <a:t>(n)</a:t>
            </a:r>
            <a:r>
              <a:rPr lang="zh-CN" altLang="en-US" sz="2400"/>
              <a:t>＝</a:t>
            </a:r>
            <a:r>
              <a:rPr lang="en-US" altLang="zh-CN" sz="2400"/>
              <a:t>0 (n&gt;1)</a:t>
            </a:r>
            <a:r>
              <a:rPr lang="zh-CN" altLang="en-US" sz="2400"/>
              <a:t>，</a:t>
            </a:r>
          </a:p>
        </p:txBody>
      </p:sp>
      <p:sp>
        <p:nvSpPr>
          <p:cNvPr id="272390" name="Rectangle 6"/>
          <p:cNvSpPr>
            <a:spLocks noChangeArrowheads="1"/>
          </p:cNvSpPr>
          <p:nvPr/>
        </p:nvSpPr>
        <p:spPr bwMode="auto">
          <a:xfrm>
            <a:off x="5688659" y="1439507"/>
            <a:ext cx="1408439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f</a:t>
            </a:r>
            <a:r>
              <a:rPr lang="en-US" altLang="zh-CN" sz="2400" baseline="-25000"/>
              <a:t>11</a:t>
            </a:r>
            <a:r>
              <a:rPr lang="zh-CN" altLang="en-US" sz="2400"/>
              <a:t>＝</a:t>
            </a:r>
            <a:r>
              <a:rPr lang="en-US" altLang="zh-CN" sz="2400"/>
              <a:t>1</a:t>
            </a:r>
            <a:r>
              <a:rPr lang="zh-CN" altLang="en-US" sz="2400"/>
              <a:t>，</a:t>
            </a:r>
          </a:p>
        </p:txBody>
      </p:sp>
      <p:sp>
        <p:nvSpPr>
          <p:cNvPr id="272391" name="Rectangle 7"/>
          <p:cNvSpPr>
            <a:spLocks noChangeArrowheads="1"/>
          </p:cNvSpPr>
          <p:nvPr/>
        </p:nvSpPr>
        <p:spPr bwMode="auto">
          <a:xfrm>
            <a:off x="6870032" y="1439507"/>
            <a:ext cx="1224246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</a:t>
            </a:r>
            <a:r>
              <a:rPr lang="en-US" altLang="zh-CN" sz="2400" baseline="-25000"/>
              <a:t>1</a:t>
            </a:r>
            <a:r>
              <a:rPr lang="zh-CN" altLang="en-US" sz="2400"/>
              <a:t>＝</a:t>
            </a:r>
            <a:r>
              <a:rPr lang="en-US" altLang="zh-CN" sz="2400"/>
              <a:t>1</a:t>
            </a:r>
            <a:r>
              <a:rPr lang="zh-CN" altLang="en-US" sz="2400"/>
              <a:t>，</a:t>
            </a:r>
          </a:p>
        </p:txBody>
      </p:sp>
      <p:sp>
        <p:nvSpPr>
          <p:cNvPr id="272392" name="Rectangle 8"/>
          <p:cNvSpPr>
            <a:spLocks noChangeArrowheads="1"/>
          </p:cNvSpPr>
          <p:nvPr/>
        </p:nvSpPr>
        <p:spPr bwMode="auto">
          <a:xfrm>
            <a:off x="760412" y="2145578"/>
            <a:ext cx="7778962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故状态</a:t>
            </a:r>
            <a:r>
              <a:rPr lang="en-US" altLang="zh-CN" sz="2400" dirty="0"/>
              <a:t>1</a:t>
            </a:r>
            <a:r>
              <a:rPr lang="zh-CN" altLang="en-US" sz="2400" dirty="0"/>
              <a:t>为正常返状态；</a:t>
            </a:r>
          </a:p>
        </p:txBody>
      </p:sp>
      <p:sp>
        <p:nvSpPr>
          <p:cNvPr id="272393" name="Rectangle 9"/>
          <p:cNvSpPr>
            <a:spLocks noChangeArrowheads="1"/>
          </p:cNvSpPr>
          <p:nvPr/>
        </p:nvSpPr>
        <p:spPr bwMode="auto">
          <a:xfrm>
            <a:off x="810821" y="2753046"/>
            <a:ext cx="1584692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p</a:t>
            </a:r>
            <a:r>
              <a:rPr lang="en-US" altLang="zh-CN" sz="2400" baseline="-25000"/>
              <a:t>44</a:t>
            </a:r>
            <a:r>
              <a:rPr lang="zh-CN" altLang="en-US" sz="2400"/>
              <a:t>＝</a:t>
            </a:r>
            <a:r>
              <a:rPr lang="en-US" altLang="zh-CN" sz="2400"/>
              <a:t>1</a:t>
            </a:r>
            <a:r>
              <a:rPr lang="zh-CN" altLang="en-US" sz="2400"/>
              <a:t>，</a:t>
            </a:r>
          </a:p>
        </p:txBody>
      </p:sp>
      <p:sp>
        <p:nvSpPr>
          <p:cNvPr id="272394" name="Rectangle 10"/>
          <p:cNvSpPr>
            <a:spLocks noChangeArrowheads="1"/>
          </p:cNvSpPr>
          <p:nvPr/>
        </p:nvSpPr>
        <p:spPr bwMode="auto">
          <a:xfrm>
            <a:off x="1938207" y="2753046"/>
            <a:ext cx="1657734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f</a:t>
            </a:r>
            <a:r>
              <a:rPr lang="en-US" altLang="zh-CN" sz="2400" baseline="-25000" dirty="0"/>
              <a:t>44</a:t>
            </a:r>
            <a:r>
              <a:rPr lang="en-US" altLang="zh-CN" sz="2400" dirty="0"/>
              <a:t>(1)</a:t>
            </a:r>
            <a:r>
              <a:rPr lang="zh-CN" altLang="en-US" sz="2400" dirty="0"/>
              <a:t>＝</a:t>
            </a:r>
            <a:r>
              <a:rPr lang="en-US" altLang="zh-CN" sz="2400" dirty="0"/>
              <a:t>1</a:t>
            </a:r>
            <a:r>
              <a:rPr lang="zh-CN" altLang="en-US" sz="2400" dirty="0"/>
              <a:t>，</a:t>
            </a:r>
          </a:p>
        </p:txBody>
      </p:sp>
      <p:sp>
        <p:nvSpPr>
          <p:cNvPr id="272395" name="Rectangle 11"/>
          <p:cNvSpPr>
            <a:spLocks noChangeArrowheads="1"/>
          </p:cNvSpPr>
          <p:nvPr/>
        </p:nvSpPr>
        <p:spPr bwMode="auto">
          <a:xfrm>
            <a:off x="3432390" y="2753046"/>
            <a:ext cx="2448492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f</a:t>
            </a:r>
            <a:r>
              <a:rPr lang="en-US" altLang="zh-CN" sz="2400" baseline="-25000"/>
              <a:t>44</a:t>
            </a:r>
            <a:r>
              <a:rPr lang="en-US" altLang="zh-CN" sz="2400"/>
              <a:t>(n)</a:t>
            </a:r>
            <a:r>
              <a:rPr lang="zh-CN" altLang="en-US" sz="2400"/>
              <a:t>＝</a:t>
            </a:r>
            <a:r>
              <a:rPr lang="en-US" altLang="zh-CN" sz="2400"/>
              <a:t>0 (n&gt;1)</a:t>
            </a:r>
            <a:r>
              <a:rPr lang="zh-CN" altLang="en-US" sz="2400"/>
              <a:t>，</a:t>
            </a:r>
          </a:p>
        </p:txBody>
      </p:sp>
      <p:sp>
        <p:nvSpPr>
          <p:cNvPr id="272396" name="Rectangle 12"/>
          <p:cNvSpPr>
            <a:spLocks noChangeArrowheads="1"/>
          </p:cNvSpPr>
          <p:nvPr/>
        </p:nvSpPr>
        <p:spPr bwMode="auto">
          <a:xfrm>
            <a:off x="5655405" y="2753046"/>
            <a:ext cx="1224246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f</a:t>
            </a:r>
            <a:r>
              <a:rPr lang="en-US" altLang="zh-CN" sz="2400" baseline="-25000"/>
              <a:t>44</a:t>
            </a:r>
            <a:r>
              <a:rPr lang="zh-CN" altLang="en-US" sz="2400"/>
              <a:t>＝</a:t>
            </a:r>
            <a:r>
              <a:rPr lang="en-US" altLang="zh-CN" sz="2400"/>
              <a:t>1</a:t>
            </a:r>
            <a:r>
              <a:rPr lang="zh-CN" altLang="en-US" sz="2400"/>
              <a:t>，</a:t>
            </a:r>
          </a:p>
        </p:txBody>
      </p:sp>
      <p:sp>
        <p:nvSpPr>
          <p:cNvPr id="272397" name="Rectangle 13"/>
          <p:cNvSpPr>
            <a:spLocks noChangeArrowheads="1"/>
          </p:cNvSpPr>
          <p:nvPr/>
        </p:nvSpPr>
        <p:spPr bwMode="auto">
          <a:xfrm>
            <a:off x="6836778" y="2753046"/>
            <a:ext cx="1259179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</a:t>
            </a:r>
            <a:r>
              <a:rPr lang="en-US" altLang="zh-CN" sz="2400" baseline="-25000"/>
              <a:t>4</a:t>
            </a:r>
            <a:r>
              <a:rPr lang="zh-CN" altLang="en-US" sz="2400"/>
              <a:t>＝</a:t>
            </a:r>
            <a:r>
              <a:rPr lang="en-US" altLang="zh-CN" sz="2400"/>
              <a:t>1</a:t>
            </a:r>
            <a:r>
              <a:rPr lang="zh-CN" altLang="en-US" sz="2400"/>
              <a:t>，</a:t>
            </a:r>
          </a:p>
        </p:txBody>
      </p:sp>
      <p:sp>
        <p:nvSpPr>
          <p:cNvPr id="272398" name="Rectangle 14"/>
          <p:cNvSpPr>
            <a:spLocks noChangeArrowheads="1"/>
          </p:cNvSpPr>
          <p:nvPr/>
        </p:nvSpPr>
        <p:spPr bwMode="auto">
          <a:xfrm>
            <a:off x="730250" y="3438413"/>
            <a:ext cx="7778962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故状态</a:t>
            </a:r>
            <a:r>
              <a:rPr lang="en-US" altLang="zh-CN" sz="2400"/>
              <a:t>4</a:t>
            </a:r>
            <a:r>
              <a:rPr lang="zh-CN" altLang="en-US" sz="2400"/>
              <a:t>为正常返状态；</a:t>
            </a:r>
          </a:p>
        </p:txBody>
      </p:sp>
      <p:sp>
        <p:nvSpPr>
          <p:cNvPr id="272399" name="Rectangle 15"/>
          <p:cNvSpPr>
            <a:spLocks noChangeArrowheads="1"/>
          </p:cNvSpPr>
          <p:nvPr/>
        </p:nvSpPr>
        <p:spPr bwMode="auto">
          <a:xfrm>
            <a:off x="837598" y="4153628"/>
            <a:ext cx="1229009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p</a:t>
            </a:r>
            <a:r>
              <a:rPr lang="en-US" altLang="zh-CN" sz="2400" baseline="-25000" dirty="0"/>
              <a:t>22</a:t>
            </a:r>
            <a:r>
              <a:rPr lang="zh-CN" altLang="en-US" sz="2400" dirty="0"/>
              <a:t>＝</a:t>
            </a:r>
            <a:r>
              <a:rPr lang="en-US" altLang="zh-CN" sz="2400" dirty="0"/>
              <a:t>0</a:t>
            </a:r>
            <a:r>
              <a:rPr lang="zh-CN" altLang="en-US" sz="2400" dirty="0"/>
              <a:t>，</a:t>
            </a:r>
          </a:p>
        </p:txBody>
      </p:sp>
      <p:sp>
        <p:nvSpPr>
          <p:cNvPr id="272400" name="Rectangle 16"/>
          <p:cNvSpPr>
            <a:spLocks noChangeArrowheads="1"/>
          </p:cNvSpPr>
          <p:nvPr/>
        </p:nvSpPr>
        <p:spPr bwMode="auto">
          <a:xfrm>
            <a:off x="1857008" y="4153628"/>
            <a:ext cx="1584692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f</a:t>
            </a:r>
            <a:r>
              <a:rPr lang="en-US" altLang="zh-CN" sz="2400" baseline="-25000" dirty="0"/>
              <a:t>22</a:t>
            </a:r>
            <a:r>
              <a:rPr lang="en-US" altLang="zh-CN" sz="2400" dirty="0"/>
              <a:t>(1)</a:t>
            </a:r>
            <a:r>
              <a:rPr lang="zh-CN" altLang="en-US" sz="2400" dirty="0"/>
              <a:t>＝</a:t>
            </a:r>
            <a:r>
              <a:rPr lang="en-US" altLang="zh-CN" sz="2400" dirty="0"/>
              <a:t>0</a:t>
            </a:r>
            <a:r>
              <a:rPr lang="zh-CN" altLang="en-US" sz="2400" dirty="0"/>
              <a:t>，</a:t>
            </a:r>
          </a:p>
        </p:txBody>
      </p:sp>
      <p:sp>
        <p:nvSpPr>
          <p:cNvPr id="272401" name="Rectangle 17"/>
          <p:cNvSpPr>
            <a:spLocks noChangeArrowheads="1"/>
          </p:cNvSpPr>
          <p:nvPr/>
        </p:nvSpPr>
        <p:spPr bwMode="auto">
          <a:xfrm>
            <a:off x="3171762" y="4157438"/>
            <a:ext cx="1873684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f</a:t>
            </a:r>
            <a:r>
              <a:rPr lang="en-US" altLang="zh-CN" sz="2400" baseline="-25000" dirty="0"/>
              <a:t>22</a:t>
            </a:r>
            <a:r>
              <a:rPr lang="en-US" altLang="zh-CN" sz="2400" dirty="0"/>
              <a:t>(2)</a:t>
            </a:r>
            <a:r>
              <a:rPr lang="zh-CN" altLang="en-US" sz="2400" dirty="0"/>
              <a:t>＝</a:t>
            </a:r>
            <a:r>
              <a:rPr lang="en-US" altLang="zh-CN" sz="2400" dirty="0" err="1"/>
              <a:t>pq</a:t>
            </a:r>
            <a:r>
              <a:rPr lang="zh-CN" altLang="en-US" sz="2400" dirty="0"/>
              <a:t>，</a:t>
            </a:r>
          </a:p>
        </p:txBody>
      </p:sp>
      <p:sp>
        <p:nvSpPr>
          <p:cNvPr id="272402" name="Rectangle 18"/>
          <p:cNvSpPr>
            <a:spLocks noChangeArrowheads="1"/>
          </p:cNvSpPr>
          <p:nvPr/>
        </p:nvSpPr>
        <p:spPr bwMode="auto">
          <a:xfrm>
            <a:off x="4665945" y="4153628"/>
            <a:ext cx="2377038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f</a:t>
            </a:r>
            <a:r>
              <a:rPr lang="en-US" altLang="zh-CN" sz="2400" baseline="-25000"/>
              <a:t>22</a:t>
            </a:r>
            <a:r>
              <a:rPr lang="en-US" altLang="zh-CN" sz="2400"/>
              <a:t>(n)</a:t>
            </a:r>
            <a:r>
              <a:rPr lang="zh-CN" altLang="en-US" sz="2400"/>
              <a:t>＝</a:t>
            </a:r>
            <a:r>
              <a:rPr lang="en-US" altLang="zh-CN" sz="2400"/>
              <a:t>0 (n&gt;2)</a:t>
            </a:r>
            <a:r>
              <a:rPr lang="zh-CN" altLang="en-US" sz="2400"/>
              <a:t>，</a:t>
            </a:r>
          </a:p>
        </p:txBody>
      </p:sp>
      <p:sp>
        <p:nvSpPr>
          <p:cNvPr id="272403" name="Rectangle 19"/>
          <p:cNvSpPr>
            <a:spLocks noChangeArrowheads="1"/>
          </p:cNvSpPr>
          <p:nvPr/>
        </p:nvSpPr>
        <p:spPr bwMode="auto">
          <a:xfrm>
            <a:off x="6755578" y="4153628"/>
            <a:ext cx="1403675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f</a:t>
            </a:r>
            <a:r>
              <a:rPr lang="en-US" altLang="zh-CN" sz="2400" baseline="-25000"/>
              <a:t>22</a:t>
            </a:r>
            <a:r>
              <a:rPr lang="zh-CN" altLang="en-US" sz="2400"/>
              <a:t>＝</a:t>
            </a:r>
            <a:r>
              <a:rPr lang="en-US" altLang="zh-CN" sz="2400"/>
              <a:t>pq</a:t>
            </a:r>
            <a:r>
              <a:rPr lang="zh-CN" altLang="en-US" sz="2400"/>
              <a:t>，</a:t>
            </a:r>
          </a:p>
        </p:txBody>
      </p:sp>
      <p:sp>
        <p:nvSpPr>
          <p:cNvPr id="272404" name="Rectangle 20"/>
          <p:cNvSpPr>
            <a:spLocks noChangeArrowheads="1"/>
          </p:cNvSpPr>
          <p:nvPr/>
        </p:nvSpPr>
        <p:spPr bwMode="auto">
          <a:xfrm>
            <a:off x="785875" y="4877029"/>
            <a:ext cx="5257429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故状态</a:t>
            </a:r>
            <a:r>
              <a:rPr lang="en-US" altLang="zh-CN" sz="2400" dirty="0"/>
              <a:t>2</a:t>
            </a:r>
            <a:r>
              <a:rPr lang="zh-CN" altLang="en-US" sz="2400" dirty="0"/>
              <a:t>为非常返状态。</a:t>
            </a:r>
          </a:p>
        </p:txBody>
      </p:sp>
      <p:sp>
        <p:nvSpPr>
          <p:cNvPr id="272405" name="Rectangle 21"/>
          <p:cNvSpPr>
            <a:spLocks noChangeArrowheads="1"/>
          </p:cNvSpPr>
          <p:nvPr/>
        </p:nvSpPr>
        <p:spPr bwMode="auto">
          <a:xfrm>
            <a:off x="598824" y="4901124"/>
            <a:ext cx="11000702" cy="103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                                  </a:t>
            </a:r>
            <a:r>
              <a:rPr lang="zh-CN" altLang="en-US" sz="2400" dirty="0"/>
              <a:t>状态</a:t>
            </a:r>
            <a:r>
              <a:rPr lang="en-US" altLang="zh-CN" sz="2400" dirty="0"/>
              <a:t>2</a:t>
            </a:r>
            <a:r>
              <a:rPr lang="zh-CN" altLang="en-US" sz="2400" dirty="0"/>
              <a:t>和</a:t>
            </a:r>
            <a:r>
              <a:rPr lang="en-US" altLang="zh-CN" sz="2400" dirty="0"/>
              <a:t>3</a:t>
            </a:r>
            <a:r>
              <a:rPr lang="zh-CN" altLang="en-US" sz="2400" dirty="0"/>
              <a:t>互通，</a:t>
            </a:r>
            <a:r>
              <a:rPr lang="en-US" altLang="zh-CN" sz="2400" dirty="0"/>
              <a:t>2</a:t>
            </a:r>
            <a:r>
              <a:rPr lang="en-US" altLang="zh-CN" sz="2400" dirty="0">
                <a:sym typeface="Symbol" panose="05050102010706020507" pitchFamily="18" charset="2"/>
              </a:rPr>
              <a:t>↔</a:t>
            </a:r>
            <a:r>
              <a:rPr lang="en-US" altLang="zh-CN" sz="2400" dirty="0"/>
              <a:t>3</a:t>
            </a:r>
            <a:r>
              <a:rPr lang="zh-CN" altLang="en-US" sz="2400" dirty="0"/>
              <a:t>，具有相同的状态性质，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即状态</a:t>
            </a:r>
            <a:r>
              <a:rPr lang="en-US" altLang="zh-CN" sz="2400" dirty="0"/>
              <a:t>3</a:t>
            </a:r>
            <a:r>
              <a:rPr lang="zh-CN" altLang="en-US" sz="2400" dirty="0"/>
              <a:t>也为非常返状态。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2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2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2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2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2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2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2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2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2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2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2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2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2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2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2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2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2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2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2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2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2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2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72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2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72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72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7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7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7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72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72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72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72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7" grpId="0" build="p" autoUpdateAnimBg="0" advAuto="0"/>
      <p:bldP spid="272388" grpId="0" build="p" autoUpdateAnimBg="0" advAuto="0"/>
      <p:bldP spid="272389" grpId="0" build="p" autoUpdateAnimBg="0" advAuto="0"/>
      <p:bldP spid="272390" grpId="0" build="p" autoUpdateAnimBg="0" advAuto="0"/>
      <p:bldP spid="272391" grpId="0" build="p" autoUpdateAnimBg="0" advAuto="0"/>
      <p:bldP spid="272392" grpId="0" build="p" autoUpdateAnimBg="0" advAuto="0"/>
      <p:bldP spid="272393" grpId="0" build="p" autoUpdateAnimBg="0" advAuto="0"/>
      <p:bldP spid="272394" grpId="0" build="p" autoUpdateAnimBg="0" advAuto="0"/>
      <p:bldP spid="272395" grpId="0" build="p" autoUpdateAnimBg="0" advAuto="0"/>
      <p:bldP spid="272396" grpId="0" build="p" autoUpdateAnimBg="0" advAuto="0"/>
      <p:bldP spid="272397" grpId="0" build="p" autoUpdateAnimBg="0" advAuto="0"/>
      <p:bldP spid="272398" grpId="0" build="p" autoUpdateAnimBg="0" advAuto="0"/>
      <p:bldP spid="272399" grpId="0" build="p" autoUpdateAnimBg="0" advAuto="0"/>
      <p:bldP spid="272400" grpId="0" build="p" autoUpdateAnimBg="0" advAuto="0"/>
      <p:bldP spid="272401" grpId="0" build="p" autoUpdateAnimBg="0" advAuto="0"/>
      <p:bldP spid="272402" grpId="0" build="p" autoUpdateAnimBg="0" advAuto="0"/>
      <p:bldP spid="272403" grpId="0" build="p" autoUpdateAnimBg="0" advAuto="0"/>
      <p:bldP spid="272404" grpId="0" build="p" autoUpdateAnimBg="0" advAuto="0"/>
      <p:bldP spid="272405" grpId="0" build="p" autoUpdateAnimBg="0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三、状态空间分解</a:t>
            </a:r>
          </a:p>
        </p:txBody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6576" y="1143265"/>
            <a:ext cx="10887074" cy="1330633"/>
          </a:xfrm>
        </p:spPr>
        <p:txBody>
          <a:bodyPr>
            <a:normAutofit/>
          </a:bodyPr>
          <a:lstStyle/>
          <a:p>
            <a:pPr marL="0" indent="719282" algn="just">
              <a:buNone/>
            </a:pPr>
            <a:r>
              <a:rPr lang="zh-CN" altLang="en-US" dirty="0"/>
              <a:t>设</a:t>
            </a:r>
            <a:r>
              <a:rPr lang="en-US" altLang="zh-CN" dirty="0"/>
              <a:t>C</a:t>
            </a:r>
            <a:r>
              <a:rPr lang="zh-CN" altLang="en-US" dirty="0"/>
              <a:t>是状态空间</a:t>
            </a:r>
            <a:r>
              <a:rPr lang="en-US" altLang="zh-CN" dirty="0"/>
              <a:t>E</a:t>
            </a:r>
            <a:r>
              <a:rPr lang="zh-CN" altLang="en-US" dirty="0"/>
              <a:t>的一个子集，若</a:t>
            </a:r>
            <a:r>
              <a:rPr lang="en-US" altLang="zh-CN" dirty="0"/>
              <a:t>C</a:t>
            </a:r>
            <a:r>
              <a:rPr lang="zh-CN" altLang="en-US" dirty="0"/>
              <a:t>外的任一状态不可能从</a:t>
            </a:r>
            <a:r>
              <a:rPr lang="en-US" altLang="zh-CN" dirty="0"/>
              <a:t>C</a:t>
            </a:r>
            <a:r>
              <a:rPr lang="zh-CN" altLang="en-US" dirty="0"/>
              <a:t>内的任一状态到达，即对任意的</a:t>
            </a:r>
            <a:r>
              <a:rPr lang="en-US" altLang="zh-CN" dirty="0" err="1"/>
              <a:t>i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dirty="0" err="1"/>
              <a:t>C</a:t>
            </a:r>
            <a:r>
              <a:rPr lang="en-US" altLang="zh-CN" dirty="0"/>
              <a:t>, </a:t>
            </a:r>
            <a:r>
              <a:rPr lang="en-US" altLang="zh-CN" dirty="0" err="1"/>
              <a:t>j</a:t>
            </a:r>
            <a:r>
              <a:rPr lang="en-US" altLang="zh-CN" dirty="0" err="1">
                <a:sym typeface="Symbol" panose="05050102010706020507" pitchFamily="18" charset="2"/>
              </a:rPr>
              <a:t></a:t>
            </a:r>
            <a:r>
              <a:rPr lang="en-US" altLang="zh-CN" dirty="0" err="1"/>
              <a:t>C</a:t>
            </a:r>
            <a:r>
              <a:rPr lang="zh-CN" altLang="en-US" dirty="0"/>
              <a:t>，总有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ij</a:t>
            </a:r>
            <a:r>
              <a:rPr lang="en-US" altLang="zh-CN" dirty="0"/>
              <a:t>(n)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，则称</a:t>
            </a:r>
            <a:r>
              <a:rPr lang="en-US" altLang="zh-CN" dirty="0"/>
              <a:t>C</a:t>
            </a:r>
            <a:r>
              <a:rPr lang="zh-CN" altLang="en-US" dirty="0"/>
              <a:t>为一个</a:t>
            </a:r>
            <a:r>
              <a:rPr lang="zh-CN" altLang="en-US" dirty="0">
                <a:solidFill>
                  <a:srgbClr val="CC00CC"/>
                </a:solidFill>
              </a:rPr>
              <a:t>闭集</a:t>
            </a:r>
            <a:r>
              <a:rPr lang="zh-CN" altLang="en-US" dirty="0"/>
              <a:t>。</a:t>
            </a:r>
          </a:p>
        </p:txBody>
      </p:sp>
      <p:sp>
        <p:nvSpPr>
          <p:cNvPr id="266245" name="Rectangle 5">
            <a:extLst>
              <a:ext uri="{FF2B5EF4-FFF2-40B4-BE49-F238E27FC236}">
                <a16:creationId xmlns:a16="http://schemas.microsoft.com/office/drawing/2014/main" id="{5F39A273-5105-468B-A5DB-FFB18DA25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2286794"/>
            <a:ext cx="10059299" cy="4366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914400" indent="-45720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重要结论：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  <a:defRPr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整个状态空间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是最大的闭集；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  <a:defRPr/>
            </a:pP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</a:rPr>
              <a:t>p</a:t>
            </a:r>
            <a:r>
              <a:rPr lang="en-US" altLang="zh-CN" sz="2400" baseline="-25000" dirty="0" err="1">
                <a:solidFill>
                  <a:srgbClr val="0000FF"/>
                </a:solidFill>
                <a:latin typeface="+mn-ea"/>
                <a:ea typeface="+mn-ea"/>
              </a:rPr>
              <a:t>ii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的状态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</a:rPr>
              <a:t>i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称为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吸收状态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。任何一个吸收状态构成最小的单点闭集。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  <a:defRPr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所有常返状态构成一个闭集；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  <a:defRPr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状态空间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必可分解为</a:t>
            </a:r>
          </a:p>
          <a:p>
            <a:pPr lvl="1" algn="ctr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…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sz="2400" baseline="-25000" dirty="0" err="1">
                <a:solidFill>
                  <a:srgbClr val="0000FF"/>
                </a:solidFill>
                <a:latin typeface="+mn-ea"/>
                <a:ea typeface="+mn-ea"/>
              </a:rPr>
              <a:t>k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…</a:t>
            </a:r>
          </a:p>
          <a:p>
            <a:pPr marL="540108" lvl="1" indent="0" algn="just">
              <a:lnSpc>
                <a:spcPct val="150000"/>
              </a:lnSpc>
              <a:buNone/>
              <a:defRPr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其中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为非常返状态集合，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, 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, …, 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sz="2400" baseline="-25000" dirty="0" err="1">
                <a:solidFill>
                  <a:srgbClr val="0000FF"/>
                </a:solidFill>
                <a:latin typeface="+mn-ea"/>
                <a:ea typeface="+mn-ea"/>
              </a:rPr>
              <a:t>k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, …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是互不相交且不可细分的常返闭集。</a:t>
            </a:r>
          </a:p>
        </p:txBody>
      </p:sp>
      <p:sp>
        <p:nvSpPr>
          <p:cNvPr id="266247" name="AutoShape 7"/>
          <p:cNvSpPr>
            <a:spLocks noChangeArrowheads="1"/>
          </p:cNvSpPr>
          <p:nvPr/>
        </p:nvSpPr>
        <p:spPr bwMode="auto">
          <a:xfrm>
            <a:off x="7699375" y="3951577"/>
            <a:ext cx="4193858" cy="1224246"/>
          </a:xfrm>
          <a:prstGeom prst="wedgeRoundRectCallout">
            <a:avLst>
              <a:gd name="adj1" fmla="val -35288"/>
              <a:gd name="adj2" fmla="val 70145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anchor="ctr" anchorCtr="1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这里的“＋”即为集合的并“∪”且两两互不相容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266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266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66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266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66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266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266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66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5" grpId="0" build="p" autoUpdateAnimBg="0"/>
      <p:bldP spid="26624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1(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272392" name="Rectangle 8"/>
          <p:cNvSpPr>
            <a:spLocks noChangeArrowheads="1"/>
          </p:cNvSpPr>
          <p:nvPr/>
        </p:nvSpPr>
        <p:spPr bwMode="auto">
          <a:xfrm>
            <a:off x="780603" y="1536003"/>
            <a:ext cx="7778963" cy="43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状态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为吸收状态、正常返状态；</a:t>
            </a:r>
          </a:p>
        </p:txBody>
      </p:sp>
      <p:sp>
        <p:nvSpPr>
          <p:cNvPr id="272404" name="Rectangle 20"/>
          <p:cNvSpPr>
            <a:spLocks noChangeArrowheads="1"/>
          </p:cNvSpPr>
          <p:nvPr/>
        </p:nvSpPr>
        <p:spPr bwMode="auto">
          <a:xfrm>
            <a:off x="748846" y="2895217"/>
            <a:ext cx="6464209" cy="43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+mn-ea"/>
                <a:ea typeface="+mn-ea"/>
              </a:rPr>
              <a:t>状态</a:t>
            </a:r>
            <a:r>
              <a:rPr lang="en-US" altLang="zh-CN" sz="2400">
                <a:latin typeface="+mn-ea"/>
                <a:ea typeface="+mn-ea"/>
              </a:rPr>
              <a:t>2,3</a:t>
            </a:r>
            <a:r>
              <a:rPr lang="zh-CN" altLang="en-US" sz="2400">
                <a:latin typeface="+mn-ea"/>
                <a:ea typeface="+mn-ea"/>
              </a:rPr>
              <a:t>为非常返状态</a:t>
            </a:r>
            <a:r>
              <a:rPr lang="en-US" altLang="zh-CN" sz="2400">
                <a:latin typeface="+mn-ea"/>
                <a:ea typeface="+mn-ea"/>
              </a:rPr>
              <a:t>, </a:t>
            </a:r>
            <a:r>
              <a:rPr lang="zh-CN" altLang="en-US" sz="2400">
                <a:latin typeface="+mn-ea"/>
                <a:ea typeface="+mn-ea"/>
              </a:rPr>
              <a:t>且状态</a:t>
            </a:r>
            <a:r>
              <a:rPr lang="en-US" altLang="zh-CN" sz="2400">
                <a:latin typeface="+mn-ea"/>
                <a:ea typeface="+mn-ea"/>
              </a:rPr>
              <a:t>2</a:t>
            </a:r>
            <a:r>
              <a:rPr lang="zh-CN" altLang="en-US" sz="2400">
                <a:latin typeface="+mn-ea"/>
                <a:ea typeface="+mn-ea"/>
              </a:rPr>
              <a:t>和</a:t>
            </a:r>
            <a:r>
              <a:rPr lang="en-US" altLang="zh-CN" sz="2400">
                <a:latin typeface="+mn-ea"/>
                <a:ea typeface="+mn-ea"/>
              </a:rPr>
              <a:t>3</a:t>
            </a:r>
            <a:r>
              <a:rPr lang="zh-CN" altLang="en-US" sz="2400">
                <a:latin typeface="+mn-ea"/>
                <a:ea typeface="+mn-ea"/>
              </a:rPr>
              <a:t>互通。</a:t>
            </a:r>
          </a:p>
        </p:txBody>
      </p:sp>
      <p:sp>
        <p:nvSpPr>
          <p:cNvPr id="272406" name="Rectangle 22">
            <a:extLst>
              <a:ext uri="{FF2B5EF4-FFF2-40B4-BE49-F238E27FC236}">
                <a16:creationId xmlns:a16="http://schemas.microsoft.com/office/drawing/2014/main" id="{115C85D5-E988-4ED2-B3AE-745D6BEA0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3519886"/>
            <a:ext cx="9874301" cy="2145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{2, 3}</a:t>
            </a:r>
            <a:r>
              <a:rPr lang="zh-CN" altLang="en-US" sz="2400" dirty="0">
                <a:latin typeface="+mn-ea"/>
                <a:ea typeface="+mn-ea"/>
              </a:rPr>
              <a:t>为非常返集；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{1}</a:t>
            </a:r>
            <a:r>
              <a:rPr lang="zh-CN" altLang="en-US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{4}</a:t>
            </a:r>
            <a:r>
              <a:rPr lang="zh-CN" altLang="en-US" sz="2400" dirty="0">
                <a:latin typeface="+mn-ea"/>
                <a:ea typeface="+mn-ea"/>
              </a:rPr>
              <a:t>都为正常返集。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n>
                  <a:solidFill>
                    <a:srgbClr val="C00000"/>
                  </a:solidFill>
                </a:ln>
                <a:latin typeface="+mn-ea"/>
                <a:ea typeface="+mn-ea"/>
              </a:rPr>
              <a:t>状态空间分解</a:t>
            </a:r>
            <a:r>
              <a:rPr lang="zh-CN" altLang="en-US" sz="2400" dirty="0">
                <a:latin typeface="+mn-ea"/>
                <a:ea typeface="+mn-ea"/>
              </a:rPr>
              <a:t>为</a:t>
            </a:r>
          </a:p>
          <a:p>
            <a:pPr lvl="1" algn="ctr"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zh-CN" sz="2400" dirty="0">
                <a:latin typeface="+mn-ea"/>
                <a:ea typeface="+mn-ea"/>
              </a:rPr>
              <a:t>E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＋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＋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endParaRPr lang="en-US" altLang="zh-CN" sz="2400" dirty="0">
              <a:latin typeface="+mn-ea"/>
              <a:ea typeface="+mn-ea"/>
            </a:endParaRPr>
          </a:p>
          <a:p>
            <a:pPr lvl="1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400" dirty="0">
                <a:latin typeface="+mn-ea"/>
                <a:ea typeface="+mn-ea"/>
              </a:rPr>
              <a:t>即		</a:t>
            </a:r>
            <a:r>
              <a:rPr lang="en-US" altLang="zh-CN" sz="2400" dirty="0">
                <a:latin typeface="+mn-ea"/>
                <a:ea typeface="+mn-ea"/>
              </a:rPr>
              <a:t>E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{1, 2, 3, 4}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{2, 3}</a:t>
            </a:r>
            <a:r>
              <a:rPr lang="zh-CN" altLang="en-US" sz="2400" dirty="0">
                <a:latin typeface="+mn-ea"/>
                <a:ea typeface="+mn-ea"/>
              </a:rPr>
              <a:t>＋</a:t>
            </a:r>
            <a:r>
              <a:rPr lang="en-US" altLang="zh-CN" sz="2400" dirty="0">
                <a:latin typeface="+mn-ea"/>
                <a:ea typeface="+mn-ea"/>
              </a:rPr>
              <a:t>{1}</a:t>
            </a:r>
            <a:r>
              <a:rPr lang="zh-CN" altLang="en-US" sz="2400" dirty="0">
                <a:latin typeface="+mn-ea"/>
                <a:ea typeface="+mn-ea"/>
              </a:rPr>
              <a:t>＋</a:t>
            </a:r>
            <a:r>
              <a:rPr lang="en-US" altLang="zh-CN" sz="2400" dirty="0">
                <a:latin typeface="+mn-ea"/>
                <a:ea typeface="+mn-ea"/>
              </a:rPr>
              <a:t>{4}</a:t>
            </a:r>
          </a:p>
        </p:txBody>
      </p:sp>
      <p:sp>
        <p:nvSpPr>
          <p:cNvPr id="28" name="Rectangle 8"/>
          <p:cNvSpPr>
            <a:spLocks noChangeArrowheads="1"/>
          </p:cNvSpPr>
          <p:nvPr/>
        </p:nvSpPr>
        <p:spPr bwMode="auto">
          <a:xfrm>
            <a:off x="780603" y="2183853"/>
            <a:ext cx="7778963" cy="43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状态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en-US" sz="2400" dirty="0">
                <a:latin typeface="+mn-ea"/>
                <a:ea typeface="+mn-ea"/>
              </a:rPr>
              <a:t>为吸收状态、正常返状态；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92" grpId="0" build="p" autoUpdateAnimBg="0" advAuto="0"/>
      <p:bldP spid="272404" grpId="0" build="p" autoUpdateAnimBg="0" advAuto="0"/>
      <p:bldP spid="28" grpId="0" build="p" autoUpdateAnimBg="0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例子</a:t>
            </a:r>
          </a:p>
        </p:txBody>
      </p:sp>
      <p:sp>
        <p:nvSpPr>
          <p:cNvPr id="29704" name="矩形 10"/>
          <p:cNvSpPr>
            <a:spLocks noChangeArrowheads="1"/>
          </p:cNvSpPr>
          <p:nvPr/>
        </p:nvSpPr>
        <p:spPr bwMode="auto">
          <a:xfrm>
            <a:off x="676272" y="5695617"/>
            <a:ext cx="5759843" cy="1135054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又因为状态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与状态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是互通的，所以状态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也是正常返状态，显然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{4}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是吸收态。</a:t>
            </a:r>
          </a:p>
        </p:txBody>
      </p:sp>
      <p:sp>
        <p:nvSpPr>
          <p:cNvPr id="29707" name="矩形 10"/>
          <p:cNvSpPr>
            <a:spLocks noChangeArrowheads="1"/>
          </p:cNvSpPr>
          <p:nvPr/>
        </p:nvSpPr>
        <p:spPr bwMode="auto">
          <a:xfrm>
            <a:off x="688975" y="5204656"/>
            <a:ext cx="3886200" cy="46207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所以，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{1}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是正常返状态。</a:t>
            </a:r>
          </a:p>
        </p:txBody>
      </p:sp>
      <p:graphicFrame>
        <p:nvGraphicFramePr>
          <p:cNvPr id="2" name="Object 12">
            <a:extLst>
              <a:ext uri="{FF2B5EF4-FFF2-40B4-BE49-F238E27FC236}">
                <a16:creationId xmlns:a16="http://schemas.microsoft.com/office/drawing/2014/main" id="{C5933E8A-01BE-6C44-C684-CC793D8E88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0709" y="4311490"/>
          <a:ext cx="64071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76360" imgH="431640" progId="Equation.DSMT4">
                  <p:embed/>
                </p:oleObj>
              </mc:Choice>
              <mc:Fallback>
                <p:oleObj name="Equation" r:id="rId3" imgW="3276360" imgH="431640" progId="Equation.DSMT4">
                  <p:embed/>
                  <p:pic>
                    <p:nvPicPr>
                      <p:cNvPr id="2" name="Object 12">
                        <a:extLst>
                          <a:ext uri="{FF2B5EF4-FFF2-40B4-BE49-F238E27FC236}">
                            <a16:creationId xmlns:a16="http://schemas.microsoft.com/office/drawing/2014/main" id="{C5933E8A-01BE-6C44-C684-CC793D8E88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09" y="4311490"/>
                        <a:ext cx="64071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1">
            <a:extLst>
              <a:ext uri="{FF2B5EF4-FFF2-40B4-BE49-F238E27FC236}">
                <a16:creationId xmlns:a16="http://schemas.microsoft.com/office/drawing/2014/main" id="{12AD686D-73F0-086A-24C1-A24E8E3EE5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0709" y="3483196"/>
          <a:ext cx="4522788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09680" imgH="431640" progId="Equation.DSMT4">
                  <p:embed/>
                </p:oleObj>
              </mc:Choice>
              <mc:Fallback>
                <p:oleObj name="Equation" r:id="rId5" imgW="2209680" imgH="431640" progId="Equation.DSMT4">
                  <p:embed/>
                  <p:pic>
                    <p:nvPicPr>
                      <p:cNvPr id="3" name="Object 11">
                        <a:extLst>
                          <a:ext uri="{FF2B5EF4-FFF2-40B4-BE49-F238E27FC236}">
                            <a16:creationId xmlns:a16="http://schemas.microsoft.com/office/drawing/2014/main" id="{12AD686D-73F0-086A-24C1-A24E8E3EE5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09" y="3483196"/>
                        <a:ext cx="4522788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E33B2C-F479-8EA7-B8C9-19CD9C898E8B}"/>
              </a:ext>
            </a:extLst>
          </p:cNvPr>
          <p:cNvSpPr txBox="1">
            <a:spLocks noChangeArrowheads="1"/>
          </p:cNvSpPr>
          <p:nvPr/>
        </p:nvSpPr>
        <p:spPr>
          <a:xfrm>
            <a:off x="307976" y="1057558"/>
            <a:ext cx="2057399" cy="1838836"/>
          </a:xfrm>
          <a:prstGeom prst="rect">
            <a:avLst/>
          </a:prstGeom>
        </p:spPr>
        <p:txBody>
          <a:bodyPr vert="horz" lIns="121917" tIns="60958" rIns="121917" bIns="60958" rtlCol="0">
            <a:normAutofit fontScale="92500"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Tx/>
              <a:buNone/>
            </a:pPr>
            <a:r>
              <a:rPr lang="zh-CN" altLang="en-US" dirty="0"/>
              <a:t>设齐次马氏链的状态空间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{1, 2, 3, 4}</a:t>
            </a:r>
            <a:r>
              <a:rPr lang="zh-CN" altLang="en-US" dirty="0"/>
              <a:t>，</a:t>
            </a:r>
          </a:p>
        </p:txBody>
      </p:sp>
      <p:graphicFrame>
        <p:nvGraphicFramePr>
          <p:cNvPr id="5" name="Object 0">
            <a:extLst>
              <a:ext uri="{FF2B5EF4-FFF2-40B4-BE49-F238E27FC236}">
                <a16:creationId xmlns:a16="http://schemas.microsoft.com/office/drawing/2014/main" id="{863F7B64-ACA3-C329-5BA7-206C1FFC97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4327" y="912551"/>
          <a:ext cx="2319094" cy="2662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82680" imgH="1473120" progId="Equation.DSMT4">
                  <p:embed/>
                </p:oleObj>
              </mc:Choice>
              <mc:Fallback>
                <p:oleObj name="Equation" r:id="rId7" imgW="1282680" imgH="1473120" progId="Equation.DSMT4">
                  <p:embed/>
                  <p:pic>
                    <p:nvPicPr>
                      <p:cNvPr id="5" name="Object 0">
                        <a:extLst>
                          <a:ext uri="{FF2B5EF4-FFF2-40B4-BE49-F238E27FC236}">
                            <a16:creationId xmlns:a16="http://schemas.microsoft.com/office/drawing/2014/main" id="{863F7B64-ACA3-C329-5BA7-206C1FFC97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4327" y="912551"/>
                        <a:ext cx="2319094" cy="26629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8A0B791E-4465-075B-F7D7-041FFD9437C0}"/>
              </a:ext>
            </a:extLst>
          </p:cNvPr>
          <p:cNvSpPr txBox="1">
            <a:spLocks noChangeArrowheads="1"/>
          </p:cNvSpPr>
          <p:nvPr/>
        </p:nvSpPr>
        <p:spPr>
          <a:xfrm>
            <a:off x="522430" y="3766437"/>
            <a:ext cx="1356413" cy="427137"/>
          </a:xfrm>
          <a:prstGeom prst="rect">
            <a:avLst/>
          </a:prstGeom>
        </p:spPr>
        <p:txBody>
          <a:bodyPr vert="horz" lIns="121917" tIns="60958" rIns="121917" bIns="60958" rtlCol="0">
            <a:normAutofit fontScale="92500" lnSpcReduction="10000"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Tx/>
              <a:buNone/>
            </a:pPr>
            <a:r>
              <a:rPr lang="zh-CN" altLang="en-US" dirty="0">
                <a:solidFill>
                  <a:srgbClr val="C00000"/>
                </a:solidFill>
              </a:rPr>
              <a:t>解  因为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024330D9-8BD1-D228-B8A5-B3B4DCEE8F78}"/>
              </a:ext>
            </a:extLst>
          </p:cNvPr>
          <p:cNvGrpSpPr>
            <a:grpSpLocks/>
          </p:cNvGrpSpPr>
          <p:nvPr/>
        </p:nvGrpSpPr>
        <p:grpSpPr bwMode="auto">
          <a:xfrm>
            <a:off x="6980141" y="1546071"/>
            <a:ext cx="395380" cy="435288"/>
            <a:chOff x="1708" y="3234"/>
            <a:chExt cx="227" cy="257"/>
          </a:xfrm>
        </p:grpSpPr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DD04944D-F858-60AF-09D8-82BABE2A8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F45E8C75-08D6-B2E8-8AE3-104529EE0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9" y="3234"/>
              <a:ext cx="180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000" dirty="0"/>
                <a:t>1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3B4CFE6-0141-C107-C242-E6977524685F}"/>
              </a:ext>
            </a:extLst>
          </p:cNvPr>
          <p:cNvGrpSpPr>
            <a:grpSpLocks/>
          </p:cNvGrpSpPr>
          <p:nvPr/>
        </p:nvGrpSpPr>
        <p:grpSpPr bwMode="auto">
          <a:xfrm>
            <a:off x="6980141" y="2763966"/>
            <a:ext cx="395380" cy="435288"/>
            <a:chOff x="2416" y="3234"/>
            <a:chExt cx="227" cy="25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B90E4C8-4FC3-295A-82B8-4C5258CD1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91C9D08C-467A-DAA9-FA07-3D1A2FB77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7" y="3234"/>
              <a:ext cx="180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000" dirty="0"/>
                <a:t>4</a:t>
              </a:r>
            </a:p>
          </p:txBody>
        </p:sp>
      </p:grpSp>
      <p:grpSp>
        <p:nvGrpSpPr>
          <p:cNvPr id="15" name="Group 13">
            <a:extLst>
              <a:ext uri="{FF2B5EF4-FFF2-40B4-BE49-F238E27FC236}">
                <a16:creationId xmlns:a16="http://schemas.microsoft.com/office/drawing/2014/main" id="{B7B40732-38FC-2800-9FEC-06FC1B0E417D}"/>
              </a:ext>
            </a:extLst>
          </p:cNvPr>
          <p:cNvGrpSpPr>
            <a:grpSpLocks/>
          </p:cNvGrpSpPr>
          <p:nvPr/>
        </p:nvGrpSpPr>
        <p:grpSpPr bwMode="auto">
          <a:xfrm>
            <a:off x="8817304" y="2763966"/>
            <a:ext cx="393791" cy="435288"/>
            <a:chOff x="3124" y="3234"/>
            <a:chExt cx="227" cy="257"/>
          </a:xfrm>
        </p:grpSpPr>
        <p:sp>
          <p:nvSpPr>
            <p:cNvPr id="16" name="Oval 14">
              <a:extLst>
                <a:ext uri="{FF2B5EF4-FFF2-40B4-BE49-F238E27FC236}">
                  <a16:creationId xmlns:a16="http://schemas.microsoft.com/office/drawing/2014/main" id="{76AE1E0E-8F96-23C9-C08A-3661F0EC1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0B04066E-A6D6-B9BE-B516-B6BF2C505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5" y="3234"/>
              <a:ext cx="180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000" dirty="0"/>
                <a:t>3</a:t>
              </a:r>
            </a:p>
          </p:txBody>
        </p:sp>
      </p:grpSp>
      <p:grpSp>
        <p:nvGrpSpPr>
          <p:cNvPr id="18" name="Group 16">
            <a:extLst>
              <a:ext uri="{FF2B5EF4-FFF2-40B4-BE49-F238E27FC236}">
                <a16:creationId xmlns:a16="http://schemas.microsoft.com/office/drawing/2014/main" id="{B9BA842C-E279-FFAF-C9B4-BF1187F70ACF}"/>
              </a:ext>
            </a:extLst>
          </p:cNvPr>
          <p:cNvGrpSpPr>
            <a:grpSpLocks/>
          </p:cNvGrpSpPr>
          <p:nvPr/>
        </p:nvGrpSpPr>
        <p:grpSpPr bwMode="auto">
          <a:xfrm>
            <a:off x="8817304" y="1546071"/>
            <a:ext cx="393791" cy="435288"/>
            <a:chOff x="3833" y="3234"/>
            <a:chExt cx="227" cy="257"/>
          </a:xfrm>
        </p:grpSpPr>
        <p:sp>
          <p:nvSpPr>
            <p:cNvPr id="19" name="Oval 17">
              <a:extLst>
                <a:ext uri="{FF2B5EF4-FFF2-40B4-BE49-F238E27FC236}">
                  <a16:creationId xmlns:a16="http://schemas.microsoft.com/office/drawing/2014/main" id="{E3AA16FA-5236-F766-16A1-83FB47B6E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A74ACC88-3968-1A4C-FF3D-C3533D5D8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4" y="3234"/>
              <a:ext cx="180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000" dirty="0"/>
                <a:t>2</a:t>
              </a:r>
            </a:p>
          </p:txBody>
        </p:sp>
      </p:grpSp>
      <p:grpSp>
        <p:nvGrpSpPr>
          <p:cNvPr id="27" name="Group 43">
            <a:extLst>
              <a:ext uri="{FF2B5EF4-FFF2-40B4-BE49-F238E27FC236}">
                <a16:creationId xmlns:a16="http://schemas.microsoft.com/office/drawing/2014/main" id="{0B13378A-76B1-D102-2D1B-D6D390CE7085}"/>
              </a:ext>
            </a:extLst>
          </p:cNvPr>
          <p:cNvGrpSpPr>
            <a:grpSpLocks/>
          </p:cNvGrpSpPr>
          <p:nvPr/>
        </p:nvGrpSpPr>
        <p:grpSpPr bwMode="auto">
          <a:xfrm>
            <a:off x="7375521" y="1042126"/>
            <a:ext cx="1419554" cy="729869"/>
            <a:chOff x="3943" y="1818"/>
            <a:chExt cx="894" cy="460"/>
          </a:xfrm>
        </p:grpSpPr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E3815552-EFDF-3A3C-4E23-D941883C90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3" y="2239"/>
              <a:ext cx="894" cy="0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0" fmla="*/ 0 w 10000"/>
                <a:gd name="connsiteY0" fmla="*/ 0 h 0"/>
                <a:gd name="connsiteX1" fmla="*/ 10000 w 10000"/>
                <a:gd name="connsiteY1" fmla="*/ 1000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>
                  <a:moveTo>
                    <a:pt x="0" y="0"/>
                  </a:moveTo>
                  <a:cubicBezTo>
                    <a:pt x="3333" y="3333"/>
                    <a:pt x="6667" y="-254833"/>
                    <a:pt x="10000" y="1000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9" name="Object 5">
              <a:extLst>
                <a:ext uri="{FF2B5EF4-FFF2-40B4-BE49-F238E27FC236}">
                  <a16:creationId xmlns:a16="http://schemas.microsoft.com/office/drawing/2014/main" id="{43D5111C-6676-0323-CD40-35C353270C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9" y="1818"/>
            <a:ext cx="174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26720" imgH="342720" progId="Equation.DSMT4">
                    <p:embed/>
                  </p:oleObj>
                </mc:Choice>
                <mc:Fallback>
                  <p:oleObj name="Equation" r:id="rId9" imgW="126720" imgH="342720" progId="Equation.DSMT4">
                    <p:embed/>
                    <p:pic>
                      <p:nvPicPr>
                        <p:cNvPr id="29" name="Object 5">
                          <a:extLst>
                            <a:ext uri="{FF2B5EF4-FFF2-40B4-BE49-F238E27FC236}">
                              <a16:creationId xmlns:a16="http://schemas.microsoft.com/office/drawing/2014/main" id="{43D5111C-6676-0323-CD40-35C353270C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9" y="1818"/>
                          <a:ext cx="174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Group 44">
            <a:extLst>
              <a:ext uri="{FF2B5EF4-FFF2-40B4-BE49-F238E27FC236}">
                <a16:creationId xmlns:a16="http://schemas.microsoft.com/office/drawing/2014/main" id="{5768FB5C-7523-5D3C-5A31-399541AF31AF}"/>
              </a:ext>
            </a:extLst>
          </p:cNvPr>
          <p:cNvGrpSpPr>
            <a:grpSpLocks/>
          </p:cNvGrpSpPr>
          <p:nvPr/>
        </p:nvGrpSpPr>
        <p:grpSpPr bwMode="auto">
          <a:xfrm>
            <a:off x="9001488" y="1997020"/>
            <a:ext cx="330276" cy="811400"/>
            <a:chOff x="4952" y="2409"/>
            <a:chExt cx="208" cy="511"/>
          </a:xfrm>
        </p:grpSpPr>
        <p:sp>
          <p:nvSpPr>
            <p:cNvPr id="31" name="Line 26">
              <a:extLst>
                <a:ext uri="{FF2B5EF4-FFF2-40B4-BE49-F238E27FC236}">
                  <a16:creationId xmlns:a16="http://schemas.microsoft.com/office/drawing/2014/main" id="{80E3EFE6-2A22-4891-CF4D-21C4E866D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2409"/>
              <a:ext cx="0" cy="5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9696" name="Object 4">
              <a:extLst>
                <a:ext uri="{FF2B5EF4-FFF2-40B4-BE49-F238E27FC236}">
                  <a16:creationId xmlns:a16="http://schemas.microsoft.com/office/drawing/2014/main" id="{9F3F214F-FA46-0C7F-1388-E69BD7E9B4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85" y="2430"/>
            <a:ext cx="175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26720" imgH="342720" progId="Equation.DSMT4">
                    <p:embed/>
                  </p:oleObj>
                </mc:Choice>
                <mc:Fallback>
                  <p:oleObj name="Equation" r:id="rId11" imgW="126720" imgH="342720" progId="Equation.DSMT4">
                    <p:embed/>
                    <p:pic>
                      <p:nvPicPr>
                        <p:cNvPr id="29696" name="Object 4">
                          <a:extLst>
                            <a:ext uri="{FF2B5EF4-FFF2-40B4-BE49-F238E27FC236}">
                              <a16:creationId xmlns:a16="http://schemas.microsoft.com/office/drawing/2014/main" id="{9F3F214F-FA46-0C7F-1388-E69BD7E9B4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5" y="2430"/>
                          <a:ext cx="175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697" name="Group 41">
            <a:extLst>
              <a:ext uri="{FF2B5EF4-FFF2-40B4-BE49-F238E27FC236}">
                <a16:creationId xmlns:a16="http://schemas.microsoft.com/office/drawing/2014/main" id="{92D7BD3D-6C0C-2F12-4F79-A4E2FDC6B44D}"/>
              </a:ext>
            </a:extLst>
          </p:cNvPr>
          <p:cNvGrpSpPr>
            <a:grpSpLocks/>
          </p:cNvGrpSpPr>
          <p:nvPr/>
        </p:nvGrpSpPr>
        <p:grpSpPr bwMode="auto">
          <a:xfrm>
            <a:off x="7375521" y="2552775"/>
            <a:ext cx="1419554" cy="730418"/>
            <a:chOff x="3943" y="2768"/>
            <a:chExt cx="894" cy="460"/>
          </a:xfrm>
        </p:grpSpPr>
        <p:sp>
          <p:nvSpPr>
            <p:cNvPr id="29699" name="Line 27">
              <a:extLst>
                <a:ext uri="{FF2B5EF4-FFF2-40B4-BE49-F238E27FC236}">
                  <a16:creationId xmlns:a16="http://schemas.microsoft.com/office/drawing/2014/main" id="{F305F1CD-7CB1-4876-C44E-9874CFEE46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3" y="3055"/>
              <a:ext cx="8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9700" name="Object 3">
              <a:extLst>
                <a:ext uri="{FF2B5EF4-FFF2-40B4-BE49-F238E27FC236}">
                  <a16:creationId xmlns:a16="http://schemas.microsoft.com/office/drawing/2014/main" id="{478F75A0-8EB3-9FCD-6179-E8AF8E2F07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2" y="2768"/>
            <a:ext cx="176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26720" imgH="342720" progId="Equation.DSMT4">
                    <p:embed/>
                  </p:oleObj>
                </mc:Choice>
                <mc:Fallback>
                  <p:oleObj name="Equation" r:id="rId13" imgW="126720" imgH="342720" progId="Equation.DSMT4">
                    <p:embed/>
                    <p:pic>
                      <p:nvPicPr>
                        <p:cNvPr id="29700" name="Object 3">
                          <a:extLst>
                            <a:ext uri="{FF2B5EF4-FFF2-40B4-BE49-F238E27FC236}">
                              <a16:creationId xmlns:a16="http://schemas.microsoft.com/office/drawing/2014/main" id="{478F75A0-8EB3-9FCD-6179-E8AF8E2F07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2" y="2768"/>
                          <a:ext cx="176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701" name="Group 38">
            <a:extLst>
              <a:ext uri="{FF2B5EF4-FFF2-40B4-BE49-F238E27FC236}">
                <a16:creationId xmlns:a16="http://schemas.microsoft.com/office/drawing/2014/main" id="{827A5ED7-4610-CA7C-3815-160E85686E64}"/>
              </a:ext>
            </a:extLst>
          </p:cNvPr>
          <p:cNvGrpSpPr>
            <a:grpSpLocks/>
          </p:cNvGrpSpPr>
          <p:nvPr/>
        </p:nvGrpSpPr>
        <p:grpSpPr bwMode="auto">
          <a:xfrm>
            <a:off x="6400568" y="1045887"/>
            <a:ext cx="836806" cy="730419"/>
            <a:chOff x="3329" y="1819"/>
            <a:chExt cx="527" cy="460"/>
          </a:xfrm>
        </p:grpSpPr>
        <p:graphicFrame>
          <p:nvGraphicFramePr>
            <p:cNvPr id="29705" name="Object 2">
              <a:extLst>
                <a:ext uri="{FF2B5EF4-FFF2-40B4-BE49-F238E27FC236}">
                  <a16:creationId xmlns:a16="http://schemas.microsoft.com/office/drawing/2014/main" id="{1C59425D-A815-D781-D279-F7FD61FD63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9" y="1819"/>
            <a:ext cx="175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26720" imgH="342720" progId="Equation.DSMT4">
                    <p:embed/>
                  </p:oleObj>
                </mc:Choice>
                <mc:Fallback>
                  <p:oleObj name="Equation" r:id="rId15" imgW="126720" imgH="342720" progId="Equation.DSMT4">
                    <p:embed/>
                    <p:pic>
                      <p:nvPicPr>
                        <p:cNvPr id="29705" name="Object 2">
                          <a:extLst>
                            <a:ext uri="{FF2B5EF4-FFF2-40B4-BE49-F238E27FC236}">
                              <a16:creationId xmlns:a16="http://schemas.microsoft.com/office/drawing/2014/main" id="{1C59425D-A815-D781-D279-F7FD61FD639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9" y="1819"/>
                          <a:ext cx="175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6" name="Arc 36">
              <a:extLst>
                <a:ext uri="{FF2B5EF4-FFF2-40B4-BE49-F238E27FC236}">
                  <a16:creationId xmlns:a16="http://schemas.microsoft.com/office/drawing/2014/main" id="{71720F48-E1DE-466C-09EF-6C8E0AC127A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556" y="2017"/>
              <a:ext cx="300" cy="256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1639" y="29853"/>
                  </a:moveTo>
                  <a:cubicBezTo>
                    <a:pt x="556" y="27236"/>
                    <a:pt x="0" y="2443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21215" y="43200"/>
                    <a:pt x="20830" y="43189"/>
                    <a:pt x="20446" y="43169"/>
                  </a:cubicBezTo>
                </a:path>
                <a:path w="43200" h="43200" stroke="0" extrusionOk="0">
                  <a:moveTo>
                    <a:pt x="1639" y="29853"/>
                  </a:moveTo>
                  <a:cubicBezTo>
                    <a:pt x="556" y="27236"/>
                    <a:pt x="0" y="2443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21215" y="43200"/>
                    <a:pt x="20830" y="43189"/>
                    <a:pt x="20446" y="43169"/>
                  </a:cubicBezTo>
                  <a:lnTo>
                    <a:pt x="21600" y="21600"/>
                  </a:lnTo>
                  <a:lnTo>
                    <a:pt x="1639" y="2985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08" name="Group 42">
            <a:extLst>
              <a:ext uri="{FF2B5EF4-FFF2-40B4-BE49-F238E27FC236}">
                <a16:creationId xmlns:a16="http://schemas.microsoft.com/office/drawing/2014/main" id="{23677360-978C-CECB-F93E-7DB899A53EF4}"/>
              </a:ext>
            </a:extLst>
          </p:cNvPr>
          <p:cNvGrpSpPr>
            <a:grpSpLocks/>
          </p:cNvGrpSpPr>
          <p:nvPr/>
        </p:nvGrpSpPr>
        <p:grpSpPr bwMode="auto">
          <a:xfrm>
            <a:off x="9011024" y="2886226"/>
            <a:ext cx="752999" cy="714257"/>
            <a:chOff x="4973" y="2978"/>
            <a:chExt cx="547" cy="529"/>
          </a:xfrm>
        </p:grpSpPr>
        <p:graphicFrame>
          <p:nvGraphicFramePr>
            <p:cNvPr id="29709" name="Object 1">
              <a:extLst>
                <a:ext uri="{FF2B5EF4-FFF2-40B4-BE49-F238E27FC236}">
                  <a16:creationId xmlns:a16="http://schemas.microsoft.com/office/drawing/2014/main" id="{071F3765-018D-1E2E-3122-220574776D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10" y="2978"/>
            <a:ext cx="210" cy="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52280" imgH="393480" progId="Equation.DSMT4">
                    <p:embed/>
                  </p:oleObj>
                </mc:Choice>
                <mc:Fallback>
                  <p:oleObj name="Equation" r:id="rId17" imgW="152280" imgH="393480" progId="Equation.DSMT4">
                    <p:embed/>
                    <p:pic>
                      <p:nvPicPr>
                        <p:cNvPr id="29709" name="Object 1">
                          <a:extLst>
                            <a:ext uri="{FF2B5EF4-FFF2-40B4-BE49-F238E27FC236}">
                              <a16:creationId xmlns:a16="http://schemas.microsoft.com/office/drawing/2014/main" id="{071F3765-018D-1E2E-3122-220574776D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0" y="2978"/>
                          <a:ext cx="210" cy="5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0" name="Arc 37">
              <a:extLst>
                <a:ext uri="{FF2B5EF4-FFF2-40B4-BE49-F238E27FC236}">
                  <a16:creationId xmlns:a16="http://schemas.microsoft.com/office/drawing/2014/main" id="{5AF56E83-3970-E4CE-8815-0D3385CCA2F2}"/>
                </a:ext>
              </a:extLst>
            </p:cNvPr>
            <p:cNvSpPr>
              <a:spLocks/>
            </p:cNvSpPr>
            <p:nvPr/>
          </p:nvSpPr>
          <p:spPr bwMode="auto">
            <a:xfrm rot="313316">
              <a:off x="4973" y="3029"/>
              <a:ext cx="340" cy="340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15729" y="812"/>
                  </a:moveTo>
                  <a:cubicBezTo>
                    <a:pt x="17640" y="273"/>
                    <a:pt x="19615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21463"/>
                    <a:pt x="1" y="21326"/>
                    <a:pt x="3" y="21189"/>
                  </a:cubicBezTo>
                </a:path>
                <a:path w="43200" h="43200" stroke="0" extrusionOk="0">
                  <a:moveTo>
                    <a:pt x="15729" y="812"/>
                  </a:moveTo>
                  <a:cubicBezTo>
                    <a:pt x="17640" y="273"/>
                    <a:pt x="19615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21463"/>
                    <a:pt x="1" y="21326"/>
                    <a:pt x="3" y="21189"/>
                  </a:cubicBezTo>
                  <a:lnTo>
                    <a:pt x="21600" y="21600"/>
                  </a:lnTo>
                  <a:lnTo>
                    <a:pt x="15729" y="812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32" name="组合 29731">
            <a:extLst>
              <a:ext uri="{FF2B5EF4-FFF2-40B4-BE49-F238E27FC236}">
                <a16:creationId xmlns:a16="http://schemas.microsoft.com/office/drawing/2014/main" id="{1B9BA04C-6614-7943-527E-113B0ABB0FA1}"/>
              </a:ext>
            </a:extLst>
          </p:cNvPr>
          <p:cNvGrpSpPr/>
          <p:nvPr/>
        </p:nvGrpSpPr>
        <p:grpSpPr>
          <a:xfrm>
            <a:off x="7347653" y="1616075"/>
            <a:ext cx="1487371" cy="728663"/>
            <a:chOff x="7347653" y="1616075"/>
            <a:chExt cx="1487371" cy="728663"/>
          </a:xfrm>
        </p:grpSpPr>
        <p:cxnSp>
          <p:nvCxnSpPr>
            <p:cNvPr id="29716" name="直接箭头连接符 29715">
              <a:extLst>
                <a:ext uri="{FF2B5EF4-FFF2-40B4-BE49-F238E27FC236}">
                  <a16:creationId xmlns:a16="http://schemas.microsoft.com/office/drawing/2014/main" id="{A501C73F-2CBF-3C3C-598C-EBD3E81E6E7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7347653" y="1745931"/>
              <a:ext cx="1487371" cy="117704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9719" name="Object 5">
              <a:extLst>
                <a:ext uri="{FF2B5EF4-FFF2-40B4-BE49-F238E27FC236}">
                  <a16:creationId xmlns:a16="http://schemas.microsoft.com/office/drawing/2014/main" id="{8912007F-A5E5-8EDD-59D8-5B9F9EB8D3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72450" y="1616075"/>
            <a:ext cx="276225" cy="728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26720" imgH="342720" progId="Equation.DSMT4">
                    <p:embed/>
                  </p:oleObj>
                </mc:Choice>
                <mc:Fallback>
                  <p:oleObj name="Equation" r:id="rId19" imgW="126720" imgH="342720" progId="Equation.DSMT4">
                    <p:embed/>
                    <p:pic>
                      <p:nvPicPr>
                        <p:cNvPr id="29719" name="Object 5">
                          <a:extLst>
                            <a:ext uri="{FF2B5EF4-FFF2-40B4-BE49-F238E27FC236}">
                              <a16:creationId xmlns:a16="http://schemas.microsoft.com/office/drawing/2014/main" id="{8912007F-A5E5-8EDD-59D8-5B9F9EB8D32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2450" y="1616075"/>
                          <a:ext cx="276225" cy="728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720" name="Group 38">
            <a:extLst>
              <a:ext uri="{FF2B5EF4-FFF2-40B4-BE49-F238E27FC236}">
                <a16:creationId xmlns:a16="http://schemas.microsoft.com/office/drawing/2014/main" id="{F7DE44C6-1488-87F8-3F97-1328E245080F}"/>
              </a:ext>
            </a:extLst>
          </p:cNvPr>
          <p:cNvGrpSpPr>
            <a:grpSpLocks/>
          </p:cNvGrpSpPr>
          <p:nvPr/>
        </p:nvGrpSpPr>
        <p:grpSpPr bwMode="auto">
          <a:xfrm>
            <a:off x="8928616" y="1012554"/>
            <a:ext cx="727246" cy="789173"/>
            <a:chOff x="3465" y="1858"/>
            <a:chExt cx="458" cy="497"/>
          </a:xfrm>
        </p:grpSpPr>
        <p:graphicFrame>
          <p:nvGraphicFramePr>
            <p:cNvPr id="29721" name="Object 2">
              <a:extLst>
                <a:ext uri="{FF2B5EF4-FFF2-40B4-BE49-F238E27FC236}">
                  <a16:creationId xmlns:a16="http://schemas.microsoft.com/office/drawing/2014/main" id="{F8058824-1234-9C12-187D-B2A740D524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8" y="1858"/>
            <a:ext cx="175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26720" imgH="342720" progId="Equation.DSMT4">
                    <p:embed/>
                  </p:oleObj>
                </mc:Choice>
                <mc:Fallback>
                  <p:oleObj name="Equation" r:id="rId21" imgW="126720" imgH="342720" progId="Equation.DSMT4">
                    <p:embed/>
                    <p:pic>
                      <p:nvPicPr>
                        <p:cNvPr id="29721" name="Object 2">
                          <a:extLst>
                            <a:ext uri="{FF2B5EF4-FFF2-40B4-BE49-F238E27FC236}">
                              <a16:creationId xmlns:a16="http://schemas.microsoft.com/office/drawing/2014/main" id="{F8058824-1234-9C12-187D-B2A740D524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8" y="1858"/>
                          <a:ext cx="175" cy="4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2" name="Arc 36">
              <a:extLst>
                <a:ext uri="{FF2B5EF4-FFF2-40B4-BE49-F238E27FC236}">
                  <a16:creationId xmlns:a16="http://schemas.microsoft.com/office/drawing/2014/main" id="{2FF44BC3-3104-DA7A-D412-DD5A4B078210}"/>
                </a:ext>
              </a:extLst>
            </p:cNvPr>
            <p:cNvSpPr>
              <a:spLocks/>
            </p:cNvSpPr>
            <p:nvPr/>
          </p:nvSpPr>
          <p:spPr bwMode="auto">
            <a:xfrm rot="4551101" flipH="1">
              <a:off x="3451" y="2049"/>
              <a:ext cx="320" cy="292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1639" y="29853"/>
                  </a:moveTo>
                  <a:cubicBezTo>
                    <a:pt x="556" y="27236"/>
                    <a:pt x="0" y="2443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21215" y="43200"/>
                    <a:pt x="20830" y="43189"/>
                    <a:pt x="20446" y="43169"/>
                  </a:cubicBezTo>
                </a:path>
                <a:path w="43200" h="43200" stroke="0" extrusionOk="0">
                  <a:moveTo>
                    <a:pt x="1639" y="29853"/>
                  </a:moveTo>
                  <a:cubicBezTo>
                    <a:pt x="556" y="27236"/>
                    <a:pt x="0" y="2443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21215" y="43200"/>
                    <a:pt x="20830" y="43189"/>
                    <a:pt x="20446" y="43169"/>
                  </a:cubicBezTo>
                  <a:lnTo>
                    <a:pt x="21600" y="21600"/>
                  </a:lnTo>
                  <a:lnTo>
                    <a:pt x="1639" y="2985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33" name="组合 29732">
            <a:extLst>
              <a:ext uri="{FF2B5EF4-FFF2-40B4-BE49-F238E27FC236}">
                <a16:creationId xmlns:a16="http://schemas.microsoft.com/office/drawing/2014/main" id="{245D1210-2CEB-9D42-78B0-C9D769C0F679}"/>
              </a:ext>
            </a:extLst>
          </p:cNvPr>
          <p:cNvGrpSpPr/>
          <p:nvPr/>
        </p:nvGrpSpPr>
        <p:grpSpPr>
          <a:xfrm>
            <a:off x="7358102" y="1892300"/>
            <a:ext cx="1459201" cy="1027555"/>
            <a:chOff x="7358102" y="1892300"/>
            <a:chExt cx="1459201" cy="1027555"/>
          </a:xfrm>
        </p:grpSpPr>
        <p:sp>
          <p:nvSpPr>
            <p:cNvPr id="29723" name="Line 27">
              <a:extLst>
                <a:ext uri="{FF2B5EF4-FFF2-40B4-BE49-F238E27FC236}">
                  <a16:creationId xmlns:a16="http://schemas.microsoft.com/office/drawing/2014/main" id="{411BBA31-13F5-50E8-C2D4-54EA0A605D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58102" y="1925286"/>
              <a:ext cx="1459201" cy="9945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9724" name="Object 1">
              <a:extLst>
                <a:ext uri="{FF2B5EF4-FFF2-40B4-BE49-F238E27FC236}">
                  <a16:creationId xmlns:a16="http://schemas.microsoft.com/office/drawing/2014/main" id="{F75ECC65-14C5-A5FF-B1FE-FCDE00A3F3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07300" y="1892300"/>
            <a:ext cx="277813" cy="731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26720" imgH="342720" progId="Equation.DSMT4">
                    <p:embed/>
                  </p:oleObj>
                </mc:Choice>
                <mc:Fallback>
                  <p:oleObj name="Equation" r:id="rId23" imgW="126720" imgH="342720" progId="Equation.DSMT4">
                    <p:embed/>
                    <p:pic>
                      <p:nvPicPr>
                        <p:cNvPr id="29724" name="Object 1">
                          <a:extLst>
                            <a:ext uri="{FF2B5EF4-FFF2-40B4-BE49-F238E27FC236}">
                              <a16:creationId xmlns:a16="http://schemas.microsoft.com/office/drawing/2014/main" id="{F75ECC65-14C5-A5FF-B1FE-FCDE00A3F3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07300" y="1892300"/>
                          <a:ext cx="277813" cy="731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725" name="Group 38">
            <a:extLst>
              <a:ext uri="{FF2B5EF4-FFF2-40B4-BE49-F238E27FC236}">
                <a16:creationId xmlns:a16="http://schemas.microsoft.com/office/drawing/2014/main" id="{87048115-005B-1A6D-0D8D-40C9D30FBDDE}"/>
              </a:ext>
            </a:extLst>
          </p:cNvPr>
          <p:cNvGrpSpPr>
            <a:grpSpLocks/>
          </p:cNvGrpSpPr>
          <p:nvPr/>
        </p:nvGrpSpPr>
        <p:grpSpPr bwMode="auto">
          <a:xfrm>
            <a:off x="6572669" y="2486655"/>
            <a:ext cx="658965" cy="527172"/>
            <a:chOff x="3441" y="1941"/>
            <a:chExt cx="415" cy="332"/>
          </a:xfrm>
        </p:grpSpPr>
        <p:graphicFrame>
          <p:nvGraphicFramePr>
            <p:cNvPr id="29726" name="Object 2">
              <a:extLst>
                <a:ext uri="{FF2B5EF4-FFF2-40B4-BE49-F238E27FC236}">
                  <a16:creationId xmlns:a16="http://schemas.microsoft.com/office/drawing/2014/main" id="{15326E01-D27D-204D-70D3-78D0E73339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41" y="1941"/>
            <a:ext cx="123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88560" imgH="139680" progId="Equation.DSMT4">
                    <p:embed/>
                  </p:oleObj>
                </mc:Choice>
                <mc:Fallback>
                  <p:oleObj name="Equation" r:id="rId25" imgW="88560" imgH="139680" progId="Equation.DSMT4">
                    <p:embed/>
                    <p:pic>
                      <p:nvPicPr>
                        <p:cNvPr id="29726" name="Object 2">
                          <a:extLst>
                            <a:ext uri="{FF2B5EF4-FFF2-40B4-BE49-F238E27FC236}">
                              <a16:creationId xmlns:a16="http://schemas.microsoft.com/office/drawing/2014/main" id="{15326E01-D27D-204D-70D3-78D0E73339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1" y="1941"/>
                          <a:ext cx="123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7" name="Arc 36">
              <a:extLst>
                <a:ext uri="{FF2B5EF4-FFF2-40B4-BE49-F238E27FC236}">
                  <a16:creationId xmlns:a16="http://schemas.microsoft.com/office/drawing/2014/main" id="{723047A5-3284-88C1-8F85-D3645908C0CF}"/>
                </a:ext>
              </a:extLst>
            </p:cNvPr>
            <p:cNvSpPr>
              <a:spLocks/>
            </p:cNvSpPr>
            <p:nvPr/>
          </p:nvSpPr>
          <p:spPr bwMode="auto">
            <a:xfrm rot="224262" flipH="1">
              <a:off x="3594" y="1980"/>
              <a:ext cx="262" cy="293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1639" y="29853"/>
                  </a:moveTo>
                  <a:cubicBezTo>
                    <a:pt x="556" y="27236"/>
                    <a:pt x="0" y="2443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21215" y="43200"/>
                    <a:pt x="20830" y="43189"/>
                    <a:pt x="20446" y="43169"/>
                  </a:cubicBezTo>
                </a:path>
                <a:path w="43200" h="43200" stroke="0" extrusionOk="0">
                  <a:moveTo>
                    <a:pt x="1639" y="29853"/>
                  </a:moveTo>
                  <a:cubicBezTo>
                    <a:pt x="556" y="27236"/>
                    <a:pt x="0" y="2443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21215" y="43200"/>
                    <a:pt x="20830" y="43189"/>
                    <a:pt x="20446" y="43169"/>
                  </a:cubicBezTo>
                  <a:lnTo>
                    <a:pt x="21600" y="21600"/>
                  </a:lnTo>
                  <a:lnTo>
                    <a:pt x="1639" y="2985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728" name="Rectangle 3">
            <a:extLst>
              <a:ext uri="{FF2B5EF4-FFF2-40B4-BE49-F238E27FC236}">
                <a16:creationId xmlns:a16="http://schemas.microsoft.com/office/drawing/2014/main" id="{0979E4E7-8086-549C-FCAD-475F5B921FFB}"/>
              </a:ext>
            </a:extLst>
          </p:cNvPr>
          <p:cNvSpPr txBox="1">
            <a:spLocks noChangeArrowheads="1"/>
          </p:cNvSpPr>
          <p:nvPr/>
        </p:nvSpPr>
        <p:spPr>
          <a:xfrm>
            <a:off x="6691762" y="5187123"/>
            <a:ext cx="3790551" cy="427137"/>
          </a:xfrm>
          <a:prstGeom prst="rect">
            <a:avLst/>
          </a:prstGeom>
        </p:spPr>
        <p:txBody>
          <a:bodyPr vert="horz" lIns="121917" tIns="60958" rIns="121917" bIns="60958" rtlCol="0">
            <a:normAutofit fontScale="92500" lnSpcReduction="10000"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Tx/>
              <a:buNone/>
            </a:pPr>
            <a:r>
              <a:rPr lang="zh-CN" altLang="en-US" dirty="0"/>
              <a:t>因为                  </a:t>
            </a:r>
            <a:r>
              <a:rPr lang="en-US" altLang="zh-CN" dirty="0"/>
              <a:t>,</a:t>
            </a:r>
            <a:endParaRPr lang="zh-CN" altLang="en-US" dirty="0"/>
          </a:p>
        </p:txBody>
      </p:sp>
      <p:graphicFrame>
        <p:nvGraphicFramePr>
          <p:cNvPr id="29729" name="Object 11">
            <a:extLst>
              <a:ext uri="{FF2B5EF4-FFF2-40B4-BE49-F238E27FC236}">
                <a16:creationId xmlns:a16="http://schemas.microsoft.com/office/drawing/2014/main" id="{B70C2417-451B-9661-08B7-2D08C687BC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7141" y="4983534"/>
          <a:ext cx="1300162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634680" imgH="393480" progId="Equation.DSMT4">
                  <p:embed/>
                </p:oleObj>
              </mc:Choice>
              <mc:Fallback>
                <p:oleObj name="Equation" r:id="rId27" imgW="634680" imgH="393480" progId="Equation.DSMT4">
                  <p:embed/>
                  <p:pic>
                    <p:nvPicPr>
                      <p:cNvPr id="29729" name="Object 11">
                        <a:extLst>
                          <a:ext uri="{FF2B5EF4-FFF2-40B4-BE49-F238E27FC236}">
                            <a16:creationId xmlns:a16="http://schemas.microsoft.com/office/drawing/2014/main" id="{B70C2417-451B-9661-08B7-2D08C687BC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7141" y="4983534"/>
                        <a:ext cx="1300162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0" name="Object 11">
            <a:extLst>
              <a:ext uri="{FF2B5EF4-FFF2-40B4-BE49-F238E27FC236}">
                <a16:creationId xmlns:a16="http://schemas.microsoft.com/office/drawing/2014/main" id="{5D87FB3A-C136-D162-A8F9-A003E33D93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47507" y="5147535"/>
          <a:ext cx="21082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028520" imgH="228600" progId="Equation.DSMT4">
                  <p:embed/>
                </p:oleObj>
              </mc:Choice>
              <mc:Fallback>
                <p:oleObj name="Equation" r:id="rId29" imgW="1028520" imgH="228600" progId="Equation.DSMT4">
                  <p:embed/>
                  <p:pic>
                    <p:nvPicPr>
                      <p:cNvPr id="29730" name="Object 11">
                        <a:extLst>
                          <a:ext uri="{FF2B5EF4-FFF2-40B4-BE49-F238E27FC236}">
                            <a16:creationId xmlns:a16="http://schemas.microsoft.com/office/drawing/2014/main" id="{5D87FB3A-C136-D162-A8F9-A003E33D93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7507" y="5147535"/>
                        <a:ext cx="21082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1" name="Rectangle 3">
            <a:extLst>
              <a:ext uri="{FF2B5EF4-FFF2-40B4-BE49-F238E27FC236}">
                <a16:creationId xmlns:a16="http://schemas.microsoft.com/office/drawing/2014/main" id="{0D8789B4-6D2F-34B3-5A45-1CBF3FE51407}"/>
              </a:ext>
            </a:extLst>
          </p:cNvPr>
          <p:cNvSpPr txBox="1">
            <a:spLocks noChangeArrowheads="1"/>
          </p:cNvSpPr>
          <p:nvPr/>
        </p:nvSpPr>
        <p:spPr>
          <a:xfrm>
            <a:off x="6641222" y="5993476"/>
            <a:ext cx="3513274" cy="466725"/>
          </a:xfrm>
          <a:prstGeom prst="rect">
            <a:avLst/>
          </a:prstGeom>
        </p:spPr>
        <p:txBody>
          <a:bodyPr vert="horz" lIns="121917" tIns="60958" rIns="121917" bIns="60958" rtlCol="0">
            <a:normAutofit lnSpcReduction="10000"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Tx/>
              <a:buNone/>
            </a:pPr>
            <a:r>
              <a:rPr lang="zh-CN" altLang="en-US" dirty="0"/>
              <a:t>所以</a:t>
            </a:r>
            <a:r>
              <a:rPr lang="en-US" altLang="zh-CN" dirty="0"/>
              <a:t>{3}</a:t>
            </a:r>
            <a:r>
              <a:rPr lang="zh-CN" altLang="en-US" dirty="0"/>
              <a:t>是非常返态。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9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9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9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9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4" grpId="0" animBg="1"/>
      <p:bldP spid="29707" grpId="0" animBg="1"/>
      <p:bldP spid="4" grpId="0" build="p"/>
      <p:bldP spid="6" grpId="0" build="p"/>
      <p:bldP spid="29728" grpId="0" build="p"/>
      <p:bldP spid="29731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不可约马氏链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975" y="1063872"/>
            <a:ext cx="9935535" cy="1502123"/>
          </a:xfrm>
        </p:spPr>
        <p:txBody>
          <a:bodyPr>
            <a:normAutofit/>
          </a:bodyPr>
          <a:lstStyle/>
          <a:p>
            <a:pPr marL="0" indent="719282">
              <a:buNone/>
            </a:pPr>
            <a:r>
              <a:rPr lang="zh-CN" altLang="en-US" dirty="0"/>
              <a:t>一个马氏链，如果除了整个状态空间</a:t>
            </a:r>
            <a:r>
              <a:rPr lang="en-US" altLang="zh-CN" dirty="0"/>
              <a:t>E</a:t>
            </a:r>
            <a:r>
              <a:rPr lang="zh-CN" altLang="en-US" dirty="0"/>
              <a:t>构成闭集外，不可能再分解出较小的闭集来，则称此马氏链为</a:t>
            </a:r>
            <a:r>
              <a:rPr lang="zh-CN" altLang="en-US" dirty="0">
                <a:solidFill>
                  <a:srgbClr val="CC00CC"/>
                </a:solidFill>
              </a:rPr>
              <a:t>不可约马氏链</a:t>
            </a:r>
            <a:r>
              <a:rPr lang="zh-CN" altLang="en-US" dirty="0"/>
              <a:t>。</a:t>
            </a:r>
          </a:p>
        </p:txBody>
      </p:sp>
      <p:sp>
        <p:nvSpPr>
          <p:cNvPr id="267269" name="Rectangle 5"/>
          <p:cNvSpPr>
            <a:spLocks noChangeArrowheads="1"/>
          </p:cNvSpPr>
          <p:nvPr/>
        </p:nvSpPr>
        <p:spPr bwMode="auto">
          <a:xfrm>
            <a:off x="1069975" y="2515394"/>
            <a:ext cx="9525000" cy="2150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结论：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马氏链为不可约马氏链的充分必要条件是任何两个状态都相通；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一个不可约马氏链，或者没有非常返状态，或者没有常返状态。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不可约马氏链是常返的充分必要条件是方程</a:t>
            </a:r>
          </a:p>
        </p:txBody>
      </p:sp>
      <p:graphicFrame>
        <p:nvGraphicFramePr>
          <p:cNvPr id="267270" name="Object 6"/>
          <p:cNvGraphicFramePr>
            <a:graphicFrameLocks noChangeAspect="1"/>
          </p:cNvGraphicFramePr>
          <p:nvPr/>
        </p:nvGraphicFramePr>
        <p:xfrm>
          <a:off x="4117975" y="4813765"/>
          <a:ext cx="3429794" cy="1043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43280" imgH="800280" progId="Equation.3">
                  <p:embed/>
                </p:oleObj>
              </mc:Choice>
              <mc:Fallback>
                <p:oleObj name="Equation" r:id="rId3" imgW="2843280" imgH="800280" progId="Equation.3">
                  <p:embed/>
                  <p:pic>
                    <p:nvPicPr>
                      <p:cNvPr id="2672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7975" y="4813765"/>
                        <a:ext cx="3429794" cy="10432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71" name="Rectangle 7"/>
          <p:cNvSpPr>
            <a:spLocks noChangeArrowheads="1"/>
          </p:cNvSpPr>
          <p:nvPr/>
        </p:nvSpPr>
        <p:spPr bwMode="auto">
          <a:xfrm>
            <a:off x="1069975" y="5856993"/>
            <a:ext cx="29690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没有非零的有界解。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267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267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67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267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267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267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build="p"/>
      <p:bldP spid="267269" grpId="0" build="p" autoUpdateAnimBg="0"/>
      <p:bldP spid="267271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四、有限马尔可夫链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1375" y="1111018"/>
            <a:ext cx="7859909" cy="842059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状态空间</a:t>
            </a:r>
            <a:r>
              <a:rPr lang="en-US" altLang="zh-CN" dirty="0"/>
              <a:t>E</a:t>
            </a:r>
            <a:r>
              <a:rPr lang="zh-CN" altLang="en-US" dirty="0"/>
              <a:t>是有限集合的马氏链称为</a:t>
            </a:r>
            <a:r>
              <a:rPr lang="zh-CN" altLang="en-US" dirty="0">
                <a:solidFill>
                  <a:srgbClr val="CC00CC"/>
                </a:solidFill>
              </a:rPr>
              <a:t>有限马氏链</a:t>
            </a:r>
            <a:r>
              <a:rPr lang="zh-CN" altLang="en-US" dirty="0"/>
              <a:t>。</a:t>
            </a:r>
          </a:p>
        </p:txBody>
      </p:sp>
      <p:sp>
        <p:nvSpPr>
          <p:cNvPr id="268292" name="Rectangle 4"/>
          <p:cNvSpPr>
            <a:spLocks noChangeArrowheads="1"/>
          </p:cNvSpPr>
          <p:nvPr/>
        </p:nvSpPr>
        <p:spPr bwMode="auto">
          <a:xfrm>
            <a:off x="993775" y="1953078"/>
            <a:ext cx="11125200" cy="3812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914400" indent="-45720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有限马氏链具有如下特点：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所有非常返状态所组成的集合不可能是闭集；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没有零常返状态；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必有正常返状态；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状态空间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必可分解为</a:t>
            </a:r>
            <a:endParaRPr lang="en-US" altLang="zh-CN" sz="2400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0" indent="0" algn="ctr" eaLnBrk="1" hangingPunct="1">
              <a:lnSpc>
                <a:spcPct val="150000"/>
              </a:lnSpc>
              <a:buClr>
                <a:srgbClr val="CC00CC"/>
              </a:buClr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…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k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其中，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为非常返状态集合，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, 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, …, 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k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是互不相交且不可细分的常返闭集。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" dur="500"/>
                                        <p:tgtEl>
                                          <p:spTgt spid="268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500"/>
                                        <p:tgtEl>
                                          <p:spTgt spid="268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" dur="500"/>
                                        <p:tgtEl>
                                          <p:spTgt spid="268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500"/>
                                        <p:tgtEl>
                                          <p:spTgt spid="268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268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268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500"/>
                                        <p:tgtEl>
                                          <p:spTgt spid="268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1" grpId="0" build="p"/>
      <p:bldP spid="268292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五、状态的周期性</a:t>
            </a:r>
          </a:p>
        </p:txBody>
      </p:sp>
      <p:sp>
        <p:nvSpPr>
          <p:cNvPr id="269315" name="Rectangle 3">
            <a:extLst>
              <a:ext uri="{FF2B5EF4-FFF2-40B4-BE49-F238E27FC236}">
                <a16:creationId xmlns:a16="http://schemas.microsoft.com/office/drawing/2014/main" id="{D8BC1AD4-4280-42CC-A267-2C3FC8CE267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2645564" y="1143265"/>
            <a:ext cx="7393111" cy="2146405"/>
          </a:xfrm>
          <a:blipFill>
            <a:blip r:embed="rId2"/>
            <a:stretch>
              <a:fillRect l="-2558" r="-83" b="-7955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269316" name="Rectangle 4"/>
          <p:cNvSpPr>
            <a:spLocks noChangeArrowheads="1"/>
          </p:cNvSpPr>
          <p:nvPr/>
        </p:nvSpPr>
        <p:spPr bwMode="auto">
          <a:xfrm>
            <a:off x="2623334" y="3718786"/>
            <a:ext cx="7847241" cy="1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  </a:t>
            </a:r>
            <a:r>
              <a:rPr lang="zh-CN" altLang="en-US" sz="2400" dirty="0">
                <a:latin typeface="+mn-ea"/>
                <a:ea typeface="+mn-ea"/>
              </a:rPr>
              <a:t>如果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d(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  <a:ea typeface="+mn-ea"/>
              </a:rPr>
              <a:t>i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) </a:t>
            </a:r>
            <a:r>
              <a:rPr lang="zh-CN" altLang="en-US" sz="2400" dirty="0">
                <a:latin typeface="+mn-ea"/>
                <a:ea typeface="+mn-ea"/>
              </a:rPr>
              <a:t>＞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，则称状态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是有周期的。</a:t>
            </a: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buClr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  如果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d(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  <a:ea typeface="+mn-ea"/>
              </a:rPr>
              <a:t>i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)=1</a:t>
            </a:r>
            <a:r>
              <a:rPr lang="zh-CN" altLang="en-US" sz="2400" dirty="0">
                <a:latin typeface="+mn-ea"/>
                <a:ea typeface="+mn-ea"/>
              </a:rPr>
              <a:t>，则称状态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是非周期的。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9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9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4"/>
          <p:cNvSpPr>
            <a:spLocks noChangeArrowheads="1"/>
          </p:cNvSpPr>
          <p:nvPr/>
        </p:nvSpPr>
        <p:spPr bwMode="auto">
          <a:xfrm>
            <a:off x="2749180" y="3546587"/>
            <a:ext cx="5883049" cy="589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/>
              <a:t>状态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r>
              <a:rPr lang="en-US" altLang="zh-CN" sz="2400" dirty="0"/>
              <a:t>D={4,8,12,…,6,12,18,…,10,14,16,…}</a:t>
            </a:r>
            <a:endParaRPr lang="zh-CN" altLang="en-US" sz="2400" dirty="0"/>
          </a:p>
        </p:txBody>
      </p:sp>
      <p:sp>
        <p:nvSpPr>
          <p:cNvPr id="3481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周期性示例</a:t>
            </a:r>
          </a:p>
        </p:txBody>
      </p:sp>
      <p:grpSp>
        <p:nvGrpSpPr>
          <p:cNvPr id="34822" name="组合 88"/>
          <p:cNvGrpSpPr>
            <a:grpSpLocks/>
          </p:cNvGrpSpPr>
          <p:nvPr/>
        </p:nvGrpSpPr>
        <p:grpSpPr bwMode="auto">
          <a:xfrm>
            <a:off x="3569703" y="1233774"/>
            <a:ext cx="5058946" cy="2118215"/>
            <a:chOff x="2556972" y="991280"/>
            <a:chExt cx="5056229" cy="2117750"/>
          </a:xfrm>
        </p:grpSpPr>
        <p:grpSp>
          <p:nvGrpSpPr>
            <p:cNvPr id="34829" name="Group 50"/>
            <p:cNvGrpSpPr>
              <a:grpSpLocks/>
            </p:cNvGrpSpPr>
            <p:nvPr/>
          </p:nvGrpSpPr>
          <p:grpSpPr bwMode="auto">
            <a:xfrm>
              <a:off x="2556972" y="1914472"/>
              <a:ext cx="360363" cy="461963"/>
              <a:chOff x="1708" y="3234"/>
              <a:chExt cx="227" cy="291"/>
            </a:xfrm>
          </p:grpSpPr>
          <p:sp>
            <p:nvSpPr>
              <p:cNvPr id="34874" name="Oval 7"/>
              <p:cNvSpPr>
                <a:spLocks noChangeArrowheads="1"/>
              </p:cNvSpPr>
              <p:nvPr/>
            </p:nvSpPr>
            <p:spPr bwMode="auto">
              <a:xfrm>
                <a:off x="1708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875" name="Rectangle 8"/>
              <p:cNvSpPr>
                <a:spLocks noChangeArrowheads="1"/>
              </p:cNvSpPr>
              <p:nvPr/>
            </p:nvSpPr>
            <p:spPr bwMode="auto">
              <a:xfrm>
                <a:off x="1722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7</a:t>
                </a:r>
              </a:p>
            </p:txBody>
          </p:sp>
        </p:grpSp>
        <p:grpSp>
          <p:nvGrpSpPr>
            <p:cNvPr id="34830" name="Group 51"/>
            <p:cNvGrpSpPr>
              <a:grpSpLocks/>
            </p:cNvGrpSpPr>
            <p:nvPr/>
          </p:nvGrpSpPr>
          <p:grpSpPr bwMode="auto">
            <a:xfrm>
              <a:off x="3365010" y="1142965"/>
              <a:ext cx="360363" cy="461963"/>
              <a:chOff x="2416" y="3234"/>
              <a:chExt cx="227" cy="291"/>
            </a:xfrm>
          </p:grpSpPr>
          <p:sp>
            <p:nvSpPr>
              <p:cNvPr id="34872" name="Oval 9"/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873" name="Rectangle 10"/>
              <p:cNvSpPr>
                <a:spLocks noChangeArrowheads="1"/>
              </p:cNvSpPr>
              <p:nvPr/>
            </p:nvSpPr>
            <p:spPr bwMode="auto">
              <a:xfrm>
                <a:off x="2430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8</a:t>
                </a:r>
              </a:p>
            </p:txBody>
          </p:sp>
        </p:grpSp>
        <p:grpSp>
          <p:nvGrpSpPr>
            <p:cNvPr id="34831" name="Group 52"/>
            <p:cNvGrpSpPr>
              <a:grpSpLocks/>
            </p:cNvGrpSpPr>
            <p:nvPr/>
          </p:nvGrpSpPr>
          <p:grpSpPr bwMode="auto">
            <a:xfrm>
              <a:off x="7252838" y="1870380"/>
              <a:ext cx="360363" cy="461963"/>
              <a:chOff x="3124" y="3234"/>
              <a:chExt cx="227" cy="291"/>
            </a:xfrm>
          </p:grpSpPr>
          <p:sp>
            <p:nvSpPr>
              <p:cNvPr id="34870" name="Oval 11"/>
              <p:cNvSpPr>
                <a:spLocks noChangeArrowheads="1"/>
              </p:cNvSpPr>
              <p:nvPr/>
            </p:nvSpPr>
            <p:spPr bwMode="auto">
              <a:xfrm>
                <a:off x="3124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871" name="Rectangle 12"/>
              <p:cNvSpPr>
                <a:spLocks noChangeArrowheads="1"/>
              </p:cNvSpPr>
              <p:nvPr/>
            </p:nvSpPr>
            <p:spPr bwMode="auto">
              <a:xfrm>
                <a:off x="3138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3</a:t>
                </a:r>
              </a:p>
            </p:txBody>
          </p:sp>
        </p:grpSp>
        <p:grpSp>
          <p:nvGrpSpPr>
            <p:cNvPr id="34832" name="Group 53"/>
            <p:cNvGrpSpPr>
              <a:grpSpLocks/>
            </p:cNvGrpSpPr>
            <p:nvPr/>
          </p:nvGrpSpPr>
          <p:grpSpPr bwMode="auto">
            <a:xfrm>
              <a:off x="6389063" y="2437705"/>
              <a:ext cx="360362" cy="461963"/>
              <a:chOff x="3833" y="3234"/>
              <a:chExt cx="227" cy="291"/>
            </a:xfrm>
          </p:grpSpPr>
          <p:sp>
            <p:nvSpPr>
              <p:cNvPr id="34868" name="Oval 13"/>
              <p:cNvSpPr>
                <a:spLocks noChangeArrowheads="1"/>
              </p:cNvSpPr>
              <p:nvPr/>
            </p:nvSpPr>
            <p:spPr bwMode="auto">
              <a:xfrm>
                <a:off x="3833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869" name="Rectangle 14"/>
              <p:cNvSpPr>
                <a:spLocks noChangeArrowheads="1"/>
              </p:cNvSpPr>
              <p:nvPr/>
            </p:nvSpPr>
            <p:spPr bwMode="auto">
              <a:xfrm>
                <a:off x="3847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4</a:t>
                </a:r>
              </a:p>
            </p:txBody>
          </p:sp>
        </p:grpSp>
        <p:sp>
          <p:nvSpPr>
            <p:cNvPr id="34833" name="Rectangle 26"/>
            <p:cNvSpPr>
              <a:spLocks noChangeArrowheads="1"/>
            </p:cNvSpPr>
            <p:nvPr/>
          </p:nvSpPr>
          <p:spPr bwMode="auto">
            <a:xfrm>
              <a:off x="2911956" y="1329859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grpSp>
          <p:nvGrpSpPr>
            <p:cNvPr id="34834" name="Group 51"/>
            <p:cNvGrpSpPr>
              <a:grpSpLocks/>
            </p:cNvGrpSpPr>
            <p:nvPr/>
          </p:nvGrpSpPr>
          <p:grpSpPr bwMode="auto">
            <a:xfrm>
              <a:off x="6452000" y="1220344"/>
              <a:ext cx="360363" cy="461963"/>
              <a:chOff x="2416" y="3234"/>
              <a:chExt cx="227" cy="291"/>
            </a:xfrm>
          </p:grpSpPr>
          <p:sp>
            <p:nvSpPr>
              <p:cNvPr id="34866" name="Oval 9"/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867" name="Rectangle 10"/>
              <p:cNvSpPr>
                <a:spLocks noChangeArrowheads="1"/>
              </p:cNvSpPr>
              <p:nvPr/>
            </p:nvSpPr>
            <p:spPr bwMode="auto">
              <a:xfrm>
                <a:off x="2430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2</a:t>
                </a:r>
              </a:p>
            </p:txBody>
          </p:sp>
        </p:grpSp>
        <p:grpSp>
          <p:nvGrpSpPr>
            <p:cNvPr id="34835" name="Group 51"/>
            <p:cNvGrpSpPr>
              <a:grpSpLocks/>
            </p:cNvGrpSpPr>
            <p:nvPr/>
          </p:nvGrpSpPr>
          <p:grpSpPr bwMode="auto">
            <a:xfrm>
              <a:off x="5430347" y="1821168"/>
              <a:ext cx="360363" cy="461963"/>
              <a:chOff x="2416" y="3234"/>
              <a:chExt cx="227" cy="291"/>
            </a:xfrm>
          </p:grpSpPr>
          <p:sp>
            <p:nvSpPr>
              <p:cNvPr id="34864" name="Oval 9"/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865" name="Rectangle 10"/>
              <p:cNvSpPr>
                <a:spLocks noChangeArrowheads="1"/>
              </p:cNvSpPr>
              <p:nvPr/>
            </p:nvSpPr>
            <p:spPr bwMode="auto">
              <a:xfrm>
                <a:off x="2431" y="3234"/>
                <a:ext cx="21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</p:grpSp>
        <p:grpSp>
          <p:nvGrpSpPr>
            <p:cNvPr id="34836" name="Group 51"/>
            <p:cNvGrpSpPr>
              <a:grpSpLocks/>
            </p:cNvGrpSpPr>
            <p:nvPr/>
          </p:nvGrpSpPr>
          <p:grpSpPr bwMode="auto">
            <a:xfrm>
              <a:off x="4454701" y="2460107"/>
              <a:ext cx="360363" cy="461963"/>
              <a:chOff x="459" y="2892"/>
              <a:chExt cx="227" cy="291"/>
            </a:xfrm>
          </p:grpSpPr>
          <p:sp>
            <p:nvSpPr>
              <p:cNvPr id="34862" name="Oval 9"/>
              <p:cNvSpPr>
                <a:spLocks noChangeArrowheads="1"/>
              </p:cNvSpPr>
              <p:nvPr/>
            </p:nvSpPr>
            <p:spPr bwMode="auto">
              <a:xfrm>
                <a:off x="459" y="2929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863" name="Rectangle 10"/>
              <p:cNvSpPr>
                <a:spLocks noChangeArrowheads="1"/>
              </p:cNvSpPr>
              <p:nvPr/>
            </p:nvSpPr>
            <p:spPr bwMode="auto">
              <a:xfrm>
                <a:off x="463" y="2892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5</a:t>
                </a:r>
              </a:p>
            </p:txBody>
          </p:sp>
        </p:grpSp>
        <p:grpSp>
          <p:nvGrpSpPr>
            <p:cNvPr id="34837" name="Group 51"/>
            <p:cNvGrpSpPr>
              <a:grpSpLocks/>
            </p:cNvGrpSpPr>
            <p:nvPr/>
          </p:nvGrpSpPr>
          <p:grpSpPr bwMode="auto">
            <a:xfrm>
              <a:off x="4425571" y="1145424"/>
              <a:ext cx="360363" cy="461963"/>
              <a:chOff x="2416" y="3234"/>
              <a:chExt cx="227" cy="291"/>
            </a:xfrm>
          </p:grpSpPr>
          <p:sp>
            <p:nvSpPr>
              <p:cNvPr id="34860" name="Oval 9"/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861" name="Rectangle 10"/>
              <p:cNvSpPr>
                <a:spLocks noChangeArrowheads="1"/>
              </p:cNvSpPr>
              <p:nvPr/>
            </p:nvSpPr>
            <p:spPr bwMode="auto">
              <a:xfrm>
                <a:off x="2430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9</a:t>
                </a:r>
              </a:p>
            </p:txBody>
          </p:sp>
        </p:grpSp>
        <p:grpSp>
          <p:nvGrpSpPr>
            <p:cNvPr id="34838" name="Group 51"/>
            <p:cNvGrpSpPr>
              <a:grpSpLocks/>
            </p:cNvGrpSpPr>
            <p:nvPr/>
          </p:nvGrpSpPr>
          <p:grpSpPr bwMode="auto">
            <a:xfrm>
              <a:off x="3415017" y="2455081"/>
              <a:ext cx="360363" cy="461963"/>
              <a:chOff x="2416" y="3234"/>
              <a:chExt cx="227" cy="291"/>
            </a:xfrm>
          </p:grpSpPr>
          <p:sp>
            <p:nvSpPr>
              <p:cNvPr id="34858" name="Oval 9"/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859" name="Rectangle 10"/>
              <p:cNvSpPr>
                <a:spLocks noChangeArrowheads="1"/>
              </p:cNvSpPr>
              <p:nvPr/>
            </p:nvSpPr>
            <p:spPr bwMode="auto">
              <a:xfrm>
                <a:off x="2430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 dirty="0"/>
                  <a:t>6</a:t>
                </a:r>
              </a:p>
            </p:txBody>
          </p:sp>
        </p:grpSp>
        <p:cxnSp>
          <p:nvCxnSpPr>
            <p:cNvPr id="34839" name="直接箭头连接符 2"/>
            <p:cNvCxnSpPr>
              <a:cxnSpLocks noChangeShapeType="1"/>
              <a:stCxn id="34874" idx="7"/>
              <a:endCxn id="34872" idx="3"/>
            </p:cNvCxnSpPr>
            <p:nvPr/>
          </p:nvCxnSpPr>
          <p:spPr bwMode="auto">
            <a:xfrm flipV="1">
              <a:off x="2864561" y="1498173"/>
              <a:ext cx="553223" cy="516692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0" name="直接箭头连接符 58"/>
            <p:cNvCxnSpPr>
              <a:cxnSpLocks/>
              <a:stCxn id="34866" idx="5"/>
              <a:endCxn id="34870" idx="1"/>
            </p:cNvCxnSpPr>
            <p:nvPr/>
          </p:nvCxnSpPr>
          <p:spPr bwMode="auto">
            <a:xfrm>
              <a:off x="6759589" y="1575552"/>
              <a:ext cx="546023" cy="395221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1" name="直接箭头连接符 7"/>
            <p:cNvCxnSpPr>
              <a:cxnSpLocks noChangeShapeType="1"/>
              <a:stCxn id="34872" idx="6"/>
              <a:endCxn id="34860" idx="2"/>
            </p:cNvCxnSpPr>
            <p:nvPr/>
          </p:nvCxnSpPr>
          <p:spPr bwMode="auto">
            <a:xfrm>
              <a:off x="3725373" y="1370766"/>
              <a:ext cx="700198" cy="2459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2" name="直接箭头连接符 57"/>
            <p:cNvCxnSpPr>
              <a:cxnSpLocks/>
              <a:endCxn id="34866" idx="3"/>
            </p:cNvCxnSpPr>
            <p:nvPr/>
          </p:nvCxnSpPr>
          <p:spPr bwMode="auto">
            <a:xfrm flipV="1">
              <a:off x="5766897" y="1575552"/>
              <a:ext cx="737877" cy="357985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3" name="直接箭头连接符 66"/>
            <p:cNvCxnSpPr>
              <a:cxnSpLocks/>
              <a:stCxn id="34860" idx="5"/>
              <a:endCxn id="34864" idx="1"/>
            </p:cNvCxnSpPr>
            <p:nvPr/>
          </p:nvCxnSpPr>
          <p:spPr bwMode="auto">
            <a:xfrm>
              <a:off x="4733160" y="1500632"/>
              <a:ext cx="749961" cy="420929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4" name="直接箭头连接符 65"/>
            <p:cNvCxnSpPr>
              <a:cxnSpLocks noChangeShapeType="1"/>
              <a:stCxn id="34864" idx="3"/>
              <a:endCxn id="34862" idx="6"/>
            </p:cNvCxnSpPr>
            <p:nvPr/>
          </p:nvCxnSpPr>
          <p:spPr bwMode="auto">
            <a:xfrm flipH="1">
              <a:off x="4815064" y="2176376"/>
              <a:ext cx="668057" cy="522646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5" name="直接箭头连接符 77"/>
            <p:cNvCxnSpPr>
              <a:cxnSpLocks/>
              <a:stCxn id="34858" idx="2"/>
              <a:endCxn id="34874" idx="5"/>
            </p:cNvCxnSpPr>
            <p:nvPr/>
          </p:nvCxnSpPr>
          <p:spPr bwMode="auto">
            <a:xfrm flipH="1" flipV="1">
              <a:off x="2864561" y="2269680"/>
              <a:ext cx="550456" cy="413202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6" name="直接箭头连接符 80"/>
            <p:cNvCxnSpPr>
              <a:cxnSpLocks/>
              <a:stCxn id="34863" idx="1"/>
              <a:endCxn id="34859" idx="3"/>
            </p:cNvCxnSpPr>
            <p:nvPr/>
          </p:nvCxnSpPr>
          <p:spPr bwMode="auto">
            <a:xfrm flipH="1" flipV="1">
              <a:off x="3775379" y="2686063"/>
              <a:ext cx="685671" cy="5026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7" name="直接箭头连接符 85"/>
            <p:cNvCxnSpPr>
              <a:cxnSpLocks/>
              <a:stCxn id="34870" idx="3"/>
              <a:endCxn id="34869" idx="3"/>
            </p:cNvCxnSpPr>
            <p:nvPr/>
          </p:nvCxnSpPr>
          <p:spPr bwMode="auto">
            <a:xfrm flipH="1">
              <a:off x="6749425" y="2225596"/>
              <a:ext cx="556187" cy="443091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8" name="直接箭头连接符 90"/>
            <p:cNvCxnSpPr>
              <a:cxnSpLocks/>
              <a:stCxn id="34869" idx="1"/>
              <a:endCxn id="34864" idx="5"/>
            </p:cNvCxnSpPr>
            <p:nvPr/>
          </p:nvCxnSpPr>
          <p:spPr bwMode="auto">
            <a:xfrm flipH="1" flipV="1">
              <a:off x="5737936" y="2176376"/>
              <a:ext cx="673352" cy="492311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49" name="Rectangle 26"/>
            <p:cNvSpPr>
              <a:spLocks noChangeArrowheads="1"/>
            </p:cNvSpPr>
            <p:nvPr/>
          </p:nvSpPr>
          <p:spPr bwMode="auto">
            <a:xfrm>
              <a:off x="5530640" y="1421275"/>
              <a:ext cx="633371" cy="4585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1/3</a:t>
              </a:r>
            </a:p>
          </p:txBody>
        </p:sp>
        <p:sp>
          <p:nvSpPr>
            <p:cNvPr id="34850" name="Rectangle 26"/>
            <p:cNvSpPr>
              <a:spLocks noChangeArrowheads="1"/>
            </p:cNvSpPr>
            <p:nvPr/>
          </p:nvSpPr>
          <p:spPr bwMode="auto">
            <a:xfrm>
              <a:off x="3937171" y="2647365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34851" name="Rectangle 26"/>
            <p:cNvSpPr>
              <a:spLocks noChangeArrowheads="1"/>
            </p:cNvSpPr>
            <p:nvPr/>
          </p:nvSpPr>
          <p:spPr bwMode="auto">
            <a:xfrm>
              <a:off x="2879700" y="2416533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34852" name="Rectangle 26"/>
            <p:cNvSpPr>
              <a:spLocks noChangeArrowheads="1"/>
            </p:cNvSpPr>
            <p:nvPr/>
          </p:nvSpPr>
          <p:spPr bwMode="auto">
            <a:xfrm>
              <a:off x="3855523" y="991280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34853" name="Rectangle 26"/>
            <p:cNvSpPr>
              <a:spLocks noChangeArrowheads="1"/>
            </p:cNvSpPr>
            <p:nvPr/>
          </p:nvSpPr>
          <p:spPr bwMode="auto">
            <a:xfrm>
              <a:off x="4918852" y="1308764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34854" name="Rectangle 26"/>
            <p:cNvSpPr>
              <a:spLocks noChangeArrowheads="1"/>
            </p:cNvSpPr>
            <p:nvPr/>
          </p:nvSpPr>
          <p:spPr bwMode="auto">
            <a:xfrm>
              <a:off x="5755490" y="2269680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34855" name="Rectangle 26"/>
            <p:cNvSpPr>
              <a:spLocks noChangeArrowheads="1"/>
            </p:cNvSpPr>
            <p:nvPr/>
          </p:nvSpPr>
          <p:spPr bwMode="auto">
            <a:xfrm>
              <a:off x="6914318" y="2325504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34856" name="Rectangle 26"/>
            <p:cNvSpPr>
              <a:spLocks noChangeArrowheads="1"/>
            </p:cNvSpPr>
            <p:nvPr/>
          </p:nvSpPr>
          <p:spPr bwMode="auto">
            <a:xfrm>
              <a:off x="6749425" y="1330173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34857" name="Rectangle 26"/>
            <p:cNvSpPr>
              <a:spLocks noChangeArrowheads="1"/>
            </p:cNvSpPr>
            <p:nvPr/>
          </p:nvSpPr>
          <p:spPr bwMode="auto">
            <a:xfrm>
              <a:off x="4791454" y="2014865"/>
              <a:ext cx="633371" cy="4585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2/3</a:t>
              </a:r>
            </a:p>
          </p:txBody>
        </p:sp>
      </p:grpSp>
      <p:sp>
        <p:nvSpPr>
          <p:cNvPr id="110" name="Rectangle 4"/>
          <p:cNvSpPr>
            <a:spLocks noChangeArrowheads="1"/>
          </p:cNvSpPr>
          <p:nvPr/>
        </p:nvSpPr>
        <p:spPr bwMode="auto">
          <a:xfrm>
            <a:off x="9604375" y="3565557"/>
            <a:ext cx="1030525" cy="48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/>
              <a:t>d(1)=2</a:t>
            </a:r>
            <a:endParaRPr lang="zh-CN" altLang="en-US" sz="2400" dirty="0"/>
          </a:p>
        </p:txBody>
      </p:sp>
      <p:sp>
        <p:nvSpPr>
          <p:cNvPr id="111" name="Rectangle 4"/>
          <p:cNvSpPr>
            <a:spLocks noChangeArrowheads="1"/>
          </p:cNvSpPr>
          <p:nvPr/>
        </p:nvSpPr>
        <p:spPr bwMode="auto">
          <a:xfrm>
            <a:off x="2749180" y="4518043"/>
            <a:ext cx="5883049" cy="589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/>
              <a:t>状态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r>
              <a:rPr lang="en-US" altLang="zh-CN" sz="2400" dirty="0"/>
              <a:t>D={4k+6l|k=1,2,…,l=0,1,2…}</a:t>
            </a:r>
            <a:endParaRPr lang="zh-CN" altLang="en-US" sz="2400" dirty="0"/>
          </a:p>
        </p:txBody>
      </p:sp>
      <p:sp>
        <p:nvSpPr>
          <p:cNvPr id="113" name="Rectangle 4"/>
          <p:cNvSpPr>
            <a:spLocks noChangeArrowheads="1"/>
          </p:cNvSpPr>
          <p:nvPr/>
        </p:nvSpPr>
        <p:spPr bwMode="auto">
          <a:xfrm>
            <a:off x="9449170" y="4559472"/>
            <a:ext cx="1032114" cy="481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/>
              <a:t>d(2)=2</a:t>
            </a:r>
            <a:endParaRPr lang="zh-CN" altLang="en-US" sz="2400" dirty="0"/>
          </a:p>
        </p:txBody>
      </p:sp>
      <p:sp>
        <p:nvSpPr>
          <p:cNvPr id="2" name="箭头: 右 91">
            <a:extLst>
              <a:ext uri="{FF2B5EF4-FFF2-40B4-BE49-F238E27FC236}">
                <a16:creationId xmlns:a16="http://schemas.microsoft.com/office/drawing/2014/main" id="{C4FC6B13-3D3B-8883-C9D7-56BAB4082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134" y="3787775"/>
            <a:ext cx="360363" cy="234950"/>
          </a:xfrm>
          <a:prstGeom prst="rightArrow">
            <a:avLst>
              <a:gd name="adj1" fmla="val 50000"/>
              <a:gd name="adj2" fmla="val 50047"/>
            </a:avLst>
          </a:pr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" name="箭头: 右 111">
            <a:extLst>
              <a:ext uri="{FF2B5EF4-FFF2-40B4-BE49-F238E27FC236}">
                <a16:creationId xmlns:a16="http://schemas.microsoft.com/office/drawing/2014/main" id="{C8FA300A-3234-D23C-5FD3-BC20A61D5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198" y="4719179"/>
            <a:ext cx="360363" cy="234950"/>
          </a:xfrm>
          <a:prstGeom prst="rightArrow">
            <a:avLst>
              <a:gd name="adj1" fmla="val 50000"/>
              <a:gd name="adj2" fmla="val 50047"/>
            </a:avLst>
          </a:pr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uild="p"/>
      <p:bldP spid="110" grpId="0" build="p"/>
      <p:bldP spid="111" grpId="0" build="p"/>
      <p:bldP spid="11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五、状态的周期性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9317" name="Rectangle 5"/>
              <p:cNvSpPr>
                <a:spLocks noChangeArrowheads="1"/>
              </p:cNvSpPr>
              <p:nvPr/>
            </p:nvSpPr>
            <p:spPr bwMode="auto">
              <a:xfrm>
                <a:off x="841375" y="1219994"/>
                <a:ext cx="9982200" cy="3258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marL="457200" indent="-457200"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400" dirty="0">
                    <a:solidFill>
                      <a:srgbClr val="CC00CC"/>
                    </a:solidFill>
                    <a:latin typeface="+mn-ea"/>
                    <a:ea typeface="+mn-ea"/>
                  </a:rPr>
                  <a:t>结论：</a:t>
                </a:r>
              </a:p>
              <a:p>
                <a:pPr algn="just">
                  <a:lnSpc>
                    <a:spcPct val="150000"/>
                  </a:lnSpc>
                  <a:buClr>
                    <a:srgbClr val="CC00CC"/>
                  </a:buClr>
                  <a:buFont typeface="Wingdings" panose="05000000000000000000" pitchFamily="2" charset="2"/>
                  <a:buAutoNum type="arabicParenR"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如果</a:t>
                </a:r>
                <a:r>
                  <a:rPr lang="en-US" altLang="zh-CN" sz="2400" dirty="0" err="1">
                    <a:solidFill>
                      <a:srgbClr val="0000FF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i</a:t>
                </a:r>
                <a:r>
                  <a:rPr lang="en-US" altLang="zh-CN" sz="2400" dirty="0">
                    <a:solidFill>
                      <a:srgbClr val="CC00CC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⟷</m:t>
                    </m:r>
                    <m:r>
                      <a:rPr lang="en-US" altLang="zh-CN" sz="2400" i="1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altLang="zh-CN" sz="2400" dirty="0" err="1">
                    <a:solidFill>
                      <a:srgbClr val="0000FF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j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，则状态</a:t>
                </a:r>
                <a:r>
                  <a:rPr lang="en-US" altLang="zh-CN" sz="2400" dirty="0" err="1">
                    <a:solidFill>
                      <a:srgbClr val="0000FF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i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和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j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或者有相同的周期，或者都是非周期的；</a:t>
                </a:r>
                <a:endParaRPr lang="zh-CN" altLang="en-US" sz="2400" dirty="0">
                  <a:solidFill>
                    <a:srgbClr val="0000FF"/>
                  </a:solidFill>
                  <a:latin typeface="+mn-ea"/>
                  <a:ea typeface="+mn-ea"/>
                </a:endParaRPr>
              </a:p>
              <a:p>
                <a:pPr algn="just" eaLnBrk="1" hangingPunct="1">
                  <a:lnSpc>
                    <a:spcPct val="150000"/>
                  </a:lnSpc>
                  <a:buClr>
                    <a:srgbClr val="CC00CC"/>
                  </a:buClr>
                  <a:buFont typeface="Wingdings" panose="05000000000000000000" pitchFamily="2" charset="2"/>
                  <a:buAutoNum type="arabicParenR"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如果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C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是一个常返闭集，则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C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中的每一个状态或者都是非周期的，或者都是同周期的；</a:t>
                </a:r>
              </a:p>
              <a:p>
                <a:pPr algn="just" eaLnBrk="1" hangingPunct="1">
                  <a:lnSpc>
                    <a:spcPct val="150000"/>
                  </a:lnSpc>
                  <a:buClr>
                    <a:srgbClr val="CC00CC"/>
                  </a:buClr>
                  <a:buFont typeface="Wingdings" panose="05000000000000000000" pitchFamily="2" charset="2"/>
                  <a:buAutoNum type="arabicParenR"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如果马氏链是不可约常返链，那么只要有一个是周期为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d(d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＞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1)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的状态，则状态空间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E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都是周期为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d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的状态。</a:t>
                </a:r>
              </a:p>
            </p:txBody>
          </p:sp>
        </mc:Choice>
        <mc:Fallback xmlns="">
          <p:sp>
            <p:nvSpPr>
              <p:cNvPr id="269317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1375" y="1219994"/>
                <a:ext cx="9982200" cy="3258713"/>
              </a:xfrm>
              <a:prstGeom prst="rect">
                <a:avLst/>
              </a:prstGeom>
              <a:blipFill>
                <a:blip r:embed="rId2"/>
                <a:stretch>
                  <a:fillRect l="-2160" r="-4828" b="-46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69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69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69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69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7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结论</a:t>
            </a:r>
            <a:r>
              <a:rPr lang="en-US" altLang="zh-CN"/>
              <a:t>1</a:t>
            </a:r>
            <a:r>
              <a:rPr lang="zh-CN" altLang="en-US"/>
              <a:t>的证明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3" name="内容占位符 2">
                <a:extLst>
                  <a:ext uri="{FF2B5EF4-FFF2-40B4-BE49-F238E27FC236}">
                    <a16:creationId xmlns:a16="http://schemas.microsoft.com/office/drawing/2014/main" id="{504F8DD5-9F31-4F38-B0EB-3C71D3D69B6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774700" y="979714"/>
                <a:ext cx="9592663" cy="1710134"/>
              </a:xfrm>
            </p:spPr>
            <p:txBody>
              <a:bodyPr>
                <a:normAutofit lnSpcReduction="10000"/>
              </a:bodyPr>
              <a:lstStyle/>
              <a:p>
                <a:pPr>
                  <a:defRPr/>
                </a:pPr>
                <a:r>
                  <a:rPr lang="zh-CN" altLang="en-US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如果</a:t>
                </a:r>
                <a:r>
                  <a:rPr lang="en-US" altLang="zh-CN" dirty="0" err="1">
                    <a:solidFill>
                      <a:srgbClr val="0000FF"/>
                    </a:solidFill>
                    <a:sym typeface="Symbol" panose="05050102010706020507" pitchFamily="18" charset="2"/>
                  </a:rPr>
                  <a:t>i</a:t>
                </a:r>
                <a:r>
                  <a:rPr lang="en-US" altLang="zh-CN" dirty="0">
                    <a:solidFill>
                      <a:srgbClr val="0000CC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⟷ </m:t>
                    </m:r>
                  </m:oMath>
                </a14:m>
                <a:r>
                  <a:rPr lang="en-US" altLang="zh-CN" dirty="0" err="1">
                    <a:solidFill>
                      <a:srgbClr val="0000FF"/>
                    </a:solidFill>
                    <a:sym typeface="Symbol" panose="05050102010706020507" pitchFamily="18" charset="2"/>
                  </a:rPr>
                  <a:t>j</a:t>
                </a:r>
                <a:r>
                  <a:rPr lang="zh-CN" altLang="en-US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，则状态</a:t>
                </a:r>
                <a:r>
                  <a:rPr lang="en-US" altLang="zh-CN" dirty="0" err="1">
                    <a:solidFill>
                      <a:srgbClr val="0000FF"/>
                    </a:solidFill>
                    <a:sym typeface="Symbol" panose="05050102010706020507" pitchFamily="18" charset="2"/>
                  </a:rPr>
                  <a:t>i</a:t>
                </a:r>
                <a:r>
                  <a:rPr lang="zh-CN" altLang="en-US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和</a:t>
                </a:r>
                <a:r>
                  <a:rPr lang="en-US" altLang="zh-CN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j</a:t>
                </a:r>
                <a:r>
                  <a:rPr lang="zh-CN" altLang="en-US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或者有相同的周期，或者都是非周期的；</a:t>
                </a:r>
                <a:endParaRPr lang="en-US" altLang="zh-CN" dirty="0">
                  <a:solidFill>
                    <a:srgbClr val="0000FF"/>
                  </a:solidFill>
                  <a:sym typeface="Symbol" panose="05050102010706020507" pitchFamily="18" charset="2"/>
                </a:endParaRPr>
              </a:p>
              <a:p>
                <a:pPr marL="0" indent="0">
                  <a:buNone/>
                  <a:defRPr/>
                </a:pPr>
                <a:r>
                  <a:rPr lang="zh-CN" altLang="en-US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证明：因为</a:t>
                </a:r>
                <a:r>
                  <a:rPr lang="en-US" altLang="zh-CN" dirty="0" err="1">
                    <a:solidFill>
                      <a:srgbClr val="0000FF"/>
                    </a:solidFill>
                    <a:sym typeface="Symbol" panose="05050102010706020507" pitchFamily="18" charset="2"/>
                  </a:rPr>
                  <a:t>i</a:t>
                </a:r>
                <a:r>
                  <a:rPr lang="en-US" altLang="zh-CN" dirty="0">
                    <a:solidFill>
                      <a:srgbClr val="0000CC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⟷ </m:t>
                    </m:r>
                  </m:oMath>
                </a14:m>
                <a:r>
                  <a:rPr lang="en-US" altLang="zh-CN" dirty="0" err="1">
                    <a:solidFill>
                      <a:srgbClr val="0000FF"/>
                    </a:solidFill>
                    <a:sym typeface="Symbol" panose="05050102010706020507" pitchFamily="18" charset="2"/>
                  </a:rPr>
                  <a:t>j</a:t>
                </a:r>
                <a:r>
                  <a:rPr lang="zh-CN" altLang="en-US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，所以有</a:t>
                </a:r>
                <a:r>
                  <a:rPr lang="en-US" altLang="zh-CN" dirty="0" err="1">
                    <a:solidFill>
                      <a:srgbClr val="0000FF"/>
                    </a:solidFill>
                    <a:sym typeface="Symbol" panose="05050102010706020507" pitchFamily="18" charset="2"/>
                  </a:rPr>
                  <a:t>i→j</a:t>
                </a:r>
                <a:r>
                  <a:rPr lang="zh-CN" altLang="en-US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和</a:t>
                </a:r>
                <a:r>
                  <a:rPr lang="en-US" altLang="zh-CN" dirty="0" err="1">
                    <a:solidFill>
                      <a:srgbClr val="0000FF"/>
                    </a:solidFill>
                    <a:sym typeface="Symbol" panose="05050102010706020507" pitchFamily="18" charset="2"/>
                  </a:rPr>
                  <a:t>j→i</a:t>
                </a:r>
                <a:endParaRPr lang="en-US" altLang="zh-CN" dirty="0">
                  <a:solidFill>
                    <a:srgbClr val="0000FF"/>
                  </a:solidFill>
                  <a:sym typeface="Symbol" panose="05050102010706020507" pitchFamily="18" charset="2"/>
                </a:endParaRPr>
              </a:p>
              <a:p>
                <a:pPr marL="0" indent="0">
                  <a:buNone/>
                  <a:defRPr/>
                </a:pPr>
                <a:r>
                  <a:rPr lang="en-US" altLang="zh-CN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          </a:t>
                </a:r>
                <a:r>
                  <a:rPr lang="zh-CN" altLang="en-US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从而存在</a:t>
                </a:r>
                <a:r>
                  <a:rPr lang="en-US" altLang="zh-CN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m≥1</a:t>
                </a:r>
                <a:r>
                  <a:rPr lang="zh-CN" altLang="en-US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，</a:t>
                </a:r>
                <a:r>
                  <a:rPr lang="en-US" altLang="zh-CN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n ≥1</a:t>
                </a:r>
                <a:r>
                  <a:rPr lang="zh-CN" altLang="en-US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，</a:t>
                </a:r>
                <a:r>
                  <a:rPr lang="en-US" altLang="zh-CN" dirty="0" err="1">
                    <a:solidFill>
                      <a:srgbClr val="0000FF"/>
                    </a:solidFill>
                    <a:sym typeface="Symbol" panose="05050102010706020507" pitchFamily="18" charset="2"/>
                  </a:rPr>
                  <a:t>s.t.</a:t>
                </a:r>
                <a:r>
                  <a:rPr lang="zh-CN" altLang="en-US" dirty="0"/>
                  <a:t>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p</a:t>
                </a:r>
                <a:r>
                  <a:rPr lang="en-US" altLang="zh-CN" baseline="-25000" dirty="0" err="1">
                    <a:sym typeface="Symbol" panose="05050102010706020507" pitchFamily="18" charset="2"/>
                  </a:rPr>
                  <a:t>ij</a:t>
                </a:r>
                <a:r>
                  <a:rPr lang="en-US" altLang="zh-CN" dirty="0">
                    <a:sym typeface="Symbol" panose="05050102010706020507" pitchFamily="18" charset="2"/>
                  </a:rPr>
                  <a:t>(m)</a:t>
                </a:r>
                <a:r>
                  <a:rPr lang="zh-CN" altLang="en-US" dirty="0">
                    <a:sym typeface="Symbol" panose="05050102010706020507" pitchFamily="18" charset="2"/>
                  </a:rPr>
                  <a:t>＞</a:t>
                </a:r>
                <a:r>
                  <a:rPr lang="en-US" altLang="zh-CN" dirty="0">
                    <a:sym typeface="Symbol" panose="05050102010706020507" pitchFamily="18" charset="2"/>
                  </a:rPr>
                  <a:t>0</a:t>
                </a:r>
                <a:r>
                  <a:rPr lang="zh-CN" altLang="en-US" dirty="0">
                    <a:sym typeface="Symbol" panose="05050102010706020507" pitchFamily="18" charset="2"/>
                  </a:rPr>
                  <a:t>，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p</a:t>
                </a:r>
                <a:r>
                  <a:rPr lang="en-US" altLang="zh-CN" baseline="-25000" dirty="0" err="1">
                    <a:sym typeface="Symbol" panose="05050102010706020507" pitchFamily="18" charset="2"/>
                  </a:rPr>
                  <a:t>ji</a:t>
                </a:r>
                <a:r>
                  <a:rPr lang="en-US" altLang="zh-CN" dirty="0">
                    <a:sym typeface="Symbol" panose="05050102010706020507" pitchFamily="18" charset="2"/>
                  </a:rPr>
                  <a:t>(n)</a:t>
                </a:r>
                <a:r>
                  <a:rPr lang="zh-CN" altLang="en-US" dirty="0">
                    <a:sym typeface="Symbol" panose="05050102010706020507" pitchFamily="18" charset="2"/>
                  </a:rPr>
                  <a:t>＞</a:t>
                </a:r>
                <a:r>
                  <a:rPr lang="en-US" altLang="zh-CN" dirty="0">
                    <a:sym typeface="Symbol" panose="05050102010706020507" pitchFamily="18" charset="2"/>
                  </a:rPr>
                  <a:t>0</a:t>
                </a:r>
                <a:r>
                  <a:rPr lang="zh-CN" altLang="en-US" dirty="0">
                    <a:sym typeface="Symbol" panose="05050102010706020507" pitchFamily="18" charset="2"/>
                  </a:rPr>
                  <a:t>，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i</a:t>
                </a:r>
                <a:r>
                  <a:rPr lang="en-US" altLang="zh-CN" dirty="0">
                    <a:sym typeface="Symbol" panose="05050102010706020507" pitchFamily="18" charset="2"/>
                  </a:rPr>
                  <a:t>,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jE</a:t>
                </a:r>
                <a:endParaRPr lang="zh-CN" altLang="en-US" dirty="0">
                  <a:solidFill>
                    <a:srgbClr val="0000FF"/>
                  </a:solidFill>
                </a:endParaRPr>
              </a:p>
              <a:p>
                <a:pPr>
                  <a:defRPr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5843" name="内容占位符 2">
                <a:extLst>
                  <a:ext uri="{FF2B5EF4-FFF2-40B4-BE49-F238E27FC236}">
                    <a16:creationId xmlns:a16="http://schemas.microsoft.com/office/drawing/2014/main" id="{504F8DD5-9F31-4F38-B0EB-3C71D3D69B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4700" y="979714"/>
                <a:ext cx="9592663" cy="1710134"/>
              </a:xfrm>
              <a:blipFill>
                <a:blip r:embed="rId3"/>
                <a:stretch>
                  <a:fillRect l="-661" b="-1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871" name="Object 4"/>
          <p:cNvGraphicFramePr>
            <a:graphicFrameLocks noChangeAspect="1"/>
          </p:cNvGraphicFramePr>
          <p:nvPr/>
        </p:nvGraphicFramePr>
        <p:xfrm>
          <a:off x="1834162" y="2638367"/>
          <a:ext cx="4625827" cy="733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52700" imgH="355600" progId="Equation.DSMT4">
                  <p:embed/>
                </p:oleObj>
              </mc:Choice>
              <mc:Fallback>
                <p:oleObj name="Equation" r:id="rId4" imgW="2552700" imgH="355600" progId="Equation.DSMT4">
                  <p:embed/>
                  <p:pic>
                    <p:nvPicPr>
                      <p:cNvPr id="3687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4162" y="2638367"/>
                        <a:ext cx="4625827" cy="7339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矩形 1"/>
          <p:cNvSpPr>
            <a:spLocks noChangeArrowheads="1"/>
          </p:cNvSpPr>
          <p:nvPr/>
        </p:nvSpPr>
        <p:spPr bwMode="auto">
          <a:xfrm>
            <a:off x="1728940" y="3432994"/>
            <a:ext cx="5540069" cy="460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若存在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s≥1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s.t.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 err="1"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latin typeface="+mn-ea"/>
                <a:ea typeface="+mn-ea"/>
                <a:sym typeface="Symbol" panose="05050102010706020507" pitchFamily="18" charset="2"/>
              </a:rPr>
              <a:t>ii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(s)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＞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0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dirty="0" err="1">
                <a:latin typeface="+mn-ea"/>
                <a:ea typeface="+mn-ea"/>
                <a:sym typeface="Symbol" panose="05050102010706020507" pitchFamily="18" charset="2"/>
              </a:rPr>
              <a:t>iE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，则有</a:t>
            </a:r>
            <a:endParaRPr lang="zh-CN" altLang="en-US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aphicFrame>
        <p:nvGraphicFramePr>
          <p:cNvPr id="36873" name="Object 4"/>
          <p:cNvGraphicFramePr>
            <a:graphicFrameLocks noChangeAspect="1"/>
          </p:cNvGraphicFramePr>
          <p:nvPr/>
        </p:nvGraphicFramePr>
        <p:xfrm>
          <a:off x="1831974" y="4006190"/>
          <a:ext cx="5716517" cy="809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14700" imgH="355600" progId="Equation.DSMT4">
                  <p:embed/>
                </p:oleObj>
              </mc:Choice>
              <mc:Fallback>
                <p:oleObj name="Equation" r:id="rId6" imgW="3314700" imgH="355600" progId="Equation.DSMT4">
                  <p:embed/>
                  <p:pic>
                    <p:nvPicPr>
                      <p:cNvPr id="3687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1974" y="4006190"/>
                        <a:ext cx="5716517" cy="809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4" name="矩形 10"/>
          <p:cNvSpPr>
            <a:spLocks noChangeArrowheads="1"/>
          </p:cNvSpPr>
          <p:nvPr/>
        </p:nvSpPr>
        <p:spPr bwMode="auto">
          <a:xfrm>
            <a:off x="993775" y="4801394"/>
            <a:ext cx="6554717" cy="46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即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d(j)|</a:t>
            </a: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m+n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且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d(j)|</a:t>
            </a: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m+n+s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从而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d(j)|s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。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875" name="矩形 11"/>
          <p:cNvSpPr>
            <a:spLocks noChangeArrowheads="1"/>
          </p:cNvSpPr>
          <p:nvPr/>
        </p:nvSpPr>
        <p:spPr bwMode="auto">
          <a:xfrm>
            <a:off x="965193" y="5344445"/>
            <a:ext cx="3485369" cy="46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于是有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d(j) ≤ d(</a:t>
            </a: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i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) 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876" name="矩形 12"/>
          <p:cNvSpPr>
            <a:spLocks noChangeArrowheads="1"/>
          </p:cNvSpPr>
          <p:nvPr/>
        </p:nvSpPr>
        <p:spPr bwMode="auto">
          <a:xfrm>
            <a:off x="966781" y="5863678"/>
            <a:ext cx="3483781" cy="460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同理有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</a:t>
            </a: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i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) ≤ d(j) 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877" name="矩形 13"/>
          <p:cNvSpPr>
            <a:spLocks noChangeArrowheads="1"/>
          </p:cNvSpPr>
          <p:nvPr/>
        </p:nvSpPr>
        <p:spPr bwMode="auto">
          <a:xfrm>
            <a:off x="965193" y="6416255"/>
            <a:ext cx="3485369" cy="462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即得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d(i)= d(j) </a:t>
            </a:r>
            <a:endParaRPr lang="zh-CN" altLang="en-US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88">
            <a:extLst>
              <a:ext uri="{FF2B5EF4-FFF2-40B4-BE49-F238E27FC236}">
                <a16:creationId xmlns:a16="http://schemas.microsoft.com/office/drawing/2014/main" id="{51DEE9DC-FED4-F30C-96B4-FBD89F1FD0CD}"/>
              </a:ext>
            </a:extLst>
          </p:cNvPr>
          <p:cNvGrpSpPr>
            <a:grpSpLocks/>
          </p:cNvGrpSpPr>
          <p:nvPr/>
        </p:nvGrpSpPr>
        <p:grpSpPr bwMode="auto">
          <a:xfrm>
            <a:off x="6937375" y="4907733"/>
            <a:ext cx="5058946" cy="2118215"/>
            <a:chOff x="2556972" y="991280"/>
            <a:chExt cx="5056229" cy="2117750"/>
          </a:xfrm>
        </p:grpSpPr>
        <p:grpSp>
          <p:nvGrpSpPr>
            <p:cNvPr id="3" name="Group 50">
              <a:extLst>
                <a:ext uri="{FF2B5EF4-FFF2-40B4-BE49-F238E27FC236}">
                  <a16:creationId xmlns:a16="http://schemas.microsoft.com/office/drawing/2014/main" id="{D20F8B02-B0D9-55D5-20DF-C6F7B156D3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56972" y="1914472"/>
              <a:ext cx="360363" cy="461963"/>
              <a:chOff x="1708" y="3234"/>
              <a:chExt cx="227" cy="291"/>
            </a:xfrm>
          </p:grpSpPr>
          <p:sp>
            <p:nvSpPr>
              <p:cNvPr id="35857" name="Oval 7">
                <a:extLst>
                  <a:ext uri="{FF2B5EF4-FFF2-40B4-BE49-F238E27FC236}">
                    <a16:creationId xmlns:a16="http://schemas.microsoft.com/office/drawing/2014/main" id="{6B30AB34-E182-69E8-02F6-D348DA4EED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8" y="3264"/>
                <a:ext cx="227" cy="227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5858" name="Rectangle 8">
                <a:extLst>
                  <a:ext uri="{FF2B5EF4-FFF2-40B4-BE49-F238E27FC236}">
                    <a16:creationId xmlns:a16="http://schemas.microsoft.com/office/drawing/2014/main" id="{815EAF75-22A7-9C6D-4589-062A828AA9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3234"/>
                <a:ext cx="17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 dirty="0"/>
                  <a:t>i</a:t>
                </a:r>
              </a:p>
            </p:txBody>
          </p:sp>
        </p:grpSp>
        <p:grpSp>
          <p:nvGrpSpPr>
            <p:cNvPr id="4" name="Group 51">
              <a:extLst>
                <a:ext uri="{FF2B5EF4-FFF2-40B4-BE49-F238E27FC236}">
                  <a16:creationId xmlns:a16="http://schemas.microsoft.com/office/drawing/2014/main" id="{CA92289F-3E22-E297-61BD-8C3FB303D0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5010" y="1142965"/>
              <a:ext cx="360363" cy="461963"/>
              <a:chOff x="2416" y="3234"/>
              <a:chExt cx="227" cy="291"/>
            </a:xfrm>
          </p:grpSpPr>
          <p:sp>
            <p:nvSpPr>
              <p:cNvPr id="35855" name="Oval 9">
                <a:extLst>
                  <a:ext uri="{FF2B5EF4-FFF2-40B4-BE49-F238E27FC236}">
                    <a16:creationId xmlns:a16="http://schemas.microsoft.com/office/drawing/2014/main" id="{8448B99E-8FED-73B4-AD68-15321EBDCF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5856" name="Rectangle 10">
                <a:extLst>
                  <a:ext uri="{FF2B5EF4-FFF2-40B4-BE49-F238E27FC236}">
                    <a16:creationId xmlns:a16="http://schemas.microsoft.com/office/drawing/2014/main" id="{80B02B0A-A50F-A331-E5F6-206C5D4DA9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0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8</a:t>
                </a:r>
              </a:p>
            </p:txBody>
          </p:sp>
        </p:grpSp>
        <p:grpSp>
          <p:nvGrpSpPr>
            <p:cNvPr id="5" name="Group 52">
              <a:extLst>
                <a:ext uri="{FF2B5EF4-FFF2-40B4-BE49-F238E27FC236}">
                  <a16:creationId xmlns:a16="http://schemas.microsoft.com/office/drawing/2014/main" id="{E4D123C9-3892-1D6F-C90E-E660B99C26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52838" y="1870380"/>
              <a:ext cx="360363" cy="461963"/>
              <a:chOff x="3124" y="3234"/>
              <a:chExt cx="227" cy="291"/>
            </a:xfrm>
          </p:grpSpPr>
          <p:sp>
            <p:nvSpPr>
              <p:cNvPr id="35853" name="Oval 11">
                <a:extLst>
                  <a:ext uri="{FF2B5EF4-FFF2-40B4-BE49-F238E27FC236}">
                    <a16:creationId xmlns:a16="http://schemas.microsoft.com/office/drawing/2014/main" id="{7FEA7732-57DE-30AA-B24C-2834C4A6E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5854" name="Rectangle 12">
                <a:extLst>
                  <a:ext uri="{FF2B5EF4-FFF2-40B4-BE49-F238E27FC236}">
                    <a16:creationId xmlns:a16="http://schemas.microsoft.com/office/drawing/2014/main" id="{2CE8612D-3226-E234-D440-66B04BC80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3</a:t>
                </a:r>
              </a:p>
            </p:txBody>
          </p:sp>
        </p:grpSp>
        <p:grpSp>
          <p:nvGrpSpPr>
            <p:cNvPr id="6" name="Group 53">
              <a:extLst>
                <a:ext uri="{FF2B5EF4-FFF2-40B4-BE49-F238E27FC236}">
                  <a16:creationId xmlns:a16="http://schemas.microsoft.com/office/drawing/2014/main" id="{BE40528C-EA79-3A86-6F26-6601B4C63B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89063" y="2437705"/>
              <a:ext cx="360362" cy="461963"/>
              <a:chOff x="3833" y="3234"/>
              <a:chExt cx="227" cy="291"/>
            </a:xfrm>
          </p:grpSpPr>
          <p:sp>
            <p:nvSpPr>
              <p:cNvPr id="35851" name="Oval 13">
                <a:extLst>
                  <a:ext uri="{FF2B5EF4-FFF2-40B4-BE49-F238E27FC236}">
                    <a16:creationId xmlns:a16="http://schemas.microsoft.com/office/drawing/2014/main" id="{DFB10E21-994B-961C-F364-C246D7E346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3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5852" name="Rectangle 14">
                <a:extLst>
                  <a:ext uri="{FF2B5EF4-FFF2-40B4-BE49-F238E27FC236}">
                    <a16:creationId xmlns:a16="http://schemas.microsoft.com/office/drawing/2014/main" id="{CCD8062C-D7C0-05A2-D164-5EB357808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7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4</a:t>
                </a:r>
              </a:p>
            </p:txBody>
          </p:sp>
        </p:grpSp>
        <p:sp>
          <p:nvSpPr>
            <p:cNvPr id="7" name="Rectangle 26">
              <a:extLst>
                <a:ext uri="{FF2B5EF4-FFF2-40B4-BE49-F238E27FC236}">
                  <a16:creationId xmlns:a16="http://schemas.microsoft.com/office/drawing/2014/main" id="{3A639F4A-3C34-019E-B296-9F69D0F58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1956" y="1329859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grpSp>
          <p:nvGrpSpPr>
            <p:cNvPr id="8" name="Group 51">
              <a:extLst>
                <a:ext uri="{FF2B5EF4-FFF2-40B4-BE49-F238E27FC236}">
                  <a16:creationId xmlns:a16="http://schemas.microsoft.com/office/drawing/2014/main" id="{E8BFAF1D-C2B1-F774-7D97-02252241FA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52000" y="1220344"/>
              <a:ext cx="360363" cy="461963"/>
              <a:chOff x="2416" y="3234"/>
              <a:chExt cx="227" cy="291"/>
            </a:xfrm>
          </p:grpSpPr>
          <p:sp>
            <p:nvSpPr>
              <p:cNvPr id="35849" name="Oval 9">
                <a:extLst>
                  <a:ext uri="{FF2B5EF4-FFF2-40B4-BE49-F238E27FC236}">
                    <a16:creationId xmlns:a16="http://schemas.microsoft.com/office/drawing/2014/main" id="{031C3FF7-77D0-B4A5-23ED-145FF38F6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5850" name="Rectangle 10">
                <a:extLst>
                  <a:ext uri="{FF2B5EF4-FFF2-40B4-BE49-F238E27FC236}">
                    <a16:creationId xmlns:a16="http://schemas.microsoft.com/office/drawing/2014/main" id="{D35D62EA-43C1-E65A-EB09-B1E2E2463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7" y="3234"/>
                <a:ext cx="18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 dirty="0"/>
                  <a:t>j</a:t>
                </a:r>
              </a:p>
            </p:txBody>
          </p:sp>
        </p:grpSp>
        <p:grpSp>
          <p:nvGrpSpPr>
            <p:cNvPr id="9" name="Group 51">
              <a:extLst>
                <a:ext uri="{FF2B5EF4-FFF2-40B4-BE49-F238E27FC236}">
                  <a16:creationId xmlns:a16="http://schemas.microsoft.com/office/drawing/2014/main" id="{4983B543-E7CD-C17D-D5BD-B035E7A0E2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0347" y="1821168"/>
              <a:ext cx="360363" cy="461963"/>
              <a:chOff x="2416" y="3234"/>
              <a:chExt cx="227" cy="291"/>
            </a:xfrm>
          </p:grpSpPr>
          <p:sp>
            <p:nvSpPr>
              <p:cNvPr id="35847" name="Oval 9">
                <a:extLst>
                  <a:ext uri="{FF2B5EF4-FFF2-40B4-BE49-F238E27FC236}">
                    <a16:creationId xmlns:a16="http://schemas.microsoft.com/office/drawing/2014/main" id="{C0E5743A-D2AE-09F7-9BFB-64C83BF7EA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5848" name="Rectangle 10">
                <a:extLst>
                  <a:ext uri="{FF2B5EF4-FFF2-40B4-BE49-F238E27FC236}">
                    <a16:creationId xmlns:a16="http://schemas.microsoft.com/office/drawing/2014/main" id="{7296A9BE-4407-F342-02E5-AC604B1C14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1" y="3234"/>
                <a:ext cx="21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 dirty="0"/>
                  <a:t>s</a:t>
                </a:r>
              </a:p>
            </p:txBody>
          </p:sp>
        </p:grpSp>
        <p:grpSp>
          <p:nvGrpSpPr>
            <p:cNvPr id="10" name="Group 51">
              <a:extLst>
                <a:ext uri="{FF2B5EF4-FFF2-40B4-BE49-F238E27FC236}">
                  <a16:creationId xmlns:a16="http://schemas.microsoft.com/office/drawing/2014/main" id="{E85C3F95-70E1-ADDC-BF32-43F7FC5246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4701" y="2460107"/>
              <a:ext cx="360363" cy="461963"/>
              <a:chOff x="459" y="2892"/>
              <a:chExt cx="227" cy="291"/>
            </a:xfrm>
          </p:grpSpPr>
          <p:sp>
            <p:nvSpPr>
              <p:cNvPr id="35845" name="Oval 9">
                <a:extLst>
                  <a:ext uri="{FF2B5EF4-FFF2-40B4-BE49-F238E27FC236}">
                    <a16:creationId xmlns:a16="http://schemas.microsoft.com/office/drawing/2014/main" id="{FA6DCD90-8A23-64A8-FB1E-DDAF8C06BE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" y="2929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5846" name="Rectangle 10">
                <a:extLst>
                  <a:ext uri="{FF2B5EF4-FFF2-40B4-BE49-F238E27FC236}">
                    <a16:creationId xmlns:a16="http://schemas.microsoft.com/office/drawing/2014/main" id="{76430C3D-18EC-209D-AA61-E009A7FC4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3" y="2892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5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5296773F-2947-0AD2-ACC0-FE4B42EAB4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5571" y="1145424"/>
              <a:ext cx="360363" cy="461963"/>
              <a:chOff x="2416" y="3234"/>
              <a:chExt cx="227" cy="291"/>
            </a:xfrm>
          </p:grpSpPr>
          <p:sp>
            <p:nvSpPr>
              <p:cNvPr id="35842" name="Oval 9">
                <a:extLst>
                  <a:ext uri="{FF2B5EF4-FFF2-40B4-BE49-F238E27FC236}">
                    <a16:creationId xmlns:a16="http://schemas.microsoft.com/office/drawing/2014/main" id="{418509B4-3E1A-0C9A-75ED-67EEE5E99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5844" name="Rectangle 10">
                <a:extLst>
                  <a:ext uri="{FF2B5EF4-FFF2-40B4-BE49-F238E27FC236}">
                    <a16:creationId xmlns:a16="http://schemas.microsoft.com/office/drawing/2014/main" id="{515D5906-E134-41B6-5406-95E5126C68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0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9</a:t>
                </a:r>
              </a:p>
            </p:txBody>
          </p:sp>
        </p:grpSp>
        <p:grpSp>
          <p:nvGrpSpPr>
            <p:cNvPr id="12" name="Group 51">
              <a:extLst>
                <a:ext uri="{FF2B5EF4-FFF2-40B4-BE49-F238E27FC236}">
                  <a16:creationId xmlns:a16="http://schemas.microsoft.com/office/drawing/2014/main" id="{45AB13EC-0E59-3055-F656-930A573058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5017" y="2455081"/>
              <a:ext cx="360363" cy="461963"/>
              <a:chOff x="2416" y="3234"/>
              <a:chExt cx="227" cy="291"/>
            </a:xfrm>
          </p:grpSpPr>
          <p:sp>
            <p:nvSpPr>
              <p:cNvPr id="35840" name="Oval 9">
                <a:extLst>
                  <a:ext uri="{FF2B5EF4-FFF2-40B4-BE49-F238E27FC236}">
                    <a16:creationId xmlns:a16="http://schemas.microsoft.com/office/drawing/2014/main" id="{3471E46B-EC29-E71C-C910-08C5CE019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5841" name="Rectangle 10">
                <a:extLst>
                  <a:ext uri="{FF2B5EF4-FFF2-40B4-BE49-F238E27FC236}">
                    <a16:creationId xmlns:a16="http://schemas.microsoft.com/office/drawing/2014/main" id="{73510968-6EA9-F981-15CC-83B06D7C7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0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 dirty="0"/>
                  <a:t>6</a:t>
                </a:r>
              </a:p>
            </p:txBody>
          </p:sp>
        </p:grpSp>
        <p:cxnSp>
          <p:nvCxnSpPr>
            <p:cNvPr id="13" name="直接箭头连接符 2">
              <a:extLst>
                <a:ext uri="{FF2B5EF4-FFF2-40B4-BE49-F238E27FC236}">
                  <a16:creationId xmlns:a16="http://schemas.microsoft.com/office/drawing/2014/main" id="{5208B58F-5325-A0F5-7DAD-7B22EC73C082}"/>
                </a:ext>
              </a:extLst>
            </p:cNvPr>
            <p:cNvCxnSpPr>
              <a:cxnSpLocks noChangeShapeType="1"/>
              <a:stCxn id="35857" idx="7"/>
              <a:endCxn id="35855" idx="3"/>
            </p:cNvCxnSpPr>
            <p:nvPr/>
          </p:nvCxnSpPr>
          <p:spPr bwMode="auto">
            <a:xfrm flipV="1">
              <a:off x="2864561" y="1498173"/>
              <a:ext cx="553223" cy="516692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箭头连接符 58">
              <a:extLst>
                <a:ext uri="{FF2B5EF4-FFF2-40B4-BE49-F238E27FC236}">
                  <a16:creationId xmlns:a16="http://schemas.microsoft.com/office/drawing/2014/main" id="{DBFA579C-DA58-4116-3D4B-B376051DC180}"/>
                </a:ext>
              </a:extLst>
            </p:cNvPr>
            <p:cNvCxnSpPr>
              <a:cxnSpLocks/>
              <a:stCxn id="35849" idx="5"/>
              <a:endCxn id="35853" idx="1"/>
            </p:cNvCxnSpPr>
            <p:nvPr/>
          </p:nvCxnSpPr>
          <p:spPr bwMode="auto">
            <a:xfrm>
              <a:off x="6759589" y="1575552"/>
              <a:ext cx="546023" cy="395221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箭头连接符 7">
              <a:extLst>
                <a:ext uri="{FF2B5EF4-FFF2-40B4-BE49-F238E27FC236}">
                  <a16:creationId xmlns:a16="http://schemas.microsoft.com/office/drawing/2014/main" id="{D41D1AA9-963F-EB46-9FD8-9FDB621E5E8C}"/>
                </a:ext>
              </a:extLst>
            </p:cNvPr>
            <p:cNvCxnSpPr>
              <a:cxnSpLocks noChangeShapeType="1"/>
              <a:stCxn id="35855" idx="6"/>
              <a:endCxn id="35842" idx="2"/>
            </p:cNvCxnSpPr>
            <p:nvPr/>
          </p:nvCxnSpPr>
          <p:spPr bwMode="auto">
            <a:xfrm>
              <a:off x="3725373" y="1370766"/>
              <a:ext cx="700198" cy="2459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箭头连接符 57">
              <a:extLst>
                <a:ext uri="{FF2B5EF4-FFF2-40B4-BE49-F238E27FC236}">
                  <a16:creationId xmlns:a16="http://schemas.microsoft.com/office/drawing/2014/main" id="{01884137-B48D-8F5F-A8D4-AA80652451CD}"/>
                </a:ext>
              </a:extLst>
            </p:cNvPr>
            <p:cNvCxnSpPr>
              <a:cxnSpLocks/>
              <a:endCxn id="35849" idx="3"/>
            </p:cNvCxnSpPr>
            <p:nvPr/>
          </p:nvCxnSpPr>
          <p:spPr bwMode="auto">
            <a:xfrm flipV="1">
              <a:off x="5766897" y="1575552"/>
              <a:ext cx="737877" cy="357985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直接箭头连接符 66">
              <a:extLst>
                <a:ext uri="{FF2B5EF4-FFF2-40B4-BE49-F238E27FC236}">
                  <a16:creationId xmlns:a16="http://schemas.microsoft.com/office/drawing/2014/main" id="{2E0E54B3-7BDA-4281-AEF5-CEF7740C2435}"/>
                </a:ext>
              </a:extLst>
            </p:cNvPr>
            <p:cNvCxnSpPr>
              <a:cxnSpLocks/>
              <a:stCxn id="35842" idx="5"/>
              <a:endCxn id="35847" idx="1"/>
            </p:cNvCxnSpPr>
            <p:nvPr/>
          </p:nvCxnSpPr>
          <p:spPr bwMode="auto">
            <a:xfrm>
              <a:off x="4733160" y="1500632"/>
              <a:ext cx="749961" cy="420929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直接箭头连接符 65">
              <a:extLst>
                <a:ext uri="{FF2B5EF4-FFF2-40B4-BE49-F238E27FC236}">
                  <a16:creationId xmlns:a16="http://schemas.microsoft.com/office/drawing/2014/main" id="{5488078A-7E51-7B72-0A25-28E6A9399DB3}"/>
                </a:ext>
              </a:extLst>
            </p:cNvPr>
            <p:cNvCxnSpPr>
              <a:cxnSpLocks noChangeShapeType="1"/>
              <a:stCxn id="35847" idx="3"/>
              <a:endCxn id="35845" idx="6"/>
            </p:cNvCxnSpPr>
            <p:nvPr/>
          </p:nvCxnSpPr>
          <p:spPr bwMode="auto">
            <a:xfrm flipH="1">
              <a:off x="4815064" y="2176376"/>
              <a:ext cx="668057" cy="522646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直接箭头连接符 77">
              <a:extLst>
                <a:ext uri="{FF2B5EF4-FFF2-40B4-BE49-F238E27FC236}">
                  <a16:creationId xmlns:a16="http://schemas.microsoft.com/office/drawing/2014/main" id="{5A208643-434D-A1E7-1C5F-C8789DA8DE4E}"/>
                </a:ext>
              </a:extLst>
            </p:cNvPr>
            <p:cNvCxnSpPr>
              <a:cxnSpLocks/>
              <a:stCxn id="35840" idx="2"/>
              <a:endCxn id="35857" idx="5"/>
            </p:cNvCxnSpPr>
            <p:nvPr/>
          </p:nvCxnSpPr>
          <p:spPr bwMode="auto">
            <a:xfrm flipH="1" flipV="1">
              <a:off x="2864561" y="2269680"/>
              <a:ext cx="550456" cy="413202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直接箭头连接符 80">
              <a:extLst>
                <a:ext uri="{FF2B5EF4-FFF2-40B4-BE49-F238E27FC236}">
                  <a16:creationId xmlns:a16="http://schemas.microsoft.com/office/drawing/2014/main" id="{7EE4A27B-E940-B4C4-6EC8-8F1BAD565FFB}"/>
                </a:ext>
              </a:extLst>
            </p:cNvPr>
            <p:cNvCxnSpPr>
              <a:cxnSpLocks/>
              <a:stCxn id="35846" idx="1"/>
              <a:endCxn id="35841" idx="3"/>
            </p:cNvCxnSpPr>
            <p:nvPr/>
          </p:nvCxnSpPr>
          <p:spPr bwMode="auto">
            <a:xfrm flipH="1" flipV="1">
              <a:off x="3775379" y="2686063"/>
              <a:ext cx="685671" cy="5026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直接箭头连接符 85">
              <a:extLst>
                <a:ext uri="{FF2B5EF4-FFF2-40B4-BE49-F238E27FC236}">
                  <a16:creationId xmlns:a16="http://schemas.microsoft.com/office/drawing/2014/main" id="{302623BE-43A8-D505-C1AC-BCC28E47BF1F}"/>
                </a:ext>
              </a:extLst>
            </p:cNvPr>
            <p:cNvCxnSpPr>
              <a:cxnSpLocks/>
              <a:stCxn id="35853" idx="3"/>
              <a:endCxn id="35852" idx="3"/>
            </p:cNvCxnSpPr>
            <p:nvPr/>
          </p:nvCxnSpPr>
          <p:spPr bwMode="auto">
            <a:xfrm flipH="1">
              <a:off x="6749425" y="2225596"/>
              <a:ext cx="556187" cy="443091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直接箭头连接符 90">
              <a:extLst>
                <a:ext uri="{FF2B5EF4-FFF2-40B4-BE49-F238E27FC236}">
                  <a16:creationId xmlns:a16="http://schemas.microsoft.com/office/drawing/2014/main" id="{A7CC2163-786C-B0B5-1B7E-FDDB9EC39B6B}"/>
                </a:ext>
              </a:extLst>
            </p:cNvPr>
            <p:cNvCxnSpPr>
              <a:cxnSpLocks/>
              <a:stCxn id="35852" idx="1"/>
              <a:endCxn id="35847" idx="5"/>
            </p:cNvCxnSpPr>
            <p:nvPr/>
          </p:nvCxnSpPr>
          <p:spPr bwMode="auto">
            <a:xfrm flipH="1" flipV="1">
              <a:off x="5737936" y="2176376"/>
              <a:ext cx="673352" cy="492311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Rectangle 26">
              <a:extLst>
                <a:ext uri="{FF2B5EF4-FFF2-40B4-BE49-F238E27FC236}">
                  <a16:creationId xmlns:a16="http://schemas.microsoft.com/office/drawing/2014/main" id="{05A8EB43-131B-E638-D1F2-DC5343211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0640" y="1421275"/>
              <a:ext cx="633371" cy="4585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1/3</a:t>
              </a:r>
            </a:p>
          </p:txBody>
        </p:sp>
        <p:sp>
          <p:nvSpPr>
            <p:cNvPr id="24" name="Rectangle 26">
              <a:extLst>
                <a:ext uri="{FF2B5EF4-FFF2-40B4-BE49-F238E27FC236}">
                  <a16:creationId xmlns:a16="http://schemas.microsoft.com/office/drawing/2014/main" id="{EFCDC04D-12F4-E040-00AC-2CE3B7F8C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7171" y="2647365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25" name="Rectangle 26">
              <a:extLst>
                <a:ext uri="{FF2B5EF4-FFF2-40B4-BE49-F238E27FC236}">
                  <a16:creationId xmlns:a16="http://schemas.microsoft.com/office/drawing/2014/main" id="{2F3CE7BE-4127-491B-D130-87D69DDC6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9700" y="2416533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F2D0C104-14A5-6715-7362-C8A83212E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523" y="991280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4130538-44E0-4E09-CBCF-98BBDD115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8852" y="1308764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28" name="Rectangle 26">
              <a:extLst>
                <a:ext uri="{FF2B5EF4-FFF2-40B4-BE49-F238E27FC236}">
                  <a16:creationId xmlns:a16="http://schemas.microsoft.com/office/drawing/2014/main" id="{51A12D82-7C4D-2D5D-AA8A-46D80B54B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5490" y="2269680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29" name="Rectangle 26">
              <a:extLst>
                <a:ext uri="{FF2B5EF4-FFF2-40B4-BE49-F238E27FC236}">
                  <a16:creationId xmlns:a16="http://schemas.microsoft.com/office/drawing/2014/main" id="{E08467FE-4DA9-6FB2-BC5C-8CACDFA68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4318" y="2325504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30" name="Rectangle 26">
              <a:extLst>
                <a:ext uri="{FF2B5EF4-FFF2-40B4-BE49-F238E27FC236}">
                  <a16:creationId xmlns:a16="http://schemas.microsoft.com/office/drawing/2014/main" id="{04522294-A3A6-E6B0-E988-A6DBD123A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9425" y="1330173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31" name="Rectangle 26">
              <a:extLst>
                <a:ext uri="{FF2B5EF4-FFF2-40B4-BE49-F238E27FC236}">
                  <a16:creationId xmlns:a16="http://schemas.microsoft.com/office/drawing/2014/main" id="{C73B6FF0-98C4-3C75-3CCD-6267FFA78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1454" y="2014865"/>
              <a:ext cx="633371" cy="4585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2/3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862" name="文本框 35861">
                <a:extLst>
                  <a:ext uri="{FF2B5EF4-FFF2-40B4-BE49-F238E27FC236}">
                    <a16:creationId xmlns:a16="http://schemas.microsoft.com/office/drawing/2014/main" id="{C8AB40BD-BA46-42B4-79D3-B5401ED5FA53}"/>
                  </a:ext>
                </a:extLst>
              </p:cNvPr>
              <p:cNvSpPr txBox="1"/>
              <p:nvPr/>
            </p:nvSpPr>
            <p:spPr>
              <a:xfrm>
                <a:off x="6987901" y="2735278"/>
                <a:ext cx="4839260" cy="30861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altLang="zh-CN" sz="1800" b="0" i="0" baseline="-25000" smtClean="0">
                        <a:latin typeface="Cambria Math" panose="02040503050406030204" pitchFamily="18" charset="0"/>
                      </a:rPr>
                      <m:t>ii</m:t>
                    </m:r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800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sz="18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18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altLang="zh-CN" sz="1800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altLang="zh-CN" sz="1800" b="0" i="1" baseline="-25000" smtClean="0">
                            <a:latin typeface="Cambria Math" panose="02040503050406030204" pitchFamily="18" charset="0"/>
                          </a:rPr>
                          <m:t>𝑖𝑗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nary>
                    <m:r>
                      <a:rPr lang="en-US" altLang="zh-CN" sz="18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altLang="zh-CN" sz="1800" b="0" i="0" smtClean="0">
                        <a:latin typeface="Cambria Math" panose="02040503050406030204" pitchFamily="18" charset="0"/>
                      </a:rPr>
                      <m:t>Pji</m:t>
                    </m:r>
                    <m:d>
                      <m:dPr>
                        <m:ctrlPr>
                          <a:rPr lang="en-US" altLang="zh-CN" sz="1800" b="0" i="1" baseline="-250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8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altLang="zh-CN" sz="18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US" altLang="zh-CN" sz="1800" i="1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zh-CN" sz="1800" i="1" baseline="-25000">
                        <a:latin typeface="Cambria Math" panose="02040503050406030204" pitchFamily="18" charset="0"/>
                      </a:rPr>
                      <m:t>𝑖𝑗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pitchFamily="18" charset="0"/>
                      </a:rPr>
                      <m:t>Pji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80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&gt;0</a:t>
                </a:r>
              </a:p>
            </p:txBody>
          </p:sp>
        </mc:Choice>
        <mc:Fallback xmlns="">
          <p:sp>
            <p:nvSpPr>
              <p:cNvPr id="35862" name="文本框 35861">
                <a:extLst>
                  <a:ext uri="{FF2B5EF4-FFF2-40B4-BE49-F238E27FC236}">
                    <a16:creationId xmlns:a16="http://schemas.microsoft.com/office/drawing/2014/main" id="{C8AB40BD-BA46-42B4-79D3-B5401ED5F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7901" y="2735278"/>
                <a:ext cx="4839260" cy="308611"/>
              </a:xfrm>
              <a:prstGeom prst="rect">
                <a:avLst/>
              </a:prstGeom>
              <a:blipFill>
                <a:blip r:embed="rId8"/>
                <a:stretch>
                  <a:fillRect l="-1637" t="-160000" b="-2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63" name="矩形 1">
            <a:extLst>
              <a:ext uri="{FF2B5EF4-FFF2-40B4-BE49-F238E27FC236}">
                <a16:creationId xmlns:a16="http://schemas.microsoft.com/office/drawing/2014/main" id="{DABDA598-F242-B9AE-907A-4537C6A7A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6404" y="3422977"/>
            <a:ext cx="2292003" cy="4604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err="1"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latin typeface="+mn-ea"/>
                <a:ea typeface="+mn-ea"/>
                <a:sym typeface="Symbol" panose="05050102010706020507" pitchFamily="18" charset="2"/>
              </a:rPr>
              <a:t>jj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(s)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＞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0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dirty="0" err="1">
                <a:latin typeface="+mn-ea"/>
                <a:ea typeface="+mn-ea"/>
                <a:sym typeface="Symbol" panose="05050102010706020507" pitchFamily="18" charset="2"/>
              </a:rPr>
              <a:t>jE</a:t>
            </a:r>
            <a:endParaRPr lang="zh-CN" altLang="en-US" dirty="0">
              <a:solidFill>
                <a:srgbClr val="0000FF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62" grpId="0" animBg="1"/>
      <p:bldP spid="3586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六、极限定理</a:t>
            </a:r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3679" y="1081610"/>
            <a:ext cx="7493148" cy="599885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dirty="0">
                <a:solidFill>
                  <a:srgbClr val="0000FF"/>
                </a:solidFill>
              </a:rPr>
              <a:t>如果</a:t>
            </a:r>
            <a:r>
              <a:rPr lang="en-US" altLang="zh-CN" dirty="0">
                <a:solidFill>
                  <a:srgbClr val="0000FF"/>
                </a:solidFill>
              </a:rPr>
              <a:t>j</a:t>
            </a:r>
            <a:r>
              <a:rPr lang="zh-CN" altLang="en-US" dirty="0">
                <a:solidFill>
                  <a:srgbClr val="0000FF"/>
                </a:solidFill>
              </a:rPr>
              <a:t>是一个非周期常返状态，则</a:t>
            </a:r>
          </a:p>
        </p:txBody>
      </p:sp>
      <p:graphicFrame>
        <p:nvGraphicFramePr>
          <p:cNvPr id="270340" name="Object 4"/>
          <p:cNvGraphicFramePr>
            <a:graphicFrameLocks noChangeAspect="1"/>
          </p:cNvGraphicFramePr>
          <p:nvPr/>
        </p:nvGraphicFramePr>
        <p:xfrm>
          <a:off x="5524905" y="887820"/>
          <a:ext cx="2140445" cy="906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81880" imgH="838080" progId="Equation.3">
                  <p:embed/>
                </p:oleObj>
              </mc:Choice>
              <mc:Fallback>
                <p:oleObj name="公式" r:id="rId2" imgW="2081880" imgH="838080" progId="Equation.3">
                  <p:embed/>
                  <p:pic>
                    <p:nvPicPr>
                      <p:cNvPr id="2703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905" y="887820"/>
                        <a:ext cx="2140445" cy="906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41" name="Rectangle 5"/>
          <p:cNvSpPr>
            <a:spLocks noChangeArrowheads="1"/>
          </p:cNvSpPr>
          <p:nvPr/>
        </p:nvSpPr>
        <p:spPr bwMode="auto">
          <a:xfrm>
            <a:off x="608832" y="2024592"/>
            <a:ext cx="7393111" cy="377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CC00CC"/>
              </a:buClr>
              <a:buFont typeface="Wingdings" panose="05000000000000000000" pitchFamily="2" charset="2"/>
              <a:buAutoNum type="arabicParenR" startAt="2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如果马氏链是不可约非周期常返链，则</a:t>
            </a:r>
          </a:p>
        </p:txBody>
      </p:sp>
      <p:graphicFrame>
        <p:nvGraphicFramePr>
          <p:cNvPr id="270342" name="Object 6"/>
          <p:cNvGraphicFramePr>
            <a:graphicFrameLocks noChangeAspect="1"/>
          </p:cNvGraphicFramePr>
          <p:nvPr/>
        </p:nvGraphicFramePr>
        <p:xfrm>
          <a:off x="6325154" y="1794492"/>
          <a:ext cx="1889562" cy="906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080" imgH="838080" progId="Equation.3">
                  <p:embed/>
                </p:oleObj>
              </mc:Choice>
              <mc:Fallback>
                <p:oleObj name="Equation" r:id="rId4" imgW="1828080" imgH="838080" progId="Equation.3">
                  <p:embed/>
                  <p:pic>
                    <p:nvPicPr>
                      <p:cNvPr id="270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5154" y="1794492"/>
                        <a:ext cx="1889562" cy="9066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43" name="Rectangle 7"/>
          <p:cNvSpPr>
            <a:spLocks noChangeArrowheads="1"/>
          </p:cNvSpPr>
          <p:nvPr/>
        </p:nvSpPr>
        <p:spPr bwMode="auto">
          <a:xfrm>
            <a:off x="8496705" y="2024592"/>
            <a:ext cx="2591506" cy="373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其中</a:t>
            </a:r>
            <a:r>
              <a:rPr lang="zh-CN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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j</a:t>
            </a:r>
            <a:r>
              <a:rPr lang="zh-CN" altLang="en-US" sz="2400" dirty="0">
                <a:solidFill>
                  <a:srgbClr val="0000FF"/>
                </a:solidFill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</a:rPr>
              <a:t>E(</a:t>
            </a:r>
            <a:r>
              <a:rPr lang="en-US" altLang="zh-CN" sz="2400" dirty="0" err="1">
                <a:solidFill>
                  <a:srgbClr val="0000FF"/>
                </a:solidFill>
              </a:rPr>
              <a:t>T</a:t>
            </a:r>
            <a:r>
              <a:rPr lang="en-US" altLang="zh-CN" sz="2400" baseline="-25000" dirty="0" err="1">
                <a:solidFill>
                  <a:srgbClr val="0000FF"/>
                </a:solidFill>
              </a:rPr>
              <a:t>jj</a:t>
            </a:r>
            <a:r>
              <a:rPr lang="en-US" altLang="zh-CN" sz="2400" dirty="0">
                <a:solidFill>
                  <a:srgbClr val="0000FF"/>
                </a:solidFill>
              </a:rPr>
              <a:t>)</a:t>
            </a:r>
            <a:r>
              <a:rPr lang="zh-CN" altLang="en-US" sz="2400" dirty="0">
                <a:solidFill>
                  <a:srgbClr val="0000FF"/>
                </a:solidFill>
              </a:rPr>
              <a:t>。</a:t>
            </a:r>
          </a:p>
        </p:txBody>
      </p:sp>
      <p:sp>
        <p:nvSpPr>
          <p:cNvPr id="270344" name="Rectangle 8"/>
          <p:cNvSpPr>
            <a:spLocks noChangeArrowheads="1"/>
          </p:cNvSpPr>
          <p:nvPr/>
        </p:nvSpPr>
        <p:spPr bwMode="auto">
          <a:xfrm>
            <a:off x="471368" y="2701165"/>
            <a:ext cx="2213487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由此定理知：</a:t>
            </a:r>
          </a:p>
        </p:txBody>
      </p:sp>
      <p:sp>
        <p:nvSpPr>
          <p:cNvPr id="270346" name="Rectangle 10"/>
          <p:cNvSpPr>
            <a:spLocks noChangeArrowheads="1"/>
          </p:cNvSpPr>
          <p:nvPr/>
        </p:nvSpPr>
        <p:spPr bwMode="auto">
          <a:xfrm>
            <a:off x="471368" y="3314016"/>
            <a:ext cx="8865611" cy="377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不可约非周期正常返状态的齐次马氏链是遍历马氏链。即</a:t>
            </a:r>
            <a:endParaRPr lang="zh-CN" altLang="en-US" sz="24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aphicFrame>
        <p:nvGraphicFramePr>
          <p:cNvPr id="270347" name="Object 11"/>
          <p:cNvGraphicFramePr>
            <a:graphicFrameLocks noChangeAspect="1"/>
          </p:cNvGraphicFramePr>
          <p:nvPr/>
        </p:nvGraphicFramePr>
        <p:xfrm>
          <a:off x="2529262" y="3754047"/>
          <a:ext cx="3506011" cy="511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57320" imgH="482760" progId="Equation.3">
                  <p:embed/>
                </p:oleObj>
              </mc:Choice>
              <mc:Fallback>
                <p:oleObj name="Equation" r:id="rId6" imgW="3757320" imgH="482760" progId="Equation.3">
                  <p:embed/>
                  <p:pic>
                    <p:nvPicPr>
                      <p:cNvPr id="27034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9262" y="3754047"/>
                        <a:ext cx="3506011" cy="511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48" name="Rectangle 12"/>
          <p:cNvSpPr>
            <a:spLocks noChangeArrowheads="1"/>
          </p:cNvSpPr>
          <p:nvPr/>
        </p:nvSpPr>
        <p:spPr bwMode="auto">
          <a:xfrm>
            <a:off x="953974" y="4164533"/>
            <a:ext cx="9677293" cy="579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CC00CC"/>
              </a:buClr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且满足：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)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1/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；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ii)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极限分布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{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}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是马氏链唯一的平稳分布，且</a:t>
            </a:r>
          </a:p>
        </p:txBody>
      </p:sp>
      <p:graphicFrame>
        <p:nvGraphicFramePr>
          <p:cNvPr id="270349" name="Object 13"/>
          <p:cNvGraphicFramePr>
            <a:graphicFrameLocks noChangeAspect="1"/>
          </p:cNvGraphicFramePr>
          <p:nvPr/>
        </p:nvGraphicFramePr>
        <p:xfrm>
          <a:off x="1868374" y="4936816"/>
          <a:ext cx="2515182" cy="517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27640" imgH="482760" progId="Equation.3">
                  <p:embed/>
                </p:oleObj>
              </mc:Choice>
              <mc:Fallback>
                <p:oleObj name="Equation" r:id="rId8" imgW="2627640" imgH="482760" progId="Equation.3">
                  <p:embed/>
                  <p:pic>
                    <p:nvPicPr>
                      <p:cNvPr id="27034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8374" y="4936816"/>
                        <a:ext cx="2515182" cy="517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50" name="Rectangle 14"/>
          <p:cNvSpPr>
            <a:spLocks noChangeArrowheads="1"/>
          </p:cNvSpPr>
          <p:nvPr/>
        </p:nvSpPr>
        <p:spPr bwMode="auto">
          <a:xfrm>
            <a:off x="4535374" y="4929360"/>
            <a:ext cx="53330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CC00CC"/>
              </a:buClr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。即绝对分布的极限是平稳分布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270351" name="Rectangle 15"/>
          <p:cNvSpPr>
            <a:spLocks noChangeArrowheads="1"/>
          </p:cNvSpPr>
          <p:nvPr/>
        </p:nvSpPr>
        <p:spPr bwMode="auto">
          <a:xfrm>
            <a:off x="461390" y="5515308"/>
            <a:ext cx="11506199" cy="104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 startAt="2"/>
            </a:pPr>
            <a:r>
              <a:rPr lang="zh-CN" altLang="en-US" sz="2400" spc="-1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不可约非周期常返链是遍历链的充分必要条件是存在平稳分布</a:t>
            </a:r>
            <a:r>
              <a:rPr lang="en-US" altLang="zh-CN" sz="2400" spc="-1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{1/</a:t>
            </a:r>
            <a:r>
              <a:rPr lang="en-US" altLang="zh-CN" sz="2400" spc="-1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spc="-1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spc="-1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en-US" altLang="zh-CN" sz="2400" spc="-1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}</a:t>
            </a:r>
            <a:r>
              <a:rPr lang="zh-CN" altLang="en-US" sz="2400" spc="-1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，即极限分布。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 startAt="2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不可约非周期有限马氏链必存在平稳分布，且平稳分布就是极限分布。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0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0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0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0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270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270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9" grpId="0" build="p"/>
      <p:bldP spid="270341" grpId="0"/>
      <p:bldP spid="270343" grpId="0"/>
      <p:bldP spid="270344" grpId="0" autoUpdateAnimBg="0"/>
      <p:bldP spid="270346" grpId="0"/>
      <p:bldP spid="270348" grpId="0"/>
      <p:bldP spid="270350" grpId="0"/>
      <p:bldP spid="270351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2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2995" y="1260767"/>
            <a:ext cx="6865939" cy="42713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zh-CN" altLang="en-US" dirty="0"/>
              <a:t>设齐次马氏链的状态空间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{1, 2, 3, 4}</a:t>
            </a:r>
            <a:r>
              <a:rPr lang="zh-CN" altLang="en-US" dirty="0"/>
              <a:t>，</a:t>
            </a:r>
          </a:p>
        </p:txBody>
      </p:sp>
      <p:graphicFrame>
        <p:nvGraphicFramePr>
          <p:cNvPr id="294912" name="Object 0"/>
          <p:cNvGraphicFramePr>
            <a:graphicFrameLocks noChangeAspect="1"/>
          </p:cNvGraphicFramePr>
          <p:nvPr/>
        </p:nvGraphicFramePr>
        <p:xfrm>
          <a:off x="995995" y="2815728"/>
          <a:ext cx="2593033" cy="2644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300" imgH="1282700" progId="Equation.3">
                  <p:embed/>
                </p:oleObj>
              </mc:Choice>
              <mc:Fallback>
                <p:oleObj name="Equation" r:id="rId2" imgW="1257300" imgH="1282700" progId="Equation.3">
                  <p:embed/>
                  <p:pic>
                    <p:nvPicPr>
                      <p:cNvPr id="294912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995" y="2815728"/>
                        <a:ext cx="2593033" cy="2644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13" name="Rectangle 5"/>
          <p:cNvSpPr>
            <a:spLocks noChangeArrowheads="1"/>
          </p:cNvSpPr>
          <p:nvPr/>
        </p:nvSpPr>
        <p:spPr bwMode="auto">
          <a:xfrm>
            <a:off x="5226218" y="1963601"/>
            <a:ext cx="22373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状态转移图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084795" y="3464850"/>
            <a:ext cx="395380" cy="457306"/>
            <a:chOff x="1708" y="3234"/>
            <a:chExt cx="227" cy="270"/>
          </a:xfrm>
        </p:grpSpPr>
        <p:sp>
          <p:nvSpPr>
            <p:cNvPr id="38953" name="Oval 8"/>
            <p:cNvSpPr>
              <a:spLocks noChangeArrowheads="1"/>
            </p:cNvSpPr>
            <p:nvPr/>
          </p:nvSpPr>
          <p:spPr bwMode="auto">
            <a:xfrm>
              <a:off x="1708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38954" name="Rectangle 9"/>
            <p:cNvSpPr>
              <a:spLocks noChangeArrowheads="1"/>
            </p:cNvSpPr>
            <p:nvPr/>
          </p:nvSpPr>
          <p:spPr bwMode="auto">
            <a:xfrm>
              <a:off x="1732" y="3234"/>
              <a:ext cx="193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6084795" y="4682745"/>
            <a:ext cx="395380" cy="457306"/>
            <a:chOff x="2416" y="3234"/>
            <a:chExt cx="227" cy="270"/>
          </a:xfrm>
        </p:grpSpPr>
        <p:sp>
          <p:nvSpPr>
            <p:cNvPr id="38951" name="Oval 11"/>
            <p:cNvSpPr>
              <a:spLocks noChangeArrowheads="1"/>
            </p:cNvSpPr>
            <p:nvPr/>
          </p:nvSpPr>
          <p:spPr bwMode="auto">
            <a:xfrm>
              <a:off x="2416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38952" name="Rectangle 12"/>
            <p:cNvSpPr>
              <a:spLocks noChangeArrowheads="1"/>
            </p:cNvSpPr>
            <p:nvPr/>
          </p:nvSpPr>
          <p:spPr bwMode="auto">
            <a:xfrm>
              <a:off x="2440" y="3234"/>
              <a:ext cx="193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2</a:t>
              </a:r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7921958" y="4682745"/>
            <a:ext cx="393791" cy="457306"/>
            <a:chOff x="3124" y="3234"/>
            <a:chExt cx="227" cy="270"/>
          </a:xfrm>
        </p:grpSpPr>
        <p:sp>
          <p:nvSpPr>
            <p:cNvPr id="38949" name="Oval 14"/>
            <p:cNvSpPr>
              <a:spLocks noChangeArrowheads="1"/>
            </p:cNvSpPr>
            <p:nvPr/>
          </p:nvSpPr>
          <p:spPr bwMode="auto">
            <a:xfrm>
              <a:off x="3124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38950" name="Rectangle 15"/>
            <p:cNvSpPr>
              <a:spLocks noChangeArrowheads="1"/>
            </p:cNvSpPr>
            <p:nvPr/>
          </p:nvSpPr>
          <p:spPr bwMode="auto">
            <a:xfrm>
              <a:off x="3148" y="3234"/>
              <a:ext cx="194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3</a:t>
              </a: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7921958" y="3464850"/>
            <a:ext cx="393791" cy="457306"/>
            <a:chOff x="3833" y="3234"/>
            <a:chExt cx="227" cy="270"/>
          </a:xfrm>
        </p:grpSpPr>
        <p:sp>
          <p:nvSpPr>
            <p:cNvPr id="38947" name="Oval 17"/>
            <p:cNvSpPr>
              <a:spLocks noChangeArrowheads="1"/>
            </p:cNvSpPr>
            <p:nvPr/>
          </p:nvSpPr>
          <p:spPr bwMode="auto">
            <a:xfrm>
              <a:off x="3833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38948" name="Rectangle 18"/>
            <p:cNvSpPr>
              <a:spLocks noChangeArrowheads="1"/>
            </p:cNvSpPr>
            <p:nvPr/>
          </p:nvSpPr>
          <p:spPr bwMode="auto">
            <a:xfrm>
              <a:off x="3857" y="3234"/>
              <a:ext cx="194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4</a:t>
              </a:r>
            </a:p>
          </p:txBody>
        </p:sp>
      </p:grpSp>
      <p:grpSp>
        <p:nvGrpSpPr>
          <p:cNvPr id="6" name="Group 40"/>
          <p:cNvGrpSpPr>
            <a:grpSpLocks/>
          </p:cNvGrpSpPr>
          <p:nvPr/>
        </p:nvGrpSpPr>
        <p:grpSpPr bwMode="auto">
          <a:xfrm>
            <a:off x="6480175" y="3790364"/>
            <a:ext cx="604977" cy="1049580"/>
            <a:chOff x="3943" y="2339"/>
            <a:chExt cx="381" cy="661"/>
          </a:xfrm>
        </p:grpSpPr>
        <p:sp>
          <p:nvSpPr>
            <p:cNvPr id="38945" name="Arc 19"/>
            <p:cNvSpPr>
              <a:spLocks/>
            </p:cNvSpPr>
            <p:nvPr/>
          </p:nvSpPr>
          <p:spPr bwMode="auto">
            <a:xfrm flipV="1">
              <a:off x="3943" y="2339"/>
              <a:ext cx="158" cy="661"/>
            </a:xfrm>
            <a:custGeom>
              <a:avLst/>
              <a:gdLst>
                <a:gd name="T0" fmla="*/ 0 w 21600"/>
                <a:gd name="T1" fmla="*/ 0 h 43099"/>
                <a:gd name="T2" fmla="*/ 0 w 21600"/>
                <a:gd name="T3" fmla="*/ 0 h 43099"/>
                <a:gd name="T4" fmla="*/ 0 w 21600"/>
                <a:gd name="T5" fmla="*/ 0 h 430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099"/>
                <a:gd name="T11" fmla="*/ 21600 w 21600"/>
                <a:gd name="T12" fmla="*/ 43099 h 430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09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21"/>
                    <a:pt x="13155" y="42024"/>
                    <a:pt x="2086" y="43099"/>
                  </a:cubicBezTo>
                </a:path>
                <a:path w="21600" h="4309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21"/>
                    <a:pt x="13155" y="42024"/>
                    <a:pt x="2086" y="430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6" name="Rectangle 21"/>
            <p:cNvSpPr>
              <a:spLocks noChangeArrowheads="1"/>
            </p:cNvSpPr>
            <p:nvPr/>
          </p:nvSpPr>
          <p:spPr bwMode="auto">
            <a:xfrm>
              <a:off x="4112" y="249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5478230" y="3864993"/>
            <a:ext cx="600214" cy="1055932"/>
            <a:chOff x="3312" y="2386"/>
            <a:chExt cx="378" cy="665"/>
          </a:xfrm>
        </p:grpSpPr>
        <p:sp>
          <p:nvSpPr>
            <p:cNvPr id="38943" name="Arc 20"/>
            <p:cNvSpPr>
              <a:spLocks/>
            </p:cNvSpPr>
            <p:nvPr/>
          </p:nvSpPr>
          <p:spPr bwMode="auto">
            <a:xfrm flipH="1">
              <a:off x="3531" y="2386"/>
              <a:ext cx="159" cy="665"/>
            </a:xfrm>
            <a:custGeom>
              <a:avLst/>
              <a:gdLst>
                <a:gd name="T0" fmla="*/ 0 w 21600"/>
                <a:gd name="T1" fmla="*/ 0 h 43175"/>
                <a:gd name="T2" fmla="*/ 0 w 21600"/>
                <a:gd name="T3" fmla="*/ 0 h 43175"/>
                <a:gd name="T4" fmla="*/ 0 w 21600"/>
                <a:gd name="T5" fmla="*/ 0 h 43175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5"/>
                <a:gd name="T11" fmla="*/ 21600 w 21600"/>
                <a:gd name="T12" fmla="*/ 43175 h 431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23"/>
                    <a:pt x="12554" y="42617"/>
                    <a:pt x="1043" y="43174"/>
                  </a:cubicBezTo>
                </a:path>
                <a:path w="21600" h="4317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23"/>
                    <a:pt x="12554" y="42617"/>
                    <a:pt x="1043" y="43174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8944" name="Object 6"/>
            <p:cNvGraphicFramePr>
              <a:graphicFrameLocks noChangeAspect="1"/>
            </p:cNvGraphicFramePr>
            <p:nvPr/>
          </p:nvGraphicFramePr>
          <p:xfrm>
            <a:off x="3312" y="2441"/>
            <a:ext cx="210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268" imgH="406048" progId="Equation.3">
                    <p:embed/>
                  </p:oleObj>
                </mc:Choice>
                <mc:Fallback>
                  <p:oleObj name="Equation" r:id="rId4" imgW="152268" imgH="406048" progId="Equation.3">
                    <p:embed/>
                    <p:pic>
                      <p:nvPicPr>
                        <p:cNvPr id="3894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441"/>
                          <a:ext cx="210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6480175" y="2896394"/>
            <a:ext cx="1419554" cy="865388"/>
            <a:chOff x="3943" y="1776"/>
            <a:chExt cx="894" cy="545"/>
          </a:xfrm>
        </p:grpSpPr>
        <p:sp>
          <p:nvSpPr>
            <p:cNvPr id="38941" name="Line 25"/>
            <p:cNvSpPr>
              <a:spLocks noChangeShapeType="1"/>
            </p:cNvSpPr>
            <p:nvPr/>
          </p:nvSpPr>
          <p:spPr bwMode="auto">
            <a:xfrm flipH="1">
              <a:off x="3943" y="2287"/>
              <a:ext cx="8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942" name="Object 5"/>
            <p:cNvGraphicFramePr>
              <a:graphicFrameLocks noChangeAspect="1"/>
            </p:cNvGraphicFramePr>
            <p:nvPr/>
          </p:nvGraphicFramePr>
          <p:xfrm>
            <a:off x="4311" y="1776"/>
            <a:ext cx="210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68" imgH="406048" progId="Equation.3">
                    <p:embed/>
                  </p:oleObj>
                </mc:Choice>
                <mc:Fallback>
                  <p:oleObj name="Equation" r:id="rId6" imgW="152268" imgH="406048" progId="Equation.3">
                    <p:embed/>
                    <p:pic>
                      <p:nvPicPr>
                        <p:cNvPr id="38942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1" y="1776"/>
                          <a:ext cx="210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44"/>
          <p:cNvGrpSpPr>
            <a:grpSpLocks/>
          </p:cNvGrpSpPr>
          <p:nvPr/>
        </p:nvGrpSpPr>
        <p:grpSpPr bwMode="auto">
          <a:xfrm>
            <a:off x="8106151" y="3895163"/>
            <a:ext cx="358858" cy="838394"/>
            <a:chOff x="4952" y="2396"/>
            <a:chExt cx="226" cy="528"/>
          </a:xfrm>
        </p:grpSpPr>
        <p:sp>
          <p:nvSpPr>
            <p:cNvPr id="38939" name="Line 26"/>
            <p:cNvSpPr>
              <a:spLocks noChangeShapeType="1"/>
            </p:cNvSpPr>
            <p:nvPr/>
          </p:nvSpPr>
          <p:spPr bwMode="auto">
            <a:xfrm>
              <a:off x="4952" y="2409"/>
              <a:ext cx="0" cy="5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940" name="Object 4"/>
            <p:cNvGraphicFramePr>
              <a:graphicFrameLocks noChangeAspect="1"/>
            </p:cNvGraphicFramePr>
            <p:nvPr/>
          </p:nvGraphicFramePr>
          <p:xfrm>
            <a:off x="4968" y="2396"/>
            <a:ext cx="210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52334" imgH="393529" progId="Equation.3">
                    <p:embed/>
                  </p:oleObj>
                </mc:Choice>
                <mc:Fallback>
                  <p:oleObj name="公式" r:id="rId8" imgW="152334" imgH="393529" progId="Equation.3">
                    <p:embed/>
                    <p:pic>
                      <p:nvPicPr>
                        <p:cNvPr id="3894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8" y="2396"/>
                          <a:ext cx="210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41"/>
          <p:cNvGrpSpPr>
            <a:grpSpLocks/>
          </p:cNvGrpSpPr>
          <p:nvPr/>
        </p:nvGrpSpPr>
        <p:grpSpPr bwMode="auto">
          <a:xfrm>
            <a:off x="6480175" y="4927278"/>
            <a:ext cx="1419554" cy="865387"/>
            <a:chOff x="3943" y="3055"/>
            <a:chExt cx="894" cy="545"/>
          </a:xfrm>
        </p:grpSpPr>
        <p:sp>
          <p:nvSpPr>
            <p:cNvPr id="38937" name="Line 27"/>
            <p:cNvSpPr>
              <a:spLocks noChangeShapeType="1"/>
            </p:cNvSpPr>
            <p:nvPr/>
          </p:nvSpPr>
          <p:spPr bwMode="auto">
            <a:xfrm flipH="1">
              <a:off x="3943" y="3055"/>
              <a:ext cx="8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938" name="Object 3"/>
            <p:cNvGraphicFramePr>
              <a:graphicFrameLocks noChangeAspect="1"/>
            </p:cNvGraphicFramePr>
            <p:nvPr/>
          </p:nvGraphicFramePr>
          <p:xfrm>
            <a:off x="4363" y="3055"/>
            <a:ext cx="211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2268" imgH="406048" progId="Equation.3">
                    <p:embed/>
                  </p:oleObj>
                </mc:Choice>
                <mc:Fallback>
                  <p:oleObj name="Equation" r:id="rId10" imgW="152268" imgH="406048" progId="Equation.3">
                    <p:embed/>
                    <p:pic>
                      <p:nvPicPr>
                        <p:cNvPr id="3893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3" y="3055"/>
                          <a:ext cx="211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3441" name="Rectangle 33"/>
          <p:cNvSpPr>
            <a:spLocks noChangeArrowheads="1"/>
          </p:cNvSpPr>
          <p:nvPr/>
        </p:nvSpPr>
        <p:spPr bwMode="auto">
          <a:xfrm>
            <a:off x="1475851" y="1963601"/>
            <a:ext cx="1422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转移矩阵</a:t>
            </a:r>
          </a:p>
        </p:txBody>
      </p:sp>
      <p:grpSp>
        <p:nvGrpSpPr>
          <p:cNvPr id="11" name="Group 38"/>
          <p:cNvGrpSpPr>
            <a:grpSpLocks/>
          </p:cNvGrpSpPr>
          <p:nvPr/>
        </p:nvGrpSpPr>
        <p:grpSpPr bwMode="auto">
          <a:xfrm>
            <a:off x="5478230" y="2896394"/>
            <a:ext cx="863800" cy="866976"/>
            <a:chOff x="3312" y="1776"/>
            <a:chExt cx="544" cy="546"/>
          </a:xfrm>
        </p:grpSpPr>
        <p:graphicFrame>
          <p:nvGraphicFramePr>
            <p:cNvPr id="38935" name="Object 2"/>
            <p:cNvGraphicFramePr>
              <a:graphicFrameLocks noChangeAspect="1"/>
            </p:cNvGraphicFramePr>
            <p:nvPr/>
          </p:nvGraphicFramePr>
          <p:xfrm>
            <a:off x="3312" y="1776"/>
            <a:ext cx="210" cy="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268" imgH="406048" progId="Equation.3">
                    <p:embed/>
                  </p:oleObj>
                </mc:Choice>
                <mc:Fallback>
                  <p:oleObj name="Equation" r:id="rId12" imgW="152268" imgH="406048" progId="Equation.3">
                    <p:embed/>
                    <p:pic>
                      <p:nvPicPr>
                        <p:cNvPr id="38935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776"/>
                          <a:ext cx="210" cy="5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6" name="Arc 36"/>
            <p:cNvSpPr>
              <a:spLocks/>
            </p:cNvSpPr>
            <p:nvPr/>
          </p:nvSpPr>
          <p:spPr bwMode="auto">
            <a:xfrm flipH="1">
              <a:off x="3516" y="1932"/>
              <a:ext cx="340" cy="341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1639" y="29853"/>
                  </a:moveTo>
                  <a:cubicBezTo>
                    <a:pt x="556" y="27236"/>
                    <a:pt x="0" y="2443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21215" y="43200"/>
                    <a:pt x="20830" y="43189"/>
                    <a:pt x="20446" y="43169"/>
                  </a:cubicBezTo>
                </a:path>
                <a:path w="43200" h="43200" stroke="0" extrusionOk="0">
                  <a:moveTo>
                    <a:pt x="1639" y="29853"/>
                  </a:moveTo>
                  <a:cubicBezTo>
                    <a:pt x="556" y="27236"/>
                    <a:pt x="0" y="2443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21215" y="43200"/>
                    <a:pt x="20830" y="43189"/>
                    <a:pt x="20446" y="43169"/>
                  </a:cubicBezTo>
                  <a:lnTo>
                    <a:pt x="21600" y="21600"/>
                  </a:lnTo>
                  <a:lnTo>
                    <a:pt x="1639" y="2985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" name="Group 42"/>
          <p:cNvGrpSpPr>
            <a:grpSpLocks/>
          </p:cNvGrpSpPr>
          <p:nvPr/>
        </p:nvGrpSpPr>
        <p:grpSpPr bwMode="auto">
          <a:xfrm>
            <a:off x="8115678" y="4792308"/>
            <a:ext cx="868563" cy="866976"/>
            <a:chOff x="4973" y="2970"/>
            <a:chExt cx="547" cy="546"/>
          </a:xfrm>
        </p:grpSpPr>
        <p:graphicFrame>
          <p:nvGraphicFramePr>
            <p:cNvPr id="38933" name="Object 1"/>
            <p:cNvGraphicFramePr>
              <a:graphicFrameLocks noChangeAspect="1"/>
            </p:cNvGraphicFramePr>
            <p:nvPr/>
          </p:nvGraphicFramePr>
          <p:xfrm>
            <a:off x="5310" y="2970"/>
            <a:ext cx="210" cy="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52268" imgH="406048" progId="Equation.3">
                    <p:embed/>
                  </p:oleObj>
                </mc:Choice>
                <mc:Fallback>
                  <p:oleObj name="Equation" r:id="rId13" imgW="152268" imgH="406048" progId="Equation.3">
                    <p:embed/>
                    <p:pic>
                      <p:nvPicPr>
                        <p:cNvPr id="38933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0" y="2970"/>
                          <a:ext cx="210" cy="5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4" name="Arc 37"/>
            <p:cNvSpPr>
              <a:spLocks/>
            </p:cNvSpPr>
            <p:nvPr/>
          </p:nvSpPr>
          <p:spPr bwMode="auto">
            <a:xfrm>
              <a:off x="4973" y="3029"/>
              <a:ext cx="340" cy="340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15729" y="812"/>
                  </a:moveTo>
                  <a:cubicBezTo>
                    <a:pt x="17640" y="273"/>
                    <a:pt x="19615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21463"/>
                    <a:pt x="1" y="21326"/>
                    <a:pt x="3" y="21189"/>
                  </a:cubicBezTo>
                </a:path>
                <a:path w="43200" h="43200" stroke="0" extrusionOk="0">
                  <a:moveTo>
                    <a:pt x="15729" y="812"/>
                  </a:moveTo>
                  <a:cubicBezTo>
                    <a:pt x="17640" y="273"/>
                    <a:pt x="19615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21463"/>
                    <a:pt x="1" y="21326"/>
                    <a:pt x="3" y="21189"/>
                  </a:cubicBezTo>
                  <a:lnTo>
                    <a:pt x="21600" y="21600"/>
                  </a:lnTo>
                  <a:lnTo>
                    <a:pt x="15729" y="812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73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4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1" grpId="0" build="p"/>
      <p:bldP spid="273413" grpId="0" autoUpdateAnimBg="0"/>
      <p:bldP spid="27344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2(</a:t>
            </a:r>
            <a:r>
              <a:rPr lang="zh-CN" altLang="en-US"/>
              <a:t>续</a:t>
            </a:r>
            <a:r>
              <a:rPr lang="en-US" altLang="zh-CN"/>
              <a:t>1)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22" y="1003532"/>
            <a:ext cx="8155234" cy="636265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/>
              <a:t>由图可知，对一切</a:t>
            </a:r>
            <a:r>
              <a:rPr lang="en-US" altLang="zh-CN" dirty="0"/>
              <a:t>n</a:t>
            </a:r>
            <a:r>
              <a:rPr lang="en-US" altLang="zh-CN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f</a:t>
            </a:r>
            <a:r>
              <a:rPr lang="en-US" altLang="zh-CN" baseline="-25000" dirty="0"/>
              <a:t>44</a:t>
            </a:r>
            <a:r>
              <a:rPr lang="en-US" altLang="zh-CN" dirty="0"/>
              <a:t>(n)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，从而</a:t>
            </a:r>
          </a:p>
        </p:txBody>
      </p:sp>
      <p:graphicFrame>
        <p:nvGraphicFramePr>
          <p:cNvPr id="274436" name="Object 4"/>
          <p:cNvGraphicFramePr>
            <a:graphicFrameLocks noChangeAspect="1"/>
          </p:cNvGraphicFramePr>
          <p:nvPr/>
        </p:nvGraphicFramePr>
        <p:xfrm>
          <a:off x="2596339" y="1448135"/>
          <a:ext cx="2286529" cy="884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600" imgH="431800" progId="Equation.3">
                  <p:embed/>
                </p:oleObj>
              </mc:Choice>
              <mc:Fallback>
                <p:oleObj name="Equation" r:id="rId2" imgW="1117600" imgH="431800" progId="Equation.3">
                  <p:embed/>
                  <p:pic>
                    <p:nvPicPr>
                      <p:cNvPr id="2744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6339" y="1448135"/>
                        <a:ext cx="2286529" cy="884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37" name="Rectangle 5"/>
          <p:cNvSpPr>
            <a:spLocks noChangeArrowheads="1"/>
          </p:cNvSpPr>
          <p:nvPr/>
        </p:nvSpPr>
        <p:spPr bwMode="auto">
          <a:xfrm>
            <a:off x="4803476" y="1600570"/>
            <a:ext cx="3960141" cy="520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，故状态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en-US" sz="2400" dirty="0">
                <a:latin typeface="+mn-ea"/>
                <a:ea typeface="+mn-ea"/>
              </a:rPr>
              <a:t>为非常返状态；</a:t>
            </a:r>
          </a:p>
        </p:txBody>
      </p:sp>
      <p:sp>
        <p:nvSpPr>
          <p:cNvPr id="274438" name="Rectangle 6"/>
          <p:cNvSpPr>
            <a:spLocks noChangeArrowheads="1"/>
          </p:cNvSpPr>
          <p:nvPr/>
        </p:nvSpPr>
        <p:spPr bwMode="auto">
          <a:xfrm>
            <a:off x="1226575" y="2294539"/>
            <a:ext cx="9281544" cy="1190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f</a:t>
            </a:r>
            <a:r>
              <a:rPr lang="en-US" altLang="zh-CN" sz="2400" baseline="-25000" dirty="0">
                <a:latin typeface="+mn-ea"/>
                <a:ea typeface="+mn-ea"/>
              </a:rPr>
              <a:t>41</a:t>
            </a:r>
            <a:r>
              <a:rPr lang="en-US" altLang="zh-CN" sz="2400" dirty="0">
                <a:latin typeface="+mn-ea"/>
                <a:ea typeface="+mn-ea"/>
              </a:rPr>
              <a:t>(1)</a:t>
            </a:r>
            <a:r>
              <a:rPr lang="zh-CN" altLang="en-US" sz="2400" dirty="0">
                <a:latin typeface="+mn-ea"/>
                <a:ea typeface="+mn-ea"/>
              </a:rPr>
              <a:t>＝     ，</a:t>
            </a:r>
            <a:r>
              <a:rPr lang="en-US" altLang="zh-CN" sz="2400" dirty="0">
                <a:latin typeface="+mn-ea"/>
                <a:ea typeface="+mn-ea"/>
              </a:rPr>
              <a:t>f</a:t>
            </a:r>
            <a:r>
              <a:rPr lang="en-US" altLang="zh-CN" sz="2400" baseline="-25000" dirty="0">
                <a:latin typeface="+mn-ea"/>
                <a:ea typeface="+mn-ea"/>
              </a:rPr>
              <a:t>41</a:t>
            </a:r>
            <a:r>
              <a:rPr lang="en-US" altLang="zh-CN" sz="2400" dirty="0">
                <a:latin typeface="+mn-ea"/>
                <a:ea typeface="+mn-ea"/>
              </a:rPr>
              <a:t>(n)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0 (n&gt;1)</a:t>
            </a:r>
            <a:r>
              <a:rPr lang="zh-CN" altLang="en-US" sz="2400" dirty="0">
                <a:latin typeface="+mn-ea"/>
                <a:ea typeface="+mn-ea"/>
              </a:rPr>
              <a:t>，从而                                       ，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故状态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en-US" sz="2400" dirty="0">
                <a:latin typeface="+mn-ea"/>
                <a:ea typeface="+mn-ea"/>
              </a:rPr>
              <a:t>非常返状态；</a:t>
            </a:r>
          </a:p>
        </p:txBody>
      </p:sp>
      <p:graphicFrame>
        <p:nvGraphicFramePr>
          <p:cNvPr id="274439" name="Object 7"/>
          <p:cNvGraphicFramePr>
            <a:graphicFrameLocks noChangeAspect="1"/>
          </p:cNvGraphicFramePr>
          <p:nvPr/>
        </p:nvGraphicFramePr>
        <p:xfrm>
          <a:off x="2551474" y="2192845"/>
          <a:ext cx="276289" cy="736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406048" progId="Equation.DSMT4">
                  <p:embed/>
                </p:oleObj>
              </mc:Choice>
              <mc:Fallback>
                <p:oleObj name="Equation" r:id="rId4" imgW="152268" imgH="406048" progId="Equation.DSMT4">
                  <p:embed/>
                  <p:pic>
                    <p:nvPicPr>
                      <p:cNvPr id="2744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474" y="2192845"/>
                        <a:ext cx="276289" cy="736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0" name="Object 8"/>
          <p:cNvGraphicFramePr>
            <a:graphicFrameLocks noChangeAspect="1"/>
          </p:cNvGraphicFramePr>
          <p:nvPr/>
        </p:nvGraphicFramePr>
        <p:xfrm>
          <a:off x="6553305" y="2180784"/>
          <a:ext cx="2885155" cy="884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431800" progId="Equation.3">
                  <p:embed/>
                </p:oleObj>
              </mc:Choice>
              <mc:Fallback>
                <p:oleObj name="Equation" r:id="rId6" imgW="1371600" imgH="431800" progId="Equation.3">
                  <p:embed/>
                  <p:pic>
                    <p:nvPicPr>
                      <p:cNvPr id="2744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305" y="2180784"/>
                        <a:ext cx="2885155" cy="884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1" name="Object 9"/>
          <p:cNvGraphicFramePr>
            <a:graphicFrameLocks noChangeAspect="1"/>
          </p:cNvGraphicFramePr>
          <p:nvPr/>
        </p:nvGraphicFramePr>
        <p:xfrm>
          <a:off x="1958987" y="3618275"/>
          <a:ext cx="3274183" cy="884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00200" imgH="431800" progId="Equation.3">
                  <p:embed/>
                </p:oleObj>
              </mc:Choice>
              <mc:Fallback>
                <p:oleObj name="Equation" r:id="rId8" imgW="1600200" imgH="431800" progId="Equation.3">
                  <p:embed/>
                  <p:pic>
                    <p:nvPicPr>
                      <p:cNvPr id="2744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8987" y="3618275"/>
                        <a:ext cx="3274183" cy="884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2" name="Object 10"/>
          <p:cNvGraphicFramePr>
            <a:graphicFrameLocks noChangeAspect="1"/>
          </p:cNvGraphicFramePr>
          <p:nvPr/>
        </p:nvGraphicFramePr>
        <p:xfrm>
          <a:off x="1958986" y="4380452"/>
          <a:ext cx="5119285" cy="884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01900" imgH="431800" progId="Equation.3">
                  <p:embed/>
                </p:oleObj>
              </mc:Choice>
              <mc:Fallback>
                <p:oleObj name="Equation" r:id="rId10" imgW="2501900" imgH="431800" progId="Equation.3">
                  <p:embed/>
                  <p:pic>
                    <p:nvPicPr>
                      <p:cNvPr id="2744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8986" y="4380452"/>
                        <a:ext cx="5119285" cy="884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3" name="Object 11"/>
          <p:cNvGraphicFramePr>
            <a:graphicFrameLocks noChangeAspect="1"/>
          </p:cNvGraphicFramePr>
          <p:nvPr/>
        </p:nvGraphicFramePr>
        <p:xfrm>
          <a:off x="1958987" y="5142628"/>
          <a:ext cx="4444442" cy="884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71700" imgH="431800" progId="Equation.3">
                  <p:embed/>
                </p:oleObj>
              </mc:Choice>
              <mc:Fallback>
                <p:oleObj name="Equation" r:id="rId12" imgW="2171700" imgH="431800" progId="Equation.3">
                  <p:embed/>
                  <p:pic>
                    <p:nvPicPr>
                      <p:cNvPr id="27444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8987" y="5142628"/>
                        <a:ext cx="4444442" cy="884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4" name="Object 12"/>
          <p:cNvGraphicFramePr>
            <a:graphicFrameLocks noChangeAspect="1"/>
          </p:cNvGraphicFramePr>
          <p:nvPr/>
        </p:nvGraphicFramePr>
        <p:xfrm>
          <a:off x="1908175" y="5974671"/>
          <a:ext cx="8021906" cy="844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102100" imgH="431800" progId="Equation.DSMT4">
                  <p:embed/>
                </p:oleObj>
              </mc:Choice>
              <mc:Fallback>
                <p:oleObj name="Equation" r:id="rId14" imgW="4102100" imgH="431800" progId="Equation.DSMT4">
                  <p:embed/>
                  <p:pic>
                    <p:nvPicPr>
                      <p:cNvPr id="2744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974671"/>
                        <a:ext cx="8021906" cy="844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4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4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4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4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4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4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4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4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4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4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5" grpId="0" build="p" autoUpdateAnimBg="0" advAuto="0"/>
      <p:bldP spid="274437" grpId="0" autoUpdateAnimBg="0"/>
      <p:bldP spid="274438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2(</a:t>
            </a:r>
            <a:r>
              <a:rPr lang="zh-CN" altLang="en-US"/>
              <a:t>续</a:t>
            </a:r>
            <a:r>
              <a:rPr lang="en-US" altLang="zh-CN"/>
              <a:t>2)</a:t>
            </a:r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576" y="1470437"/>
            <a:ext cx="7774199" cy="1121034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dirty="0"/>
              <a:t>故状态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2</a:t>
            </a:r>
            <a:r>
              <a:rPr lang="zh-CN" altLang="en-US" dirty="0"/>
              <a:t>都是正常返状态，又</a:t>
            </a:r>
            <a:r>
              <a:rPr lang="en-US" altLang="zh-CN" dirty="0"/>
              <a:t>d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，故都是</a:t>
            </a:r>
            <a:r>
              <a:rPr lang="zh-CN" altLang="en-US" dirty="0">
                <a:solidFill>
                  <a:srgbClr val="0000FF"/>
                </a:solidFill>
              </a:rPr>
              <a:t>遍历态</a:t>
            </a:r>
            <a:r>
              <a:rPr lang="zh-CN" altLang="en-US" dirty="0"/>
              <a:t>。</a:t>
            </a:r>
          </a:p>
        </p:txBody>
      </p:sp>
      <p:sp>
        <p:nvSpPr>
          <p:cNvPr id="275460" name="Rectangle 4"/>
          <p:cNvSpPr>
            <a:spLocks noChangeArrowheads="1"/>
          </p:cNvSpPr>
          <p:nvPr/>
        </p:nvSpPr>
        <p:spPr bwMode="auto">
          <a:xfrm>
            <a:off x="917575" y="2591471"/>
            <a:ext cx="7774199" cy="43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状态空间分解为</a:t>
            </a:r>
          </a:p>
        </p:txBody>
      </p:sp>
      <p:sp>
        <p:nvSpPr>
          <p:cNvPr id="275461" name="Rectangle 5">
            <a:extLst>
              <a:ext uri="{FF2B5EF4-FFF2-40B4-BE49-F238E27FC236}">
                <a16:creationId xmlns:a16="http://schemas.microsoft.com/office/drawing/2014/main" id="{9774C8E7-1775-4E0C-9324-15519A769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4" y="3091650"/>
            <a:ext cx="8382001" cy="104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+mn-ea"/>
                <a:ea typeface="+mn-ea"/>
              </a:rPr>
              <a:t>E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＋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400" dirty="0">
                <a:latin typeface="+mn-ea"/>
                <a:ea typeface="+mn-ea"/>
              </a:rPr>
              <a:t>其中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{3, 4}</a:t>
            </a:r>
            <a:r>
              <a:rPr lang="zh-CN" altLang="en-US" sz="2400" dirty="0">
                <a:latin typeface="+mn-ea"/>
                <a:ea typeface="+mn-ea"/>
              </a:rPr>
              <a:t>为非常返集；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{1, 2}</a:t>
            </a:r>
            <a:r>
              <a:rPr lang="zh-CN" altLang="en-US" sz="2400" dirty="0">
                <a:latin typeface="+mn-ea"/>
                <a:ea typeface="+mn-ea"/>
              </a:rPr>
              <a:t>为非周期的正常返闭集。</a:t>
            </a:r>
          </a:p>
        </p:txBody>
      </p:sp>
      <p:sp>
        <p:nvSpPr>
          <p:cNvPr id="275462" name="AutoShape 6"/>
          <p:cNvSpPr>
            <a:spLocks noChangeArrowheads="1"/>
          </p:cNvSpPr>
          <p:nvPr/>
        </p:nvSpPr>
        <p:spPr bwMode="auto">
          <a:xfrm>
            <a:off x="8613775" y="860137"/>
            <a:ext cx="3385333" cy="574808"/>
          </a:xfrm>
          <a:prstGeom prst="wedgeRoundRectCallout">
            <a:avLst>
              <a:gd name="adj1" fmla="val -66631"/>
              <a:gd name="adj2" fmla="val 119651"/>
              <a:gd name="adj3" fmla="val 16667"/>
            </a:avLst>
          </a:prstGeom>
          <a:solidFill>
            <a:schemeClr val="accent1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FFFF00"/>
                </a:solidFill>
                <a:latin typeface="+mn-ea"/>
                <a:ea typeface="+mn-ea"/>
              </a:rPr>
              <a:t>非周期正常返状态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5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5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5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5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5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5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9" grpId="0" build="p"/>
      <p:bldP spid="275460" grpId="0" build="p" autoUpdateAnimBg="0"/>
      <p:bldP spid="275461" grpId="0" build="p" autoUpdateAnimBg="0" advAuto="0"/>
      <p:bldP spid="27546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3</a:t>
            </a:r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3775" y="1229802"/>
            <a:ext cx="7435824" cy="68199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zh-CN" altLang="en-US" dirty="0"/>
              <a:t>设齐次马氏链的状态空间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{1, 2, 3, 4, 5, 6}</a:t>
            </a:r>
            <a:r>
              <a:rPr lang="zh-CN" altLang="en-US" dirty="0"/>
              <a:t>，</a:t>
            </a:r>
          </a:p>
        </p:txBody>
      </p:sp>
      <p:graphicFrame>
        <p:nvGraphicFramePr>
          <p:cNvPr id="41990" name="Object 4"/>
          <p:cNvGraphicFramePr>
            <a:graphicFrameLocks noChangeAspect="1"/>
          </p:cNvGraphicFramePr>
          <p:nvPr/>
        </p:nvGraphicFramePr>
        <p:xfrm>
          <a:off x="1658705" y="3045753"/>
          <a:ext cx="3448848" cy="3042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7200" imgH="1524000" progId="Equation.3">
                  <p:embed/>
                </p:oleObj>
              </mc:Choice>
              <mc:Fallback>
                <p:oleObj name="Equation" r:id="rId2" imgW="1727200" imgH="1524000" progId="Equation.3">
                  <p:embed/>
                  <p:pic>
                    <p:nvPicPr>
                      <p:cNvPr id="4199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705" y="3045753"/>
                        <a:ext cx="3448848" cy="3042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3" name="Rectangle 5"/>
          <p:cNvSpPr>
            <a:spLocks noChangeArrowheads="1"/>
          </p:cNvSpPr>
          <p:nvPr/>
        </p:nvSpPr>
        <p:spPr bwMode="auto">
          <a:xfrm>
            <a:off x="7255476" y="2162677"/>
            <a:ext cx="22373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状态转移图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7010611" y="3388509"/>
            <a:ext cx="395380" cy="457306"/>
            <a:chOff x="3454" y="2134"/>
            <a:chExt cx="249" cy="288"/>
          </a:xfrm>
        </p:grpSpPr>
        <p:sp>
          <p:nvSpPr>
            <p:cNvPr id="42037" name="Oval 7"/>
            <p:cNvSpPr>
              <a:spLocks noChangeArrowheads="1"/>
            </p:cNvSpPr>
            <p:nvPr/>
          </p:nvSpPr>
          <p:spPr bwMode="auto">
            <a:xfrm>
              <a:off x="3454" y="2166"/>
              <a:ext cx="249" cy="24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2038" name="Rectangle 8"/>
            <p:cNvSpPr>
              <a:spLocks noChangeArrowheads="1"/>
            </p:cNvSpPr>
            <p:nvPr/>
          </p:nvSpPr>
          <p:spPr bwMode="auto">
            <a:xfrm>
              <a:off x="3480" y="213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9657587" y="5181212"/>
            <a:ext cx="395379" cy="457306"/>
            <a:chOff x="5121" y="3263"/>
            <a:chExt cx="249" cy="288"/>
          </a:xfrm>
        </p:grpSpPr>
        <p:sp>
          <p:nvSpPr>
            <p:cNvPr id="42035" name="Oval 10"/>
            <p:cNvSpPr>
              <a:spLocks noChangeArrowheads="1"/>
            </p:cNvSpPr>
            <p:nvPr/>
          </p:nvSpPr>
          <p:spPr bwMode="auto">
            <a:xfrm>
              <a:off x="5121" y="3295"/>
              <a:ext cx="249" cy="24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2036" name="Rectangle 11"/>
            <p:cNvSpPr>
              <a:spLocks noChangeArrowheads="1"/>
            </p:cNvSpPr>
            <p:nvPr/>
          </p:nvSpPr>
          <p:spPr bwMode="auto">
            <a:xfrm>
              <a:off x="5147" y="326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6</a:t>
              </a:r>
            </a:p>
          </p:txBody>
        </p:sp>
      </p:grp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6480263" y="5181212"/>
            <a:ext cx="393791" cy="457306"/>
            <a:chOff x="3120" y="3263"/>
            <a:chExt cx="248" cy="288"/>
          </a:xfrm>
        </p:grpSpPr>
        <p:sp>
          <p:nvSpPr>
            <p:cNvPr id="42033" name="Oval 13"/>
            <p:cNvSpPr>
              <a:spLocks noChangeArrowheads="1"/>
            </p:cNvSpPr>
            <p:nvPr/>
          </p:nvSpPr>
          <p:spPr bwMode="auto">
            <a:xfrm>
              <a:off x="3120" y="3295"/>
              <a:ext cx="248" cy="24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2034" name="Rectangle 14"/>
            <p:cNvSpPr>
              <a:spLocks noChangeArrowheads="1"/>
            </p:cNvSpPr>
            <p:nvPr/>
          </p:nvSpPr>
          <p:spPr bwMode="auto">
            <a:xfrm>
              <a:off x="3146" y="326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5</a:t>
              </a:r>
            </a:p>
          </p:txBody>
        </p:sp>
      </p:grp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8847774" y="3388509"/>
            <a:ext cx="393791" cy="457306"/>
            <a:chOff x="4611" y="2134"/>
            <a:chExt cx="248" cy="288"/>
          </a:xfrm>
        </p:grpSpPr>
        <p:sp>
          <p:nvSpPr>
            <p:cNvPr id="42031" name="Oval 16"/>
            <p:cNvSpPr>
              <a:spLocks noChangeArrowheads="1"/>
            </p:cNvSpPr>
            <p:nvPr/>
          </p:nvSpPr>
          <p:spPr bwMode="auto">
            <a:xfrm>
              <a:off x="4611" y="2166"/>
              <a:ext cx="248" cy="24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2032" name="Rectangle 17"/>
            <p:cNvSpPr>
              <a:spLocks noChangeArrowheads="1"/>
            </p:cNvSpPr>
            <p:nvPr/>
          </p:nvSpPr>
          <p:spPr bwMode="auto">
            <a:xfrm>
              <a:off x="4637" y="213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4</a:t>
              </a:r>
            </a:p>
          </p:txBody>
        </p:sp>
      </p:grpSp>
      <p:grpSp>
        <p:nvGrpSpPr>
          <p:cNvPr id="6" name="Group 52"/>
          <p:cNvGrpSpPr>
            <a:grpSpLocks/>
          </p:cNvGrpSpPr>
          <p:nvPr/>
        </p:nvGrpSpPr>
        <p:grpSpPr bwMode="auto">
          <a:xfrm>
            <a:off x="9224099" y="3782301"/>
            <a:ext cx="523996" cy="1470365"/>
            <a:chOff x="4848" y="2382"/>
            <a:chExt cx="330" cy="926"/>
          </a:xfrm>
        </p:grpSpPr>
        <p:sp>
          <p:nvSpPr>
            <p:cNvPr id="42029" name="Arc 19"/>
            <p:cNvSpPr>
              <a:spLocks/>
            </p:cNvSpPr>
            <p:nvPr/>
          </p:nvSpPr>
          <p:spPr bwMode="auto">
            <a:xfrm flipH="1">
              <a:off x="5040" y="2382"/>
              <a:ext cx="138" cy="926"/>
            </a:xfrm>
            <a:custGeom>
              <a:avLst/>
              <a:gdLst>
                <a:gd name="T0" fmla="*/ 0 w 21600"/>
                <a:gd name="T1" fmla="*/ 0 h 43175"/>
                <a:gd name="T2" fmla="*/ 0 w 21600"/>
                <a:gd name="T3" fmla="*/ 0 h 43175"/>
                <a:gd name="T4" fmla="*/ 0 w 21600"/>
                <a:gd name="T5" fmla="*/ 0 h 43175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5"/>
                <a:gd name="T11" fmla="*/ 21600 w 21600"/>
                <a:gd name="T12" fmla="*/ 43175 h 431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23"/>
                    <a:pt x="12554" y="42617"/>
                    <a:pt x="1043" y="43174"/>
                  </a:cubicBezTo>
                </a:path>
                <a:path w="21600" h="4317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23"/>
                    <a:pt x="12554" y="42617"/>
                    <a:pt x="1043" y="43174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30" name="Rectangle 20"/>
            <p:cNvSpPr>
              <a:spLocks noChangeArrowheads="1"/>
            </p:cNvSpPr>
            <p:nvPr/>
          </p:nvSpPr>
          <p:spPr bwMode="auto">
            <a:xfrm>
              <a:off x="4848" y="268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7" name="Group 58"/>
          <p:cNvGrpSpPr>
            <a:grpSpLocks/>
          </p:cNvGrpSpPr>
          <p:nvPr/>
        </p:nvGrpSpPr>
        <p:grpSpPr bwMode="auto">
          <a:xfrm>
            <a:off x="9900530" y="3799768"/>
            <a:ext cx="571632" cy="1430668"/>
            <a:chOff x="5274" y="2393"/>
            <a:chExt cx="360" cy="901"/>
          </a:xfrm>
        </p:grpSpPr>
        <p:sp>
          <p:nvSpPr>
            <p:cNvPr id="42027" name="Arc 18"/>
            <p:cNvSpPr>
              <a:spLocks/>
            </p:cNvSpPr>
            <p:nvPr/>
          </p:nvSpPr>
          <p:spPr bwMode="auto">
            <a:xfrm flipV="1">
              <a:off x="5274" y="2393"/>
              <a:ext cx="102" cy="901"/>
            </a:xfrm>
            <a:custGeom>
              <a:avLst/>
              <a:gdLst>
                <a:gd name="T0" fmla="*/ 0 w 21600"/>
                <a:gd name="T1" fmla="*/ 0 h 43099"/>
                <a:gd name="T2" fmla="*/ 0 w 21600"/>
                <a:gd name="T3" fmla="*/ 0 h 43099"/>
                <a:gd name="T4" fmla="*/ 0 w 21600"/>
                <a:gd name="T5" fmla="*/ 0 h 430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099"/>
                <a:gd name="T11" fmla="*/ 21600 w 21600"/>
                <a:gd name="T12" fmla="*/ 43099 h 430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09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21"/>
                    <a:pt x="13155" y="42024"/>
                    <a:pt x="2086" y="43099"/>
                  </a:cubicBezTo>
                </a:path>
                <a:path w="21600" h="4309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21"/>
                    <a:pt x="13155" y="42024"/>
                    <a:pt x="2086" y="430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28" name="Object 24"/>
            <p:cNvGraphicFramePr>
              <a:graphicFrameLocks noChangeAspect="1"/>
            </p:cNvGraphicFramePr>
            <p:nvPr/>
          </p:nvGraphicFramePr>
          <p:xfrm>
            <a:off x="5424" y="2544"/>
            <a:ext cx="210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268" imgH="406048" progId="Equation.3">
                    <p:embed/>
                  </p:oleObj>
                </mc:Choice>
                <mc:Fallback>
                  <p:oleObj name="Equation" r:id="rId4" imgW="152268" imgH="406048" progId="Equation.3">
                    <p:embed/>
                    <p:pic>
                      <p:nvPicPr>
                        <p:cNvPr id="42028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" y="2544"/>
                          <a:ext cx="210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56"/>
          <p:cNvGrpSpPr>
            <a:grpSpLocks/>
          </p:cNvGrpSpPr>
          <p:nvPr/>
        </p:nvGrpSpPr>
        <p:grpSpPr bwMode="auto">
          <a:xfrm>
            <a:off x="7405991" y="2820053"/>
            <a:ext cx="1419554" cy="865388"/>
            <a:chOff x="3703" y="1776"/>
            <a:chExt cx="894" cy="545"/>
          </a:xfrm>
        </p:grpSpPr>
        <p:sp>
          <p:nvSpPr>
            <p:cNvPr id="42025" name="Line 22"/>
            <p:cNvSpPr>
              <a:spLocks noChangeShapeType="1"/>
            </p:cNvSpPr>
            <p:nvPr/>
          </p:nvSpPr>
          <p:spPr bwMode="auto">
            <a:xfrm flipH="1">
              <a:off x="3703" y="2287"/>
              <a:ext cx="8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2026" name="Object 25"/>
            <p:cNvGraphicFramePr>
              <a:graphicFrameLocks noChangeAspect="1"/>
            </p:cNvGraphicFramePr>
            <p:nvPr/>
          </p:nvGraphicFramePr>
          <p:xfrm>
            <a:off x="4071" y="1776"/>
            <a:ext cx="210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68" imgH="406048" progId="Equation.3">
                    <p:embed/>
                  </p:oleObj>
                </mc:Choice>
                <mc:Fallback>
                  <p:oleObj name="Equation" r:id="rId6" imgW="152268" imgH="406048" progId="Equation.3">
                    <p:embed/>
                    <p:pic>
                      <p:nvPicPr>
                        <p:cNvPr id="42026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1" y="1776"/>
                          <a:ext cx="210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999" name="Rectangle 27"/>
          <p:cNvSpPr>
            <a:spLocks noChangeArrowheads="1"/>
          </p:cNvSpPr>
          <p:nvPr/>
        </p:nvSpPr>
        <p:spPr bwMode="auto">
          <a:xfrm>
            <a:off x="2691914" y="2100137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转移矩阵</a:t>
            </a:r>
          </a:p>
        </p:txBody>
      </p:sp>
      <p:grpSp>
        <p:nvGrpSpPr>
          <p:cNvPr id="9" name="Group 54"/>
          <p:cNvGrpSpPr>
            <a:grpSpLocks/>
          </p:cNvGrpSpPr>
          <p:nvPr/>
        </p:nvGrpSpPr>
        <p:grpSpPr bwMode="auto">
          <a:xfrm>
            <a:off x="9224098" y="2820053"/>
            <a:ext cx="457306" cy="865388"/>
            <a:chOff x="4848" y="1776"/>
            <a:chExt cx="288" cy="545"/>
          </a:xfrm>
        </p:grpSpPr>
        <p:graphicFrame>
          <p:nvGraphicFramePr>
            <p:cNvPr id="42023" name="Object 26"/>
            <p:cNvGraphicFramePr>
              <a:graphicFrameLocks noChangeAspect="1"/>
            </p:cNvGraphicFramePr>
            <p:nvPr/>
          </p:nvGraphicFramePr>
          <p:xfrm>
            <a:off x="4896" y="1776"/>
            <a:ext cx="211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68" imgH="406048" progId="Equation.3">
                    <p:embed/>
                  </p:oleObj>
                </mc:Choice>
                <mc:Fallback>
                  <p:oleObj name="Equation" r:id="rId6" imgW="152268" imgH="406048" progId="Equation.3">
                    <p:embed/>
                    <p:pic>
                      <p:nvPicPr>
                        <p:cNvPr id="42023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1776"/>
                          <a:ext cx="211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24" name="Line 28"/>
            <p:cNvSpPr>
              <a:spLocks noChangeShapeType="1"/>
            </p:cNvSpPr>
            <p:nvPr/>
          </p:nvSpPr>
          <p:spPr bwMode="auto">
            <a:xfrm>
              <a:off x="4848" y="23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46"/>
          <p:cNvGrpSpPr>
            <a:grpSpLocks/>
          </p:cNvGrpSpPr>
          <p:nvPr/>
        </p:nvGrpSpPr>
        <p:grpSpPr bwMode="auto">
          <a:xfrm>
            <a:off x="9681404" y="3382158"/>
            <a:ext cx="393791" cy="457306"/>
            <a:chOff x="5136" y="2130"/>
            <a:chExt cx="248" cy="288"/>
          </a:xfrm>
        </p:grpSpPr>
        <p:sp>
          <p:nvSpPr>
            <p:cNvPr id="42021" name="Oval 30"/>
            <p:cNvSpPr>
              <a:spLocks noChangeArrowheads="1"/>
            </p:cNvSpPr>
            <p:nvPr/>
          </p:nvSpPr>
          <p:spPr bwMode="auto">
            <a:xfrm>
              <a:off x="5136" y="2162"/>
              <a:ext cx="248" cy="24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2022" name="Rectangle 31"/>
            <p:cNvSpPr>
              <a:spLocks noChangeArrowheads="1"/>
            </p:cNvSpPr>
            <p:nvPr/>
          </p:nvSpPr>
          <p:spPr bwMode="auto">
            <a:xfrm>
              <a:off x="5162" y="213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2</a:t>
              </a:r>
            </a:p>
          </p:txBody>
        </p:sp>
      </p:grpSp>
      <p:grpSp>
        <p:nvGrpSpPr>
          <p:cNvPr id="11" name="Group 47"/>
          <p:cNvGrpSpPr>
            <a:grpSpLocks/>
          </p:cNvGrpSpPr>
          <p:nvPr/>
        </p:nvGrpSpPr>
        <p:grpSpPr bwMode="auto">
          <a:xfrm>
            <a:off x="7534607" y="5182800"/>
            <a:ext cx="393791" cy="457306"/>
            <a:chOff x="3784" y="3264"/>
            <a:chExt cx="248" cy="288"/>
          </a:xfrm>
        </p:grpSpPr>
        <p:sp>
          <p:nvSpPr>
            <p:cNvPr id="42019" name="Oval 36"/>
            <p:cNvSpPr>
              <a:spLocks noChangeArrowheads="1"/>
            </p:cNvSpPr>
            <p:nvPr/>
          </p:nvSpPr>
          <p:spPr bwMode="auto">
            <a:xfrm>
              <a:off x="3784" y="3296"/>
              <a:ext cx="248" cy="24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2020" name="Rectangle 37"/>
            <p:cNvSpPr>
              <a:spLocks noChangeArrowheads="1"/>
            </p:cNvSpPr>
            <p:nvPr/>
          </p:nvSpPr>
          <p:spPr bwMode="auto">
            <a:xfrm>
              <a:off x="3810" y="32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3</a:t>
              </a:r>
            </a:p>
          </p:txBody>
        </p:sp>
      </p:grpSp>
      <p:grpSp>
        <p:nvGrpSpPr>
          <p:cNvPr id="12" name="Group 57"/>
          <p:cNvGrpSpPr>
            <a:grpSpLocks/>
          </p:cNvGrpSpPr>
          <p:nvPr/>
        </p:nvGrpSpPr>
        <p:grpSpPr bwMode="auto">
          <a:xfrm>
            <a:off x="6602529" y="3796592"/>
            <a:ext cx="495415" cy="1440195"/>
            <a:chOff x="3197" y="2391"/>
            <a:chExt cx="312" cy="907"/>
          </a:xfrm>
        </p:grpSpPr>
        <p:sp>
          <p:nvSpPr>
            <p:cNvPr id="42017" name="Line 38"/>
            <p:cNvSpPr>
              <a:spLocks noChangeShapeType="1"/>
            </p:cNvSpPr>
            <p:nvPr/>
          </p:nvSpPr>
          <p:spPr bwMode="auto">
            <a:xfrm flipH="1">
              <a:off x="3282" y="2391"/>
              <a:ext cx="227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8" name="Rectangle 40"/>
            <p:cNvSpPr>
              <a:spLocks noChangeArrowheads="1"/>
            </p:cNvSpPr>
            <p:nvPr/>
          </p:nvSpPr>
          <p:spPr bwMode="auto">
            <a:xfrm>
              <a:off x="3197" y="268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13" name="Group 51"/>
          <p:cNvGrpSpPr>
            <a:grpSpLocks/>
          </p:cNvGrpSpPr>
          <p:nvPr/>
        </p:nvGrpSpPr>
        <p:grpSpPr bwMode="auto">
          <a:xfrm>
            <a:off x="7361531" y="3782301"/>
            <a:ext cx="492239" cy="1440196"/>
            <a:chOff x="3675" y="2382"/>
            <a:chExt cx="310" cy="907"/>
          </a:xfrm>
        </p:grpSpPr>
        <p:sp>
          <p:nvSpPr>
            <p:cNvPr id="42015" name="Line 39"/>
            <p:cNvSpPr>
              <a:spLocks noChangeShapeType="1"/>
            </p:cNvSpPr>
            <p:nvPr/>
          </p:nvSpPr>
          <p:spPr bwMode="auto">
            <a:xfrm>
              <a:off x="3675" y="2382"/>
              <a:ext cx="227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6" name="Rectangle 41"/>
            <p:cNvSpPr>
              <a:spLocks noChangeArrowheads="1"/>
            </p:cNvSpPr>
            <p:nvPr/>
          </p:nvSpPr>
          <p:spPr bwMode="auto">
            <a:xfrm>
              <a:off x="3773" y="268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14" name="Group 53"/>
          <p:cNvGrpSpPr>
            <a:grpSpLocks/>
          </p:cNvGrpSpPr>
          <p:nvPr/>
        </p:nvGrpSpPr>
        <p:grpSpPr bwMode="auto">
          <a:xfrm>
            <a:off x="6880406" y="5411453"/>
            <a:ext cx="647850" cy="457306"/>
            <a:chOff x="3372" y="3408"/>
            <a:chExt cx="408" cy="288"/>
          </a:xfrm>
        </p:grpSpPr>
        <p:sp>
          <p:nvSpPr>
            <p:cNvPr id="42013" name="Line 23"/>
            <p:cNvSpPr>
              <a:spLocks noChangeShapeType="1"/>
            </p:cNvSpPr>
            <p:nvPr/>
          </p:nvSpPr>
          <p:spPr bwMode="auto">
            <a:xfrm flipH="1">
              <a:off x="3372" y="3420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4" name="Rectangle 42"/>
            <p:cNvSpPr>
              <a:spLocks noChangeArrowheads="1"/>
            </p:cNvSpPr>
            <p:nvPr/>
          </p:nvSpPr>
          <p:spPr bwMode="auto">
            <a:xfrm>
              <a:off x="3456" y="34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15" name="Group 55"/>
          <p:cNvGrpSpPr>
            <a:grpSpLocks/>
          </p:cNvGrpSpPr>
          <p:nvPr/>
        </p:nvGrpSpPr>
        <p:grpSpPr bwMode="auto">
          <a:xfrm>
            <a:off x="8500031" y="3715610"/>
            <a:ext cx="570045" cy="1036878"/>
            <a:chOff x="4392" y="2340"/>
            <a:chExt cx="359" cy="653"/>
          </a:xfrm>
        </p:grpSpPr>
        <p:graphicFrame>
          <p:nvGraphicFramePr>
            <p:cNvPr id="42011" name="Object 34"/>
            <p:cNvGraphicFramePr>
              <a:graphicFrameLocks noChangeAspect="1"/>
            </p:cNvGraphicFramePr>
            <p:nvPr/>
          </p:nvGraphicFramePr>
          <p:xfrm>
            <a:off x="4392" y="2448"/>
            <a:ext cx="211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68" imgH="406048" progId="Equation.3">
                    <p:embed/>
                  </p:oleObj>
                </mc:Choice>
                <mc:Fallback>
                  <p:oleObj name="Equation" r:id="rId6" imgW="152268" imgH="406048" progId="Equation.3">
                    <p:embed/>
                    <p:pic>
                      <p:nvPicPr>
                        <p:cNvPr id="42011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2" y="2448"/>
                          <a:ext cx="211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2" name="Arc 43"/>
            <p:cNvSpPr>
              <a:spLocks/>
            </p:cNvSpPr>
            <p:nvPr/>
          </p:nvSpPr>
          <p:spPr bwMode="auto">
            <a:xfrm flipH="1" flipV="1">
              <a:off x="4524" y="2340"/>
              <a:ext cx="227" cy="340"/>
            </a:xfrm>
            <a:custGeom>
              <a:avLst/>
              <a:gdLst>
                <a:gd name="T0" fmla="*/ 0 w 43200"/>
                <a:gd name="T1" fmla="*/ 0 h 42946"/>
                <a:gd name="T2" fmla="*/ 0 w 43200"/>
                <a:gd name="T3" fmla="*/ 0 h 42946"/>
                <a:gd name="T4" fmla="*/ 0 w 43200"/>
                <a:gd name="T5" fmla="*/ 0 h 42946"/>
                <a:gd name="T6" fmla="*/ 0 60000 65536"/>
                <a:gd name="T7" fmla="*/ 0 60000 65536"/>
                <a:gd name="T8" fmla="*/ 0 60000 65536"/>
                <a:gd name="T9" fmla="*/ 0 w 43200"/>
                <a:gd name="T10" fmla="*/ 0 h 42946"/>
                <a:gd name="T11" fmla="*/ 43200 w 43200"/>
                <a:gd name="T12" fmla="*/ 42946 h 429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2946" fill="none" extrusionOk="0">
                  <a:moveTo>
                    <a:pt x="1156" y="28573"/>
                  </a:moveTo>
                  <a:cubicBezTo>
                    <a:pt x="390" y="26328"/>
                    <a:pt x="0" y="2397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254"/>
                    <a:pt x="35431" y="41316"/>
                    <a:pt x="24902" y="42945"/>
                  </a:cubicBezTo>
                </a:path>
                <a:path w="43200" h="42946" stroke="0" extrusionOk="0">
                  <a:moveTo>
                    <a:pt x="1156" y="28573"/>
                  </a:moveTo>
                  <a:cubicBezTo>
                    <a:pt x="390" y="26328"/>
                    <a:pt x="0" y="2397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254"/>
                    <a:pt x="35431" y="41316"/>
                    <a:pt x="24902" y="42945"/>
                  </a:cubicBezTo>
                  <a:lnTo>
                    <a:pt x="21600" y="21600"/>
                  </a:lnTo>
                  <a:lnTo>
                    <a:pt x="1156" y="285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" name="Group 59"/>
          <p:cNvGrpSpPr>
            <a:grpSpLocks/>
          </p:cNvGrpSpPr>
          <p:nvPr/>
        </p:nvGrpSpPr>
        <p:grpSpPr bwMode="auto">
          <a:xfrm>
            <a:off x="9528969" y="5487670"/>
            <a:ext cx="657377" cy="1017824"/>
            <a:chOff x="5040" y="3456"/>
            <a:chExt cx="414" cy="641"/>
          </a:xfrm>
        </p:grpSpPr>
        <p:graphicFrame>
          <p:nvGraphicFramePr>
            <p:cNvPr id="42009" name="Object 33"/>
            <p:cNvGraphicFramePr>
              <a:graphicFrameLocks noChangeAspect="1"/>
            </p:cNvGraphicFramePr>
            <p:nvPr/>
          </p:nvGraphicFramePr>
          <p:xfrm>
            <a:off x="5244" y="3552"/>
            <a:ext cx="210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68" imgH="406048" progId="Equation.3">
                    <p:embed/>
                  </p:oleObj>
                </mc:Choice>
                <mc:Fallback>
                  <p:oleObj name="Equation" r:id="rId8" imgW="152268" imgH="406048" progId="Equation.3">
                    <p:embed/>
                    <p:pic>
                      <p:nvPicPr>
                        <p:cNvPr id="42009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4" y="3552"/>
                          <a:ext cx="210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0" name="Arc 44"/>
            <p:cNvSpPr>
              <a:spLocks/>
            </p:cNvSpPr>
            <p:nvPr/>
          </p:nvSpPr>
          <p:spPr bwMode="auto">
            <a:xfrm flipH="1" flipV="1">
              <a:off x="5040" y="3456"/>
              <a:ext cx="227" cy="340"/>
            </a:xfrm>
            <a:custGeom>
              <a:avLst/>
              <a:gdLst>
                <a:gd name="T0" fmla="*/ 0 w 43200"/>
                <a:gd name="T1" fmla="*/ 0 h 42946"/>
                <a:gd name="T2" fmla="*/ 0 w 43200"/>
                <a:gd name="T3" fmla="*/ 0 h 42946"/>
                <a:gd name="T4" fmla="*/ 0 w 43200"/>
                <a:gd name="T5" fmla="*/ 0 h 42946"/>
                <a:gd name="T6" fmla="*/ 0 60000 65536"/>
                <a:gd name="T7" fmla="*/ 0 60000 65536"/>
                <a:gd name="T8" fmla="*/ 0 60000 65536"/>
                <a:gd name="T9" fmla="*/ 0 w 43200"/>
                <a:gd name="T10" fmla="*/ 0 h 42946"/>
                <a:gd name="T11" fmla="*/ 43200 w 43200"/>
                <a:gd name="T12" fmla="*/ 42946 h 429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2946" fill="none" extrusionOk="0">
                  <a:moveTo>
                    <a:pt x="1156" y="28573"/>
                  </a:moveTo>
                  <a:cubicBezTo>
                    <a:pt x="390" y="26328"/>
                    <a:pt x="0" y="2397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254"/>
                    <a:pt x="35431" y="41316"/>
                    <a:pt x="24902" y="42945"/>
                  </a:cubicBezTo>
                </a:path>
                <a:path w="43200" h="42946" stroke="0" extrusionOk="0">
                  <a:moveTo>
                    <a:pt x="1156" y="28573"/>
                  </a:moveTo>
                  <a:cubicBezTo>
                    <a:pt x="390" y="26328"/>
                    <a:pt x="0" y="2397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254"/>
                    <a:pt x="35431" y="41316"/>
                    <a:pt x="24902" y="42945"/>
                  </a:cubicBezTo>
                  <a:lnTo>
                    <a:pt x="21600" y="21600"/>
                  </a:lnTo>
                  <a:lnTo>
                    <a:pt x="1156" y="285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3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3(</a:t>
            </a:r>
            <a:r>
              <a:rPr lang="zh-CN" altLang="en-US"/>
              <a:t>续</a:t>
            </a:r>
            <a:r>
              <a:rPr lang="en-US" altLang="zh-CN"/>
              <a:t>1)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84775" y="1835393"/>
            <a:ext cx="4801711" cy="47477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故状态</a:t>
            </a:r>
            <a:r>
              <a:rPr lang="en-US" altLang="zh-CN" dirty="0"/>
              <a:t>1</a:t>
            </a:r>
            <a:r>
              <a:rPr lang="zh-CN" altLang="en-US" dirty="0"/>
              <a:t>为正常返状态，且周期为</a:t>
            </a:r>
            <a:r>
              <a:rPr lang="en-US" altLang="zh-CN" dirty="0"/>
              <a:t>3.</a:t>
            </a:r>
          </a:p>
        </p:txBody>
      </p:sp>
      <p:sp>
        <p:nvSpPr>
          <p:cNvPr id="279556" name="Rectangle 4"/>
          <p:cNvSpPr>
            <a:spLocks noChangeArrowheads="1"/>
          </p:cNvSpPr>
          <p:nvPr/>
        </p:nvSpPr>
        <p:spPr bwMode="auto">
          <a:xfrm>
            <a:off x="992592" y="988300"/>
            <a:ext cx="7850417" cy="520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    </a:t>
            </a:r>
            <a:r>
              <a:rPr lang="zh-CN" altLang="en-US" sz="2400" dirty="0">
                <a:latin typeface="+mn-ea"/>
                <a:ea typeface="+mn-ea"/>
              </a:rPr>
              <a:t>因为</a:t>
            </a:r>
            <a:r>
              <a:rPr lang="en-US" altLang="zh-CN" sz="2400" dirty="0">
                <a:latin typeface="+mn-ea"/>
                <a:ea typeface="+mn-ea"/>
              </a:rPr>
              <a:t>f</a:t>
            </a:r>
            <a:r>
              <a:rPr lang="en-US" altLang="zh-CN" sz="2400" baseline="-25000" dirty="0">
                <a:latin typeface="+mn-ea"/>
                <a:ea typeface="+mn-ea"/>
              </a:rPr>
              <a:t>11</a:t>
            </a:r>
            <a:r>
              <a:rPr lang="en-US" altLang="zh-CN" sz="2400" dirty="0">
                <a:latin typeface="+mn-ea"/>
                <a:ea typeface="+mn-ea"/>
              </a:rPr>
              <a:t>(3)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f</a:t>
            </a:r>
            <a:r>
              <a:rPr lang="en-US" altLang="zh-CN" sz="2400" baseline="-25000" dirty="0">
                <a:latin typeface="+mn-ea"/>
                <a:ea typeface="+mn-ea"/>
              </a:rPr>
              <a:t>11</a:t>
            </a:r>
            <a:r>
              <a:rPr lang="en-US" altLang="zh-CN" sz="2400" dirty="0">
                <a:latin typeface="+mn-ea"/>
                <a:ea typeface="+mn-ea"/>
              </a:rPr>
              <a:t>(n)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</a:t>
            </a:r>
            <a:r>
              <a:rPr lang="en-US" altLang="zh-CN" sz="2400" dirty="0">
                <a:latin typeface="+mn-ea"/>
                <a:ea typeface="+mn-ea"/>
              </a:rPr>
              <a:t>3)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</a:p>
        </p:txBody>
      </p:sp>
      <p:graphicFrame>
        <p:nvGraphicFramePr>
          <p:cNvPr id="297984" name="Object 0"/>
          <p:cNvGraphicFramePr>
            <a:graphicFrameLocks noChangeAspect="1"/>
          </p:cNvGraphicFramePr>
          <p:nvPr/>
        </p:nvGraphicFramePr>
        <p:xfrm>
          <a:off x="6108700" y="847643"/>
          <a:ext cx="2337341" cy="884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3000" imgH="431800" progId="Equation.DSMT4">
                  <p:embed/>
                </p:oleObj>
              </mc:Choice>
              <mc:Fallback>
                <p:oleObj name="Equation" r:id="rId3" imgW="1143000" imgH="431800" progId="Equation.DSMT4">
                  <p:embed/>
                  <p:pic>
                    <p:nvPicPr>
                      <p:cNvPr id="29798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0" y="847643"/>
                        <a:ext cx="2337341" cy="884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985" name="Object 1"/>
          <p:cNvGraphicFramePr>
            <a:graphicFrameLocks noChangeAspect="1"/>
          </p:cNvGraphicFramePr>
          <p:nvPr/>
        </p:nvGraphicFramePr>
        <p:xfrm>
          <a:off x="2698862" y="3623513"/>
          <a:ext cx="6262549" cy="832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60700" imgH="406400" progId="Equation.3">
                  <p:embed/>
                </p:oleObj>
              </mc:Choice>
              <mc:Fallback>
                <p:oleObj name="Equation" r:id="rId5" imgW="3060700" imgH="406400" progId="Equation.3">
                  <p:embed/>
                  <p:pic>
                    <p:nvPicPr>
                      <p:cNvPr id="29798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862" y="3623513"/>
                        <a:ext cx="6262549" cy="8320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986" name="Object 2"/>
          <p:cNvGraphicFramePr>
            <a:graphicFrameLocks noChangeAspect="1"/>
          </p:cNvGraphicFramePr>
          <p:nvPr/>
        </p:nvGraphicFramePr>
        <p:xfrm>
          <a:off x="2670175" y="5639594"/>
          <a:ext cx="7850417" cy="1122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178300" imgH="596900" progId="Equation.3">
                  <p:embed/>
                </p:oleObj>
              </mc:Choice>
              <mc:Fallback>
                <p:oleObj name="Equation" r:id="rId7" imgW="4178300" imgH="596900" progId="Equation.3">
                  <p:embed/>
                  <p:pic>
                    <p:nvPicPr>
                      <p:cNvPr id="2979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5639594"/>
                        <a:ext cx="7850417" cy="1122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987" name="Object 3"/>
          <p:cNvGraphicFramePr>
            <a:graphicFrameLocks noChangeAspect="1"/>
          </p:cNvGraphicFramePr>
          <p:nvPr/>
        </p:nvGraphicFramePr>
        <p:xfrm>
          <a:off x="1817311" y="1622008"/>
          <a:ext cx="3248777" cy="884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87500" imgH="431800" progId="Equation.DSMT4">
                  <p:embed/>
                </p:oleObj>
              </mc:Choice>
              <mc:Fallback>
                <p:oleObj name="Equation" r:id="rId9" imgW="1587500" imgH="431800" progId="Equation.DSMT4">
                  <p:embed/>
                  <p:pic>
                    <p:nvPicPr>
                      <p:cNvPr id="2979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311" y="1622008"/>
                        <a:ext cx="3248777" cy="8844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79561" name="Rectangle 9"/>
              <p:cNvSpPr>
                <a:spLocks noChangeArrowheads="1"/>
              </p:cNvSpPr>
              <p:nvPr/>
            </p:nvSpPr>
            <p:spPr bwMode="auto">
              <a:xfrm>
                <a:off x="1184415" y="2390510"/>
                <a:ext cx="9221205" cy="1130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  <a:buClrTx/>
                  <a:buNone/>
                </a:pPr>
                <a:r>
                  <a:rPr lang="en-US" altLang="zh-CN" sz="2400" dirty="0">
                    <a:latin typeface="+mn-ea"/>
                    <a:ea typeface="+mn-ea"/>
                  </a:rPr>
                  <a:t>   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1</a:t>
                </a:r>
                <a:r>
                  <a:rPr lang="en-US" altLang="zh-CN" sz="2400" dirty="0">
                    <a:solidFill>
                      <a:schemeClr val="tx1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⟷ 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3</a:t>
                </a:r>
                <a:r>
                  <a:rPr lang="en-US" altLang="zh-CN" sz="2400" dirty="0">
                    <a:solidFill>
                      <a:schemeClr val="tx1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⟷ 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+mn-ea"/>
                    <a:ea typeface="+mn-ea"/>
                    <a:sym typeface="Symbol" panose="05050102010706020507" pitchFamily="18" charset="2"/>
                  </a:rPr>
                  <a:t>5</a:t>
                </a:r>
                <a:r>
                  <a:rPr lang="zh-CN" altLang="en-US" sz="2400" dirty="0">
                    <a:latin typeface="+mn-ea"/>
                    <a:ea typeface="+mn-ea"/>
                    <a:sym typeface="Symbol" panose="05050102010706020507" pitchFamily="18" charset="2"/>
                  </a:rPr>
                  <a:t>，从而状态</a:t>
                </a:r>
                <a:r>
                  <a:rPr lang="en-US" altLang="zh-CN" sz="2400" dirty="0">
                    <a:latin typeface="+mn-ea"/>
                    <a:ea typeface="+mn-ea"/>
                    <a:sym typeface="Symbol" panose="05050102010706020507" pitchFamily="18" charset="2"/>
                  </a:rPr>
                  <a:t>3</a:t>
                </a:r>
                <a:r>
                  <a:rPr lang="zh-CN" altLang="en-US" sz="2400" dirty="0">
                    <a:latin typeface="+mn-ea"/>
                    <a:ea typeface="+mn-ea"/>
                    <a:sym typeface="Symbol" panose="05050102010706020507" pitchFamily="18" charset="2"/>
                  </a:rPr>
                  <a:t>和</a:t>
                </a:r>
                <a:r>
                  <a:rPr lang="en-US" altLang="zh-CN" sz="2400" dirty="0">
                    <a:latin typeface="+mn-ea"/>
                    <a:ea typeface="+mn-ea"/>
                    <a:sym typeface="Symbol" panose="05050102010706020507" pitchFamily="18" charset="2"/>
                  </a:rPr>
                  <a:t>5</a:t>
                </a:r>
                <a:r>
                  <a:rPr lang="zh-CN" altLang="en-US" sz="2400" dirty="0">
                    <a:latin typeface="+mn-ea"/>
                    <a:ea typeface="+mn-ea"/>
                    <a:sym typeface="Symbol" panose="05050102010706020507" pitchFamily="18" charset="2"/>
                  </a:rPr>
                  <a:t>与状态</a:t>
                </a:r>
                <a:r>
                  <a:rPr lang="en-US" altLang="zh-CN" sz="2400" dirty="0">
                    <a:latin typeface="+mn-ea"/>
                    <a:ea typeface="+mn-ea"/>
                    <a:sym typeface="Symbol" panose="05050102010706020507" pitchFamily="18" charset="2"/>
                  </a:rPr>
                  <a:t>1</a:t>
                </a:r>
                <a:r>
                  <a:rPr lang="zh-CN" altLang="en-US" sz="2400" dirty="0">
                    <a:latin typeface="+mn-ea"/>
                    <a:ea typeface="+mn-ea"/>
                    <a:sym typeface="Symbol" panose="05050102010706020507" pitchFamily="18" charset="2"/>
                  </a:rPr>
                  <a:t>有相同的状态性质，由此可知，</a:t>
                </a:r>
                <a:r>
                  <a:rPr lang="en-US" altLang="zh-CN" sz="2400" dirty="0">
                    <a:latin typeface="+mn-ea"/>
                    <a:ea typeface="+mn-ea"/>
                    <a:sym typeface="Symbol" panose="05050102010706020507" pitchFamily="18" charset="2"/>
                  </a:rPr>
                  <a:t>C</a:t>
                </a:r>
                <a:r>
                  <a:rPr lang="en-US" altLang="zh-CN" sz="2400" baseline="-25000" dirty="0">
                    <a:latin typeface="+mn-ea"/>
                    <a:ea typeface="+mn-ea"/>
                    <a:sym typeface="Symbol" panose="05050102010706020507" pitchFamily="18" charset="2"/>
                  </a:rPr>
                  <a:t>1</a:t>
                </a:r>
                <a:r>
                  <a:rPr lang="en-US" altLang="zh-CN" sz="2400" dirty="0">
                    <a:latin typeface="+mn-ea"/>
                    <a:ea typeface="+mn-ea"/>
                    <a:sym typeface="Symbol" panose="05050102010706020507" pitchFamily="18" charset="2"/>
                  </a:rPr>
                  <a:t>={1, 3, 5}</a:t>
                </a:r>
                <a:r>
                  <a:rPr lang="zh-CN" altLang="en-US" sz="2400" dirty="0">
                    <a:latin typeface="+mn-ea"/>
                    <a:ea typeface="+mn-ea"/>
                  </a:rPr>
                  <a:t>是周期为</a:t>
                </a:r>
                <a:r>
                  <a:rPr lang="en-US" altLang="zh-CN" sz="2400" dirty="0">
                    <a:latin typeface="+mn-ea"/>
                    <a:ea typeface="+mn-ea"/>
                  </a:rPr>
                  <a:t>3</a:t>
                </a:r>
                <a:r>
                  <a:rPr lang="zh-CN" altLang="en-US" sz="2400" dirty="0">
                    <a:latin typeface="+mn-ea"/>
                    <a:ea typeface="+mn-ea"/>
                  </a:rPr>
                  <a:t>的正常返闭集。</a:t>
                </a:r>
              </a:p>
            </p:txBody>
          </p:sp>
        </mc:Choice>
        <mc:Fallback xmlns="">
          <p:sp>
            <p:nvSpPr>
              <p:cNvPr id="279561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4415" y="2390510"/>
                <a:ext cx="9221205" cy="1130246"/>
              </a:xfrm>
              <a:prstGeom prst="rect">
                <a:avLst/>
              </a:prstGeom>
              <a:blipFill>
                <a:blip r:embed="rId11"/>
                <a:stretch>
                  <a:fillRect l="-1100" b="-122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7988" name="Object 4"/>
          <p:cNvGraphicFramePr>
            <a:graphicFrameLocks noChangeAspect="1"/>
          </p:cNvGraphicFramePr>
          <p:nvPr/>
        </p:nvGraphicFramePr>
        <p:xfrm>
          <a:off x="2745599" y="4266453"/>
          <a:ext cx="4344405" cy="1491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22500" imgH="762000" progId="Equation.3">
                  <p:embed/>
                </p:oleObj>
              </mc:Choice>
              <mc:Fallback>
                <p:oleObj name="Equation" r:id="rId12" imgW="2222500" imgH="762000" progId="Equation.3">
                  <p:embed/>
                  <p:pic>
                    <p:nvPicPr>
                      <p:cNvPr id="2979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5599" y="4266453"/>
                        <a:ext cx="4344405" cy="1491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63" name="Rectangle 11"/>
          <p:cNvSpPr>
            <a:spLocks noChangeArrowheads="1"/>
          </p:cNvSpPr>
          <p:nvPr/>
        </p:nvSpPr>
        <p:spPr bwMode="auto">
          <a:xfrm>
            <a:off x="8961411" y="3809147"/>
            <a:ext cx="1370330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/>
              <a:t>，</a:t>
            </a:r>
            <a:r>
              <a:rPr lang="en-US" altLang="zh-CN" sz="2400" dirty="0"/>
              <a:t>(n</a:t>
            </a:r>
            <a:r>
              <a:rPr lang="en-US" altLang="zh-CN" sz="2400" dirty="0">
                <a:sym typeface="Symbol" panose="05050102010706020507" pitchFamily="18" charset="2"/>
              </a:rPr>
              <a:t></a:t>
            </a:r>
            <a:r>
              <a:rPr lang="en-US" altLang="zh-CN" sz="2400" dirty="0"/>
              <a:t>3)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7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9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9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9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9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7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7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9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9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5" grpId="0" build="p" autoUpdateAnimBg="0" advAuto="0"/>
      <p:bldP spid="279556" grpId="0" autoUpdateAnimBg="0"/>
      <p:bldP spid="279561" grpId="0" autoUpdateAnimBg="0"/>
      <p:bldP spid="279563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3(</a:t>
            </a:r>
            <a:r>
              <a:rPr lang="zh-CN" altLang="en-US"/>
              <a:t>续</a:t>
            </a:r>
            <a:r>
              <a:rPr lang="en-US" altLang="zh-CN"/>
              <a:t>2)</a:t>
            </a:r>
          </a:p>
        </p:txBody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2593" y="959314"/>
            <a:ext cx="7774199" cy="660923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故状态</a:t>
            </a:r>
            <a:r>
              <a:rPr lang="en-US" altLang="zh-CN" dirty="0"/>
              <a:t>2</a:t>
            </a:r>
            <a:r>
              <a:rPr lang="zh-CN" altLang="en-US" dirty="0"/>
              <a:t>为正常返状态。</a:t>
            </a:r>
          </a:p>
        </p:txBody>
      </p:sp>
      <p:sp>
        <p:nvSpPr>
          <p:cNvPr id="280580" name="Rectangle 4"/>
          <p:cNvSpPr>
            <a:spLocks noChangeArrowheads="1"/>
          </p:cNvSpPr>
          <p:nvPr/>
        </p:nvSpPr>
        <p:spPr bwMode="auto">
          <a:xfrm>
            <a:off x="999397" y="5175344"/>
            <a:ext cx="10439400" cy="168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    </a:t>
            </a:r>
            <a:r>
              <a:rPr lang="zh-CN" altLang="en-US" sz="2400" dirty="0">
                <a:latin typeface="+mn-ea"/>
                <a:ea typeface="+mn-ea"/>
              </a:rPr>
              <a:t>该齐次马氏链的状态空间分解为</a:t>
            </a:r>
            <a:r>
              <a:rPr lang="en-US" altLang="zh-CN" sz="2400" dirty="0">
                <a:latin typeface="+mn-ea"/>
                <a:ea typeface="+mn-ea"/>
              </a:rPr>
              <a:t>E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＋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＋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其中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{4}</a:t>
            </a:r>
            <a:r>
              <a:rPr lang="zh-CN" altLang="en-US" sz="2400" dirty="0">
                <a:latin typeface="+mn-ea"/>
                <a:ea typeface="+mn-ea"/>
              </a:rPr>
              <a:t>为非常返集；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{1, 3, 5}</a:t>
            </a:r>
            <a:r>
              <a:rPr lang="zh-CN" altLang="en-US" sz="2400" dirty="0">
                <a:latin typeface="+mn-ea"/>
                <a:ea typeface="+mn-ea"/>
              </a:rPr>
              <a:t>为周期为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en-US" sz="2400" dirty="0">
                <a:latin typeface="+mn-ea"/>
                <a:ea typeface="+mn-ea"/>
              </a:rPr>
              <a:t>的正常返闭集；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{2, 6}</a:t>
            </a:r>
            <a:r>
              <a:rPr lang="zh-CN" altLang="en-US" sz="2400" dirty="0">
                <a:latin typeface="+mn-ea"/>
                <a:ea typeface="+mn-ea"/>
              </a:rPr>
              <a:t>为非周期、正常返遍历的闭集。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0581" name="Rectangle 5"/>
              <p:cNvSpPr>
                <a:spLocks noChangeArrowheads="1"/>
              </p:cNvSpPr>
              <p:nvPr/>
            </p:nvSpPr>
            <p:spPr bwMode="auto">
              <a:xfrm>
                <a:off x="992593" y="1460286"/>
                <a:ext cx="10134600" cy="1684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400" dirty="0">
                    <a:latin typeface="+mn-ea"/>
                    <a:ea typeface="+mn-ea"/>
                  </a:rPr>
                  <a:t>    p</a:t>
                </a:r>
                <a:r>
                  <a:rPr lang="en-US" altLang="zh-CN" sz="2400" baseline="-25000" dirty="0">
                    <a:latin typeface="+mn-ea"/>
                    <a:ea typeface="+mn-ea"/>
                  </a:rPr>
                  <a:t>66</a:t>
                </a:r>
                <a:r>
                  <a:rPr lang="en-US" altLang="zh-CN" sz="2400" dirty="0">
                    <a:latin typeface="+mn-ea"/>
                    <a:ea typeface="+mn-ea"/>
                  </a:rPr>
                  <a:t>(1)&gt;0</a:t>
                </a:r>
                <a:r>
                  <a:rPr lang="zh-CN" altLang="en-US" sz="2400" dirty="0">
                    <a:latin typeface="+mn-ea"/>
                    <a:ea typeface="+mn-ea"/>
                  </a:rPr>
                  <a:t>，故状态</a:t>
                </a:r>
                <a:r>
                  <a:rPr lang="en-US" altLang="zh-CN" sz="2400" dirty="0">
                    <a:latin typeface="+mn-ea"/>
                    <a:ea typeface="+mn-ea"/>
                  </a:rPr>
                  <a:t>6</a:t>
                </a:r>
                <a:r>
                  <a:rPr lang="zh-CN" altLang="en-US" sz="2400" dirty="0">
                    <a:latin typeface="+mn-ea"/>
                    <a:ea typeface="+mn-ea"/>
                  </a:rPr>
                  <a:t>为非周期状态。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zh-CN" altLang="en-US" sz="2400" dirty="0">
                    <a:latin typeface="+mn-ea"/>
                    <a:ea typeface="+mn-ea"/>
                  </a:rPr>
                  <a:t>    </a:t>
                </a:r>
                <a:r>
                  <a:rPr lang="en-US" altLang="zh-CN" sz="2400" dirty="0">
                    <a:latin typeface="+mn-ea"/>
                    <a:ea typeface="+mn-ea"/>
                  </a:rPr>
                  <a:t>2</a:t>
                </a:r>
                <a:r>
                  <a:rPr lang="en-US" altLang="zh-CN" sz="2400" dirty="0">
                    <a:solidFill>
                      <a:srgbClr val="CC00CC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⟷</m:t>
                    </m:r>
                    <m:r>
                      <a:rPr lang="en-US" altLang="zh-CN" sz="2400" i="1">
                        <a:solidFill>
                          <a:srgbClr val="CC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+mn-ea"/>
                    <a:ea typeface="+mn-ea"/>
                    <a:sym typeface="Symbol" panose="05050102010706020507" pitchFamily="18" charset="2"/>
                  </a:rPr>
                  <a:t>6</a:t>
                </a:r>
                <a:r>
                  <a:rPr lang="zh-CN" altLang="en-US" sz="2400" dirty="0">
                    <a:latin typeface="+mn-ea"/>
                    <a:ea typeface="+mn-ea"/>
                    <a:sym typeface="Symbol" panose="05050102010706020507" pitchFamily="18" charset="2"/>
                  </a:rPr>
                  <a:t>，从而状态</a:t>
                </a:r>
                <a:r>
                  <a:rPr lang="en-US" altLang="zh-CN" sz="2400" dirty="0">
                    <a:latin typeface="+mn-ea"/>
                    <a:ea typeface="+mn-ea"/>
                    <a:sym typeface="Symbol" panose="05050102010706020507" pitchFamily="18" charset="2"/>
                  </a:rPr>
                  <a:t>2</a:t>
                </a:r>
                <a:r>
                  <a:rPr lang="zh-CN" altLang="en-US" sz="2400" dirty="0">
                    <a:latin typeface="+mn-ea"/>
                    <a:ea typeface="+mn-ea"/>
                    <a:sym typeface="Symbol" panose="05050102010706020507" pitchFamily="18" charset="2"/>
                  </a:rPr>
                  <a:t>与状态</a:t>
                </a:r>
                <a:r>
                  <a:rPr lang="en-US" altLang="zh-CN" sz="2400" dirty="0">
                    <a:latin typeface="+mn-ea"/>
                    <a:ea typeface="+mn-ea"/>
                    <a:sym typeface="Symbol" panose="05050102010706020507" pitchFamily="18" charset="2"/>
                  </a:rPr>
                  <a:t>6</a:t>
                </a:r>
                <a:r>
                  <a:rPr lang="zh-CN" altLang="en-US" sz="2400" dirty="0">
                    <a:latin typeface="+mn-ea"/>
                    <a:ea typeface="+mn-ea"/>
                    <a:sym typeface="Symbol" panose="05050102010706020507" pitchFamily="18" charset="2"/>
                  </a:rPr>
                  <a:t>有相同的状态性质，它们都是非周期、正常返、遍历状态，故</a:t>
                </a:r>
                <a:r>
                  <a:rPr lang="en-US" altLang="zh-CN" sz="2400" dirty="0">
                    <a:latin typeface="+mn-ea"/>
                    <a:ea typeface="+mn-ea"/>
                    <a:sym typeface="Symbol" panose="05050102010706020507" pitchFamily="18" charset="2"/>
                  </a:rPr>
                  <a:t>C</a:t>
                </a:r>
                <a:r>
                  <a:rPr lang="en-US" altLang="zh-CN" sz="2400" baseline="-25000" dirty="0">
                    <a:latin typeface="+mn-ea"/>
                    <a:ea typeface="+mn-ea"/>
                    <a:sym typeface="Symbol" panose="05050102010706020507" pitchFamily="18" charset="2"/>
                  </a:rPr>
                  <a:t>2</a:t>
                </a:r>
                <a:r>
                  <a:rPr lang="en-US" altLang="zh-CN" sz="2400" dirty="0">
                    <a:latin typeface="+mn-ea"/>
                    <a:ea typeface="+mn-ea"/>
                    <a:sym typeface="Symbol" panose="05050102010706020507" pitchFamily="18" charset="2"/>
                  </a:rPr>
                  <a:t>={2, 6}</a:t>
                </a:r>
                <a:r>
                  <a:rPr lang="zh-CN" altLang="en-US" sz="2400" dirty="0">
                    <a:latin typeface="+mn-ea"/>
                    <a:ea typeface="+mn-ea"/>
                  </a:rPr>
                  <a:t>是非</a:t>
                </a:r>
                <a:r>
                  <a:rPr lang="zh-CN" altLang="en-US" sz="2400" dirty="0">
                    <a:latin typeface="+mn-ea"/>
                    <a:ea typeface="+mn-ea"/>
                    <a:sym typeface="Symbol" panose="05050102010706020507" pitchFamily="18" charset="2"/>
                  </a:rPr>
                  <a:t>周期、正常返、遍历</a:t>
                </a:r>
                <a:r>
                  <a:rPr lang="zh-CN" altLang="en-US" sz="2400" dirty="0">
                    <a:latin typeface="+mn-ea"/>
                    <a:ea typeface="+mn-ea"/>
                  </a:rPr>
                  <a:t>闭集。</a:t>
                </a:r>
              </a:p>
            </p:txBody>
          </p:sp>
        </mc:Choice>
        <mc:Fallback xmlns="">
          <p:sp>
            <p:nvSpPr>
              <p:cNvPr id="280581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2593" y="1460286"/>
                <a:ext cx="10134600" cy="1684244"/>
              </a:xfrm>
              <a:prstGeom prst="rect">
                <a:avLst/>
              </a:prstGeom>
              <a:blipFill>
                <a:blip r:embed="rId2"/>
                <a:stretch>
                  <a:fillRect l="-1001" b="-82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0582" name="Object 6"/>
          <p:cNvGraphicFramePr>
            <a:graphicFrameLocks noChangeAspect="1"/>
          </p:cNvGraphicFramePr>
          <p:nvPr/>
        </p:nvGraphicFramePr>
        <p:xfrm>
          <a:off x="2745599" y="3236522"/>
          <a:ext cx="6021193" cy="843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86100" imgH="431800" progId="Equation.3">
                  <p:embed/>
                </p:oleObj>
              </mc:Choice>
              <mc:Fallback>
                <p:oleObj name="Equation" r:id="rId3" imgW="3086100" imgH="431800" progId="Equation.3">
                  <p:embed/>
                  <p:pic>
                    <p:nvPicPr>
                      <p:cNvPr id="2805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5599" y="3236522"/>
                        <a:ext cx="6021193" cy="8431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3" name="Rectangle 7"/>
          <p:cNvSpPr>
            <a:spLocks noChangeArrowheads="1"/>
          </p:cNvSpPr>
          <p:nvPr/>
        </p:nvSpPr>
        <p:spPr bwMode="auto">
          <a:xfrm>
            <a:off x="1146175" y="3963318"/>
            <a:ext cx="9068752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故状态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en-US" sz="2400" dirty="0">
                <a:latin typeface="+mn-ea"/>
                <a:ea typeface="+mn-ea"/>
              </a:rPr>
              <a:t>为非常返状态。由于</a:t>
            </a:r>
            <a:r>
              <a:rPr lang="en-US" altLang="zh-CN" sz="2400" dirty="0">
                <a:latin typeface="+mn-ea"/>
                <a:ea typeface="+mn-ea"/>
              </a:rPr>
              <a:t>f</a:t>
            </a:r>
            <a:r>
              <a:rPr lang="en-US" altLang="zh-CN" sz="2400" baseline="-25000" dirty="0">
                <a:latin typeface="+mn-ea"/>
                <a:ea typeface="+mn-ea"/>
              </a:rPr>
              <a:t>44</a:t>
            </a:r>
            <a:r>
              <a:rPr lang="en-US" altLang="zh-CN" sz="2400" dirty="0">
                <a:latin typeface="+mn-ea"/>
                <a:ea typeface="+mn-ea"/>
              </a:rPr>
              <a:t>(1)&gt;0</a:t>
            </a:r>
            <a:r>
              <a:rPr lang="zh-CN" altLang="en-US" sz="2400" dirty="0">
                <a:latin typeface="+mn-ea"/>
                <a:ea typeface="+mn-ea"/>
              </a:rPr>
              <a:t>，故状态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en-US" sz="2400" dirty="0">
                <a:latin typeface="+mn-ea"/>
                <a:ea typeface="+mn-ea"/>
              </a:rPr>
              <a:t>为非周期状态。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={4}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为</a:t>
            </a:r>
            <a:r>
              <a:rPr lang="zh-CN" altLang="en-US" sz="2400" dirty="0">
                <a:latin typeface="+mn-ea"/>
                <a:ea typeface="+mn-ea"/>
              </a:rPr>
              <a:t>非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周期非常返</a:t>
            </a:r>
            <a:r>
              <a:rPr lang="zh-CN" altLang="en-US" sz="2400" dirty="0">
                <a:latin typeface="+mn-ea"/>
                <a:ea typeface="+mn-ea"/>
              </a:rPr>
              <a:t>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0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0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9" grpId="0" build="p" autoUpdateAnimBg="0" advAuto="0"/>
      <p:bldP spid="280580" grpId="0" autoUpdateAnimBg="0"/>
      <p:bldP spid="280581" grpId="0" autoUpdateAnimBg="0"/>
      <p:bldP spid="280583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4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009885"/>
            <a:ext cx="9906000" cy="101623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zh-CN" altLang="en-US" dirty="0"/>
              <a:t>设齐次马氏链的状态空间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{0, 1, 2, …}</a:t>
            </a:r>
            <a:r>
              <a:rPr lang="zh-CN" altLang="en-US" dirty="0"/>
              <a:t>，转移概率为</a:t>
            </a:r>
          </a:p>
        </p:txBody>
      </p:sp>
      <p:graphicFrame>
        <p:nvGraphicFramePr>
          <p:cNvPr id="295936" name="Object 0"/>
          <p:cNvGraphicFramePr>
            <a:graphicFrameLocks noChangeAspect="1"/>
          </p:cNvGraphicFramePr>
          <p:nvPr/>
        </p:nvGraphicFramePr>
        <p:xfrm>
          <a:off x="4417035" y="3984318"/>
          <a:ext cx="3240838" cy="2794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3100" imgH="1676400" progId="Equation.3">
                  <p:embed/>
                </p:oleObj>
              </mc:Choice>
              <mc:Fallback>
                <p:oleObj name="Equation" r:id="rId2" imgW="1943100" imgH="1676400" progId="Equation.3">
                  <p:embed/>
                  <p:pic>
                    <p:nvPicPr>
                      <p:cNvPr id="295936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7035" y="3984318"/>
                        <a:ext cx="3240838" cy="27946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5" name="Rectangle 5"/>
          <p:cNvSpPr>
            <a:spLocks noChangeArrowheads="1"/>
          </p:cNvSpPr>
          <p:nvPr/>
        </p:nvSpPr>
        <p:spPr bwMode="auto">
          <a:xfrm>
            <a:off x="2482807" y="2827400"/>
            <a:ext cx="22420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状态转移图</a:t>
            </a:r>
          </a:p>
        </p:txBody>
      </p:sp>
      <p:sp>
        <p:nvSpPr>
          <p:cNvPr id="276487" name="Rectangle 7"/>
          <p:cNvSpPr>
            <a:spLocks noChangeArrowheads="1"/>
          </p:cNvSpPr>
          <p:nvPr/>
        </p:nvSpPr>
        <p:spPr bwMode="auto">
          <a:xfrm>
            <a:off x="2817531" y="5078359"/>
            <a:ext cx="1422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转移矩阵</a:t>
            </a:r>
          </a:p>
        </p:txBody>
      </p:sp>
      <p:graphicFrame>
        <p:nvGraphicFramePr>
          <p:cNvPr id="45065" name="Object 1"/>
          <p:cNvGraphicFramePr>
            <a:graphicFrameLocks noChangeAspect="1"/>
          </p:cNvGraphicFramePr>
          <p:nvPr/>
        </p:nvGraphicFramePr>
        <p:xfrm>
          <a:off x="4080995" y="1503010"/>
          <a:ext cx="3048706" cy="839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73200" imgH="406400" progId="Equation.3">
                  <p:embed/>
                </p:oleObj>
              </mc:Choice>
              <mc:Fallback>
                <p:oleObj name="Equation" r:id="rId4" imgW="1473200" imgH="406400" progId="Equation.3">
                  <p:embed/>
                  <p:pic>
                    <p:nvPicPr>
                      <p:cNvPr id="4506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0995" y="1503010"/>
                        <a:ext cx="3048706" cy="839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5305242" y="2986779"/>
            <a:ext cx="360446" cy="457306"/>
            <a:chOff x="2380" y="1964"/>
            <a:chExt cx="227" cy="288"/>
          </a:xfrm>
        </p:grpSpPr>
        <p:sp>
          <p:nvSpPr>
            <p:cNvPr id="45105" name="Oval 9"/>
            <p:cNvSpPr>
              <a:spLocks noChangeArrowheads="1"/>
            </p:cNvSpPr>
            <p:nvPr/>
          </p:nvSpPr>
          <p:spPr bwMode="auto">
            <a:xfrm>
              <a:off x="2380" y="199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5106" name="Rectangle 10"/>
            <p:cNvSpPr>
              <a:spLocks noChangeArrowheads="1"/>
            </p:cNvSpPr>
            <p:nvPr/>
          </p:nvSpPr>
          <p:spPr bwMode="auto">
            <a:xfrm>
              <a:off x="2395" y="19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0</a:t>
              </a:r>
            </a:p>
          </p:txBody>
        </p:sp>
      </p:grp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6429452" y="2986779"/>
            <a:ext cx="360446" cy="457306"/>
            <a:chOff x="3088" y="1964"/>
            <a:chExt cx="227" cy="288"/>
          </a:xfrm>
        </p:grpSpPr>
        <p:sp>
          <p:nvSpPr>
            <p:cNvPr id="45103" name="Oval 11"/>
            <p:cNvSpPr>
              <a:spLocks noChangeArrowheads="1"/>
            </p:cNvSpPr>
            <p:nvPr/>
          </p:nvSpPr>
          <p:spPr bwMode="auto">
            <a:xfrm>
              <a:off x="3088" y="199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5104" name="Rectangle 12"/>
            <p:cNvSpPr>
              <a:spLocks noChangeArrowheads="1"/>
            </p:cNvSpPr>
            <p:nvPr/>
          </p:nvSpPr>
          <p:spPr bwMode="auto">
            <a:xfrm>
              <a:off x="3103" y="19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7553662" y="2986779"/>
            <a:ext cx="360446" cy="457306"/>
            <a:chOff x="3796" y="1964"/>
            <a:chExt cx="227" cy="288"/>
          </a:xfrm>
        </p:grpSpPr>
        <p:sp>
          <p:nvSpPr>
            <p:cNvPr id="45101" name="Oval 13"/>
            <p:cNvSpPr>
              <a:spLocks noChangeArrowheads="1"/>
            </p:cNvSpPr>
            <p:nvPr/>
          </p:nvSpPr>
          <p:spPr bwMode="auto">
            <a:xfrm>
              <a:off x="3796" y="199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5102" name="Rectangle 14"/>
            <p:cNvSpPr>
              <a:spLocks noChangeArrowheads="1"/>
            </p:cNvSpPr>
            <p:nvPr/>
          </p:nvSpPr>
          <p:spPr bwMode="auto">
            <a:xfrm>
              <a:off x="3811" y="19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2</a:t>
              </a:r>
            </a:p>
          </p:txBody>
        </p:sp>
      </p:grp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8679460" y="2986779"/>
            <a:ext cx="360445" cy="457306"/>
            <a:chOff x="4505" y="1964"/>
            <a:chExt cx="227" cy="288"/>
          </a:xfrm>
        </p:grpSpPr>
        <p:sp>
          <p:nvSpPr>
            <p:cNvPr id="45099" name="Oval 15"/>
            <p:cNvSpPr>
              <a:spLocks noChangeArrowheads="1"/>
            </p:cNvSpPr>
            <p:nvPr/>
          </p:nvSpPr>
          <p:spPr bwMode="auto">
            <a:xfrm>
              <a:off x="4505" y="199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5100" name="Rectangle 16"/>
            <p:cNvSpPr>
              <a:spLocks noChangeArrowheads="1"/>
            </p:cNvSpPr>
            <p:nvPr/>
          </p:nvSpPr>
          <p:spPr bwMode="auto">
            <a:xfrm>
              <a:off x="4520" y="19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3</a:t>
              </a:r>
            </a:p>
          </p:txBody>
        </p:sp>
      </p:grpSp>
      <p:sp>
        <p:nvSpPr>
          <p:cNvPr id="276504" name="Rectangle 24"/>
          <p:cNvSpPr>
            <a:spLocks noChangeArrowheads="1"/>
          </p:cNvSpPr>
          <p:nvPr/>
        </p:nvSpPr>
        <p:spPr bwMode="auto">
          <a:xfrm>
            <a:off x="9802082" y="2972488"/>
            <a:ext cx="489063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/>
              <a:t>…</a:t>
            </a:r>
          </a:p>
        </p:txBody>
      </p: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5686330" y="2881981"/>
            <a:ext cx="762176" cy="651026"/>
            <a:chOff x="2620" y="1898"/>
            <a:chExt cx="480" cy="410"/>
          </a:xfrm>
        </p:grpSpPr>
        <p:sp>
          <p:nvSpPr>
            <p:cNvPr id="45097" name="Arc 17"/>
            <p:cNvSpPr>
              <a:spLocks/>
            </p:cNvSpPr>
            <p:nvPr/>
          </p:nvSpPr>
          <p:spPr bwMode="auto">
            <a:xfrm flipH="1" flipV="1">
              <a:off x="2620" y="2138"/>
              <a:ext cx="480" cy="144"/>
            </a:xfrm>
            <a:custGeom>
              <a:avLst/>
              <a:gdLst>
                <a:gd name="T0" fmla="*/ 0 w 42764"/>
                <a:gd name="T1" fmla="*/ 0 h 21600"/>
                <a:gd name="T2" fmla="*/ 0 w 42764"/>
                <a:gd name="T3" fmla="*/ 0 h 21600"/>
                <a:gd name="T4" fmla="*/ 0 w 42764"/>
                <a:gd name="T5" fmla="*/ 0 h 21600"/>
                <a:gd name="T6" fmla="*/ 0 60000 65536"/>
                <a:gd name="T7" fmla="*/ 0 60000 65536"/>
                <a:gd name="T8" fmla="*/ 0 60000 65536"/>
                <a:gd name="T9" fmla="*/ 0 w 42764"/>
                <a:gd name="T10" fmla="*/ 0 h 21600"/>
                <a:gd name="T11" fmla="*/ 42764 w 427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764" h="21600" fill="none" extrusionOk="0">
                  <a:moveTo>
                    <a:pt x="-1" y="17283"/>
                  </a:moveTo>
                  <a:cubicBezTo>
                    <a:pt x="2050" y="7225"/>
                    <a:pt x="10898" y="-1"/>
                    <a:pt x="21164" y="0"/>
                  </a:cubicBezTo>
                  <a:cubicBezTo>
                    <a:pt x="33093" y="0"/>
                    <a:pt x="42764" y="9670"/>
                    <a:pt x="42764" y="21600"/>
                  </a:cubicBezTo>
                </a:path>
                <a:path w="42764" h="21600" stroke="0" extrusionOk="0">
                  <a:moveTo>
                    <a:pt x="-1" y="17283"/>
                  </a:moveTo>
                  <a:cubicBezTo>
                    <a:pt x="2050" y="7225"/>
                    <a:pt x="10898" y="-1"/>
                    <a:pt x="21164" y="0"/>
                  </a:cubicBezTo>
                  <a:cubicBezTo>
                    <a:pt x="33093" y="0"/>
                    <a:pt x="42764" y="9670"/>
                    <a:pt x="42764" y="21600"/>
                  </a:cubicBezTo>
                  <a:lnTo>
                    <a:pt x="21164" y="21600"/>
                  </a:lnTo>
                  <a:lnTo>
                    <a:pt x="-1" y="1728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098" name="Object 10"/>
            <p:cNvGraphicFramePr>
              <a:graphicFrameLocks noChangeAspect="1"/>
            </p:cNvGraphicFramePr>
            <p:nvPr/>
          </p:nvGraphicFramePr>
          <p:xfrm>
            <a:off x="2764" y="1898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68" imgH="406048" progId="Equation.3">
                    <p:embed/>
                  </p:oleObj>
                </mc:Choice>
                <mc:Fallback>
                  <p:oleObj name="Equation" r:id="rId6" imgW="152268" imgH="406048" progId="Equation.3">
                    <p:embed/>
                    <p:pic>
                      <p:nvPicPr>
                        <p:cNvPr id="45098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1898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55"/>
          <p:cNvGrpSpPr>
            <a:grpSpLocks/>
          </p:cNvGrpSpPr>
          <p:nvPr/>
        </p:nvGrpSpPr>
        <p:grpSpPr bwMode="auto">
          <a:xfrm>
            <a:off x="5605348" y="2881981"/>
            <a:ext cx="2132506" cy="720892"/>
            <a:chOff x="2545" y="1898"/>
            <a:chExt cx="1343" cy="454"/>
          </a:xfrm>
        </p:grpSpPr>
        <p:sp>
          <p:nvSpPr>
            <p:cNvPr id="45095" name="Arc 18"/>
            <p:cNvSpPr>
              <a:spLocks/>
            </p:cNvSpPr>
            <p:nvPr/>
          </p:nvSpPr>
          <p:spPr bwMode="auto">
            <a:xfrm flipH="1" flipV="1">
              <a:off x="2545" y="2208"/>
              <a:ext cx="1343" cy="144"/>
            </a:xfrm>
            <a:custGeom>
              <a:avLst/>
              <a:gdLst>
                <a:gd name="T0" fmla="*/ 0 w 42274"/>
                <a:gd name="T1" fmla="*/ 0 h 21600"/>
                <a:gd name="T2" fmla="*/ 0 w 42274"/>
                <a:gd name="T3" fmla="*/ 0 h 21600"/>
                <a:gd name="T4" fmla="*/ 0 w 42274"/>
                <a:gd name="T5" fmla="*/ 0 h 21600"/>
                <a:gd name="T6" fmla="*/ 0 60000 65536"/>
                <a:gd name="T7" fmla="*/ 0 60000 65536"/>
                <a:gd name="T8" fmla="*/ 0 60000 65536"/>
                <a:gd name="T9" fmla="*/ 0 w 42274"/>
                <a:gd name="T10" fmla="*/ 0 h 21600"/>
                <a:gd name="T11" fmla="*/ 42274 w 422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274" h="21600" fill="none" extrusionOk="0">
                  <a:moveTo>
                    <a:pt x="0" y="15343"/>
                  </a:moveTo>
                  <a:cubicBezTo>
                    <a:pt x="2757" y="6231"/>
                    <a:pt x="11154" y="-1"/>
                    <a:pt x="20674" y="0"/>
                  </a:cubicBezTo>
                  <a:cubicBezTo>
                    <a:pt x="32603" y="0"/>
                    <a:pt x="42274" y="9670"/>
                    <a:pt x="42274" y="21600"/>
                  </a:cubicBezTo>
                </a:path>
                <a:path w="42274" h="21600" stroke="0" extrusionOk="0">
                  <a:moveTo>
                    <a:pt x="0" y="15343"/>
                  </a:moveTo>
                  <a:cubicBezTo>
                    <a:pt x="2757" y="6231"/>
                    <a:pt x="11154" y="-1"/>
                    <a:pt x="20674" y="0"/>
                  </a:cubicBezTo>
                  <a:cubicBezTo>
                    <a:pt x="32603" y="0"/>
                    <a:pt x="42274" y="9670"/>
                    <a:pt x="42274" y="21600"/>
                  </a:cubicBezTo>
                  <a:lnTo>
                    <a:pt x="20674" y="21600"/>
                  </a:lnTo>
                  <a:lnTo>
                    <a:pt x="0" y="1534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096" name="Object 9"/>
            <p:cNvGraphicFramePr>
              <a:graphicFrameLocks noChangeAspect="1"/>
            </p:cNvGraphicFramePr>
            <p:nvPr/>
          </p:nvGraphicFramePr>
          <p:xfrm>
            <a:off x="3484" y="1898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68" imgH="406048" progId="Equation.3">
                    <p:embed/>
                  </p:oleObj>
                </mc:Choice>
                <mc:Fallback>
                  <p:oleObj name="Equation" r:id="rId6" imgW="152268" imgH="406048" progId="Equation.3">
                    <p:embed/>
                    <p:pic>
                      <p:nvPicPr>
                        <p:cNvPr id="45096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4" y="1898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59"/>
          <p:cNvGrpSpPr>
            <a:grpSpLocks/>
          </p:cNvGrpSpPr>
          <p:nvPr/>
        </p:nvGrpSpPr>
        <p:grpSpPr bwMode="auto">
          <a:xfrm>
            <a:off x="5532307" y="2993132"/>
            <a:ext cx="3348812" cy="782818"/>
            <a:chOff x="2523" y="1968"/>
            <a:chExt cx="2109" cy="493"/>
          </a:xfrm>
        </p:grpSpPr>
        <p:sp>
          <p:nvSpPr>
            <p:cNvPr id="45093" name="Arc 32"/>
            <p:cNvSpPr>
              <a:spLocks/>
            </p:cNvSpPr>
            <p:nvPr/>
          </p:nvSpPr>
          <p:spPr bwMode="auto">
            <a:xfrm flipH="1" flipV="1">
              <a:off x="2523" y="2220"/>
              <a:ext cx="2109" cy="241"/>
            </a:xfrm>
            <a:custGeom>
              <a:avLst/>
              <a:gdLst>
                <a:gd name="T0" fmla="*/ 0 w 43200"/>
                <a:gd name="T1" fmla="*/ 0 h 21692"/>
                <a:gd name="T2" fmla="*/ 0 w 43200"/>
                <a:gd name="T3" fmla="*/ 0 h 21692"/>
                <a:gd name="T4" fmla="*/ 0 w 43200"/>
                <a:gd name="T5" fmla="*/ 0 h 21692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92"/>
                <a:gd name="T11" fmla="*/ 43200 w 43200"/>
                <a:gd name="T12" fmla="*/ 21692 h 216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92" fill="none" extrusionOk="0">
                  <a:moveTo>
                    <a:pt x="0" y="21691"/>
                  </a:moveTo>
                  <a:cubicBezTo>
                    <a:pt x="0" y="21661"/>
                    <a:pt x="0" y="2163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1692" stroke="0" extrusionOk="0">
                  <a:moveTo>
                    <a:pt x="0" y="21691"/>
                  </a:moveTo>
                  <a:cubicBezTo>
                    <a:pt x="0" y="21661"/>
                    <a:pt x="0" y="2163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0" y="216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094" name="Object 8"/>
            <p:cNvGraphicFramePr>
              <a:graphicFrameLocks noChangeAspect="1"/>
            </p:cNvGraphicFramePr>
            <p:nvPr/>
          </p:nvGraphicFramePr>
          <p:xfrm>
            <a:off x="4238" y="1968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68" imgH="406048" progId="Equation.3">
                    <p:embed/>
                  </p:oleObj>
                </mc:Choice>
                <mc:Fallback>
                  <p:oleObj name="Equation" r:id="rId6" imgW="152268" imgH="406048" progId="Equation.3">
                    <p:embed/>
                    <p:pic>
                      <p:nvPicPr>
                        <p:cNvPr id="45094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8" y="1968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60"/>
          <p:cNvGrpSpPr>
            <a:grpSpLocks/>
          </p:cNvGrpSpPr>
          <p:nvPr/>
        </p:nvGrpSpPr>
        <p:grpSpPr bwMode="auto">
          <a:xfrm>
            <a:off x="5489434" y="3034416"/>
            <a:ext cx="4344405" cy="800285"/>
            <a:chOff x="2496" y="1994"/>
            <a:chExt cx="2736" cy="504"/>
          </a:xfrm>
        </p:grpSpPr>
        <p:sp>
          <p:nvSpPr>
            <p:cNvPr id="45091" name="Arc 37"/>
            <p:cNvSpPr>
              <a:spLocks/>
            </p:cNvSpPr>
            <p:nvPr/>
          </p:nvSpPr>
          <p:spPr bwMode="auto">
            <a:xfrm flipH="1" flipV="1">
              <a:off x="2496" y="2258"/>
              <a:ext cx="2736" cy="240"/>
            </a:xfrm>
            <a:custGeom>
              <a:avLst/>
              <a:gdLst>
                <a:gd name="T0" fmla="*/ 0 w 43200"/>
                <a:gd name="T1" fmla="*/ 0 h 21601"/>
                <a:gd name="T2" fmla="*/ 0 w 43200"/>
                <a:gd name="T3" fmla="*/ 0 h 21601"/>
                <a:gd name="T4" fmla="*/ 0 w 43200"/>
                <a:gd name="T5" fmla="*/ 0 h 21601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01"/>
                <a:gd name="T11" fmla="*/ 43200 w 43200"/>
                <a:gd name="T12" fmla="*/ 21601 h 216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01" fill="none" extrusionOk="0">
                  <a:moveTo>
                    <a:pt x="0" y="21600"/>
                  </a:moveTo>
                  <a:cubicBezTo>
                    <a:pt x="0" y="21600"/>
                    <a:pt x="0" y="216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1601" stroke="0" extrusionOk="0">
                  <a:moveTo>
                    <a:pt x="0" y="21600"/>
                  </a:moveTo>
                  <a:cubicBezTo>
                    <a:pt x="0" y="21600"/>
                    <a:pt x="0" y="216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092" name="Object 7"/>
            <p:cNvGraphicFramePr>
              <a:graphicFrameLocks noChangeAspect="1"/>
            </p:cNvGraphicFramePr>
            <p:nvPr/>
          </p:nvGraphicFramePr>
          <p:xfrm>
            <a:off x="4944" y="1994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68" imgH="406048" progId="Equation.3">
                    <p:embed/>
                  </p:oleObj>
                </mc:Choice>
                <mc:Fallback>
                  <p:oleObj name="Equation" r:id="rId6" imgW="152268" imgH="406048" progId="Equation.3">
                    <p:embed/>
                    <p:pic>
                      <p:nvPicPr>
                        <p:cNvPr id="45092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994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45"/>
          <p:cNvGrpSpPr>
            <a:grpSpLocks/>
          </p:cNvGrpSpPr>
          <p:nvPr/>
        </p:nvGrpSpPr>
        <p:grpSpPr bwMode="auto">
          <a:xfrm>
            <a:off x="4771718" y="2748600"/>
            <a:ext cx="601802" cy="651026"/>
            <a:chOff x="2044" y="1814"/>
            <a:chExt cx="379" cy="410"/>
          </a:xfrm>
        </p:grpSpPr>
        <p:graphicFrame>
          <p:nvGraphicFramePr>
            <p:cNvPr id="45089" name="Object 6"/>
            <p:cNvGraphicFramePr>
              <a:graphicFrameLocks noChangeAspect="1"/>
            </p:cNvGraphicFramePr>
            <p:nvPr/>
          </p:nvGraphicFramePr>
          <p:xfrm>
            <a:off x="2044" y="1814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68" imgH="406048" progId="Equation.3">
                    <p:embed/>
                  </p:oleObj>
                </mc:Choice>
                <mc:Fallback>
                  <p:oleObj name="Equation" r:id="rId8" imgW="152268" imgH="406048" progId="Equation.3">
                    <p:embed/>
                    <p:pic>
                      <p:nvPicPr>
                        <p:cNvPr id="45089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4" y="1814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90" name="Arc 39"/>
            <p:cNvSpPr>
              <a:spLocks/>
            </p:cNvSpPr>
            <p:nvPr/>
          </p:nvSpPr>
          <p:spPr bwMode="auto">
            <a:xfrm flipH="1">
              <a:off x="2196" y="1908"/>
              <a:ext cx="227" cy="227"/>
            </a:xfrm>
            <a:custGeom>
              <a:avLst/>
              <a:gdLst>
                <a:gd name="T0" fmla="*/ 0 w 42555"/>
                <a:gd name="T1" fmla="*/ 0 h 43200"/>
                <a:gd name="T2" fmla="*/ 0 w 42555"/>
                <a:gd name="T3" fmla="*/ 0 h 43200"/>
                <a:gd name="T4" fmla="*/ 0 w 42555"/>
                <a:gd name="T5" fmla="*/ 0 h 43200"/>
                <a:gd name="T6" fmla="*/ 0 60000 65536"/>
                <a:gd name="T7" fmla="*/ 0 60000 65536"/>
                <a:gd name="T8" fmla="*/ 0 60000 65536"/>
                <a:gd name="T9" fmla="*/ 0 w 42555"/>
                <a:gd name="T10" fmla="*/ 0 h 43200"/>
                <a:gd name="T11" fmla="*/ 42555 w 42555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555" h="43200" fill="none" extrusionOk="0">
                  <a:moveTo>
                    <a:pt x="0" y="16360"/>
                  </a:moveTo>
                  <a:cubicBezTo>
                    <a:pt x="2404" y="6745"/>
                    <a:pt x="11043" y="-1"/>
                    <a:pt x="20955" y="0"/>
                  </a:cubicBezTo>
                  <a:cubicBezTo>
                    <a:pt x="32884" y="0"/>
                    <a:pt x="42555" y="9670"/>
                    <a:pt x="42555" y="21600"/>
                  </a:cubicBezTo>
                  <a:cubicBezTo>
                    <a:pt x="42555" y="33529"/>
                    <a:pt x="32884" y="43200"/>
                    <a:pt x="20955" y="43200"/>
                  </a:cubicBezTo>
                  <a:cubicBezTo>
                    <a:pt x="16615" y="43200"/>
                    <a:pt x="12375" y="41892"/>
                    <a:pt x="8789" y="39448"/>
                  </a:cubicBezTo>
                </a:path>
                <a:path w="42555" h="43200" stroke="0" extrusionOk="0">
                  <a:moveTo>
                    <a:pt x="0" y="16360"/>
                  </a:moveTo>
                  <a:cubicBezTo>
                    <a:pt x="2404" y="6745"/>
                    <a:pt x="11043" y="-1"/>
                    <a:pt x="20955" y="0"/>
                  </a:cubicBezTo>
                  <a:cubicBezTo>
                    <a:pt x="32884" y="0"/>
                    <a:pt x="42555" y="9670"/>
                    <a:pt x="42555" y="21600"/>
                  </a:cubicBezTo>
                  <a:cubicBezTo>
                    <a:pt x="42555" y="33529"/>
                    <a:pt x="32884" y="43200"/>
                    <a:pt x="20955" y="43200"/>
                  </a:cubicBezTo>
                  <a:cubicBezTo>
                    <a:pt x="16615" y="43200"/>
                    <a:pt x="12375" y="41892"/>
                    <a:pt x="8789" y="39448"/>
                  </a:cubicBezTo>
                  <a:lnTo>
                    <a:pt x="20955" y="21600"/>
                  </a:lnTo>
                  <a:lnTo>
                    <a:pt x="0" y="1636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47"/>
          <p:cNvGrpSpPr>
            <a:grpSpLocks/>
          </p:cNvGrpSpPr>
          <p:nvPr/>
        </p:nvGrpSpPr>
        <p:grpSpPr bwMode="auto">
          <a:xfrm>
            <a:off x="5510077" y="2230955"/>
            <a:ext cx="1011471" cy="827278"/>
            <a:chOff x="2509" y="1488"/>
            <a:chExt cx="637" cy="521"/>
          </a:xfrm>
        </p:grpSpPr>
        <p:graphicFrame>
          <p:nvGraphicFramePr>
            <p:cNvPr id="45087" name="Object 5"/>
            <p:cNvGraphicFramePr>
              <a:graphicFrameLocks noChangeAspect="1"/>
            </p:cNvGraphicFramePr>
            <p:nvPr/>
          </p:nvGraphicFramePr>
          <p:xfrm>
            <a:off x="2764" y="1488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68" imgH="406048" progId="Equation.3">
                    <p:embed/>
                  </p:oleObj>
                </mc:Choice>
                <mc:Fallback>
                  <p:oleObj name="Equation" r:id="rId8" imgW="152268" imgH="406048" progId="Equation.3">
                    <p:embed/>
                    <p:pic>
                      <p:nvPicPr>
                        <p:cNvPr id="450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1488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88" name="Arc 46"/>
            <p:cNvSpPr>
              <a:spLocks/>
            </p:cNvSpPr>
            <p:nvPr/>
          </p:nvSpPr>
          <p:spPr bwMode="auto">
            <a:xfrm flipH="1">
              <a:off x="2509" y="1895"/>
              <a:ext cx="637" cy="114"/>
            </a:xfrm>
            <a:custGeom>
              <a:avLst/>
              <a:gdLst>
                <a:gd name="T0" fmla="*/ 0 w 43200"/>
                <a:gd name="T1" fmla="*/ 0 h 24039"/>
                <a:gd name="T2" fmla="*/ 0 w 43200"/>
                <a:gd name="T3" fmla="*/ 0 h 24039"/>
                <a:gd name="T4" fmla="*/ 0 w 43200"/>
                <a:gd name="T5" fmla="*/ 0 h 24039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039"/>
                <a:gd name="T11" fmla="*/ 43200 w 43200"/>
                <a:gd name="T12" fmla="*/ 24039 h 240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039" fill="none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4039" stroke="0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38" y="240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" name="Group 48"/>
          <p:cNvGrpSpPr>
            <a:grpSpLocks/>
          </p:cNvGrpSpPr>
          <p:nvPr/>
        </p:nvGrpSpPr>
        <p:grpSpPr bwMode="auto">
          <a:xfrm>
            <a:off x="6651753" y="2230955"/>
            <a:ext cx="1011472" cy="827278"/>
            <a:chOff x="2509" y="1488"/>
            <a:chExt cx="637" cy="521"/>
          </a:xfrm>
        </p:grpSpPr>
        <p:graphicFrame>
          <p:nvGraphicFramePr>
            <p:cNvPr id="45085" name="Object 4"/>
            <p:cNvGraphicFramePr>
              <a:graphicFrameLocks noChangeAspect="1"/>
            </p:cNvGraphicFramePr>
            <p:nvPr/>
          </p:nvGraphicFramePr>
          <p:xfrm>
            <a:off x="2764" y="1488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68" imgH="406048" progId="Equation.3">
                    <p:embed/>
                  </p:oleObj>
                </mc:Choice>
                <mc:Fallback>
                  <p:oleObj name="Equation" r:id="rId8" imgW="152268" imgH="406048" progId="Equation.3">
                    <p:embed/>
                    <p:pic>
                      <p:nvPicPr>
                        <p:cNvPr id="45085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1488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86" name="Arc 50"/>
            <p:cNvSpPr>
              <a:spLocks/>
            </p:cNvSpPr>
            <p:nvPr/>
          </p:nvSpPr>
          <p:spPr bwMode="auto">
            <a:xfrm flipH="1">
              <a:off x="2509" y="1895"/>
              <a:ext cx="637" cy="114"/>
            </a:xfrm>
            <a:custGeom>
              <a:avLst/>
              <a:gdLst>
                <a:gd name="T0" fmla="*/ 0 w 43200"/>
                <a:gd name="T1" fmla="*/ 0 h 24039"/>
                <a:gd name="T2" fmla="*/ 0 w 43200"/>
                <a:gd name="T3" fmla="*/ 0 h 24039"/>
                <a:gd name="T4" fmla="*/ 0 w 43200"/>
                <a:gd name="T5" fmla="*/ 0 h 24039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039"/>
                <a:gd name="T11" fmla="*/ 43200 w 43200"/>
                <a:gd name="T12" fmla="*/ 24039 h 240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039" fill="none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4039" stroke="0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38" y="240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7756909" y="2211901"/>
            <a:ext cx="1011472" cy="827278"/>
            <a:chOff x="2509" y="1488"/>
            <a:chExt cx="637" cy="521"/>
          </a:xfrm>
        </p:grpSpPr>
        <p:graphicFrame>
          <p:nvGraphicFramePr>
            <p:cNvPr id="45083" name="Object 3"/>
            <p:cNvGraphicFramePr>
              <a:graphicFrameLocks noChangeAspect="1"/>
            </p:cNvGraphicFramePr>
            <p:nvPr/>
          </p:nvGraphicFramePr>
          <p:xfrm>
            <a:off x="2764" y="1488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68" imgH="406048" progId="Equation.3">
                    <p:embed/>
                  </p:oleObj>
                </mc:Choice>
                <mc:Fallback>
                  <p:oleObj name="Equation" r:id="rId8" imgW="152268" imgH="406048" progId="Equation.3">
                    <p:embed/>
                    <p:pic>
                      <p:nvPicPr>
                        <p:cNvPr id="45083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1488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84" name="Arc 54"/>
            <p:cNvSpPr>
              <a:spLocks/>
            </p:cNvSpPr>
            <p:nvPr/>
          </p:nvSpPr>
          <p:spPr bwMode="auto">
            <a:xfrm flipH="1">
              <a:off x="2509" y="1895"/>
              <a:ext cx="637" cy="114"/>
            </a:xfrm>
            <a:custGeom>
              <a:avLst/>
              <a:gdLst>
                <a:gd name="T0" fmla="*/ 0 w 43200"/>
                <a:gd name="T1" fmla="*/ 0 h 24039"/>
                <a:gd name="T2" fmla="*/ 0 w 43200"/>
                <a:gd name="T3" fmla="*/ 0 h 24039"/>
                <a:gd name="T4" fmla="*/ 0 w 43200"/>
                <a:gd name="T5" fmla="*/ 0 h 24039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039"/>
                <a:gd name="T11" fmla="*/ 43200 w 43200"/>
                <a:gd name="T12" fmla="*/ 24039 h 240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039" fill="none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4039" stroke="0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38" y="240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56"/>
          <p:cNvGrpSpPr>
            <a:grpSpLocks/>
          </p:cNvGrpSpPr>
          <p:nvPr/>
        </p:nvGrpSpPr>
        <p:grpSpPr bwMode="auto">
          <a:xfrm>
            <a:off x="8900173" y="2230955"/>
            <a:ext cx="1011472" cy="827278"/>
            <a:chOff x="2509" y="1488"/>
            <a:chExt cx="637" cy="521"/>
          </a:xfrm>
        </p:grpSpPr>
        <p:graphicFrame>
          <p:nvGraphicFramePr>
            <p:cNvPr id="45081" name="Object 2"/>
            <p:cNvGraphicFramePr>
              <a:graphicFrameLocks noChangeAspect="1"/>
            </p:cNvGraphicFramePr>
            <p:nvPr/>
          </p:nvGraphicFramePr>
          <p:xfrm>
            <a:off x="2764" y="1488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68" imgH="406048" progId="Equation.3">
                    <p:embed/>
                  </p:oleObj>
                </mc:Choice>
                <mc:Fallback>
                  <p:oleObj name="Equation" r:id="rId8" imgW="152268" imgH="406048" progId="Equation.3">
                    <p:embed/>
                    <p:pic>
                      <p:nvPicPr>
                        <p:cNvPr id="45081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1488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82" name="Arc 58"/>
            <p:cNvSpPr>
              <a:spLocks/>
            </p:cNvSpPr>
            <p:nvPr/>
          </p:nvSpPr>
          <p:spPr bwMode="auto">
            <a:xfrm flipH="1">
              <a:off x="2509" y="1895"/>
              <a:ext cx="637" cy="114"/>
            </a:xfrm>
            <a:custGeom>
              <a:avLst/>
              <a:gdLst>
                <a:gd name="T0" fmla="*/ 0 w 43200"/>
                <a:gd name="T1" fmla="*/ 0 h 24039"/>
                <a:gd name="T2" fmla="*/ 0 w 43200"/>
                <a:gd name="T3" fmla="*/ 0 h 24039"/>
                <a:gd name="T4" fmla="*/ 0 w 43200"/>
                <a:gd name="T5" fmla="*/ 0 h 24039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039"/>
                <a:gd name="T11" fmla="*/ 43200 w 43200"/>
                <a:gd name="T12" fmla="*/ 24039 h 240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039" fill="none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4039" stroke="0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38" y="240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5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5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5" grpId="0"/>
      <p:bldP spid="276487" grpId="0" autoUpdateAnimBg="0"/>
      <p:bldP spid="276504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4(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3775" y="1060807"/>
            <a:ext cx="7850382" cy="635648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对状态</a:t>
            </a:r>
            <a:r>
              <a:rPr lang="en-US" altLang="zh-CN" dirty="0"/>
              <a:t>0</a:t>
            </a:r>
          </a:p>
        </p:txBody>
      </p:sp>
      <p:graphicFrame>
        <p:nvGraphicFramePr>
          <p:cNvPr id="296960" name="Object 0"/>
          <p:cNvGraphicFramePr>
            <a:graphicFrameLocks noChangeAspect="1"/>
          </p:cNvGraphicFramePr>
          <p:nvPr/>
        </p:nvGraphicFramePr>
        <p:xfrm>
          <a:off x="2694327" y="1002738"/>
          <a:ext cx="4580998" cy="736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27300" imgH="406400" progId="Equation.3">
                  <p:embed/>
                </p:oleObj>
              </mc:Choice>
              <mc:Fallback>
                <p:oleObj name="Equation" r:id="rId3" imgW="2527300" imgH="406400" progId="Equation.3">
                  <p:embed/>
                  <p:pic>
                    <p:nvPicPr>
                      <p:cNvPr id="29696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4327" y="1002738"/>
                        <a:ext cx="4580998" cy="736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61" name="Object 1"/>
          <p:cNvGraphicFramePr>
            <a:graphicFrameLocks noChangeAspect="1"/>
          </p:cNvGraphicFramePr>
          <p:nvPr/>
        </p:nvGraphicFramePr>
        <p:xfrm>
          <a:off x="2727966" y="1865744"/>
          <a:ext cx="2913736" cy="768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37589" imgH="431613" progId="Equation.3">
                  <p:embed/>
                </p:oleObj>
              </mc:Choice>
              <mc:Fallback>
                <p:oleObj name="Equation" r:id="rId5" imgW="1637589" imgH="431613" progId="Equation.3">
                  <p:embed/>
                  <p:pic>
                    <p:nvPicPr>
                      <p:cNvPr id="29696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966" y="1865744"/>
                        <a:ext cx="2913736" cy="768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62" name="Object 2"/>
          <p:cNvGraphicFramePr>
            <a:graphicFrameLocks noChangeAspect="1"/>
          </p:cNvGraphicFramePr>
          <p:nvPr/>
        </p:nvGraphicFramePr>
        <p:xfrm>
          <a:off x="2694327" y="2539794"/>
          <a:ext cx="5924334" cy="1560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95600" imgH="762000" progId="Equation.3">
                  <p:embed/>
                </p:oleObj>
              </mc:Choice>
              <mc:Fallback>
                <p:oleObj name="Equation" r:id="rId7" imgW="2895600" imgH="762000" progId="Equation.3">
                  <p:embed/>
                  <p:pic>
                    <p:nvPicPr>
                      <p:cNvPr id="2969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4327" y="2539794"/>
                        <a:ext cx="5924334" cy="15608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63" name="Object 3"/>
          <p:cNvGraphicFramePr>
            <a:graphicFrameLocks noChangeAspect="1"/>
          </p:cNvGraphicFramePr>
          <p:nvPr/>
        </p:nvGraphicFramePr>
        <p:xfrm>
          <a:off x="2802941" y="3782919"/>
          <a:ext cx="2210312" cy="722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44060" imgH="406224" progId="Equation.3">
                  <p:embed/>
                </p:oleObj>
              </mc:Choice>
              <mc:Fallback>
                <p:oleObj name="Equation" r:id="rId9" imgW="1244060" imgH="406224" progId="Equation.3">
                  <p:embed/>
                  <p:pic>
                    <p:nvPicPr>
                      <p:cNvPr id="2969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2941" y="3782919"/>
                        <a:ext cx="2210312" cy="722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2" name="Rectangle 8"/>
          <p:cNvSpPr>
            <a:spLocks noChangeArrowheads="1"/>
          </p:cNvSpPr>
          <p:nvPr/>
        </p:nvSpPr>
        <p:spPr bwMode="auto">
          <a:xfrm>
            <a:off x="841375" y="4573365"/>
            <a:ext cx="11049000" cy="2256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3000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故状态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为非周期、正常返、遍历状态。又因</a:t>
            </a:r>
            <a:r>
              <a:rPr lang="en-US" altLang="zh-CN" sz="2400" dirty="0">
                <a:latin typeface="+mn-ea"/>
                <a:ea typeface="+mn-ea"/>
              </a:rPr>
              <a:t>p</a:t>
            </a:r>
            <a:r>
              <a:rPr lang="en-US" altLang="zh-CN" sz="2400" baseline="-25000" dirty="0">
                <a:latin typeface="+mn-ea"/>
                <a:ea typeface="+mn-ea"/>
              </a:rPr>
              <a:t>i0</a:t>
            </a:r>
            <a:r>
              <a:rPr lang="en-US" altLang="zh-CN" sz="2400" dirty="0">
                <a:latin typeface="+mn-ea"/>
                <a:ea typeface="+mn-ea"/>
              </a:rPr>
              <a:t>=  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latin typeface="+mn-ea"/>
                <a:ea typeface="+mn-ea"/>
              </a:rPr>
              <a:t>E</a:t>
            </a: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spcBef>
                <a:spcPct val="3000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{0, 1, 2, …}</a:t>
            </a:r>
            <a:r>
              <a:rPr lang="zh-CN" altLang="en-US" sz="2400" dirty="0">
                <a:latin typeface="+mn-ea"/>
                <a:ea typeface="+mn-ea"/>
              </a:rPr>
              <a:t>，从而状态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en-US" altLang="zh-CN" sz="2400" dirty="0">
                <a:latin typeface="+mn-ea"/>
                <a:ea typeface="+mn-ea"/>
              </a:rPr>
              <a:t>=0, 1, 2, …</a:t>
            </a:r>
            <a:r>
              <a:rPr lang="zh-CN" altLang="en-US" sz="2400" dirty="0">
                <a:latin typeface="+mn-ea"/>
                <a:ea typeface="+mn-ea"/>
              </a:rPr>
              <a:t>）与状态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互通，故状态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en-US" altLang="zh-CN" sz="2400" dirty="0">
                <a:latin typeface="+mn-ea"/>
                <a:ea typeface="+mn-ea"/>
              </a:rPr>
              <a:t>=1, 2, 3, …</a:t>
            </a:r>
            <a:r>
              <a:rPr lang="zh-CN" altLang="en-US" sz="2400" dirty="0">
                <a:latin typeface="+mn-ea"/>
                <a:ea typeface="+mn-ea"/>
              </a:rPr>
              <a:t>与状态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有相同的状态性质，都是非周期、正常返、遍历状态。因此该马氏链为不可约遍历的齐次马氏链。所有状态均为非周期、正常返、遍历状态。</a:t>
            </a:r>
          </a:p>
        </p:txBody>
      </p:sp>
      <p:graphicFrame>
        <p:nvGraphicFramePr>
          <p:cNvPr id="296964" name="Object 4"/>
          <p:cNvGraphicFramePr>
            <a:graphicFrameLocks noChangeAspect="1"/>
          </p:cNvGraphicFramePr>
          <p:nvPr/>
        </p:nvGraphicFramePr>
        <p:xfrm>
          <a:off x="7376470" y="4513459"/>
          <a:ext cx="276289" cy="736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268" imgH="406048" progId="Equation.3">
                  <p:embed/>
                </p:oleObj>
              </mc:Choice>
              <mc:Fallback>
                <p:oleObj name="Equation" r:id="rId11" imgW="152268" imgH="406048" progId="Equation.3">
                  <p:embed/>
                  <p:pic>
                    <p:nvPicPr>
                      <p:cNvPr id="2969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6470" y="4513459"/>
                        <a:ext cx="276289" cy="736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6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6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6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6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7" grpId="0" build="p" autoUpdateAnimBg="0" advAuto="0"/>
      <p:bldP spid="277512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5</a:t>
            </a:r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4642" y="858246"/>
            <a:ext cx="9562091" cy="1124210"/>
          </a:xfrm>
        </p:spPr>
        <p:txBody>
          <a:bodyPr>
            <a:normAutofit/>
          </a:bodyPr>
          <a:lstStyle/>
          <a:p>
            <a:pPr marL="0" indent="719282">
              <a:buNone/>
            </a:pPr>
            <a:r>
              <a:rPr lang="zh-CN" altLang="en-US" sz="2601" dirty="0"/>
              <a:t>设齐次马氏链的状态空间</a:t>
            </a:r>
            <a:r>
              <a:rPr lang="en-US" altLang="zh-CN" sz="2601" dirty="0"/>
              <a:t>E</a:t>
            </a:r>
            <a:r>
              <a:rPr lang="zh-CN" altLang="en-US" sz="2601" dirty="0"/>
              <a:t>＝</a:t>
            </a:r>
            <a:r>
              <a:rPr lang="en-US" altLang="zh-CN" sz="2601" dirty="0"/>
              <a:t>{0, 1, 2, …}</a:t>
            </a:r>
            <a:r>
              <a:rPr lang="zh-CN" altLang="en-US" sz="2601" dirty="0"/>
              <a:t>，转移概率为</a:t>
            </a:r>
          </a:p>
        </p:txBody>
      </p:sp>
      <p:graphicFrame>
        <p:nvGraphicFramePr>
          <p:cNvPr id="295936" name="Object 0"/>
          <p:cNvGraphicFramePr>
            <a:graphicFrameLocks/>
          </p:cNvGraphicFramePr>
          <p:nvPr/>
        </p:nvGraphicFramePr>
        <p:xfrm>
          <a:off x="4182619" y="3814058"/>
          <a:ext cx="3861694" cy="2820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30400" imgH="1879600" progId="Equation.DSMT4">
                  <p:embed/>
                </p:oleObj>
              </mc:Choice>
              <mc:Fallback>
                <p:oleObj name="Equation" r:id="rId2" imgW="1930400" imgH="1879600" progId="Equation.DSMT4">
                  <p:embed/>
                  <p:pic>
                    <p:nvPicPr>
                      <p:cNvPr id="295936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2619" y="3814058"/>
                        <a:ext cx="3861694" cy="28200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5" name="Rectangle 5"/>
          <p:cNvSpPr>
            <a:spLocks noChangeArrowheads="1"/>
          </p:cNvSpPr>
          <p:nvPr/>
        </p:nvSpPr>
        <p:spPr bwMode="auto">
          <a:xfrm>
            <a:off x="2694787" y="2743836"/>
            <a:ext cx="22420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状态转移图</a:t>
            </a:r>
          </a:p>
        </p:txBody>
      </p:sp>
      <p:sp>
        <p:nvSpPr>
          <p:cNvPr id="276487" name="Rectangle 7"/>
          <p:cNvSpPr>
            <a:spLocks noChangeArrowheads="1"/>
          </p:cNvSpPr>
          <p:nvPr/>
        </p:nvSpPr>
        <p:spPr bwMode="auto">
          <a:xfrm>
            <a:off x="2746665" y="4977966"/>
            <a:ext cx="1422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转移矩阵</a:t>
            </a:r>
          </a:p>
        </p:txBody>
      </p:sp>
      <p:graphicFrame>
        <p:nvGraphicFramePr>
          <p:cNvPr id="47113" name="Object 1"/>
          <p:cNvGraphicFramePr>
            <a:graphicFrameLocks noChangeAspect="1"/>
          </p:cNvGraphicFramePr>
          <p:nvPr/>
        </p:nvGraphicFramePr>
        <p:xfrm>
          <a:off x="2517775" y="1619627"/>
          <a:ext cx="6699212" cy="839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38500" imgH="406400" progId="Equation.DSMT4">
                  <p:embed/>
                </p:oleObj>
              </mc:Choice>
              <mc:Fallback>
                <p:oleObj name="Equation" r:id="rId4" imgW="3238500" imgH="406400" progId="Equation.DSMT4">
                  <p:embed/>
                  <p:pic>
                    <p:nvPicPr>
                      <p:cNvPr id="4711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5" y="1619627"/>
                        <a:ext cx="6699212" cy="839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5305242" y="2986779"/>
            <a:ext cx="360446" cy="457306"/>
            <a:chOff x="2380" y="1964"/>
            <a:chExt cx="227" cy="288"/>
          </a:xfrm>
        </p:grpSpPr>
        <p:sp>
          <p:nvSpPr>
            <p:cNvPr id="47153" name="Oval 9"/>
            <p:cNvSpPr>
              <a:spLocks noChangeArrowheads="1"/>
            </p:cNvSpPr>
            <p:nvPr/>
          </p:nvSpPr>
          <p:spPr bwMode="auto">
            <a:xfrm>
              <a:off x="2380" y="199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7154" name="Rectangle 10"/>
            <p:cNvSpPr>
              <a:spLocks noChangeArrowheads="1"/>
            </p:cNvSpPr>
            <p:nvPr/>
          </p:nvSpPr>
          <p:spPr bwMode="auto">
            <a:xfrm>
              <a:off x="2395" y="19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0</a:t>
              </a:r>
            </a:p>
          </p:txBody>
        </p:sp>
      </p:grp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6429452" y="2986779"/>
            <a:ext cx="360446" cy="457306"/>
            <a:chOff x="3088" y="1964"/>
            <a:chExt cx="227" cy="288"/>
          </a:xfrm>
        </p:grpSpPr>
        <p:sp>
          <p:nvSpPr>
            <p:cNvPr id="47151" name="Oval 11"/>
            <p:cNvSpPr>
              <a:spLocks noChangeArrowheads="1"/>
            </p:cNvSpPr>
            <p:nvPr/>
          </p:nvSpPr>
          <p:spPr bwMode="auto">
            <a:xfrm>
              <a:off x="3088" y="199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7152" name="Rectangle 12"/>
            <p:cNvSpPr>
              <a:spLocks noChangeArrowheads="1"/>
            </p:cNvSpPr>
            <p:nvPr/>
          </p:nvSpPr>
          <p:spPr bwMode="auto">
            <a:xfrm>
              <a:off x="3103" y="19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7553662" y="2986779"/>
            <a:ext cx="360446" cy="457306"/>
            <a:chOff x="3796" y="1964"/>
            <a:chExt cx="227" cy="288"/>
          </a:xfrm>
        </p:grpSpPr>
        <p:sp>
          <p:nvSpPr>
            <p:cNvPr id="47149" name="Oval 13"/>
            <p:cNvSpPr>
              <a:spLocks noChangeArrowheads="1"/>
            </p:cNvSpPr>
            <p:nvPr/>
          </p:nvSpPr>
          <p:spPr bwMode="auto">
            <a:xfrm>
              <a:off x="3796" y="199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7150" name="Rectangle 14"/>
            <p:cNvSpPr>
              <a:spLocks noChangeArrowheads="1"/>
            </p:cNvSpPr>
            <p:nvPr/>
          </p:nvSpPr>
          <p:spPr bwMode="auto">
            <a:xfrm>
              <a:off x="3811" y="19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 dirty="0"/>
                <a:t>2</a:t>
              </a:r>
            </a:p>
          </p:txBody>
        </p:sp>
      </p:grp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8679460" y="2986779"/>
            <a:ext cx="360445" cy="457306"/>
            <a:chOff x="4505" y="1964"/>
            <a:chExt cx="227" cy="288"/>
          </a:xfrm>
        </p:grpSpPr>
        <p:sp>
          <p:nvSpPr>
            <p:cNvPr id="47147" name="Oval 15"/>
            <p:cNvSpPr>
              <a:spLocks noChangeArrowheads="1"/>
            </p:cNvSpPr>
            <p:nvPr/>
          </p:nvSpPr>
          <p:spPr bwMode="auto">
            <a:xfrm>
              <a:off x="4505" y="199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7148" name="Rectangle 16"/>
            <p:cNvSpPr>
              <a:spLocks noChangeArrowheads="1"/>
            </p:cNvSpPr>
            <p:nvPr/>
          </p:nvSpPr>
          <p:spPr bwMode="auto">
            <a:xfrm>
              <a:off x="4520" y="19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3</a:t>
              </a:r>
            </a:p>
          </p:txBody>
        </p:sp>
      </p:grpSp>
      <p:sp>
        <p:nvSpPr>
          <p:cNvPr id="276504" name="Rectangle 24"/>
          <p:cNvSpPr>
            <a:spLocks noChangeArrowheads="1"/>
          </p:cNvSpPr>
          <p:nvPr/>
        </p:nvSpPr>
        <p:spPr bwMode="auto">
          <a:xfrm>
            <a:off x="9802082" y="2972488"/>
            <a:ext cx="489063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/>
              <a:t>…</a:t>
            </a:r>
          </a:p>
        </p:txBody>
      </p: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5686330" y="2891508"/>
            <a:ext cx="762176" cy="630383"/>
            <a:chOff x="2620" y="1904"/>
            <a:chExt cx="480" cy="397"/>
          </a:xfrm>
        </p:grpSpPr>
        <p:sp>
          <p:nvSpPr>
            <p:cNvPr id="47145" name="Arc 17"/>
            <p:cNvSpPr>
              <a:spLocks/>
            </p:cNvSpPr>
            <p:nvPr/>
          </p:nvSpPr>
          <p:spPr bwMode="auto">
            <a:xfrm flipH="1" flipV="1">
              <a:off x="2620" y="2138"/>
              <a:ext cx="480" cy="144"/>
            </a:xfrm>
            <a:custGeom>
              <a:avLst/>
              <a:gdLst>
                <a:gd name="T0" fmla="*/ 0 w 42764"/>
                <a:gd name="T1" fmla="*/ 0 h 21600"/>
                <a:gd name="T2" fmla="*/ 0 w 42764"/>
                <a:gd name="T3" fmla="*/ 0 h 21600"/>
                <a:gd name="T4" fmla="*/ 0 w 42764"/>
                <a:gd name="T5" fmla="*/ 0 h 21600"/>
                <a:gd name="T6" fmla="*/ 0 60000 65536"/>
                <a:gd name="T7" fmla="*/ 0 60000 65536"/>
                <a:gd name="T8" fmla="*/ 0 60000 65536"/>
                <a:gd name="T9" fmla="*/ 0 w 42764"/>
                <a:gd name="T10" fmla="*/ 0 h 21600"/>
                <a:gd name="T11" fmla="*/ 42764 w 427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764" h="21600" fill="none" extrusionOk="0">
                  <a:moveTo>
                    <a:pt x="-1" y="17283"/>
                  </a:moveTo>
                  <a:cubicBezTo>
                    <a:pt x="2050" y="7225"/>
                    <a:pt x="10898" y="-1"/>
                    <a:pt x="21164" y="0"/>
                  </a:cubicBezTo>
                  <a:cubicBezTo>
                    <a:pt x="33093" y="0"/>
                    <a:pt x="42764" y="9670"/>
                    <a:pt x="42764" y="21600"/>
                  </a:cubicBezTo>
                </a:path>
                <a:path w="42764" h="21600" stroke="0" extrusionOk="0">
                  <a:moveTo>
                    <a:pt x="-1" y="17283"/>
                  </a:moveTo>
                  <a:cubicBezTo>
                    <a:pt x="2050" y="7225"/>
                    <a:pt x="10898" y="-1"/>
                    <a:pt x="21164" y="0"/>
                  </a:cubicBezTo>
                  <a:cubicBezTo>
                    <a:pt x="33093" y="0"/>
                    <a:pt x="42764" y="9670"/>
                    <a:pt x="42764" y="21600"/>
                  </a:cubicBezTo>
                  <a:lnTo>
                    <a:pt x="21164" y="21600"/>
                  </a:lnTo>
                  <a:lnTo>
                    <a:pt x="-1" y="1728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7146" name="Object 10"/>
            <p:cNvGraphicFramePr>
              <a:graphicFrameLocks noChangeAspect="1"/>
            </p:cNvGraphicFramePr>
            <p:nvPr/>
          </p:nvGraphicFramePr>
          <p:xfrm>
            <a:off x="2764" y="1904"/>
            <a:ext cx="158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334" imgH="393529" progId="Equation.DSMT4">
                    <p:embed/>
                  </p:oleObj>
                </mc:Choice>
                <mc:Fallback>
                  <p:oleObj name="Equation" r:id="rId6" imgW="152334" imgH="393529" progId="Equation.DSMT4">
                    <p:embed/>
                    <p:pic>
                      <p:nvPicPr>
                        <p:cNvPr id="4714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1904"/>
                          <a:ext cx="158" cy="3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55"/>
          <p:cNvGrpSpPr>
            <a:grpSpLocks/>
          </p:cNvGrpSpPr>
          <p:nvPr/>
        </p:nvGrpSpPr>
        <p:grpSpPr bwMode="auto">
          <a:xfrm>
            <a:off x="5605348" y="2891507"/>
            <a:ext cx="2132506" cy="711365"/>
            <a:chOff x="2545" y="1904"/>
            <a:chExt cx="1343" cy="448"/>
          </a:xfrm>
        </p:grpSpPr>
        <p:sp>
          <p:nvSpPr>
            <p:cNvPr id="47143" name="Arc 18"/>
            <p:cNvSpPr>
              <a:spLocks/>
            </p:cNvSpPr>
            <p:nvPr/>
          </p:nvSpPr>
          <p:spPr bwMode="auto">
            <a:xfrm flipH="1" flipV="1">
              <a:off x="2545" y="2208"/>
              <a:ext cx="1343" cy="144"/>
            </a:xfrm>
            <a:custGeom>
              <a:avLst/>
              <a:gdLst>
                <a:gd name="T0" fmla="*/ 0 w 42274"/>
                <a:gd name="T1" fmla="*/ 0 h 21600"/>
                <a:gd name="T2" fmla="*/ 0 w 42274"/>
                <a:gd name="T3" fmla="*/ 0 h 21600"/>
                <a:gd name="T4" fmla="*/ 0 w 42274"/>
                <a:gd name="T5" fmla="*/ 0 h 21600"/>
                <a:gd name="T6" fmla="*/ 0 60000 65536"/>
                <a:gd name="T7" fmla="*/ 0 60000 65536"/>
                <a:gd name="T8" fmla="*/ 0 60000 65536"/>
                <a:gd name="T9" fmla="*/ 0 w 42274"/>
                <a:gd name="T10" fmla="*/ 0 h 21600"/>
                <a:gd name="T11" fmla="*/ 42274 w 422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274" h="21600" fill="none" extrusionOk="0">
                  <a:moveTo>
                    <a:pt x="0" y="15343"/>
                  </a:moveTo>
                  <a:cubicBezTo>
                    <a:pt x="2757" y="6231"/>
                    <a:pt x="11154" y="-1"/>
                    <a:pt x="20674" y="0"/>
                  </a:cubicBezTo>
                  <a:cubicBezTo>
                    <a:pt x="32603" y="0"/>
                    <a:pt x="42274" y="9670"/>
                    <a:pt x="42274" y="21600"/>
                  </a:cubicBezTo>
                </a:path>
                <a:path w="42274" h="21600" stroke="0" extrusionOk="0">
                  <a:moveTo>
                    <a:pt x="0" y="15343"/>
                  </a:moveTo>
                  <a:cubicBezTo>
                    <a:pt x="2757" y="6231"/>
                    <a:pt x="11154" y="-1"/>
                    <a:pt x="20674" y="0"/>
                  </a:cubicBezTo>
                  <a:cubicBezTo>
                    <a:pt x="32603" y="0"/>
                    <a:pt x="42274" y="9670"/>
                    <a:pt x="42274" y="21600"/>
                  </a:cubicBezTo>
                  <a:lnTo>
                    <a:pt x="20674" y="21600"/>
                  </a:lnTo>
                  <a:lnTo>
                    <a:pt x="0" y="1534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7144" name="Object 9"/>
            <p:cNvGraphicFramePr>
              <a:graphicFrameLocks noChangeAspect="1"/>
            </p:cNvGraphicFramePr>
            <p:nvPr/>
          </p:nvGraphicFramePr>
          <p:xfrm>
            <a:off x="3490" y="1904"/>
            <a:ext cx="145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9639" imgH="393529" progId="Equation.DSMT4">
                    <p:embed/>
                  </p:oleObj>
                </mc:Choice>
                <mc:Fallback>
                  <p:oleObj name="Equation" r:id="rId8" imgW="139639" imgH="393529" progId="Equation.DSMT4">
                    <p:embed/>
                    <p:pic>
                      <p:nvPicPr>
                        <p:cNvPr id="47144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0" y="1904"/>
                          <a:ext cx="145" cy="3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59"/>
          <p:cNvGrpSpPr>
            <a:grpSpLocks/>
          </p:cNvGrpSpPr>
          <p:nvPr/>
        </p:nvGrpSpPr>
        <p:grpSpPr bwMode="auto">
          <a:xfrm>
            <a:off x="5532307" y="3002658"/>
            <a:ext cx="3348812" cy="773291"/>
            <a:chOff x="2523" y="1974"/>
            <a:chExt cx="2109" cy="487"/>
          </a:xfrm>
        </p:grpSpPr>
        <p:sp>
          <p:nvSpPr>
            <p:cNvPr id="47141" name="Arc 32"/>
            <p:cNvSpPr>
              <a:spLocks/>
            </p:cNvSpPr>
            <p:nvPr/>
          </p:nvSpPr>
          <p:spPr bwMode="auto">
            <a:xfrm flipH="1" flipV="1">
              <a:off x="2523" y="2220"/>
              <a:ext cx="2109" cy="241"/>
            </a:xfrm>
            <a:custGeom>
              <a:avLst/>
              <a:gdLst>
                <a:gd name="T0" fmla="*/ 0 w 43200"/>
                <a:gd name="T1" fmla="*/ 0 h 21692"/>
                <a:gd name="T2" fmla="*/ 0 w 43200"/>
                <a:gd name="T3" fmla="*/ 0 h 21692"/>
                <a:gd name="T4" fmla="*/ 0 w 43200"/>
                <a:gd name="T5" fmla="*/ 0 h 21692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92"/>
                <a:gd name="T11" fmla="*/ 43200 w 43200"/>
                <a:gd name="T12" fmla="*/ 21692 h 216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92" fill="none" extrusionOk="0">
                  <a:moveTo>
                    <a:pt x="0" y="21691"/>
                  </a:moveTo>
                  <a:cubicBezTo>
                    <a:pt x="0" y="21661"/>
                    <a:pt x="0" y="2163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1692" stroke="0" extrusionOk="0">
                  <a:moveTo>
                    <a:pt x="0" y="21691"/>
                  </a:moveTo>
                  <a:cubicBezTo>
                    <a:pt x="0" y="21661"/>
                    <a:pt x="0" y="2163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0" y="216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7142" name="Object 8"/>
            <p:cNvGraphicFramePr>
              <a:graphicFrameLocks noChangeAspect="1"/>
            </p:cNvGraphicFramePr>
            <p:nvPr/>
          </p:nvGraphicFramePr>
          <p:xfrm>
            <a:off x="4244" y="1974"/>
            <a:ext cx="145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9639" imgH="393529" progId="Equation.DSMT4">
                    <p:embed/>
                  </p:oleObj>
                </mc:Choice>
                <mc:Fallback>
                  <p:oleObj name="Equation" r:id="rId10" imgW="139639" imgH="393529" progId="Equation.DSMT4">
                    <p:embed/>
                    <p:pic>
                      <p:nvPicPr>
                        <p:cNvPr id="4714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4" y="1974"/>
                          <a:ext cx="145" cy="3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60"/>
          <p:cNvGrpSpPr>
            <a:grpSpLocks/>
          </p:cNvGrpSpPr>
          <p:nvPr/>
        </p:nvGrpSpPr>
        <p:grpSpPr bwMode="auto">
          <a:xfrm>
            <a:off x="5489434" y="3043943"/>
            <a:ext cx="4344405" cy="790758"/>
            <a:chOff x="2496" y="2000"/>
            <a:chExt cx="2736" cy="498"/>
          </a:xfrm>
        </p:grpSpPr>
        <p:sp>
          <p:nvSpPr>
            <p:cNvPr id="47139" name="Arc 37"/>
            <p:cNvSpPr>
              <a:spLocks/>
            </p:cNvSpPr>
            <p:nvPr/>
          </p:nvSpPr>
          <p:spPr bwMode="auto">
            <a:xfrm flipH="1" flipV="1">
              <a:off x="2496" y="2258"/>
              <a:ext cx="2736" cy="240"/>
            </a:xfrm>
            <a:custGeom>
              <a:avLst/>
              <a:gdLst>
                <a:gd name="T0" fmla="*/ 0 w 43200"/>
                <a:gd name="T1" fmla="*/ 0 h 21601"/>
                <a:gd name="T2" fmla="*/ 0 w 43200"/>
                <a:gd name="T3" fmla="*/ 0 h 21601"/>
                <a:gd name="T4" fmla="*/ 0 w 43200"/>
                <a:gd name="T5" fmla="*/ 0 h 21601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01"/>
                <a:gd name="T11" fmla="*/ 43200 w 43200"/>
                <a:gd name="T12" fmla="*/ 21601 h 216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01" fill="none" extrusionOk="0">
                  <a:moveTo>
                    <a:pt x="0" y="21600"/>
                  </a:moveTo>
                  <a:cubicBezTo>
                    <a:pt x="0" y="21600"/>
                    <a:pt x="0" y="216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1601" stroke="0" extrusionOk="0">
                  <a:moveTo>
                    <a:pt x="0" y="21600"/>
                  </a:moveTo>
                  <a:cubicBezTo>
                    <a:pt x="0" y="21600"/>
                    <a:pt x="0" y="216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7140" name="Object 7"/>
            <p:cNvGraphicFramePr>
              <a:graphicFrameLocks noChangeAspect="1"/>
            </p:cNvGraphicFramePr>
            <p:nvPr/>
          </p:nvGraphicFramePr>
          <p:xfrm>
            <a:off x="4950" y="2000"/>
            <a:ext cx="145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9639" imgH="393529" progId="Equation.DSMT4">
                    <p:embed/>
                  </p:oleObj>
                </mc:Choice>
                <mc:Fallback>
                  <p:oleObj name="Equation" r:id="rId12" imgW="139639" imgH="393529" progId="Equation.DSMT4">
                    <p:embed/>
                    <p:pic>
                      <p:nvPicPr>
                        <p:cNvPr id="4714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0" y="2000"/>
                          <a:ext cx="145" cy="3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45"/>
          <p:cNvGrpSpPr>
            <a:grpSpLocks/>
          </p:cNvGrpSpPr>
          <p:nvPr/>
        </p:nvGrpSpPr>
        <p:grpSpPr bwMode="auto">
          <a:xfrm>
            <a:off x="4771718" y="2748600"/>
            <a:ext cx="601802" cy="651026"/>
            <a:chOff x="2044" y="1814"/>
            <a:chExt cx="379" cy="410"/>
          </a:xfrm>
        </p:grpSpPr>
        <p:graphicFrame>
          <p:nvGraphicFramePr>
            <p:cNvPr id="47137" name="Object 6"/>
            <p:cNvGraphicFramePr>
              <a:graphicFrameLocks noChangeAspect="1"/>
            </p:cNvGraphicFramePr>
            <p:nvPr/>
          </p:nvGraphicFramePr>
          <p:xfrm>
            <a:off x="2044" y="1814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2268" imgH="406048" progId="Equation.3">
                    <p:embed/>
                  </p:oleObj>
                </mc:Choice>
                <mc:Fallback>
                  <p:oleObj name="Equation" r:id="rId14" imgW="152268" imgH="406048" progId="Equation.3">
                    <p:embed/>
                    <p:pic>
                      <p:nvPicPr>
                        <p:cNvPr id="4713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4" y="1814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8" name="Arc 39"/>
            <p:cNvSpPr>
              <a:spLocks/>
            </p:cNvSpPr>
            <p:nvPr/>
          </p:nvSpPr>
          <p:spPr bwMode="auto">
            <a:xfrm flipH="1">
              <a:off x="2196" y="1908"/>
              <a:ext cx="227" cy="227"/>
            </a:xfrm>
            <a:custGeom>
              <a:avLst/>
              <a:gdLst>
                <a:gd name="T0" fmla="*/ 0 w 42555"/>
                <a:gd name="T1" fmla="*/ 0 h 43200"/>
                <a:gd name="T2" fmla="*/ 0 w 42555"/>
                <a:gd name="T3" fmla="*/ 0 h 43200"/>
                <a:gd name="T4" fmla="*/ 0 w 42555"/>
                <a:gd name="T5" fmla="*/ 0 h 43200"/>
                <a:gd name="T6" fmla="*/ 0 60000 65536"/>
                <a:gd name="T7" fmla="*/ 0 60000 65536"/>
                <a:gd name="T8" fmla="*/ 0 60000 65536"/>
                <a:gd name="T9" fmla="*/ 0 w 42555"/>
                <a:gd name="T10" fmla="*/ 0 h 43200"/>
                <a:gd name="T11" fmla="*/ 42555 w 42555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555" h="43200" fill="none" extrusionOk="0">
                  <a:moveTo>
                    <a:pt x="0" y="16360"/>
                  </a:moveTo>
                  <a:cubicBezTo>
                    <a:pt x="2404" y="6745"/>
                    <a:pt x="11043" y="-1"/>
                    <a:pt x="20955" y="0"/>
                  </a:cubicBezTo>
                  <a:cubicBezTo>
                    <a:pt x="32884" y="0"/>
                    <a:pt x="42555" y="9670"/>
                    <a:pt x="42555" y="21600"/>
                  </a:cubicBezTo>
                  <a:cubicBezTo>
                    <a:pt x="42555" y="33529"/>
                    <a:pt x="32884" y="43200"/>
                    <a:pt x="20955" y="43200"/>
                  </a:cubicBezTo>
                  <a:cubicBezTo>
                    <a:pt x="16615" y="43200"/>
                    <a:pt x="12375" y="41892"/>
                    <a:pt x="8789" y="39448"/>
                  </a:cubicBezTo>
                </a:path>
                <a:path w="42555" h="43200" stroke="0" extrusionOk="0">
                  <a:moveTo>
                    <a:pt x="0" y="16360"/>
                  </a:moveTo>
                  <a:cubicBezTo>
                    <a:pt x="2404" y="6745"/>
                    <a:pt x="11043" y="-1"/>
                    <a:pt x="20955" y="0"/>
                  </a:cubicBezTo>
                  <a:cubicBezTo>
                    <a:pt x="32884" y="0"/>
                    <a:pt x="42555" y="9670"/>
                    <a:pt x="42555" y="21600"/>
                  </a:cubicBezTo>
                  <a:cubicBezTo>
                    <a:pt x="42555" y="33529"/>
                    <a:pt x="32884" y="43200"/>
                    <a:pt x="20955" y="43200"/>
                  </a:cubicBezTo>
                  <a:cubicBezTo>
                    <a:pt x="16615" y="43200"/>
                    <a:pt x="12375" y="41892"/>
                    <a:pt x="8789" y="39448"/>
                  </a:cubicBezTo>
                  <a:lnTo>
                    <a:pt x="20955" y="21600"/>
                  </a:lnTo>
                  <a:lnTo>
                    <a:pt x="0" y="1636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47"/>
          <p:cNvGrpSpPr>
            <a:grpSpLocks/>
          </p:cNvGrpSpPr>
          <p:nvPr/>
        </p:nvGrpSpPr>
        <p:grpSpPr bwMode="auto">
          <a:xfrm>
            <a:off x="5510077" y="2230955"/>
            <a:ext cx="1011471" cy="827278"/>
            <a:chOff x="2509" y="1488"/>
            <a:chExt cx="637" cy="521"/>
          </a:xfrm>
        </p:grpSpPr>
        <p:graphicFrame>
          <p:nvGraphicFramePr>
            <p:cNvPr id="47135" name="Object 5"/>
            <p:cNvGraphicFramePr>
              <a:graphicFrameLocks noChangeAspect="1"/>
            </p:cNvGraphicFramePr>
            <p:nvPr/>
          </p:nvGraphicFramePr>
          <p:xfrm>
            <a:off x="2764" y="1488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2268" imgH="406048" progId="Equation.3">
                    <p:embed/>
                  </p:oleObj>
                </mc:Choice>
                <mc:Fallback>
                  <p:oleObj name="Equation" r:id="rId14" imgW="152268" imgH="406048" progId="Equation.3">
                    <p:embed/>
                    <p:pic>
                      <p:nvPicPr>
                        <p:cNvPr id="4713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1488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6" name="Arc 46"/>
            <p:cNvSpPr>
              <a:spLocks/>
            </p:cNvSpPr>
            <p:nvPr/>
          </p:nvSpPr>
          <p:spPr bwMode="auto">
            <a:xfrm flipH="1">
              <a:off x="2509" y="1895"/>
              <a:ext cx="637" cy="114"/>
            </a:xfrm>
            <a:custGeom>
              <a:avLst/>
              <a:gdLst>
                <a:gd name="T0" fmla="*/ 0 w 43200"/>
                <a:gd name="T1" fmla="*/ 0 h 24039"/>
                <a:gd name="T2" fmla="*/ 0 w 43200"/>
                <a:gd name="T3" fmla="*/ 0 h 24039"/>
                <a:gd name="T4" fmla="*/ 0 w 43200"/>
                <a:gd name="T5" fmla="*/ 0 h 24039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039"/>
                <a:gd name="T11" fmla="*/ 43200 w 43200"/>
                <a:gd name="T12" fmla="*/ 24039 h 240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039" fill="none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4039" stroke="0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38" y="240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" name="Group 48"/>
          <p:cNvGrpSpPr>
            <a:grpSpLocks/>
          </p:cNvGrpSpPr>
          <p:nvPr/>
        </p:nvGrpSpPr>
        <p:grpSpPr bwMode="auto">
          <a:xfrm>
            <a:off x="6651753" y="2240482"/>
            <a:ext cx="1011472" cy="817751"/>
            <a:chOff x="2509" y="1494"/>
            <a:chExt cx="637" cy="515"/>
          </a:xfrm>
        </p:grpSpPr>
        <p:graphicFrame>
          <p:nvGraphicFramePr>
            <p:cNvPr id="47133" name="Object 4"/>
            <p:cNvGraphicFramePr>
              <a:graphicFrameLocks noChangeAspect="1"/>
            </p:cNvGraphicFramePr>
            <p:nvPr/>
          </p:nvGraphicFramePr>
          <p:xfrm>
            <a:off x="2764" y="1494"/>
            <a:ext cx="158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52334" imgH="393529" progId="Equation.DSMT4">
                    <p:embed/>
                  </p:oleObj>
                </mc:Choice>
                <mc:Fallback>
                  <p:oleObj name="Equation" r:id="rId16" imgW="152334" imgH="393529" progId="Equation.DSMT4">
                    <p:embed/>
                    <p:pic>
                      <p:nvPicPr>
                        <p:cNvPr id="47133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1494"/>
                          <a:ext cx="158" cy="3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4" name="Arc 50"/>
            <p:cNvSpPr>
              <a:spLocks/>
            </p:cNvSpPr>
            <p:nvPr/>
          </p:nvSpPr>
          <p:spPr bwMode="auto">
            <a:xfrm flipH="1">
              <a:off x="2509" y="1895"/>
              <a:ext cx="637" cy="114"/>
            </a:xfrm>
            <a:custGeom>
              <a:avLst/>
              <a:gdLst>
                <a:gd name="T0" fmla="*/ 0 w 43200"/>
                <a:gd name="T1" fmla="*/ 0 h 24039"/>
                <a:gd name="T2" fmla="*/ 0 w 43200"/>
                <a:gd name="T3" fmla="*/ 0 h 24039"/>
                <a:gd name="T4" fmla="*/ 0 w 43200"/>
                <a:gd name="T5" fmla="*/ 0 h 24039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039"/>
                <a:gd name="T11" fmla="*/ 43200 w 43200"/>
                <a:gd name="T12" fmla="*/ 24039 h 240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039" fill="none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4039" stroke="0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38" y="240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7756909" y="2221427"/>
            <a:ext cx="1011472" cy="817751"/>
            <a:chOff x="2509" y="1494"/>
            <a:chExt cx="637" cy="515"/>
          </a:xfrm>
        </p:grpSpPr>
        <p:graphicFrame>
          <p:nvGraphicFramePr>
            <p:cNvPr id="47131" name="Object 3"/>
            <p:cNvGraphicFramePr>
              <a:graphicFrameLocks noChangeAspect="1"/>
            </p:cNvGraphicFramePr>
            <p:nvPr/>
          </p:nvGraphicFramePr>
          <p:xfrm>
            <a:off x="2764" y="1494"/>
            <a:ext cx="158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52334" imgH="393529" progId="Equation.DSMT4">
                    <p:embed/>
                  </p:oleObj>
                </mc:Choice>
                <mc:Fallback>
                  <p:oleObj name="Equation" r:id="rId18" imgW="152334" imgH="393529" progId="Equation.DSMT4">
                    <p:embed/>
                    <p:pic>
                      <p:nvPicPr>
                        <p:cNvPr id="4713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1494"/>
                          <a:ext cx="158" cy="3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2" name="Arc 54"/>
            <p:cNvSpPr>
              <a:spLocks/>
            </p:cNvSpPr>
            <p:nvPr/>
          </p:nvSpPr>
          <p:spPr bwMode="auto">
            <a:xfrm flipH="1">
              <a:off x="2509" y="1895"/>
              <a:ext cx="637" cy="114"/>
            </a:xfrm>
            <a:custGeom>
              <a:avLst/>
              <a:gdLst>
                <a:gd name="T0" fmla="*/ 0 w 43200"/>
                <a:gd name="T1" fmla="*/ 0 h 24039"/>
                <a:gd name="T2" fmla="*/ 0 w 43200"/>
                <a:gd name="T3" fmla="*/ 0 h 24039"/>
                <a:gd name="T4" fmla="*/ 0 w 43200"/>
                <a:gd name="T5" fmla="*/ 0 h 24039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039"/>
                <a:gd name="T11" fmla="*/ 43200 w 43200"/>
                <a:gd name="T12" fmla="*/ 24039 h 240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039" fill="none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4039" stroke="0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38" y="240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56"/>
          <p:cNvGrpSpPr>
            <a:grpSpLocks/>
          </p:cNvGrpSpPr>
          <p:nvPr/>
        </p:nvGrpSpPr>
        <p:grpSpPr bwMode="auto">
          <a:xfrm>
            <a:off x="8900173" y="2240482"/>
            <a:ext cx="1011472" cy="817751"/>
            <a:chOff x="2509" y="1494"/>
            <a:chExt cx="637" cy="515"/>
          </a:xfrm>
        </p:grpSpPr>
        <p:graphicFrame>
          <p:nvGraphicFramePr>
            <p:cNvPr id="47129" name="Object 2"/>
            <p:cNvGraphicFramePr>
              <a:graphicFrameLocks noChangeAspect="1"/>
            </p:cNvGraphicFramePr>
            <p:nvPr/>
          </p:nvGraphicFramePr>
          <p:xfrm>
            <a:off x="2770" y="1494"/>
            <a:ext cx="145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39639" imgH="393529" progId="Equation.DSMT4">
                    <p:embed/>
                  </p:oleObj>
                </mc:Choice>
                <mc:Fallback>
                  <p:oleObj name="Equation" r:id="rId20" imgW="139639" imgH="393529" progId="Equation.DSMT4">
                    <p:embed/>
                    <p:pic>
                      <p:nvPicPr>
                        <p:cNvPr id="47129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0" y="1494"/>
                          <a:ext cx="145" cy="3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0" name="Arc 58"/>
            <p:cNvSpPr>
              <a:spLocks/>
            </p:cNvSpPr>
            <p:nvPr/>
          </p:nvSpPr>
          <p:spPr bwMode="auto">
            <a:xfrm flipH="1">
              <a:off x="2509" y="1895"/>
              <a:ext cx="637" cy="114"/>
            </a:xfrm>
            <a:custGeom>
              <a:avLst/>
              <a:gdLst>
                <a:gd name="T0" fmla="*/ 0 w 43200"/>
                <a:gd name="T1" fmla="*/ 0 h 24039"/>
                <a:gd name="T2" fmla="*/ 0 w 43200"/>
                <a:gd name="T3" fmla="*/ 0 h 24039"/>
                <a:gd name="T4" fmla="*/ 0 w 43200"/>
                <a:gd name="T5" fmla="*/ 0 h 24039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039"/>
                <a:gd name="T11" fmla="*/ 43200 w 43200"/>
                <a:gd name="T12" fmla="*/ 24039 h 240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039" fill="none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4039" stroke="0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38" y="240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5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5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5" grpId="0"/>
      <p:bldP spid="276487" grpId="0" autoUpdateAnimBg="0"/>
      <p:bldP spid="276504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5(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9381" y="1154380"/>
            <a:ext cx="7697982" cy="47477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/>
              <a:t>对状态</a:t>
            </a:r>
            <a:r>
              <a:rPr lang="en-US" altLang="zh-CN"/>
              <a:t>0</a:t>
            </a:r>
          </a:p>
        </p:txBody>
      </p:sp>
      <p:graphicFrame>
        <p:nvGraphicFramePr>
          <p:cNvPr id="296960" name="Object 0"/>
          <p:cNvGraphicFramePr>
            <a:graphicFrameLocks noChangeAspect="1"/>
          </p:cNvGraphicFramePr>
          <p:nvPr/>
        </p:nvGraphicFramePr>
        <p:xfrm>
          <a:off x="3361692" y="1816521"/>
          <a:ext cx="1243301" cy="714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393700" progId="Equation.DSMT4">
                  <p:embed/>
                </p:oleObj>
              </mc:Choice>
              <mc:Fallback>
                <p:oleObj name="Equation" r:id="rId2" imgW="685800" imgH="393700" progId="Equation.DSMT4">
                  <p:embed/>
                  <p:pic>
                    <p:nvPicPr>
                      <p:cNvPr id="29696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1692" y="1816521"/>
                        <a:ext cx="1243301" cy="7145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61" name="Object 1"/>
          <p:cNvGraphicFramePr>
            <a:graphicFrameLocks noChangeAspect="1"/>
          </p:cNvGraphicFramePr>
          <p:nvPr/>
        </p:nvGraphicFramePr>
        <p:xfrm>
          <a:off x="3361691" y="4139600"/>
          <a:ext cx="4585761" cy="881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78100" imgH="495300" progId="Equation.DSMT4">
                  <p:embed/>
                </p:oleObj>
              </mc:Choice>
              <mc:Fallback>
                <p:oleObj name="Equation" r:id="rId4" imgW="2578100" imgH="495300" progId="Equation.DSMT4">
                  <p:embed/>
                  <p:pic>
                    <p:nvPicPr>
                      <p:cNvPr id="29696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1691" y="4139600"/>
                        <a:ext cx="4585761" cy="8812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2" name="Rectangle 8"/>
          <p:cNvSpPr>
            <a:spLocks noChangeArrowheads="1"/>
          </p:cNvSpPr>
          <p:nvPr/>
        </p:nvSpPr>
        <p:spPr bwMode="auto">
          <a:xfrm>
            <a:off x="994807" y="5270409"/>
            <a:ext cx="9981168" cy="103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3000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故状态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为非常返状态。又因状态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en-US" altLang="zh-CN" sz="2400" dirty="0">
                <a:latin typeface="+mn-ea"/>
                <a:ea typeface="+mn-ea"/>
              </a:rPr>
              <a:t> = 0, 1, 2, …</a:t>
            </a:r>
            <a:r>
              <a:rPr lang="zh-CN" altLang="en-US" sz="2400" dirty="0">
                <a:latin typeface="+mn-ea"/>
                <a:ea typeface="+mn-ea"/>
              </a:rPr>
              <a:t>）与状态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互通，故状态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en-US" altLang="zh-CN" sz="2400" dirty="0">
                <a:latin typeface="+mn-ea"/>
                <a:ea typeface="+mn-ea"/>
              </a:rPr>
              <a:t> = 1, 2, 3, …</a:t>
            </a:r>
            <a:r>
              <a:rPr lang="zh-CN" altLang="en-US" sz="2400" dirty="0">
                <a:latin typeface="+mn-ea"/>
                <a:ea typeface="+mn-ea"/>
              </a:rPr>
              <a:t>与状态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有相同的状态性质，都是非常返状态。</a:t>
            </a:r>
          </a:p>
        </p:txBody>
      </p:sp>
      <p:graphicFrame>
        <p:nvGraphicFramePr>
          <p:cNvPr id="13" name="Object 0"/>
          <p:cNvGraphicFramePr>
            <a:graphicFrameLocks noChangeAspect="1"/>
          </p:cNvGraphicFramePr>
          <p:nvPr/>
        </p:nvGraphicFramePr>
        <p:xfrm>
          <a:off x="3386637" y="2980427"/>
          <a:ext cx="2510419" cy="898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300" imgH="495300" progId="Equation.DSMT4">
                  <p:embed/>
                </p:oleObj>
              </mc:Choice>
              <mc:Fallback>
                <p:oleObj name="Equation" r:id="rId6" imgW="1384300" imgH="495300" progId="Equation.DSMT4">
                  <p:embed/>
                  <p:pic>
                    <p:nvPicPr>
                      <p:cNvPr id="13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6637" y="2980427"/>
                        <a:ext cx="2510419" cy="8987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0"/>
          <p:cNvGraphicFramePr>
            <a:graphicFrameLocks noChangeAspect="1"/>
          </p:cNvGraphicFramePr>
          <p:nvPr/>
        </p:nvGraphicFramePr>
        <p:xfrm>
          <a:off x="5100407" y="1816521"/>
          <a:ext cx="1657734" cy="714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393700" progId="Equation.DSMT4">
                  <p:embed/>
                </p:oleObj>
              </mc:Choice>
              <mc:Fallback>
                <p:oleObj name="Equation" r:id="rId8" imgW="914400" imgH="393700" progId="Equation.DSMT4">
                  <p:embed/>
                  <p:pic>
                    <p:nvPicPr>
                      <p:cNvPr id="1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0407" y="1816521"/>
                        <a:ext cx="1657734" cy="7145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0"/>
          <p:cNvGraphicFramePr>
            <a:graphicFrameLocks noChangeAspect="1"/>
          </p:cNvGraphicFramePr>
          <p:nvPr/>
        </p:nvGraphicFramePr>
        <p:xfrm>
          <a:off x="7251967" y="1816521"/>
          <a:ext cx="2694612" cy="714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85900" imgH="393700" progId="Equation.DSMT4">
                  <p:embed/>
                </p:oleObj>
              </mc:Choice>
              <mc:Fallback>
                <p:oleObj name="Equation" r:id="rId10" imgW="1485900" imgH="393700" progId="Equation.DSMT4">
                  <p:embed/>
                  <p:pic>
                    <p:nvPicPr>
                      <p:cNvPr id="15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967" y="1816521"/>
                        <a:ext cx="2694612" cy="7145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6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6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7" grpId="0" build="p" autoUpdateAnimBg="0" advAuto="0"/>
      <p:bldP spid="277512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CECAB-460E-2A78-7A25-0CE6ECD76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18EAB94F-8B97-065A-F5D5-B147160FC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50" cy="68595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7820E0-27DF-BF5A-6224-D03FFC4E65D2}"/>
              </a:ext>
            </a:extLst>
          </p:cNvPr>
          <p:cNvSpPr txBox="1"/>
          <p:nvPr/>
        </p:nvSpPr>
        <p:spPr>
          <a:xfrm>
            <a:off x="2289175" y="2599608"/>
            <a:ext cx="1295400" cy="861817"/>
          </a:xfrm>
          <a:prstGeom prst="rect">
            <a:avLst/>
          </a:prstGeom>
          <a:solidFill>
            <a:srgbClr val="28A7E1"/>
          </a:solidFill>
        </p:spPr>
        <p:txBody>
          <a:bodyPr wrap="square" lIns="121963" tIns="60981" rIns="121963" bIns="60981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</a:rPr>
              <a:t>6.2</a:t>
            </a:r>
            <a:r>
              <a:rPr lang="zh-CN" altLang="en-US" sz="48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360915-2BD4-6C78-7A06-BEE159B25799}"/>
              </a:ext>
            </a:extLst>
          </p:cNvPr>
          <p:cNvSpPr txBox="1"/>
          <p:nvPr/>
        </p:nvSpPr>
        <p:spPr>
          <a:xfrm>
            <a:off x="3736975" y="2599608"/>
            <a:ext cx="6858000" cy="861817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连续参数马尔可夫链</a:t>
            </a:r>
          </a:p>
        </p:txBody>
      </p:sp>
    </p:spTree>
    <p:extLst>
      <p:ext uri="{BB962C8B-B14F-4D97-AF65-F5344CB8AC3E}">
        <p14:creationId xmlns:p14="http://schemas.microsoft.com/office/powerpoint/2010/main" val="12968147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5723108-9FD2-ECD1-FCBE-591194626E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连续参数马尔可夫链的定义</a:t>
            </a:r>
          </a:p>
        </p:txBody>
      </p:sp>
      <p:sp>
        <p:nvSpPr>
          <p:cNvPr id="259075" name="Rectangle 3">
            <a:extLst>
              <a:ext uri="{FF2B5EF4-FFF2-40B4-BE49-F238E27FC236}">
                <a16:creationId xmlns:a16="http://schemas.microsoft.com/office/drawing/2014/main" id="{B3C9CC5F-D274-ACB5-EC93-4964A650FD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0375" y="1167084"/>
            <a:ext cx="10896600" cy="1195910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类似离散参数马氏链，只是把离散的时间参数改为连续的时间参数，便可得到类似的结果。</a:t>
            </a:r>
          </a:p>
        </p:txBody>
      </p:sp>
      <p:sp>
        <p:nvSpPr>
          <p:cNvPr id="259076" name="Rectangle 4">
            <a:extLst>
              <a:ext uri="{FF2B5EF4-FFF2-40B4-BE49-F238E27FC236}">
                <a16:creationId xmlns:a16="http://schemas.microsoft.com/office/drawing/2014/main" id="{D7B22A7C-7C81-4B09-D19F-871739828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6" y="2362994"/>
            <a:ext cx="11353800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设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随机过程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{X(t), t0}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，状态空间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E={0, 1, 2, …}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。若对于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0&lt;t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&lt;t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&lt;…&lt;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&lt;t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n+1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及非负整数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i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, i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, …i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, i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n+1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，有</a:t>
            </a: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endParaRPr lang="en-US" altLang="zh-CN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259077" name="Rectangle 5">
            <a:extLst>
              <a:ext uri="{FF2B5EF4-FFF2-40B4-BE49-F238E27FC236}">
                <a16:creationId xmlns:a16="http://schemas.microsoft.com/office/drawing/2014/main" id="{508B4CAD-2CD1-6FCC-04C9-83DE451AC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" y="3886994"/>
            <a:ext cx="10896600" cy="1133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P{X(t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n+1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n+1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|X(t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)=i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 X(t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)=i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 …, X(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)=i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P{X(t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n+1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n+1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|X(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)=i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即马尔可夫性成立，则称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{X(t), t0}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为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连续参数马尔可夫链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9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9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9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9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9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9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9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9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5" grpId="0" build="p" autoUpdateAnimBg="0" advAuto="0"/>
      <p:bldP spid="259076" grpId="0" build="p" autoUpdateAnimBg="0"/>
      <p:bldP spid="259077" grpId="0" build="p" autoUpdateAnimBg="0" advAuto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7A94E3B8-AD7E-F92C-EAA6-1C0B6D1576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转移概率函数</a:t>
            </a:r>
          </a:p>
        </p:txBody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D319B5BB-FF9B-4B51-B1CB-D8D63A7BDC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0375" y="1125799"/>
            <a:ext cx="11125200" cy="2303995"/>
          </a:xfrm>
        </p:spPr>
        <p:txBody>
          <a:bodyPr>
            <a:normAutofit/>
          </a:bodyPr>
          <a:lstStyle/>
          <a:p>
            <a:pPr marL="0" indent="720144" algn="just">
              <a:buNone/>
              <a:defRPr/>
            </a:pPr>
            <a:r>
              <a:rPr lang="zh-CN" altLang="en-US" dirty="0"/>
              <a:t>设</a:t>
            </a:r>
            <a:r>
              <a:rPr lang="en-US" altLang="zh-CN" dirty="0">
                <a:sym typeface="Symbol" panose="05050102010706020507" pitchFamily="18" charset="2"/>
              </a:rPr>
              <a:t>{X(t), t0}</a:t>
            </a:r>
            <a:r>
              <a:rPr lang="zh-CN" altLang="en-US" dirty="0">
                <a:sym typeface="Symbol" panose="05050102010706020507" pitchFamily="18" charset="2"/>
              </a:rPr>
              <a:t>为连续参数马氏链，对任意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en-US" altLang="zh-CN" dirty="0" err="1">
                <a:sym typeface="Symbol" panose="05050102010706020507" pitchFamily="18" charset="2"/>
              </a:rPr>
              <a:t>jE</a:t>
            </a:r>
            <a:r>
              <a:rPr lang="zh-CN" altLang="en-US" dirty="0">
                <a:sym typeface="Symbol" panose="05050102010706020507" pitchFamily="18" charset="2"/>
              </a:rPr>
              <a:t>＝</a:t>
            </a:r>
            <a:r>
              <a:rPr lang="en-US" altLang="zh-CN" dirty="0">
                <a:sym typeface="Symbol" panose="05050102010706020507" pitchFamily="18" charset="2"/>
              </a:rPr>
              <a:t>{0, 1, 2, …}</a:t>
            </a:r>
            <a:r>
              <a:rPr lang="zh-CN" altLang="en-US" dirty="0">
                <a:sym typeface="Symbol" panose="05050102010706020507" pitchFamily="18" charset="2"/>
              </a:rPr>
              <a:t>，任意非负实数</a:t>
            </a:r>
            <a:r>
              <a:rPr lang="en-US" altLang="zh-CN" dirty="0">
                <a:sym typeface="Symbol" panose="05050102010706020507" pitchFamily="18" charset="2"/>
              </a:rPr>
              <a:t>s, t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zh-CN" altLang="en-US" dirty="0"/>
              <a:t>条件概率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ij</a:t>
            </a:r>
            <a:r>
              <a:rPr lang="en-US" altLang="zh-CN" dirty="0"/>
              <a:t>(s, t)</a:t>
            </a:r>
            <a:r>
              <a:rPr lang="zh-CN" altLang="en-US" dirty="0"/>
              <a:t>＝</a:t>
            </a:r>
            <a:r>
              <a:rPr lang="en-US" altLang="zh-CN" dirty="0"/>
              <a:t>P{X(</a:t>
            </a:r>
            <a:r>
              <a:rPr lang="en-US" altLang="zh-CN" dirty="0" err="1"/>
              <a:t>t+s</a:t>
            </a:r>
            <a:r>
              <a:rPr lang="en-US" altLang="zh-CN" dirty="0"/>
              <a:t>)=</a:t>
            </a:r>
            <a:r>
              <a:rPr lang="en-US" altLang="zh-CN" dirty="0" err="1"/>
              <a:t>j|X</a:t>
            </a:r>
            <a:r>
              <a:rPr lang="en-US" altLang="zh-CN" dirty="0"/>
              <a:t>(s)=</a:t>
            </a:r>
            <a:r>
              <a:rPr lang="en-US" altLang="zh-CN" dirty="0" err="1"/>
              <a:t>i</a:t>
            </a:r>
            <a:r>
              <a:rPr lang="en-US" altLang="zh-CN" dirty="0"/>
              <a:t>}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zh-CN" altLang="en-US" dirty="0"/>
              <a:t>称为此马氏链</a:t>
            </a:r>
            <a:r>
              <a:rPr lang="en-US" altLang="zh-CN" dirty="0">
                <a:sym typeface="Symbol" panose="05050102010706020507" pitchFamily="18" charset="2"/>
              </a:rPr>
              <a:t>{X(t), t0}</a:t>
            </a:r>
            <a:r>
              <a:rPr lang="zh-CN" altLang="en-US" dirty="0">
                <a:sym typeface="Symbol" panose="05050102010706020507" pitchFamily="18" charset="2"/>
              </a:rPr>
              <a:t>的</a:t>
            </a:r>
            <a:r>
              <a:rPr lang="zh-CN" altLang="en-US" dirty="0">
                <a:solidFill>
                  <a:srgbClr val="CC00CC"/>
                </a:solidFill>
              </a:rPr>
              <a:t>转移概率函数</a:t>
            </a:r>
            <a:r>
              <a:rPr lang="zh-CN" altLang="en-US" dirty="0"/>
              <a:t>，显然</a:t>
            </a:r>
          </a:p>
        </p:txBody>
      </p:sp>
      <p:graphicFrame>
        <p:nvGraphicFramePr>
          <p:cNvPr id="260100" name="Object 4">
            <a:extLst>
              <a:ext uri="{FF2B5EF4-FFF2-40B4-BE49-F238E27FC236}">
                <a16:creationId xmlns:a16="http://schemas.microsoft.com/office/drawing/2014/main" id="{2714A4D6-5DB8-9D29-1053-F49508FDBD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0086" y="3069349"/>
          <a:ext cx="4109401" cy="805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15312" imgH="355446" progId="Equation.3">
                  <p:embed/>
                </p:oleObj>
              </mc:Choice>
              <mc:Fallback>
                <p:oleObj name="Equation" r:id="rId3" imgW="1815312" imgH="355446" progId="Equation.3">
                  <p:embed/>
                  <p:pic>
                    <p:nvPicPr>
                      <p:cNvPr id="260100" name="Object 4">
                        <a:extLst>
                          <a:ext uri="{FF2B5EF4-FFF2-40B4-BE49-F238E27FC236}">
                            <a16:creationId xmlns:a16="http://schemas.microsoft.com/office/drawing/2014/main" id="{2714A4D6-5DB8-9D29-1053-F49508FDBD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0086" y="3069349"/>
                        <a:ext cx="4109401" cy="805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1" name="Rectangle 5">
            <a:extLst>
              <a:ext uri="{FF2B5EF4-FFF2-40B4-BE49-F238E27FC236}">
                <a16:creationId xmlns:a16="http://schemas.microsoft.com/office/drawing/2014/main" id="{3AC86155-E0A5-4337-F23A-6EF7EF8AB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5" y="3840991"/>
            <a:ext cx="9402135" cy="1258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我们称</a:t>
            </a:r>
          </a:p>
          <a:p>
            <a:pPr algn="ctr" eaLnBrk="1" hangingPunct="1">
              <a:lnSpc>
                <a:spcPct val="11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P(s, t)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p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</a:rPr>
              <a:t>ij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(s, t))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jE</a:t>
            </a:r>
            <a:endParaRPr lang="en-US" altLang="zh-CN" sz="2400" baseline="-250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为此马氏链的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转移矩阵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260102" name="Rectangle 6">
            <a:extLst>
              <a:ext uri="{FF2B5EF4-FFF2-40B4-BE49-F238E27FC236}">
                <a16:creationId xmlns:a16="http://schemas.microsoft.com/office/drawing/2014/main" id="{4E7064AD-51C2-7A63-A398-E3F571BC9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436" y="5487194"/>
            <a:ext cx="10882539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这里，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  <a:ea typeface="+mn-ea"/>
              </a:rPr>
              <a:t>p</a:t>
            </a:r>
            <a:r>
              <a:rPr lang="en-US" altLang="zh-CN" sz="2400" baseline="-25000" dirty="0" err="1">
                <a:solidFill>
                  <a:srgbClr val="C00000"/>
                </a:solidFill>
                <a:latin typeface="+mn-ea"/>
                <a:ea typeface="+mn-ea"/>
              </a:rPr>
              <a:t>ij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(s, t)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直观意义是：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系统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或质点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在时刻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s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时处于状态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，再经过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时间转到状态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的条件概率。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0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0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0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0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099" grpId="0" build="p"/>
      <p:bldP spid="260101" grpId="0" autoUpdateAnimBg="0"/>
      <p:bldP spid="260102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25A6A76-E83C-3540-179F-893BD9724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连续参数齐次马氏链</a:t>
            </a:r>
          </a:p>
        </p:txBody>
      </p:sp>
      <p:sp>
        <p:nvSpPr>
          <p:cNvPr id="261123" name="Rectangle 3">
            <a:extLst>
              <a:ext uri="{FF2B5EF4-FFF2-40B4-BE49-F238E27FC236}">
                <a16:creationId xmlns:a16="http://schemas.microsoft.com/office/drawing/2014/main" id="{CDBB599C-5CBD-4906-8964-95F4B7F13B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8975" y="1112385"/>
            <a:ext cx="10591800" cy="3612810"/>
          </a:xfrm>
        </p:spPr>
        <p:txBody>
          <a:bodyPr/>
          <a:lstStyle/>
          <a:p>
            <a:pPr marL="0" indent="612122" algn="just">
              <a:buNone/>
              <a:defRPr/>
            </a:pPr>
            <a:r>
              <a:rPr lang="zh-CN" altLang="en-US" dirty="0"/>
              <a:t>若</a:t>
            </a:r>
            <a:r>
              <a:rPr lang="en-US" altLang="zh-CN" dirty="0">
                <a:sym typeface="Symbol" panose="05050102010706020507" pitchFamily="18" charset="2"/>
              </a:rPr>
              <a:t>{X(t), t0}</a:t>
            </a:r>
            <a:r>
              <a:rPr lang="zh-CN" altLang="en-US" dirty="0">
                <a:sym typeface="Symbol" panose="05050102010706020507" pitchFamily="18" charset="2"/>
              </a:rPr>
              <a:t>为连续参数马氏链的转移概率</a:t>
            </a:r>
            <a:r>
              <a:rPr lang="en-US" altLang="zh-CN" dirty="0" err="1"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ym typeface="Symbol" panose="05050102010706020507" pitchFamily="18" charset="2"/>
              </a:rPr>
              <a:t>ij</a:t>
            </a:r>
            <a:r>
              <a:rPr lang="en-US" altLang="zh-CN" dirty="0">
                <a:sym typeface="Symbol" panose="05050102010706020507" pitchFamily="18" charset="2"/>
              </a:rPr>
              <a:t>(s, t)</a:t>
            </a:r>
            <a:r>
              <a:rPr lang="zh-CN" altLang="en-US" dirty="0">
                <a:sym typeface="Symbol" panose="05050102010706020507" pitchFamily="18" charset="2"/>
              </a:rPr>
              <a:t>与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时间起点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s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无关，即</a:t>
            </a:r>
          </a:p>
          <a:p>
            <a:pPr marL="0" indent="0">
              <a:buNone/>
              <a:defRPr/>
            </a:pP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	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olidFill>
                  <a:srgbClr val="000000"/>
                </a:solidFill>
                <a:sym typeface="Symbol" panose="05050102010706020507" pitchFamily="18" charset="2"/>
              </a:rPr>
              <a:t>ij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(s, t)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P{X(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s+t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)=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j|X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(s)=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i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}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olidFill>
                  <a:srgbClr val="000000"/>
                </a:solidFill>
                <a:sym typeface="Symbol" panose="05050102010706020507" pitchFamily="18" charset="2"/>
              </a:rPr>
              <a:t>ij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(t)</a:t>
            </a:r>
          </a:p>
          <a:p>
            <a:pPr marL="0" indent="0">
              <a:buNone/>
              <a:defRPr/>
            </a:pP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则称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{X(t), t0}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为</a:t>
            </a:r>
            <a:r>
              <a:rPr lang="zh-CN" altLang="en-US" dirty="0">
                <a:solidFill>
                  <a:srgbClr val="CC00CC"/>
                </a:solidFill>
              </a:rPr>
              <a:t>连续参数齐次马氏链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>
              <a:buNone/>
              <a:defRPr/>
            </a:pPr>
            <a:r>
              <a:rPr lang="zh-CN" altLang="en-US" dirty="0">
                <a:solidFill>
                  <a:srgbClr val="000000"/>
                </a:solidFill>
              </a:rPr>
              <a:t>类似地，  </a:t>
            </a:r>
            <a:r>
              <a:rPr lang="en-US" altLang="zh-CN" dirty="0">
                <a:solidFill>
                  <a:srgbClr val="000000"/>
                </a:solidFill>
              </a:rPr>
              <a:t>P(t)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olidFill>
                  <a:srgbClr val="000000"/>
                </a:solidFill>
                <a:sym typeface="Symbol" panose="05050102010706020507" pitchFamily="18" charset="2"/>
              </a:rPr>
              <a:t>ij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(t)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en-US" altLang="zh-CN" baseline="-25000" dirty="0" err="1">
                <a:solidFill>
                  <a:srgbClr val="000000"/>
                </a:solidFill>
              </a:rPr>
              <a:t>i</a:t>
            </a:r>
            <a:r>
              <a:rPr lang="en-US" altLang="zh-CN" baseline="-25000" dirty="0">
                <a:solidFill>
                  <a:srgbClr val="000000"/>
                </a:solidFill>
              </a:rPr>
              <a:t>, </a:t>
            </a:r>
            <a:r>
              <a:rPr lang="en-US" altLang="zh-CN" baseline="-25000" dirty="0" err="1">
                <a:solidFill>
                  <a:srgbClr val="000000"/>
                </a:solidFill>
              </a:rPr>
              <a:t>j</a:t>
            </a:r>
            <a:r>
              <a:rPr lang="en-US" altLang="zh-CN" baseline="-25000" dirty="0" err="1">
                <a:solidFill>
                  <a:srgbClr val="000000"/>
                </a:solidFill>
                <a:sym typeface="Symbol" panose="05050102010706020507" pitchFamily="18" charset="2"/>
              </a:rPr>
              <a:t>E</a:t>
            </a:r>
            <a:endParaRPr lang="en-US" altLang="zh-CN" baseline="-25000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zh-CN" altLang="en-US" dirty="0">
                <a:solidFill>
                  <a:srgbClr val="000000"/>
                </a:solidFill>
              </a:rPr>
              <a:t>称为此齐次马氏链的</a:t>
            </a:r>
            <a:r>
              <a:rPr lang="zh-CN" altLang="en-US" dirty="0">
                <a:solidFill>
                  <a:srgbClr val="CC00CC"/>
                </a:solidFill>
              </a:rPr>
              <a:t>转移矩阵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		0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p</a:t>
            </a:r>
            <a:r>
              <a:rPr lang="en-US" altLang="zh-CN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ij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(t)1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，</a:t>
            </a:r>
          </a:p>
          <a:p>
            <a:pPr marL="0" indent="0">
              <a:buNone/>
              <a:defRPr/>
            </a:pPr>
            <a:endParaRPr lang="zh-CN" altLang="en-US" dirty="0">
              <a:solidFill>
                <a:srgbClr val="000000"/>
              </a:solidFill>
            </a:endParaRPr>
          </a:p>
          <a:p>
            <a:pPr marL="0" indent="0">
              <a:buNone/>
              <a:defRPr/>
            </a:pPr>
            <a:endParaRPr lang="zh-CN" altLang="en-US" dirty="0">
              <a:solidFill>
                <a:srgbClr val="000000"/>
              </a:solidFill>
            </a:endParaRPr>
          </a:p>
          <a:p>
            <a:pPr marL="0" indent="0">
              <a:buNone/>
              <a:defRPr/>
            </a:pPr>
            <a:endParaRPr lang="zh-CN" altLang="en-US" dirty="0">
              <a:sym typeface="Symbol" panose="05050102010706020507" pitchFamily="18" charset="2"/>
            </a:endParaRPr>
          </a:p>
        </p:txBody>
      </p:sp>
      <p:graphicFrame>
        <p:nvGraphicFramePr>
          <p:cNvPr id="261125" name="Object 5">
            <a:extLst>
              <a:ext uri="{FF2B5EF4-FFF2-40B4-BE49-F238E27FC236}">
                <a16:creationId xmlns:a16="http://schemas.microsoft.com/office/drawing/2014/main" id="{60A8E473-D79F-DA84-6E9B-B25CEF1AF9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2375" y="3907024"/>
          <a:ext cx="1511650" cy="655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12447" imgH="355446" progId="Equation.3">
                  <p:embed/>
                </p:oleObj>
              </mc:Choice>
              <mc:Fallback>
                <p:oleObj name="Equation" r:id="rId3" imgW="812447" imgH="355446" progId="Equation.3">
                  <p:embed/>
                  <p:pic>
                    <p:nvPicPr>
                      <p:cNvPr id="261125" name="Object 5">
                        <a:extLst>
                          <a:ext uri="{FF2B5EF4-FFF2-40B4-BE49-F238E27FC236}">
                            <a16:creationId xmlns:a16="http://schemas.microsoft.com/office/drawing/2014/main" id="{60A8E473-D79F-DA84-6E9B-B25CEF1AF9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75" y="3907024"/>
                        <a:ext cx="1511650" cy="655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3" name="Rectangle 6">
            <a:extLst>
              <a:ext uri="{FF2B5EF4-FFF2-40B4-BE49-F238E27FC236}">
                <a16:creationId xmlns:a16="http://schemas.microsoft.com/office/drawing/2014/main" id="{070EB493-3B60-D1E9-DE28-9B1874B3C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44" y="2878093"/>
            <a:ext cx="7697982" cy="455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00"/>
                </a:solidFill>
              </a:rPr>
              <a:t>    </a:t>
            </a:r>
            <a:endParaRPr lang="zh-CN" altLang="en-US" sz="240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sp>
        <p:nvSpPr>
          <p:cNvPr id="261127" name="Rectangle 7">
            <a:extLst>
              <a:ext uri="{FF2B5EF4-FFF2-40B4-BE49-F238E27FC236}">
                <a16:creationId xmlns:a16="http://schemas.microsoft.com/office/drawing/2014/main" id="{0872BFE5-BBCA-6E07-41AD-38F1B974F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62" y="4581192"/>
            <a:ext cx="10201275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11188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一般地，我们要求齐次马氏链的转移概率函数满足如下的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连续性条件</a:t>
            </a:r>
            <a:r>
              <a:rPr lang="zh-CN" altLang="en-US" sz="2400" dirty="0">
                <a:latin typeface="+mn-ea"/>
                <a:ea typeface="+mn-ea"/>
              </a:rPr>
              <a:t>（或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正则性条件</a:t>
            </a:r>
            <a:r>
              <a:rPr lang="zh-CN" altLang="en-US" sz="2400" dirty="0">
                <a:latin typeface="+mn-ea"/>
                <a:ea typeface="+mn-ea"/>
              </a:rPr>
              <a:t>）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：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261128" name="Object 8">
            <a:extLst>
              <a:ext uri="{FF2B5EF4-FFF2-40B4-BE49-F238E27FC236}">
                <a16:creationId xmlns:a16="http://schemas.microsoft.com/office/drawing/2014/main" id="{A74068C0-4555-2580-4F89-FA88D6CD80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6442" y="5694204"/>
          <a:ext cx="3353576" cy="940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76400" imgH="469900" progId="Equation.3">
                  <p:embed/>
                </p:oleObj>
              </mc:Choice>
              <mc:Fallback>
                <p:oleObj name="Equation" r:id="rId5" imgW="1676400" imgH="469900" progId="Equation.3">
                  <p:embed/>
                  <p:pic>
                    <p:nvPicPr>
                      <p:cNvPr id="261128" name="Object 8">
                        <a:extLst>
                          <a:ext uri="{FF2B5EF4-FFF2-40B4-BE49-F238E27FC236}">
                            <a16:creationId xmlns:a16="http://schemas.microsoft.com/office/drawing/2014/main" id="{A74068C0-4555-2580-4F89-FA88D6CD80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6442" y="5694204"/>
                        <a:ext cx="3353576" cy="9400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86ADB2B2-7C79-B53A-5B6D-F2D488778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418" y="2115264"/>
            <a:ext cx="4957358" cy="2437094"/>
          </a:xfrm>
          <a:prstGeom prst="wedgeRoundRectCallout">
            <a:avLst>
              <a:gd name="adj1" fmla="val 2111"/>
              <a:gd name="adj2" fmla="val 62260"/>
              <a:gd name="adj3" fmla="val 16667"/>
            </a:avLst>
          </a:prstGeom>
          <a:solidFill>
            <a:schemeClr val="accent1"/>
          </a:solidFill>
          <a:ln w="9525" algn="ctr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200" b="1" dirty="0">
                <a:solidFill>
                  <a:schemeClr val="bg1"/>
                </a:solidFill>
                <a:latin typeface="+mn-ea"/>
                <a:ea typeface="+mn-ea"/>
              </a:rPr>
              <a:t>正则性条件说明，过程刚进入某状态不可能立即又跳跃到另一状态。这正好说明一个物理系统要在有限时间内发生无限多次跳跃，从而消耗无穷多的能量这是不可能的。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1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1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1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1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1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1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1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1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1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1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26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1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1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26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3" grpId="0" build="p"/>
      <p:bldP spid="261127" grpId="0" build="p" autoUpdateAnimBg="0"/>
      <p:bldP spid="2" grpId="0" animBg="1"/>
      <p:bldP spid="2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26">
            <a:extLst>
              <a:ext uri="{FF2B5EF4-FFF2-40B4-BE49-F238E27FC236}">
                <a16:creationId xmlns:a16="http://schemas.microsoft.com/office/drawing/2014/main" id="{290463CC-0C48-B546-8D7C-7BB5AC22F5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绝对分布、遍历性、平稳分布</a:t>
            </a:r>
          </a:p>
        </p:txBody>
      </p:sp>
      <p:sp>
        <p:nvSpPr>
          <p:cNvPr id="262147" name="Rectangle 1027">
            <a:extLst>
              <a:ext uri="{FF2B5EF4-FFF2-40B4-BE49-F238E27FC236}">
                <a16:creationId xmlns:a16="http://schemas.microsoft.com/office/drawing/2014/main" id="{033E8FB7-E22C-3C08-38D5-95BE58C44D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74700" y="891406"/>
            <a:ext cx="8143875" cy="544909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设</a:t>
            </a:r>
            <a:r>
              <a:rPr lang="en-US" altLang="zh-CN" dirty="0">
                <a:sym typeface="Symbol" panose="05050102010706020507" pitchFamily="18" charset="2"/>
              </a:rPr>
              <a:t>{X(t), t0}</a:t>
            </a:r>
            <a:r>
              <a:rPr lang="zh-CN" altLang="en-US" dirty="0">
                <a:sym typeface="Symbol" panose="05050102010706020507" pitchFamily="18" charset="2"/>
              </a:rPr>
              <a:t>为连续参数齐次马氏链</a:t>
            </a:r>
          </a:p>
        </p:txBody>
      </p:sp>
      <p:sp>
        <p:nvSpPr>
          <p:cNvPr id="262150" name="Rectangle 1030">
            <a:extLst>
              <a:ext uri="{FF2B5EF4-FFF2-40B4-BE49-F238E27FC236}">
                <a16:creationId xmlns:a16="http://schemas.microsoft.com/office/drawing/2014/main" id="{3C120EBE-64DB-44D8-75EB-48AB56F63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5867350"/>
            <a:ext cx="72603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则称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{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v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为齐次马氏链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{X(t), t0}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平稳分布</a:t>
            </a:r>
            <a:r>
              <a:rPr lang="zh-CN" altLang="en-US" sz="2400" b="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graphicFrame>
        <p:nvGraphicFramePr>
          <p:cNvPr id="262151" name="Object 1031">
            <a:extLst>
              <a:ext uri="{FF2B5EF4-FFF2-40B4-BE49-F238E27FC236}">
                <a16:creationId xmlns:a16="http://schemas.microsoft.com/office/drawing/2014/main" id="{89E125A4-6792-3FFE-18DD-6ADE8855EA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6975" y="4647930"/>
          <a:ext cx="1911792" cy="1222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726" imgH="698197" progId="Equation.DSMT4">
                  <p:embed/>
                </p:oleObj>
              </mc:Choice>
              <mc:Fallback>
                <p:oleObj name="Equation" r:id="rId3" imgW="1091726" imgH="698197" progId="Equation.DSMT4">
                  <p:embed/>
                  <p:pic>
                    <p:nvPicPr>
                      <p:cNvPr id="262151" name="Object 1031">
                        <a:extLst>
                          <a:ext uri="{FF2B5EF4-FFF2-40B4-BE49-F238E27FC236}">
                            <a16:creationId xmlns:a16="http://schemas.microsoft.com/office/drawing/2014/main" id="{89E125A4-6792-3FFE-18DD-6ADE8855EA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6975" y="4647930"/>
                        <a:ext cx="1911792" cy="12226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52" name="Rectangle 1032">
            <a:extLst>
              <a:ext uri="{FF2B5EF4-FFF2-40B4-BE49-F238E27FC236}">
                <a16:creationId xmlns:a16="http://schemas.microsoft.com/office/drawing/2014/main" id="{251F8C84-D0E7-0C30-9003-09FA738F1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923" y="1407733"/>
            <a:ext cx="10685452" cy="2150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6600CC"/>
              </a:buClr>
              <a:buFont typeface="Wingdings" panose="05000000000000000000" pitchFamily="2" charset="2"/>
              <a:buAutoNum type="arabicParenR"/>
            </a:pP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(0)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P{X(0)=j}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，称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{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为该马氏链的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初始分布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；</a:t>
            </a:r>
          </a:p>
          <a:p>
            <a:pPr eaLnBrk="1" hangingPunct="1">
              <a:lnSpc>
                <a:spcPct val="150000"/>
              </a:lnSpc>
              <a:buClr>
                <a:srgbClr val="6600CC"/>
              </a:buClr>
              <a:buFont typeface="Wingdings" panose="05000000000000000000" pitchFamily="2" charset="2"/>
              <a:buAutoNum type="arabicParenR"/>
            </a:pP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(t)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P{X(t)=j}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，称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{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(t), 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为该马氏链的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绝对分布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rgbClr val="7030A0"/>
                </a:solidFill>
                <a:latin typeface="+mn-ea"/>
                <a:ea typeface="+mn-ea"/>
                <a:sym typeface="Symbol" panose="05050102010706020507" pitchFamily="18" charset="2"/>
              </a:rPr>
              <a:t>3</a:t>
            </a:r>
            <a:r>
              <a:rPr lang="zh-CN" altLang="en-US" sz="2400" dirty="0">
                <a:solidFill>
                  <a:srgbClr val="7030A0"/>
                </a:solidFill>
                <a:latin typeface="+mn-ea"/>
                <a:ea typeface="+mn-ea"/>
                <a:sym typeface="Symbol" panose="05050102010706020507" pitchFamily="18" charset="2"/>
              </a:rPr>
              <a:t>）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如果转移概率极限存在，                                   且与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无关则称此连续参数齐次马氏链为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遍历的马氏链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，此时，我们说该链具有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遍历性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62155" name="Rectangle 1035">
            <a:extLst>
              <a:ext uri="{FF2B5EF4-FFF2-40B4-BE49-F238E27FC236}">
                <a16:creationId xmlns:a16="http://schemas.microsoft.com/office/drawing/2014/main" id="{3497B362-0B13-128C-48A6-8A746517C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923" y="3966267"/>
            <a:ext cx="111426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990600" indent="-53340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6600CC"/>
              </a:buClr>
              <a:buFont typeface="Wingdings" panose="05000000000000000000" pitchFamily="2" charset="2"/>
              <a:buAutoNum type="arabicParenR" startAt="4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若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&gt;0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           ，则称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{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为齐次马氏链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{X(t), t0}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极限分布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62156" name="Rectangle 1036">
            <a:extLst>
              <a:ext uri="{FF2B5EF4-FFF2-40B4-BE49-F238E27FC236}">
                <a16:creationId xmlns:a16="http://schemas.microsoft.com/office/drawing/2014/main" id="{AB35959A-23FB-1B75-E80A-BDBFF802B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5045427"/>
            <a:ext cx="3217851" cy="369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6600CC"/>
              </a:buClr>
              <a:buFont typeface="Wingdings" panose="05000000000000000000" pitchFamily="2" charset="2"/>
              <a:buAutoNum type="arabicParenR" startAt="5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如果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{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v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满足</a:t>
            </a:r>
          </a:p>
        </p:txBody>
      </p:sp>
      <p:graphicFrame>
        <p:nvGraphicFramePr>
          <p:cNvPr id="262149" name="Object 1029">
            <a:extLst>
              <a:ext uri="{FF2B5EF4-FFF2-40B4-BE49-F238E27FC236}">
                <a16:creationId xmlns:a16="http://schemas.microsoft.com/office/drawing/2014/main" id="{46F55677-F9B1-CA62-5602-9A0D7F93DD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4710" y="3900844"/>
          <a:ext cx="838394" cy="500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96641" imgH="355446" progId="Equation.DSMT4">
                  <p:embed/>
                </p:oleObj>
              </mc:Choice>
              <mc:Fallback>
                <p:oleObj name="Equation" r:id="rId5" imgW="596641" imgH="355446" progId="Equation.DSMT4">
                  <p:embed/>
                  <p:pic>
                    <p:nvPicPr>
                      <p:cNvPr id="262149" name="Object 1029">
                        <a:extLst>
                          <a:ext uri="{FF2B5EF4-FFF2-40B4-BE49-F238E27FC236}">
                            <a16:creationId xmlns:a16="http://schemas.microsoft.com/office/drawing/2014/main" id="{46F55677-F9B1-CA62-5602-9A0D7F93DD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4710" y="3900844"/>
                        <a:ext cx="838394" cy="5001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148" name="Object 1028">
            <a:extLst>
              <a:ext uri="{FF2B5EF4-FFF2-40B4-BE49-F238E27FC236}">
                <a16:creationId xmlns:a16="http://schemas.microsoft.com/office/drawing/2014/main" id="{6306151C-575F-698E-D2A9-C87EA7B6F3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1957" y="2572093"/>
          <a:ext cx="3169383" cy="517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14500" imgH="279400" progId="Equation.3">
                  <p:embed/>
                </p:oleObj>
              </mc:Choice>
              <mc:Fallback>
                <p:oleObj name="Equation" r:id="rId7" imgW="1714500" imgH="279400" progId="Equation.3">
                  <p:embed/>
                  <p:pic>
                    <p:nvPicPr>
                      <p:cNvPr id="262148" name="Object 1028">
                        <a:extLst>
                          <a:ext uri="{FF2B5EF4-FFF2-40B4-BE49-F238E27FC236}">
                            <a16:creationId xmlns:a16="http://schemas.microsoft.com/office/drawing/2014/main" id="{6306151C-575F-698E-D2A9-C87EA7B6F3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1957" y="2572093"/>
                        <a:ext cx="3169383" cy="517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2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2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2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2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2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2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2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2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2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2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7" grpId="0" build="p" autoUpdateAnimBg="0" advAuto="0"/>
      <p:bldP spid="262150" grpId="0" autoUpdateAnimBg="0"/>
      <p:bldP spid="262152" grpId="0" build="p" autoUpdateAnimBg="0" advAuto="0"/>
      <p:bldP spid="262155" grpId="0" autoUpdateAnimBg="0"/>
      <p:bldP spid="262156" grpId="0" build="p" autoUpdateAnimBg="0" advAuto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C717737D-520A-F7CD-BB9C-EFA0EA1D0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转移概率函数的性质</a:t>
            </a:r>
          </a:p>
        </p:txBody>
      </p:sp>
      <p:sp>
        <p:nvSpPr>
          <p:cNvPr id="263171" name="Rectangle 3">
            <a:extLst>
              <a:ext uri="{FF2B5EF4-FFF2-40B4-BE49-F238E27FC236}">
                <a16:creationId xmlns:a16="http://schemas.microsoft.com/office/drawing/2014/main" id="{564E359E-D662-C62E-B32C-FF3C616A00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2775" y="1132147"/>
            <a:ext cx="8192109" cy="710982"/>
          </a:xfrm>
        </p:spPr>
        <p:txBody>
          <a:bodyPr>
            <a:normAutofit/>
          </a:bodyPr>
          <a:lstStyle/>
          <a:p>
            <a:pPr eaLnBrk="1" hangingPunct="1">
              <a:buClr>
                <a:srgbClr val="6600CC"/>
              </a:buClr>
              <a:buFont typeface="+mj-lt"/>
              <a:buAutoNum type="arabicPeriod"/>
            </a:pPr>
            <a:r>
              <a:rPr lang="en-US" altLang="zh-CN" dirty="0"/>
              <a:t>0</a:t>
            </a:r>
            <a:r>
              <a:rPr lang="en-US" altLang="zh-CN" dirty="0">
                <a:latin typeface="黑体" panose="02010609060101010101" pitchFamily="49" charset="-122"/>
                <a:sym typeface="Symbol" panose="05050102010706020507" pitchFamily="18" charset="2"/>
              </a:rPr>
              <a:t>≤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en-US" altLang="zh-CN" baseline="-25000" dirty="0">
                <a:sym typeface="Symbol" panose="05050102010706020507" pitchFamily="18" charset="2"/>
              </a:rPr>
              <a:t>ij</a:t>
            </a:r>
            <a:r>
              <a:rPr lang="en-US" altLang="zh-CN" dirty="0">
                <a:sym typeface="Symbol" panose="05050102010706020507" pitchFamily="18" charset="2"/>
              </a:rPr>
              <a:t>(t)</a:t>
            </a:r>
            <a:r>
              <a:rPr lang="en-US" altLang="zh-CN" dirty="0">
                <a:latin typeface="黑体" panose="02010609060101010101" pitchFamily="49" charset="-122"/>
                <a:sym typeface="Symbol" panose="05050102010706020507" pitchFamily="18" charset="2"/>
              </a:rPr>
              <a:t>≤</a:t>
            </a:r>
            <a:r>
              <a:rPr lang="en-US" altLang="zh-CN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en-US" altLang="zh-CN" dirty="0" err="1">
                <a:sym typeface="Symbol" panose="05050102010706020507" pitchFamily="18" charset="2"/>
              </a:rPr>
              <a:t>jE</a:t>
            </a:r>
            <a:r>
              <a:rPr lang="zh-CN" altLang="en-US" dirty="0">
                <a:sym typeface="Symbol" panose="05050102010706020507" pitchFamily="18" charset="2"/>
              </a:rPr>
              <a:t>；</a:t>
            </a:r>
          </a:p>
        </p:txBody>
      </p:sp>
      <p:graphicFrame>
        <p:nvGraphicFramePr>
          <p:cNvPr id="263172" name="Object 4">
            <a:extLst>
              <a:ext uri="{FF2B5EF4-FFF2-40B4-BE49-F238E27FC236}">
                <a16:creationId xmlns:a16="http://schemas.microsoft.com/office/drawing/2014/main" id="{BE1BDC58-220C-286E-69FE-2F20500520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4175" y="1164930"/>
          <a:ext cx="1511650" cy="655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12447" imgH="355446" progId="Equation.3">
                  <p:embed/>
                </p:oleObj>
              </mc:Choice>
              <mc:Fallback>
                <p:oleObj name="Equation" r:id="rId3" imgW="812447" imgH="355446" progId="Equation.3">
                  <p:embed/>
                  <p:pic>
                    <p:nvPicPr>
                      <p:cNvPr id="263172" name="Object 4">
                        <a:extLst>
                          <a:ext uri="{FF2B5EF4-FFF2-40B4-BE49-F238E27FC236}">
                            <a16:creationId xmlns:a16="http://schemas.microsoft.com/office/drawing/2014/main" id="{BE1BDC58-220C-286E-69FE-2F20500520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4175" y="1164930"/>
                        <a:ext cx="1511650" cy="655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73" name="Rectangle 5">
            <a:extLst>
              <a:ext uri="{FF2B5EF4-FFF2-40B4-BE49-F238E27FC236}">
                <a16:creationId xmlns:a16="http://schemas.microsoft.com/office/drawing/2014/main" id="{FB12BA78-EF1F-7D94-0EF1-5FA82035A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1234849"/>
            <a:ext cx="2022943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连续性条件：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263174" name="Object 6">
            <a:extLst>
              <a:ext uri="{FF2B5EF4-FFF2-40B4-BE49-F238E27FC236}">
                <a16:creationId xmlns:a16="http://schemas.microsoft.com/office/drawing/2014/main" id="{A87EFA6E-3845-1563-9D32-4923041795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05009" y="959686"/>
          <a:ext cx="3048706" cy="940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4000" imgH="469900" progId="Equation.3">
                  <p:embed/>
                </p:oleObj>
              </mc:Choice>
              <mc:Fallback>
                <p:oleObj name="Equation" r:id="rId5" imgW="1524000" imgH="469900" progId="Equation.3">
                  <p:embed/>
                  <p:pic>
                    <p:nvPicPr>
                      <p:cNvPr id="263174" name="Object 6">
                        <a:extLst>
                          <a:ext uri="{FF2B5EF4-FFF2-40B4-BE49-F238E27FC236}">
                            <a16:creationId xmlns:a16="http://schemas.microsoft.com/office/drawing/2014/main" id="{A87EFA6E-3845-1563-9D32-4923041795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5009" y="959686"/>
                        <a:ext cx="3048706" cy="9400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75" name="Rectangle 7">
            <a:extLst>
              <a:ext uri="{FF2B5EF4-FFF2-40B4-BE49-F238E27FC236}">
                <a16:creationId xmlns:a16="http://schemas.microsoft.com/office/drawing/2014/main" id="{DD7E4780-896B-6C29-45FB-09CF4B9E2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2518255"/>
            <a:ext cx="7850417" cy="405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buClr>
                <a:srgbClr val="6600CC"/>
              </a:buClr>
              <a:buFont typeface="Wingdings" panose="05000000000000000000" pitchFamily="2" charset="2"/>
              <a:buAutoNum type="arabicPeriod" startAt="2"/>
            </a:pP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ij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(t)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满足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C-K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方程</a:t>
            </a:r>
          </a:p>
        </p:txBody>
      </p:sp>
      <p:graphicFrame>
        <p:nvGraphicFramePr>
          <p:cNvPr id="263176" name="Object 8">
            <a:extLst>
              <a:ext uri="{FF2B5EF4-FFF2-40B4-BE49-F238E27FC236}">
                <a16:creationId xmlns:a16="http://schemas.microsoft.com/office/drawing/2014/main" id="{A88D5552-9470-6D81-5745-D3021FF0BB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6938" y="2518255"/>
          <a:ext cx="27368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46040" imgH="291960" progId="Equation.DSMT4">
                  <p:embed/>
                </p:oleObj>
              </mc:Choice>
              <mc:Fallback>
                <p:oleObj name="Equation" r:id="rId7" imgW="1346040" imgH="291960" progId="Equation.DSMT4">
                  <p:embed/>
                  <p:pic>
                    <p:nvPicPr>
                      <p:cNvPr id="263176" name="Object 8">
                        <a:extLst>
                          <a:ext uri="{FF2B5EF4-FFF2-40B4-BE49-F238E27FC236}">
                            <a16:creationId xmlns:a16="http://schemas.microsoft.com/office/drawing/2014/main" id="{A88D5552-9470-6D81-5745-D3021FF0BB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6938" y="2518255"/>
                        <a:ext cx="27368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77" name="Rectangle 9">
            <a:extLst>
              <a:ext uri="{FF2B5EF4-FFF2-40B4-BE49-F238E27FC236}">
                <a16:creationId xmlns:a16="http://schemas.microsoft.com/office/drawing/2014/main" id="{B7953B4E-E520-1B22-ECF6-6208D7C38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0097" y="3407340"/>
            <a:ext cx="5065059" cy="461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矩阵形式</a:t>
            </a:r>
            <a:r>
              <a:rPr lang="en-US" altLang="zh-CN" sz="2400" dirty="0">
                <a:solidFill>
                  <a:srgbClr val="000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:	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P(t + s) 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＝ 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P(t)P(s)</a:t>
            </a:r>
          </a:p>
        </p:txBody>
      </p:sp>
      <p:sp>
        <p:nvSpPr>
          <p:cNvPr id="263178" name="Rectangle 10">
            <a:extLst>
              <a:ext uri="{FF2B5EF4-FFF2-40B4-BE49-F238E27FC236}">
                <a16:creationId xmlns:a16="http://schemas.microsoft.com/office/drawing/2014/main" id="{D79D77BA-4797-A3AF-6ABA-C6FA0DAF3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699" y="4329135"/>
            <a:ext cx="7850417" cy="405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buClr>
                <a:srgbClr val="6600CC"/>
              </a:buClr>
              <a:buFont typeface="Wingdings" panose="05000000000000000000" pitchFamily="2" charset="2"/>
              <a:buAutoNum type="arabicPeriod" startAt="3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绝对概率满足</a:t>
            </a:r>
          </a:p>
        </p:txBody>
      </p:sp>
      <p:graphicFrame>
        <p:nvGraphicFramePr>
          <p:cNvPr id="263179" name="Object 11">
            <a:extLst>
              <a:ext uri="{FF2B5EF4-FFF2-40B4-BE49-F238E27FC236}">
                <a16:creationId xmlns:a16="http://schemas.microsoft.com/office/drawing/2014/main" id="{57CE1BEB-1227-95BD-86E8-70DA82A4E9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1371" y="4252037"/>
          <a:ext cx="2685084" cy="697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20227" imgH="342751" progId="Equation.DSMT4">
                  <p:embed/>
                </p:oleObj>
              </mc:Choice>
              <mc:Fallback>
                <p:oleObj name="Equation" r:id="rId9" imgW="1320227" imgH="342751" progId="Equation.DSMT4">
                  <p:embed/>
                  <p:pic>
                    <p:nvPicPr>
                      <p:cNvPr id="263179" name="Object 11">
                        <a:extLst>
                          <a:ext uri="{FF2B5EF4-FFF2-40B4-BE49-F238E27FC236}">
                            <a16:creationId xmlns:a16="http://schemas.microsoft.com/office/drawing/2014/main" id="{57CE1BEB-1227-95BD-86E8-70DA82A4E9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71" y="4252037"/>
                        <a:ext cx="2685084" cy="697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80" name="Rectangle 12">
            <a:extLst>
              <a:ext uri="{FF2B5EF4-FFF2-40B4-BE49-F238E27FC236}">
                <a16:creationId xmlns:a16="http://schemas.microsoft.com/office/drawing/2014/main" id="{90A1E40C-1B85-0857-729E-6513A10CC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690" y="5163463"/>
            <a:ext cx="62905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如果齐次马氏链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{X(t), t0}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是遍历马氏链，则</a:t>
            </a:r>
          </a:p>
        </p:txBody>
      </p:sp>
      <p:graphicFrame>
        <p:nvGraphicFramePr>
          <p:cNvPr id="263181" name="Object 13">
            <a:extLst>
              <a:ext uri="{FF2B5EF4-FFF2-40B4-BE49-F238E27FC236}">
                <a16:creationId xmlns:a16="http://schemas.microsoft.com/office/drawing/2014/main" id="{EF9EE3C5-7D8C-0FD6-F362-8267F0E211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8575" y="6054237"/>
          <a:ext cx="4623870" cy="558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11400" imgH="279400" progId="Equation.DSMT4">
                  <p:embed/>
                </p:oleObj>
              </mc:Choice>
              <mc:Fallback>
                <p:oleObj name="Equation" r:id="rId11" imgW="2311400" imgH="279400" progId="Equation.DSMT4">
                  <p:embed/>
                  <p:pic>
                    <p:nvPicPr>
                      <p:cNvPr id="263181" name="Object 13">
                        <a:extLst>
                          <a:ext uri="{FF2B5EF4-FFF2-40B4-BE49-F238E27FC236}">
                            <a16:creationId xmlns:a16="http://schemas.microsoft.com/office/drawing/2014/main" id="{EF9EE3C5-7D8C-0FD6-F362-8267F0E211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6054237"/>
                        <a:ext cx="4623870" cy="5589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3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3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6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3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3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3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3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263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263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1" grpId="0" build="p"/>
      <p:bldP spid="263173" grpId="0"/>
      <p:bldP spid="263175" grpId="0" autoUpdateAnimBg="0"/>
      <p:bldP spid="263177" grpId="0" autoUpdateAnimBg="0"/>
      <p:bldP spid="263178" grpId="0" autoUpdateAnimBg="0"/>
      <p:bldP spid="263180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B690050B-1955-7991-BE01-A01FCA666A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转移概率函数的性质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1)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90D64FAA-DACD-3325-96EA-6FF1C2B72F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0375" y="867809"/>
            <a:ext cx="11353800" cy="1884842"/>
          </a:xfrm>
        </p:spPr>
        <p:txBody>
          <a:bodyPr>
            <a:noAutofit/>
          </a:bodyPr>
          <a:lstStyle/>
          <a:p>
            <a:pPr eaLnBrk="1" hangingPunct="1">
              <a:buClr>
                <a:srgbClr val="6600CC"/>
              </a:buClr>
              <a:buFont typeface="Wingdings" panose="05000000000000000000" pitchFamily="2" charset="2"/>
              <a:buAutoNum type="arabicPeriod" startAt="4"/>
            </a:pPr>
            <a:r>
              <a:rPr lang="zh-CN" altLang="en-US" dirty="0"/>
              <a:t>设齐次马氏链</a:t>
            </a:r>
            <a:r>
              <a:rPr lang="en-US" altLang="zh-CN" dirty="0"/>
              <a:t>{X(t), 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≥</a:t>
            </a:r>
            <a:r>
              <a:rPr lang="en-US" altLang="zh-CN" dirty="0">
                <a:sym typeface="Symbol" panose="05050102010706020507" pitchFamily="18" charset="2"/>
              </a:rPr>
              <a:t>0</a:t>
            </a:r>
            <a:r>
              <a:rPr lang="en-US" altLang="zh-CN" dirty="0"/>
              <a:t>}</a:t>
            </a:r>
            <a:r>
              <a:rPr lang="zh-CN" altLang="en-US" dirty="0"/>
              <a:t>的状态有限，</a:t>
            </a:r>
            <a:r>
              <a:rPr lang="en-US" altLang="zh-CN" dirty="0"/>
              <a:t>E={0, 1, 2, …, s}</a:t>
            </a:r>
            <a:r>
              <a:rPr lang="zh-CN" altLang="en-US" dirty="0"/>
              <a:t>，如果存在</a:t>
            </a:r>
            <a:r>
              <a:rPr lang="en-US" altLang="zh-CN" dirty="0"/>
              <a:t>t</a:t>
            </a:r>
            <a:r>
              <a:rPr lang="en-US" altLang="zh-CN" baseline="-25000" dirty="0"/>
              <a:t>0</a:t>
            </a:r>
            <a:r>
              <a:rPr lang="zh-CN" altLang="en-US" dirty="0">
                <a:latin typeface="黑体" panose="02010609060101010101" pitchFamily="49" charset="-122"/>
                <a:sym typeface="Symbol" panose="05050102010706020507" pitchFamily="18" charset="2"/>
              </a:rPr>
              <a:t>＞</a:t>
            </a:r>
            <a:r>
              <a:rPr lang="en-US" altLang="zh-CN" dirty="0"/>
              <a:t>0</a:t>
            </a:r>
            <a:r>
              <a:rPr lang="zh-CN" altLang="en-US" dirty="0"/>
              <a:t>，使得对任意</a:t>
            </a:r>
            <a:r>
              <a:rPr lang="en-US" altLang="zh-CN" dirty="0" err="1"/>
              <a:t>i</a:t>
            </a:r>
            <a:r>
              <a:rPr lang="en-US" altLang="zh-CN" dirty="0"/>
              <a:t>, </a:t>
            </a:r>
            <a:r>
              <a:rPr lang="en-US" altLang="zh-CN" dirty="0" err="1"/>
              <a:t>j</a:t>
            </a:r>
            <a:r>
              <a:rPr lang="en-US" altLang="zh-CN" dirty="0" err="1">
                <a:sym typeface="Symbol" panose="05050102010706020507" pitchFamily="18" charset="2"/>
              </a:rPr>
              <a:t>E</a:t>
            </a:r>
            <a:r>
              <a:rPr lang="zh-CN" altLang="en-US" dirty="0">
                <a:sym typeface="Symbol" panose="05050102010706020507" pitchFamily="18" charset="2"/>
              </a:rPr>
              <a:t>，都有</a:t>
            </a:r>
            <a:r>
              <a:rPr lang="en-US" altLang="zh-CN" dirty="0" err="1"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ym typeface="Symbol" panose="05050102010706020507" pitchFamily="18" charset="2"/>
              </a:rPr>
              <a:t>ij</a:t>
            </a:r>
            <a:r>
              <a:rPr lang="en-US" altLang="zh-CN" dirty="0">
                <a:sym typeface="Symbol" panose="05050102010706020507" pitchFamily="18" charset="2"/>
              </a:rPr>
              <a:t>(t</a:t>
            </a:r>
            <a:r>
              <a:rPr lang="en-US" altLang="zh-CN" baseline="-25000" dirty="0">
                <a:sym typeface="Symbol" panose="05050102010706020507" pitchFamily="18" charset="2"/>
              </a:rPr>
              <a:t>0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黑体" panose="02010609060101010101" pitchFamily="49" charset="-122"/>
                <a:sym typeface="Symbol" panose="05050102010706020507" pitchFamily="18" charset="2"/>
              </a:rPr>
              <a:t>＞</a:t>
            </a:r>
            <a:r>
              <a:rPr lang="en-US" altLang="zh-CN" dirty="0">
                <a:sym typeface="Symbol" panose="05050102010706020507" pitchFamily="18" charset="2"/>
              </a:rPr>
              <a:t>0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Clr>
                <a:srgbClr val="6600CC"/>
              </a:buClr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则此齐次马氏链</a:t>
            </a:r>
            <a:r>
              <a:rPr lang="en-US" altLang="zh-CN" dirty="0"/>
              <a:t>{X(t), t</a:t>
            </a:r>
            <a:r>
              <a:rPr lang="en-US" altLang="zh-CN" dirty="0">
                <a:sym typeface="Symbol" panose="05050102010706020507" pitchFamily="18" charset="2"/>
              </a:rPr>
              <a:t>0</a:t>
            </a:r>
            <a:r>
              <a:rPr lang="en-US" altLang="zh-CN" dirty="0"/>
              <a:t>}</a:t>
            </a:r>
            <a:r>
              <a:rPr lang="zh-CN" altLang="en-US" dirty="0">
                <a:sym typeface="Symbol" panose="05050102010706020507" pitchFamily="18" charset="2"/>
              </a:rPr>
              <a:t>为遍历的齐次马氏链。即</a:t>
            </a:r>
          </a:p>
        </p:txBody>
      </p:sp>
      <p:graphicFrame>
        <p:nvGraphicFramePr>
          <p:cNvPr id="264196" name="Object 4">
            <a:extLst>
              <a:ext uri="{FF2B5EF4-FFF2-40B4-BE49-F238E27FC236}">
                <a16:creationId xmlns:a16="http://schemas.microsoft.com/office/drawing/2014/main" id="{87EC4577-1C28-3F8A-54D6-BE48FEA834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9575" y="1515307"/>
          <a:ext cx="3383746" cy="5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87500" imgH="279400" progId="Equation.3">
                  <p:embed/>
                </p:oleObj>
              </mc:Choice>
              <mc:Fallback>
                <p:oleObj name="Equation" r:id="rId3" imgW="1587500" imgH="279400" progId="Equation.3">
                  <p:embed/>
                  <p:pic>
                    <p:nvPicPr>
                      <p:cNvPr id="264196" name="Object 4">
                        <a:extLst>
                          <a:ext uri="{FF2B5EF4-FFF2-40B4-BE49-F238E27FC236}">
                            <a16:creationId xmlns:a16="http://schemas.microsoft.com/office/drawing/2014/main" id="{87EC4577-1C28-3F8A-54D6-BE48FEA834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9575" y="1515307"/>
                        <a:ext cx="3383746" cy="5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197" name="Rectangle 5">
            <a:extLst>
              <a:ext uri="{FF2B5EF4-FFF2-40B4-BE49-F238E27FC236}">
                <a16:creationId xmlns:a16="http://schemas.microsoft.com/office/drawing/2014/main" id="{572FDC6C-4A6E-A028-42DC-BCAC43988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802" y="2675826"/>
            <a:ext cx="9697269" cy="465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存在且与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无关，并且极限分布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{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j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E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是唯一的平稳分布：</a:t>
            </a:r>
          </a:p>
        </p:txBody>
      </p:sp>
      <p:graphicFrame>
        <p:nvGraphicFramePr>
          <p:cNvPr id="264198" name="Object 6">
            <a:extLst>
              <a:ext uri="{FF2B5EF4-FFF2-40B4-BE49-F238E27FC236}">
                <a16:creationId xmlns:a16="http://schemas.microsoft.com/office/drawing/2014/main" id="{31EB41E6-D7D2-AAD6-9D4D-CFCC0F936B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1575" y="3193757"/>
          <a:ext cx="4912862" cy="655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41600" imgH="355600" progId="Equation.3">
                  <p:embed/>
                </p:oleObj>
              </mc:Choice>
              <mc:Fallback>
                <p:oleObj name="Equation" r:id="rId5" imgW="2641600" imgH="355600" progId="Equation.3">
                  <p:embed/>
                  <p:pic>
                    <p:nvPicPr>
                      <p:cNvPr id="264198" name="Object 6">
                        <a:extLst>
                          <a:ext uri="{FF2B5EF4-FFF2-40B4-BE49-F238E27FC236}">
                            <a16:creationId xmlns:a16="http://schemas.microsoft.com/office/drawing/2014/main" id="{31EB41E6-D7D2-AAD6-9D4D-CFCC0F936B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575" y="3193757"/>
                        <a:ext cx="4912862" cy="655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199" name="Rectangle 7">
            <a:extLst>
              <a:ext uri="{FF2B5EF4-FFF2-40B4-BE49-F238E27FC236}">
                <a16:creationId xmlns:a16="http://schemas.microsoft.com/office/drawing/2014/main" id="{657D1884-05C3-9FF0-7F96-AD4E6930D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18" y="3923857"/>
            <a:ext cx="7850417" cy="377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Clr>
                <a:srgbClr val="6600CC"/>
              </a:buClr>
              <a:buFont typeface="Wingdings" panose="05000000000000000000" pitchFamily="2" charset="2"/>
              <a:buAutoNum type="arabicPeriod" startAt="5"/>
            </a:pP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对固定的</a:t>
            </a: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</a:rPr>
              <a:t>i, j</a:t>
            </a: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，函数</a:t>
            </a: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</a:rPr>
              <a:t>p</a:t>
            </a:r>
            <a:r>
              <a:rPr lang="en-US" altLang="zh-CN" sz="2400" baseline="-25000">
                <a:solidFill>
                  <a:srgbClr val="000000"/>
                </a:solidFill>
                <a:latin typeface="+mn-ea"/>
                <a:ea typeface="+mn-ea"/>
              </a:rPr>
              <a:t>ij</a:t>
            </a: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</a:rPr>
              <a:t>(t)</a:t>
            </a: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是</a:t>
            </a: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</a:rPr>
              <a:t>t&gt;0</a:t>
            </a: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的一致连续函数。</a:t>
            </a:r>
          </a:p>
        </p:txBody>
      </p:sp>
      <p:sp>
        <p:nvSpPr>
          <p:cNvPr id="264200" name="Rectangle 8">
            <a:extLst>
              <a:ext uri="{FF2B5EF4-FFF2-40B4-BE49-F238E27FC236}">
                <a16:creationId xmlns:a16="http://schemas.microsoft.com/office/drawing/2014/main" id="{7FFF4CE4-7C65-7880-140E-2DB93090F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18" y="4515128"/>
            <a:ext cx="10147300" cy="373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Clr>
                <a:srgbClr val="6600CC"/>
              </a:buClr>
              <a:buFont typeface="Wingdings" panose="05000000000000000000" pitchFamily="2" charset="2"/>
              <a:buAutoNum type="arabicPeriod" startAt="6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满足连续性条件的连续参数齐次马氏链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{X(t), t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0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存在下列极限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264201" name="Object 9">
            <a:extLst>
              <a:ext uri="{FF2B5EF4-FFF2-40B4-BE49-F238E27FC236}">
                <a16:creationId xmlns:a16="http://schemas.microsoft.com/office/drawing/2014/main" id="{D245A9C5-36F4-E042-CE84-CE8F08599B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5775" y="4973513"/>
          <a:ext cx="6491202" cy="741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670300" imgH="419100" progId="Equation.3">
                  <p:embed/>
                </p:oleObj>
              </mc:Choice>
              <mc:Fallback>
                <p:oleObj name="公式" r:id="rId7" imgW="3670300" imgH="419100" progId="Equation.3">
                  <p:embed/>
                  <p:pic>
                    <p:nvPicPr>
                      <p:cNvPr id="264201" name="Object 9">
                        <a:extLst>
                          <a:ext uri="{FF2B5EF4-FFF2-40B4-BE49-F238E27FC236}">
                            <a16:creationId xmlns:a16="http://schemas.microsoft.com/office/drawing/2014/main" id="{D245A9C5-36F4-E042-CE84-CE8F08599B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775" y="4973513"/>
                        <a:ext cx="6491202" cy="7415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02" name="Rectangle 10">
            <a:extLst>
              <a:ext uri="{FF2B5EF4-FFF2-40B4-BE49-F238E27FC236}">
                <a16:creationId xmlns:a16="http://schemas.microsoft.com/office/drawing/2014/main" id="{75FB5A08-0E73-63F4-9F77-7E8546852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18" y="5672054"/>
            <a:ext cx="10535469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其中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表示通过状态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通过速度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或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通过强度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；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q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ij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表示从状态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转移到状态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速度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或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强度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q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ij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统称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转移速度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26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4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4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 build="p"/>
      <p:bldP spid="264197" grpId="0"/>
      <p:bldP spid="264199" grpId="0" autoUpdateAnimBg="0"/>
      <p:bldP spid="264200" grpId="0" autoUpdateAnimBg="0"/>
      <p:bldP spid="264202" grpId="0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A3BDF413-F27C-3D52-C22F-32011E07C5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状态转移速度矩阵</a:t>
            </a:r>
            <a:endParaRPr lang="zh-CN" altLang="en-US"/>
          </a:p>
        </p:txBody>
      </p:sp>
      <p:sp>
        <p:nvSpPr>
          <p:cNvPr id="265219" name="Rectangle 3">
            <a:extLst>
              <a:ext uri="{FF2B5EF4-FFF2-40B4-BE49-F238E27FC236}">
                <a16:creationId xmlns:a16="http://schemas.microsoft.com/office/drawing/2014/main" id="{C38E3169-09B2-17A1-60B8-E129F780EF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204" y="1119907"/>
            <a:ext cx="11963400" cy="549553"/>
          </a:xfrm>
        </p:spPr>
        <p:txBody>
          <a:bodyPr>
            <a:noAutofit/>
          </a:bodyPr>
          <a:lstStyle/>
          <a:p>
            <a:pPr marL="0" indent="611310">
              <a:lnSpc>
                <a:spcPct val="100000"/>
              </a:lnSpc>
              <a:buNone/>
            </a:pPr>
            <a:r>
              <a:rPr lang="zh-CN" altLang="en-US" dirty="0"/>
              <a:t>设连续参数齐次马氏链</a:t>
            </a:r>
            <a:r>
              <a:rPr lang="en-US" altLang="zh-CN" dirty="0"/>
              <a:t>{X(t), t</a:t>
            </a:r>
            <a:r>
              <a:rPr lang="en-US" altLang="zh-CN" dirty="0">
                <a:sym typeface="Symbol" panose="05050102010706020507" pitchFamily="18" charset="2"/>
              </a:rPr>
              <a:t>0</a:t>
            </a:r>
            <a:r>
              <a:rPr lang="en-US" altLang="zh-CN" dirty="0"/>
              <a:t>}</a:t>
            </a:r>
            <a:r>
              <a:rPr lang="zh-CN" altLang="en-US" dirty="0"/>
              <a:t>，状态空间</a:t>
            </a:r>
            <a:r>
              <a:rPr lang="en-US" altLang="zh-CN" dirty="0"/>
              <a:t>E={0, 1, 2, …, s}</a:t>
            </a:r>
            <a:r>
              <a:rPr lang="zh-CN" altLang="en-US" dirty="0"/>
              <a:t>，下面</a:t>
            </a:r>
            <a:r>
              <a:rPr lang="en-US" altLang="zh-CN" dirty="0"/>
              <a:t>s+1</a:t>
            </a:r>
            <a:r>
              <a:rPr lang="zh-CN" altLang="en-US" dirty="0"/>
              <a:t>阶方阵：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graphicFrame>
        <p:nvGraphicFramePr>
          <p:cNvPr id="265220" name="Object 4">
            <a:extLst>
              <a:ext uri="{FF2B5EF4-FFF2-40B4-BE49-F238E27FC236}">
                <a16:creationId xmlns:a16="http://schemas.microsoft.com/office/drawing/2014/main" id="{8131030C-7E18-232A-9730-9A1AB03F51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3734" y="1773649"/>
          <a:ext cx="4496841" cy="2211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74900" imgH="1168400" progId="Equation.DSMT4">
                  <p:embed/>
                </p:oleObj>
              </mc:Choice>
              <mc:Fallback>
                <p:oleObj name="Equation" r:id="rId3" imgW="2374900" imgH="1168400" progId="Equation.DSMT4">
                  <p:embed/>
                  <p:pic>
                    <p:nvPicPr>
                      <p:cNvPr id="265220" name="Object 4">
                        <a:extLst>
                          <a:ext uri="{FF2B5EF4-FFF2-40B4-BE49-F238E27FC236}">
                            <a16:creationId xmlns:a16="http://schemas.microsoft.com/office/drawing/2014/main" id="{8131030C-7E18-232A-9730-9A1AB03F51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3734" y="1773649"/>
                        <a:ext cx="4496841" cy="2211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21" name="Rectangle 5">
            <a:extLst>
              <a:ext uri="{FF2B5EF4-FFF2-40B4-BE49-F238E27FC236}">
                <a16:creationId xmlns:a16="http://schemas.microsoft.com/office/drawing/2014/main" id="{76C4A4D9-DB3F-D9AA-28CC-6DE6F597A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761" y="4042711"/>
            <a:ext cx="99586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称为齐次马氏链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{X(t), t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0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状态转移速度矩阵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，简称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Q-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矩阵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graphicFrame>
        <p:nvGraphicFramePr>
          <p:cNvPr id="265222" name="Object 6">
            <a:extLst>
              <a:ext uri="{FF2B5EF4-FFF2-40B4-BE49-F238E27FC236}">
                <a16:creationId xmlns:a16="http://schemas.microsoft.com/office/drawing/2014/main" id="{11C20FCA-8421-263D-14AC-62E4FFED39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3904" y="4690219"/>
          <a:ext cx="2740659" cy="913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73200" imgH="495300" progId="Equation.3">
                  <p:embed/>
                </p:oleObj>
              </mc:Choice>
              <mc:Fallback>
                <p:oleObj name="Equation" r:id="rId5" imgW="1473200" imgH="495300" progId="Equation.3">
                  <p:embed/>
                  <p:pic>
                    <p:nvPicPr>
                      <p:cNvPr id="265222" name="Object 6">
                        <a:extLst>
                          <a:ext uri="{FF2B5EF4-FFF2-40B4-BE49-F238E27FC236}">
                            <a16:creationId xmlns:a16="http://schemas.microsoft.com/office/drawing/2014/main" id="{11C20FCA-8421-263D-14AC-62E4FFED39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3904" y="4690219"/>
                        <a:ext cx="2740659" cy="913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23" name="Rectangle 7">
            <a:extLst>
              <a:ext uri="{FF2B5EF4-FFF2-40B4-BE49-F238E27FC236}">
                <a16:creationId xmlns:a16="http://schemas.microsoft.com/office/drawing/2014/main" id="{DE8B6A85-E5AD-C9CC-9289-2A25C0678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4914108"/>
            <a:ext cx="7561425" cy="470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611188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由连续性条件和导数的定义，显然有</a:t>
            </a:r>
          </a:p>
        </p:txBody>
      </p:sp>
      <p:sp>
        <p:nvSpPr>
          <p:cNvPr id="265224" name="Rectangle 8">
            <a:extLst>
              <a:ext uri="{FF2B5EF4-FFF2-40B4-BE49-F238E27FC236}">
                <a16:creationId xmlns:a16="http://schemas.microsoft.com/office/drawing/2014/main" id="{2285AE83-0C24-03A0-5530-CCE9FD8D5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975" y="5827132"/>
            <a:ext cx="7561425" cy="465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即			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P’(+0)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Q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6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6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5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5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5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5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9" grpId="0" build="p"/>
      <p:bldP spid="265221" grpId="0"/>
      <p:bldP spid="265223" grpId="0" autoUpdateAnimBg="0"/>
      <p:bldP spid="265224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186F89E1-02FA-9185-A899-207022B4D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转移概率函数的性质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2)</a:t>
            </a:r>
          </a:p>
        </p:txBody>
      </p:sp>
      <p:sp>
        <p:nvSpPr>
          <p:cNvPr id="266243" name="Rectangle 3">
            <a:extLst>
              <a:ext uri="{FF2B5EF4-FFF2-40B4-BE49-F238E27FC236}">
                <a16:creationId xmlns:a16="http://schemas.microsoft.com/office/drawing/2014/main" id="{F7DF7C3C-8343-17AF-76B5-52E1CD7A62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2775" y="1067594"/>
            <a:ext cx="10515600" cy="812988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buClr>
                <a:srgbClr val="6600CC"/>
              </a:buClr>
              <a:buFont typeface="Wingdings" panose="05000000000000000000" pitchFamily="2" charset="2"/>
              <a:buAutoNum type="arabicPeriod" startAt="7"/>
            </a:pPr>
            <a:r>
              <a:rPr lang="zh-CN" altLang="en-US" dirty="0"/>
              <a:t>设齐次马氏链</a:t>
            </a:r>
            <a:r>
              <a:rPr lang="en-US" altLang="zh-CN" dirty="0"/>
              <a:t>{X(t), t</a:t>
            </a:r>
            <a:r>
              <a:rPr lang="en-US" altLang="zh-CN" dirty="0">
                <a:sym typeface="Symbol" panose="05050102010706020507" pitchFamily="18" charset="2"/>
              </a:rPr>
              <a:t>0</a:t>
            </a:r>
            <a:r>
              <a:rPr lang="en-US" altLang="zh-CN" dirty="0"/>
              <a:t>}</a:t>
            </a:r>
            <a:r>
              <a:rPr lang="zh-CN" altLang="en-US" dirty="0"/>
              <a:t>，状态空间</a:t>
            </a:r>
            <a:r>
              <a:rPr lang="en-US" altLang="zh-CN" dirty="0"/>
              <a:t>E={0, 1, 2, …, s}</a:t>
            </a:r>
            <a:r>
              <a:rPr lang="zh-CN" altLang="en-US" dirty="0"/>
              <a:t>，其转移速度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graphicFrame>
        <p:nvGraphicFramePr>
          <p:cNvPr id="266244" name="Object 4">
            <a:extLst>
              <a:ext uri="{FF2B5EF4-FFF2-40B4-BE49-F238E27FC236}">
                <a16:creationId xmlns:a16="http://schemas.microsoft.com/office/drawing/2014/main" id="{FB13F25D-66C5-4848-4D64-7940591915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8791" y="1633669"/>
          <a:ext cx="3221784" cy="75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11300" imgH="355600" progId="Equation.3">
                  <p:embed/>
                </p:oleObj>
              </mc:Choice>
              <mc:Fallback>
                <p:oleObj name="Equation" r:id="rId3" imgW="1511300" imgH="355600" progId="Equation.3">
                  <p:embed/>
                  <p:pic>
                    <p:nvPicPr>
                      <p:cNvPr id="266244" name="Object 4">
                        <a:extLst>
                          <a:ext uri="{FF2B5EF4-FFF2-40B4-BE49-F238E27FC236}">
                            <a16:creationId xmlns:a16="http://schemas.microsoft.com/office/drawing/2014/main" id="{FB13F25D-66C5-4848-4D64-7940591915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8791" y="1633669"/>
                        <a:ext cx="3221784" cy="75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45" name="Rectangle 5">
            <a:extLst>
              <a:ext uri="{FF2B5EF4-FFF2-40B4-BE49-F238E27FC236}">
                <a16:creationId xmlns:a16="http://schemas.microsoft.com/office/drawing/2014/main" id="{56E1CDD0-4612-2E8A-953D-DB07A1A6C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2378531"/>
            <a:ext cx="10972800" cy="136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buClr>
                <a:srgbClr val="6600CC"/>
              </a:buClr>
              <a:buFont typeface="Wingdings" panose="05000000000000000000" pitchFamily="2" charset="2"/>
              <a:buAutoNum type="arabicPeriod" startAt="8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设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{X(t), t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0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为连续参数齐次马氏链，当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q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&lt;+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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         ＝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时，满足柯尔莫哥洛夫后退微分方程</a:t>
            </a:r>
          </a:p>
        </p:txBody>
      </p:sp>
      <p:graphicFrame>
        <p:nvGraphicFramePr>
          <p:cNvPr id="266246" name="Object 6">
            <a:extLst>
              <a:ext uri="{FF2B5EF4-FFF2-40B4-BE49-F238E27FC236}">
                <a16:creationId xmlns:a16="http://schemas.microsoft.com/office/drawing/2014/main" id="{60221DF7-CF88-E6BF-8D4A-5B7F2AE019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43258" y="2563342"/>
          <a:ext cx="782819" cy="608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57002" imgH="355446" progId="Equation.3">
                  <p:embed/>
                </p:oleObj>
              </mc:Choice>
              <mc:Fallback>
                <p:oleObj name="Equation" r:id="rId5" imgW="457002" imgH="355446" progId="Equation.3">
                  <p:embed/>
                  <p:pic>
                    <p:nvPicPr>
                      <p:cNvPr id="266246" name="Object 6">
                        <a:extLst>
                          <a:ext uri="{FF2B5EF4-FFF2-40B4-BE49-F238E27FC236}">
                            <a16:creationId xmlns:a16="http://schemas.microsoft.com/office/drawing/2014/main" id="{60221DF7-CF88-E6BF-8D4A-5B7F2AE019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3258" y="2563342"/>
                        <a:ext cx="782819" cy="6081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7" name="Object 7">
            <a:extLst>
              <a:ext uri="{FF2B5EF4-FFF2-40B4-BE49-F238E27FC236}">
                <a16:creationId xmlns:a16="http://schemas.microsoft.com/office/drawing/2014/main" id="{92EA4D88-162A-E883-F7FC-2B1AFEFD95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9406" y="3074385"/>
          <a:ext cx="4466671" cy="97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95500" imgH="457200" progId="Equation.3">
                  <p:embed/>
                </p:oleObj>
              </mc:Choice>
              <mc:Fallback>
                <p:oleObj name="Equation" r:id="rId7" imgW="2095500" imgH="457200" progId="Equation.3">
                  <p:embed/>
                  <p:pic>
                    <p:nvPicPr>
                      <p:cNvPr id="266247" name="Object 7">
                        <a:extLst>
                          <a:ext uri="{FF2B5EF4-FFF2-40B4-BE49-F238E27FC236}">
                            <a16:creationId xmlns:a16="http://schemas.microsoft.com/office/drawing/2014/main" id="{92EA4D88-162A-E883-F7FC-2B1AFEFD95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9406" y="3074385"/>
                        <a:ext cx="4466671" cy="97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48" name="Rectangle 8">
            <a:extLst>
              <a:ext uri="{FF2B5EF4-FFF2-40B4-BE49-F238E27FC236}">
                <a16:creationId xmlns:a16="http://schemas.microsoft.com/office/drawing/2014/main" id="{2E743C88-56B4-B854-888E-9FC97B43B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081" y="4097246"/>
            <a:ext cx="21355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即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P’(t)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QP(t)</a:t>
            </a:r>
          </a:p>
        </p:txBody>
      </p:sp>
      <p:sp>
        <p:nvSpPr>
          <p:cNvPr id="266249" name="Rectangle 9">
            <a:extLst>
              <a:ext uri="{FF2B5EF4-FFF2-40B4-BE49-F238E27FC236}">
                <a16:creationId xmlns:a16="http://schemas.microsoft.com/office/drawing/2014/main" id="{F2A00788-DC85-FE3D-684F-0F0E2D7EE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4707321"/>
            <a:ext cx="11134725" cy="136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buClr>
                <a:srgbClr val="6600CC"/>
              </a:buClr>
              <a:buFont typeface="Wingdings" panose="05000000000000000000" pitchFamily="2" charset="2"/>
              <a:buAutoNum type="arabicPeriod" startAt="9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设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{X(t), t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0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为连续参数齐次马氏链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当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q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&lt;+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,           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q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ij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时，则有柯尔莫哥洛夫前进微分方程</a:t>
            </a:r>
          </a:p>
        </p:txBody>
      </p:sp>
      <p:graphicFrame>
        <p:nvGraphicFramePr>
          <p:cNvPr id="266250" name="Object 10">
            <a:extLst>
              <a:ext uri="{FF2B5EF4-FFF2-40B4-BE49-F238E27FC236}">
                <a16:creationId xmlns:a16="http://schemas.microsoft.com/office/drawing/2014/main" id="{45A2A7AD-A3FD-F060-E70B-5CF9C07602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9579" y="4769135"/>
          <a:ext cx="1087689" cy="717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34725" imgH="418918" progId="Equation.3">
                  <p:embed/>
                </p:oleObj>
              </mc:Choice>
              <mc:Fallback>
                <p:oleObj name="Equation" r:id="rId9" imgW="634725" imgH="418918" progId="Equation.3">
                  <p:embed/>
                  <p:pic>
                    <p:nvPicPr>
                      <p:cNvPr id="266250" name="Object 10">
                        <a:extLst>
                          <a:ext uri="{FF2B5EF4-FFF2-40B4-BE49-F238E27FC236}">
                            <a16:creationId xmlns:a16="http://schemas.microsoft.com/office/drawing/2014/main" id="{45A2A7AD-A3FD-F060-E70B-5CF9C07602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9579" y="4769135"/>
                        <a:ext cx="1087689" cy="7177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51" name="Object 11">
            <a:extLst>
              <a:ext uri="{FF2B5EF4-FFF2-40B4-BE49-F238E27FC236}">
                <a16:creationId xmlns:a16="http://schemas.microsoft.com/office/drawing/2014/main" id="{80F7B526-1933-6C8C-8AC3-69963876F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27764" y="5481067"/>
          <a:ext cx="4466671" cy="97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95500" imgH="457200" progId="Equation.3">
                  <p:embed/>
                </p:oleObj>
              </mc:Choice>
              <mc:Fallback>
                <p:oleObj name="Equation" r:id="rId11" imgW="2095500" imgH="457200" progId="Equation.3">
                  <p:embed/>
                  <p:pic>
                    <p:nvPicPr>
                      <p:cNvPr id="266251" name="Object 11">
                        <a:extLst>
                          <a:ext uri="{FF2B5EF4-FFF2-40B4-BE49-F238E27FC236}">
                            <a16:creationId xmlns:a16="http://schemas.microsoft.com/office/drawing/2014/main" id="{80F7B526-1933-6C8C-8AC3-69963876F0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7764" y="5481067"/>
                        <a:ext cx="4466671" cy="97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52" name="Rectangle 12">
            <a:extLst>
              <a:ext uri="{FF2B5EF4-FFF2-40B4-BE49-F238E27FC236}">
                <a16:creationId xmlns:a16="http://schemas.microsoft.com/office/drawing/2014/main" id="{6BC68B5A-A5F4-1941-E6BC-06FE85159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520" y="6397816"/>
            <a:ext cx="21355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即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P’(t)</a:t>
            </a: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P(t)Q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6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6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6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6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6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6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6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6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6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6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6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6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3" grpId="0" build="p"/>
      <p:bldP spid="266245" grpId="0" autoUpdateAnimBg="0"/>
      <p:bldP spid="266248" grpId="0" autoUpdateAnimBg="0"/>
      <p:bldP spid="266249" grpId="0" autoUpdateAnimBg="0"/>
      <p:bldP spid="266252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71C1001-8847-DDF6-FBC7-12D1F28F3A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转移概率函数的性质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3)</a:t>
            </a:r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D6B9B648-091C-98DE-22D1-68DDD22C39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4175" y="1067594"/>
            <a:ext cx="8155217" cy="630331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buClr>
                <a:srgbClr val="6600CC"/>
              </a:buClr>
              <a:buFont typeface="Wingdings" panose="05000000000000000000" pitchFamily="2" charset="2"/>
              <a:buAutoNum type="arabicPeriod" startAt="10"/>
            </a:pPr>
            <a:r>
              <a:rPr lang="zh-CN" altLang="en-US" dirty="0"/>
              <a:t>绝对概率满足（福克</a:t>
            </a:r>
            <a:r>
              <a:rPr lang="en-US" altLang="zh-CN" dirty="0"/>
              <a:t>-</a:t>
            </a:r>
            <a:r>
              <a:rPr lang="zh-CN" altLang="en-US" dirty="0"/>
              <a:t>普朗克方程）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graphicFrame>
        <p:nvGraphicFramePr>
          <p:cNvPr id="267268" name="Object 4">
            <a:extLst>
              <a:ext uri="{FF2B5EF4-FFF2-40B4-BE49-F238E27FC236}">
                <a16:creationId xmlns:a16="http://schemas.microsoft.com/office/drawing/2014/main" id="{9F9A4A4C-A923-B6A8-C945-B3AEBA31AA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8484" y="1701972"/>
          <a:ext cx="4358697" cy="784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44700" imgH="368300" progId="Equation.DSMT4">
                  <p:embed/>
                </p:oleObj>
              </mc:Choice>
              <mc:Fallback>
                <p:oleObj name="Equation" r:id="rId3" imgW="2044700" imgH="368300" progId="Equation.DSMT4">
                  <p:embed/>
                  <p:pic>
                    <p:nvPicPr>
                      <p:cNvPr id="267268" name="Object 4">
                        <a:extLst>
                          <a:ext uri="{FF2B5EF4-FFF2-40B4-BE49-F238E27FC236}">
                            <a16:creationId xmlns:a16="http://schemas.microsoft.com/office/drawing/2014/main" id="{9F9A4A4C-A923-B6A8-C945-B3AEBA31AA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8484" y="1701972"/>
                        <a:ext cx="4358697" cy="7844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69" name="Rectangle 5">
            <a:extLst>
              <a:ext uri="{FF2B5EF4-FFF2-40B4-BE49-F238E27FC236}">
                <a16:creationId xmlns:a16="http://schemas.microsoft.com/office/drawing/2014/main" id="{1E3E0988-4712-576F-F1B2-7DEC69672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2822812"/>
            <a:ext cx="11125200" cy="431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Clr>
                <a:srgbClr val="6600CC"/>
              </a:buClr>
              <a:buFont typeface="Wingdings" panose="05000000000000000000" pitchFamily="2" charset="2"/>
              <a:buAutoNum type="arabicPeriod" startAt="11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齐次不可约连续参数马氏链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{X(t), t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0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存在极限分布，即为平稳分布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{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}</a:t>
            </a:r>
          </a:p>
        </p:txBody>
      </p:sp>
      <p:graphicFrame>
        <p:nvGraphicFramePr>
          <p:cNvPr id="267270" name="Object 6">
            <a:extLst>
              <a:ext uri="{FF2B5EF4-FFF2-40B4-BE49-F238E27FC236}">
                <a16:creationId xmlns:a16="http://schemas.microsoft.com/office/drawing/2014/main" id="{CF4101C8-8F0E-2827-B70D-9E440FD910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4898" y="3827255"/>
          <a:ext cx="2842283" cy="75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500" imgH="355600" progId="Equation.DSMT4">
                  <p:embed/>
                </p:oleObj>
              </mc:Choice>
              <mc:Fallback>
                <p:oleObj name="Equation" r:id="rId5" imgW="1333500" imgH="355600" progId="Equation.DSMT4">
                  <p:embed/>
                  <p:pic>
                    <p:nvPicPr>
                      <p:cNvPr id="267270" name="Object 6">
                        <a:extLst>
                          <a:ext uri="{FF2B5EF4-FFF2-40B4-BE49-F238E27FC236}">
                            <a16:creationId xmlns:a16="http://schemas.microsoft.com/office/drawing/2014/main" id="{CF4101C8-8F0E-2827-B70D-9E440FD910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898" y="3827255"/>
                        <a:ext cx="2842283" cy="75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71" name="Rectangle 7">
            <a:extLst>
              <a:ext uri="{FF2B5EF4-FFF2-40B4-BE49-F238E27FC236}">
                <a16:creationId xmlns:a16="http://schemas.microsoft.com/office/drawing/2014/main" id="{6474700C-436B-E28E-3B5B-06E568546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028" y="5106194"/>
            <a:ext cx="5135608" cy="461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即		</a:t>
            </a: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Q</a:t>
            </a: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0</a:t>
            </a: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（零向量）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build="p"/>
      <p:bldP spid="267269" grpId="0" autoUpdateAnimBg="0"/>
      <p:bldP spid="267271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B64B4-6454-C809-8E15-6D5159CC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142B3075-F4F9-060F-8FE7-EA71568512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4700" y="352424"/>
            <a:ext cx="5334000" cy="429419"/>
          </a:xfrm>
        </p:spPr>
        <p:txBody>
          <a:bodyPr/>
          <a:lstStyle/>
          <a:p>
            <a:r>
              <a:rPr lang="zh-CN" altLang="en-US" dirty="0"/>
              <a:t>本讲主要内容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206A36C-3E9C-342B-1CA2-247522E292C8}"/>
              </a:ext>
            </a:extLst>
          </p:cNvPr>
          <p:cNvSpPr txBox="1">
            <a:spLocks noChangeArrowheads="1"/>
          </p:cNvSpPr>
          <p:nvPr/>
        </p:nvSpPr>
        <p:spPr>
          <a:xfrm>
            <a:off x="609917" y="1143795"/>
            <a:ext cx="11051857" cy="40386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</a:rPr>
              <a:t>齐次马氏链状态的分类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互通  首达</a:t>
            </a:r>
            <a:endParaRPr lang="zh-CN" altLang="en-US" dirty="0">
              <a:solidFill>
                <a:srgbClr val="CC00CC"/>
              </a:solidFill>
            </a:endParaRP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常返与非常返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正常返与零常返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状态空间分解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不可约马氏链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状态的周期性</a:t>
            </a:r>
            <a:endParaRPr lang="en-US" altLang="zh-CN" dirty="0">
              <a:solidFill>
                <a:srgbClr val="CC00CC"/>
              </a:solidFill>
            </a:endParaRPr>
          </a:p>
          <a:p>
            <a:pPr lvl="1">
              <a:buClr>
                <a:srgbClr val="FF0000"/>
              </a:buClr>
              <a:buFontTx/>
              <a:buChar char="•"/>
            </a:pPr>
            <a:endParaRPr lang="zh-CN" altLang="en-US" dirty="0">
              <a:solidFill>
                <a:srgbClr val="CC00CC"/>
              </a:solidFill>
              <a:latin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3F47184-75AE-4FCA-2287-E81E9F4AE1BE}"/>
              </a:ext>
            </a:extLst>
          </p:cNvPr>
          <p:cNvSpPr txBox="1">
            <a:spLocks noChangeArrowheads="1"/>
          </p:cNvSpPr>
          <p:nvPr/>
        </p:nvSpPr>
        <p:spPr>
          <a:xfrm>
            <a:off x="4879975" y="1143795"/>
            <a:ext cx="7086601" cy="40386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连续参数马尔可夫链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转移概率函数、转移矩阵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连续参数齐次马氏链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初始分布、绝对分布、遍历性、平稳分布</a:t>
            </a:r>
            <a:endParaRPr lang="zh-CN" altLang="en-US" dirty="0">
              <a:solidFill>
                <a:srgbClr val="CC00CC"/>
              </a:solidFill>
              <a:latin typeface="黑体" panose="02010609060101010101" pitchFamily="49" charset="-122"/>
            </a:endParaRP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转移概率函数的性质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状态转移速度矩阵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</a:endParaRPr>
          </a:p>
          <a:p>
            <a:pPr lvl="1">
              <a:buClr>
                <a:srgbClr val="FF0000"/>
              </a:buClr>
              <a:buFontTx/>
              <a:buChar char="•"/>
            </a:pPr>
            <a:endParaRPr lang="zh-CN" altLang="en-US" dirty="0">
              <a:solidFill>
                <a:srgbClr val="CC00CC"/>
              </a:solidFill>
              <a:latin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7864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0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2">
            <a:extLst>
              <a:ext uri="{FF2B5EF4-FFF2-40B4-BE49-F238E27FC236}">
                <a16:creationId xmlns:a16="http://schemas.microsoft.com/office/drawing/2014/main" id="{EF1459AE-DAB7-D5E7-A8A4-D6981B751B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下一讲内容预告</a:t>
            </a:r>
          </a:p>
        </p:txBody>
      </p:sp>
      <p:sp>
        <p:nvSpPr>
          <p:cNvPr id="292867" name="Rectangle 3">
            <a:extLst>
              <a:ext uri="{FF2B5EF4-FFF2-40B4-BE49-F238E27FC236}">
                <a16:creationId xmlns:a16="http://schemas.microsoft.com/office/drawing/2014/main" id="{C7029B38-C55E-3C01-960A-4A02CE934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6575" y="1260292"/>
            <a:ext cx="6858000" cy="289560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生灭过程</a:t>
            </a:r>
            <a:endParaRPr lang="en-US" altLang="zh-CN" dirty="0">
              <a:solidFill>
                <a:srgbClr val="0000FF"/>
              </a:solidFill>
              <a:latin typeface="黑体" panose="02010609060101010101" pitchFamily="49" charset="-122"/>
            </a:endParaRPr>
          </a:p>
          <a:p>
            <a:pPr>
              <a:spcBef>
                <a:spcPts val="600"/>
              </a:spcBef>
              <a:buClr>
                <a:srgbClr val="CC00CC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</a:rPr>
              <a:t>无限源的简单排队系统</a:t>
            </a:r>
            <a:r>
              <a:rPr lang="en-US" altLang="zh-CN" dirty="0">
                <a:solidFill>
                  <a:srgbClr val="0000FF"/>
                </a:solidFill>
              </a:rPr>
              <a:t>—M/M/1/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</a:t>
            </a:r>
            <a:endParaRPr lang="en-US" altLang="zh-CN" dirty="0">
              <a:solidFill>
                <a:srgbClr val="0000FF"/>
              </a:solidFill>
            </a:endParaRPr>
          </a:p>
          <a:p>
            <a:pPr marL="0" indent="0" eaLnBrk="1" hangingPunct="1">
              <a:buNone/>
            </a:pP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2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2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7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3">
            <a:extLst>
              <a:ext uri="{FF2B5EF4-FFF2-40B4-BE49-F238E27FC236}">
                <a16:creationId xmlns:a16="http://schemas.microsoft.com/office/drawing/2014/main" id="{A03D5531-1755-5B89-FE10-ACC5DD9B9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775" y="305594"/>
            <a:ext cx="7469329" cy="516056"/>
          </a:xfrm>
        </p:spPr>
        <p:txBody>
          <a:bodyPr/>
          <a:lstStyle/>
          <a:p>
            <a:pPr eaLnBrk="1" hangingPunct="1"/>
            <a:r>
              <a:rPr lang="zh-CN" altLang="en-US" dirty="0"/>
              <a:t>习　题　</a:t>
            </a:r>
          </a:p>
        </p:txBody>
      </p:sp>
      <p:pic>
        <p:nvPicPr>
          <p:cNvPr id="53254" name="Picture 7">
            <a:extLst>
              <a:ext uri="{FF2B5EF4-FFF2-40B4-BE49-F238E27FC236}">
                <a16:creationId xmlns:a16="http://schemas.microsoft.com/office/drawing/2014/main" id="{2C170747-240C-9532-D059-62C860F76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1677194"/>
            <a:ext cx="9738587" cy="3790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ll dir="rd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>
            <a:extLst>
              <a:ext uri="{FF2B5EF4-FFF2-40B4-BE49-F238E27FC236}">
                <a16:creationId xmlns:a16="http://schemas.microsoft.com/office/drawing/2014/main" id="{16BA4DE5-9655-10EF-B39B-F8FF286D66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课堂练习（下课交）</a:t>
            </a:r>
          </a:p>
        </p:txBody>
      </p:sp>
      <p:sp>
        <p:nvSpPr>
          <p:cNvPr id="54275" name="内容占位符 2">
            <a:extLst>
              <a:ext uri="{FF2B5EF4-FFF2-40B4-BE49-F238E27FC236}">
                <a16:creationId xmlns:a16="http://schemas.microsoft.com/office/drawing/2014/main" id="{A939E7F9-83A5-8138-EF8F-82E7BAD102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69381" y="1143265"/>
            <a:ext cx="7697982" cy="460481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zh-CN"/>
              <a:t>设齐次马氏链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  {</a:t>
            </a:r>
            <a:r>
              <a:rPr lang="en-US" altLang="zh-CN" i="1"/>
              <a:t>X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), </a:t>
            </a:r>
            <a:r>
              <a:rPr lang="en-US" altLang="zh-CN" i="1"/>
              <a:t>n</a:t>
            </a:r>
            <a:r>
              <a:rPr lang="en-US" altLang="zh-CN"/>
              <a:t> = 0, 1, 2, … }</a:t>
            </a:r>
          </a:p>
          <a:p>
            <a:pPr marL="0" indent="0">
              <a:buNone/>
            </a:pPr>
            <a:r>
              <a:rPr lang="zh-CN" altLang="zh-CN"/>
              <a:t>的状态空间</a:t>
            </a:r>
            <a:r>
              <a:rPr lang="en-US" altLang="zh-CN" i="1"/>
              <a:t>E</a:t>
            </a:r>
            <a:r>
              <a:rPr lang="en-US" altLang="zh-CN"/>
              <a:t> = {1, 2, 3, 4, 5}</a:t>
            </a:r>
            <a:r>
              <a:rPr lang="zh-CN" altLang="zh-CN"/>
              <a:t>，</a:t>
            </a:r>
            <a:endParaRPr lang="en-US" altLang="zh-CN"/>
          </a:p>
          <a:p>
            <a:pPr marL="0" indent="0">
              <a:buNone/>
            </a:pPr>
            <a:r>
              <a:rPr lang="zh-CN" altLang="zh-CN"/>
              <a:t>一步状态转移矩阵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zh-CN" altLang="zh-CN"/>
          </a:p>
          <a:p>
            <a:pPr marL="0" indent="0">
              <a:buNone/>
            </a:pPr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）画出状态转移图；</a:t>
            </a:r>
          </a:p>
          <a:p>
            <a:pPr marL="0" indent="0">
              <a:buNone/>
            </a:pPr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）讨论各状态性质；</a:t>
            </a:r>
          </a:p>
          <a:p>
            <a:pPr marL="0" indent="0">
              <a:buNone/>
            </a:pPr>
            <a:r>
              <a:rPr lang="zh-CN" altLang="zh-CN"/>
              <a:t>（</a:t>
            </a:r>
            <a:r>
              <a:rPr lang="en-US" altLang="zh-CN"/>
              <a:t>3</a:t>
            </a:r>
            <a:r>
              <a:rPr lang="zh-CN" altLang="zh-CN"/>
              <a:t>）分解状态空间。</a:t>
            </a:r>
            <a:endParaRPr lang="zh-CN" altLang="en-US"/>
          </a:p>
        </p:txBody>
      </p:sp>
      <p:graphicFrame>
        <p:nvGraphicFramePr>
          <p:cNvPr id="54278" name="对象 7">
            <a:extLst>
              <a:ext uri="{FF2B5EF4-FFF2-40B4-BE49-F238E27FC236}">
                <a16:creationId xmlns:a16="http://schemas.microsoft.com/office/drawing/2014/main" id="{E0870311-B0CE-B1B8-031C-591142A5F7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0004" y="1606922"/>
          <a:ext cx="3048706" cy="4141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0" imgH="2070100" progId="Equation.DSMT4">
                  <p:embed/>
                </p:oleObj>
              </mc:Choice>
              <mc:Fallback>
                <p:oleObj name="Equation" r:id="rId2" imgW="1524000" imgH="2070100" progId="Equation.DSMT4">
                  <p:embed/>
                  <p:pic>
                    <p:nvPicPr>
                      <p:cNvPr id="54278" name="对象 7">
                        <a:extLst>
                          <a:ext uri="{FF2B5EF4-FFF2-40B4-BE49-F238E27FC236}">
                            <a16:creationId xmlns:a16="http://schemas.microsoft.com/office/drawing/2014/main" id="{E0870311-B0CE-B1B8-031C-591142A5F7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0004" y="1606922"/>
                        <a:ext cx="3048706" cy="41411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4114</TotalTime>
  <Words>5436</Words>
  <Application>Microsoft Macintosh PowerPoint</Application>
  <PresentationFormat>自定义</PresentationFormat>
  <Paragraphs>536</Paragraphs>
  <Slides>57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57</vt:i4>
      </vt:variant>
    </vt:vector>
  </HeadingPairs>
  <TitlesOfParts>
    <vt:vector size="71" baseType="lpstr">
      <vt:lpstr>等线</vt:lpstr>
      <vt:lpstr>黑体</vt:lpstr>
      <vt:lpstr>华文行楷</vt:lpstr>
      <vt:lpstr>宋体</vt:lpstr>
      <vt:lpstr>微软雅黑</vt:lpstr>
      <vt:lpstr>Arial Unicode MS</vt:lpstr>
      <vt:lpstr>Arial</vt:lpstr>
      <vt:lpstr>Cambria Math</vt:lpstr>
      <vt:lpstr>Symbol</vt:lpstr>
      <vt:lpstr>Times New Roman</vt:lpstr>
      <vt:lpstr>Wingdings</vt:lpstr>
      <vt:lpstr>Office Theme</vt:lpstr>
      <vt:lpstr>Equation</vt:lpstr>
      <vt:lpstr>公式</vt:lpstr>
      <vt:lpstr>PowerPoint 演示文稿</vt:lpstr>
      <vt:lpstr>上一讲主要内容</vt:lpstr>
      <vt:lpstr>回顾</vt:lpstr>
      <vt:lpstr>回顾2</vt:lpstr>
      <vt:lpstr>回顾3</vt:lpstr>
      <vt:lpstr>回顾4</vt:lpstr>
      <vt:lpstr>本讲主要内容</vt:lpstr>
      <vt:lpstr>PowerPoint 演示文稿</vt:lpstr>
      <vt:lpstr>PowerPoint 演示文稿</vt:lpstr>
      <vt:lpstr>问题引入</vt:lpstr>
      <vt:lpstr>首达</vt:lpstr>
      <vt:lpstr>首达</vt:lpstr>
      <vt:lpstr>返回</vt:lpstr>
      <vt:lpstr>可达与互通</vt:lpstr>
      <vt:lpstr>定理1  首达分解定理</vt:lpstr>
      <vt:lpstr>定理2</vt:lpstr>
      <vt:lpstr>推论</vt:lpstr>
      <vt:lpstr>二、常返</vt:lpstr>
      <vt:lpstr>返回的次数</vt:lpstr>
      <vt:lpstr>正常返与零常返</vt:lpstr>
      <vt:lpstr>定理5和定理6</vt:lpstr>
      <vt:lpstr>例1  两个吸收壁的随机游动</vt:lpstr>
      <vt:lpstr>例1(续)</vt:lpstr>
      <vt:lpstr>三、状态空间分解</vt:lpstr>
      <vt:lpstr>例1(续)</vt:lpstr>
      <vt:lpstr>例子</vt:lpstr>
      <vt:lpstr>不可约马氏链</vt:lpstr>
      <vt:lpstr>四、有限马尔可夫链</vt:lpstr>
      <vt:lpstr>五、状态的周期性</vt:lpstr>
      <vt:lpstr>周期性示例</vt:lpstr>
      <vt:lpstr>五、状态的周期性</vt:lpstr>
      <vt:lpstr>结论1的证明</vt:lpstr>
      <vt:lpstr>六、极限定理</vt:lpstr>
      <vt:lpstr>例2</vt:lpstr>
      <vt:lpstr>例2(续1)</vt:lpstr>
      <vt:lpstr>例2(续2)</vt:lpstr>
      <vt:lpstr>例3</vt:lpstr>
      <vt:lpstr>例3(续1)</vt:lpstr>
      <vt:lpstr>例3(续2)</vt:lpstr>
      <vt:lpstr>例4</vt:lpstr>
      <vt:lpstr>例4(续)</vt:lpstr>
      <vt:lpstr>例5</vt:lpstr>
      <vt:lpstr>例5(续)</vt:lpstr>
      <vt:lpstr>PowerPoint 演示文稿</vt:lpstr>
      <vt:lpstr>连续参数马尔可夫链的定义</vt:lpstr>
      <vt:lpstr>转移概率函数</vt:lpstr>
      <vt:lpstr>连续参数齐次马氏链</vt:lpstr>
      <vt:lpstr>绝对分布、遍历性、平稳分布</vt:lpstr>
      <vt:lpstr>转移概率函数的性质</vt:lpstr>
      <vt:lpstr>转移概率函数的性质(续1)</vt:lpstr>
      <vt:lpstr>状态转移速度矩阵</vt:lpstr>
      <vt:lpstr>转移概率函数的性质(续2)</vt:lpstr>
      <vt:lpstr>转移概率函数的性质(续3)</vt:lpstr>
      <vt:lpstr>本讲主要内容</vt:lpstr>
      <vt:lpstr>下一讲内容预告</vt:lpstr>
      <vt:lpstr>习　题　</vt:lpstr>
      <vt:lpstr>课堂练习（下课交）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siri</dc:creator>
  <cp:lastModifiedBy>Qingxian Wang</cp:lastModifiedBy>
  <cp:revision>1298</cp:revision>
  <cp:lastPrinted>2022-01-15T12:13:00Z</cp:lastPrinted>
  <dcterms:created xsi:type="dcterms:W3CDTF">2006-08-16T00:00:00Z</dcterms:created>
  <dcterms:modified xsi:type="dcterms:W3CDTF">2026-09-28T15:27:16Z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E98F3E2A8F6D4B7EBE46F1C3936A5CEF</vt:lpwstr>
  </property>
  <property fmtid="{D5CDD505-2E9C-101B-9397-08002B2CF9AE}" pid="3" name="KSOProductBuildVer">
    <vt:lpwstr>2052-11.1.0.11579</vt:lpwstr>
  </property>
</Properties>
</file>