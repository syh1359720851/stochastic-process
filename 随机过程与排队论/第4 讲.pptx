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p:sldMasterIdLst>
    <p:sldMasterId id="2147483648" r:id="rId1"/>
  </p:sldMasterIdLst>
  <p:notesMasterIdLst>
    <p:notesMasterId r:id="rId65"/>
  </p:notesMasterIdLst>
  <p:sldIdLst>
    <p:sldId id="256" r:id="rId2"/>
    <p:sldId id="319" r:id="rId3"/>
    <p:sldId id="378" r:id="rId4"/>
    <p:sldId id="407" r:id="rId5"/>
    <p:sldId id="294" r:id="rId6"/>
    <p:sldId id="295" r:id="rId7"/>
    <p:sldId id="315" r:id="rId8"/>
    <p:sldId id="296" r:id="rId9"/>
    <p:sldId id="392" r:id="rId10"/>
    <p:sldId id="298" r:id="rId11"/>
    <p:sldId id="299" r:id="rId12"/>
    <p:sldId id="300" r:id="rId13"/>
    <p:sldId id="314" r:id="rId14"/>
    <p:sldId id="301" r:id="rId15"/>
    <p:sldId id="302" r:id="rId16"/>
    <p:sldId id="393" r:id="rId17"/>
    <p:sldId id="394" r:id="rId18"/>
    <p:sldId id="395" r:id="rId19"/>
    <p:sldId id="317" r:id="rId20"/>
    <p:sldId id="396" r:id="rId21"/>
    <p:sldId id="397" r:id="rId22"/>
    <p:sldId id="382" r:id="rId23"/>
    <p:sldId id="398" r:id="rId24"/>
    <p:sldId id="399" r:id="rId25"/>
    <p:sldId id="400" r:id="rId26"/>
    <p:sldId id="401" r:id="rId27"/>
    <p:sldId id="402" r:id="rId28"/>
    <p:sldId id="383" r:id="rId29"/>
    <p:sldId id="384" r:id="rId30"/>
    <p:sldId id="306" r:id="rId31"/>
    <p:sldId id="403" r:id="rId32"/>
    <p:sldId id="404" r:id="rId33"/>
    <p:sldId id="307" r:id="rId34"/>
    <p:sldId id="308" r:id="rId35"/>
    <p:sldId id="309" r:id="rId36"/>
    <p:sldId id="411"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 id="357" r:id="rId50"/>
    <p:sldId id="358" r:id="rId51"/>
    <p:sldId id="359" r:id="rId52"/>
    <p:sldId id="360" r:id="rId53"/>
    <p:sldId id="361" r:id="rId54"/>
    <p:sldId id="362" r:id="rId55"/>
    <p:sldId id="363" r:id="rId56"/>
    <p:sldId id="364" r:id="rId57"/>
    <p:sldId id="412" r:id="rId58"/>
    <p:sldId id="409" r:id="rId59"/>
    <p:sldId id="405" r:id="rId60"/>
    <p:sldId id="344" r:id="rId61"/>
    <p:sldId id="391" r:id="rId62"/>
    <p:sldId id="406" r:id="rId63"/>
    <p:sldId id="268" r:id="rId64"/>
  </p:sldIdLst>
  <p:sldSz cx="12198350" cy="6859588"/>
  <p:notesSz cx="9144000" cy="6858000"/>
  <p:defaultTextStyle>
    <a:defPPr>
      <a:defRPr lang="en-US"/>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22">
          <p15:clr>
            <a:srgbClr val="A4A3A4"/>
          </p15:clr>
        </p15:guide>
        <p15:guide id="3" orient="horz" pos="2878">
          <p15:clr>
            <a:srgbClr val="A4A3A4"/>
          </p15:clr>
        </p15:guide>
        <p15:guide id="4" pos="384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FF"/>
    <a:srgbClr val="92D050"/>
    <a:srgbClr val="CC00CC"/>
    <a:srgbClr val="BD9B53"/>
    <a:srgbClr val="009900"/>
    <a:srgbClr val="F4FA12"/>
    <a:srgbClr val="1157AB"/>
    <a:srgbClr val="9BBB59"/>
    <a:srgbClr val="C050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927" autoAdjust="0"/>
    <p:restoredTop sz="92514" autoAdjust="0"/>
  </p:normalViewPr>
  <p:slideViewPr>
    <p:cSldViewPr>
      <p:cViewPr varScale="1">
        <p:scale>
          <a:sx n="145" d="100"/>
          <a:sy n="145" d="100"/>
        </p:scale>
        <p:origin x="936" y="192"/>
      </p:cViewPr>
      <p:guideLst>
        <p:guide orient="horz" pos="2160"/>
        <p:guide pos="2822"/>
        <p:guide orient="horz" pos="2878"/>
        <p:guide pos="3848"/>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5" d="100"/>
          <a:sy n="95" d="100"/>
        </p:scale>
        <p:origin x="4042" y="5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_rels/viewProps.xml.rels><?xml version="1.0" encoding="UTF-8" standalone="yes"?>
<Relationships xmlns="http://schemas.openxmlformats.org/package/2006/relationships"><Relationship Id="rId13" Type="http://schemas.openxmlformats.org/officeDocument/2006/relationships/slide" Target="slides/slide19.xml"/><Relationship Id="rId18" Type="http://schemas.openxmlformats.org/officeDocument/2006/relationships/slide" Target="slides/slide30.xml"/><Relationship Id="rId26" Type="http://schemas.openxmlformats.org/officeDocument/2006/relationships/slide" Target="slides/slide39.xml"/><Relationship Id="rId39" Type="http://schemas.openxmlformats.org/officeDocument/2006/relationships/slide" Target="slides/slide53.xml"/><Relationship Id="rId21" Type="http://schemas.openxmlformats.org/officeDocument/2006/relationships/slide" Target="slides/slide33.xml"/><Relationship Id="rId34" Type="http://schemas.openxmlformats.org/officeDocument/2006/relationships/slide" Target="slides/slide48.xml"/><Relationship Id="rId42" Type="http://schemas.openxmlformats.org/officeDocument/2006/relationships/slide" Target="slides/slide56.xml"/><Relationship Id="rId7" Type="http://schemas.openxmlformats.org/officeDocument/2006/relationships/slide" Target="slides/slide10.xml"/><Relationship Id="rId2" Type="http://schemas.openxmlformats.org/officeDocument/2006/relationships/slide" Target="slides/slide3.xml"/><Relationship Id="rId16" Type="http://schemas.openxmlformats.org/officeDocument/2006/relationships/slide" Target="slides/slide28.xml"/><Relationship Id="rId29" Type="http://schemas.openxmlformats.org/officeDocument/2006/relationships/slide" Target="slides/slide43.xml"/><Relationship Id="rId1" Type="http://schemas.openxmlformats.org/officeDocument/2006/relationships/slide" Target="slides/slide2.xml"/><Relationship Id="rId6" Type="http://schemas.openxmlformats.org/officeDocument/2006/relationships/slide" Target="slides/slide8.xml"/><Relationship Id="rId11" Type="http://schemas.openxmlformats.org/officeDocument/2006/relationships/slide" Target="slides/slide14.xml"/><Relationship Id="rId24" Type="http://schemas.openxmlformats.org/officeDocument/2006/relationships/slide" Target="slides/slide37.xml"/><Relationship Id="rId32" Type="http://schemas.openxmlformats.org/officeDocument/2006/relationships/slide" Target="slides/slide46.xml"/><Relationship Id="rId37" Type="http://schemas.openxmlformats.org/officeDocument/2006/relationships/slide" Target="slides/slide51.xml"/><Relationship Id="rId40" Type="http://schemas.openxmlformats.org/officeDocument/2006/relationships/slide" Target="slides/slide54.xml"/><Relationship Id="rId45" Type="http://schemas.openxmlformats.org/officeDocument/2006/relationships/slide" Target="slides/slide59.xml"/><Relationship Id="rId5" Type="http://schemas.openxmlformats.org/officeDocument/2006/relationships/slide" Target="slides/slide7.xml"/><Relationship Id="rId15" Type="http://schemas.openxmlformats.org/officeDocument/2006/relationships/slide" Target="slides/slide23.xml"/><Relationship Id="rId23" Type="http://schemas.openxmlformats.org/officeDocument/2006/relationships/slide" Target="slides/slide35.xml"/><Relationship Id="rId28" Type="http://schemas.openxmlformats.org/officeDocument/2006/relationships/slide" Target="slides/slide42.xml"/><Relationship Id="rId36" Type="http://schemas.openxmlformats.org/officeDocument/2006/relationships/slide" Target="slides/slide50.xml"/><Relationship Id="rId10" Type="http://schemas.openxmlformats.org/officeDocument/2006/relationships/slide" Target="slides/slide13.xml"/><Relationship Id="rId19" Type="http://schemas.openxmlformats.org/officeDocument/2006/relationships/slide" Target="slides/slide31.xml"/><Relationship Id="rId31" Type="http://schemas.openxmlformats.org/officeDocument/2006/relationships/slide" Target="slides/slide45.xml"/><Relationship Id="rId44" Type="http://schemas.openxmlformats.org/officeDocument/2006/relationships/slide" Target="slides/slide58.xml"/><Relationship Id="rId4" Type="http://schemas.openxmlformats.org/officeDocument/2006/relationships/slide" Target="slides/slide6.xml"/><Relationship Id="rId9" Type="http://schemas.openxmlformats.org/officeDocument/2006/relationships/slide" Target="slides/slide12.xml"/><Relationship Id="rId14" Type="http://schemas.openxmlformats.org/officeDocument/2006/relationships/slide" Target="slides/slide22.xml"/><Relationship Id="rId22" Type="http://schemas.openxmlformats.org/officeDocument/2006/relationships/slide" Target="slides/slide34.xml"/><Relationship Id="rId27" Type="http://schemas.openxmlformats.org/officeDocument/2006/relationships/slide" Target="slides/slide41.xml"/><Relationship Id="rId30" Type="http://schemas.openxmlformats.org/officeDocument/2006/relationships/slide" Target="slides/slide44.xml"/><Relationship Id="rId35" Type="http://schemas.openxmlformats.org/officeDocument/2006/relationships/slide" Target="slides/slide49.xml"/><Relationship Id="rId43" Type="http://schemas.openxmlformats.org/officeDocument/2006/relationships/slide" Target="slides/slide57.xml"/><Relationship Id="rId8" Type="http://schemas.openxmlformats.org/officeDocument/2006/relationships/slide" Target="slides/slide11.xml"/><Relationship Id="rId3" Type="http://schemas.openxmlformats.org/officeDocument/2006/relationships/slide" Target="slides/slide5.xml"/><Relationship Id="rId12" Type="http://schemas.openxmlformats.org/officeDocument/2006/relationships/slide" Target="slides/slide15.xml"/><Relationship Id="rId17" Type="http://schemas.openxmlformats.org/officeDocument/2006/relationships/slide" Target="slides/slide29.xml"/><Relationship Id="rId25" Type="http://schemas.openxmlformats.org/officeDocument/2006/relationships/slide" Target="slides/slide38.xml"/><Relationship Id="rId33" Type="http://schemas.openxmlformats.org/officeDocument/2006/relationships/slide" Target="slides/slide47.xml"/><Relationship Id="rId38" Type="http://schemas.openxmlformats.org/officeDocument/2006/relationships/slide" Target="slides/slide52.xml"/><Relationship Id="rId46" Type="http://schemas.openxmlformats.org/officeDocument/2006/relationships/slide" Target="slides/slide60.xml"/><Relationship Id="rId20" Type="http://schemas.openxmlformats.org/officeDocument/2006/relationships/slide" Target="slides/slide32.xml"/><Relationship Id="rId41"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4881824-7EDF-4B1D-9D44-4D7461D95900}" type="datetimeFigureOut">
              <a:rPr lang="zh-CN" altLang="en-US" smtClean="0"/>
              <a:t>2026/9/20</a:t>
            </a:fld>
            <a:endParaRPr lang="zh-CN" alt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6F2A367-4377-4BC9-85D6-558F91AD7B7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6F2A367-4377-4BC9-85D6-558F91AD7B7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CB7CB-EDF5-28F8-C1E9-FD02D02137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ACE93B-8729-9A44-1F2C-F859BCC901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B71008-3C06-9539-4D53-55038FE1B7A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1F2C63E-6B09-1169-7A20-6A649F4B4529}"/>
              </a:ext>
            </a:extLst>
          </p:cNvPr>
          <p:cNvSpPr>
            <a:spLocks noGrp="1"/>
          </p:cNvSpPr>
          <p:nvPr>
            <p:ph type="sldNum" sz="quarter" idx="5"/>
          </p:nvPr>
        </p:nvSpPr>
        <p:spPr/>
        <p:txBody>
          <a:bodyPr/>
          <a:lstStyle/>
          <a:p>
            <a:fld id="{36F2A367-4377-4BC9-85D6-558F91AD7B75}" type="slidenum">
              <a:rPr lang="zh-CN" altLang="en-US" smtClean="0"/>
              <a:t>4</a:t>
            </a:fld>
            <a:endParaRPr lang="zh-CN" altLang="en-US"/>
          </a:p>
        </p:txBody>
      </p:sp>
    </p:spTree>
    <p:extLst>
      <p:ext uri="{BB962C8B-B14F-4D97-AF65-F5344CB8AC3E}">
        <p14:creationId xmlns:p14="http://schemas.microsoft.com/office/powerpoint/2010/main" val="4217522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6F2A367-4377-4BC9-85D6-558F91AD7B75}" type="slidenum">
              <a:rPr lang="zh-CN" altLang="en-US" smtClean="0"/>
              <a:t>24</a:t>
            </a:fld>
            <a:endParaRPr lang="zh-CN" altLang="en-US"/>
          </a:p>
        </p:txBody>
      </p:sp>
    </p:spTree>
    <p:extLst>
      <p:ext uri="{BB962C8B-B14F-4D97-AF65-F5344CB8AC3E}">
        <p14:creationId xmlns:p14="http://schemas.microsoft.com/office/powerpoint/2010/main" val="1460600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6F2A367-4377-4BC9-85D6-558F91AD7B75}" type="slidenum">
              <a:rPr lang="zh-CN" altLang="en-US" smtClean="0"/>
              <a:t>32</a:t>
            </a:fld>
            <a:endParaRPr lang="zh-CN" altLang="en-US"/>
          </a:p>
        </p:txBody>
      </p:sp>
    </p:spTree>
    <p:extLst>
      <p:ext uri="{BB962C8B-B14F-4D97-AF65-F5344CB8AC3E}">
        <p14:creationId xmlns:p14="http://schemas.microsoft.com/office/powerpoint/2010/main" val="3382633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9C055-D5A5-190A-8569-D8A311B92F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C57D4F-A5D4-8310-AFFA-93FFE103BD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243463D-99CD-00B5-D16F-C760C94C4E5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A8F1BAE-B0C9-341A-1968-0E97E86FF7C1}"/>
              </a:ext>
            </a:extLst>
          </p:cNvPr>
          <p:cNvSpPr>
            <a:spLocks noGrp="1"/>
          </p:cNvSpPr>
          <p:nvPr>
            <p:ph type="sldNum" sz="quarter" idx="5"/>
          </p:nvPr>
        </p:nvSpPr>
        <p:spPr/>
        <p:txBody>
          <a:bodyPr/>
          <a:lstStyle/>
          <a:p>
            <a:fld id="{36F2A367-4377-4BC9-85D6-558F91AD7B75}" type="slidenum">
              <a:rPr lang="zh-CN" altLang="en-US" smtClean="0"/>
              <a:t>36</a:t>
            </a:fld>
            <a:endParaRPr lang="zh-CN" altLang="en-US"/>
          </a:p>
        </p:txBody>
      </p:sp>
    </p:spTree>
    <p:extLst>
      <p:ext uri="{BB962C8B-B14F-4D97-AF65-F5344CB8AC3E}">
        <p14:creationId xmlns:p14="http://schemas.microsoft.com/office/powerpoint/2010/main" val="3886449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213C3126-9601-9A72-572E-B7CEC0D657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5CB0799-1C05-4F5C-85FB-6A14CC586BD9}" type="slidenum">
              <a:rPr lang="en-US" altLang="zh-CN">
                <a:solidFill>
                  <a:srgbClr val="000000"/>
                </a:solidFill>
              </a:rPr>
              <a:pPr>
                <a:spcBef>
                  <a:spcPct val="0"/>
                </a:spcBef>
              </a:pPr>
              <a:t>37</a:t>
            </a:fld>
            <a:endParaRPr lang="en-US" altLang="zh-CN">
              <a:solidFill>
                <a:srgbClr val="000000"/>
              </a:solidFill>
            </a:endParaRPr>
          </a:p>
        </p:txBody>
      </p:sp>
      <p:sp>
        <p:nvSpPr>
          <p:cNvPr id="11267" name="Rectangle 2">
            <a:extLst>
              <a:ext uri="{FF2B5EF4-FFF2-40B4-BE49-F238E27FC236}">
                <a16:creationId xmlns:a16="http://schemas.microsoft.com/office/drawing/2014/main" id="{D0058AD2-4EB7-4088-CD2F-309436BB9110}"/>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53DDB750-4496-AC63-E906-F7B3007A18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901B6A2E-D260-CD32-41A2-BB40034162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86B3DB7-4F84-4856-AE93-DA628C5A4456}" type="slidenum">
              <a:rPr lang="en-US" altLang="zh-CN">
                <a:solidFill>
                  <a:srgbClr val="000000"/>
                </a:solidFill>
              </a:rPr>
              <a:pPr>
                <a:spcBef>
                  <a:spcPct val="0"/>
                </a:spcBef>
              </a:pPr>
              <a:t>38</a:t>
            </a:fld>
            <a:endParaRPr lang="en-US" altLang="zh-CN">
              <a:solidFill>
                <a:srgbClr val="000000"/>
              </a:solidFill>
            </a:endParaRPr>
          </a:p>
        </p:txBody>
      </p:sp>
      <p:sp>
        <p:nvSpPr>
          <p:cNvPr id="13315" name="Rectangle 2">
            <a:extLst>
              <a:ext uri="{FF2B5EF4-FFF2-40B4-BE49-F238E27FC236}">
                <a16:creationId xmlns:a16="http://schemas.microsoft.com/office/drawing/2014/main" id="{0C71F08D-5AEF-9912-04D0-3803618CF53F}"/>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E13E2ED5-F928-478D-591D-5324F02B30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8F557417-7CDF-967E-376F-45A4F4043B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3A82FA3-EB16-4FAB-BB61-634CB969F0F8}" type="slidenum">
              <a:rPr lang="en-US" altLang="zh-CN">
                <a:solidFill>
                  <a:srgbClr val="000000"/>
                </a:solidFill>
              </a:rPr>
              <a:pPr>
                <a:spcBef>
                  <a:spcPct val="0"/>
                </a:spcBef>
              </a:pPr>
              <a:t>39</a:t>
            </a:fld>
            <a:endParaRPr lang="en-US" altLang="zh-CN">
              <a:solidFill>
                <a:srgbClr val="000000"/>
              </a:solidFill>
            </a:endParaRPr>
          </a:p>
        </p:txBody>
      </p:sp>
      <p:sp>
        <p:nvSpPr>
          <p:cNvPr id="15363" name="Rectangle 2">
            <a:extLst>
              <a:ext uri="{FF2B5EF4-FFF2-40B4-BE49-F238E27FC236}">
                <a16:creationId xmlns:a16="http://schemas.microsoft.com/office/drawing/2014/main" id="{D2A5E82F-C1C7-881A-C445-D6D12B0CE508}"/>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58BC6A07-AC02-270C-52CC-91B71C53E6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1FC28A68-7F68-0D6B-16C7-4C2AFAAA05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CFC0EAE-C7D5-48AA-87D9-ADC80450EF46}" type="slidenum">
              <a:rPr lang="en-US" altLang="zh-CN">
                <a:solidFill>
                  <a:srgbClr val="000000"/>
                </a:solidFill>
              </a:rPr>
              <a:pPr>
                <a:spcBef>
                  <a:spcPct val="0"/>
                </a:spcBef>
              </a:pPr>
              <a:t>40</a:t>
            </a:fld>
            <a:endParaRPr lang="en-US" altLang="zh-CN">
              <a:solidFill>
                <a:srgbClr val="000000"/>
              </a:solidFill>
            </a:endParaRPr>
          </a:p>
        </p:txBody>
      </p:sp>
      <p:sp>
        <p:nvSpPr>
          <p:cNvPr id="17411" name="Rectangle 2">
            <a:extLst>
              <a:ext uri="{FF2B5EF4-FFF2-40B4-BE49-F238E27FC236}">
                <a16:creationId xmlns:a16="http://schemas.microsoft.com/office/drawing/2014/main" id="{E5A3CBBE-F584-25C9-A9DA-38CD8F45C9DC}"/>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4D304576-AE59-61F9-6B44-757C42B935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EBD6EF47-4E70-0353-36B8-67EC813B43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243DB6B-0756-4C0A-B230-928CF9AB02B1}" type="slidenum">
              <a:rPr lang="en-US" altLang="zh-CN">
                <a:solidFill>
                  <a:srgbClr val="000000"/>
                </a:solidFill>
              </a:rPr>
              <a:pPr>
                <a:spcBef>
                  <a:spcPct val="0"/>
                </a:spcBef>
              </a:pPr>
              <a:t>41</a:t>
            </a:fld>
            <a:endParaRPr lang="en-US" altLang="zh-CN">
              <a:solidFill>
                <a:srgbClr val="000000"/>
              </a:solidFill>
            </a:endParaRPr>
          </a:p>
        </p:txBody>
      </p:sp>
      <p:sp>
        <p:nvSpPr>
          <p:cNvPr id="19459" name="Rectangle 2">
            <a:extLst>
              <a:ext uri="{FF2B5EF4-FFF2-40B4-BE49-F238E27FC236}">
                <a16:creationId xmlns:a16="http://schemas.microsoft.com/office/drawing/2014/main" id="{97EB96A4-C497-DBD6-014B-927ABFE26514}"/>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F158C196-4A1F-1F17-20B8-AC7AA1ED3C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8727077D-DFBB-3868-8D77-30E7D7ADF6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707E0A2-4F64-4CC3-B30A-87E2A1C5BF40}" type="slidenum">
              <a:rPr lang="en-US" altLang="zh-CN">
                <a:solidFill>
                  <a:srgbClr val="000000"/>
                </a:solidFill>
              </a:rPr>
              <a:pPr>
                <a:spcBef>
                  <a:spcPct val="0"/>
                </a:spcBef>
              </a:pPr>
              <a:t>42</a:t>
            </a:fld>
            <a:endParaRPr lang="en-US" altLang="zh-CN">
              <a:solidFill>
                <a:srgbClr val="000000"/>
              </a:solidFill>
            </a:endParaRPr>
          </a:p>
        </p:txBody>
      </p:sp>
      <p:sp>
        <p:nvSpPr>
          <p:cNvPr id="21507" name="Rectangle 2">
            <a:extLst>
              <a:ext uri="{FF2B5EF4-FFF2-40B4-BE49-F238E27FC236}">
                <a16:creationId xmlns:a16="http://schemas.microsoft.com/office/drawing/2014/main" id="{A4E7DAA0-492D-7D24-121B-6C48FE96BC7F}"/>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70168609-2A7B-C664-BF8D-9913A7120C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7C2D4731-2497-902C-D786-9D40682049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8EB6270-E373-410F-896C-713CE2A5EAC8}" type="slidenum">
              <a:rPr lang="en-US" altLang="zh-CN">
                <a:solidFill>
                  <a:srgbClr val="000000"/>
                </a:solidFill>
              </a:rPr>
              <a:pPr>
                <a:spcBef>
                  <a:spcPct val="0"/>
                </a:spcBef>
              </a:pPr>
              <a:t>43</a:t>
            </a:fld>
            <a:endParaRPr lang="en-US" altLang="zh-CN">
              <a:solidFill>
                <a:srgbClr val="000000"/>
              </a:solidFill>
            </a:endParaRPr>
          </a:p>
        </p:txBody>
      </p:sp>
      <p:sp>
        <p:nvSpPr>
          <p:cNvPr id="23555" name="Rectangle 2">
            <a:extLst>
              <a:ext uri="{FF2B5EF4-FFF2-40B4-BE49-F238E27FC236}">
                <a16:creationId xmlns:a16="http://schemas.microsoft.com/office/drawing/2014/main" id="{69C56E49-3C32-628D-027E-698D9B517C7E}"/>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7AB1F9B8-29A3-A36F-4D06-5AE6F1A23F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C28EE16C-6BE6-1D84-B995-62A5ED4AC6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6CFE2DD-57F7-43F9-A327-FF7CFAFDABE3}" type="slidenum">
              <a:rPr lang="en-US" altLang="zh-CN">
                <a:solidFill>
                  <a:srgbClr val="000000"/>
                </a:solidFill>
              </a:rPr>
              <a:pPr>
                <a:spcBef>
                  <a:spcPct val="0"/>
                </a:spcBef>
              </a:pPr>
              <a:t>44</a:t>
            </a:fld>
            <a:endParaRPr lang="en-US" altLang="zh-CN">
              <a:solidFill>
                <a:srgbClr val="000000"/>
              </a:solidFill>
            </a:endParaRPr>
          </a:p>
        </p:txBody>
      </p:sp>
      <p:sp>
        <p:nvSpPr>
          <p:cNvPr id="25603" name="Rectangle 2">
            <a:extLst>
              <a:ext uri="{FF2B5EF4-FFF2-40B4-BE49-F238E27FC236}">
                <a16:creationId xmlns:a16="http://schemas.microsoft.com/office/drawing/2014/main" id="{38CA983E-A29C-DFB6-CC13-FD8C40ACA095}"/>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94E41D04-ACBE-F12C-B55B-59CC1B4CDA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B32C431F-92E3-1C34-E5CE-57C3322FA5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F229C20-574D-4C31-8525-6CCEECDB6F6F}" type="slidenum">
              <a:rPr lang="en-US" altLang="zh-CN">
                <a:solidFill>
                  <a:srgbClr val="000000"/>
                </a:solidFill>
              </a:rPr>
              <a:pPr>
                <a:spcBef>
                  <a:spcPct val="0"/>
                </a:spcBef>
              </a:pPr>
              <a:t>45</a:t>
            </a:fld>
            <a:endParaRPr lang="en-US" altLang="zh-CN">
              <a:solidFill>
                <a:srgbClr val="000000"/>
              </a:solidFill>
            </a:endParaRPr>
          </a:p>
        </p:txBody>
      </p:sp>
      <p:sp>
        <p:nvSpPr>
          <p:cNvPr id="27651" name="Rectangle 2">
            <a:extLst>
              <a:ext uri="{FF2B5EF4-FFF2-40B4-BE49-F238E27FC236}">
                <a16:creationId xmlns:a16="http://schemas.microsoft.com/office/drawing/2014/main" id="{41444C50-EC4D-507C-AAA7-7204A3807FFA}"/>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9D1F20C5-67A1-9933-F6BE-868E599299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B612EA47-4D83-A7DF-44CD-ECDF1DFDCB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E124F7B-454A-4606-AFB7-6D345A8F8720}" type="slidenum">
              <a:rPr lang="en-US" altLang="zh-CN">
                <a:solidFill>
                  <a:srgbClr val="000000"/>
                </a:solidFill>
              </a:rPr>
              <a:pPr>
                <a:spcBef>
                  <a:spcPct val="0"/>
                </a:spcBef>
              </a:pPr>
              <a:t>46</a:t>
            </a:fld>
            <a:endParaRPr lang="en-US" altLang="zh-CN">
              <a:solidFill>
                <a:srgbClr val="000000"/>
              </a:solidFill>
            </a:endParaRPr>
          </a:p>
        </p:txBody>
      </p:sp>
      <p:sp>
        <p:nvSpPr>
          <p:cNvPr id="29699" name="Rectangle 2">
            <a:extLst>
              <a:ext uri="{FF2B5EF4-FFF2-40B4-BE49-F238E27FC236}">
                <a16:creationId xmlns:a16="http://schemas.microsoft.com/office/drawing/2014/main" id="{0222F81B-D2B0-1463-6503-A55D40CE210C}"/>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32238A10-D1C4-4F43-5F75-2CB56A47D6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E034EF01-636E-6E88-AF3E-7E5765F2EF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78CD886-B706-4A4A-B57A-1AA0EF4F148B}" type="slidenum">
              <a:rPr lang="en-US" altLang="zh-CN">
                <a:solidFill>
                  <a:srgbClr val="000000"/>
                </a:solidFill>
              </a:rPr>
              <a:pPr>
                <a:spcBef>
                  <a:spcPct val="0"/>
                </a:spcBef>
              </a:pPr>
              <a:t>47</a:t>
            </a:fld>
            <a:endParaRPr lang="en-US" altLang="zh-CN">
              <a:solidFill>
                <a:srgbClr val="000000"/>
              </a:solidFill>
            </a:endParaRPr>
          </a:p>
        </p:txBody>
      </p:sp>
      <p:sp>
        <p:nvSpPr>
          <p:cNvPr id="31747" name="Rectangle 2">
            <a:extLst>
              <a:ext uri="{FF2B5EF4-FFF2-40B4-BE49-F238E27FC236}">
                <a16:creationId xmlns:a16="http://schemas.microsoft.com/office/drawing/2014/main" id="{E7122C8A-1A4D-BED0-B429-A263B085AA9C}"/>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1AA929BB-E0BC-3AF4-C38B-083ED20C68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F8A20D25-82E8-1DB1-3286-A8D791B265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790E81A-1DDF-45D4-9E5B-C5EBC124D62A}" type="slidenum">
              <a:rPr lang="en-US" altLang="zh-CN">
                <a:solidFill>
                  <a:srgbClr val="000000"/>
                </a:solidFill>
              </a:rPr>
              <a:pPr>
                <a:spcBef>
                  <a:spcPct val="0"/>
                </a:spcBef>
              </a:pPr>
              <a:t>48</a:t>
            </a:fld>
            <a:endParaRPr lang="en-US" altLang="zh-CN">
              <a:solidFill>
                <a:srgbClr val="000000"/>
              </a:solidFill>
            </a:endParaRPr>
          </a:p>
        </p:txBody>
      </p:sp>
      <p:sp>
        <p:nvSpPr>
          <p:cNvPr id="33795" name="Rectangle 2">
            <a:extLst>
              <a:ext uri="{FF2B5EF4-FFF2-40B4-BE49-F238E27FC236}">
                <a16:creationId xmlns:a16="http://schemas.microsoft.com/office/drawing/2014/main" id="{6A123B5D-DCE3-331B-339E-6FAE1FE43617}"/>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FB04860A-2578-9A93-A88A-DA70EC4B73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76AD9249-832E-19C6-8C11-77D45FB5B2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772EF0E-8F0A-461A-AE3F-B9FDC09E11A9}" type="slidenum">
              <a:rPr lang="en-US" altLang="zh-CN">
                <a:solidFill>
                  <a:srgbClr val="000000"/>
                </a:solidFill>
              </a:rPr>
              <a:pPr>
                <a:spcBef>
                  <a:spcPct val="0"/>
                </a:spcBef>
              </a:pPr>
              <a:t>49</a:t>
            </a:fld>
            <a:endParaRPr lang="en-US" altLang="zh-CN">
              <a:solidFill>
                <a:srgbClr val="000000"/>
              </a:solidFill>
            </a:endParaRPr>
          </a:p>
        </p:txBody>
      </p:sp>
      <p:sp>
        <p:nvSpPr>
          <p:cNvPr id="35843" name="Rectangle 2">
            <a:extLst>
              <a:ext uri="{FF2B5EF4-FFF2-40B4-BE49-F238E27FC236}">
                <a16:creationId xmlns:a16="http://schemas.microsoft.com/office/drawing/2014/main" id="{A8999C87-A067-FA9A-C24F-702E9CD1866B}"/>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565526E4-8429-BD13-5015-4D5B26F29C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A79C3820-D187-02C1-3445-D0FE28167F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51AA2F2-8F3C-46CC-AC0A-2E0FBF3D7DFB}" type="slidenum">
              <a:rPr lang="en-US" altLang="zh-CN">
                <a:solidFill>
                  <a:srgbClr val="000000"/>
                </a:solidFill>
              </a:rPr>
              <a:pPr>
                <a:spcBef>
                  <a:spcPct val="0"/>
                </a:spcBef>
              </a:pPr>
              <a:t>50</a:t>
            </a:fld>
            <a:endParaRPr lang="en-US" altLang="zh-CN">
              <a:solidFill>
                <a:srgbClr val="000000"/>
              </a:solidFill>
            </a:endParaRPr>
          </a:p>
        </p:txBody>
      </p:sp>
      <p:sp>
        <p:nvSpPr>
          <p:cNvPr id="37891" name="Rectangle 2">
            <a:extLst>
              <a:ext uri="{FF2B5EF4-FFF2-40B4-BE49-F238E27FC236}">
                <a16:creationId xmlns:a16="http://schemas.microsoft.com/office/drawing/2014/main" id="{36ACB923-7BCB-AB6E-E846-75A9836BE98E}"/>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C3B003C8-F1CB-7902-5E82-9B3F8E0E98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723A3BE2-0F63-8EA4-9BB1-8662BD6B57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F36F708-6761-4E9F-A349-0FFE602F09C1}" type="slidenum">
              <a:rPr lang="en-US" altLang="zh-CN">
                <a:solidFill>
                  <a:srgbClr val="000000"/>
                </a:solidFill>
              </a:rPr>
              <a:pPr>
                <a:spcBef>
                  <a:spcPct val="0"/>
                </a:spcBef>
              </a:pPr>
              <a:t>51</a:t>
            </a:fld>
            <a:endParaRPr lang="en-US" altLang="zh-CN">
              <a:solidFill>
                <a:srgbClr val="000000"/>
              </a:solidFill>
            </a:endParaRPr>
          </a:p>
        </p:txBody>
      </p:sp>
      <p:sp>
        <p:nvSpPr>
          <p:cNvPr id="39939" name="Rectangle 2">
            <a:extLst>
              <a:ext uri="{FF2B5EF4-FFF2-40B4-BE49-F238E27FC236}">
                <a16:creationId xmlns:a16="http://schemas.microsoft.com/office/drawing/2014/main" id="{982BAA41-DC1C-D30E-34E4-9F7A8179EFBC}"/>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F80517C4-928C-86A2-474A-9FEA0D6EA3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AAF36132-6B14-4F8E-C44F-5EA77641EE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B69E1B0-2505-4EED-B49F-7AE46FFC5A5C}" type="slidenum">
              <a:rPr lang="en-US" altLang="zh-CN">
                <a:solidFill>
                  <a:srgbClr val="000000"/>
                </a:solidFill>
              </a:rPr>
              <a:pPr>
                <a:spcBef>
                  <a:spcPct val="0"/>
                </a:spcBef>
              </a:pPr>
              <a:t>52</a:t>
            </a:fld>
            <a:endParaRPr lang="en-US" altLang="zh-CN">
              <a:solidFill>
                <a:srgbClr val="000000"/>
              </a:solidFill>
            </a:endParaRPr>
          </a:p>
        </p:txBody>
      </p:sp>
      <p:sp>
        <p:nvSpPr>
          <p:cNvPr id="41987" name="Rectangle 2">
            <a:extLst>
              <a:ext uri="{FF2B5EF4-FFF2-40B4-BE49-F238E27FC236}">
                <a16:creationId xmlns:a16="http://schemas.microsoft.com/office/drawing/2014/main" id="{35F75576-806E-3CD0-4DE2-70CAE4905572}"/>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160945CC-2324-6F33-63DA-4A6A50010E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ABB06677-12E8-E7BD-614C-59BC467FD0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5438D96-D603-48A0-AB54-969B421F38F5}" type="slidenum">
              <a:rPr lang="en-US" altLang="zh-CN">
                <a:solidFill>
                  <a:srgbClr val="000000"/>
                </a:solidFill>
              </a:rPr>
              <a:pPr>
                <a:spcBef>
                  <a:spcPct val="0"/>
                </a:spcBef>
              </a:pPr>
              <a:t>53</a:t>
            </a:fld>
            <a:endParaRPr lang="en-US" altLang="zh-CN">
              <a:solidFill>
                <a:srgbClr val="000000"/>
              </a:solidFill>
            </a:endParaRPr>
          </a:p>
        </p:txBody>
      </p:sp>
      <p:sp>
        <p:nvSpPr>
          <p:cNvPr id="44035" name="Rectangle 2">
            <a:extLst>
              <a:ext uri="{FF2B5EF4-FFF2-40B4-BE49-F238E27FC236}">
                <a16:creationId xmlns:a16="http://schemas.microsoft.com/office/drawing/2014/main" id="{7B512488-A085-6F05-19D0-0F41115FF224}"/>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74AD3240-697F-B392-65D2-2AAAA91FDA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73CA1642-6CEF-3E7F-6289-EC811BA21B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FD0E168-47DB-432B-B1C8-08E899473FDC}" type="slidenum">
              <a:rPr lang="en-US" altLang="zh-CN">
                <a:solidFill>
                  <a:srgbClr val="000000"/>
                </a:solidFill>
              </a:rPr>
              <a:pPr>
                <a:spcBef>
                  <a:spcPct val="0"/>
                </a:spcBef>
              </a:pPr>
              <a:t>54</a:t>
            </a:fld>
            <a:endParaRPr lang="en-US" altLang="zh-CN">
              <a:solidFill>
                <a:srgbClr val="000000"/>
              </a:solidFill>
            </a:endParaRPr>
          </a:p>
        </p:txBody>
      </p:sp>
      <p:sp>
        <p:nvSpPr>
          <p:cNvPr id="46083" name="Rectangle 2">
            <a:extLst>
              <a:ext uri="{FF2B5EF4-FFF2-40B4-BE49-F238E27FC236}">
                <a16:creationId xmlns:a16="http://schemas.microsoft.com/office/drawing/2014/main" id="{C24832C6-1B3E-2224-265A-B225B11ACD42}"/>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C088FB2E-9009-E64D-0DEB-6B25FD8192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790CEA7-C01E-88FB-5D81-77BDD533EF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A1211FE-14A1-453C-A529-B2572AED90F6}" type="slidenum">
              <a:rPr lang="en-US" altLang="zh-CN">
                <a:solidFill>
                  <a:srgbClr val="000000"/>
                </a:solidFill>
              </a:rPr>
              <a:pPr>
                <a:spcBef>
                  <a:spcPct val="0"/>
                </a:spcBef>
              </a:pPr>
              <a:t>55</a:t>
            </a:fld>
            <a:endParaRPr lang="en-US" altLang="zh-CN">
              <a:solidFill>
                <a:srgbClr val="000000"/>
              </a:solidFill>
            </a:endParaRPr>
          </a:p>
        </p:txBody>
      </p:sp>
      <p:sp>
        <p:nvSpPr>
          <p:cNvPr id="48131" name="Rectangle 2">
            <a:extLst>
              <a:ext uri="{FF2B5EF4-FFF2-40B4-BE49-F238E27FC236}">
                <a16:creationId xmlns:a16="http://schemas.microsoft.com/office/drawing/2014/main" id="{776D4262-B9F2-655D-E5F7-C20E345F4876}"/>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AD1C0F4E-0B44-2421-B736-38AB3CC8E6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814B3A28-ECF2-503F-0658-934BAE2467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00A9E69-9338-4268-B1B2-72592AA5C0DD}" type="slidenum">
              <a:rPr lang="en-US" altLang="zh-CN">
                <a:solidFill>
                  <a:srgbClr val="000000"/>
                </a:solidFill>
              </a:rPr>
              <a:pPr>
                <a:spcBef>
                  <a:spcPct val="0"/>
                </a:spcBef>
              </a:pPr>
              <a:t>56</a:t>
            </a:fld>
            <a:endParaRPr lang="en-US" altLang="zh-CN">
              <a:solidFill>
                <a:srgbClr val="000000"/>
              </a:solidFill>
            </a:endParaRPr>
          </a:p>
        </p:txBody>
      </p:sp>
      <p:sp>
        <p:nvSpPr>
          <p:cNvPr id="50179" name="Rectangle 2">
            <a:extLst>
              <a:ext uri="{FF2B5EF4-FFF2-40B4-BE49-F238E27FC236}">
                <a16:creationId xmlns:a16="http://schemas.microsoft.com/office/drawing/2014/main" id="{8C0640BA-21A7-3C10-7D32-4DE1FB420BF8}"/>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7B768E84-DCD0-6390-2573-3A591EC889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7770F3B3-5876-F3DD-19C0-9287728505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6D65587-BEA5-4591-B8B0-33CFF006C317}" type="slidenum">
              <a:rPr lang="en-US" altLang="zh-CN">
                <a:solidFill>
                  <a:srgbClr val="000000"/>
                </a:solidFill>
              </a:rPr>
              <a:pPr>
                <a:spcBef>
                  <a:spcPct val="0"/>
                </a:spcBef>
              </a:pPr>
              <a:t>60</a:t>
            </a:fld>
            <a:endParaRPr lang="en-US" altLang="zh-CN">
              <a:solidFill>
                <a:srgbClr val="000000"/>
              </a:solidFill>
            </a:endParaRPr>
          </a:p>
        </p:txBody>
      </p:sp>
      <p:sp>
        <p:nvSpPr>
          <p:cNvPr id="54275" name="Rectangle 2">
            <a:extLst>
              <a:ext uri="{FF2B5EF4-FFF2-40B4-BE49-F238E27FC236}">
                <a16:creationId xmlns:a16="http://schemas.microsoft.com/office/drawing/2014/main" id="{C5CDB419-EF67-6201-AE8E-7D040D71EF14}"/>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2133B2B1-CC6C-40CC-6B37-7F9C543DBE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B124DAEC-92E4-970D-C0E9-34E64B7C6F30}"/>
              </a:ext>
            </a:extLst>
          </p:cNvPr>
          <p:cNvSpPr>
            <a:spLocks noGrp="1" noRot="1" noChangeAspect="1" noChangeArrowheads="1" noTextEdit="1"/>
          </p:cNvSpPr>
          <p:nvPr>
            <p:ph type="sldImg"/>
          </p:nvPr>
        </p:nvSpPr>
        <p:spPr>
          <a:ln/>
        </p:spPr>
      </p:sp>
      <p:sp>
        <p:nvSpPr>
          <p:cNvPr id="47107" name="备注占位符 2">
            <a:extLst>
              <a:ext uri="{FF2B5EF4-FFF2-40B4-BE49-F238E27FC236}">
                <a16:creationId xmlns:a16="http://schemas.microsoft.com/office/drawing/2014/main" id="{8FAE95CD-D1AF-B751-6A27-BA351662BBC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灯片编号占位符 3">
            <a:extLst>
              <a:ext uri="{FF2B5EF4-FFF2-40B4-BE49-F238E27FC236}">
                <a16:creationId xmlns:a16="http://schemas.microsoft.com/office/drawing/2014/main" id="{A3194C77-2E3A-A512-E857-BAAFFF1A30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6D26CB7-5EDD-4A57-BCC4-8E8CB0B31F7E}" type="slidenum">
              <a:rPr lang="en-US" altLang="zh-CN" sz="1200"/>
              <a:pPr/>
              <a:t>61</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835"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9270" indent="0" algn="ctr">
              <a:buNone/>
              <a:defRPr>
                <a:solidFill>
                  <a:schemeClr val="tx1">
                    <a:tint val="75000"/>
                  </a:schemeClr>
                </a:solidFill>
              </a:defRPr>
            </a:lvl6pPr>
            <a:lvl7pPr marL="3658870" indent="0" algn="ctr">
              <a:buNone/>
              <a:defRPr>
                <a:solidFill>
                  <a:schemeClr val="tx1">
                    <a:tint val="75000"/>
                  </a:schemeClr>
                </a:solidFill>
              </a:defRPr>
            </a:lvl7pPr>
            <a:lvl8pPr marL="4268470" indent="0" algn="ctr">
              <a:buNone/>
              <a:defRPr>
                <a:solidFill>
                  <a:schemeClr val="tx1">
                    <a:tint val="75000"/>
                  </a:schemeClr>
                </a:solidFill>
              </a:defRPr>
            </a:lvl8pPr>
            <a:lvl9pPr marL="487870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normAutofit/>
          </a:bodyPr>
          <a:lstStyle>
            <a:lvl1pPr marL="457200" indent="-457200">
              <a:lnSpc>
                <a:spcPct val="150000"/>
              </a:lnSpc>
              <a:spcBef>
                <a:spcPts val="0"/>
              </a:spcBef>
              <a:buSzPct val="80000"/>
              <a:buFont typeface="Wingdings" panose="05000000000000000000" pitchFamily="2" charset="2"/>
              <a:buChar char="l"/>
              <a:defRPr sz="2400">
                <a:solidFill>
                  <a:schemeClr val="tx1"/>
                </a:solidFill>
                <a:latin typeface="+mn-ea"/>
                <a:ea typeface="+mn-ea"/>
              </a:defRPr>
            </a:lvl1pPr>
            <a:lvl2pPr>
              <a:lnSpc>
                <a:spcPct val="150000"/>
              </a:lnSpc>
              <a:spcBef>
                <a:spcPts val="0"/>
              </a:spcBef>
              <a:defRPr sz="2400">
                <a:solidFill>
                  <a:schemeClr val="tx1"/>
                </a:solidFill>
                <a:latin typeface="+mn-ea"/>
                <a:ea typeface="+mn-ea"/>
              </a:defRPr>
            </a:lvl2pPr>
            <a:lvl3pPr>
              <a:lnSpc>
                <a:spcPct val="150000"/>
              </a:lnSpc>
              <a:spcBef>
                <a:spcPts val="0"/>
              </a:spcBef>
              <a:defRPr sz="2400">
                <a:solidFill>
                  <a:schemeClr val="tx1"/>
                </a:solidFill>
                <a:latin typeface="+mn-ea"/>
                <a:ea typeface="+mn-ea"/>
              </a:defRPr>
            </a:lvl3pPr>
            <a:lvl4pPr>
              <a:lnSpc>
                <a:spcPct val="150000"/>
              </a:lnSpc>
              <a:spcBef>
                <a:spcPts val="0"/>
              </a:spcBef>
              <a:defRPr sz="2400">
                <a:solidFill>
                  <a:schemeClr val="tx1"/>
                </a:solidFill>
                <a:latin typeface="+mn-ea"/>
                <a:ea typeface="+mn-ea"/>
              </a:defRPr>
            </a:lvl4pPr>
            <a:lvl5pPr>
              <a:lnSpc>
                <a:spcPct val="150000"/>
              </a:lnSpc>
              <a:spcBef>
                <a:spcPts val="0"/>
              </a:spcBef>
              <a:defRPr sz="2400">
                <a:solidFill>
                  <a:schemeClr val="tx1"/>
                </a:solidFill>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lvl1pPr>
              <a:defRPr sz="2400" b="1">
                <a:latin typeface="+mn-ea"/>
                <a:ea typeface="+mn-ea"/>
              </a:defRPr>
            </a:lvl1p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200" indent="-457200">
              <a:lnSpc>
                <a:spcPct val="130000"/>
              </a:lnSpc>
              <a:buSzPct val="80000"/>
              <a:buFont typeface="Wingdings" panose="05000000000000000000" pitchFamily="2" charset="2"/>
              <a:buChar char="l"/>
              <a:defRPr sz="2400" b="1">
                <a:solidFill>
                  <a:schemeClr val="tx1"/>
                </a:solidFill>
                <a:latin typeface="+mn-ea"/>
                <a:ea typeface="+mn-ea"/>
              </a:defRPr>
            </a:lvl1pPr>
            <a:lvl2pPr>
              <a:lnSpc>
                <a:spcPct val="130000"/>
              </a:lnSpc>
              <a:defRPr sz="2400" b="1">
                <a:solidFill>
                  <a:schemeClr val="tx1"/>
                </a:solidFill>
                <a:latin typeface="+mn-ea"/>
                <a:ea typeface="+mn-ea"/>
              </a:defRPr>
            </a:lvl2pPr>
            <a:lvl3pPr>
              <a:lnSpc>
                <a:spcPct val="130000"/>
              </a:lnSpc>
              <a:defRPr sz="2400" b="1">
                <a:solidFill>
                  <a:schemeClr val="tx1"/>
                </a:solidFill>
                <a:latin typeface="+mn-ea"/>
                <a:ea typeface="+mn-ea"/>
              </a:defRPr>
            </a:lvl3pPr>
            <a:lvl4pPr>
              <a:lnSpc>
                <a:spcPct val="130000"/>
              </a:lnSpc>
              <a:defRPr sz="2400" b="1">
                <a:solidFill>
                  <a:schemeClr val="tx1"/>
                </a:solidFill>
                <a:latin typeface="+mn-ea"/>
                <a:ea typeface="+mn-ea"/>
              </a:defRPr>
            </a:lvl4pPr>
            <a:lvl5pPr>
              <a:lnSpc>
                <a:spcPct val="130000"/>
              </a:lnSpc>
              <a:defRPr sz="2400" b="1">
                <a:solidFill>
                  <a:schemeClr val="tx1"/>
                </a:solidFill>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
        <p:nvSpPr>
          <p:cNvPr id="7" name="Content Placeholder 2"/>
          <p:cNvSpPr>
            <a:spLocks noGrp="1"/>
          </p:cNvSpPr>
          <p:nvPr>
            <p:ph idx="13"/>
          </p:nvPr>
        </p:nvSpPr>
        <p:spPr>
          <a:xfrm>
            <a:off x="841375" y="984137"/>
            <a:ext cx="10747058" cy="464458"/>
          </a:xfrm>
          <a:prstGeom prst="rect">
            <a:avLst/>
          </a:prstGeom>
        </p:spPr>
        <p:txBody>
          <a:bodyPr>
            <a:noAutofit/>
          </a:bodyPr>
          <a:lstStyle>
            <a:lvl1pPr marL="0" indent="0">
              <a:lnSpc>
                <a:spcPct val="120000"/>
              </a:lnSpc>
              <a:buSzPct val="80000"/>
              <a:buFont typeface="Wingdings" panose="05000000000000000000" pitchFamily="2" charset="2"/>
              <a:buNone/>
              <a:defRPr sz="2400" b="1">
                <a:solidFill>
                  <a:schemeClr val="tx1">
                    <a:lumMod val="95000"/>
                    <a:lumOff val="5000"/>
                  </a:schemeClr>
                </a:solidFill>
                <a:latin typeface="+mn-ea"/>
                <a:ea typeface="+mn-ea"/>
              </a:defRPr>
            </a:lvl1pPr>
          </a:lstStyle>
          <a:p>
            <a:pPr lvl="0"/>
            <a:r>
              <a:rPr lang="en-US"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p:txBody>
          <a:bodyPr/>
          <a:lstStyle/>
          <a:p>
            <a:fld id="{1D8BD707-D9CF-40AE-B4C6-C98DA3205C09}" type="datetimeFigureOut">
              <a:rPr lang="en-US" smtClean="0"/>
              <a:t>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600" indent="0">
              <a:buNone/>
              <a:defRPr sz="2700" b="1"/>
            </a:lvl2pPr>
            <a:lvl3pPr marL="1219835" indent="0">
              <a:buNone/>
              <a:defRPr sz="2400" b="1"/>
            </a:lvl3pPr>
            <a:lvl4pPr marL="1829435" indent="0">
              <a:buNone/>
              <a:defRPr sz="2100" b="1"/>
            </a:lvl4pPr>
            <a:lvl5pPr marL="2439035" indent="0">
              <a:buNone/>
              <a:defRPr sz="2100" b="1"/>
            </a:lvl5pPr>
            <a:lvl6pPr marL="3049270" indent="0">
              <a:buNone/>
              <a:defRPr sz="2100" b="1"/>
            </a:lvl6pPr>
            <a:lvl7pPr marL="3658870" indent="0">
              <a:buNone/>
              <a:defRPr sz="2100" b="1"/>
            </a:lvl7pPr>
            <a:lvl8pPr marL="4268470" indent="0">
              <a:buNone/>
              <a:defRPr sz="2100" b="1"/>
            </a:lvl8pPr>
            <a:lvl9pPr marL="4878705" indent="0">
              <a:buNone/>
              <a:defRPr sz="2100" b="1"/>
            </a:lvl9pPr>
          </a:lstStyle>
          <a:p>
            <a:pPr lvl="0"/>
            <a:r>
              <a:rPr lang="en-US"/>
              <a:t>Click to edit Master text styles</a:t>
            </a:r>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600" indent="0">
              <a:buNone/>
              <a:defRPr sz="2700" b="1"/>
            </a:lvl2pPr>
            <a:lvl3pPr marL="1219835" indent="0">
              <a:buNone/>
              <a:defRPr sz="2400" b="1"/>
            </a:lvl3pPr>
            <a:lvl4pPr marL="1829435" indent="0">
              <a:buNone/>
              <a:defRPr sz="2100" b="1"/>
            </a:lvl4pPr>
            <a:lvl5pPr marL="2439035" indent="0">
              <a:buNone/>
              <a:defRPr sz="2100" b="1"/>
            </a:lvl5pPr>
            <a:lvl6pPr marL="3049270" indent="0">
              <a:buNone/>
              <a:defRPr sz="2100" b="1"/>
            </a:lvl6pPr>
            <a:lvl7pPr marL="3658870" indent="0">
              <a:buNone/>
              <a:defRPr sz="2100" b="1"/>
            </a:lvl7pPr>
            <a:lvl8pPr marL="4268470" indent="0">
              <a:buNone/>
              <a:defRPr sz="2100" b="1"/>
            </a:lvl8pPr>
            <a:lvl9pPr marL="4878705"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600" indent="0">
              <a:buNone/>
              <a:defRPr sz="3700"/>
            </a:lvl2pPr>
            <a:lvl3pPr marL="1219835" indent="0">
              <a:buNone/>
              <a:defRPr sz="3200"/>
            </a:lvl3pPr>
            <a:lvl4pPr marL="1829435" indent="0">
              <a:buNone/>
              <a:defRPr sz="2700"/>
            </a:lvl4pPr>
            <a:lvl5pPr marL="2439035" indent="0">
              <a:buNone/>
              <a:defRPr sz="2700"/>
            </a:lvl5pPr>
            <a:lvl6pPr marL="3049270" indent="0">
              <a:buNone/>
              <a:defRPr sz="2700"/>
            </a:lvl6pPr>
            <a:lvl7pPr marL="3658870" indent="0">
              <a:buNone/>
              <a:defRPr sz="2700"/>
            </a:lvl7pPr>
            <a:lvl8pPr marL="4268470" indent="0">
              <a:buNone/>
              <a:defRPr sz="2700"/>
            </a:lvl8pPr>
            <a:lvl9pPr marL="4878705"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09917" y="8477096"/>
            <a:ext cx="2846282" cy="486946"/>
          </a:xfrm>
          <a:prstGeom prst="rect">
            <a:avLst/>
          </a:prstGeom>
        </p:spPr>
        <p:txBody>
          <a:bodyPr vert="horz" lIns="121963" tIns="60981" rIns="121963" bIns="60981" rtlCol="0" anchor="ctr"/>
          <a:lstStyle>
            <a:lvl1pPr algn="l">
              <a:defRPr sz="1600">
                <a:solidFill>
                  <a:schemeClr val="tx1">
                    <a:tint val="75000"/>
                  </a:schemeClr>
                </a:solidFill>
              </a:defRPr>
            </a:lvl1pPr>
          </a:lstStyle>
          <a:p>
            <a:fld id="{1D8BD707-D9CF-40AE-B4C6-C98DA3205C09}" type="datetimeFigureOut">
              <a:rPr lang="en-US" smtClean="0"/>
              <a:t>9/20/26</a:t>
            </a:fld>
            <a:endParaRPr lang="en-US" dirty="0"/>
          </a:p>
        </p:txBody>
      </p:sp>
      <p:sp>
        <p:nvSpPr>
          <p:cNvPr id="5" name="Footer Placeholder 4"/>
          <p:cNvSpPr>
            <a:spLocks noGrp="1"/>
          </p:cNvSpPr>
          <p:nvPr>
            <p:ph type="ftr" sz="quarter" idx="3"/>
          </p:nvPr>
        </p:nvSpPr>
        <p:spPr>
          <a:xfrm>
            <a:off x="4167770" y="8477096"/>
            <a:ext cx="3862811" cy="486946"/>
          </a:xfrm>
          <a:prstGeom prst="rect">
            <a:avLst/>
          </a:prstGeom>
        </p:spPr>
        <p:txBody>
          <a:bodyPr vert="horz" lIns="121963" tIns="60981" rIns="121963" bIns="60981"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42151" y="8477096"/>
            <a:ext cx="2846282" cy="486946"/>
          </a:xfrm>
          <a:prstGeom prst="rect">
            <a:avLst/>
          </a:prstGeom>
        </p:spPr>
        <p:txBody>
          <a:bodyPr vert="horz" lIns="121963" tIns="60981" rIns="121963" bIns="60981" rtlCol="0" anchor="ctr"/>
          <a:lstStyle>
            <a:lvl1pPr algn="r">
              <a:defRPr sz="1600">
                <a:solidFill>
                  <a:schemeClr val="tx1">
                    <a:tint val="75000"/>
                  </a:schemeClr>
                </a:solidFill>
              </a:defRPr>
            </a:lvl1pPr>
          </a:lstStyle>
          <a:p>
            <a:fld id="{B6F15528-21DE-4FAA-801E-634DDDAF4B2B}" type="slidenum">
              <a:rPr lang="en-US" smtClean="0"/>
              <a:t>‹#›</a:t>
            </a:fld>
            <a:endParaRPr lang="en-US" dirty="0"/>
          </a:p>
        </p:txBody>
      </p:sp>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r>
              <a:rPr lang="zh-CN" altLang="en-US" sz="16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8030581" y="332656"/>
            <a:ext cx="3173994"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0" rtlCol="0" anchor="ctr"/>
          <a:lstStyle/>
          <a:p>
            <a:pPr marL="0" marR="0" lvl="0" indent="0" algn="ctr" defTabSz="1219835" rtl="0" eaLnBrk="1" fontAlgn="auto" latinLnBrk="0" hangingPunct="1">
              <a:lnSpc>
                <a:spcPct val="100000"/>
              </a:lnSpc>
              <a:spcBef>
                <a:spcPts val="0"/>
              </a:spcBef>
              <a:spcAft>
                <a:spcPts val="0"/>
              </a:spcAft>
              <a:buClrTx/>
              <a:buSzTx/>
              <a:buFontTx/>
              <a:buNone/>
              <a:tabLst/>
              <a:defRPr/>
            </a:pPr>
            <a:r>
              <a:rPr lang="zh-CN" altLang="en-US" sz="1800" b="0" dirty="0">
                <a:latin typeface="微软雅黑" panose="020B0503020204020204" pitchFamily="34" charset="-122"/>
                <a:ea typeface="微软雅黑" panose="020B0503020204020204" pitchFamily="34" charset="-122"/>
              </a:rPr>
              <a:t>第</a:t>
            </a:r>
            <a:r>
              <a:rPr lang="en-US" altLang="zh-CN" sz="1800" b="0" dirty="0">
                <a:latin typeface="微软雅黑" panose="020B0503020204020204" pitchFamily="34" charset="-122"/>
                <a:ea typeface="微软雅黑" panose="020B0503020204020204" pitchFamily="34" charset="-122"/>
              </a:rPr>
              <a:t>3</a:t>
            </a:r>
            <a:r>
              <a:rPr lang="zh-CN" altLang="en-US" sz="1800" b="0" dirty="0">
                <a:latin typeface="微软雅黑" panose="020B0503020204020204" pitchFamily="34" charset="-122"/>
                <a:ea typeface="微软雅黑" panose="020B0503020204020204" pitchFamily="34" charset="-122"/>
              </a:rPr>
              <a:t>章 </a:t>
            </a:r>
            <a:r>
              <a:rPr lang="zh-CN" altLang="en-US" sz="1800" dirty="0">
                <a:solidFill>
                  <a:schemeClr val="bg1"/>
                </a:solidFill>
                <a:latin typeface="黑体" panose="02010609060101010101" pitchFamily="49" charset="-122"/>
                <a:ea typeface="黑体" panose="02010609060101010101" pitchFamily="49" charset="-122"/>
              </a:rPr>
              <a:t>几种重要的随机过程</a:t>
            </a:r>
            <a:endParaRPr lang="zh-CN" altLang="en-US" sz="1800" b="0" dirty="0">
              <a:latin typeface="微软雅黑" panose="020B0503020204020204" pitchFamily="34" charset="-122"/>
              <a:ea typeface="微软雅黑" panose="020B0503020204020204" pitchFamily="34" charset="-122"/>
            </a:endParaRP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219835" rtl="0" eaLnBrk="1" latinLnBrk="0" hangingPunct="1">
        <a:spcBef>
          <a:spcPct val="0"/>
        </a:spcBef>
        <a:buNone/>
        <a:defRPr sz="2400" b="1" kern="1200">
          <a:solidFill>
            <a:schemeClr val="bg1"/>
          </a:solidFill>
          <a:latin typeface="+mj-lt"/>
          <a:ea typeface="+mj-ea"/>
          <a:cs typeface="+mj-cs"/>
        </a:defRPr>
      </a:lvl1pPr>
    </p:titleStyle>
    <p:bodyStyle>
      <a:lvl1pPr marL="457200" indent="-457200" algn="l" defTabSz="1219835" rtl="0" eaLnBrk="1" latinLnBrk="0" hangingPunct="1">
        <a:lnSpc>
          <a:spcPct val="150000"/>
        </a:lnSpc>
        <a:spcBef>
          <a:spcPct val="2000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ct val="2000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ct val="2000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ct val="2000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ct val="2000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 Id="rId9" Type="http://schemas.openxmlformats.org/officeDocument/2006/relationships/image" Target="../media/image5.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7.wmf"/><Relationship Id="rId4" Type="http://schemas.openxmlformats.org/officeDocument/2006/relationships/oleObject" Target="../embeddings/oleObject6.bin"/><Relationship Id="rId9" Type="http://schemas.openxmlformats.org/officeDocument/2006/relationships/image" Target="../media/image9.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0.wmf"/><Relationship Id="rId7" Type="http://schemas.openxmlformats.org/officeDocument/2006/relationships/image" Target="../media/image12.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11" Type="http://schemas.openxmlformats.org/officeDocument/2006/relationships/image" Target="../media/image14.wmf"/><Relationship Id="rId5" Type="http://schemas.openxmlformats.org/officeDocument/2006/relationships/image" Target="../media/image11.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3.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7.wmf"/><Relationship Id="rId12" Type="http://schemas.openxmlformats.org/officeDocument/2006/relationships/oleObject" Target="../embeddings/oleObject19.bin"/><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11" Type="http://schemas.openxmlformats.org/officeDocument/2006/relationships/image" Target="../media/image19.wmf"/><Relationship Id="rId5" Type="http://schemas.openxmlformats.org/officeDocument/2006/relationships/image" Target="../media/image16.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18.wmf"/></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wmf"/><Relationship Id="rId7" Type="http://schemas.openxmlformats.org/officeDocument/2006/relationships/image" Target="../media/image23.wmf"/><Relationship Id="rId12" Type="http://schemas.openxmlformats.org/officeDocument/2006/relationships/image" Target="../media/image25.wmf"/><Relationship Id="rId2"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22.bin"/><Relationship Id="rId11" Type="http://schemas.openxmlformats.org/officeDocument/2006/relationships/oleObject" Target="../embeddings/oleObject24.bin"/><Relationship Id="rId5" Type="http://schemas.openxmlformats.org/officeDocument/2006/relationships/image" Target="../media/image22.wmf"/><Relationship Id="rId10" Type="http://schemas.openxmlformats.org/officeDocument/2006/relationships/image" Target="../media/image24.wmf"/><Relationship Id="rId4" Type="http://schemas.openxmlformats.org/officeDocument/2006/relationships/oleObject" Target="../embeddings/oleObject21.bin"/><Relationship Id="rId9" Type="http://schemas.openxmlformats.org/officeDocument/2006/relationships/oleObject" Target="../embeddings/oleObject23.bin"/></Relationships>
</file>

<file path=ppt/slides/_rels/slide1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26.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oleObject" Target="../embeddings/oleObject1.bin"/><Relationship Id="rId4" Type="http://schemas.openxmlformats.org/officeDocument/2006/relationships/image" Target="../media/image28.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34.wmf"/><Relationship Id="rId3" Type="http://schemas.openxmlformats.org/officeDocument/2006/relationships/image" Target="../media/image29.wmf"/><Relationship Id="rId7" Type="http://schemas.openxmlformats.org/officeDocument/2006/relationships/image" Target="../media/image31.wmf"/><Relationship Id="rId12" Type="http://schemas.openxmlformats.org/officeDocument/2006/relationships/oleObject" Target="../embeddings/oleObject33.bin"/><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33.wmf"/><Relationship Id="rId5" Type="http://schemas.openxmlformats.org/officeDocument/2006/relationships/image" Target="../media/image30.wmf"/><Relationship Id="rId15" Type="http://schemas.openxmlformats.org/officeDocument/2006/relationships/image" Target="../media/image35.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32.wmf"/><Relationship Id="rId14" Type="http://schemas.openxmlformats.org/officeDocument/2006/relationships/oleObject" Target="../embeddings/oleObject34.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5.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36.bin"/><Relationship Id="rId1" Type="http://schemas.openxmlformats.org/officeDocument/2006/relationships/slideLayout" Target="../slideLayouts/slideLayout2.xml"/><Relationship Id="rId6" Type="http://schemas.openxmlformats.org/officeDocument/2006/relationships/oleObject" Target="../embeddings/oleObject38.bin"/><Relationship Id="rId5" Type="http://schemas.openxmlformats.org/officeDocument/2006/relationships/image" Target="../media/image38.wmf"/><Relationship Id="rId4" Type="http://schemas.openxmlformats.org/officeDocument/2006/relationships/oleObject" Target="../embeddings/oleObject37.bin"/></Relationships>
</file>

<file path=ppt/slides/_rels/slide21.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9.bin"/><Relationship Id="rId1" Type="http://schemas.openxmlformats.org/officeDocument/2006/relationships/slideLayout" Target="../slideLayouts/slideLayout2.xml"/><Relationship Id="rId5" Type="http://schemas.openxmlformats.org/officeDocument/2006/relationships/image" Target="../media/image41.wmf"/><Relationship Id="rId4" Type="http://schemas.openxmlformats.org/officeDocument/2006/relationships/oleObject" Target="../embeddings/oleObject40.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wmf"/><Relationship Id="rId7" Type="http://schemas.openxmlformats.org/officeDocument/2006/relationships/image" Target="../media/image44.wmf"/><Relationship Id="rId2" Type="http://schemas.openxmlformats.org/officeDocument/2006/relationships/oleObject" Target="../embeddings/oleObject41.bin"/><Relationship Id="rId1" Type="http://schemas.openxmlformats.org/officeDocument/2006/relationships/slideLayout" Target="../slideLayouts/slideLayout2.xml"/><Relationship Id="rId6" Type="http://schemas.openxmlformats.org/officeDocument/2006/relationships/oleObject" Target="../embeddings/oleObject43.bin"/><Relationship Id="rId5" Type="http://schemas.openxmlformats.org/officeDocument/2006/relationships/image" Target="../media/image43.wmf"/><Relationship Id="rId4" Type="http://schemas.openxmlformats.org/officeDocument/2006/relationships/oleObject" Target="../embeddings/oleObject42.bin"/></Relationships>
</file>

<file path=ppt/slides/_rels/slide30.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44.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45.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7.wmf"/><Relationship Id="rId5" Type="http://schemas.openxmlformats.org/officeDocument/2006/relationships/oleObject" Target="../embeddings/oleObject47.bin"/><Relationship Id="rId4" Type="http://schemas.openxmlformats.org/officeDocument/2006/relationships/image" Target="../media/image46.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48.bin"/><Relationship Id="rId1" Type="http://schemas.openxmlformats.org/officeDocument/2006/relationships/slideLayout" Target="../slideLayouts/slideLayout2.xml"/><Relationship Id="rId5" Type="http://schemas.openxmlformats.org/officeDocument/2006/relationships/image" Target="../media/image49.wmf"/><Relationship Id="rId4" Type="http://schemas.openxmlformats.org/officeDocument/2006/relationships/oleObject" Target="../embeddings/oleObject49.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image" Target="../media/image50.wmf"/><Relationship Id="rId7" Type="http://schemas.openxmlformats.org/officeDocument/2006/relationships/image" Target="../media/image52.wmf"/><Relationship Id="rId2" Type="http://schemas.openxmlformats.org/officeDocument/2006/relationships/oleObject" Target="../embeddings/oleObject50.bin"/><Relationship Id="rId1" Type="http://schemas.openxmlformats.org/officeDocument/2006/relationships/slideLayout" Target="../slideLayouts/slideLayout2.xml"/><Relationship Id="rId6" Type="http://schemas.openxmlformats.org/officeDocument/2006/relationships/oleObject" Target="../embeddings/oleObject52.bin"/><Relationship Id="rId5" Type="http://schemas.openxmlformats.org/officeDocument/2006/relationships/image" Target="../media/image51.wmf"/><Relationship Id="rId4" Type="http://schemas.openxmlformats.org/officeDocument/2006/relationships/oleObject" Target="../embeddings/oleObject51.bin"/><Relationship Id="rId9" Type="http://schemas.openxmlformats.org/officeDocument/2006/relationships/image" Target="../media/image53.wmf"/></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4.w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6.wmf"/><Relationship Id="rId5" Type="http://schemas.openxmlformats.org/officeDocument/2006/relationships/oleObject" Target="../embeddings/oleObject56.bin"/><Relationship Id="rId4" Type="http://schemas.openxmlformats.org/officeDocument/2006/relationships/image" Target="../media/image55.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58.bin"/><Relationship Id="rId4" Type="http://schemas.openxmlformats.org/officeDocument/2006/relationships/image" Target="../media/image57.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9.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0.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1.w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2.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3.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7.wmf"/><Relationship Id="rId7" Type="http://schemas.openxmlformats.org/officeDocument/2006/relationships/image" Target="../media/image69.wmf"/><Relationship Id="rId2"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66.bin"/><Relationship Id="rId5" Type="http://schemas.openxmlformats.org/officeDocument/2006/relationships/image" Target="../media/image68.wmf"/><Relationship Id="rId4" Type="http://schemas.openxmlformats.org/officeDocument/2006/relationships/oleObject" Target="../embeddings/oleObject65.bin"/></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17" name="TextBox 16"/>
          <p:cNvSpPr txBox="1"/>
          <p:nvPr/>
        </p:nvSpPr>
        <p:spPr>
          <a:xfrm>
            <a:off x="3901096" y="2310557"/>
            <a:ext cx="4560279" cy="430930"/>
          </a:xfrm>
          <a:prstGeom prst="rect">
            <a:avLst/>
          </a:prstGeom>
          <a:noFill/>
        </p:spPr>
        <p:txBody>
          <a:bodyPr wrap="square" lIns="121963" tIns="60981" rIns="121963" bIns="60981" rtlCol="0">
            <a:spAutoFit/>
          </a:bodyPr>
          <a:lstStyle/>
          <a:p>
            <a:r>
              <a:rPr lang="en-US" altLang="zh-CN" sz="2000" dirty="0">
                <a:solidFill>
                  <a:schemeClr val="bg1"/>
                </a:solidFill>
              </a:rPr>
              <a:t>             《</a:t>
            </a:r>
            <a:r>
              <a:rPr lang="zh-CN" altLang="en-US" sz="2000" dirty="0">
                <a:solidFill>
                  <a:schemeClr val="bg1"/>
                </a:solidFill>
                <a:latin typeface="华文行楷" panose="02010800040101010101" pitchFamily="2" charset="-122"/>
                <a:ea typeface="华文行楷" panose="02010800040101010101" pitchFamily="2" charset="-122"/>
              </a:rPr>
              <a:t>随机过程与排队论</a:t>
            </a:r>
            <a:r>
              <a:rPr lang="en-US" altLang="zh-CN" sz="2000" dirty="0">
                <a:solidFill>
                  <a:schemeClr val="bg1"/>
                </a:solidFill>
              </a:rPr>
              <a:t>》</a:t>
            </a:r>
            <a:endParaRPr lang="zh-CN" altLang="en-US" sz="2000" dirty="0">
              <a:solidFill>
                <a:schemeClr val="bg1"/>
              </a:solidFill>
            </a:endParaRPr>
          </a:p>
        </p:txBody>
      </p:sp>
      <p:sp>
        <p:nvSpPr>
          <p:cNvPr id="18" name="TextBox 17"/>
          <p:cNvSpPr txBox="1"/>
          <p:nvPr/>
        </p:nvSpPr>
        <p:spPr>
          <a:xfrm>
            <a:off x="4117975" y="1116654"/>
            <a:ext cx="2076056" cy="861817"/>
          </a:xfrm>
          <a:prstGeom prst="rect">
            <a:avLst/>
          </a:prstGeom>
          <a:solidFill>
            <a:srgbClr val="28A7E1"/>
          </a:solidFill>
        </p:spPr>
        <p:txBody>
          <a:bodyPr wrap="square" lIns="121963" tIns="60981" rIns="121963" bIns="60981" rtlCol="0">
            <a:spAutoFit/>
          </a:bodyPr>
          <a:lstStyle/>
          <a:p>
            <a:r>
              <a:rPr lang="zh-CN" altLang="en-US" sz="4800" dirty="0">
                <a:solidFill>
                  <a:schemeClr val="bg1"/>
                </a:solidFill>
              </a:rPr>
              <a:t>第</a:t>
            </a:r>
            <a:r>
              <a:rPr lang="en-US" altLang="zh-CN" sz="4800" dirty="0">
                <a:solidFill>
                  <a:schemeClr val="bg1"/>
                </a:solidFill>
              </a:rPr>
              <a:t>4</a:t>
            </a:r>
            <a:r>
              <a:rPr lang="zh-CN" altLang="en-US" sz="4800" dirty="0">
                <a:solidFill>
                  <a:schemeClr val="bg1"/>
                </a:solidFill>
              </a:rPr>
              <a:t>章 </a:t>
            </a:r>
          </a:p>
        </p:txBody>
      </p:sp>
      <p:sp>
        <p:nvSpPr>
          <p:cNvPr id="19" name="TextBox 18"/>
          <p:cNvSpPr txBox="1"/>
          <p:nvPr/>
        </p:nvSpPr>
        <p:spPr>
          <a:xfrm>
            <a:off x="6254536" y="1368889"/>
            <a:ext cx="4057469" cy="615596"/>
          </a:xfrm>
          <a:prstGeom prst="rect">
            <a:avLst/>
          </a:prstGeom>
          <a:noFill/>
        </p:spPr>
        <p:txBody>
          <a:bodyPr wrap="square" lIns="121963" tIns="60981" rIns="121963" bIns="60981" rtlCol="0">
            <a:spAutoFit/>
          </a:bodyPr>
          <a:lstStyle/>
          <a:p>
            <a:r>
              <a:rPr lang="zh-CN" altLang="en-US" sz="3200" dirty="0">
                <a:solidFill>
                  <a:schemeClr val="bg1"/>
                </a:solidFill>
                <a:latin typeface="黑体" panose="02010609060101010101" pitchFamily="49" charset="-122"/>
                <a:ea typeface="黑体" panose="02010609060101010101" pitchFamily="49" charset="-122"/>
              </a:rPr>
              <a:t>泊松过程</a:t>
            </a:r>
          </a:p>
        </p:txBody>
      </p:sp>
      <p:sp>
        <p:nvSpPr>
          <p:cNvPr id="20" name="TextBox 19"/>
          <p:cNvSpPr txBox="1"/>
          <p:nvPr/>
        </p:nvSpPr>
        <p:spPr>
          <a:xfrm>
            <a:off x="4521135" y="3519164"/>
            <a:ext cx="4854640" cy="430930"/>
          </a:xfrm>
          <a:prstGeom prst="rect">
            <a:avLst/>
          </a:prstGeom>
          <a:noFill/>
        </p:spPr>
        <p:txBody>
          <a:bodyPr wrap="square" lIns="121963" tIns="60981" rIns="121963" bIns="60981" rtlCol="0">
            <a:spAutoFit/>
          </a:bodyPr>
          <a:lstStyle/>
          <a:p>
            <a:pPr eaLnBrk="1" hangingPunct="1"/>
            <a:r>
              <a:rPr lang="en-US" altLang="zh-CN" sz="2000" dirty="0">
                <a:solidFill>
                  <a:schemeClr val="bg1"/>
                </a:solidFill>
                <a:ea typeface="华文行楷" panose="02010800040101010101" pitchFamily="2" charset="-122"/>
              </a:rPr>
              <a:t>Email</a:t>
            </a:r>
            <a:r>
              <a:rPr lang="zh-CN" altLang="en-US" sz="2000" dirty="0">
                <a:solidFill>
                  <a:schemeClr val="bg1"/>
                </a:solidFill>
                <a:ea typeface="华文行楷" panose="02010800040101010101" pitchFamily="2" charset="-122"/>
              </a:rPr>
              <a:t>：</a:t>
            </a:r>
            <a:r>
              <a:rPr lang="en-US" altLang="zh-CN" sz="2000" dirty="0">
                <a:solidFill>
                  <a:schemeClr val="bg1"/>
                </a:solidFill>
                <a:ea typeface="华文行楷" panose="02010800040101010101" pitchFamily="2" charset="-122"/>
              </a:rPr>
              <a:t>qxwang@uestc.edu.cn</a:t>
            </a:r>
          </a:p>
        </p:txBody>
      </p:sp>
      <p:sp>
        <p:nvSpPr>
          <p:cNvPr id="22" name="矩形 21"/>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26" name="矩形 25"/>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0" name="TextBox 9"/>
          <p:cNvSpPr txBox="1"/>
          <p:nvPr/>
        </p:nvSpPr>
        <p:spPr>
          <a:xfrm>
            <a:off x="5794375" y="2900778"/>
            <a:ext cx="1754309" cy="430930"/>
          </a:xfrm>
          <a:prstGeom prst="rect">
            <a:avLst/>
          </a:prstGeom>
          <a:noFill/>
        </p:spPr>
        <p:txBody>
          <a:bodyPr wrap="square" lIns="121963" tIns="60981" rIns="121963" bIns="60981" rtlCol="0">
            <a:spAutoFit/>
          </a:bodyPr>
          <a:lstStyle/>
          <a:p>
            <a:pPr algn="ctr"/>
            <a:r>
              <a:rPr lang="zh-CN" altLang="en-US" sz="2000" dirty="0">
                <a:solidFill>
                  <a:schemeClr val="bg1"/>
                </a:solidFill>
                <a:latin typeface="华文行楷" panose="02010800040101010101" pitchFamily="2" charset="-122"/>
                <a:ea typeface="华文行楷" panose="02010800040101010101" pitchFamily="2" charset="-122"/>
              </a:rPr>
              <a:t>王庆先</a:t>
            </a:r>
            <a:endParaRPr lang="zh-CN" altLang="en-US" sz="2000" dirty="0">
              <a:solidFill>
                <a:schemeClr val="bg1"/>
              </a:solidFill>
            </a:endParaRPr>
          </a:p>
        </p:txBody>
      </p:sp>
      <p:sp>
        <p:nvSpPr>
          <p:cNvPr id="11" name="TextBox 10"/>
          <p:cNvSpPr txBox="1"/>
          <p:nvPr/>
        </p:nvSpPr>
        <p:spPr>
          <a:xfrm>
            <a:off x="2898775" y="2900930"/>
            <a:ext cx="3078481" cy="430930"/>
          </a:xfrm>
          <a:prstGeom prst="rect">
            <a:avLst/>
          </a:prstGeom>
          <a:noFill/>
        </p:spPr>
        <p:txBody>
          <a:bodyPr wrap="square" lIns="121963" tIns="60981" rIns="121963" bIns="60981" rtlCol="0">
            <a:spAutoFit/>
          </a:bodyPr>
          <a:lstStyle/>
          <a:p>
            <a:pPr eaLnBrk="1" hangingPunct="1"/>
            <a:r>
              <a:rPr lang="zh-CN" altLang="en-US" sz="2000" dirty="0">
                <a:solidFill>
                  <a:schemeClr val="bg1"/>
                </a:solidFill>
                <a:latin typeface="华文行楷" panose="02010800040101010101" pitchFamily="2" charset="-122"/>
                <a:ea typeface="华文行楷" panose="02010800040101010101" pitchFamily="2" charset="-122"/>
              </a:rPr>
              <a:t>信息与软件工程学院</a:t>
            </a:r>
          </a:p>
        </p:txBody>
      </p:sp>
      <p:sp>
        <p:nvSpPr>
          <p:cNvPr id="2" name="矩形 1"/>
          <p:cNvSpPr/>
          <p:nvPr/>
        </p:nvSpPr>
        <p:spPr>
          <a:xfrm>
            <a:off x="5748656" y="2975515"/>
            <a:ext cx="45719" cy="32172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a:extLst>
              <a:ext uri="{FF2B5EF4-FFF2-40B4-BE49-F238E27FC236}">
                <a16:creationId xmlns:a16="http://schemas.microsoft.com/office/drawing/2014/main" id="{C42366A7-8B8B-11B6-B172-932897628FED}"/>
              </a:ext>
            </a:extLst>
          </p:cNvPr>
          <p:cNvSpPr>
            <a:spLocks noGrp="1" noChangeArrowheads="1"/>
          </p:cNvSpPr>
          <p:nvPr>
            <p:ph type="title"/>
          </p:nvPr>
        </p:nvSpPr>
        <p:spPr/>
        <p:txBody>
          <a:bodyPr/>
          <a:lstStyle/>
          <a:p>
            <a:r>
              <a:rPr lang="zh-CN" altLang="en-US" dirty="0"/>
              <a:t>上一讲内容回顾</a:t>
            </a:r>
          </a:p>
        </p:txBody>
      </p:sp>
      <p:sp>
        <p:nvSpPr>
          <p:cNvPr id="319491" name="Rectangle 3">
            <a:extLst>
              <a:ext uri="{FF2B5EF4-FFF2-40B4-BE49-F238E27FC236}">
                <a16:creationId xmlns:a16="http://schemas.microsoft.com/office/drawing/2014/main" id="{5654F0C9-5467-BE76-2D88-18A365ED7911}"/>
              </a:ext>
            </a:extLst>
          </p:cNvPr>
          <p:cNvSpPr>
            <a:spLocks noGrp="1" noChangeArrowheads="1"/>
          </p:cNvSpPr>
          <p:nvPr>
            <p:ph type="body" idx="1"/>
          </p:nvPr>
        </p:nvSpPr>
        <p:spPr>
          <a:xfrm>
            <a:off x="774701" y="1052758"/>
            <a:ext cx="5334000" cy="5806830"/>
          </a:xfrm>
        </p:spPr>
        <p:txBody>
          <a:bodyPr>
            <a:normAutofit/>
          </a:bodyPr>
          <a:lstStyle/>
          <a:p>
            <a:pPr eaLnBrk="1" hangingPunct="1">
              <a:buFont typeface="Wingdings" panose="05000000000000000000" pitchFamily="2" charset="2"/>
              <a:buChar char="Ø"/>
            </a:pPr>
            <a:r>
              <a:rPr lang="zh-CN" altLang="en-US" dirty="0">
                <a:solidFill>
                  <a:srgbClr val="0000FF"/>
                </a:solidFill>
              </a:rPr>
              <a:t>随机过程的基本概念</a:t>
            </a:r>
          </a:p>
          <a:p>
            <a:pPr lvl="1" eaLnBrk="1" hangingPunct="1">
              <a:buClr>
                <a:srgbClr val="FF0000"/>
              </a:buClr>
              <a:buFontTx/>
              <a:buChar char="•"/>
            </a:pPr>
            <a:r>
              <a:rPr lang="zh-CN" altLang="en-US" dirty="0">
                <a:solidFill>
                  <a:srgbClr val="CC00CC"/>
                </a:solidFill>
                <a:latin typeface="黑体" panose="02010609060101010101" pitchFamily="49" charset="-122"/>
              </a:rPr>
              <a:t>随机过程的定义</a:t>
            </a:r>
          </a:p>
          <a:p>
            <a:pPr lvl="1" eaLnBrk="1" hangingPunct="1">
              <a:buClr>
                <a:srgbClr val="FF0000"/>
              </a:buClr>
              <a:buFontTx/>
              <a:buChar char="•"/>
            </a:pPr>
            <a:r>
              <a:rPr lang="zh-CN" altLang="en-US" dirty="0">
                <a:solidFill>
                  <a:srgbClr val="CC00CC"/>
                </a:solidFill>
                <a:latin typeface="黑体" panose="02010609060101010101" pitchFamily="49" charset="-122"/>
              </a:rPr>
              <a:t>随机过程的分布</a:t>
            </a:r>
          </a:p>
          <a:p>
            <a:pPr lvl="1" eaLnBrk="1" hangingPunct="1">
              <a:buClr>
                <a:srgbClr val="FF0000"/>
              </a:buClr>
              <a:buFontTx/>
              <a:buChar char="•"/>
            </a:pPr>
            <a:r>
              <a:rPr lang="zh-CN" altLang="en-US" dirty="0">
                <a:solidFill>
                  <a:srgbClr val="CC00CC"/>
                </a:solidFill>
                <a:latin typeface="黑体" panose="02010609060101010101" pitchFamily="49" charset="-122"/>
              </a:rPr>
              <a:t>随机过程的数字特征</a:t>
            </a:r>
          </a:p>
          <a:p>
            <a:pPr eaLnBrk="1" hangingPunct="1">
              <a:buFont typeface="Wingdings" panose="05000000000000000000" pitchFamily="2" charset="2"/>
              <a:buChar char="Ø"/>
            </a:pPr>
            <a:r>
              <a:rPr lang="zh-CN" altLang="en-US" dirty="0">
                <a:solidFill>
                  <a:srgbClr val="0000FF"/>
                </a:solidFill>
              </a:rPr>
              <a:t>重要随机过程</a:t>
            </a:r>
          </a:p>
          <a:p>
            <a:pPr lvl="1" eaLnBrk="1" hangingPunct="1">
              <a:buClr>
                <a:srgbClr val="FF0000"/>
              </a:buClr>
              <a:buFontTx/>
              <a:buChar char="•"/>
            </a:pPr>
            <a:r>
              <a:rPr lang="zh-CN" altLang="en-US" dirty="0">
                <a:solidFill>
                  <a:srgbClr val="CC00CC"/>
                </a:solidFill>
                <a:latin typeface="黑体" panose="02010609060101010101" pitchFamily="49" charset="-122"/>
              </a:rPr>
              <a:t>独立过程</a:t>
            </a:r>
          </a:p>
          <a:p>
            <a:pPr lvl="1" eaLnBrk="1" hangingPunct="1">
              <a:buClr>
                <a:srgbClr val="FF0000"/>
              </a:buClr>
              <a:buFontTx/>
              <a:buChar char="•"/>
            </a:pPr>
            <a:r>
              <a:rPr lang="zh-CN" altLang="en-US" dirty="0">
                <a:solidFill>
                  <a:srgbClr val="CC00CC"/>
                </a:solidFill>
                <a:latin typeface="黑体" panose="02010609060101010101" pitchFamily="49" charset="-122"/>
              </a:rPr>
              <a:t>独立增量过程</a:t>
            </a:r>
            <a:endParaRPr lang="en-US" altLang="zh-CN" dirty="0">
              <a:solidFill>
                <a:srgbClr val="CC00CC"/>
              </a:solidFill>
              <a:latin typeface="黑体" panose="02010609060101010101" pitchFamily="49" charset="-122"/>
            </a:endParaRPr>
          </a:p>
          <a:p>
            <a:pPr lvl="1">
              <a:buClr>
                <a:srgbClr val="FF0000"/>
              </a:buClr>
              <a:buFontTx/>
              <a:buChar char="•"/>
            </a:pPr>
            <a:r>
              <a:rPr lang="zh-CN" altLang="en-US" dirty="0">
                <a:solidFill>
                  <a:srgbClr val="CC00CC"/>
                </a:solidFill>
                <a:latin typeface="黑体" panose="02010609060101010101" pitchFamily="49" charset="-122"/>
              </a:rPr>
              <a:t>正态过程</a:t>
            </a:r>
            <a:endParaRPr lang="en-US" altLang="zh-CN" dirty="0">
              <a:solidFill>
                <a:srgbClr val="CC00CC"/>
              </a:solidFill>
              <a:latin typeface="黑体" panose="02010609060101010101" pitchFamily="49" charset="-122"/>
            </a:endParaRPr>
          </a:p>
          <a:p>
            <a:pPr lvl="1">
              <a:buClr>
                <a:srgbClr val="FF0000"/>
              </a:buClr>
              <a:buFontTx/>
              <a:buChar char="•"/>
            </a:pPr>
            <a:r>
              <a:rPr lang="zh-CN" altLang="en-US" dirty="0">
                <a:solidFill>
                  <a:srgbClr val="CC00CC"/>
                </a:solidFill>
                <a:latin typeface="黑体" panose="02010609060101010101" pitchFamily="49" charset="-122"/>
              </a:rPr>
              <a:t>维纳过程</a:t>
            </a:r>
            <a:endParaRPr lang="en-US" altLang="zh-CN" dirty="0">
              <a:solidFill>
                <a:srgbClr val="CC00CC"/>
              </a:solidFill>
              <a:latin typeface="黑体" panose="02010609060101010101" pitchFamily="49" charset="-122"/>
            </a:endParaRPr>
          </a:p>
          <a:p>
            <a:pPr lvl="1" eaLnBrk="1" hangingPunct="1">
              <a:buClr>
                <a:srgbClr val="FF0000"/>
              </a:buClr>
              <a:buFontTx/>
              <a:buChar char="•"/>
            </a:pPr>
            <a:endParaRPr lang="zh-CN" altLang="en-US" dirty="0">
              <a:solidFill>
                <a:srgbClr val="CC00CC"/>
              </a:solidFill>
              <a:latin typeface="黑体" panose="02010609060101010101" pitchFamily="49" charset="-122"/>
            </a:endParaRPr>
          </a:p>
        </p:txBody>
      </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 calcmode="lin" valueType="num">
                                      <p:cBhvr additive="base">
                                        <p:cTn id="7" dur="500" fill="hold"/>
                                        <p:tgtEl>
                                          <p:spTgt spid="319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949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9491">
                                            <p:txEl>
                                              <p:pRg st="1" end="1"/>
                                            </p:txEl>
                                          </p:spTgt>
                                        </p:tgtEl>
                                        <p:attrNameLst>
                                          <p:attrName>style.visibility</p:attrName>
                                        </p:attrNameLst>
                                      </p:cBhvr>
                                      <p:to>
                                        <p:strVal val="visible"/>
                                      </p:to>
                                    </p:set>
                                    <p:anim calcmode="lin" valueType="num">
                                      <p:cBhvr additive="base">
                                        <p:cTn id="11" dur="500" fill="hold"/>
                                        <p:tgtEl>
                                          <p:spTgt spid="31949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1949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19491">
                                            <p:txEl>
                                              <p:pRg st="2" end="2"/>
                                            </p:txEl>
                                          </p:spTgt>
                                        </p:tgtEl>
                                        <p:attrNameLst>
                                          <p:attrName>style.visibility</p:attrName>
                                        </p:attrNameLst>
                                      </p:cBhvr>
                                      <p:to>
                                        <p:strVal val="visible"/>
                                      </p:to>
                                    </p:set>
                                    <p:anim calcmode="lin" valueType="num">
                                      <p:cBhvr additive="base">
                                        <p:cTn id="15" dur="500" fill="hold"/>
                                        <p:tgtEl>
                                          <p:spTgt spid="31949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1949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19491">
                                            <p:txEl>
                                              <p:pRg st="3" end="3"/>
                                            </p:txEl>
                                          </p:spTgt>
                                        </p:tgtEl>
                                        <p:attrNameLst>
                                          <p:attrName>style.visibility</p:attrName>
                                        </p:attrNameLst>
                                      </p:cBhvr>
                                      <p:to>
                                        <p:strVal val="visible"/>
                                      </p:to>
                                    </p:set>
                                    <p:anim calcmode="lin" valueType="num">
                                      <p:cBhvr additive="base">
                                        <p:cTn id="19" dur="500" fill="hold"/>
                                        <p:tgtEl>
                                          <p:spTgt spid="3194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94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9491">
                                            <p:txEl>
                                              <p:pRg st="4" end="4"/>
                                            </p:txEl>
                                          </p:spTgt>
                                        </p:tgtEl>
                                        <p:attrNameLst>
                                          <p:attrName>style.visibility</p:attrName>
                                        </p:attrNameLst>
                                      </p:cBhvr>
                                      <p:to>
                                        <p:strVal val="visible"/>
                                      </p:to>
                                    </p:set>
                                    <p:anim calcmode="lin" valueType="num">
                                      <p:cBhvr additive="base">
                                        <p:cTn id="25" dur="500" fill="hold"/>
                                        <p:tgtEl>
                                          <p:spTgt spid="31949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949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19491">
                                            <p:txEl>
                                              <p:pRg st="5" end="5"/>
                                            </p:txEl>
                                          </p:spTgt>
                                        </p:tgtEl>
                                        <p:attrNameLst>
                                          <p:attrName>style.visibility</p:attrName>
                                        </p:attrNameLst>
                                      </p:cBhvr>
                                      <p:to>
                                        <p:strVal val="visible"/>
                                      </p:to>
                                    </p:set>
                                    <p:anim calcmode="lin" valueType="num">
                                      <p:cBhvr additive="base">
                                        <p:cTn id="29" dur="500" fill="hold"/>
                                        <p:tgtEl>
                                          <p:spTgt spid="31949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1949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19491">
                                            <p:txEl>
                                              <p:pRg st="6" end="6"/>
                                            </p:txEl>
                                          </p:spTgt>
                                        </p:tgtEl>
                                        <p:attrNameLst>
                                          <p:attrName>style.visibility</p:attrName>
                                        </p:attrNameLst>
                                      </p:cBhvr>
                                      <p:to>
                                        <p:strVal val="visible"/>
                                      </p:to>
                                    </p:set>
                                    <p:anim calcmode="lin" valueType="num">
                                      <p:cBhvr additive="base">
                                        <p:cTn id="33" dur="500" fill="hold"/>
                                        <p:tgtEl>
                                          <p:spTgt spid="31949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1949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19491">
                                            <p:txEl>
                                              <p:pRg st="7" end="7"/>
                                            </p:txEl>
                                          </p:spTgt>
                                        </p:tgtEl>
                                        <p:attrNameLst>
                                          <p:attrName>style.visibility</p:attrName>
                                        </p:attrNameLst>
                                      </p:cBhvr>
                                      <p:to>
                                        <p:strVal val="visible"/>
                                      </p:to>
                                    </p:set>
                                    <p:anim calcmode="lin" valueType="num">
                                      <p:cBhvr additive="base">
                                        <p:cTn id="37" dur="500" fill="hold"/>
                                        <p:tgtEl>
                                          <p:spTgt spid="31949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9491">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19491">
                                            <p:txEl>
                                              <p:pRg st="8" end="8"/>
                                            </p:txEl>
                                          </p:spTgt>
                                        </p:tgtEl>
                                        <p:attrNameLst>
                                          <p:attrName>style.visibility</p:attrName>
                                        </p:attrNameLst>
                                      </p:cBhvr>
                                      <p:to>
                                        <p:strVal val="visible"/>
                                      </p:to>
                                    </p:set>
                                    <p:anim calcmode="lin" valueType="num">
                                      <p:cBhvr additive="base">
                                        <p:cTn id="41" dur="500" fill="hold"/>
                                        <p:tgtEl>
                                          <p:spTgt spid="319491">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1949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a:extLst>
              <a:ext uri="{FF2B5EF4-FFF2-40B4-BE49-F238E27FC236}">
                <a16:creationId xmlns:a16="http://schemas.microsoft.com/office/drawing/2014/main" id="{D0CBE65B-CB02-1405-F08A-CADBDFF36A97}"/>
              </a:ext>
            </a:extLst>
          </p:cNvPr>
          <p:cNvSpPr>
            <a:spLocks noGrp="1" noChangeArrowheads="1"/>
          </p:cNvSpPr>
          <p:nvPr>
            <p:ph type="title"/>
          </p:nvPr>
        </p:nvSpPr>
        <p:spPr/>
        <p:txBody>
          <a:bodyPr/>
          <a:lstStyle/>
          <a:p>
            <a:pPr eaLnBrk="1" hangingPunct="1"/>
            <a:r>
              <a:rPr lang="zh-CN" altLang="en-US" dirty="0"/>
              <a:t>本讲主要内容</a:t>
            </a:r>
          </a:p>
        </p:txBody>
      </p:sp>
      <p:sp>
        <p:nvSpPr>
          <p:cNvPr id="344067" name="Rectangle 3">
            <a:extLst>
              <a:ext uri="{FF2B5EF4-FFF2-40B4-BE49-F238E27FC236}">
                <a16:creationId xmlns:a16="http://schemas.microsoft.com/office/drawing/2014/main" id="{A97D52C3-178A-DF40-7B84-ED8DF4532DE5}"/>
              </a:ext>
            </a:extLst>
          </p:cNvPr>
          <p:cNvSpPr>
            <a:spLocks noGrp="1" noChangeArrowheads="1"/>
          </p:cNvSpPr>
          <p:nvPr>
            <p:ph type="body" idx="1"/>
          </p:nvPr>
        </p:nvSpPr>
        <p:spPr>
          <a:xfrm>
            <a:off x="609917" y="1067142"/>
            <a:ext cx="7110471" cy="5757607"/>
          </a:xfrm>
        </p:spPr>
        <p:txBody>
          <a:bodyPr>
            <a:normAutofit/>
          </a:bodyPr>
          <a:lstStyle/>
          <a:p>
            <a:pPr eaLnBrk="1" hangingPunct="1">
              <a:buClr>
                <a:srgbClr val="00FF00"/>
              </a:buClr>
              <a:buFont typeface="Wingdings" panose="05000000000000000000" pitchFamily="2" charset="2"/>
              <a:buChar char="Ø"/>
            </a:pPr>
            <a:r>
              <a:rPr lang="zh-CN" altLang="en-US" dirty="0">
                <a:solidFill>
                  <a:srgbClr val="0000FF"/>
                </a:solidFill>
                <a:latin typeface="黑体" panose="02010609060101010101" pitchFamily="49" charset="-122"/>
              </a:rPr>
              <a:t>泊松过程</a:t>
            </a:r>
          </a:p>
          <a:p>
            <a:pPr lvl="1" eaLnBrk="1" hangingPunct="1">
              <a:buClr>
                <a:srgbClr val="FF0000"/>
              </a:buClr>
              <a:buFontTx/>
              <a:buChar char="•"/>
            </a:pPr>
            <a:r>
              <a:rPr lang="zh-CN" altLang="en-US" dirty="0">
                <a:solidFill>
                  <a:srgbClr val="CC00CC"/>
                </a:solidFill>
                <a:latin typeface="黑体" panose="02010609060101010101" pitchFamily="49" charset="-122"/>
              </a:rPr>
              <a:t>泊松过程的两个定义及其等价性</a:t>
            </a:r>
          </a:p>
          <a:p>
            <a:pPr lvl="1" eaLnBrk="1" hangingPunct="1">
              <a:buClr>
                <a:srgbClr val="FF0000"/>
              </a:buClr>
              <a:buFontTx/>
              <a:buChar char="•"/>
            </a:pPr>
            <a:r>
              <a:rPr lang="zh-CN" altLang="en-US" dirty="0">
                <a:solidFill>
                  <a:srgbClr val="CC00CC"/>
                </a:solidFill>
                <a:latin typeface="黑体" panose="02010609060101010101" pitchFamily="49" charset="-122"/>
              </a:rPr>
              <a:t>泊松过程的概率分布</a:t>
            </a:r>
          </a:p>
          <a:p>
            <a:pPr lvl="1" eaLnBrk="1" hangingPunct="1">
              <a:buClr>
                <a:srgbClr val="FF0000"/>
              </a:buClr>
              <a:buFontTx/>
              <a:buChar char="•"/>
            </a:pPr>
            <a:r>
              <a:rPr lang="zh-CN" altLang="en-US" dirty="0">
                <a:solidFill>
                  <a:srgbClr val="CC00CC"/>
                </a:solidFill>
                <a:latin typeface="黑体" panose="02010609060101010101" pitchFamily="49" charset="-122"/>
              </a:rPr>
              <a:t>泊松过程的数字特征</a:t>
            </a:r>
          </a:p>
          <a:p>
            <a:pPr lvl="1" eaLnBrk="1" hangingPunct="1">
              <a:buClr>
                <a:srgbClr val="FF0000"/>
              </a:buClr>
              <a:buFontTx/>
              <a:buChar char="•"/>
            </a:pPr>
            <a:r>
              <a:rPr lang="zh-CN" altLang="en-US" dirty="0">
                <a:solidFill>
                  <a:srgbClr val="CC00CC"/>
                </a:solidFill>
                <a:latin typeface="黑体" panose="02010609060101010101" pitchFamily="49" charset="-122"/>
              </a:rPr>
              <a:t>泊松过程的性质</a:t>
            </a:r>
            <a:endParaRPr lang="en-US" altLang="zh-CN" dirty="0">
              <a:solidFill>
                <a:srgbClr val="CC00CC"/>
              </a:solidFill>
              <a:latin typeface="黑体" panose="02010609060101010101" pitchFamily="49" charset="-122"/>
            </a:endParaRPr>
          </a:p>
          <a:p>
            <a:pPr lvl="1" eaLnBrk="1" hangingPunct="1">
              <a:buClr>
                <a:srgbClr val="FF0000"/>
              </a:buClr>
              <a:buFontTx/>
              <a:buChar char="•"/>
            </a:pPr>
            <a:r>
              <a:rPr lang="zh-CN" altLang="en-US" dirty="0">
                <a:solidFill>
                  <a:srgbClr val="CC00CC"/>
                </a:solidFill>
                <a:latin typeface="黑体" panose="02010609060101010101" pitchFamily="49" charset="-122"/>
              </a:rPr>
              <a:t>非齐次泊松过程</a:t>
            </a:r>
            <a:endParaRPr lang="en-US" altLang="zh-CN" dirty="0">
              <a:solidFill>
                <a:srgbClr val="CC00CC"/>
              </a:solidFill>
              <a:latin typeface="黑体" panose="02010609060101010101" pitchFamily="49" charset="-122"/>
            </a:endParaRPr>
          </a:p>
          <a:p>
            <a:pPr lvl="1" eaLnBrk="1" hangingPunct="1">
              <a:buClr>
                <a:srgbClr val="FF0000"/>
              </a:buClr>
              <a:buFontTx/>
              <a:buChar char="•"/>
            </a:pPr>
            <a:r>
              <a:rPr lang="zh-CN" altLang="en-US" dirty="0">
                <a:solidFill>
                  <a:srgbClr val="CC00CC"/>
                </a:solidFill>
                <a:latin typeface="黑体" panose="02010609060101010101" pitchFamily="49" charset="-122"/>
              </a:rPr>
              <a:t>复合泊松过程</a:t>
            </a:r>
          </a:p>
          <a:p>
            <a:pPr eaLnBrk="1" hangingPunct="1">
              <a:buFont typeface="Wingdings" panose="05000000000000000000" pitchFamily="2" charset="2"/>
              <a:buChar char="Ø"/>
            </a:pPr>
            <a:r>
              <a:rPr lang="zh-CN" altLang="en-US" dirty="0">
                <a:solidFill>
                  <a:srgbClr val="0000FF"/>
                </a:solidFill>
                <a:latin typeface="黑体" panose="02010609060101010101" pitchFamily="49" charset="-122"/>
              </a:rPr>
              <a:t>更新计数过程</a:t>
            </a:r>
            <a:endParaRPr lang="en-US" altLang="zh-CN" dirty="0">
              <a:solidFill>
                <a:srgbClr val="0000FF"/>
              </a:solidFill>
              <a:latin typeface="黑体" panose="02010609060101010101" pitchFamily="49" charset="-122"/>
            </a:endParaRPr>
          </a:p>
          <a:p>
            <a:pPr lvl="1" eaLnBrk="1" hangingPunct="1">
              <a:buClr>
                <a:srgbClr val="FF0000"/>
              </a:buClr>
              <a:buFontTx/>
              <a:buChar char="•"/>
            </a:pPr>
            <a:endParaRPr lang="zh-CN" altLang="en-US" dirty="0">
              <a:solidFill>
                <a:srgbClr val="CC00CC"/>
              </a:solidFill>
              <a:latin typeface="黑体" panose="02010609060101010101" pitchFamily="49" charset="-122"/>
            </a:endParaRPr>
          </a:p>
        </p:txBody>
      </p:sp>
      <p:sp>
        <p:nvSpPr>
          <p:cNvPr id="2" name="Rectangle 3">
            <a:extLst>
              <a:ext uri="{FF2B5EF4-FFF2-40B4-BE49-F238E27FC236}">
                <a16:creationId xmlns:a16="http://schemas.microsoft.com/office/drawing/2014/main" id="{DB384282-4A8E-5571-0729-D459DF919912}"/>
              </a:ext>
            </a:extLst>
          </p:cNvPr>
          <p:cNvSpPr txBox="1">
            <a:spLocks noChangeArrowheads="1"/>
          </p:cNvSpPr>
          <p:nvPr/>
        </p:nvSpPr>
        <p:spPr>
          <a:xfrm>
            <a:off x="6480176" y="1067142"/>
            <a:ext cx="5181600" cy="4749460"/>
          </a:xfrm>
          <a:prstGeom prst="rect">
            <a:avLst/>
          </a:prstGeom>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60000"/>
              </a:lnSpc>
              <a:buFont typeface="Wingdings" panose="05000000000000000000" pitchFamily="2" charset="2"/>
              <a:buChar char="Ø"/>
            </a:pPr>
            <a:r>
              <a:rPr lang="zh-CN" altLang="en-US" dirty="0">
                <a:solidFill>
                  <a:srgbClr val="0000FF"/>
                </a:solidFill>
                <a:latin typeface="黑体" panose="02010609060101010101" pitchFamily="49" charset="-122"/>
              </a:rPr>
              <a:t>马尔可夫过程</a:t>
            </a:r>
          </a:p>
          <a:p>
            <a:pPr lvl="1">
              <a:lnSpc>
                <a:spcPct val="160000"/>
              </a:lnSpc>
              <a:buClr>
                <a:srgbClr val="FF0000"/>
              </a:buClr>
              <a:buFontTx/>
              <a:buChar char="•"/>
            </a:pPr>
            <a:r>
              <a:rPr lang="zh-CN" altLang="en-US" dirty="0">
                <a:solidFill>
                  <a:srgbClr val="CC00CC"/>
                </a:solidFill>
                <a:latin typeface="黑体" panose="02010609060101010101" pitchFamily="49" charset="-122"/>
              </a:rPr>
              <a:t>马尔可夫过程的概念</a:t>
            </a:r>
          </a:p>
          <a:p>
            <a:pPr lvl="1">
              <a:buClr>
                <a:srgbClr val="FF0000"/>
              </a:buClr>
              <a:buFontTx/>
              <a:buChar char="•"/>
            </a:pPr>
            <a:r>
              <a:rPr lang="zh-CN" altLang="en-US" dirty="0">
                <a:solidFill>
                  <a:srgbClr val="CC00CC"/>
                </a:solidFill>
                <a:latin typeface="黑体" panose="02010609060101010101" pitchFamily="49" charset="-122"/>
              </a:rPr>
              <a:t>马尔可夫过程的分类</a:t>
            </a:r>
          </a:p>
          <a:p>
            <a:pPr lvl="1">
              <a:lnSpc>
                <a:spcPct val="160000"/>
              </a:lnSpc>
              <a:buClr>
                <a:srgbClr val="FF0000"/>
              </a:buClr>
              <a:buFontTx/>
              <a:buChar char="•"/>
            </a:pPr>
            <a:r>
              <a:rPr lang="zh-CN" altLang="en-US" dirty="0">
                <a:solidFill>
                  <a:srgbClr val="CC00CC"/>
                </a:solidFill>
                <a:latin typeface="黑体" panose="02010609060101010101" pitchFamily="49" charset="-122"/>
              </a:rPr>
              <a:t>离散参数马氏链</a:t>
            </a:r>
            <a:endParaRPr lang="en-US" altLang="zh-CN" dirty="0">
              <a:solidFill>
                <a:srgbClr val="CC00CC"/>
              </a:solidFill>
              <a:latin typeface="黑体" panose="02010609060101010101" pitchFamily="49" charset="-122"/>
            </a:endParaRPr>
          </a:p>
          <a:p>
            <a:pPr lvl="1">
              <a:lnSpc>
                <a:spcPct val="160000"/>
              </a:lnSpc>
              <a:buClr>
                <a:srgbClr val="FF0000"/>
              </a:buClr>
              <a:buFontTx/>
              <a:buChar char="•"/>
            </a:pPr>
            <a:r>
              <a:rPr lang="en-US" altLang="zh-CN" dirty="0">
                <a:solidFill>
                  <a:srgbClr val="CC00CC"/>
                </a:solidFill>
                <a:latin typeface="黑体" panose="02010609060101010101" pitchFamily="49" charset="-122"/>
              </a:rPr>
              <a:t>k</a:t>
            </a:r>
            <a:r>
              <a:rPr lang="zh-CN" altLang="en-US" dirty="0">
                <a:solidFill>
                  <a:srgbClr val="CC00CC"/>
                </a:solidFill>
                <a:latin typeface="黑体" panose="02010609060101010101" pitchFamily="49" charset="-122"/>
              </a:rPr>
              <a:t>步转移概率、 </a:t>
            </a:r>
            <a:r>
              <a:rPr lang="en-US" altLang="zh-CN" dirty="0">
                <a:solidFill>
                  <a:srgbClr val="CC00CC"/>
                </a:solidFill>
                <a:latin typeface="黑体" panose="02010609060101010101" pitchFamily="49" charset="-122"/>
              </a:rPr>
              <a:t>k</a:t>
            </a:r>
            <a:r>
              <a:rPr lang="zh-CN" altLang="en-US" dirty="0">
                <a:solidFill>
                  <a:srgbClr val="CC00CC"/>
                </a:solidFill>
                <a:latin typeface="黑体" panose="02010609060101010101" pitchFamily="49" charset="-122"/>
              </a:rPr>
              <a:t>步转移矩阵</a:t>
            </a:r>
          </a:p>
          <a:p>
            <a:pPr lvl="1">
              <a:lnSpc>
                <a:spcPct val="160000"/>
              </a:lnSpc>
              <a:buClr>
                <a:srgbClr val="FF0000"/>
              </a:buClr>
              <a:buFontTx/>
              <a:buChar char="•"/>
            </a:pPr>
            <a:r>
              <a:rPr lang="zh-CN" altLang="en-US" dirty="0">
                <a:solidFill>
                  <a:srgbClr val="CC00CC"/>
                </a:solidFill>
                <a:latin typeface="黑体" panose="02010609060101010101" pitchFamily="49" charset="-122"/>
              </a:rPr>
              <a:t>齐次马尔可夫链</a:t>
            </a:r>
          </a:p>
        </p:txBody>
      </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 calcmode="lin" valueType="num">
                                      <p:cBhvr additive="base">
                                        <p:cTn id="7" dur="500" fill="hold"/>
                                        <p:tgtEl>
                                          <p:spTgt spid="3440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406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44067">
                                            <p:txEl>
                                              <p:pRg st="1" end="1"/>
                                            </p:txEl>
                                          </p:spTgt>
                                        </p:tgtEl>
                                        <p:attrNameLst>
                                          <p:attrName>style.visibility</p:attrName>
                                        </p:attrNameLst>
                                      </p:cBhvr>
                                      <p:to>
                                        <p:strVal val="visible"/>
                                      </p:to>
                                    </p:set>
                                    <p:anim calcmode="lin" valueType="num">
                                      <p:cBhvr additive="base">
                                        <p:cTn id="11" dur="500" fill="hold"/>
                                        <p:tgtEl>
                                          <p:spTgt spid="34406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406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44067">
                                            <p:txEl>
                                              <p:pRg st="2" end="2"/>
                                            </p:txEl>
                                          </p:spTgt>
                                        </p:tgtEl>
                                        <p:attrNameLst>
                                          <p:attrName>style.visibility</p:attrName>
                                        </p:attrNameLst>
                                      </p:cBhvr>
                                      <p:to>
                                        <p:strVal val="visible"/>
                                      </p:to>
                                    </p:set>
                                    <p:anim calcmode="lin" valueType="num">
                                      <p:cBhvr additive="base">
                                        <p:cTn id="15" dur="500" fill="hold"/>
                                        <p:tgtEl>
                                          <p:spTgt spid="34406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4406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44067">
                                            <p:txEl>
                                              <p:pRg st="3" end="3"/>
                                            </p:txEl>
                                          </p:spTgt>
                                        </p:tgtEl>
                                        <p:attrNameLst>
                                          <p:attrName>style.visibility</p:attrName>
                                        </p:attrNameLst>
                                      </p:cBhvr>
                                      <p:to>
                                        <p:strVal val="visible"/>
                                      </p:to>
                                    </p:set>
                                    <p:anim calcmode="lin" valueType="num">
                                      <p:cBhvr additive="base">
                                        <p:cTn id="19" dur="500" fill="hold"/>
                                        <p:tgtEl>
                                          <p:spTgt spid="34406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406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44067">
                                            <p:txEl>
                                              <p:pRg st="4" end="4"/>
                                            </p:txEl>
                                          </p:spTgt>
                                        </p:tgtEl>
                                        <p:attrNameLst>
                                          <p:attrName>style.visibility</p:attrName>
                                        </p:attrNameLst>
                                      </p:cBhvr>
                                      <p:to>
                                        <p:strVal val="visible"/>
                                      </p:to>
                                    </p:set>
                                    <p:anim calcmode="lin" valueType="num">
                                      <p:cBhvr additive="base">
                                        <p:cTn id="23" dur="500" fill="hold"/>
                                        <p:tgtEl>
                                          <p:spTgt spid="34406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406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44067">
                                            <p:txEl>
                                              <p:pRg st="5" end="5"/>
                                            </p:txEl>
                                          </p:spTgt>
                                        </p:tgtEl>
                                        <p:attrNameLst>
                                          <p:attrName>style.visibility</p:attrName>
                                        </p:attrNameLst>
                                      </p:cBhvr>
                                      <p:to>
                                        <p:strVal val="visible"/>
                                      </p:to>
                                    </p:set>
                                    <p:anim calcmode="lin" valueType="num">
                                      <p:cBhvr additive="base">
                                        <p:cTn id="27" dur="500" fill="hold"/>
                                        <p:tgtEl>
                                          <p:spTgt spid="34406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4406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44067">
                                            <p:txEl>
                                              <p:pRg st="6" end="6"/>
                                            </p:txEl>
                                          </p:spTgt>
                                        </p:tgtEl>
                                        <p:attrNameLst>
                                          <p:attrName>style.visibility</p:attrName>
                                        </p:attrNameLst>
                                      </p:cBhvr>
                                      <p:to>
                                        <p:strVal val="visible"/>
                                      </p:to>
                                    </p:set>
                                    <p:anim calcmode="lin" valueType="num">
                                      <p:cBhvr additive="base">
                                        <p:cTn id="31" dur="500" fill="hold"/>
                                        <p:tgtEl>
                                          <p:spTgt spid="34406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440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44067">
                                            <p:txEl>
                                              <p:pRg st="7" end="7"/>
                                            </p:txEl>
                                          </p:spTgt>
                                        </p:tgtEl>
                                        <p:attrNameLst>
                                          <p:attrName>style.visibility</p:attrName>
                                        </p:attrNameLst>
                                      </p:cBhvr>
                                      <p:to>
                                        <p:strVal val="visible"/>
                                      </p:to>
                                    </p:set>
                                    <p:anim calcmode="lin" valueType="num">
                                      <p:cBhvr additive="base">
                                        <p:cTn id="37" dur="500" fill="hold"/>
                                        <p:tgtEl>
                                          <p:spTgt spid="34406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440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0" end="0"/>
                                            </p:txEl>
                                          </p:spTgt>
                                        </p:tgtEl>
                                        <p:attrNameLst>
                                          <p:attrName>style.visibility</p:attrName>
                                        </p:attrNameLst>
                                      </p:cBhvr>
                                      <p:to>
                                        <p:strVal val="visible"/>
                                      </p:to>
                                    </p:set>
                                    <p:anim calcmode="lin" valueType="num">
                                      <p:cBhvr additive="base">
                                        <p:cTn id="4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xEl>
                                              <p:pRg st="1" end="1"/>
                                            </p:txEl>
                                          </p:spTgt>
                                        </p:tgtEl>
                                        <p:attrNameLst>
                                          <p:attrName>style.visibility</p:attrName>
                                        </p:attrNameLst>
                                      </p:cBhvr>
                                      <p:to>
                                        <p:strVal val="visible"/>
                                      </p:to>
                                    </p:set>
                                    <p:anim calcmode="lin" valueType="num">
                                      <p:cBhvr additive="base">
                                        <p:cTn id="4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
                                            <p:txEl>
                                              <p:pRg st="2" end="2"/>
                                            </p:txEl>
                                          </p:spTgt>
                                        </p:tgtEl>
                                        <p:attrNameLst>
                                          <p:attrName>style.visibility</p:attrName>
                                        </p:attrNameLst>
                                      </p:cBhvr>
                                      <p:to>
                                        <p:strVal val="visible"/>
                                      </p:to>
                                    </p:set>
                                    <p:anim calcmode="lin" valueType="num">
                                      <p:cBhvr additive="base">
                                        <p:cTn id="5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
                                            <p:txEl>
                                              <p:pRg st="3" end="3"/>
                                            </p:txEl>
                                          </p:spTgt>
                                        </p:tgtEl>
                                        <p:attrNameLst>
                                          <p:attrName>style.visibility</p:attrName>
                                        </p:attrNameLst>
                                      </p:cBhvr>
                                      <p:to>
                                        <p:strVal val="visible"/>
                                      </p:to>
                                    </p:set>
                                    <p:anim calcmode="lin" valueType="num">
                                      <p:cBhvr additive="base">
                                        <p:cTn id="5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
                                            <p:txEl>
                                              <p:pRg st="4" end="4"/>
                                            </p:txEl>
                                          </p:spTgt>
                                        </p:tgtEl>
                                        <p:attrNameLst>
                                          <p:attrName>style.visibility</p:attrName>
                                        </p:attrNameLst>
                                      </p:cBhvr>
                                      <p:to>
                                        <p:strVal val="visible"/>
                                      </p:to>
                                    </p:set>
                                    <p:anim calcmode="lin" valueType="num">
                                      <p:cBhvr additive="base">
                                        <p:cTn id="5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
                                            <p:txEl>
                                              <p:pRg st="5" end="5"/>
                                            </p:txEl>
                                          </p:spTgt>
                                        </p:tgtEl>
                                        <p:attrNameLst>
                                          <p:attrName>style.visibility</p:attrName>
                                        </p:attrNameLst>
                                      </p:cBhvr>
                                      <p:to>
                                        <p:strVal val="visible"/>
                                      </p:to>
                                    </p:set>
                                    <p:anim calcmode="lin" valueType="num">
                                      <p:cBhvr additive="base">
                                        <p:cTn id="6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build="p"/>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E0B4-D8D3-414E-5ED8-FFF16041DD52}"/>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17837B3D-80A6-8A2F-4E80-36F464A84C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18" name="TextBox 17">
            <a:extLst>
              <a:ext uri="{FF2B5EF4-FFF2-40B4-BE49-F238E27FC236}">
                <a16:creationId xmlns:a16="http://schemas.microsoft.com/office/drawing/2014/main" id="{739B3CA7-D98F-B211-56D5-8D7CA71FDA1A}"/>
              </a:ext>
            </a:extLst>
          </p:cNvPr>
          <p:cNvSpPr txBox="1"/>
          <p:nvPr/>
        </p:nvSpPr>
        <p:spPr>
          <a:xfrm>
            <a:off x="4117975" y="2550713"/>
            <a:ext cx="1295400" cy="861817"/>
          </a:xfrm>
          <a:prstGeom prst="rect">
            <a:avLst/>
          </a:prstGeom>
          <a:solidFill>
            <a:srgbClr val="28A7E1"/>
          </a:solidFill>
        </p:spPr>
        <p:txBody>
          <a:bodyPr wrap="square" lIns="121963" tIns="60981" rIns="121963" bIns="60981" rtlCol="0">
            <a:spAutoFit/>
          </a:bodyPr>
          <a:lstStyle/>
          <a:p>
            <a:r>
              <a:rPr lang="en-US" altLang="zh-CN" sz="4800" dirty="0">
                <a:solidFill>
                  <a:schemeClr val="bg1"/>
                </a:solidFill>
              </a:rPr>
              <a:t>4.1</a:t>
            </a:r>
            <a:r>
              <a:rPr lang="zh-CN" altLang="en-US" sz="4800" dirty="0">
                <a:solidFill>
                  <a:schemeClr val="bg1"/>
                </a:solidFill>
              </a:rPr>
              <a:t> </a:t>
            </a:r>
          </a:p>
        </p:txBody>
      </p:sp>
      <p:sp>
        <p:nvSpPr>
          <p:cNvPr id="19" name="TextBox 18">
            <a:extLst>
              <a:ext uri="{FF2B5EF4-FFF2-40B4-BE49-F238E27FC236}">
                <a16:creationId xmlns:a16="http://schemas.microsoft.com/office/drawing/2014/main" id="{279B2C40-AB9E-3A8E-D0A8-DC02098C78EE}"/>
              </a:ext>
            </a:extLst>
          </p:cNvPr>
          <p:cNvSpPr txBox="1"/>
          <p:nvPr/>
        </p:nvSpPr>
        <p:spPr>
          <a:xfrm>
            <a:off x="5519950" y="2533145"/>
            <a:ext cx="4011400" cy="861817"/>
          </a:xfrm>
          <a:prstGeom prst="rect">
            <a:avLst/>
          </a:prstGeom>
          <a:noFill/>
        </p:spPr>
        <p:txBody>
          <a:bodyPr wrap="square" lIns="121963" tIns="60981" rIns="121963" bIns="60981" rtlCol="0">
            <a:spAutoFit/>
          </a:bodyPr>
          <a:lstStyle/>
          <a:p>
            <a:r>
              <a:rPr lang="zh-CN" altLang="en-US" sz="4800" dirty="0">
                <a:solidFill>
                  <a:schemeClr val="bg1"/>
                </a:solidFill>
                <a:latin typeface="黑体" panose="02010609060101010101" pitchFamily="49" charset="-122"/>
                <a:ea typeface="黑体" panose="02010609060101010101" pitchFamily="49" charset="-122"/>
              </a:rPr>
              <a:t>泊松过程</a:t>
            </a:r>
          </a:p>
        </p:txBody>
      </p:sp>
    </p:spTree>
    <p:extLst>
      <p:ext uri="{BB962C8B-B14F-4D97-AF65-F5344CB8AC3E}">
        <p14:creationId xmlns:p14="http://schemas.microsoft.com/office/powerpoint/2010/main" val="630179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a:extLst>
              <a:ext uri="{FF2B5EF4-FFF2-40B4-BE49-F238E27FC236}">
                <a16:creationId xmlns:a16="http://schemas.microsoft.com/office/drawing/2014/main" id="{B0E7F6A9-B3E2-669C-FFC2-B9DE16F33B09}"/>
              </a:ext>
            </a:extLst>
          </p:cNvPr>
          <p:cNvSpPr>
            <a:spLocks noGrp="1" noChangeArrowheads="1"/>
          </p:cNvSpPr>
          <p:nvPr>
            <p:ph type="title"/>
          </p:nvPr>
        </p:nvSpPr>
        <p:spPr>
          <a:xfrm>
            <a:off x="755923" y="181037"/>
            <a:ext cx="7469329" cy="732007"/>
          </a:xfrm>
        </p:spPr>
        <p:txBody>
          <a:bodyPr/>
          <a:lstStyle/>
          <a:p>
            <a:pPr eaLnBrk="1" hangingPunct="1"/>
            <a:r>
              <a:rPr lang="en-US" altLang="zh-CN" dirty="0"/>
              <a:t>1.</a:t>
            </a:r>
            <a:r>
              <a:rPr lang="zh-CN" altLang="en-US" dirty="0"/>
              <a:t> 泊松过程</a:t>
            </a:r>
          </a:p>
        </p:txBody>
      </p:sp>
      <p:sp>
        <p:nvSpPr>
          <p:cNvPr id="291843" name="Rectangle 3">
            <a:extLst>
              <a:ext uri="{FF2B5EF4-FFF2-40B4-BE49-F238E27FC236}">
                <a16:creationId xmlns:a16="http://schemas.microsoft.com/office/drawing/2014/main" id="{BA48DD8A-CFBF-D096-DCC4-FB4D01ACF627}"/>
              </a:ext>
            </a:extLst>
          </p:cNvPr>
          <p:cNvSpPr>
            <a:spLocks noGrp="1" noChangeArrowheads="1"/>
          </p:cNvSpPr>
          <p:nvPr>
            <p:ph type="body" idx="1"/>
          </p:nvPr>
        </p:nvSpPr>
        <p:spPr>
          <a:xfrm>
            <a:off x="652713" y="889226"/>
            <a:ext cx="10475662" cy="5557536"/>
          </a:xfrm>
        </p:spPr>
        <p:txBody>
          <a:bodyPr>
            <a:normAutofit/>
          </a:bodyPr>
          <a:lstStyle/>
          <a:p>
            <a:pPr marL="0" indent="0" eaLnBrk="1" hangingPunct="1">
              <a:buFont typeface="Wingdings" panose="05000000000000000000" pitchFamily="2" charset="2"/>
              <a:buNone/>
            </a:pPr>
            <a:r>
              <a:rPr lang="en-US" altLang="zh-CN" dirty="0"/>
              <a:t>   </a:t>
            </a:r>
            <a:r>
              <a:rPr lang="zh-CN" altLang="en-US" dirty="0"/>
              <a:t>泊松过程是一种很重要的计数过程，它在随机过程的理论和应用方面都起着重要的作用，特别在运筹学和排队论中的作用更为显著。</a:t>
            </a:r>
          </a:p>
          <a:p>
            <a:pPr marL="0" indent="0" eaLnBrk="1" hangingPunct="1">
              <a:buFont typeface="Wingdings" panose="05000000000000000000" pitchFamily="2" charset="2"/>
              <a:buNone/>
            </a:pPr>
            <a:r>
              <a:rPr lang="zh-CN" altLang="en-US" dirty="0"/>
              <a:t>泊松过程的实例很多，例如：在</a:t>
            </a:r>
            <a:r>
              <a:rPr lang="en-US" altLang="zh-CN" dirty="0"/>
              <a:t>[0, t)</a:t>
            </a:r>
            <a:r>
              <a:rPr lang="zh-CN" altLang="en-US" dirty="0"/>
              <a:t>时间内，</a:t>
            </a:r>
            <a:endParaRPr lang="zh-CN" altLang="en-US" dirty="0">
              <a:sym typeface="Symbol" panose="05050102010706020507" pitchFamily="18" charset="2"/>
            </a:endParaRPr>
          </a:p>
          <a:p>
            <a:pPr marL="0" lvl="1" indent="0">
              <a:buClr>
                <a:srgbClr val="0000FF"/>
              </a:buClr>
              <a:buFont typeface="Wingdings" panose="05000000000000000000" pitchFamily="2" charset="2"/>
              <a:buAutoNum type="arabicParenR"/>
            </a:pPr>
            <a:r>
              <a:rPr lang="zh-CN" altLang="en-US" dirty="0">
                <a:sym typeface="Symbol" panose="05050102010706020507" pitchFamily="18" charset="2"/>
              </a:rPr>
              <a:t>到达某超级市场的顾客数</a:t>
            </a:r>
            <a:r>
              <a:rPr lang="en-US" altLang="zh-CN" dirty="0">
                <a:sym typeface="Symbol" panose="05050102010706020507" pitchFamily="18" charset="2"/>
              </a:rPr>
              <a:t>N(t)</a:t>
            </a:r>
            <a:r>
              <a:rPr lang="zh-CN" altLang="en-US" dirty="0">
                <a:sym typeface="Symbol" panose="05050102010706020507" pitchFamily="18" charset="2"/>
              </a:rPr>
              <a:t>；</a:t>
            </a:r>
          </a:p>
          <a:p>
            <a:pPr marL="0" lvl="1" indent="0">
              <a:buClr>
                <a:srgbClr val="0000FF"/>
              </a:buClr>
              <a:buFont typeface="Wingdings" panose="05000000000000000000" pitchFamily="2" charset="2"/>
              <a:buAutoNum type="arabicParenR"/>
            </a:pPr>
            <a:r>
              <a:rPr lang="zh-CN" altLang="en-US" dirty="0">
                <a:sym typeface="Symbol" panose="05050102010706020507" pitchFamily="18" charset="2"/>
              </a:rPr>
              <a:t>某电话交换台的呼唤数</a:t>
            </a:r>
            <a:r>
              <a:rPr lang="en-US" altLang="zh-CN" dirty="0">
                <a:sym typeface="Symbol" panose="05050102010706020507" pitchFamily="18" charset="2"/>
              </a:rPr>
              <a:t>N(t)</a:t>
            </a:r>
            <a:r>
              <a:rPr lang="zh-CN" altLang="en-US" dirty="0">
                <a:sym typeface="Symbol" panose="05050102010706020507" pitchFamily="18" charset="2"/>
              </a:rPr>
              <a:t>；</a:t>
            </a:r>
          </a:p>
          <a:p>
            <a:pPr marL="0" lvl="1" indent="0">
              <a:buClr>
                <a:srgbClr val="0000FF"/>
              </a:buClr>
              <a:buFont typeface="Wingdings" panose="05000000000000000000" pitchFamily="2" charset="2"/>
              <a:buAutoNum type="arabicParenR"/>
            </a:pPr>
            <a:r>
              <a:rPr lang="zh-CN" altLang="en-US" dirty="0">
                <a:sym typeface="Symbol" panose="05050102010706020507" pitchFamily="18" charset="2"/>
              </a:rPr>
              <a:t>某车间发生故障的机器数</a:t>
            </a:r>
            <a:r>
              <a:rPr lang="en-US" altLang="zh-CN" dirty="0">
                <a:sym typeface="Symbol" panose="05050102010706020507" pitchFamily="18" charset="2"/>
              </a:rPr>
              <a:t>N(t)</a:t>
            </a:r>
            <a:r>
              <a:rPr lang="zh-CN" altLang="en-US" dirty="0">
                <a:sym typeface="Symbol" panose="05050102010706020507" pitchFamily="18" charset="2"/>
              </a:rPr>
              <a:t>；</a:t>
            </a:r>
          </a:p>
          <a:p>
            <a:pPr marL="0" lvl="1" indent="0">
              <a:buClr>
                <a:srgbClr val="0000FF"/>
              </a:buClr>
              <a:buFont typeface="Wingdings" panose="05000000000000000000" pitchFamily="2" charset="2"/>
              <a:buAutoNum type="arabicParenR"/>
            </a:pPr>
            <a:r>
              <a:rPr lang="zh-CN" altLang="en-US" dirty="0">
                <a:sym typeface="Symbol" panose="05050102010706020507" pitchFamily="18" charset="2"/>
              </a:rPr>
              <a:t>某计数器接受到的粒子数</a:t>
            </a:r>
            <a:r>
              <a:rPr lang="en-US" altLang="zh-CN" dirty="0">
                <a:sym typeface="Symbol" panose="05050102010706020507" pitchFamily="18" charset="2"/>
              </a:rPr>
              <a:t>N(t)</a:t>
            </a:r>
            <a:r>
              <a:rPr lang="zh-CN" altLang="en-US" dirty="0">
                <a:sym typeface="Symbol" panose="05050102010706020507" pitchFamily="18" charset="2"/>
              </a:rPr>
              <a:t>；</a:t>
            </a:r>
          </a:p>
          <a:p>
            <a:pPr marL="0" lvl="1" indent="0">
              <a:buClr>
                <a:srgbClr val="0000FF"/>
              </a:buClr>
              <a:buFont typeface="Wingdings" panose="05000000000000000000" pitchFamily="2" charset="2"/>
              <a:buAutoNum type="arabicParenR"/>
            </a:pPr>
            <a:r>
              <a:rPr lang="zh-CN" altLang="en-US" dirty="0">
                <a:sym typeface="Symbol" panose="05050102010706020507" pitchFamily="18" charset="2"/>
              </a:rPr>
              <a:t>某通信系统出现的误码数</a:t>
            </a:r>
            <a:r>
              <a:rPr lang="en-US" altLang="zh-CN" dirty="0">
                <a:sym typeface="Symbol" panose="05050102010706020507" pitchFamily="18" charset="2"/>
              </a:rPr>
              <a:t>N(t)</a:t>
            </a:r>
            <a:r>
              <a:rPr lang="zh-CN" altLang="en-US" dirty="0">
                <a:sym typeface="Symbol" panose="05050102010706020507" pitchFamily="18" charset="2"/>
              </a:rPr>
              <a:t>；</a:t>
            </a:r>
          </a:p>
          <a:p>
            <a:pPr marL="0" indent="0" eaLnBrk="1" hangingPunct="1">
              <a:buFont typeface="Wingdings" panose="05000000000000000000" pitchFamily="2" charset="2"/>
              <a:buNone/>
            </a:pPr>
            <a:r>
              <a:rPr lang="zh-CN" altLang="en-US" dirty="0">
                <a:sym typeface="Symbol" panose="05050102010706020507" pitchFamily="18" charset="2"/>
              </a:rPr>
              <a:t>等等，</a:t>
            </a:r>
            <a:r>
              <a:rPr lang="en-US" altLang="zh-CN" dirty="0">
                <a:sym typeface="Symbol" panose="05050102010706020507" pitchFamily="18" charset="2"/>
              </a:rPr>
              <a:t>{N(t), t0}</a:t>
            </a:r>
            <a:r>
              <a:rPr lang="zh-CN" altLang="en-US" dirty="0">
                <a:sym typeface="Symbol" panose="05050102010706020507" pitchFamily="18" charset="2"/>
              </a:rPr>
              <a:t>都是泊松过程的典型实例。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500"/>
                                  </p:stCondLst>
                                  <p:childTnLst>
                                    <p:set>
                                      <p:cBhvr>
                                        <p:cTn id="6" dur="1" fill="hold">
                                          <p:stCondLst>
                                            <p:cond delay="0"/>
                                          </p:stCondLst>
                                        </p:cTn>
                                        <p:tgtEl>
                                          <p:spTgt spid="291843">
                                            <p:txEl>
                                              <p:pRg st="0" end="0"/>
                                            </p:txEl>
                                          </p:spTgt>
                                        </p:tgtEl>
                                        <p:attrNameLst>
                                          <p:attrName>style.visibility</p:attrName>
                                        </p:attrNameLst>
                                      </p:cBhvr>
                                      <p:to>
                                        <p:strVal val="visible"/>
                                      </p:to>
                                    </p:set>
                                    <p:anim calcmode="lin" valueType="num">
                                      <p:cBhvr additive="base">
                                        <p:cTn id="7" dur="500" fill="hold"/>
                                        <p:tgtEl>
                                          <p:spTgt spid="2918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184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1000"/>
                            </p:stCondLst>
                            <p:childTnLst>
                              <p:par>
                                <p:cTn id="10" presetID="2" presetClass="entr" presetSubtype="4" fill="hold" grpId="0" nodeType="afterEffect">
                                  <p:stCondLst>
                                    <p:cond delay="500"/>
                                  </p:stCondLst>
                                  <p:childTnLst>
                                    <p:set>
                                      <p:cBhvr>
                                        <p:cTn id="11" dur="1" fill="hold">
                                          <p:stCondLst>
                                            <p:cond delay="0"/>
                                          </p:stCondLst>
                                        </p:cTn>
                                        <p:tgtEl>
                                          <p:spTgt spid="291843">
                                            <p:txEl>
                                              <p:pRg st="1" end="1"/>
                                            </p:txEl>
                                          </p:spTgt>
                                        </p:tgtEl>
                                        <p:attrNameLst>
                                          <p:attrName>style.visibility</p:attrName>
                                        </p:attrNameLst>
                                      </p:cBhvr>
                                      <p:to>
                                        <p:strVal val="visible"/>
                                      </p:to>
                                    </p:set>
                                    <p:anim calcmode="lin" valueType="num">
                                      <p:cBhvr additive="base">
                                        <p:cTn id="12" dur="500" fill="hold"/>
                                        <p:tgtEl>
                                          <p:spTgt spid="29184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918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91843">
                                            <p:txEl>
                                              <p:pRg st="2" end="2"/>
                                            </p:txEl>
                                          </p:spTgt>
                                        </p:tgtEl>
                                        <p:attrNameLst>
                                          <p:attrName>style.visibility</p:attrName>
                                        </p:attrNameLst>
                                      </p:cBhvr>
                                      <p:to>
                                        <p:strVal val="visible"/>
                                      </p:to>
                                    </p:set>
                                    <p:anim calcmode="lin" valueType="num">
                                      <p:cBhvr additive="base">
                                        <p:cTn id="18" dur="500" fill="hold"/>
                                        <p:tgtEl>
                                          <p:spTgt spid="29184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918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91843">
                                            <p:txEl>
                                              <p:pRg st="3" end="3"/>
                                            </p:txEl>
                                          </p:spTgt>
                                        </p:tgtEl>
                                        <p:attrNameLst>
                                          <p:attrName>style.visibility</p:attrName>
                                        </p:attrNameLst>
                                      </p:cBhvr>
                                      <p:to>
                                        <p:strVal val="visible"/>
                                      </p:to>
                                    </p:set>
                                    <p:anim calcmode="lin" valueType="num">
                                      <p:cBhvr additive="base">
                                        <p:cTn id="24" dur="500" fill="hold"/>
                                        <p:tgtEl>
                                          <p:spTgt spid="29184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918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91843">
                                            <p:txEl>
                                              <p:pRg st="4" end="4"/>
                                            </p:txEl>
                                          </p:spTgt>
                                        </p:tgtEl>
                                        <p:attrNameLst>
                                          <p:attrName>style.visibility</p:attrName>
                                        </p:attrNameLst>
                                      </p:cBhvr>
                                      <p:to>
                                        <p:strVal val="visible"/>
                                      </p:to>
                                    </p:set>
                                    <p:anim calcmode="lin" valueType="num">
                                      <p:cBhvr additive="base">
                                        <p:cTn id="30" dur="500" fill="hold"/>
                                        <p:tgtEl>
                                          <p:spTgt spid="29184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918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91843">
                                            <p:txEl>
                                              <p:pRg st="5" end="5"/>
                                            </p:txEl>
                                          </p:spTgt>
                                        </p:tgtEl>
                                        <p:attrNameLst>
                                          <p:attrName>style.visibility</p:attrName>
                                        </p:attrNameLst>
                                      </p:cBhvr>
                                      <p:to>
                                        <p:strVal val="visible"/>
                                      </p:to>
                                    </p:set>
                                    <p:anim calcmode="lin" valueType="num">
                                      <p:cBhvr additive="base">
                                        <p:cTn id="36" dur="500" fill="hold"/>
                                        <p:tgtEl>
                                          <p:spTgt spid="291843">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918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91843">
                                            <p:txEl>
                                              <p:pRg st="6" end="6"/>
                                            </p:txEl>
                                          </p:spTgt>
                                        </p:tgtEl>
                                        <p:attrNameLst>
                                          <p:attrName>style.visibility</p:attrName>
                                        </p:attrNameLst>
                                      </p:cBhvr>
                                      <p:to>
                                        <p:strVal val="visible"/>
                                      </p:to>
                                    </p:set>
                                    <p:anim calcmode="lin" valueType="num">
                                      <p:cBhvr additive="base">
                                        <p:cTn id="42" dur="500" fill="hold"/>
                                        <p:tgtEl>
                                          <p:spTgt spid="291843">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9184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nodeType="afterGroup">
                            <p:stCondLst>
                              <p:cond delay="0"/>
                            </p:stCondLst>
                            <p:childTnLst>
                              <p:par>
                                <p:cTn id="46" presetID="2" presetClass="entr" presetSubtype="4" fill="hold" grpId="0" nodeType="clickEffect">
                                  <p:stCondLst>
                                    <p:cond delay="500"/>
                                  </p:stCondLst>
                                  <p:childTnLst>
                                    <p:set>
                                      <p:cBhvr>
                                        <p:cTn id="47" dur="1" fill="hold">
                                          <p:stCondLst>
                                            <p:cond delay="0"/>
                                          </p:stCondLst>
                                        </p:cTn>
                                        <p:tgtEl>
                                          <p:spTgt spid="291843">
                                            <p:txEl>
                                              <p:pRg st="7" end="7"/>
                                            </p:txEl>
                                          </p:spTgt>
                                        </p:tgtEl>
                                        <p:attrNameLst>
                                          <p:attrName>style.visibility</p:attrName>
                                        </p:attrNameLst>
                                      </p:cBhvr>
                                      <p:to>
                                        <p:strVal val="visible"/>
                                      </p:to>
                                    </p:set>
                                    <p:anim calcmode="lin" valueType="num">
                                      <p:cBhvr additive="base">
                                        <p:cTn id="48" dur="500" fill="hold"/>
                                        <p:tgtEl>
                                          <p:spTgt spid="291843">
                                            <p:txEl>
                                              <p:pRg st="7" end="7"/>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9184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build="p" bldLvl="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CF570140-24C3-C780-50A3-D7C2B90F8CD3}"/>
              </a:ext>
            </a:extLst>
          </p:cNvPr>
          <p:cNvSpPr>
            <a:spLocks noGrp="1" noChangeArrowheads="1"/>
          </p:cNvSpPr>
          <p:nvPr>
            <p:ph type="title"/>
          </p:nvPr>
        </p:nvSpPr>
        <p:spPr>
          <a:xfrm>
            <a:off x="765175" y="204570"/>
            <a:ext cx="7469329" cy="732007"/>
          </a:xfrm>
        </p:spPr>
        <p:txBody>
          <a:bodyPr/>
          <a:lstStyle/>
          <a:p>
            <a:pPr eaLnBrk="1" hangingPunct="1"/>
            <a:r>
              <a:rPr lang="en-US" altLang="zh-CN" dirty="0"/>
              <a:t>2.</a:t>
            </a:r>
            <a:r>
              <a:rPr lang="zh-CN" altLang="en-US" dirty="0"/>
              <a:t> 泊松过程的定义</a:t>
            </a:r>
            <a:r>
              <a:rPr lang="en-US" altLang="zh-CN" dirty="0"/>
              <a:t>1</a:t>
            </a:r>
          </a:p>
        </p:txBody>
      </p:sp>
      <p:sp>
        <p:nvSpPr>
          <p:cNvPr id="292867" name="Rectangle 3">
            <a:extLst>
              <a:ext uri="{FF2B5EF4-FFF2-40B4-BE49-F238E27FC236}">
                <a16:creationId xmlns:a16="http://schemas.microsoft.com/office/drawing/2014/main" id="{8C9EFB71-EC1D-F43C-F370-6043A5C0E467}"/>
              </a:ext>
            </a:extLst>
          </p:cNvPr>
          <p:cNvSpPr>
            <a:spLocks noGrp="1" noChangeArrowheads="1"/>
          </p:cNvSpPr>
          <p:nvPr>
            <p:ph type="body" idx="1"/>
          </p:nvPr>
        </p:nvSpPr>
        <p:spPr>
          <a:xfrm>
            <a:off x="793749" y="991394"/>
            <a:ext cx="10715625" cy="2315083"/>
          </a:xfrm>
        </p:spPr>
        <p:txBody>
          <a:bodyPr>
            <a:normAutofit/>
          </a:bodyPr>
          <a:lstStyle/>
          <a:p>
            <a:pPr eaLnBrk="1" hangingPunct="1">
              <a:buFont typeface="Wingdings" panose="05000000000000000000" pitchFamily="2" charset="2"/>
              <a:buNone/>
            </a:pPr>
            <a:r>
              <a:rPr lang="zh-CN" altLang="en-US" dirty="0"/>
              <a:t>如果取非负整数值的计数过程</a:t>
            </a:r>
            <a:r>
              <a:rPr lang="en-US" altLang="zh-CN" dirty="0">
                <a:sym typeface="Symbol" panose="05050102010706020507" pitchFamily="18" charset="2"/>
              </a:rPr>
              <a:t>{N(t), t0}</a:t>
            </a:r>
            <a:r>
              <a:rPr lang="zh-CN" altLang="en-US" dirty="0">
                <a:sym typeface="Symbol" panose="05050102010706020507" pitchFamily="18" charset="2"/>
              </a:rPr>
              <a:t>满足：</a:t>
            </a:r>
          </a:p>
          <a:p>
            <a:pPr marL="990798" lvl="1" indent="-533507">
              <a:buClr>
                <a:srgbClr val="00FF00"/>
              </a:buClr>
              <a:buFont typeface="Wingdings" panose="05000000000000000000" pitchFamily="2" charset="2"/>
              <a:buAutoNum type="arabicParenR"/>
            </a:pPr>
            <a:r>
              <a:rPr lang="en-US" altLang="zh-CN" dirty="0">
                <a:sym typeface="Symbol" panose="05050102010706020507" pitchFamily="18" charset="2"/>
              </a:rPr>
              <a:t>N(0)</a:t>
            </a:r>
            <a:r>
              <a:rPr lang="zh-CN" altLang="en-US" dirty="0">
                <a:sym typeface="Symbol" panose="05050102010706020507" pitchFamily="18" charset="2"/>
              </a:rPr>
              <a:t>＝</a:t>
            </a:r>
            <a:r>
              <a:rPr lang="en-US" altLang="zh-CN" dirty="0">
                <a:sym typeface="Symbol" panose="05050102010706020507" pitchFamily="18" charset="2"/>
              </a:rPr>
              <a:t>0</a:t>
            </a:r>
            <a:r>
              <a:rPr lang="zh-CN" altLang="en-US" dirty="0">
                <a:sym typeface="Symbol" panose="05050102010706020507" pitchFamily="18" charset="2"/>
              </a:rPr>
              <a:t>；</a:t>
            </a:r>
          </a:p>
          <a:p>
            <a:pPr marL="990798" lvl="1" indent="-533507">
              <a:buClr>
                <a:srgbClr val="00FF00"/>
              </a:buClr>
              <a:buFont typeface="Wingdings" panose="05000000000000000000" pitchFamily="2" charset="2"/>
              <a:buAutoNum type="arabicParenR"/>
            </a:pPr>
            <a:r>
              <a:rPr lang="zh-CN" altLang="en-US" dirty="0">
                <a:sym typeface="Symbol" panose="05050102010706020507" pitchFamily="18" charset="2"/>
              </a:rPr>
              <a:t>具有独立增量；</a:t>
            </a:r>
          </a:p>
          <a:p>
            <a:pPr marL="990798" lvl="1" indent="-533507">
              <a:buClr>
                <a:srgbClr val="00FF00"/>
              </a:buClr>
              <a:buFont typeface="Wingdings" panose="05000000000000000000" pitchFamily="2" charset="2"/>
              <a:buAutoNum type="arabicParenR"/>
            </a:pPr>
            <a:r>
              <a:rPr lang="zh-CN" altLang="en-US" dirty="0">
                <a:sym typeface="Symbol" panose="05050102010706020507" pitchFamily="18" charset="2"/>
              </a:rPr>
              <a:t>对任意</a:t>
            </a:r>
            <a:r>
              <a:rPr lang="en-US" altLang="zh-CN" dirty="0">
                <a:sym typeface="Symbol" panose="05050102010706020507" pitchFamily="18" charset="2"/>
              </a:rPr>
              <a:t>0s&lt;t, N(t)-N(s)</a:t>
            </a:r>
            <a:r>
              <a:rPr lang="zh-CN" altLang="en-US" dirty="0">
                <a:sym typeface="Symbol" panose="05050102010706020507" pitchFamily="18" charset="2"/>
              </a:rPr>
              <a:t>服从参数为</a:t>
            </a:r>
            <a:r>
              <a:rPr lang="en-US" altLang="zh-CN" dirty="0">
                <a:sym typeface="Symbol" panose="05050102010706020507" pitchFamily="18" charset="2"/>
              </a:rPr>
              <a:t>(t-s)</a:t>
            </a:r>
            <a:r>
              <a:rPr lang="zh-CN" altLang="en-US" dirty="0">
                <a:sym typeface="Symbol" panose="05050102010706020507" pitchFamily="18" charset="2"/>
              </a:rPr>
              <a:t>泊松分布，即</a:t>
            </a:r>
          </a:p>
        </p:txBody>
      </p:sp>
      <p:sp>
        <p:nvSpPr>
          <p:cNvPr id="292872" name="Text Box 8">
            <a:extLst>
              <a:ext uri="{FF2B5EF4-FFF2-40B4-BE49-F238E27FC236}">
                <a16:creationId xmlns:a16="http://schemas.microsoft.com/office/drawing/2014/main" id="{7FD9B958-CE35-E5BA-FE9C-3D214A3AEFF0}"/>
              </a:ext>
            </a:extLst>
          </p:cNvPr>
          <p:cNvSpPr txBox="1">
            <a:spLocks noChangeArrowheads="1"/>
          </p:cNvSpPr>
          <p:nvPr/>
        </p:nvSpPr>
        <p:spPr bwMode="auto">
          <a:xfrm>
            <a:off x="866792" y="4808627"/>
            <a:ext cx="10615009" cy="520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algn="just" eaLnBrk="1" hangingPunct="1">
              <a:lnSpc>
                <a:spcPct val="130000"/>
              </a:lnSpc>
              <a:buClrTx/>
              <a:buFontTx/>
              <a:buNone/>
            </a:pPr>
            <a:r>
              <a:rPr lang="zh-CN" altLang="en-US" sz="2400" dirty="0">
                <a:latin typeface="+mn-ea"/>
                <a:ea typeface="+mn-ea"/>
                <a:sym typeface="Symbol" panose="05050102010706020507" pitchFamily="18" charset="2"/>
              </a:rPr>
              <a:t>则称</a:t>
            </a:r>
            <a:r>
              <a:rPr lang="en-US" altLang="zh-CN" sz="2400" dirty="0">
                <a:latin typeface="+mn-ea"/>
                <a:ea typeface="+mn-ea"/>
                <a:sym typeface="Symbol" panose="05050102010706020507" pitchFamily="18" charset="2"/>
              </a:rPr>
              <a:t>{N(t), t0}</a:t>
            </a:r>
            <a:r>
              <a:rPr lang="zh-CN" altLang="en-US" sz="2400" dirty="0">
                <a:latin typeface="+mn-ea"/>
                <a:ea typeface="+mn-ea"/>
                <a:sym typeface="Symbol" panose="05050102010706020507" pitchFamily="18" charset="2"/>
              </a:rPr>
              <a:t>为</a:t>
            </a:r>
            <a:r>
              <a:rPr lang="zh-CN" altLang="en-US" sz="2400" dirty="0">
                <a:solidFill>
                  <a:srgbClr val="0000FF"/>
                </a:solidFill>
                <a:latin typeface="+mn-ea"/>
                <a:ea typeface="+mn-ea"/>
                <a:sym typeface="Symbol" panose="05050102010706020507" pitchFamily="18" charset="2"/>
              </a:rPr>
              <a:t>参数</a:t>
            </a:r>
            <a:r>
              <a:rPr lang="en-US" altLang="zh-CN" sz="2400" dirty="0">
                <a:solidFill>
                  <a:srgbClr val="0000FF"/>
                </a:solidFill>
                <a:latin typeface="+mn-ea"/>
                <a:ea typeface="+mn-ea"/>
                <a:sym typeface="Symbol" panose="05050102010706020507" pitchFamily="18" charset="2"/>
              </a:rPr>
              <a:t>(</a:t>
            </a:r>
            <a:r>
              <a:rPr lang="zh-CN" altLang="en-US" sz="2400" dirty="0">
                <a:solidFill>
                  <a:srgbClr val="0000FF"/>
                </a:solidFill>
                <a:latin typeface="+mn-ea"/>
                <a:ea typeface="+mn-ea"/>
                <a:sym typeface="Symbol" panose="05050102010706020507" pitchFamily="18" charset="2"/>
              </a:rPr>
              <a:t>或平均率、强度</a:t>
            </a:r>
            <a:r>
              <a:rPr lang="en-US" altLang="zh-CN" sz="2400" dirty="0">
                <a:solidFill>
                  <a:srgbClr val="0000FF"/>
                </a:solidFill>
                <a:latin typeface="+mn-ea"/>
                <a:ea typeface="+mn-ea"/>
                <a:sym typeface="Symbol" panose="05050102010706020507" pitchFamily="18" charset="2"/>
              </a:rPr>
              <a:t>)</a:t>
            </a:r>
            <a:r>
              <a:rPr lang="zh-CN" altLang="en-US" sz="2400" dirty="0">
                <a:solidFill>
                  <a:srgbClr val="0000FF"/>
                </a:solidFill>
                <a:latin typeface="+mn-ea"/>
                <a:ea typeface="+mn-ea"/>
                <a:sym typeface="Symbol" panose="05050102010706020507" pitchFamily="18" charset="2"/>
              </a:rPr>
              <a:t>为的</a:t>
            </a:r>
            <a:r>
              <a:rPr lang="en-US" altLang="zh-CN" sz="2400" dirty="0">
                <a:latin typeface="+mn-ea"/>
                <a:ea typeface="+mn-ea"/>
                <a:sym typeface="Symbol" panose="05050102010706020507" pitchFamily="18" charset="2"/>
              </a:rPr>
              <a:t>(</a:t>
            </a:r>
            <a:r>
              <a:rPr lang="zh-CN" altLang="en-US" sz="2400" dirty="0">
                <a:solidFill>
                  <a:srgbClr val="CC00CC"/>
                </a:solidFill>
                <a:latin typeface="+mn-ea"/>
                <a:ea typeface="+mn-ea"/>
                <a:sym typeface="Symbol" panose="05050102010706020507" pitchFamily="18" charset="2"/>
              </a:rPr>
              <a:t>齐次</a:t>
            </a:r>
            <a:r>
              <a:rPr lang="en-US" altLang="zh-CN" sz="2400" dirty="0">
                <a:latin typeface="+mn-ea"/>
                <a:ea typeface="+mn-ea"/>
                <a:sym typeface="Symbol" panose="05050102010706020507" pitchFamily="18" charset="2"/>
              </a:rPr>
              <a:t>)</a:t>
            </a:r>
            <a:r>
              <a:rPr lang="zh-CN" altLang="en-US" sz="2400" dirty="0">
                <a:solidFill>
                  <a:srgbClr val="CC00CC"/>
                </a:solidFill>
                <a:latin typeface="+mn-ea"/>
                <a:ea typeface="+mn-ea"/>
                <a:sym typeface="Symbol" panose="05050102010706020507" pitchFamily="18" charset="2"/>
              </a:rPr>
              <a:t>泊松过程</a:t>
            </a:r>
            <a:r>
              <a:rPr lang="zh-CN" altLang="en-US" sz="2400" dirty="0">
                <a:latin typeface="+mn-ea"/>
                <a:ea typeface="+mn-ea"/>
                <a:sym typeface="Symbol" panose="05050102010706020507" pitchFamily="18" charset="2"/>
              </a:rPr>
              <a:t>。</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AFD96D5-E11A-1CAC-3C5A-D5ED59C53105}"/>
                  </a:ext>
                </a:extLst>
              </p:cNvPr>
              <p:cNvSpPr txBox="1"/>
              <p:nvPr/>
            </p:nvSpPr>
            <p:spPr>
              <a:xfrm>
                <a:off x="1450975" y="3683186"/>
                <a:ext cx="8264507" cy="7487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𝑃</m:t>
                      </m:r>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𝑁</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𝑡</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𝑁</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𝑠</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𝑘</m:t>
                          </m:r>
                        </m:e>
                      </m:d>
                      <m:r>
                        <a:rPr kumimoji="1" lang="en-US" altLang="zh-CN" b="0" i="0" smtClean="0">
                          <a:latin typeface="Cambria Math" panose="02040503050406030204" pitchFamily="18" charset="0"/>
                        </a:rPr>
                        <m:t>=</m:t>
                      </m:r>
                      <m:f>
                        <m:fPr>
                          <m:ctrlPr>
                            <a:rPr kumimoji="1" lang="zh-CN" altLang="en-US" b="0" i="1" smtClean="0">
                              <a:latin typeface="Cambria Math" panose="02040503050406030204" pitchFamily="18" charset="0"/>
                            </a:rPr>
                          </m:ctrlPr>
                        </m:fPr>
                        <m:num>
                          <m:sSup>
                            <m:sSupPr>
                              <m:ctrlPr>
                                <a:rPr kumimoji="1" lang="zh-CN" altLang="en-US" b="0" i="1" smtClean="0">
                                  <a:latin typeface="Cambria Math" panose="02040503050406030204" pitchFamily="18" charset="0"/>
                                </a:rPr>
                              </m:ctrlPr>
                            </m:sSupPr>
                            <m:e>
                              <m:d>
                                <m:dPr>
                                  <m:begChr m:val="["/>
                                  <m:endChr m:val="]"/>
                                  <m:ctrlPr>
                                    <a:rPr kumimoji="1" lang="zh-CN" altLang="en-US" b="0" i="1" smtClean="0">
                                      <a:latin typeface="Cambria Math" panose="02040503050406030204" pitchFamily="18" charset="0"/>
                                    </a:rPr>
                                  </m:ctrlPr>
                                </m:dPr>
                                <m:e>
                                  <m:r>
                                    <a:rPr kumimoji="1" lang="zh-CN" altLang="en-US" b="0" i="1" smtClean="0">
                                      <a:latin typeface="Cambria Math" panose="02040503050406030204" pitchFamily="18" charset="0"/>
                                    </a:rPr>
                                    <m:t>𝜆</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𝑡</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𝑠</m:t>
                                  </m:r>
                                  <m:r>
                                    <a:rPr kumimoji="1" lang="en-US" altLang="zh-CN" b="0" i="1" smtClean="0">
                                      <a:latin typeface="Cambria Math" panose="02040503050406030204" pitchFamily="18" charset="0"/>
                                    </a:rPr>
                                    <m:t>)</m:t>
                                  </m:r>
                                </m:e>
                              </m:d>
                            </m:e>
                            <m:sup>
                              <m:r>
                                <a:rPr kumimoji="1" lang="en-US" altLang="zh-CN" b="0" i="1" smtClean="0">
                                  <a:latin typeface="Cambria Math" panose="02040503050406030204" pitchFamily="18" charset="0"/>
                                </a:rPr>
                                <m:t>𝑘</m:t>
                              </m:r>
                            </m:sup>
                          </m:sSup>
                        </m:num>
                        <m:den>
                          <m:r>
                            <a:rPr kumimoji="1" lang="en-US" altLang="zh-CN" b="0" i="1" smtClean="0">
                              <a:latin typeface="Cambria Math" panose="02040503050406030204" pitchFamily="18" charset="0"/>
                            </a:rPr>
                            <m:t>𝑘</m:t>
                          </m:r>
                          <m:r>
                            <a:rPr kumimoji="1" lang="en-US" altLang="zh-CN" b="0" i="1" smtClean="0">
                              <a:latin typeface="Cambria Math" panose="02040503050406030204" pitchFamily="18" charset="0"/>
                            </a:rPr>
                            <m:t>!</m:t>
                          </m:r>
                        </m:den>
                      </m:f>
                      <m:sSup>
                        <m:sSupPr>
                          <m:ctrlPr>
                            <a:rPr kumimoji="1" lang="zh-CN" altLang="en-US" b="0" i="1" smtClean="0">
                              <a:latin typeface="Cambria Math" panose="02040503050406030204" pitchFamily="18" charset="0"/>
                            </a:rPr>
                          </m:ctrlPr>
                        </m:sSupPr>
                        <m:e>
                          <m:r>
                            <a:rPr kumimoji="1" lang="en-US" altLang="zh-CN" b="0" i="1" smtClean="0">
                              <a:latin typeface="Cambria Math" panose="02040503050406030204" pitchFamily="18" charset="0"/>
                            </a:rPr>
                            <m:t>𝑒</m:t>
                          </m:r>
                        </m:e>
                        <m:sup>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𝜆</m:t>
                          </m:r>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𝑡</m:t>
                          </m:r>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𝑠</m:t>
                          </m:r>
                          <m:r>
                            <a:rPr kumimoji="1" lang="en-US" altLang="zh-CN" b="0" i="1" smtClean="0">
                              <a:latin typeface="Cambria Math" panose="02040503050406030204" pitchFamily="18" charset="0"/>
                              <a:ea typeface="Cambria Math" panose="02040503050406030204" pitchFamily="18" charset="0"/>
                            </a:rPr>
                            <m:t>)</m:t>
                          </m:r>
                        </m:sup>
                      </m:sSup>
                      <m:r>
                        <a:rPr kumimoji="1" lang="en-US" altLang="zh-CN" b="0" i="1" smtClean="0">
                          <a:latin typeface="Cambria Math" panose="02040503050406030204" pitchFamily="18" charset="0"/>
                        </a:rPr>
                        <m:t>,       </m:t>
                      </m:r>
                      <m:r>
                        <a:rPr kumimoji="1" lang="en-US" altLang="zh-CN" b="0" i="1" smtClean="0">
                          <a:latin typeface="Cambria Math" panose="02040503050406030204" pitchFamily="18" charset="0"/>
                        </a:rPr>
                        <m:t>𝑘</m:t>
                      </m:r>
                      <m:r>
                        <a:rPr kumimoji="1" lang="en-US" altLang="zh-CN" b="0" i="1" smtClean="0">
                          <a:latin typeface="Cambria Math" panose="02040503050406030204" pitchFamily="18" charset="0"/>
                        </a:rPr>
                        <m:t>=0,1,2,⋯</m:t>
                      </m:r>
                    </m:oMath>
                  </m:oMathPara>
                </a14:m>
                <a:endParaRPr kumimoji="1" lang="zh-CN" altLang="en-US" dirty="0"/>
              </a:p>
            </p:txBody>
          </p:sp>
        </mc:Choice>
        <mc:Fallback xmlns="">
          <p:sp>
            <p:nvSpPr>
              <p:cNvPr id="2" name="文本框 1">
                <a:extLst>
                  <a:ext uri="{FF2B5EF4-FFF2-40B4-BE49-F238E27FC236}">
                    <a16:creationId xmlns:a16="http://schemas.microsoft.com/office/drawing/2014/main" id="{4AFD96D5-E11A-1CAC-3C5A-D5ED59C53105}"/>
                  </a:ext>
                </a:extLst>
              </p:cNvPr>
              <p:cNvSpPr txBox="1">
                <a:spLocks noRot="1" noChangeAspect="1" noMove="1" noResize="1" noEditPoints="1" noAdjustHandles="1" noChangeArrowheads="1" noChangeShapeType="1" noTextEdit="1"/>
              </p:cNvSpPr>
              <p:nvPr/>
            </p:nvSpPr>
            <p:spPr>
              <a:xfrm>
                <a:off x="1450975" y="3683186"/>
                <a:ext cx="8264507" cy="748731"/>
              </a:xfrm>
              <a:prstGeom prst="rect">
                <a:avLst/>
              </a:prstGeom>
              <a:blipFill>
                <a:blip r:embed="rId2"/>
                <a:stretch>
                  <a:fillRect l="-307" b="-1333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92867">
                                            <p:txEl>
                                              <p:pRg st="0" end="0"/>
                                            </p:txEl>
                                          </p:spTgt>
                                        </p:tgtEl>
                                        <p:attrNameLst>
                                          <p:attrName>style.visibility</p:attrName>
                                        </p:attrNameLst>
                                      </p:cBhvr>
                                      <p:to>
                                        <p:strVal val="visible"/>
                                      </p:to>
                                    </p:set>
                                    <p:anim calcmode="lin" valueType="num">
                                      <p:cBhvr additive="base">
                                        <p:cTn id="7" dur="1000" fill="hold"/>
                                        <p:tgtEl>
                                          <p:spTgt spid="292867">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9286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92867">
                                            <p:txEl>
                                              <p:pRg st="1" end="1"/>
                                            </p:txEl>
                                          </p:spTgt>
                                        </p:tgtEl>
                                        <p:attrNameLst>
                                          <p:attrName>style.visibility</p:attrName>
                                        </p:attrNameLst>
                                      </p:cBhvr>
                                      <p:to>
                                        <p:strVal val="visible"/>
                                      </p:to>
                                    </p:set>
                                    <p:anim calcmode="lin" valueType="num">
                                      <p:cBhvr additive="base">
                                        <p:cTn id="11" dur="1000" fill="hold"/>
                                        <p:tgtEl>
                                          <p:spTgt spid="292867">
                                            <p:txEl>
                                              <p:pRg st="1" end="1"/>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29286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2867">
                                            <p:txEl>
                                              <p:pRg st="2" end="2"/>
                                            </p:txEl>
                                          </p:spTgt>
                                        </p:tgtEl>
                                        <p:attrNameLst>
                                          <p:attrName>style.visibility</p:attrName>
                                        </p:attrNameLst>
                                      </p:cBhvr>
                                      <p:to>
                                        <p:strVal val="visible"/>
                                      </p:to>
                                    </p:set>
                                    <p:anim calcmode="lin" valueType="num">
                                      <p:cBhvr additive="base">
                                        <p:cTn id="15" dur="1000" fill="hold"/>
                                        <p:tgtEl>
                                          <p:spTgt spid="292867">
                                            <p:txEl>
                                              <p:pRg st="2" end="2"/>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29286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92867">
                                            <p:txEl>
                                              <p:pRg st="3" end="3"/>
                                            </p:txEl>
                                          </p:spTgt>
                                        </p:tgtEl>
                                        <p:attrNameLst>
                                          <p:attrName>style.visibility</p:attrName>
                                        </p:attrNameLst>
                                      </p:cBhvr>
                                      <p:to>
                                        <p:strVal val="visible"/>
                                      </p:to>
                                    </p:set>
                                    <p:anim calcmode="lin" valueType="num">
                                      <p:cBhvr additive="base">
                                        <p:cTn id="19" dur="1000" fill="hold"/>
                                        <p:tgtEl>
                                          <p:spTgt spid="292867">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92867">
                                            <p:txEl>
                                              <p:pRg st="3" end="3"/>
                                            </p:txEl>
                                          </p:spTgt>
                                        </p:tgtEl>
                                        <p:attrNameLst>
                                          <p:attrName>ppt_y</p:attrName>
                                        </p:attrNameLst>
                                      </p:cBhvr>
                                      <p:tavLst>
                                        <p:tav tm="0">
                                          <p:val>
                                            <p:strVal val="1+#ppt_h/2"/>
                                          </p:val>
                                        </p:tav>
                                        <p:tav tm="100000">
                                          <p:val>
                                            <p:strVal val="#ppt_y"/>
                                          </p:val>
                                        </p:tav>
                                      </p:tavLst>
                                    </p:anim>
                                  </p:childTnLst>
                                </p:cTn>
                              </p:par>
                            </p:childTnLst>
                          </p:cTn>
                        </p:par>
                        <p:par>
                          <p:cTn id="21" fill="hold" nodeType="afterGroup">
                            <p:stCondLst>
                              <p:cond delay="1000"/>
                            </p:stCondLst>
                            <p:childTnLst>
                              <p:par>
                                <p:cTn id="22" presetID="2" presetClass="entr" presetSubtype="4" fill="hold" grpId="0" nodeType="afterEffect">
                                  <p:stCondLst>
                                    <p:cond delay="0"/>
                                  </p:stCondLst>
                                  <p:childTnLst>
                                    <p:set>
                                      <p:cBhvr>
                                        <p:cTn id="23" dur="1" fill="hold">
                                          <p:stCondLst>
                                            <p:cond delay="0"/>
                                          </p:stCondLst>
                                        </p:cTn>
                                        <p:tgtEl>
                                          <p:spTgt spid="292872"/>
                                        </p:tgtEl>
                                        <p:attrNameLst>
                                          <p:attrName>style.visibility</p:attrName>
                                        </p:attrNameLst>
                                      </p:cBhvr>
                                      <p:to>
                                        <p:strVal val="visible"/>
                                      </p:to>
                                    </p:set>
                                    <p:anim calcmode="lin" valueType="num">
                                      <p:cBhvr additive="base">
                                        <p:cTn id="24" dur="1000" fill="hold"/>
                                        <p:tgtEl>
                                          <p:spTgt spid="292872"/>
                                        </p:tgtEl>
                                        <p:attrNameLst>
                                          <p:attrName>ppt_x</p:attrName>
                                        </p:attrNameLst>
                                      </p:cBhvr>
                                      <p:tavLst>
                                        <p:tav tm="0">
                                          <p:val>
                                            <p:strVal val="#ppt_x"/>
                                          </p:val>
                                        </p:tav>
                                        <p:tav tm="100000">
                                          <p:val>
                                            <p:strVal val="#ppt_x"/>
                                          </p:val>
                                        </p:tav>
                                      </p:tavLst>
                                    </p:anim>
                                    <p:anim calcmode="lin" valueType="num">
                                      <p:cBhvr additive="base">
                                        <p:cTn id="25" dur="1000" fill="hold"/>
                                        <p:tgtEl>
                                          <p:spTgt spid="2928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7" grpId="0" build="p"/>
      <p:bldP spid="29287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a:extLst>
              <a:ext uri="{FF2B5EF4-FFF2-40B4-BE49-F238E27FC236}">
                <a16:creationId xmlns:a16="http://schemas.microsoft.com/office/drawing/2014/main" id="{2C5EEBD1-D61A-C063-8DBA-1363912CB164}"/>
              </a:ext>
            </a:extLst>
          </p:cNvPr>
          <p:cNvSpPr>
            <a:spLocks noGrp="1" noChangeArrowheads="1"/>
          </p:cNvSpPr>
          <p:nvPr>
            <p:ph type="title"/>
          </p:nvPr>
        </p:nvSpPr>
        <p:spPr>
          <a:xfrm>
            <a:off x="765175" y="187062"/>
            <a:ext cx="7469329" cy="732007"/>
          </a:xfrm>
        </p:spPr>
        <p:txBody>
          <a:bodyPr/>
          <a:lstStyle/>
          <a:p>
            <a:pPr eaLnBrk="1" hangingPunct="1"/>
            <a:r>
              <a:rPr lang="en-US" altLang="zh-CN" dirty="0"/>
              <a:t>2.</a:t>
            </a:r>
            <a:r>
              <a:rPr lang="zh-CN" altLang="en-US" dirty="0"/>
              <a:t> 泊松过程的定义</a:t>
            </a:r>
            <a:r>
              <a:rPr lang="en-US" altLang="zh-CN" dirty="0"/>
              <a:t>2</a:t>
            </a:r>
          </a:p>
        </p:txBody>
      </p:sp>
      <p:sp>
        <p:nvSpPr>
          <p:cNvPr id="313347" name="Rectangle 3">
            <a:extLst>
              <a:ext uri="{FF2B5EF4-FFF2-40B4-BE49-F238E27FC236}">
                <a16:creationId xmlns:a16="http://schemas.microsoft.com/office/drawing/2014/main" id="{EC6CA11F-EFB5-E95B-C609-CF2032C29AA2}"/>
              </a:ext>
            </a:extLst>
          </p:cNvPr>
          <p:cNvSpPr>
            <a:spLocks noGrp="1" noChangeArrowheads="1"/>
          </p:cNvSpPr>
          <p:nvPr>
            <p:ph type="body" idx="1"/>
          </p:nvPr>
        </p:nvSpPr>
        <p:spPr>
          <a:xfrm>
            <a:off x="612775" y="1067594"/>
            <a:ext cx="10591800" cy="5090703"/>
          </a:xfrm>
        </p:spPr>
        <p:txBody>
          <a:bodyPr>
            <a:normAutofit/>
          </a:bodyPr>
          <a:lstStyle/>
          <a:p>
            <a:pPr eaLnBrk="1" hangingPunct="1">
              <a:lnSpc>
                <a:spcPct val="150000"/>
              </a:lnSpc>
              <a:buFont typeface="Wingdings" panose="05000000000000000000" pitchFamily="2" charset="2"/>
              <a:buNone/>
            </a:pPr>
            <a:r>
              <a:rPr lang="zh-CN" altLang="en-US" dirty="0"/>
              <a:t>如果取非负整数值得计数过程</a:t>
            </a:r>
            <a:r>
              <a:rPr lang="en-US" altLang="zh-CN" dirty="0">
                <a:sym typeface="Symbol" panose="05050102010706020507" pitchFamily="18" charset="2"/>
              </a:rPr>
              <a:t>{N(t), t0}</a:t>
            </a:r>
            <a:r>
              <a:rPr lang="zh-CN" altLang="en-US" dirty="0">
                <a:sym typeface="Symbol" panose="05050102010706020507" pitchFamily="18" charset="2"/>
              </a:rPr>
              <a:t>满足下列条件：</a:t>
            </a:r>
          </a:p>
          <a:p>
            <a:pPr marL="990798" lvl="1" indent="-533507">
              <a:buFontTx/>
              <a:buAutoNum type="alphaLcParenR"/>
            </a:pPr>
            <a:r>
              <a:rPr lang="en-US" altLang="zh-CN" dirty="0">
                <a:sym typeface="Symbol" panose="05050102010706020507" pitchFamily="18" charset="2"/>
              </a:rPr>
              <a:t>N(0)</a:t>
            </a:r>
            <a:r>
              <a:rPr lang="zh-CN" altLang="en-US" dirty="0">
                <a:sym typeface="Symbol" panose="05050102010706020507" pitchFamily="18" charset="2"/>
              </a:rPr>
              <a:t>＝</a:t>
            </a:r>
            <a:r>
              <a:rPr lang="en-US" altLang="zh-CN" dirty="0">
                <a:sym typeface="Symbol" panose="05050102010706020507" pitchFamily="18" charset="2"/>
              </a:rPr>
              <a:t>0</a:t>
            </a:r>
            <a:r>
              <a:rPr lang="zh-CN" altLang="en-US" dirty="0">
                <a:sym typeface="Symbol" panose="05050102010706020507" pitchFamily="18" charset="2"/>
              </a:rPr>
              <a:t>；</a:t>
            </a:r>
          </a:p>
          <a:p>
            <a:pPr marL="990798" lvl="1" indent="-533507">
              <a:buFontTx/>
              <a:buAutoNum type="alphaLcParenR"/>
            </a:pPr>
            <a:r>
              <a:rPr lang="zh-CN" altLang="en-US" dirty="0">
                <a:sym typeface="Symbol" panose="05050102010706020507" pitchFamily="18" charset="2"/>
              </a:rPr>
              <a:t>具有平稳独立增量；</a:t>
            </a:r>
          </a:p>
          <a:p>
            <a:pPr marL="990798" lvl="1" indent="-533507">
              <a:buFontTx/>
              <a:buAutoNum type="alphaLcParenR"/>
            </a:pPr>
            <a:r>
              <a:rPr lang="en-US" altLang="zh-CN" dirty="0">
                <a:sym typeface="Symbol" panose="05050102010706020507" pitchFamily="18" charset="2"/>
              </a:rPr>
              <a:t>P{N(h)=1}</a:t>
            </a:r>
            <a:r>
              <a:rPr lang="zh-CN" altLang="en-US" dirty="0">
                <a:sym typeface="Symbol" panose="05050102010706020507" pitchFamily="18" charset="2"/>
              </a:rPr>
              <a:t>＝</a:t>
            </a:r>
            <a:r>
              <a:rPr lang="en-US" altLang="zh-CN" dirty="0" err="1">
                <a:sym typeface="Symbol" panose="05050102010706020507" pitchFamily="18" charset="2"/>
              </a:rPr>
              <a:t>h+o</a:t>
            </a:r>
            <a:r>
              <a:rPr lang="en-US" altLang="zh-CN" dirty="0">
                <a:sym typeface="Symbol" panose="05050102010706020507" pitchFamily="18" charset="2"/>
              </a:rPr>
              <a:t>(h)</a:t>
            </a:r>
            <a:r>
              <a:rPr lang="zh-CN" altLang="en-US" dirty="0">
                <a:sym typeface="Symbol" panose="05050102010706020507" pitchFamily="18" charset="2"/>
              </a:rPr>
              <a:t>；</a:t>
            </a:r>
          </a:p>
          <a:p>
            <a:pPr marL="990798" lvl="1" indent="-533507">
              <a:buFontTx/>
              <a:buAutoNum type="alphaLcParenR"/>
            </a:pPr>
            <a:r>
              <a:rPr lang="en-US" altLang="zh-CN" dirty="0">
                <a:sym typeface="Symbol" panose="05050102010706020507" pitchFamily="18" charset="2"/>
              </a:rPr>
              <a:t>P{N(h)2}</a:t>
            </a:r>
            <a:r>
              <a:rPr lang="zh-CN" altLang="en-US" dirty="0">
                <a:sym typeface="Symbol" panose="05050102010706020507" pitchFamily="18" charset="2"/>
              </a:rPr>
              <a:t>＝</a:t>
            </a:r>
            <a:r>
              <a:rPr lang="en-US" altLang="zh-CN" dirty="0">
                <a:sym typeface="Symbol" panose="05050102010706020507" pitchFamily="18" charset="2"/>
              </a:rPr>
              <a:t>o(h)</a:t>
            </a:r>
          </a:p>
          <a:p>
            <a:pPr eaLnBrk="1" hangingPunct="1">
              <a:lnSpc>
                <a:spcPct val="150000"/>
              </a:lnSpc>
              <a:buFont typeface="Wingdings" panose="05000000000000000000" pitchFamily="2" charset="2"/>
              <a:buNone/>
            </a:pPr>
            <a:r>
              <a:rPr lang="zh-CN" altLang="en-US" dirty="0">
                <a:sym typeface="Symbol" panose="05050102010706020507" pitchFamily="18" charset="2"/>
              </a:rPr>
              <a:t>则称</a:t>
            </a:r>
            <a:r>
              <a:rPr lang="en-US" altLang="zh-CN" dirty="0">
                <a:sym typeface="Symbol" panose="05050102010706020507" pitchFamily="18" charset="2"/>
              </a:rPr>
              <a:t>{N(t), t0}</a:t>
            </a:r>
            <a:r>
              <a:rPr lang="zh-CN" altLang="en-US" dirty="0">
                <a:sym typeface="Symbol" panose="05050102010706020507" pitchFamily="18" charset="2"/>
              </a:rPr>
              <a:t>为</a:t>
            </a:r>
            <a:r>
              <a:rPr lang="zh-CN" altLang="en-US" dirty="0">
                <a:solidFill>
                  <a:srgbClr val="0000FF"/>
                </a:solidFill>
                <a:sym typeface="Symbol" panose="05050102010706020507" pitchFamily="18" charset="2"/>
              </a:rPr>
              <a:t>参数</a:t>
            </a:r>
            <a:r>
              <a:rPr lang="en-US" altLang="zh-CN" dirty="0">
                <a:solidFill>
                  <a:srgbClr val="0000FF"/>
                </a:solidFill>
                <a:sym typeface="Symbol" panose="05050102010706020507" pitchFamily="18" charset="2"/>
              </a:rPr>
              <a:t>(</a:t>
            </a:r>
            <a:r>
              <a:rPr lang="zh-CN" altLang="en-US" dirty="0">
                <a:solidFill>
                  <a:srgbClr val="0000FF"/>
                </a:solidFill>
                <a:sym typeface="Symbol" panose="05050102010706020507" pitchFamily="18" charset="2"/>
              </a:rPr>
              <a:t>或平均率、强度</a:t>
            </a:r>
            <a:r>
              <a:rPr lang="en-US" altLang="zh-CN" dirty="0">
                <a:solidFill>
                  <a:srgbClr val="0000FF"/>
                </a:solidFill>
                <a:sym typeface="Symbol" panose="05050102010706020507" pitchFamily="18" charset="2"/>
              </a:rPr>
              <a:t>)</a:t>
            </a:r>
            <a:r>
              <a:rPr lang="zh-CN" altLang="en-US" dirty="0">
                <a:solidFill>
                  <a:srgbClr val="0000FF"/>
                </a:solidFill>
                <a:sym typeface="Symbol" panose="05050102010706020507" pitchFamily="18" charset="2"/>
              </a:rPr>
              <a:t>为的</a:t>
            </a:r>
            <a:r>
              <a:rPr lang="en-US" altLang="zh-CN" dirty="0">
                <a:sym typeface="Symbol" panose="05050102010706020507" pitchFamily="18" charset="2"/>
              </a:rPr>
              <a:t>(</a:t>
            </a:r>
            <a:r>
              <a:rPr lang="zh-CN" altLang="en-US" dirty="0">
                <a:solidFill>
                  <a:srgbClr val="CC00CC"/>
                </a:solidFill>
                <a:sym typeface="Symbol" panose="05050102010706020507" pitchFamily="18" charset="2"/>
              </a:rPr>
              <a:t>齐次</a:t>
            </a:r>
            <a:r>
              <a:rPr lang="en-US" altLang="zh-CN" dirty="0">
                <a:sym typeface="Symbol" panose="05050102010706020507" pitchFamily="18" charset="2"/>
              </a:rPr>
              <a:t>)</a:t>
            </a:r>
            <a:r>
              <a:rPr lang="zh-CN" altLang="en-US" dirty="0">
                <a:solidFill>
                  <a:srgbClr val="CC00CC"/>
                </a:solidFill>
                <a:sym typeface="Symbol" panose="05050102010706020507" pitchFamily="18" charset="2"/>
              </a:rPr>
              <a:t>泊松过程</a:t>
            </a:r>
            <a:r>
              <a:rPr lang="zh-CN" altLang="en-US" dirty="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13347">
                                            <p:txEl>
                                              <p:pRg st="0" end="0"/>
                                            </p:txEl>
                                          </p:spTgt>
                                        </p:tgtEl>
                                        <p:attrNameLst>
                                          <p:attrName>style.visibility</p:attrName>
                                        </p:attrNameLst>
                                      </p:cBhvr>
                                      <p:to>
                                        <p:strVal val="visible"/>
                                      </p:to>
                                    </p:set>
                                    <p:anim calcmode="lin" valueType="num">
                                      <p:cBhvr additive="base">
                                        <p:cTn id="7" dur="1000" fill="hold"/>
                                        <p:tgtEl>
                                          <p:spTgt spid="313347">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133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3347">
                                            <p:txEl>
                                              <p:pRg st="1" end="1"/>
                                            </p:txEl>
                                          </p:spTgt>
                                        </p:tgtEl>
                                        <p:attrNameLst>
                                          <p:attrName>style.visibility</p:attrName>
                                        </p:attrNameLst>
                                      </p:cBhvr>
                                      <p:to>
                                        <p:strVal val="visible"/>
                                      </p:to>
                                    </p:set>
                                    <p:anim calcmode="lin" valueType="num">
                                      <p:cBhvr additive="base">
                                        <p:cTn id="13" dur="1000" fill="hold"/>
                                        <p:tgtEl>
                                          <p:spTgt spid="313347">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133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3347">
                                            <p:txEl>
                                              <p:pRg st="2" end="2"/>
                                            </p:txEl>
                                          </p:spTgt>
                                        </p:tgtEl>
                                        <p:attrNameLst>
                                          <p:attrName>style.visibility</p:attrName>
                                        </p:attrNameLst>
                                      </p:cBhvr>
                                      <p:to>
                                        <p:strVal val="visible"/>
                                      </p:to>
                                    </p:set>
                                    <p:anim calcmode="lin" valueType="num">
                                      <p:cBhvr additive="base">
                                        <p:cTn id="19" dur="1000" fill="hold"/>
                                        <p:tgtEl>
                                          <p:spTgt spid="313347">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133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nodeType="after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3347">
                                            <p:txEl>
                                              <p:pRg st="3" end="3"/>
                                            </p:txEl>
                                          </p:spTgt>
                                        </p:tgtEl>
                                        <p:attrNameLst>
                                          <p:attrName>style.visibility</p:attrName>
                                        </p:attrNameLst>
                                      </p:cBhvr>
                                      <p:to>
                                        <p:strVal val="visible"/>
                                      </p:to>
                                    </p:set>
                                    <p:anim calcmode="lin" valueType="num">
                                      <p:cBhvr additive="base">
                                        <p:cTn id="25" dur="1000" fill="hold"/>
                                        <p:tgtEl>
                                          <p:spTgt spid="313347">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133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nodeType="after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13347">
                                            <p:txEl>
                                              <p:pRg st="4" end="4"/>
                                            </p:txEl>
                                          </p:spTgt>
                                        </p:tgtEl>
                                        <p:attrNameLst>
                                          <p:attrName>style.visibility</p:attrName>
                                        </p:attrNameLst>
                                      </p:cBhvr>
                                      <p:to>
                                        <p:strVal val="visible"/>
                                      </p:to>
                                    </p:set>
                                    <p:anim calcmode="lin" valueType="num">
                                      <p:cBhvr additive="base">
                                        <p:cTn id="31" dur="1000" fill="hold"/>
                                        <p:tgtEl>
                                          <p:spTgt spid="313347">
                                            <p:txEl>
                                              <p:pRg st="4" end="4"/>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133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nodeType="after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13347">
                                            <p:txEl>
                                              <p:pRg st="5" end="5"/>
                                            </p:txEl>
                                          </p:spTgt>
                                        </p:tgtEl>
                                        <p:attrNameLst>
                                          <p:attrName>style.visibility</p:attrName>
                                        </p:attrNameLst>
                                      </p:cBhvr>
                                      <p:to>
                                        <p:strVal val="visible"/>
                                      </p:to>
                                    </p:set>
                                    <p:anim calcmode="lin" valueType="num">
                                      <p:cBhvr additive="base">
                                        <p:cTn id="37" dur="1000" fill="hold"/>
                                        <p:tgtEl>
                                          <p:spTgt spid="313347">
                                            <p:txEl>
                                              <p:pRg st="5" end="5"/>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31334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EE3CE32-F242-3EC2-3FD8-11ADF0BF1690}"/>
              </a:ext>
            </a:extLst>
          </p:cNvPr>
          <p:cNvSpPr txBox="1">
            <a:spLocks noChangeArrowheads="1"/>
          </p:cNvSpPr>
          <p:nvPr/>
        </p:nvSpPr>
        <p:spPr>
          <a:xfrm>
            <a:off x="3722962" y="4089635"/>
            <a:ext cx="8459353" cy="2820053"/>
          </a:xfrm>
          <a:prstGeom prst="rect">
            <a:avLst/>
          </a:prstGeom>
          <a:solidFill>
            <a:schemeClr val="accent3">
              <a:lumMod val="20000"/>
              <a:lumOff val="80000"/>
            </a:schemeClr>
          </a:solidFill>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buFont typeface="Wingdings" panose="05000000000000000000" pitchFamily="2" charset="2"/>
              <a:buNone/>
            </a:pPr>
            <a:r>
              <a:rPr lang="en-US" altLang="zh-CN" dirty="0"/>
              <a:t>	 </a:t>
            </a:r>
            <a:r>
              <a:rPr lang="zh-CN" altLang="en-US" dirty="0"/>
              <a:t>如果独立增量过程</a:t>
            </a:r>
          </a:p>
          <a:p>
            <a:pPr algn="ctr">
              <a:buFont typeface="Wingdings" panose="05000000000000000000" pitchFamily="2" charset="2"/>
              <a:buNone/>
            </a:pPr>
            <a:r>
              <a:rPr lang="en-US" altLang="zh-CN" dirty="0"/>
              <a:t>{X(t),</a:t>
            </a:r>
            <a:r>
              <a:rPr lang="en-US" altLang="zh-CN" dirty="0" err="1"/>
              <a:t>t</a:t>
            </a:r>
            <a:r>
              <a:rPr lang="en-US" altLang="zh-CN" dirty="0" err="1">
                <a:sym typeface="Symbol" panose="05050102010706020507" pitchFamily="18" charset="2"/>
              </a:rPr>
              <a:t>T</a:t>
            </a:r>
            <a:r>
              <a:rPr lang="en-US" altLang="zh-CN" dirty="0">
                <a:sym typeface="Symbol" panose="05050102010706020507" pitchFamily="18" charset="2"/>
              </a:rPr>
              <a:t>}</a:t>
            </a:r>
            <a:r>
              <a:rPr lang="zh-CN" altLang="en-US" dirty="0">
                <a:sym typeface="Symbol" panose="05050102010706020507" pitchFamily="18" charset="2"/>
              </a:rPr>
              <a:t>，</a:t>
            </a:r>
            <a:r>
              <a:rPr lang="en-US" altLang="zh-CN" dirty="0">
                <a:sym typeface="Symbol" panose="05050102010706020507" pitchFamily="18" charset="2"/>
              </a:rPr>
              <a:t>T</a:t>
            </a:r>
            <a:r>
              <a:rPr lang="zh-CN" altLang="en-US" dirty="0">
                <a:sym typeface="Symbol" panose="05050102010706020507" pitchFamily="18" charset="2"/>
              </a:rPr>
              <a:t>＝</a:t>
            </a:r>
            <a:r>
              <a:rPr lang="en-US" altLang="zh-CN" dirty="0">
                <a:sym typeface="Symbol" panose="05050102010706020507" pitchFamily="18" charset="2"/>
              </a:rPr>
              <a:t>[0,+)</a:t>
            </a:r>
            <a:r>
              <a:rPr lang="zh-CN" altLang="en-US" dirty="0">
                <a:sym typeface="Symbol" panose="05050102010706020507" pitchFamily="18" charset="2"/>
              </a:rPr>
              <a:t>，</a:t>
            </a:r>
          </a:p>
          <a:p>
            <a:pPr>
              <a:buFont typeface="Wingdings" panose="05000000000000000000" pitchFamily="2" charset="2"/>
              <a:buNone/>
            </a:pPr>
            <a:r>
              <a:rPr lang="zh-CN" altLang="en-US" dirty="0">
                <a:sym typeface="Symbol" panose="05050102010706020507" pitchFamily="18" charset="2"/>
              </a:rPr>
              <a:t>	对所有的</a:t>
            </a:r>
            <a:r>
              <a:rPr lang="en-US" altLang="zh-CN" dirty="0" err="1">
                <a:sym typeface="Symbol" panose="05050102010706020507" pitchFamily="18" charset="2"/>
              </a:rPr>
              <a:t>s,tT</a:t>
            </a:r>
            <a:r>
              <a:rPr lang="zh-CN" altLang="en-US" dirty="0">
                <a:sym typeface="Symbol" panose="05050102010706020507" pitchFamily="18" charset="2"/>
              </a:rPr>
              <a:t>及</a:t>
            </a:r>
            <a:r>
              <a:rPr lang="en-US" altLang="zh-CN" dirty="0">
                <a:sym typeface="Symbol" panose="05050102010706020507" pitchFamily="18" charset="2"/>
              </a:rPr>
              <a:t>h&gt;0,s+h,t+hT</a:t>
            </a:r>
          </a:p>
          <a:p>
            <a:pPr algn="ctr">
              <a:buFont typeface="Wingdings" panose="05000000000000000000" pitchFamily="2" charset="2"/>
              <a:buNone/>
            </a:pPr>
            <a:r>
              <a:rPr lang="en-US" altLang="zh-CN" dirty="0"/>
              <a:t>X(</a:t>
            </a:r>
            <a:r>
              <a:rPr lang="en-US" altLang="zh-CN" dirty="0" err="1">
                <a:sym typeface="Symbol" panose="05050102010706020507" pitchFamily="18" charset="2"/>
              </a:rPr>
              <a:t>t+h</a:t>
            </a:r>
            <a:r>
              <a:rPr lang="en-US" altLang="zh-CN" dirty="0">
                <a:sym typeface="Symbol" panose="05050102010706020507" pitchFamily="18" charset="2"/>
              </a:rPr>
              <a:t>)-</a:t>
            </a:r>
            <a:r>
              <a:rPr lang="en-US" altLang="zh-CN" dirty="0"/>
              <a:t>X(</a:t>
            </a:r>
            <a:r>
              <a:rPr lang="en-US" altLang="zh-CN" dirty="0" err="1">
                <a:sym typeface="Symbol" panose="05050102010706020507" pitchFamily="18" charset="2"/>
              </a:rPr>
              <a:t>s+h</a:t>
            </a:r>
            <a:r>
              <a:rPr lang="en-US" altLang="zh-CN" dirty="0"/>
              <a:t>)</a:t>
            </a:r>
            <a:r>
              <a:rPr lang="zh-CN" altLang="en-US" dirty="0"/>
              <a:t>与</a:t>
            </a:r>
            <a:r>
              <a:rPr lang="en-US" altLang="zh-CN" dirty="0"/>
              <a:t>X(</a:t>
            </a:r>
            <a:r>
              <a:rPr lang="en-US" altLang="zh-CN" dirty="0">
                <a:sym typeface="Symbol" panose="05050102010706020507" pitchFamily="18" charset="2"/>
              </a:rPr>
              <a:t>t)-</a:t>
            </a:r>
            <a:r>
              <a:rPr lang="en-US" altLang="zh-CN" dirty="0"/>
              <a:t>X(</a:t>
            </a:r>
            <a:r>
              <a:rPr lang="en-US" altLang="zh-CN" dirty="0">
                <a:sym typeface="Symbol" panose="05050102010706020507" pitchFamily="18" charset="2"/>
              </a:rPr>
              <a:t>s</a:t>
            </a:r>
            <a:r>
              <a:rPr lang="en-US" altLang="zh-CN" dirty="0"/>
              <a:t>)</a:t>
            </a:r>
          </a:p>
          <a:p>
            <a:pPr>
              <a:buFont typeface="Wingdings" panose="05000000000000000000" pitchFamily="2" charset="2"/>
              <a:buNone/>
            </a:pPr>
            <a:r>
              <a:rPr lang="en-US" altLang="zh-CN" dirty="0"/>
              <a:t>	</a:t>
            </a:r>
            <a:r>
              <a:rPr lang="zh-CN" altLang="en-US" dirty="0"/>
              <a:t>有</a:t>
            </a:r>
            <a:r>
              <a:rPr lang="zh-CN" altLang="en-US" dirty="0">
                <a:solidFill>
                  <a:srgbClr val="0000FF"/>
                </a:solidFill>
              </a:rPr>
              <a:t>相同的概率分布</a:t>
            </a:r>
            <a:r>
              <a:rPr lang="zh-CN" altLang="en-US" dirty="0"/>
              <a:t>，则称</a:t>
            </a:r>
            <a:r>
              <a:rPr lang="en-US" altLang="zh-CN" dirty="0"/>
              <a:t>{X(t),</a:t>
            </a:r>
            <a:r>
              <a:rPr lang="en-US" altLang="zh-CN" dirty="0" err="1"/>
              <a:t>t</a:t>
            </a:r>
            <a:r>
              <a:rPr lang="en-US" altLang="zh-CN" dirty="0" err="1">
                <a:sym typeface="Symbol" panose="05050102010706020507" pitchFamily="18" charset="2"/>
              </a:rPr>
              <a:t>T</a:t>
            </a:r>
            <a:r>
              <a:rPr lang="en-US" altLang="zh-CN" dirty="0">
                <a:sym typeface="Symbol" panose="05050102010706020507" pitchFamily="18" charset="2"/>
              </a:rPr>
              <a:t>}</a:t>
            </a:r>
            <a:r>
              <a:rPr lang="zh-CN" altLang="en-US" dirty="0"/>
              <a:t>为</a:t>
            </a:r>
            <a:r>
              <a:rPr lang="zh-CN" altLang="en-US" dirty="0">
                <a:solidFill>
                  <a:srgbClr val="CC00CC"/>
                </a:solidFill>
              </a:rPr>
              <a:t>平稳独立增量过程</a:t>
            </a:r>
            <a:r>
              <a:rPr lang="zh-CN" altLang="en-US" dirty="0"/>
              <a:t>。</a:t>
            </a:r>
          </a:p>
        </p:txBody>
      </p:sp>
      <p:grpSp>
        <p:nvGrpSpPr>
          <p:cNvPr id="5" name="组合 4">
            <a:extLst>
              <a:ext uri="{FF2B5EF4-FFF2-40B4-BE49-F238E27FC236}">
                <a16:creationId xmlns:a16="http://schemas.microsoft.com/office/drawing/2014/main" id="{923AE18D-6981-0F73-42A3-234F9454790D}"/>
              </a:ext>
            </a:extLst>
          </p:cNvPr>
          <p:cNvGrpSpPr/>
          <p:nvPr/>
        </p:nvGrpSpPr>
        <p:grpSpPr>
          <a:xfrm>
            <a:off x="760942" y="2081726"/>
            <a:ext cx="9450101" cy="2158367"/>
            <a:chOff x="1144874" y="3455989"/>
            <a:chExt cx="9450101" cy="2315083"/>
          </a:xfrm>
        </p:grpSpPr>
        <p:sp>
          <p:nvSpPr>
            <p:cNvPr id="3" name="Rectangle 3">
              <a:extLst>
                <a:ext uri="{FF2B5EF4-FFF2-40B4-BE49-F238E27FC236}">
                  <a16:creationId xmlns:a16="http://schemas.microsoft.com/office/drawing/2014/main" id="{60A1E4FC-793D-2DEC-22DF-84878818316B}"/>
                </a:ext>
              </a:extLst>
            </p:cNvPr>
            <p:cNvSpPr txBox="1">
              <a:spLocks noChangeArrowheads="1"/>
            </p:cNvSpPr>
            <p:nvPr/>
          </p:nvSpPr>
          <p:spPr>
            <a:xfrm>
              <a:off x="1144874" y="3455989"/>
              <a:ext cx="9450101" cy="2315083"/>
            </a:xfrm>
            <a:prstGeom prst="rect">
              <a:avLst/>
            </a:prstGeom>
            <a:solidFill>
              <a:schemeClr val="accent3">
                <a:lumMod val="20000"/>
                <a:lumOff val="80000"/>
              </a:schemeClr>
            </a:solidFill>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457291" lvl="1" indent="0">
                <a:buClr>
                  <a:srgbClr val="00FF00"/>
                </a:buClr>
                <a:buNone/>
              </a:pPr>
              <a:r>
                <a:rPr lang="en-US" altLang="zh-CN" dirty="0">
                  <a:sym typeface="Symbol" panose="05050102010706020507" pitchFamily="18" charset="2"/>
                </a:rPr>
                <a:t>2</a:t>
              </a:r>
              <a:r>
                <a:rPr lang="zh-CN" altLang="en-US" dirty="0">
                  <a:sym typeface="Symbol" panose="05050102010706020507" pitchFamily="18" charset="2"/>
                </a:rPr>
                <a:t>）具有独立增量；</a:t>
              </a:r>
            </a:p>
            <a:p>
              <a:pPr marL="457291" lvl="1" indent="0">
                <a:buClr>
                  <a:srgbClr val="00FF00"/>
                </a:buClr>
                <a:buNone/>
              </a:pPr>
              <a:r>
                <a:rPr lang="en-US" altLang="zh-CN" dirty="0">
                  <a:sym typeface="Symbol" panose="05050102010706020507" pitchFamily="18" charset="2"/>
                </a:rPr>
                <a:t>3</a:t>
              </a:r>
              <a:r>
                <a:rPr lang="zh-CN" altLang="en-US" dirty="0">
                  <a:sym typeface="Symbol" panose="05050102010706020507" pitchFamily="18" charset="2"/>
                </a:rPr>
                <a:t>）对任意</a:t>
              </a:r>
              <a:r>
                <a:rPr lang="en-US" altLang="zh-CN" dirty="0">
                  <a:sym typeface="Symbol" panose="05050102010706020507" pitchFamily="18" charset="2"/>
                </a:rPr>
                <a:t>0s&lt;t, N(t)-N(s)</a:t>
              </a:r>
              <a:r>
                <a:rPr lang="zh-CN" altLang="en-US" dirty="0">
                  <a:sym typeface="Symbol" panose="05050102010706020507" pitchFamily="18" charset="2"/>
                </a:rPr>
                <a:t>服从参数为</a:t>
              </a:r>
              <a:r>
                <a:rPr lang="en-US" altLang="zh-CN" dirty="0">
                  <a:sym typeface="Symbol" panose="05050102010706020507" pitchFamily="18" charset="2"/>
                </a:rPr>
                <a:t>(t-s)</a:t>
              </a:r>
              <a:r>
                <a:rPr lang="zh-CN" altLang="en-US" dirty="0">
                  <a:sym typeface="Symbol" panose="05050102010706020507" pitchFamily="18" charset="2"/>
                </a:rPr>
                <a:t>泊松分布，即</a:t>
              </a:r>
            </a:p>
          </p:txBody>
        </p:sp>
        <p:graphicFrame>
          <p:nvGraphicFramePr>
            <p:cNvPr id="4" name="Object 4">
              <a:extLst>
                <a:ext uri="{FF2B5EF4-FFF2-40B4-BE49-F238E27FC236}">
                  <a16:creationId xmlns:a16="http://schemas.microsoft.com/office/drawing/2014/main" id="{68F30583-67D3-43AF-78F2-62FC540219FA}"/>
                </a:ext>
              </a:extLst>
            </p:cNvPr>
            <p:cNvGraphicFramePr>
              <a:graphicFrameLocks noChangeAspect="1"/>
            </p:cNvGraphicFramePr>
            <p:nvPr>
              <p:extLst>
                <p:ext uri="{D42A27DB-BD31-4B8C-83A1-F6EECF244321}">
                  <p14:modId xmlns:p14="http://schemas.microsoft.com/office/powerpoint/2010/main" val="3530014988"/>
                </p:ext>
              </p:extLst>
            </p:nvPr>
          </p:nvGraphicFramePr>
          <p:xfrm>
            <a:off x="2173069" y="4688035"/>
            <a:ext cx="8315325" cy="862012"/>
          </p:xfrm>
          <a:graphic>
            <a:graphicData uri="http://schemas.openxmlformats.org/presentationml/2006/ole">
              <mc:AlternateContent xmlns:mc="http://schemas.openxmlformats.org/markup-compatibility/2006">
                <mc:Choice xmlns:v="urn:schemas-microsoft-com:vml" Requires="v">
                  <p:oleObj name="Equation" r:id="rId2" imgW="2577960" imgH="368280" progId="Equation.DSMT4">
                    <p:embed/>
                  </p:oleObj>
                </mc:Choice>
                <mc:Fallback>
                  <p:oleObj name="Equation" r:id="rId2" imgW="2577960" imgH="368280" progId="Equation.DSMT4">
                    <p:embed/>
                    <p:pic>
                      <p:nvPicPr>
                        <p:cNvPr id="292868" name="Object 4">
                          <a:extLst>
                            <a:ext uri="{FF2B5EF4-FFF2-40B4-BE49-F238E27FC236}">
                              <a16:creationId xmlns:a16="http://schemas.microsoft.com/office/drawing/2014/main" id="{C728D3F6-45BA-BB74-E4BD-FF0163608AA7}"/>
                            </a:ext>
                          </a:extLst>
                        </p:cNvPr>
                        <p:cNvPicPr>
                          <a:picLocks noChangeAspect="1" noChangeArrowheads="1"/>
                        </p:cNvPicPr>
                        <p:nvPr/>
                      </p:nvPicPr>
                      <p:blipFill>
                        <a:blip r:embed="rId3"/>
                        <a:srcRect/>
                        <a:stretch>
                          <a:fillRect/>
                        </a:stretch>
                      </p:blipFill>
                      <p:spPr bwMode="auto">
                        <a:xfrm>
                          <a:off x="2173069" y="4688035"/>
                          <a:ext cx="8315325" cy="862012"/>
                        </a:xfrm>
                        <a:prstGeom prst="rect">
                          <a:avLst/>
                        </a:prstGeom>
                        <a:noFill/>
                        <a:ln>
                          <a:noFill/>
                        </a:ln>
                        <a:effectLst/>
                      </p:spPr>
                    </p:pic>
                  </p:oleObj>
                </mc:Fallback>
              </mc:AlternateContent>
            </a:graphicData>
          </a:graphic>
        </p:graphicFrame>
      </p:grpSp>
      <p:sp>
        <p:nvSpPr>
          <p:cNvPr id="14340" name="Rectangle 2">
            <a:extLst>
              <a:ext uri="{FF2B5EF4-FFF2-40B4-BE49-F238E27FC236}">
                <a16:creationId xmlns:a16="http://schemas.microsoft.com/office/drawing/2014/main" id="{E63B8753-DEF8-741E-C079-2C11EBFB3217}"/>
              </a:ext>
            </a:extLst>
          </p:cNvPr>
          <p:cNvSpPr>
            <a:spLocks noGrp="1" noChangeArrowheads="1"/>
          </p:cNvSpPr>
          <p:nvPr>
            <p:ph type="title"/>
          </p:nvPr>
        </p:nvSpPr>
        <p:spPr/>
        <p:txBody>
          <a:bodyPr/>
          <a:lstStyle/>
          <a:p>
            <a:pPr eaLnBrk="1" hangingPunct="1"/>
            <a:r>
              <a:rPr lang="zh-CN" altLang="en-US" dirty="0"/>
              <a:t>等价定理</a:t>
            </a:r>
          </a:p>
        </p:txBody>
      </p:sp>
      <p:sp>
        <p:nvSpPr>
          <p:cNvPr id="14341" name="Rectangle 3">
            <a:extLst>
              <a:ext uri="{FF2B5EF4-FFF2-40B4-BE49-F238E27FC236}">
                <a16:creationId xmlns:a16="http://schemas.microsoft.com/office/drawing/2014/main" id="{EC0ABEE0-6D3D-46FC-EA45-E7A53FF43639}"/>
              </a:ext>
            </a:extLst>
          </p:cNvPr>
          <p:cNvSpPr>
            <a:spLocks noGrp="1" noChangeArrowheads="1"/>
          </p:cNvSpPr>
          <p:nvPr>
            <p:ph type="body" idx="1"/>
          </p:nvPr>
        </p:nvSpPr>
        <p:spPr>
          <a:xfrm>
            <a:off x="760942" y="916257"/>
            <a:ext cx="7697982" cy="742193"/>
          </a:xfrm>
        </p:spPr>
        <p:txBody>
          <a:bodyPr>
            <a:normAutofit/>
          </a:bodyPr>
          <a:lstStyle/>
          <a:p>
            <a:pPr eaLnBrk="1" hangingPunct="1">
              <a:buFont typeface="Wingdings" panose="05000000000000000000" pitchFamily="2" charset="2"/>
              <a:buNone/>
            </a:pPr>
            <a:r>
              <a:rPr lang="zh-CN" altLang="en-US">
                <a:solidFill>
                  <a:srgbClr val="CC00CC"/>
                </a:solidFill>
              </a:rPr>
              <a:t>定理</a:t>
            </a:r>
            <a:r>
              <a:rPr lang="zh-CN" altLang="en-US"/>
              <a:t>  </a:t>
            </a:r>
            <a:r>
              <a:rPr lang="zh-CN" altLang="en-US">
                <a:solidFill>
                  <a:srgbClr val="0000FF"/>
                </a:solidFill>
              </a:rPr>
              <a:t>泊松过程的定义</a:t>
            </a:r>
            <a:r>
              <a:rPr lang="en-US" altLang="zh-CN">
                <a:solidFill>
                  <a:srgbClr val="0000FF"/>
                </a:solidFill>
              </a:rPr>
              <a:t>1</a:t>
            </a:r>
            <a:r>
              <a:rPr lang="zh-CN" altLang="en-US">
                <a:solidFill>
                  <a:srgbClr val="0000FF"/>
                </a:solidFill>
              </a:rPr>
              <a:t>与定义</a:t>
            </a:r>
            <a:r>
              <a:rPr lang="en-US" altLang="zh-CN">
                <a:solidFill>
                  <a:srgbClr val="0000FF"/>
                </a:solidFill>
              </a:rPr>
              <a:t>2</a:t>
            </a:r>
            <a:r>
              <a:rPr lang="zh-CN" altLang="en-US">
                <a:solidFill>
                  <a:srgbClr val="0000FF"/>
                </a:solidFill>
              </a:rPr>
              <a:t>是等价的。</a:t>
            </a:r>
          </a:p>
        </p:txBody>
      </p:sp>
      <p:sp>
        <p:nvSpPr>
          <p:cNvPr id="293892" name="Rectangle 4">
            <a:extLst>
              <a:ext uri="{FF2B5EF4-FFF2-40B4-BE49-F238E27FC236}">
                <a16:creationId xmlns:a16="http://schemas.microsoft.com/office/drawing/2014/main" id="{B18490A4-23E0-62D8-47C2-CE401C1DFB9D}"/>
              </a:ext>
            </a:extLst>
          </p:cNvPr>
          <p:cNvSpPr>
            <a:spLocks noChangeArrowheads="1"/>
          </p:cNvSpPr>
          <p:nvPr/>
        </p:nvSpPr>
        <p:spPr bwMode="auto">
          <a:xfrm>
            <a:off x="774700" y="1509846"/>
            <a:ext cx="8440202" cy="113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Tx/>
              <a:buFontTx/>
              <a:buNone/>
            </a:pPr>
            <a:r>
              <a:rPr lang="zh-CN" altLang="en-US" sz="2400" dirty="0">
                <a:solidFill>
                  <a:srgbClr val="CC00CC"/>
                </a:solidFill>
                <a:latin typeface="+mn-ea"/>
                <a:ea typeface="+mn-ea"/>
              </a:rPr>
              <a:t>证明</a:t>
            </a:r>
            <a:r>
              <a:rPr lang="zh-CN" altLang="en-US" sz="2400" dirty="0">
                <a:latin typeface="+mn-ea"/>
                <a:ea typeface="+mn-ea"/>
              </a:rPr>
              <a:t>  </a:t>
            </a:r>
            <a:r>
              <a:rPr lang="en-US" altLang="zh-CN" sz="2400" dirty="0">
                <a:solidFill>
                  <a:srgbClr val="0000FF"/>
                </a:solidFill>
                <a:latin typeface="+mn-ea"/>
                <a:ea typeface="+mn-ea"/>
              </a:rPr>
              <a:t>1</a:t>
            </a:r>
            <a:r>
              <a:rPr lang="en-US" altLang="zh-CN" sz="2400" dirty="0">
                <a:solidFill>
                  <a:srgbClr val="0000FF"/>
                </a:solidFill>
                <a:latin typeface="+mn-ea"/>
                <a:ea typeface="+mn-ea"/>
                <a:sym typeface="Symbol" panose="05050102010706020507" pitchFamily="18" charset="2"/>
              </a:rPr>
              <a:t></a:t>
            </a:r>
            <a:r>
              <a:rPr lang="en-US" altLang="zh-CN" sz="2400" dirty="0">
                <a:solidFill>
                  <a:srgbClr val="0000FF"/>
                </a:solidFill>
                <a:latin typeface="+mn-ea"/>
                <a:ea typeface="+mn-ea"/>
              </a:rPr>
              <a:t>2</a:t>
            </a:r>
            <a:r>
              <a:rPr lang="zh-CN" altLang="en-US" sz="2400" dirty="0">
                <a:solidFill>
                  <a:srgbClr val="0000FF"/>
                </a:solidFill>
                <a:latin typeface="+mn-ea"/>
                <a:ea typeface="+mn-ea"/>
              </a:rPr>
              <a:t>：</a:t>
            </a:r>
            <a:r>
              <a:rPr lang="zh-CN" altLang="en-US" sz="2400" dirty="0">
                <a:latin typeface="+mn-ea"/>
                <a:ea typeface="+mn-ea"/>
              </a:rPr>
              <a:t>条件</a:t>
            </a:r>
            <a:r>
              <a:rPr lang="en-US" altLang="zh-CN" sz="2400" dirty="0">
                <a:latin typeface="+mn-ea"/>
                <a:ea typeface="+mn-ea"/>
              </a:rPr>
              <a:t>a)</a:t>
            </a:r>
            <a:r>
              <a:rPr lang="zh-CN" altLang="en-US" sz="2400" dirty="0">
                <a:latin typeface="+mn-ea"/>
                <a:ea typeface="+mn-ea"/>
              </a:rPr>
              <a:t>与</a:t>
            </a:r>
            <a:r>
              <a:rPr lang="en-US" altLang="zh-CN" sz="2400" dirty="0">
                <a:latin typeface="+mn-ea"/>
                <a:ea typeface="+mn-ea"/>
              </a:rPr>
              <a:t>1)</a:t>
            </a:r>
            <a:r>
              <a:rPr lang="zh-CN" altLang="en-US" sz="2400" dirty="0">
                <a:latin typeface="+mn-ea"/>
                <a:ea typeface="+mn-ea"/>
              </a:rPr>
              <a:t>相同。条件</a:t>
            </a:r>
            <a:r>
              <a:rPr lang="en-US" altLang="zh-CN" sz="2400" dirty="0">
                <a:latin typeface="+mn-ea"/>
                <a:ea typeface="+mn-ea"/>
              </a:rPr>
              <a:t>b)</a:t>
            </a:r>
            <a:r>
              <a:rPr lang="zh-CN" altLang="en-US" sz="2400" dirty="0">
                <a:latin typeface="+mn-ea"/>
                <a:ea typeface="+mn-ea"/>
              </a:rPr>
              <a:t>可由</a:t>
            </a:r>
            <a:r>
              <a:rPr lang="en-US" altLang="zh-CN" sz="2400" dirty="0">
                <a:latin typeface="+mn-ea"/>
                <a:ea typeface="+mn-ea"/>
              </a:rPr>
              <a:t>2)</a:t>
            </a:r>
            <a:r>
              <a:rPr lang="zh-CN" altLang="en-US" sz="2400" dirty="0">
                <a:latin typeface="+mn-ea"/>
                <a:ea typeface="+mn-ea"/>
              </a:rPr>
              <a:t>和</a:t>
            </a:r>
            <a:r>
              <a:rPr lang="en-US" altLang="zh-CN" sz="2400" dirty="0">
                <a:latin typeface="+mn-ea"/>
                <a:ea typeface="+mn-ea"/>
              </a:rPr>
              <a:t>3)</a:t>
            </a:r>
            <a:r>
              <a:rPr lang="zh-CN" altLang="en-US" sz="2400" dirty="0">
                <a:latin typeface="+mn-ea"/>
                <a:ea typeface="+mn-ea"/>
              </a:rPr>
              <a:t>直接得到。</a:t>
            </a:r>
          </a:p>
          <a:p>
            <a:pPr eaLnBrk="1" hangingPunct="1">
              <a:lnSpc>
                <a:spcPct val="150000"/>
              </a:lnSpc>
              <a:buClrTx/>
              <a:buFontTx/>
              <a:buNone/>
            </a:pPr>
            <a:r>
              <a:rPr lang="zh-CN" altLang="en-US" sz="2400" dirty="0">
                <a:latin typeface="+mn-ea"/>
                <a:ea typeface="+mn-ea"/>
              </a:rPr>
              <a:t>      </a:t>
            </a:r>
            <a:r>
              <a:rPr lang="en-US" altLang="zh-CN" sz="2400" dirty="0">
                <a:latin typeface="+mn-ea"/>
                <a:ea typeface="+mn-ea"/>
              </a:rPr>
              <a:t>P{N(h)=1}</a:t>
            </a:r>
            <a:r>
              <a:rPr lang="zh-CN" altLang="en-US" sz="2400" dirty="0">
                <a:latin typeface="+mn-ea"/>
                <a:ea typeface="+mn-ea"/>
              </a:rPr>
              <a:t>＝</a:t>
            </a:r>
            <a:r>
              <a:rPr lang="en-US" altLang="zh-CN" sz="2400" dirty="0">
                <a:latin typeface="+mn-ea"/>
                <a:ea typeface="+mn-ea"/>
              </a:rPr>
              <a:t>P{N(h)-N(0)=1}</a:t>
            </a:r>
            <a:r>
              <a:rPr lang="zh-CN" altLang="en-US" sz="2400" dirty="0">
                <a:latin typeface="+mn-ea"/>
                <a:ea typeface="+mn-ea"/>
              </a:rPr>
              <a:t>＝</a:t>
            </a:r>
            <a:endParaRPr lang="zh-CN" altLang="en-US" sz="2400" dirty="0">
              <a:latin typeface="+mn-ea"/>
              <a:ea typeface="+mn-ea"/>
              <a:sym typeface="Symbol" panose="05050102010706020507" pitchFamily="18" charset="2"/>
            </a:endParaRPr>
          </a:p>
        </p:txBody>
      </p:sp>
      <p:graphicFrame>
        <p:nvGraphicFramePr>
          <p:cNvPr id="293893" name="Object 5">
            <a:extLst>
              <a:ext uri="{FF2B5EF4-FFF2-40B4-BE49-F238E27FC236}">
                <a16:creationId xmlns:a16="http://schemas.microsoft.com/office/drawing/2014/main" id="{EC5B09D8-29CB-35FB-B1CC-1F05ACAC37C4}"/>
              </a:ext>
            </a:extLst>
          </p:cNvPr>
          <p:cNvGraphicFramePr>
            <a:graphicFrameLocks noChangeAspect="1"/>
          </p:cNvGraphicFramePr>
          <p:nvPr>
            <p:extLst>
              <p:ext uri="{D42A27DB-BD31-4B8C-83A1-F6EECF244321}">
                <p14:modId xmlns:p14="http://schemas.microsoft.com/office/powerpoint/2010/main" val="2247741650"/>
              </p:ext>
            </p:extLst>
          </p:nvPr>
        </p:nvGraphicFramePr>
        <p:xfrm>
          <a:off x="5862762" y="2156012"/>
          <a:ext cx="1282997" cy="871739"/>
        </p:xfrm>
        <a:graphic>
          <a:graphicData uri="http://schemas.openxmlformats.org/presentationml/2006/ole">
            <mc:AlternateContent xmlns:mc="http://schemas.openxmlformats.org/markup-compatibility/2006">
              <mc:Choice xmlns:v="urn:schemas-microsoft-com:vml" Requires="v">
                <p:oleObj name="Equation" r:id="rId4" imgW="596641" imgH="406224" progId="Equation.3">
                  <p:embed/>
                </p:oleObj>
              </mc:Choice>
              <mc:Fallback>
                <p:oleObj name="Equation" r:id="rId4" imgW="596641" imgH="406224" progId="Equation.3">
                  <p:embed/>
                  <p:pic>
                    <p:nvPicPr>
                      <p:cNvPr id="293893" name="Object 5">
                        <a:extLst>
                          <a:ext uri="{FF2B5EF4-FFF2-40B4-BE49-F238E27FC236}">
                            <a16:creationId xmlns:a16="http://schemas.microsoft.com/office/drawing/2014/main" id="{EC5B09D8-29CB-35FB-B1CC-1F05ACAC37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2762" y="2156012"/>
                        <a:ext cx="1282997" cy="87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3894" name="Object 6">
            <a:extLst>
              <a:ext uri="{FF2B5EF4-FFF2-40B4-BE49-F238E27FC236}">
                <a16:creationId xmlns:a16="http://schemas.microsoft.com/office/drawing/2014/main" id="{B2740D70-2BE5-A2E4-51C5-7DE749539D8C}"/>
              </a:ext>
            </a:extLst>
          </p:cNvPr>
          <p:cNvGraphicFramePr>
            <a:graphicFrameLocks noChangeAspect="1"/>
          </p:cNvGraphicFramePr>
          <p:nvPr>
            <p:extLst>
              <p:ext uri="{D42A27DB-BD31-4B8C-83A1-F6EECF244321}">
                <p14:modId xmlns:p14="http://schemas.microsoft.com/office/powerpoint/2010/main" val="2729870537"/>
              </p:ext>
            </p:extLst>
          </p:nvPr>
        </p:nvGraphicFramePr>
        <p:xfrm>
          <a:off x="2212254" y="4289701"/>
          <a:ext cx="3650508" cy="911436"/>
        </p:xfrm>
        <a:graphic>
          <a:graphicData uri="http://schemas.openxmlformats.org/presentationml/2006/ole">
            <mc:AlternateContent xmlns:mc="http://schemas.openxmlformats.org/markup-compatibility/2006">
              <mc:Choice xmlns:v="urn:schemas-microsoft-com:vml" Requires="v">
                <p:oleObj name="Equation" r:id="rId6" imgW="1777229" imgH="444307" progId="Equation.3">
                  <p:embed/>
                </p:oleObj>
              </mc:Choice>
              <mc:Fallback>
                <p:oleObj name="Equation" r:id="rId6" imgW="1777229" imgH="444307" progId="Equation.3">
                  <p:embed/>
                  <p:pic>
                    <p:nvPicPr>
                      <p:cNvPr id="293894" name="Object 6">
                        <a:extLst>
                          <a:ext uri="{FF2B5EF4-FFF2-40B4-BE49-F238E27FC236}">
                            <a16:creationId xmlns:a16="http://schemas.microsoft.com/office/drawing/2014/main" id="{B2740D70-2BE5-A2E4-51C5-7DE749539D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2254" y="4289701"/>
                        <a:ext cx="3650508" cy="911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3895" name="Object 7">
            <a:extLst>
              <a:ext uri="{FF2B5EF4-FFF2-40B4-BE49-F238E27FC236}">
                <a16:creationId xmlns:a16="http://schemas.microsoft.com/office/drawing/2014/main" id="{DE12A571-FDC2-E8D9-B79B-AB43B08A2EC5}"/>
              </a:ext>
            </a:extLst>
          </p:cNvPr>
          <p:cNvGraphicFramePr>
            <a:graphicFrameLocks noChangeAspect="1"/>
          </p:cNvGraphicFramePr>
          <p:nvPr>
            <p:extLst>
              <p:ext uri="{D42A27DB-BD31-4B8C-83A1-F6EECF244321}">
                <p14:modId xmlns:p14="http://schemas.microsoft.com/office/powerpoint/2010/main" val="1141771415"/>
              </p:ext>
            </p:extLst>
          </p:nvPr>
        </p:nvGraphicFramePr>
        <p:xfrm>
          <a:off x="1907383" y="5226543"/>
          <a:ext cx="4668330" cy="947957"/>
        </p:xfrm>
        <a:graphic>
          <a:graphicData uri="http://schemas.openxmlformats.org/presentationml/2006/ole">
            <mc:AlternateContent xmlns:mc="http://schemas.openxmlformats.org/markup-compatibility/2006">
              <mc:Choice xmlns:v="urn:schemas-microsoft-com:vml" Requires="v">
                <p:oleObj name="Equation" r:id="rId8" imgW="2374900" imgH="482600" progId="Equation.3">
                  <p:embed/>
                </p:oleObj>
              </mc:Choice>
              <mc:Fallback>
                <p:oleObj name="Equation" r:id="rId8" imgW="2374900" imgH="482600" progId="Equation.3">
                  <p:embed/>
                  <p:pic>
                    <p:nvPicPr>
                      <p:cNvPr id="293895" name="Object 7">
                        <a:extLst>
                          <a:ext uri="{FF2B5EF4-FFF2-40B4-BE49-F238E27FC236}">
                            <a16:creationId xmlns:a16="http://schemas.microsoft.com/office/drawing/2014/main" id="{DE12A571-FDC2-E8D9-B79B-AB43B08A2EC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7383" y="5226543"/>
                        <a:ext cx="4668330" cy="947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3896" name="Rectangle 8">
            <a:extLst>
              <a:ext uri="{FF2B5EF4-FFF2-40B4-BE49-F238E27FC236}">
                <a16:creationId xmlns:a16="http://schemas.microsoft.com/office/drawing/2014/main" id="{50FD1AA4-B02E-9A2D-3B49-F6C9CEBF038F}"/>
              </a:ext>
            </a:extLst>
          </p:cNvPr>
          <p:cNvSpPr>
            <a:spLocks noChangeArrowheads="1"/>
          </p:cNvSpPr>
          <p:nvPr/>
        </p:nvSpPr>
        <p:spPr bwMode="auto">
          <a:xfrm>
            <a:off x="993775" y="6276331"/>
            <a:ext cx="10775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00000"/>
              </a:lnSpc>
              <a:buClrTx/>
              <a:buFontTx/>
              <a:buNone/>
            </a:pPr>
            <a:r>
              <a:rPr lang="zh-CN" altLang="en-US" sz="2400">
                <a:sym typeface="Symbol" panose="05050102010706020507" pitchFamily="18" charset="2"/>
              </a:rPr>
              <a:t>即</a:t>
            </a:r>
            <a:r>
              <a:rPr lang="en-US" altLang="zh-CN" sz="2400">
                <a:sym typeface="Symbol" panose="05050102010706020507" pitchFamily="18" charset="2"/>
              </a:rPr>
              <a:t>d)</a:t>
            </a:r>
            <a:r>
              <a:rPr lang="zh-CN" altLang="en-US" sz="2400">
                <a:sym typeface="Symbol" panose="05050102010706020507" pitchFamily="18" charset="2"/>
              </a:rPr>
              <a:t>。</a:t>
            </a:r>
          </a:p>
        </p:txBody>
      </p:sp>
      <p:sp>
        <p:nvSpPr>
          <p:cNvPr id="293897" name="Rectangle 9">
            <a:extLst>
              <a:ext uri="{FF2B5EF4-FFF2-40B4-BE49-F238E27FC236}">
                <a16:creationId xmlns:a16="http://schemas.microsoft.com/office/drawing/2014/main" id="{E0E8595F-41CE-BAE7-4781-B5C03F5A662E}"/>
              </a:ext>
            </a:extLst>
          </p:cNvPr>
          <p:cNvSpPr>
            <a:spLocks noChangeArrowheads="1"/>
          </p:cNvSpPr>
          <p:nvPr/>
        </p:nvSpPr>
        <p:spPr bwMode="auto">
          <a:xfrm>
            <a:off x="2746375" y="3022621"/>
            <a:ext cx="8229600" cy="936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spcBef>
                <a:spcPct val="20000"/>
              </a:spcBef>
              <a:buClrTx/>
              <a:buFontTx/>
              <a:buNone/>
            </a:pPr>
            <a:r>
              <a:rPr lang="en-US" altLang="zh-CN" sz="2400" dirty="0">
                <a:latin typeface="+mn-ea"/>
                <a:ea typeface="+mn-ea"/>
              </a:rPr>
              <a:t>  </a:t>
            </a:r>
            <a:r>
              <a:rPr lang="zh-CN" altLang="en-US" sz="2400" dirty="0">
                <a:latin typeface="+mn-ea"/>
                <a:ea typeface="+mn-ea"/>
              </a:rPr>
              <a:t>＝</a:t>
            </a:r>
            <a:r>
              <a:rPr lang="zh-CN" altLang="en-US" sz="2400" dirty="0">
                <a:latin typeface="+mn-ea"/>
                <a:ea typeface="+mn-ea"/>
                <a:sym typeface="Symbol" panose="05050102010706020507" pitchFamily="18" charset="2"/>
              </a:rPr>
              <a:t></a:t>
            </a:r>
            <a:r>
              <a:rPr lang="en-US" altLang="zh-CN" sz="2400" dirty="0">
                <a:latin typeface="+mn-ea"/>
                <a:ea typeface="+mn-ea"/>
                <a:sym typeface="Symbol" panose="05050102010706020507" pitchFamily="18" charset="2"/>
              </a:rPr>
              <a:t>h[1-</a:t>
            </a:r>
            <a:r>
              <a:rPr lang="en-US" altLang="zh-CN" sz="2400" dirty="0" err="1">
                <a:latin typeface="+mn-ea"/>
                <a:ea typeface="+mn-ea"/>
                <a:sym typeface="Symbol" panose="05050102010706020507" pitchFamily="18" charset="2"/>
              </a:rPr>
              <a:t>h+o</a:t>
            </a:r>
            <a:r>
              <a:rPr lang="en-US" altLang="zh-CN" sz="2400" dirty="0">
                <a:latin typeface="+mn-ea"/>
                <a:ea typeface="+mn-ea"/>
                <a:sym typeface="Symbol" panose="05050102010706020507" pitchFamily="18" charset="2"/>
              </a:rPr>
              <a:t>(h)]</a:t>
            </a:r>
            <a:r>
              <a:rPr lang="zh-CN" altLang="en-US" sz="2400" dirty="0">
                <a:latin typeface="+mn-ea"/>
                <a:ea typeface="+mn-ea"/>
              </a:rPr>
              <a:t>＝</a:t>
            </a:r>
            <a:r>
              <a:rPr lang="zh-CN" altLang="en-US" sz="2400" dirty="0">
                <a:latin typeface="+mn-ea"/>
                <a:ea typeface="+mn-ea"/>
                <a:sym typeface="Symbol" panose="05050102010706020507" pitchFamily="18" charset="2"/>
              </a:rPr>
              <a:t></a:t>
            </a:r>
            <a:r>
              <a:rPr lang="en-US" altLang="zh-CN" sz="2400" dirty="0" err="1">
                <a:latin typeface="+mn-ea"/>
                <a:ea typeface="+mn-ea"/>
                <a:sym typeface="Symbol" panose="05050102010706020507" pitchFamily="18" charset="2"/>
              </a:rPr>
              <a:t>h+o</a:t>
            </a:r>
            <a:r>
              <a:rPr lang="en-US" altLang="zh-CN" sz="2400" dirty="0">
                <a:latin typeface="+mn-ea"/>
                <a:ea typeface="+mn-ea"/>
                <a:sym typeface="Symbol" panose="05050102010706020507" pitchFamily="18" charset="2"/>
              </a:rPr>
              <a:t>(h)</a:t>
            </a:r>
          </a:p>
          <a:p>
            <a:pPr eaLnBrk="1" hangingPunct="1">
              <a:buClrTx/>
              <a:buFontTx/>
              <a:buNone/>
            </a:pPr>
            <a:r>
              <a:rPr lang="zh-CN" altLang="en-US" sz="2400" dirty="0">
                <a:latin typeface="+mn-ea"/>
                <a:ea typeface="+mn-ea"/>
                <a:sym typeface="Symbol" panose="05050102010706020507" pitchFamily="18" charset="2"/>
              </a:rPr>
              <a:t>即</a:t>
            </a:r>
            <a:r>
              <a:rPr lang="en-US" altLang="zh-CN" sz="2400" dirty="0">
                <a:latin typeface="+mn-ea"/>
                <a:ea typeface="+mn-ea"/>
                <a:sym typeface="Symbol" panose="05050102010706020507" pitchFamily="18" charset="2"/>
              </a:rPr>
              <a:t>c)</a:t>
            </a:r>
            <a:r>
              <a:rPr lang="zh-CN" altLang="en-US" sz="2400" dirty="0">
                <a:latin typeface="+mn-ea"/>
                <a:ea typeface="+mn-ea"/>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3892">
                                            <p:txEl>
                                              <p:pRg st="0" end="0"/>
                                            </p:txEl>
                                          </p:spTgt>
                                        </p:tgtEl>
                                        <p:attrNameLst>
                                          <p:attrName>style.visibility</p:attrName>
                                        </p:attrNameLst>
                                      </p:cBhvr>
                                      <p:to>
                                        <p:strVal val="visible"/>
                                      </p:to>
                                    </p:set>
                                    <p:anim calcmode="lin" valueType="num">
                                      <p:cBhvr additive="base">
                                        <p:cTn id="7" dur="500" fill="hold"/>
                                        <p:tgtEl>
                                          <p:spTgt spid="29389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38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randombar(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5"/>
                                        </p:tgtEl>
                                      </p:cBhvr>
                                    </p:animEffect>
                                    <p:set>
                                      <p:cBhvr>
                                        <p:cTn id="23" dur="1" fill="hold">
                                          <p:stCondLst>
                                            <p:cond delay="499"/>
                                          </p:stCondLst>
                                        </p:cTn>
                                        <p:tgtEl>
                                          <p:spTgt spid="5"/>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2"/>
                                        </p:tgtEl>
                                      </p:cBhvr>
                                    </p:animEffect>
                                    <p:set>
                                      <p:cBhvr>
                                        <p:cTn id="28" dur="1" fill="hold">
                                          <p:stCondLst>
                                            <p:cond delay="499"/>
                                          </p:stCondLst>
                                        </p:cTn>
                                        <p:tgtEl>
                                          <p:spTgt spid="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93892">
                                            <p:txEl>
                                              <p:pRg st="1" end="1"/>
                                            </p:txEl>
                                          </p:spTgt>
                                        </p:tgtEl>
                                        <p:attrNameLst>
                                          <p:attrName>style.visibility</p:attrName>
                                        </p:attrNameLst>
                                      </p:cBhvr>
                                      <p:to>
                                        <p:strVal val="visible"/>
                                      </p:to>
                                    </p:set>
                                    <p:anim calcmode="lin" valueType="num">
                                      <p:cBhvr additive="base">
                                        <p:cTn id="33" dur="500" fill="hold"/>
                                        <p:tgtEl>
                                          <p:spTgt spid="293892">
                                            <p:txEl>
                                              <p:pRg st="1" end="1"/>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9389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293893"/>
                                        </p:tgtEl>
                                        <p:attrNameLst>
                                          <p:attrName>style.visibility</p:attrName>
                                        </p:attrNameLst>
                                      </p:cBhvr>
                                      <p:to>
                                        <p:strVal val="visible"/>
                                      </p:to>
                                    </p:set>
                                    <p:anim calcmode="lin" valueType="num">
                                      <p:cBhvr additive="base">
                                        <p:cTn id="39" dur="500" fill="hold"/>
                                        <p:tgtEl>
                                          <p:spTgt spid="293893"/>
                                        </p:tgtEl>
                                        <p:attrNameLst>
                                          <p:attrName>ppt_x</p:attrName>
                                        </p:attrNameLst>
                                      </p:cBhvr>
                                      <p:tavLst>
                                        <p:tav tm="0">
                                          <p:val>
                                            <p:strVal val="0-#ppt_w/2"/>
                                          </p:val>
                                        </p:tav>
                                        <p:tav tm="100000">
                                          <p:val>
                                            <p:strVal val="#ppt_x"/>
                                          </p:val>
                                        </p:tav>
                                      </p:tavLst>
                                    </p:anim>
                                    <p:anim calcmode="lin" valueType="num">
                                      <p:cBhvr additive="base">
                                        <p:cTn id="40" dur="500" fill="hold"/>
                                        <p:tgtEl>
                                          <p:spTgt spid="293893"/>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293897"/>
                                        </p:tgtEl>
                                        <p:attrNameLst>
                                          <p:attrName>style.visibility</p:attrName>
                                        </p:attrNameLst>
                                      </p:cBhvr>
                                      <p:to>
                                        <p:strVal val="visible"/>
                                      </p:to>
                                    </p:set>
                                    <p:anim calcmode="lin" valueType="num">
                                      <p:cBhvr additive="base">
                                        <p:cTn id="45" dur="500" fill="hold"/>
                                        <p:tgtEl>
                                          <p:spTgt spid="293897"/>
                                        </p:tgtEl>
                                        <p:attrNameLst>
                                          <p:attrName>ppt_x</p:attrName>
                                        </p:attrNameLst>
                                      </p:cBhvr>
                                      <p:tavLst>
                                        <p:tav tm="0">
                                          <p:val>
                                            <p:strVal val="0-#ppt_w/2"/>
                                          </p:val>
                                        </p:tav>
                                        <p:tav tm="100000">
                                          <p:val>
                                            <p:strVal val="#ppt_x"/>
                                          </p:val>
                                        </p:tav>
                                      </p:tavLst>
                                    </p:anim>
                                    <p:anim calcmode="lin" valueType="num">
                                      <p:cBhvr additive="base">
                                        <p:cTn id="46" dur="500" fill="hold"/>
                                        <p:tgtEl>
                                          <p:spTgt spid="293897"/>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293894"/>
                                        </p:tgtEl>
                                        <p:attrNameLst>
                                          <p:attrName>style.visibility</p:attrName>
                                        </p:attrNameLst>
                                      </p:cBhvr>
                                      <p:to>
                                        <p:strVal val="visible"/>
                                      </p:to>
                                    </p:set>
                                    <p:anim calcmode="lin" valueType="num">
                                      <p:cBhvr additive="base">
                                        <p:cTn id="51" dur="500" fill="hold"/>
                                        <p:tgtEl>
                                          <p:spTgt spid="293894"/>
                                        </p:tgtEl>
                                        <p:attrNameLst>
                                          <p:attrName>ppt_x</p:attrName>
                                        </p:attrNameLst>
                                      </p:cBhvr>
                                      <p:tavLst>
                                        <p:tav tm="0">
                                          <p:val>
                                            <p:strVal val="0-#ppt_w/2"/>
                                          </p:val>
                                        </p:tav>
                                        <p:tav tm="100000">
                                          <p:val>
                                            <p:strVal val="#ppt_x"/>
                                          </p:val>
                                        </p:tav>
                                      </p:tavLst>
                                    </p:anim>
                                    <p:anim calcmode="lin" valueType="num">
                                      <p:cBhvr additive="base">
                                        <p:cTn id="52" dur="500" fill="hold"/>
                                        <p:tgtEl>
                                          <p:spTgt spid="293894"/>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293895"/>
                                        </p:tgtEl>
                                        <p:attrNameLst>
                                          <p:attrName>style.visibility</p:attrName>
                                        </p:attrNameLst>
                                      </p:cBhvr>
                                      <p:to>
                                        <p:strVal val="visible"/>
                                      </p:to>
                                    </p:set>
                                    <p:anim calcmode="lin" valueType="num">
                                      <p:cBhvr additive="base">
                                        <p:cTn id="57" dur="500" fill="hold"/>
                                        <p:tgtEl>
                                          <p:spTgt spid="293895"/>
                                        </p:tgtEl>
                                        <p:attrNameLst>
                                          <p:attrName>ppt_x</p:attrName>
                                        </p:attrNameLst>
                                      </p:cBhvr>
                                      <p:tavLst>
                                        <p:tav tm="0">
                                          <p:val>
                                            <p:strVal val="0-#ppt_w/2"/>
                                          </p:val>
                                        </p:tav>
                                        <p:tav tm="100000">
                                          <p:val>
                                            <p:strVal val="#ppt_x"/>
                                          </p:val>
                                        </p:tav>
                                      </p:tavLst>
                                    </p:anim>
                                    <p:anim calcmode="lin" valueType="num">
                                      <p:cBhvr additive="base">
                                        <p:cTn id="58" dur="500" fill="hold"/>
                                        <p:tgtEl>
                                          <p:spTgt spid="293895"/>
                                        </p:tgtEl>
                                        <p:attrNameLst>
                                          <p:attrName>ppt_y</p:attrName>
                                        </p:attrNameLst>
                                      </p:cBhvr>
                                      <p:tavLst>
                                        <p:tav tm="0">
                                          <p:val>
                                            <p:strVal val="#ppt_y"/>
                                          </p:val>
                                        </p:tav>
                                        <p:tav tm="100000">
                                          <p:val>
                                            <p:strVal val="#ppt_y"/>
                                          </p:val>
                                        </p:tav>
                                      </p:tavLst>
                                    </p:anim>
                                  </p:childTnLst>
                                </p:cTn>
                              </p:par>
                            </p:childTnLst>
                          </p:cTn>
                        </p:par>
                        <p:par>
                          <p:cTn id="59" fill="hold">
                            <p:stCondLst>
                              <p:cond delay="500"/>
                            </p:stCondLst>
                            <p:childTnLst>
                              <p:par>
                                <p:cTn id="60" presetID="2" presetClass="entr" presetSubtype="8" fill="hold" grpId="0" nodeType="afterEffect">
                                  <p:stCondLst>
                                    <p:cond delay="0"/>
                                  </p:stCondLst>
                                  <p:childTnLst>
                                    <p:set>
                                      <p:cBhvr>
                                        <p:cTn id="61" dur="1" fill="hold">
                                          <p:stCondLst>
                                            <p:cond delay="0"/>
                                          </p:stCondLst>
                                        </p:cTn>
                                        <p:tgtEl>
                                          <p:spTgt spid="293896"/>
                                        </p:tgtEl>
                                        <p:attrNameLst>
                                          <p:attrName>style.visibility</p:attrName>
                                        </p:attrNameLst>
                                      </p:cBhvr>
                                      <p:to>
                                        <p:strVal val="visible"/>
                                      </p:to>
                                    </p:set>
                                    <p:anim calcmode="lin" valueType="num">
                                      <p:cBhvr additive="base">
                                        <p:cTn id="62" dur="500" fill="hold"/>
                                        <p:tgtEl>
                                          <p:spTgt spid="293896"/>
                                        </p:tgtEl>
                                        <p:attrNameLst>
                                          <p:attrName>ppt_x</p:attrName>
                                        </p:attrNameLst>
                                      </p:cBhvr>
                                      <p:tavLst>
                                        <p:tav tm="0">
                                          <p:val>
                                            <p:strVal val="0-#ppt_w/2"/>
                                          </p:val>
                                        </p:tav>
                                        <p:tav tm="100000">
                                          <p:val>
                                            <p:strVal val="#ppt_x"/>
                                          </p:val>
                                        </p:tav>
                                      </p:tavLst>
                                    </p:anim>
                                    <p:anim calcmode="lin" valueType="num">
                                      <p:cBhvr additive="base">
                                        <p:cTn id="63" dur="500" fill="hold"/>
                                        <p:tgtEl>
                                          <p:spTgt spid="2938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93892" grpId="0" uiExpand="1" build="p" autoUpdateAnimBg="0"/>
      <p:bldP spid="293896" grpId="0" autoUpdateAnimBg="0"/>
      <p:bldP spid="29389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1B2F7A37-E520-8270-5EEC-93B202F4BC46}"/>
              </a:ext>
            </a:extLst>
          </p:cNvPr>
          <p:cNvSpPr>
            <a:spLocks noGrp="1" noChangeArrowheads="1"/>
          </p:cNvSpPr>
          <p:nvPr>
            <p:ph type="title"/>
          </p:nvPr>
        </p:nvSpPr>
        <p:spPr/>
        <p:txBody>
          <a:bodyPr/>
          <a:lstStyle/>
          <a:p>
            <a:pPr algn="l"/>
            <a:r>
              <a:rPr lang="zh-CN" altLang="en-US"/>
              <a:t>证明</a:t>
            </a:r>
          </a:p>
        </p:txBody>
      </p:sp>
      <p:sp>
        <p:nvSpPr>
          <p:cNvPr id="3" name="内容占位符 2">
            <a:extLst>
              <a:ext uri="{FF2B5EF4-FFF2-40B4-BE49-F238E27FC236}">
                <a16:creationId xmlns:a16="http://schemas.microsoft.com/office/drawing/2014/main" id="{2EF3E993-950A-36F9-423C-5819F6A5E504}"/>
              </a:ext>
            </a:extLst>
          </p:cNvPr>
          <p:cNvSpPr>
            <a:spLocks noGrp="1" noChangeArrowheads="1"/>
          </p:cNvSpPr>
          <p:nvPr>
            <p:ph idx="1"/>
          </p:nvPr>
        </p:nvSpPr>
        <p:spPr>
          <a:xfrm>
            <a:off x="713311" y="960077"/>
            <a:ext cx="10963276" cy="1186138"/>
          </a:xfrm>
        </p:spPr>
        <p:txBody>
          <a:bodyPr>
            <a:normAutofit/>
          </a:bodyPr>
          <a:lstStyle/>
          <a:p>
            <a:pPr eaLnBrk="1" hangingPunct="1">
              <a:buFont typeface="Wingdings" panose="05000000000000000000" pitchFamily="2" charset="2"/>
              <a:buNone/>
            </a:pPr>
            <a:r>
              <a:rPr lang="en-US" altLang="zh-CN" dirty="0">
                <a:solidFill>
                  <a:srgbClr val="0000FF"/>
                </a:solidFill>
              </a:rPr>
              <a:t>2</a:t>
            </a:r>
            <a:r>
              <a:rPr lang="en-US" altLang="zh-CN" dirty="0">
                <a:solidFill>
                  <a:srgbClr val="0000FF"/>
                </a:solidFill>
                <a:sym typeface="Symbol" panose="05050102010706020507" pitchFamily="18" charset="2"/>
              </a:rPr>
              <a:t>1</a:t>
            </a:r>
            <a:r>
              <a:rPr lang="zh-CN" altLang="en-US" dirty="0">
                <a:solidFill>
                  <a:srgbClr val="0000FF"/>
                </a:solidFill>
              </a:rPr>
              <a:t>：</a:t>
            </a:r>
            <a:r>
              <a:rPr lang="zh-CN" altLang="en-US" dirty="0">
                <a:solidFill>
                  <a:srgbClr val="000000"/>
                </a:solidFill>
              </a:rPr>
              <a:t>条件</a:t>
            </a:r>
            <a:r>
              <a:rPr lang="en-US" altLang="zh-CN" dirty="0">
                <a:solidFill>
                  <a:srgbClr val="000000"/>
                </a:solidFill>
              </a:rPr>
              <a:t>1)</a:t>
            </a:r>
            <a:r>
              <a:rPr lang="zh-CN" altLang="en-US" dirty="0">
                <a:solidFill>
                  <a:srgbClr val="000000"/>
                </a:solidFill>
              </a:rPr>
              <a:t>与</a:t>
            </a:r>
            <a:r>
              <a:rPr lang="en-US" altLang="zh-CN" dirty="0">
                <a:solidFill>
                  <a:srgbClr val="000000"/>
                </a:solidFill>
              </a:rPr>
              <a:t>a)</a:t>
            </a:r>
            <a:r>
              <a:rPr lang="zh-CN" altLang="en-US" dirty="0">
                <a:solidFill>
                  <a:srgbClr val="000000"/>
                </a:solidFill>
              </a:rPr>
              <a:t>相同。条件</a:t>
            </a:r>
            <a:r>
              <a:rPr lang="en-US" altLang="zh-CN" dirty="0">
                <a:solidFill>
                  <a:srgbClr val="000000"/>
                </a:solidFill>
              </a:rPr>
              <a:t>2)</a:t>
            </a:r>
            <a:r>
              <a:rPr lang="zh-CN" altLang="en-US" dirty="0">
                <a:solidFill>
                  <a:srgbClr val="000000"/>
                </a:solidFill>
              </a:rPr>
              <a:t>由</a:t>
            </a:r>
            <a:r>
              <a:rPr lang="en-US" altLang="zh-CN" dirty="0">
                <a:solidFill>
                  <a:srgbClr val="000000"/>
                </a:solidFill>
              </a:rPr>
              <a:t>b)</a:t>
            </a:r>
            <a:r>
              <a:rPr lang="zh-CN" altLang="en-US" dirty="0">
                <a:solidFill>
                  <a:srgbClr val="000000"/>
                </a:solidFill>
              </a:rPr>
              <a:t>直接得到。只要证明：</a:t>
            </a:r>
            <a:r>
              <a:rPr lang="en-US" altLang="zh-CN" dirty="0">
                <a:solidFill>
                  <a:srgbClr val="000000"/>
                </a:solidFill>
              </a:rPr>
              <a:t>N(t)(t</a:t>
            </a:r>
            <a:r>
              <a:rPr lang="en-US" altLang="zh-CN" dirty="0">
                <a:solidFill>
                  <a:srgbClr val="000000"/>
                </a:solidFill>
                <a:sym typeface="Symbol" panose="05050102010706020507" pitchFamily="18" charset="2"/>
              </a:rPr>
              <a:t>0</a:t>
            </a:r>
            <a:r>
              <a:rPr lang="en-US" altLang="zh-CN" dirty="0">
                <a:solidFill>
                  <a:srgbClr val="000000"/>
                </a:solidFill>
              </a:rPr>
              <a:t>)</a:t>
            </a:r>
            <a:r>
              <a:rPr lang="zh-CN" altLang="en-US" dirty="0">
                <a:solidFill>
                  <a:srgbClr val="000000"/>
                </a:solidFill>
                <a:sym typeface="Symbol" panose="05050102010706020507" pitchFamily="18" charset="2"/>
              </a:rPr>
              <a:t>服从参数为</a:t>
            </a:r>
            <a:r>
              <a:rPr lang="en-US" altLang="zh-CN" dirty="0">
                <a:solidFill>
                  <a:srgbClr val="000000"/>
                </a:solidFill>
                <a:sym typeface="Symbol" panose="05050102010706020507" pitchFamily="18" charset="2"/>
              </a:rPr>
              <a:t>t</a:t>
            </a:r>
            <a:r>
              <a:rPr lang="zh-CN" altLang="en-US" dirty="0">
                <a:solidFill>
                  <a:srgbClr val="000000"/>
                </a:solidFill>
                <a:sym typeface="Symbol" panose="05050102010706020507" pitchFamily="18" charset="2"/>
              </a:rPr>
              <a:t>泊松分布。设</a:t>
            </a:r>
            <a:r>
              <a:rPr lang="en-US" altLang="zh-CN" dirty="0">
                <a:solidFill>
                  <a:srgbClr val="000000"/>
                </a:solidFill>
                <a:sym typeface="Symbol" panose="05050102010706020507" pitchFamily="18" charset="2"/>
              </a:rPr>
              <a:t>p</a:t>
            </a:r>
            <a:r>
              <a:rPr lang="en-US" altLang="zh-CN" baseline="-25000" dirty="0">
                <a:solidFill>
                  <a:srgbClr val="000000"/>
                </a:solidFill>
                <a:sym typeface="Symbol" panose="05050102010706020507" pitchFamily="18" charset="2"/>
              </a:rPr>
              <a:t>k</a:t>
            </a:r>
            <a:r>
              <a:rPr lang="en-US" altLang="zh-CN" dirty="0">
                <a:solidFill>
                  <a:srgbClr val="000000"/>
                </a:solidFill>
                <a:sym typeface="Symbol" panose="05050102010706020507" pitchFamily="18" charset="2"/>
              </a:rPr>
              <a:t>(t)</a:t>
            </a:r>
            <a:r>
              <a:rPr lang="zh-CN" altLang="en-US" dirty="0">
                <a:solidFill>
                  <a:srgbClr val="000000"/>
                </a:solidFill>
                <a:sym typeface="Symbol" panose="05050102010706020507" pitchFamily="18" charset="2"/>
              </a:rPr>
              <a:t>＝</a:t>
            </a:r>
            <a:r>
              <a:rPr lang="en-US" altLang="zh-CN" dirty="0">
                <a:solidFill>
                  <a:srgbClr val="000000"/>
                </a:solidFill>
                <a:sym typeface="Symbol" panose="05050102010706020507" pitchFamily="18" charset="2"/>
              </a:rPr>
              <a:t>P{N(t)=k}</a:t>
            </a:r>
            <a:r>
              <a:rPr lang="zh-CN" altLang="en-US" dirty="0">
                <a:solidFill>
                  <a:srgbClr val="000000"/>
                </a:solidFill>
                <a:sym typeface="Symbol" panose="05050102010706020507" pitchFamily="18" charset="2"/>
              </a:rPr>
              <a:t>，利用归纳法证明：</a:t>
            </a:r>
            <a:endParaRPr lang="zh-CN" altLang="en-US" dirty="0"/>
          </a:p>
        </p:txBody>
      </p:sp>
      <p:graphicFrame>
        <p:nvGraphicFramePr>
          <p:cNvPr id="7" name="Object 4">
            <a:extLst>
              <a:ext uri="{FF2B5EF4-FFF2-40B4-BE49-F238E27FC236}">
                <a16:creationId xmlns:a16="http://schemas.microsoft.com/office/drawing/2014/main" id="{3B9426F5-7FAB-401A-03A1-CBAA56B29F5B}"/>
              </a:ext>
            </a:extLst>
          </p:cNvPr>
          <p:cNvGraphicFramePr>
            <a:graphicFrameLocks noChangeAspect="1"/>
          </p:cNvGraphicFramePr>
          <p:nvPr>
            <p:extLst>
              <p:ext uri="{D42A27DB-BD31-4B8C-83A1-F6EECF244321}">
                <p14:modId xmlns:p14="http://schemas.microsoft.com/office/powerpoint/2010/main" val="1380635300"/>
              </p:ext>
            </p:extLst>
          </p:nvPr>
        </p:nvGraphicFramePr>
        <p:xfrm>
          <a:off x="2734134" y="2227963"/>
          <a:ext cx="3734664" cy="820927"/>
        </p:xfrm>
        <a:graphic>
          <a:graphicData uri="http://schemas.openxmlformats.org/presentationml/2006/ole">
            <mc:AlternateContent xmlns:mc="http://schemas.openxmlformats.org/markup-compatibility/2006">
              <mc:Choice xmlns:v="urn:schemas-microsoft-com:vml" Requires="v">
                <p:oleObj name="Equation" r:id="rId2" imgW="1905000" imgH="419100" progId="Equation.3">
                  <p:embed/>
                </p:oleObj>
              </mc:Choice>
              <mc:Fallback>
                <p:oleObj name="Equation" r:id="rId2" imgW="1905000" imgH="419100" progId="Equation.3">
                  <p:embed/>
                  <p:pic>
                    <p:nvPicPr>
                      <p:cNvPr id="7" name="Object 4">
                        <a:extLst>
                          <a:ext uri="{FF2B5EF4-FFF2-40B4-BE49-F238E27FC236}">
                            <a16:creationId xmlns:a16="http://schemas.microsoft.com/office/drawing/2014/main" id="{3B9426F5-7FAB-401A-03A1-CBAA56B29F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4134" y="2227963"/>
                        <a:ext cx="3734664" cy="8209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5">
            <a:extLst>
              <a:ext uri="{FF2B5EF4-FFF2-40B4-BE49-F238E27FC236}">
                <a16:creationId xmlns:a16="http://schemas.microsoft.com/office/drawing/2014/main" id="{C970FBC2-1F10-0223-132E-8103BC7AF341}"/>
              </a:ext>
            </a:extLst>
          </p:cNvPr>
          <p:cNvSpPr>
            <a:spLocks noChangeArrowheads="1"/>
          </p:cNvSpPr>
          <p:nvPr/>
        </p:nvSpPr>
        <p:spPr bwMode="auto">
          <a:xfrm>
            <a:off x="796936" y="3118783"/>
            <a:ext cx="7850417" cy="129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10000"/>
              </a:lnSpc>
              <a:buClrTx/>
              <a:buFontTx/>
              <a:buNone/>
            </a:pPr>
            <a:r>
              <a:rPr lang="en-US" altLang="zh-CN" sz="2400" dirty="0">
                <a:sym typeface="Symbol" panose="05050102010706020507" pitchFamily="18" charset="2"/>
              </a:rPr>
              <a:t>(1)  k=0</a:t>
            </a:r>
            <a:r>
              <a:rPr lang="zh-CN" altLang="en-US" sz="2400" dirty="0">
                <a:sym typeface="Symbol" panose="05050102010706020507" pitchFamily="18" charset="2"/>
              </a:rPr>
              <a:t>，</a:t>
            </a:r>
            <a:r>
              <a:rPr lang="en-US" altLang="zh-CN" sz="2400" dirty="0">
                <a:sym typeface="Symbol" panose="05050102010706020507" pitchFamily="18" charset="2"/>
              </a:rPr>
              <a:t>p</a:t>
            </a:r>
            <a:r>
              <a:rPr lang="en-US" altLang="zh-CN" sz="2400" baseline="-25000" dirty="0">
                <a:sym typeface="Symbol" panose="05050102010706020507" pitchFamily="18" charset="2"/>
              </a:rPr>
              <a:t>0</a:t>
            </a:r>
            <a:r>
              <a:rPr lang="en-US" altLang="zh-CN" sz="2400" dirty="0">
                <a:sym typeface="Symbol" panose="05050102010706020507" pitchFamily="18" charset="2"/>
              </a:rPr>
              <a:t>(</a:t>
            </a:r>
            <a:r>
              <a:rPr lang="en-US" altLang="zh-CN" sz="2400" dirty="0" err="1">
                <a:sym typeface="Symbol" panose="05050102010706020507" pitchFamily="18" charset="2"/>
              </a:rPr>
              <a:t>t+h</a:t>
            </a:r>
            <a:r>
              <a:rPr lang="en-US" altLang="zh-CN" sz="2400" dirty="0">
                <a:sym typeface="Symbol" panose="05050102010706020507" pitchFamily="18" charset="2"/>
              </a:rPr>
              <a:t>)</a:t>
            </a:r>
            <a:r>
              <a:rPr lang="zh-CN" altLang="en-US" sz="2400" dirty="0">
                <a:sym typeface="Symbol" panose="05050102010706020507" pitchFamily="18" charset="2"/>
              </a:rPr>
              <a:t>＝</a:t>
            </a:r>
            <a:r>
              <a:rPr lang="en-US" altLang="zh-CN" sz="2400" dirty="0">
                <a:sym typeface="Symbol" panose="05050102010706020507" pitchFamily="18" charset="2"/>
              </a:rPr>
              <a:t>P{N(</a:t>
            </a:r>
            <a:r>
              <a:rPr lang="en-US" altLang="zh-CN" sz="2400" dirty="0" err="1">
                <a:sym typeface="Symbol" panose="05050102010706020507" pitchFamily="18" charset="2"/>
              </a:rPr>
              <a:t>t+h</a:t>
            </a:r>
            <a:r>
              <a:rPr lang="en-US" altLang="zh-CN" sz="2400" dirty="0">
                <a:sym typeface="Symbol" panose="05050102010706020507" pitchFamily="18" charset="2"/>
              </a:rPr>
              <a:t>)=0}</a:t>
            </a:r>
          </a:p>
          <a:p>
            <a:pPr eaLnBrk="1" hangingPunct="1">
              <a:lnSpc>
                <a:spcPct val="110000"/>
              </a:lnSpc>
              <a:buClrTx/>
              <a:buFontTx/>
              <a:buNone/>
            </a:pPr>
            <a:r>
              <a:rPr lang="en-US" altLang="zh-CN" sz="2400" dirty="0">
                <a:sym typeface="Symbol" panose="05050102010706020507" pitchFamily="18" charset="2"/>
              </a:rPr>
              <a:t>		</a:t>
            </a:r>
            <a:r>
              <a:rPr lang="zh-CN" altLang="en-US" sz="2400" dirty="0">
                <a:sym typeface="Symbol" panose="05050102010706020507" pitchFamily="18" charset="2"/>
              </a:rPr>
              <a:t>＝</a:t>
            </a:r>
            <a:r>
              <a:rPr lang="en-US" altLang="zh-CN" sz="2400" dirty="0">
                <a:sym typeface="Symbol" panose="05050102010706020507" pitchFamily="18" charset="2"/>
              </a:rPr>
              <a:t>P{N(t)=0, N(</a:t>
            </a:r>
            <a:r>
              <a:rPr lang="en-US" altLang="zh-CN" sz="2400" dirty="0" err="1">
                <a:sym typeface="Symbol" panose="05050102010706020507" pitchFamily="18" charset="2"/>
              </a:rPr>
              <a:t>t+h</a:t>
            </a:r>
            <a:r>
              <a:rPr lang="en-US" altLang="zh-CN" sz="2400" dirty="0">
                <a:sym typeface="Symbol" panose="05050102010706020507" pitchFamily="18" charset="2"/>
              </a:rPr>
              <a:t>)-N(t)=0}</a:t>
            </a:r>
          </a:p>
          <a:p>
            <a:pPr eaLnBrk="1" hangingPunct="1">
              <a:lnSpc>
                <a:spcPct val="110000"/>
              </a:lnSpc>
              <a:buClrTx/>
              <a:buFontTx/>
              <a:buNone/>
            </a:pPr>
            <a:r>
              <a:rPr lang="en-US" altLang="zh-CN" sz="2400" dirty="0">
                <a:sym typeface="Symbol" panose="05050102010706020507" pitchFamily="18" charset="2"/>
              </a:rPr>
              <a:t>		</a:t>
            </a:r>
            <a:r>
              <a:rPr lang="zh-CN" altLang="en-US" sz="2400" dirty="0">
                <a:sym typeface="Symbol" panose="05050102010706020507" pitchFamily="18" charset="2"/>
              </a:rPr>
              <a:t>＝</a:t>
            </a:r>
            <a:r>
              <a:rPr lang="en-US" altLang="zh-CN" sz="2400" dirty="0">
                <a:sym typeface="Symbol" panose="05050102010706020507" pitchFamily="18" charset="2"/>
              </a:rPr>
              <a:t>P{N(t)=0}P{N(</a:t>
            </a:r>
            <a:r>
              <a:rPr lang="en-US" altLang="zh-CN" sz="2400" dirty="0" err="1">
                <a:sym typeface="Symbol" panose="05050102010706020507" pitchFamily="18" charset="2"/>
              </a:rPr>
              <a:t>t+h</a:t>
            </a:r>
            <a:r>
              <a:rPr lang="en-US" altLang="zh-CN" sz="2400" dirty="0">
                <a:sym typeface="Symbol" panose="05050102010706020507" pitchFamily="18" charset="2"/>
              </a:rPr>
              <a:t>)-N(t)=0}</a:t>
            </a:r>
          </a:p>
        </p:txBody>
      </p:sp>
      <p:graphicFrame>
        <p:nvGraphicFramePr>
          <p:cNvPr id="9" name="Object 6">
            <a:extLst>
              <a:ext uri="{FF2B5EF4-FFF2-40B4-BE49-F238E27FC236}">
                <a16:creationId xmlns:a16="http://schemas.microsoft.com/office/drawing/2014/main" id="{E2B5B7CB-3C15-70E9-C929-6126CC91BB38}"/>
              </a:ext>
            </a:extLst>
          </p:cNvPr>
          <p:cNvGraphicFramePr>
            <a:graphicFrameLocks noChangeAspect="1"/>
          </p:cNvGraphicFramePr>
          <p:nvPr>
            <p:extLst>
              <p:ext uri="{D42A27DB-BD31-4B8C-83A1-F6EECF244321}">
                <p14:modId xmlns:p14="http://schemas.microsoft.com/office/powerpoint/2010/main" val="3287888673"/>
              </p:ext>
            </p:extLst>
          </p:nvPr>
        </p:nvGraphicFramePr>
        <p:xfrm>
          <a:off x="2048175" y="5006758"/>
          <a:ext cx="4026832" cy="744710"/>
        </p:xfrm>
        <a:graphic>
          <a:graphicData uri="http://schemas.openxmlformats.org/presentationml/2006/ole">
            <mc:AlternateContent xmlns:mc="http://schemas.openxmlformats.org/markup-compatibility/2006">
              <mc:Choice xmlns:v="urn:schemas-microsoft-com:vml" Requires="v">
                <p:oleObj name="Equation" r:id="rId4" imgW="2197100" imgH="406400" progId="Equation.3">
                  <p:embed/>
                </p:oleObj>
              </mc:Choice>
              <mc:Fallback>
                <p:oleObj name="Equation" r:id="rId4" imgW="2197100" imgH="406400" progId="Equation.3">
                  <p:embed/>
                  <p:pic>
                    <p:nvPicPr>
                      <p:cNvPr id="9" name="Object 6">
                        <a:extLst>
                          <a:ext uri="{FF2B5EF4-FFF2-40B4-BE49-F238E27FC236}">
                            <a16:creationId xmlns:a16="http://schemas.microsoft.com/office/drawing/2014/main" id="{E2B5B7CB-3C15-70E9-C929-6126CC91BB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8175" y="5006758"/>
                        <a:ext cx="4026832" cy="744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7">
            <a:extLst>
              <a:ext uri="{FF2B5EF4-FFF2-40B4-BE49-F238E27FC236}">
                <a16:creationId xmlns:a16="http://schemas.microsoft.com/office/drawing/2014/main" id="{3AEDA8C6-3849-105B-B4E9-F3095F80148D}"/>
              </a:ext>
            </a:extLst>
          </p:cNvPr>
          <p:cNvGraphicFramePr>
            <a:graphicFrameLocks noChangeAspect="1"/>
          </p:cNvGraphicFramePr>
          <p:nvPr>
            <p:extLst>
              <p:ext uri="{D42A27DB-BD31-4B8C-83A1-F6EECF244321}">
                <p14:modId xmlns:p14="http://schemas.microsoft.com/office/powerpoint/2010/main" val="2562053442"/>
              </p:ext>
            </p:extLst>
          </p:nvPr>
        </p:nvGraphicFramePr>
        <p:xfrm>
          <a:off x="727069" y="5765758"/>
          <a:ext cx="4852523" cy="970188"/>
        </p:xfrm>
        <a:graphic>
          <a:graphicData uri="http://schemas.openxmlformats.org/presentationml/2006/ole">
            <mc:AlternateContent xmlns:mc="http://schemas.openxmlformats.org/markup-compatibility/2006">
              <mc:Choice xmlns:v="urn:schemas-microsoft-com:vml" Requires="v">
                <p:oleObj name="公式" r:id="rId6" imgW="2413000" imgH="482600" progId="Equation.3">
                  <p:embed/>
                </p:oleObj>
              </mc:Choice>
              <mc:Fallback>
                <p:oleObj name="公式" r:id="rId6" imgW="2413000" imgH="482600" progId="Equation.3">
                  <p:embed/>
                  <p:pic>
                    <p:nvPicPr>
                      <p:cNvPr id="10" name="Object 7">
                        <a:extLst>
                          <a:ext uri="{FF2B5EF4-FFF2-40B4-BE49-F238E27FC236}">
                            <a16:creationId xmlns:a16="http://schemas.microsoft.com/office/drawing/2014/main" id="{3AEDA8C6-3849-105B-B4E9-F3095F8014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7069" y="5765758"/>
                        <a:ext cx="4852523" cy="97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8">
            <a:extLst>
              <a:ext uri="{FF2B5EF4-FFF2-40B4-BE49-F238E27FC236}">
                <a16:creationId xmlns:a16="http://schemas.microsoft.com/office/drawing/2014/main" id="{5B3982F8-711F-A9A3-1AF9-6AF731465750}"/>
              </a:ext>
            </a:extLst>
          </p:cNvPr>
          <p:cNvSpPr>
            <a:spLocks noChangeArrowheads="1"/>
          </p:cNvSpPr>
          <p:nvPr/>
        </p:nvSpPr>
        <p:spPr bwMode="auto">
          <a:xfrm>
            <a:off x="5755847" y="6016641"/>
            <a:ext cx="2675556" cy="45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00000"/>
              </a:lnSpc>
              <a:buClrTx/>
              <a:buFontTx/>
              <a:buNone/>
            </a:pPr>
            <a:r>
              <a:rPr lang="zh-CN" altLang="en-US" sz="2400" dirty="0">
                <a:sym typeface="Symbol" panose="05050102010706020507" pitchFamily="18" charset="2"/>
              </a:rPr>
              <a:t>解得：</a:t>
            </a:r>
            <a:r>
              <a:rPr lang="en-US" altLang="zh-CN" sz="2400" dirty="0">
                <a:sym typeface="Symbol" panose="05050102010706020507" pitchFamily="18" charset="2"/>
              </a:rPr>
              <a:t>p</a:t>
            </a:r>
            <a:r>
              <a:rPr lang="en-US" altLang="zh-CN" sz="2400" baseline="-25000" dirty="0">
                <a:sym typeface="Symbol" panose="05050102010706020507" pitchFamily="18" charset="2"/>
              </a:rPr>
              <a:t>0</a:t>
            </a:r>
            <a:r>
              <a:rPr lang="en-US" altLang="zh-CN" sz="2400" dirty="0">
                <a:sym typeface="Symbol" panose="05050102010706020507" pitchFamily="18" charset="2"/>
              </a:rPr>
              <a:t>(t)</a:t>
            </a:r>
            <a:r>
              <a:rPr lang="zh-CN" altLang="en-US" sz="2400" dirty="0">
                <a:sym typeface="Symbol" panose="05050102010706020507" pitchFamily="18" charset="2"/>
              </a:rPr>
              <a:t>＝</a:t>
            </a:r>
            <a:r>
              <a:rPr lang="en-US" altLang="zh-CN" sz="2400" dirty="0">
                <a:sym typeface="Symbol" panose="05050102010706020507" pitchFamily="18" charset="2"/>
              </a:rPr>
              <a:t>e</a:t>
            </a:r>
            <a:r>
              <a:rPr lang="en-US" altLang="zh-CN" sz="2400" baseline="30000" dirty="0">
                <a:sym typeface="Symbol" panose="05050102010706020507" pitchFamily="18" charset="2"/>
              </a:rPr>
              <a:t>-t</a:t>
            </a:r>
            <a:r>
              <a:rPr lang="zh-CN" altLang="en-US" sz="2400" dirty="0">
                <a:sym typeface="Symbol" panose="05050102010706020507" pitchFamily="18" charset="2"/>
              </a:rPr>
              <a:t>。</a:t>
            </a:r>
          </a:p>
        </p:txBody>
      </p:sp>
      <p:sp>
        <p:nvSpPr>
          <p:cNvPr id="12" name="Rectangle 12">
            <a:extLst>
              <a:ext uri="{FF2B5EF4-FFF2-40B4-BE49-F238E27FC236}">
                <a16:creationId xmlns:a16="http://schemas.microsoft.com/office/drawing/2014/main" id="{25365BF3-33FA-90B7-D347-30C5BE504460}"/>
              </a:ext>
            </a:extLst>
          </p:cNvPr>
          <p:cNvSpPr>
            <a:spLocks noChangeArrowheads="1"/>
          </p:cNvSpPr>
          <p:nvPr/>
        </p:nvSpPr>
        <p:spPr bwMode="auto">
          <a:xfrm>
            <a:off x="2597577" y="4498640"/>
            <a:ext cx="5978322" cy="465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10000"/>
              </a:lnSpc>
              <a:buClrTx/>
              <a:buFontTx/>
              <a:buNone/>
            </a:pPr>
            <a:r>
              <a:rPr lang="zh-CN" altLang="en-US" sz="2400">
                <a:sym typeface="Symbol" panose="05050102010706020507" pitchFamily="18" charset="2"/>
              </a:rPr>
              <a:t>＝ </a:t>
            </a:r>
            <a:r>
              <a:rPr lang="en-US" altLang="zh-CN" sz="2400">
                <a:sym typeface="Symbol" panose="05050102010706020507" pitchFamily="18" charset="2"/>
              </a:rPr>
              <a:t>P{N(t)=0}P{N(h)=0}</a:t>
            </a:r>
            <a:r>
              <a:rPr lang="en-US" altLang="zh-CN" sz="2400" b="0">
                <a:sym typeface="Symbol" panose="05050102010706020507" pitchFamily="18" charset="2"/>
              </a:rPr>
              <a:t> </a:t>
            </a:r>
            <a:r>
              <a:rPr lang="zh-CN" altLang="en-US" sz="2400">
                <a:sym typeface="Symbol" panose="05050102010706020507" pitchFamily="18" charset="2"/>
              </a:rPr>
              <a:t>＝</a:t>
            </a:r>
            <a:r>
              <a:rPr lang="en-US" altLang="zh-CN" sz="2400">
                <a:sym typeface="Symbol" panose="05050102010706020507" pitchFamily="18" charset="2"/>
              </a:rPr>
              <a:t>p</a:t>
            </a:r>
            <a:r>
              <a:rPr lang="en-US" altLang="zh-CN" sz="2400" baseline="-25000">
                <a:sym typeface="Symbol" panose="05050102010706020507" pitchFamily="18" charset="2"/>
              </a:rPr>
              <a:t>0</a:t>
            </a:r>
            <a:r>
              <a:rPr lang="en-US" altLang="zh-CN" sz="2400">
                <a:sym typeface="Symbol" panose="05050102010706020507" pitchFamily="18" charset="2"/>
              </a:rPr>
              <a:t>(t)[1-h+o(h)]</a:t>
            </a:r>
          </a:p>
        </p:txBody>
      </p:sp>
      <p:sp>
        <p:nvSpPr>
          <p:cNvPr id="13" name="Rectangle 13">
            <a:extLst>
              <a:ext uri="{FF2B5EF4-FFF2-40B4-BE49-F238E27FC236}">
                <a16:creationId xmlns:a16="http://schemas.microsoft.com/office/drawing/2014/main" id="{8BF98381-F8A6-D4D8-DD7E-366637715FF3}"/>
              </a:ext>
            </a:extLst>
          </p:cNvPr>
          <p:cNvSpPr>
            <a:spLocks noChangeArrowheads="1"/>
          </p:cNvSpPr>
          <p:nvPr/>
        </p:nvSpPr>
        <p:spPr bwMode="auto">
          <a:xfrm>
            <a:off x="796936" y="5086151"/>
            <a:ext cx="936842" cy="465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10000"/>
              </a:lnSpc>
              <a:buClrTx/>
              <a:buFontTx/>
              <a:buNone/>
            </a:pPr>
            <a:r>
              <a:rPr lang="zh-CN" altLang="en-US" sz="2400">
                <a:sym typeface="Symbol" panose="05050102010706020507" pitchFamily="18" charset="2"/>
              </a:rPr>
              <a:t>因为</a:t>
            </a:r>
          </a:p>
        </p:txBody>
      </p:sp>
      <p:sp>
        <p:nvSpPr>
          <p:cNvPr id="14" name="AutoShape 10">
            <a:extLst>
              <a:ext uri="{FF2B5EF4-FFF2-40B4-BE49-F238E27FC236}">
                <a16:creationId xmlns:a16="http://schemas.microsoft.com/office/drawing/2014/main" id="{13E1584E-0891-7614-E2F1-E183A7F11452}"/>
              </a:ext>
            </a:extLst>
          </p:cNvPr>
          <p:cNvSpPr>
            <a:spLocks noChangeArrowheads="1"/>
          </p:cNvSpPr>
          <p:nvPr/>
        </p:nvSpPr>
        <p:spPr bwMode="auto">
          <a:xfrm>
            <a:off x="6784975" y="2722610"/>
            <a:ext cx="2232542" cy="792345"/>
          </a:xfrm>
          <a:prstGeom prst="wedgeRoundRectCallout">
            <a:avLst>
              <a:gd name="adj1" fmla="val -45194"/>
              <a:gd name="adj2" fmla="val 119287"/>
              <a:gd name="adj3" fmla="val 16667"/>
            </a:avLst>
          </a:prstGeom>
          <a:solidFill>
            <a:schemeClr val="accent1"/>
          </a:solidFill>
          <a:ln w="9525">
            <a:solidFill>
              <a:srgbClr val="0000FF"/>
            </a:solidFill>
            <a:miter lim="800000"/>
            <a:headEnd/>
            <a:tailEnd/>
          </a:ln>
        </p:spPr>
        <p:txBody>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algn="ctr" eaLnBrk="1" hangingPunct="1">
              <a:lnSpc>
                <a:spcPct val="150000"/>
              </a:lnSpc>
              <a:buClrTx/>
              <a:buFontTx/>
              <a:buNone/>
            </a:pPr>
            <a:r>
              <a:rPr lang="zh-CN" altLang="en-US" sz="2400" dirty="0">
                <a:solidFill>
                  <a:srgbClr val="FFFF00"/>
                </a:solidFill>
              </a:rPr>
              <a:t>独立增量过程</a:t>
            </a:r>
          </a:p>
        </p:txBody>
      </p:sp>
      <p:sp>
        <p:nvSpPr>
          <p:cNvPr id="15" name="AutoShape 11">
            <a:extLst>
              <a:ext uri="{FF2B5EF4-FFF2-40B4-BE49-F238E27FC236}">
                <a16:creationId xmlns:a16="http://schemas.microsoft.com/office/drawing/2014/main" id="{E571C2E8-301D-1AC5-AFBB-8F66D54CE244}"/>
              </a:ext>
            </a:extLst>
          </p:cNvPr>
          <p:cNvSpPr>
            <a:spLocks noChangeArrowheads="1"/>
          </p:cNvSpPr>
          <p:nvPr/>
        </p:nvSpPr>
        <p:spPr bwMode="auto">
          <a:xfrm>
            <a:off x="580986" y="3850791"/>
            <a:ext cx="1729188" cy="792346"/>
          </a:xfrm>
          <a:prstGeom prst="wedgeRoundRectCallout">
            <a:avLst>
              <a:gd name="adj1" fmla="val 78241"/>
              <a:gd name="adj2" fmla="val 54810"/>
              <a:gd name="adj3" fmla="val 16667"/>
            </a:avLst>
          </a:prstGeom>
          <a:solidFill>
            <a:schemeClr val="accent1"/>
          </a:solidFill>
          <a:ln w="9525">
            <a:solidFill>
              <a:srgbClr val="0000FF"/>
            </a:solidFill>
            <a:miter lim="800000"/>
            <a:headEnd/>
            <a:tailEnd/>
          </a:ln>
        </p:spPr>
        <p:txBody>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algn="ctr" eaLnBrk="1" hangingPunct="1">
              <a:lnSpc>
                <a:spcPct val="150000"/>
              </a:lnSpc>
              <a:buClrTx/>
              <a:buFontTx/>
              <a:buNone/>
            </a:pPr>
            <a:r>
              <a:rPr lang="zh-CN" altLang="en-US" sz="2400">
                <a:solidFill>
                  <a:srgbClr val="FFFF00"/>
                </a:solidFill>
              </a:rPr>
              <a:t>平稳性</a:t>
            </a:r>
          </a:p>
        </p:txBody>
      </p:sp>
      <p:grpSp>
        <p:nvGrpSpPr>
          <p:cNvPr id="16" name="Group 18">
            <a:extLst>
              <a:ext uri="{FF2B5EF4-FFF2-40B4-BE49-F238E27FC236}">
                <a16:creationId xmlns:a16="http://schemas.microsoft.com/office/drawing/2014/main" id="{CC79D70C-150D-230B-ECC8-EEDBDD781DB9}"/>
              </a:ext>
            </a:extLst>
          </p:cNvPr>
          <p:cNvGrpSpPr>
            <a:grpSpLocks/>
          </p:cNvGrpSpPr>
          <p:nvPr/>
        </p:nvGrpSpPr>
        <p:grpSpPr bwMode="auto">
          <a:xfrm>
            <a:off x="8694989" y="2245457"/>
            <a:ext cx="2521534" cy="1008295"/>
            <a:chOff x="4457" y="1034"/>
            <a:chExt cx="1588" cy="635"/>
          </a:xfrm>
        </p:grpSpPr>
        <p:sp>
          <p:nvSpPr>
            <p:cNvPr id="15377" name="AutoShape 14">
              <a:extLst>
                <a:ext uri="{FF2B5EF4-FFF2-40B4-BE49-F238E27FC236}">
                  <a16:creationId xmlns:a16="http://schemas.microsoft.com/office/drawing/2014/main" id="{781F2BB1-353F-9AB6-65DE-E6CD6765F831}"/>
                </a:ext>
              </a:extLst>
            </p:cNvPr>
            <p:cNvSpPr>
              <a:spLocks noChangeArrowheads="1"/>
            </p:cNvSpPr>
            <p:nvPr/>
          </p:nvSpPr>
          <p:spPr bwMode="auto">
            <a:xfrm>
              <a:off x="4457" y="1034"/>
              <a:ext cx="1588" cy="635"/>
            </a:xfrm>
            <a:prstGeom prst="wedgeRoundRectCallout">
              <a:avLst>
                <a:gd name="adj1" fmla="val -82809"/>
                <a:gd name="adj2" fmla="val 198150"/>
                <a:gd name="adj3" fmla="val 16667"/>
              </a:avLst>
            </a:prstGeom>
            <a:solidFill>
              <a:schemeClr val="accent1"/>
            </a:solidFill>
            <a:ln w="9525">
              <a:solidFill>
                <a:srgbClr val="0000FF"/>
              </a:solidFill>
              <a:miter lim="800000"/>
              <a:headEnd/>
              <a:tailEnd/>
            </a:ln>
          </p:spPr>
          <p:txBody>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algn="ctr" eaLnBrk="1" hangingPunct="1">
                <a:lnSpc>
                  <a:spcPct val="100000"/>
                </a:lnSpc>
                <a:buClrTx/>
                <a:buFontTx/>
                <a:buNone/>
              </a:pPr>
              <a:endParaRPr lang="zh-CN" altLang="zh-CN" sz="2400">
                <a:sym typeface="Symbol" panose="05050102010706020507" pitchFamily="18" charset="2"/>
              </a:endParaRPr>
            </a:p>
          </p:txBody>
        </p:sp>
        <p:graphicFrame>
          <p:nvGraphicFramePr>
            <p:cNvPr id="15378" name="Object 15">
              <a:extLst>
                <a:ext uri="{FF2B5EF4-FFF2-40B4-BE49-F238E27FC236}">
                  <a16:creationId xmlns:a16="http://schemas.microsoft.com/office/drawing/2014/main" id="{C17B17D9-9292-0A1E-7B9D-A164E0DAAF00}"/>
                </a:ext>
              </a:extLst>
            </p:cNvPr>
            <p:cNvGraphicFramePr>
              <a:graphicFrameLocks noChangeAspect="1"/>
            </p:cNvGraphicFramePr>
            <p:nvPr>
              <p:extLst>
                <p:ext uri="{D42A27DB-BD31-4B8C-83A1-F6EECF244321}">
                  <p14:modId xmlns:p14="http://schemas.microsoft.com/office/powerpoint/2010/main" val="961549977"/>
                </p:ext>
              </p:extLst>
            </p:nvPr>
          </p:nvGraphicFramePr>
          <p:xfrm>
            <a:off x="4526" y="1078"/>
            <a:ext cx="1450" cy="536"/>
          </p:xfrm>
          <a:graphic>
            <a:graphicData uri="http://schemas.openxmlformats.org/presentationml/2006/ole">
              <mc:AlternateContent xmlns:mc="http://schemas.openxmlformats.org/markup-compatibility/2006">
                <mc:Choice xmlns:v="urn:schemas-microsoft-com:vml" Requires="v">
                  <p:oleObj name="Equation" r:id="rId8" imgW="2259360" imgH="774720" progId="Equation.DSMT4">
                    <p:embed/>
                  </p:oleObj>
                </mc:Choice>
                <mc:Fallback>
                  <p:oleObj name="Equation" r:id="rId8" imgW="2259360" imgH="774720" progId="Equation.DSMT4">
                    <p:embed/>
                    <p:pic>
                      <p:nvPicPr>
                        <p:cNvPr id="15378" name="Object 15">
                          <a:extLst>
                            <a:ext uri="{FF2B5EF4-FFF2-40B4-BE49-F238E27FC236}">
                              <a16:creationId xmlns:a16="http://schemas.microsoft.com/office/drawing/2014/main" id="{C17B17D9-9292-0A1E-7B9D-A164E0DAAF0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26" y="1078"/>
                          <a:ext cx="1450" cy="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wipe(up)">
                                      <p:cBhvr>
                                        <p:cTn id="17" dur="500"/>
                                        <p:tgtEl>
                                          <p:spTgt spid="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
                                            <p:txEl>
                                              <p:pRg st="1" end="1"/>
                                            </p:txEl>
                                          </p:spTgt>
                                        </p:tgtEl>
                                        <p:attrNameLst>
                                          <p:attrName>style.visibility</p:attrName>
                                        </p:attrNameLst>
                                      </p:cBhvr>
                                      <p:to>
                                        <p:strVal val="visible"/>
                                      </p:to>
                                    </p:set>
                                    <p:animEffect transition="in" filter="wipe(up)">
                                      <p:cBhvr>
                                        <p:cTn id="22" dur="500"/>
                                        <p:tgtEl>
                                          <p:spTgt spid="8">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animEffect transition="in" filter="wipe(up)">
                                      <p:cBhvr>
                                        <p:cTn id="27" dur="500"/>
                                        <p:tgtEl>
                                          <p:spTgt spid="8">
                                            <p:txEl>
                                              <p:pRg st="2" end="2"/>
                                            </p:txEl>
                                          </p:spTgt>
                                        </p:tgtEl>
                                      </p:cBhvr>
                                    </p:animEffect>
                                  </p:childTnLst>
                                </p:cTn>
                              </p:par>
                            </p:childTnLst>
                          </p:cTn>
                        </p:par>
                        <p:par>
                          <p:cTn id="28" fill="hold" nodeType="afterGroup">
                            <p:stCondLst>
                              <p:cond delay="500"/>
                            </p:stCondLst>
                            <p:childTnLst>
                              <p:par>
                                <p:cTn id="29" presetID="2" presetClass="entr" presetSubtype="9"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0-#ppt_w/2"/>
                                          </p:val>
                                        </p:tav>
                                        <p:tav tm="100000">
                                          <p:val>
                                            <p:strVal val="#ppt_x"/>
                                          </p:val>
                                        </p:tav>
                                      </p:tavLst>
                                    </p:anim>
                                    <p:anim calcmode="lin" valueType="num">
                                      <p:cBhvr additive="base">
                                        <p:cTn id="32"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2">
                                            <p:txEl>
                                              <p:pRg st="0" end="0"/>
                                            </p:txEl>
                                          </p:spTgt>
                                        </p:tgtEl>
                                        <p:attrNameLst>
                                          <p:attrName>style.visibility</p:attrName>
                                        </p:attrNameLst>
                                      </p:cBhvr>
                                      <p:to>
                                        <p:strVal val="visible"/>
                                      </p:to>
                                    </p:set>
                                    <p:animEffect transition="in" filter="wipe(up)">
                                      <p:cBhvr>
                                        <p:cTn id="37" dur="500"/>
                                        <p:tgtEl>
                                          <p:spTgt spid="12">
                                            <p:txEl>
                                              <p:pRg st="0" end="0"/>
                                            </p:txEl>
                                          </p:spTgt>
                                        </p:tgtEl>
                                      </p:cBhvr>
                                    </p:animEffect>
                                  </p:childTnLst>
                                </p:cTn>
                              </p:par>
                              <p:par>
                                <p:cTn id="38" presetID="16" presetClass="exit" presetSubtype="26" fill="hold" grpId="1" nodeType="withEffect">
                                  <p:stCondLst>
                                    <p:cond delay="0"/>
                                  </p:stCondLst>
                                  <p:childTnLst>
                                    <p:animEffect transition="out" filter="barn(inHorizontal)">
                                      <p:cBhvr>
                                        <p:cTn id="39" dur="500"/>
                                        <p:tgtEl>
                                          <p:spTgt spid="14"/>
                                        </p:tgtEl>
                                      </p:cBhvr>
                                    </p:animEffect>
                                    <p:set>
                                      <p:cBhvr>
                                        <p:cTn id="40" dur="1" fill="hold">
                                          <p:stCondLst>
                                            <p:cond delay="499"/>
                                          </p:stCondLst>
                                        </p:cTn>
                                        <p:tgtEl>
                                          <p:spTgt spid="14"/>
                                        </p:tgtEl>
                                        <p:attrNameLst>
                                          <p:attrName>style.visibility</p:attrName>
                                        </p:attrNameLst>
                                      </p:cBhvr>
                                      <p:to>
                                        <p:strVal val="hidden"/>
                                      </p:to>
                                    </p:set>
                                  </p:childTnLst>
                                </p:cTn>
                              </p:par>
                            </p:childTnLst>
                          </p:cTn>
                        </p:par>
                        <p:par>
                          <p:cTn id="41" fill="hold" nodeType="afterGroup">
                            <p:stCondLst>
                              <p:cond delay="500"/>
                            </p:stCondLst>
                            <p:childTnLst>
                              <p:par>
                                <p:cTn id="42" presetID="2" presetClass="entr" presetSubtype="3"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fill="hold"/>
                                        <p:tgtEl>
                                          <p:spTgt spid="15"/>
                                        </p:tgtEl>
                                        <p:attrNameLst>
                                          <p:attrName>ppt_x</p:attrName>
                                        </p:attrNameLst>
                                      </p:cBhvr>
                                      <p:tavLst>
                                        <p:tav tm="0">
                                          <p:val>
                                            <p:strVal val="1+#ppt_w/2"/>
                                          </p:val>
                                        </p:tav>
                                        <p:tav tm="100000">
                                          <p:val>
                                            <p:strVal val="#ppt_x"/>
                                          </p:val>
                                        </p:tav>
                                      </p:tavLst>
                                    </p:anim>
                                    <p:anim calcmode="lin" valueType="num">
                                      <p:cBhvr additive="base">
                                        <p:cTn id="45"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12"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500" fill="hold"/>
                                        <p:tgtEl>
                                          <p:spTgt spid="16"/>
                                        </p:tgtEl>
                                        <p:attrNameLst>
                                          <p:attrName>ppt_x</p:attrName>
                                        </p:attrNameLst>
                                      </p:cBhvr>
                                      <p:tavLst>
                                        <p:tav tm="0">
                                          <p:val>
                                            <p:strVal val="0-#ppt_w/2"/>
                                          </p:val>
                                        </p:tav>
                                        <p:tav tm="100000">
                                          <p:val>
                                            <p:strVal val="#ppt_x"/>
                                          </p:val>
                                        </p:tav>
                                      </p:tavLst>
                                    </p:anim>
                                    <p:anim calcmode="lin" valueType="num">
                                      <p:cBhvr additive="base">
                                        <p:cTn id="51" dur="500" fill="hold"/>
                                        <p:tgtEl>
                                          <p:spTgt spid="16"/>
                                        </p:tgtEl>
                                        <p:attrNameLst>
                                          <p:attrName>ppt_y</p:attrName>
                                        </p:attrNameLst>
                                      </p:cBhvr>
                                      <p:tavLst>
                                        <p:tav tm="0">
                                          <p:val>
                                            <p:strVal val="1+#ppt_h/2"/>
                                          </p:val>
                                        </p:tav>
                                        <p:tav tm="100000">
                                          <p:val>
                                            <p:strVal val="#ppt_y"/>
                                          </p:val>
                                        </p:tav>
                                      </p:tavLst>
                                    </p:anim>
                                  </p:childTnLst>
                                </p:cTn>
                              </p:par>
                              <p:par>
                                <p:cTn id="52" presetID="16" presetClass="exit" presetSubtype="26" fill="hold" grpId="1" nodeType="withEffect">
                                  <p:stCondLst>
                                    <p:cond delay="0"/>
                                  </p:stCondLst>
                                  <p:childTnLst>
                                    <p:animEffect transition="out" filter="barn(inHorizontal)">
                                      <p:cBhvr>
                                        <p:cTn id="53" dur="500"/>
                                        <p:tgtEl>
                                          <p:spTgt spid="15"/>
                                        </p:tgtEl>
                                      </p:cBhvr>
                                    </p:animEffect>
                                    <p:set>
                                      <p:cBhvr>
                                        <p:cTn id="54" dur="1" fill="hold">
                                          <p:stCondLst>
                                            <p:cond delay="499"/>
                                          </p:stCondLst>
                                        </p:cTn>
                                        <p:tgtEl>
                                          <p:spTgt spid="15"/>
                                        </p:tgtEl>
                                        <p:attrNameLst>
                                          <p:attrName>style.visibility</p:attrName>
                                        </p:attrNameLst>
                                      </p:cBhvr>
                                      <p:to>
                                        <p:strVal val="hidden"/>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13">
                                            <p:txEl>
                                              <p:pRg st="0" end="0"/>
                                            </p:txEl>
                                          </p:spTgt>
                                        </p:tgtEl>
                                        <p:attrNameLst>
                                          <p:attrName>style.visibility</p:attrName>
                                        </p:attrNameLst>
                                      </p:cBhvr>
                                      <p:to>
                                        <p:strVal val="visible"/>
                                      </p:to>
                                    </p:set>
                                    <p:animEffect transition="in" filter="wipe(up)">
                                      <p:cBhvr>
                                        <p:cTn id="59" dur="500"/>
                                        <p:tgtEl>
                                          <p:spTgt spid="13">
                                            <p:txEl>
                                              <p:pRg st="0" end="0"/>
                                            </p:txEl>
                                          </p:spTgt>
                                        </p:tgtEl>
                                      </p:cBhvr>
                                    </p:animEffect>
                                  </p:childTnLst>
                                </p:cTn>
                              </p:par>
                              <p:par>
                                <p:cTn id="60" presetID="16" presetClass="exit" presetSubtype="26" fill="hold" nodeType="withEffect">
                                  <p:stCondLst>
                                    <p:cond delay="0"/>
                                  </p:stCondLst>
                                  <p:childTnLst>
                                    <p:animEffect transition="out" filter="barn(inHorizontal)">
                                      <p:cBhvr>
                                        <p:cTn id="61" dur="500"/>
                                        <p:tgtEl>
                                          <p:spTgt spid="16"/>
                                        </p:tgtEl>
                                      </p:cBhvr>
                                    </p:animEffect>
                                    <p:set>
                                      <p:cBhvr>
                                        <p:cTn id="62" dur="1" fill="hold">
                                          <p:stCondLst>
                                            <p:cond delay="499"/>
                                          </p:stCondLst>
                                        </p:cTn>
                                        <p:tgtEl>
                                          <p:spTgt spid="16"/>
                                        </p:tgtEl>
                                        <p:attrNameLst>
                                          <p:attrName>style.visibility</p:attrName>
                                        </p:attrNameLst>
                                      </p:cBhvr>
                                      <p:to>
                                        <p:strVal val="hidden"/>
                                      </p:to>
                                    </p:set>
                                  </p:childTnLst>
                                </p:cTn>
                              </p:par>
                            </p:childTnLst>
                          </p:cTn>
                        </p:par>
                        <p:par>
                          <p:cTn id="63" fill="hold" nodeType="afterGroup">
                            <p:stCondLst>
                              <p:cond delay="500"/>
                            </p:stCondLst>
                            <p:childTnLst>
                              <p:par>
                                <p:cTn id="64" presetID="22" presetClass="entr" presetSubtype="1" fill="hold" nodeType="after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up)">
                                      <p:cBhvr>
                                        <p:cTn id="66" dur="500"/>
                                        <p:tgtEl>
                                          <p:spTgt spid="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wipe(left)">
                                      <p:cBhvr>
                                        <p:cTn id="71" dur="500"/>
                                        <p:tgtEl>
                                          <p:spTgt spid="1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ipe(left)">
                                      <p:cBhvr>
                                        <p:cTn id="7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build="p"/>
      <p:bldP spid="11" grpId="0"/>
      <p:bldP spid="12" grpId="0" build="p"/>
      <p:bldP spid="13" grpId="0" build="p"/>
      <p:bldP spid="14" grpId="0" animBg="1"/>
      <p:bldP spid="14" grpId="1" animBg="1"/>
      <p:bldP spid="15" grpId="0" animBg="1"/>
      <p:bldP spid="15"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a:extLst>
              <a:ext uri="{FF2B5EF4-FFF2-40B4-BE49-F238E27FC236}">
                <a16:creationId xmlns:a16="http://schemas.microsoft.com/office/drawing/2014/main" id="{1B192F20-F67B-DEFB-FAF7-D068491EE925}"/>
              </a:ext>
            </a:extLst>
          </p:cNvPr>
          <p:cNvSpPr>
            <a:spLocks noGrp="1" noChangeArrowheads="1"/>
          </p:cNvSpPr>
          <p:nvPr>
            <p:ph type="title"/>
          </p:nvPr>
        </p:nvSpPr>
        <p:spPr/>
        <p:txBody>
          <a:bodyPr/>
          <a:lstStyle/>
          <a:p>
            <a:pPr algn="l" eaLnBrk="1" hangingPunct="1"/>
            <a:r>
              <a:rPr lang="zh-CN" altLang="en-US"/>
              <a:t>证明</a:t>
            </a:r>
            <a:r>
              <a:rPr lang="en-US" altLang="zh-CN"/>
              <a:t>(</a:t>
            </a:r>
            <a:r>
              <a:rPr lang="zh-CN" altLang="en-US"/>
              <a:t>续</a:t>
            </a:r>
            <a:r>
              <a:rPr lang="en-US" altLang="zh-CN"/>
              <a:t>1)</a:t>
            </a:r>
          </a:p>
        </p:txBody>
      </p:sp>
      <p:sp>
        <p:nvSpPr>
          <p:cNvPr id="295939" name="Rectangle 3">
            <a:extLst>
              <a:ext uri="{FF2B5EF4-FFF2-40B4-BE49-F238E27FC236}">
                <a16:creationId xmlns:a16="http://schemas.microsoft.com/office/drawing/2014/main" id="{DA40A3CF-D527-7E4B-0E3B-6D9F97CDA7B7}"/>
              </a:ext>
            </a:extLst>
          </p:cNvPr>
          <p:cNvSpPr>
            <a:spLocks noGrp="1" noChangeArrowheads="1"/>
          </p:cNvSpPr>
          <p:nvPr>
            <p:ph type="body" idx="1"/>
          </p:nvPr>
        </p:nvSpPr>
        <p:spPr>
          <a:xfrm>
            <a:off x="777875" y="1127827"/>
            <a:ext cx="7850417" cy="401731"/>
          </a:xfrm>
        </p:spPr>
        <p:txBody>
          <a:bodyPr>
            <a:normAutofit fontScale="85000" lnSpcReduction="20000"/>
          </a:bodyPr>
          <a:lstStyle/>
          <a:p>
            <a:pPr eaLnBrk="1" hangingPunct="1">
              <a:lnSpc>
                <a:spcPct val="110000"/>
              </a:lnSpc>
              <a:buFont typeface="Wingdings" panose="05000000000000000000" pitchFamily="2" charset="2"/>
              <a:buNone/>
            </a:pPr>
            <a:r>
              <a:rPr lang="en-US" altLang="zh-CN"/>
              <a:t>(2)  k</a:t>
            </a:r>
            <a:r>
              <a:rPr lang="en-US" altLang="zh-CN">
                <a:sym typeface="Symbol" panose="05050102010706020507" pitchFamily="18" charset="2"/>
              </a:rPr>
              <a:t>1</a:t>
            </a:r>
            <a:endParaRPr lang="en-US" altLang="zh-CN">
              <a:solidFill>
                <a:srgbClr val="0000FF"/>
              </a:solidFill>
            </a:endParaRPr>
          </a:p>
        </p:txBody>
      </p:sp>
      <p:sp>
        <p:nvSpPr>
          <p:cNvPr id="295940" name="Rectangle 4">
            <a:extLst>
              <a:ext uri="{FF2B5EF4-FFF2-40B4-BE49-F238E27FC236}">
                <a16:creationId xmlns:a16="http://schemas.microsoft.com/office/drawing/2014/main" id="{252A15D8-5C87-D86F-FC5A-94632F68EF46}"/>
              </a:ext>
            </a:extLst>
          </p:cNvPr>
          <p:cNvSpPr>
            <a:spLocks noChangeArrowheads="1"/>
          </p:cNvSpPr>
          <p:nvPr/>
        </p:nvSpPr>
        <p:spPr bwMode="auto">
          <a:xfrm>
            <a:off x="1235180" y="1524794"/>
            <a:ext cx="3201141" cy="465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10000"/>
              </a:lnSpc>
              <a:buClrTx/>
              <a:buFontTx/>
              <a:buNone/>
            </a:pPr>
            <a:r>
              <a:rPr lang="en-US" altLang="zh-CN" sz="2400">
                <a:sym typeface="Symbol" panose="05050102010706020507" pitchFamily="18" charset="2"/>
              </a:rPr>
              <a:t>p</a:t>
            </a:r>
            <a:r>
              <a:rPr lang="en-US" altLang="zh-CN" sz="2400" baseline="-25000">
                <a:sym typeface="Symbol" panose="05050102010706020507" pitchFamily="18" charset="2"/>
              </a:rPr>
              <a:t>k</a:t>
            </a:r>
            <a:r>
              <a:rPr lang="en-US" altLang="zh-CN" sz="2400">
                <a:sym typeface="Symbol" panose="05050102010706020507" pitchFamily="18" charset="2"/>
              </a:rPr>
              <a:t>(t+h)</a:t>
            </a:r>
            <a:r>
              <a:rPr lang="zh-CN" altLang="en-US" sz="2400">
                <a:sym typeface="Symbol" panose="05050102010706020507" pitchFamily="18" charset="2"/>
              </a:rPr>
              <a:t>＝</a:t>
            </a:r>
            <a:r>
              <a:rPr lang="en-US" altLang="zh-CN" sz="2400">
                <a:sym typeface="Symbol" panose="05050102010706020507" pitchFamily="18" charset="2"/>
              </a:rPr>
              <a:t>P{N(t+h)=k}</a:t>
            </a:r>
          </a:p>
        </p:txBody>
      </p:sp>
      <p:graphicFrame>
        <p:nvGraphicFramePr>
          <p:cNvPr id="295941" name="Object 5">
            <a:extLst>
              <a:ext uri="{FF2B5EF4-FFF2-40B4-BE49-F238E27FC236}">
                <a16:creationId xmlns:a16="http://schemas.microsoft.com/office/drawing/2014/main" id="{F1494DE3-FC98-5D8C-596D-5142740415F9}"/>
              </a:ext>
            </a:extLst>
          </p:cNvPr>
          <p:cNvGraphicFramePr>
            <a:graphicFrameLocks noChangeAspect="1"/>
          </p:cNvGraphicFramePr>
          <p:nvPr>
            <p:extLst>
              <p:ext uri="{D42A27DB-BD31-4B8C-83A1-F6EECF244321}">
                <p14:modId xmlns:p14="http://schemas.microsoft.com/office/powerpoint/2010/main" val="1113451700"/>
              </p:ext>
            </p:extLst>
          </p:nvPr>
        </p:nvGraphicFramePr>
        <p:xfrm>
          <a:off x="1311398" y="4938710"/>
          <a:ext cx="5716323" cy="809812"/>
        </p:xfrm>
        <a:graphic>
          <a:graphicData uri="http://schemas.openxmlformats.org/presentationml/2006/ole">
            <mc:AlternateContent xmlns:mc="http://schemas.openxmlformats.org/markup-compatibility/2006">
              <mc:Choice xmlns:v="urn:schemas-microsoft-com:vml" Requires="v">
                <p:oleObj name="Equation" r:id="rId2" imgW="2870200" imgH="406400" progId="Equation.3">
                  <p:embed/>
                </p:oleObj>
              </mc:Choice>
              <mc:Fallback>
                <p:oleObj name="Equation" r:id="rId2" imgW="2870200" imgH="406400" progId="Equation.3">
                  <p:embed/>
                  <p:pic>
                    <p:nvPicPr>
                      <p:cNvPr id="295941" name="Object 5">
                        <a:extLst>
                          <a:ext uri="{FF2B5EF4-FFF2-40B4-BE49-F238E27FC236}">
                            <a16:creationId xmlns:a16="http://schemas.microsoft.com/office/drawing/2014/main" id="{F1494DE3-FC98-5D8C-596D-5142740415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398" y="4938710"/>
                        <a:ext cx="5716323" cy="809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42" name="Object 6">
            <a:extLst>
              <a:ext uri="{FF2B5EF4-FFF2-40B4-BE49-F238E27FC236}">
                <a16:creationId xmlns:a16="http://schemas.microsoft.com/office/drawing/2014/main" id="{7AD043BB-8C09-72D3-4EA5-A635817B13FB}"/>
              </a:ext>
            </a:extLst>
          </p:cNvPr>
          <p:cNvGraphicFramePr>
            <a:graphicFrameLocks noChangeAspect="1"/>
          </p:cNvGraphicFramePr>
          <p:nvPr>
            <p:extLst>
              <p:ext uri="{D42A27DB-BD31-4B8C-83A1-F6EECF244321}">
                <p14:modId xmlns:p14="http://schemas.microsoft.com/office/powerpoint/2010/main" val="443932491"/>
              </p:ext>
            </p:extLst>
          </p:nvPr>
        </p:nvGraphicFramePr>
        <p:xfrm>
          <a:off x="1098624" y="5670716"/>
          <a:ext cx="7129525" cy="944781"/>
        </p:xfrm>
        <a:graphic>
          <a:graphicData uri="http://schemas.openxmlformats.org/presentationml/2006/ole">
            <mc:AlternateContent xmlns:mc="http://schemas.openxmlformats.org/markup-compatibility/2006">
              <mc:Choice xmlns:v="urn:schemas-microsoft-com:vml" Requires="v">
                <p:oleObj name="Equation" r:id="rId4" imgW="3543300" imgH="469900" progId="Equation.DSMT4">
                  <p:embed/>
                </p:oleObj>
              </mc:Choice>
              <mc:Fallback>
                <p:oleObj name="Equation" r:id="rId4" imgW="3543300" imgH="469900" progId="Equation.DSMT4">
                  <p:embed/>
                  <p:pic>
                    <p:nvPicPr>
                      <p:cNvPr id="295942" name="Object 6">
                        <a:extLst>
                          <a:ext uri="{FF2B5EF4-FFF2-40B4-BE49-F238E27FC236}">
                            <a16:creationId xmlns:a16="http://schemas.microsoft.com/office/drawing/2014/main" id="{7AD043BB-8C09-72D3-4EA5-A635817B13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624" y="5670716"/>
                        <a:ext cx="7129525" cy="9447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43" name="Object 7">
            <a:extLst>
              <a:ext uri="{FF2B5EF4-FFF2-40B4-BE49-F238E27FC236}">
                <a16:creationId xmlns:a16="http://schemas.microsoft.com/office/drawing/2014/main" id="{ED5B2173-4EB1-1E5C-2C2D-639B1E0FAF7D}"/>
              </a:ext>
            </a:extLst>
          </p:cNvPr>
          <p:cNvGraphicFramePr>
            <a:graphicFrameLocks noChangeAspect="1"/>
          </p:cNvGraphicFramePr>
          <p:nvPr>
            <p:extLst>
              <p:ext uri="{D42A27DB-BD31-4B8C-83A1-F6EECF244321}">
                <p14:modId xmlns:p14="http://schemas.microsoft.com/office/powerpoint/2010/main" val="4106580116"/>
              </p:ext>
            </p:extLst>
          </p:nvPr>
        </p:nvGraphicFramePr>
        <p:xfrm>
          <a:off x="1540051" y="1966222"/>
          <a:ext cx="4801711" cy="879679"/>
        </p:xfrm>
        <a:graphic>
          <a:graphicData uri="http://schemas.openxmlformats.org/presentationml/2006/ole">
            <mc:AlternateContent xmlns:mc="http://schemas.openxmlformats.org/markup-compatibility/2006">
              <mc:Choice xmlns:v="urn:schemas-microsoft-com:vml" Requires="v">
                <p:oleObj name="Equation" r:id="rId6" imgW="2425700" imgH="444500" progId="Equation.3">
                  <p:embed/>
                </p:oleObj>
              </mc:Choice>
              <mc:Fallback>
                <p:oleObj name="Equation" r:id="rId6" imgW="2425700" imgH="444500" progId="Equation.3">
                  <p:embed/>
                  <p:pic>
                    <p:nvPicPr>
                      <p:cNvPr id="295943" name="Object 7">
                        <a:extLst>
                          <a:ext uri="{FF2B5EF4-FFF2-40B4-BE49-F238E27FC236}">
                            <a16:creationId xmlns:a16="http://schemas.microsoft.com/office/drawing/2014/main" id="{ED5B2173-4EB1-1E5C-2C2D-639B1E0FAF7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0051" y="1966222"/>
                        <a:ext cx="4801711" cy="879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44" name="Object 8">
            <a:extLst>
              <a:ext uri="{FF2B5EF4-FFF2-40B4-BE49-F238E27FC236}">
                <a16:creationId xmlns:a16="http://schemas.microsoft.com/office/drawing/2014/main" id="{52939CDA-C2A1-ACDF-A4D0-9DFF9FC93A81}"/>
              </a:ext>
            </a:extLst>
          </p:cNvPr>
          <p:cNvGraphicFramePr>
            <a:graphicFrameLocks noChangeAspect="1"/>
          </p:cNvGraphicFramePr>
          <p:nvPr>
            <p:extLst>
              <p:ext uri="{D42A27DB-BD31-4B8C-83A1-F6EECF244321}">
                <p14:modId xmlns:p14="http://schemas.microsoft.com/office/powerpoint/2010/main" val="480186058"/>
              </p:ext>
            </p:extLst>
          </p:nvPr>
        </p:nvGraphicFramePr>
        <p:xfrm>
          <a:off x="1540051" y="2852252"/>
          <a:ext cx="3582229" cy="803461"/>
        </p:xfrm>
        <a:graphic>
          <a:graphicData uri="http://schemas.openxmlformats.org/presentationml/2006/ole">
            <mc:AlternateContent xmlns:mc="http://schemas.openxmlformats.org/markup-compatibility/2006">
              <mc:Choice xmlns:v="urn:schemas-microsoft-com:vml" Requires="v">
                <p:oleObj name="Equation" r:id="rId8" imgW="1981200" imgH="444500" progId="Equation.3">
                  <p:embed/>
                </p:oleObj>
              </mc:Choice>
              <mc:Fallback>
                <p:oleObj name="Equation" r:id="rId8" imgW="1981200" imgH="444500" progId="Equation.3">
                  <p:embed/>
                  <p:pic>
                    <p:nvPicPr>
                      <p:cNvPr id="295944" name="Object 8">
                        <a:extLst>
                          <a:ext uri="{FF2B5EF4-FFF2-40B4-BE49-F238E27FC236}">
                            <a16:creationId xmlns:a16="http://schemas.microsoft.com/office/drawing/2014/main" id="{52939CDA-C2A1-ACDF-A4D0-9DFF9FC93A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0051" y="2852252"/>
                        <a:ext cx="3582229" cy="8034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45" name="Object 9">
            <a:extLst>
              <a:ext uri="{FF2B5EF4-FFF2-40B4-BE49-F238E27FC236}">
                <a16:creationId xmlns:a16="http://schemas.microsoft.com/office/drawing/2014/main" id="{5E80600A-15C8-961A-1FBE-D0AFF1FE26CD}"/>
              </a:ext>
            </a:extLst>
          </p:cNvPr>
          <p:cNvGraphicFramePr>
            <a:graphicFrameLocks noChangeAspect="1"/>
          </p:cNvGraphicFramePr>
          <p:nvPr>
            <p:extLst>
              <p:ext uri="{D42A27DB-BD31-4B8C-83A1-F6EECF244321}">
                <p14:modId xmlns:p14="http://schemas.microsoft.com/office/powerpoint/2010/main" val="293471322"/>
              </p:ext>
            </p:extLst>
          </p:nvPr>
        </p:nvGraphicFramePr>
        <p:xfrm>
          <a:off x="1540051" y="3630307"/>
          <a:ext cx="6478499" cy="774879"/>
        </p:xfrm>
        <a:graphic>
          <a:graphicData uri="http://schemas.openxmlformats.org/presentationml/2006/ole">
            <mc:AlternateContent xmlns:mc="http://schemas.openxmlformats.org/markup-compatibility/2006">
              <mc:Choice xmlns:v="urn:schemas-microsoft-com:vml" Requires="v">
                <p:oleObj name="Equation" r:id="rId10" imgW="3708400" imgH="444500" progId="Equation.3">
                  <p:embed/>
                </p:oleObj>
              </mc:Choice>
              <mc:Fallback>
                <p:oleObj name="Equation" r:id="rId10" imgW="3708400" imgH="444500" progId="Equation.3">
                  <p:embed/>
                  <p:pic>
                    <p:nvPicPr>
                      <p:cNvPr id="295945" name="Object 9">
                        <a:extLst>
                          <a:ext uri="{FF2B5EF4-FFF2-40B4-BE49-F238E27FC236}">
                            <a16:creationId xmlns:a16="http://schemas.microsoft.com/office/drawing/2014/main" id="{5E80600A-15C8-961A-1FBE-D0AFF1FE26C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0051" y="3630307"/>
                        <a:ext cx="6478499" cy="7748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5946" name="Rectangle 10">
            <a:extLst>
              <a:ext uri="{FF2B5EF4-FFF2-40B4-BE49-F238E27FC236}">
                <a16:creationId xmlns:a16="http://schemas.microsoft.com/office/drawing/2014/main" id="{9B3BD5D7-A732-E04B-B80A-79A05BF4D351}"/>
              </a:ext>
            </a:extLst>
          </p:cNvPr>
          <p:cNvSpPr>
            <a:spLocks noChangeArrowheads="1"/>
          </p:cNvSpPr>
          <p:nvPr/>
        </p:nvSpPr>
        <p:spPr bwMode="auto">
          <a:xfrm>
            <a:off x="1463834" y="4368665"/>
            <a:ext cx="7088240" cy="465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10000"/>
              </a:lnSpc>
              <a:buClrTx/>
              <a:buFontTx/>
              <a:buNone/>
            </a:pPr>
            <a:r>
              <a:rPr lang="zh-CN" altLang="en-US" sz="2400">
                <a:sym typeface="Symbol" panose="05050102010706020507" pitchFamily="18" charset="2"/>
              </a:rPr>
              <a:t>＝</a:t>
            </a:r>
            <a:r>
              <a:rPr lang="en-US" altLang="zh-CN" sz="2400">
                <a:sym typeface="Symbol" panose="05050102010706020507" pitchFamily="18" charset="2"/>
              </a:rPr>
              <a:t>p</a:t>
            </a:r>
            <a:r>
              <a:rPr lang="en-US" altLang="zh-CN" sz="2400" baseline="-25000">
                <a:sym typeface="Symbol" panose="05050102010706020507" pitchFamily="18" charset="2"/>
              </a:rPr>
              <a:t>k</a:t>
            </a:r>
            <a:r>
              <a:rPr lang="en-US" altLang="zh-CN" sz="2400">
                <a:sym typeface="Symbol" panose="05050102010706020507" pitchFamily="18" charset="2"/>
              </a:rPr>
              <a:t>(t)[1-h+o(h)]+p</a:t>
            </a:r>
            <a:r>
              <a:rPr lang="en-US" altLang="zh-CN" sz="2400" baseline="-25000">
                <a:sym typeface="Symbol" panose="05050102010706020507" pitchFamily="18" charset="2"/>
              </a:rPr>
              <a:t>k-1</a:t>
            </a:r>
            <a:r>
              <a:rPr lang="en-US" altLang="zh-CN" sz="2400">
                <a:sym typeface="Symbol" panose="05050102010706020507" pitchFamily="18" charset="2"/>
              </a:rPr>
              <a:t>(t)[h+o(h)]+o(h)</a:t>
            </a:r>
            <a:r>
              <a:rPr lang="zh-CN" altLang="en-US" sz="240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5939">
                                            <p:txEl>
                                              <p:pRg st="0" end="0"/>
                                            </p:txEl>
                                          </p:spTgt>
                                        </p:tgtEl>
                                        <p:attrNameLst>
                                          <p:attrName>style.visibility</p:attrName>
                                        </p:attrNameLst>
                                      </p:cBhvr>
                                      <p:to>
                                        <p:strVal val="visible"/>
                                      </p:to>
                                    </p:set>
                                    <p:animEffect transition="in" filter="wipe(up)">
                                      <p:cBhvr>
                                        <p:cTn id="7" dur="500"/>
                                        <p:tgtEl>
                                          <p:spTgt spid="295939">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95940"/>
                                        </p:tgtEl>
                                        <p:attrNameLst>
                                          <p:attrName>style.visibility</p:attrName>
                                        </p:attrNameLst>
                                      </p:cBhvr>
                                      <p:to>
                                        <p:strVal val="visible"/>
                                      </p:to>
                                    </p:set>
                                    <p:animEffect transition="in" filter="wipe(up)">
                                      <p:cBhvr>
                                        <p:cTn id="11" dur="500"/>
                                        <p:tgtEl>
                                          <p:spTgt spid="29594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95943"/>
                                        </p:tgtEl>
                                        <p:attrNameLst>
                                          <p:attrName>style.visibility</p:attrName>
                                        </p:attrNameLst>
                                      </p:cBhvr>
                                      <p:to>
                                        <p:strVal val="visible"/>
                                      </p:to>
                                    </p:set>
                                    <p:animEffect transition="in" filter="wipe(up)">
                                      <p:cBhvr>
                                        <p:cTn id="16" dur="500"/>
                                        <p:tgtEl>
                                          <p:spTgt spid="29594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295944"/>
                                        </p:tgtEl>
                                        <p:attrNameLst>
                                          <p:attrName>style.visibility</p:attrName>
                                        </p:attrNameLst>
                                      </p:cBhvr>
                                      <p:to>
                                        <p:strVal val="visible"/>
                                      </p:to>
                                    </p:set>
                                    <p:animEffect transition="in" filter="wipe(up)">
                                      <p:cBhvr>
                                        <p:cTn id="21" dur="500"/>
                                        <p:tgtEl>
                                          <p:spTgt spid="29594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295945"/>
                                        </p:tgtEl>
                                        <p:attrNameLst>
                                          <p:attrName>style.visibility</p:attrName>
                                        </p:attrNameLst>
                                      </p:cBhvr>
                                      <p:to>
                                        <p:strVal val="visible"/>
                                      </p:to>
                                    </p:set>
                                    <p:animEffect transition="in" filter="wipe(up)">
                                      <p:cBhvr>
                                        <p:cTn id="26" dur="500"/>
                                        <p:tgtEl>
                                          <p:spTgt spid="29594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295946"/>
                                        </p:tgtEl>
                                        <p:attrNameLst>
                                          <p:attrName>style.visibility</p:attrName>
                                        </p:attrNameLst>
                                      </p:cBhvr>
                                      <p:to>
                                        <p:strVal val="visible"/>
                                      </p:to>
                                    </p:set>
                                    <p:animEffect transition="in" filter="wipe(up)">
                                      <p:cBhvr>
                                        <p:cTn id="31" dur="500"/>
                                        <p:tgtEl>
                                          <p:spTgt spid="29594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295941"/>
                                        </p:tgtEl>
                                        <p:attrNameLst>
                                          <p:attrName>style.visibility</p:attrName>
                                        </p:attrNameLst>
                                      </p:cBhvr>
                                      <p:to>
                                        <p:strVal val="visible"/>
                                      </p:to>
                                    </p:set>
                                    <p:animEffect transition="in" filter="wipe(up)">
                                      <p:cBhvr>
                                        <p:cTn id="36" dur="500"/>
                                        <p:tgtEl>
                                          <p:spTgt spid="29594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295942"/>
                                        </p:tgtEl>
                                        <p:attrNameLst>
                                          <p:attrName>style.visibility</p:attrName>
                                        </p:attrNameLst>
                                      </p:cBhvr>
                                      <p:to>
                                        <p:strVal val="visible"/>
                                      </p:to>
                                    </p:set>
                                    <p:animEffect transition="in" filter="wipe(up)">
                                      <p:cBhvr>
                                        <p:cTn id="41" dur="500"/>
                                        <p:tgtEl>
                                          <p:spTgt spid="295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39" grpId="0" build="p"/>
      <p:bldP spid="295940" grpId="0"/>
      <p:bldP spid="29594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a:extLst>
              <a:ext uri="{FF2B5EF4-FFF2-40B4-BE49-F238E27FC236}">
                <a16:creationId xmlns:a16="http://schemas.microsoft.com/office/drawing/2014/main" id="{7E6BA9CA-EB1F-6463-6062-8D4F2ABD0D86}"/>
              </a:ext>
            </a:extLst>
          </p:cNvPr>
          <p:cNvSpPr>
            <a:spLocks noGrp="1" noChangeArrowheads="1"/>
          </p:cNvSpPr>
          <p:nvPr>
            <p:ph type="title"/>
          </p:nvPr>
        </p:nvSpPr>
        <p:spPr/>
        <p:txBody>
          <a:bodyPr/>
          <a:lstStyle/>
          <a:p>
            <a:pPr algn="l" eaLnBrk="1" hangingPunct="1"/>
            <a:r>
              <a:rPr lang="zh-CN" altLang="en-US"/>
              <a:t>证明</a:t>
            </a:r>
            <a:r>
              <a:rPr lang="en-US" altLang="zh-CN"/>
              <a:t>(</a:t>
            </a:r>
            <a:r>
              <a:rPr lang="zh-CN" altLang="en-US"/>
              <a:t>续</a:t>
            </a:r>
            <a:r>
              <a:rPr lang="en-US" altLang="zh-CN"/>
              <a:t>2)</a:t>
            </a:r>
          </a:p>
        </p:txBody>
      </p:sp>
      <p:sp>
        <p:nvSpPr>
          <p:cNvPr id="296963" name="Rectangle 3">
            <a:extLst>
              <a:ext uri="{FF2B5EF4-FFF2-40B4-BE49-F238E27FC236}">
                <a16:creationId xmlns:a16="http://schemas.microsoft.com/office/drawing/2014/main" id="{9E52890F-5780-A607-C989-CD880F260CB3}"/>
              </a:ext>
            </a:extLst>
          </p:cNvPr>
          <p:cNvSpPr>
            <a:spLocks noGrp="1" noChangeArrowheads="1"/>
          </p:cNvSpPr>
          <p:nvPr>
            <p:ph type="body" idx="1"/>
          </p:nvPr>
        </p:nvSpPr>
        <p:spPr>
          <a:xfrm>
            <a:off x="774700" y="1219994"/>
            <a:ext cx="7850417" cy="406494"/>
          </a:xfrm>
        </p:spPr>
        <p:txBody>
          <a:bodyPr>
            <a:normAutofit fontScale="85000" lnSpcReduction="20000"/>
          </a:bodyPr>
          <a:lstStyle/>
          <a:p>
            <a:pPr eaLnBrk="1" hangingPunct="1">
              <a:lnSpc>
                <a:spcPct val="110000"/>
              </a:lnSpc>
              <a:buFont typeface="Wingdings" panose="05000000000000000000" pitchFamily="2" charset="2"/>
              <a:buNone/>
            </a:pPr>
            <a:r>
              <a:rPr lang="en-US" altLang="zh-CN"/>
              <a:t>k=1</a:t>
            </a:r>
            <a:r>
              <a:rPr lang="zh-CN" altLang="en-US"/>
              <a:t>时</a:t>
            </a:r>
            <a:r>
              <a:rPr lang="en-US" altLang="zh-CN"/>
              <a:t>, </a:t>
            </a:r>
            <a:endParaRPr lang="en-US" altLang="zh-CN">
              <a:solidFill>
                <a:srgbClr val="0000FF"/>
              </a:solidFill>
            </a:endParaRPr>
          </a:p>
        </p:txBody>
      </p:sp>
      <p:graphicFrame>
        <p:nvGraphicFramePr>
          <p:cNvPr id="296964" name="Object 4">
            <a:extLst>
              <a:ext uri="{FF2B5EF4-FFF2-40B4-BE49-F238E27FC236}">
                <a16:creationId xmlns:a16="http://schemas.microsoft.com/office/drawing/2014/main" id="{F87F2587-DF6F-9353-85B3-0F7662F62DD5}"/>
              </a:ext>
            </a:extLst>
          </p:cNvPr>
          <p:cNvGraphicFramePr>
            <a:graphicFrameLocks noChangeAspect="1"/>
          </p:cNvGraphicFramePr>
          <p:nvPr>
            <p:extLst>
              <p:ext uri="{D42A27DB-BD31-4B8C-83A1-F6EECF244321}">
                <p14:modId xmlns:p14="http://schemas.microsoft.com/office/powerpoint/2010/main" val="2559724558"/>
              </p:ext>
            </p:extLst>
          </p:nvPr>
        </p:nvGraphicFramePr>
        <p:xfrm>
          <a:off x="1955456" y="981019"/>
          <a:ext cx="2972488" cy="927315"/>
        </p:xfrm>
        <a:graphic>
          <a:graphicData uri="http://schemas.openxmlformats.org/presentationml/2006/ole">
            <mc:AlternateContent xmlns:mc="http://schemas.openxmlformats.org/markup-compatibility/2006">
              <mc:Choice xmlns:v="urn:schemas-microsoft-com:vml" Requires="v">
                <p:oleObj name="Equation" r:id="rId2" imgW="1586811" imgH="495085" progId="Equation.3">
                  <p:embed/>
                </p:oleObj>
              </mc:Choice>
              <mc:Fallback>
                <p:oleObj name="Equation" r:id="rId2" imgW="1586811" imgH="495085" progId="Equation.3">
                  <p:embed/>
                  <p:pic>
                    <p:nvPicPr>
                      <p:cNvPr id="296964" name="Object 4">
                        <a:extLst>
                          <a:ext uri="{FF2B5EF4-FFF2-40B4-BE49-F238E27FC236}">
                            <a16:creationId xmlns:a16="http://schemas.microsoft.com/office/drawing/2014/main" id="{F87F2587-DF6F-9353-85B3-0F7662F62D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5456" y="981019"/>
                        <a:ext cx="2972488" cy="927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6965" name="Rectangle 5">
            <a:extLst>
              <a:ext uri="{FF2B5EF4-FFF2-40B4-BE49-F238E27FC236}">
                <a16:creationId xmlns:a16="http://schemas.microsoft.com/office/drawing/2014/main" id="{BDED14B7-58D0-9924-43E9-561EA412B85A}"/>
              </a:ext>
            </a:extLst>
          </p:cNvPr>
          <p:cNvSpPr>
            <a:spLocks noChangeArrowheads="1"/>
          </p:cNvSpPr>
          <p:nvPr/>
        </p:nvSpPr>
        <p:spPr bwMode="auto">
          <a:xfrm>
            <a:off x="5253280" y="1186494"/>
            <a:ext cx="6743674" cy="45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00000"/>
              </a:lnSpc>
              <a:buClrTx/>
              <a:buFontTx/>
              <a:buNone/>
            </a:pPr>
            <a:r>
              <a:rPr lang="zh-CN" altLang="en-US" sz="2400" dirty="0">
                <a:sym typeface="Symbol" panose="05050102010706020507" pitchFamily="18" charset="2"/>
              </a:rPr>
              <a:t>解得：</a:t>
            </a:r>
            <a:r>
              <a:rPr lang="en-US" altLang="zh-CN" sz="2400" dirty="0">
                <a:sym typeface="Symbol" panose="05050102010706020507" pitchFamily="18" charset="2"/>
              </a:rPr>
              <a:t>p</a:t>
            </a:r>
            <a:r>
              <a:rPr lang="en-US" altLang="zh-CN" sz="2400" baseline="-25000" dirty="0">
                <a:sym typeface="Symbol" panose="05050102010706020507" pitchFamily="18" charset="2"/>
              </a:rPr>
              <a:t>1</a:t>
            </a:r>
            <a:r>
              <a:rPr lang="en-US" altLang="zh-CN" sz="2400" dirty="0">
                <a:sym typeface="Symbol" panose="05050102010706020507" pitchFamily="18" charset="2"/>
              </a:rPr>
              <a:t>(t)</a:t>
            </a:r>
            <a:r>
              <a:rPr lang="zh-CN" altLang="en-US" sz="2400" dirty="0">
                <a:sym typeface="Symbol" panose="05050102010706020507" pitchFamily="18" charset="2"/>
              </a:rPr>
              <a:t>＝</a:t>
            </a:r>
            <a:r>
              <a:rPr lang="en-US" altLang="zh-CN" sz="2400" dirty="0" err="1">
                <a:sym typeface="Symbol" panose="05050102010706020507" pitchFamily="18" charset="2"/>
              </a:rPr>
              <a:t>te</a:t>
            </a:r>
            <a:r>
              <a:rPr lang="en-US" altLang="zh-CN" sz="2400" baseline="30000" dirty="0">
                <a:sym typeface="Symbol" panose="05050102010706020507" pitchFamily="18" charset="2"/>
              </a:rPr>
              <a:t>-t</a:t>
            </a:r>
            <a:r>
              <a:rPr lang="zh-CN" altLang="en-US" sz="2400" dirty="0">
                <a:sym typeface="Symbol" panose="05050102010706020507" pitchFamily="18" charset="2"/>
              </a:rPr>
              <a:t>，所以</a:t>
            </a:r>
            <a:r>
              <a:rPr lang="en-US" altLang="zh-CN" sz="2400" dirty="0">
                <a:sym typeface="Symbol" panose="05050102010706020507" pitchFamily="18" charset="2"/>
              </a:rPr>
              <a:t>k=1</a:t>
            </a:r>
            <a:r>
              <a:rPr lang="zh-CN" altLang="en-US" sz="2400" dirty="0">
                <a:sym typeface="Symbol" panose="05050102010706020507" pitchFamily="18" charset="2"/>
              </a:rPr>
              <a:t>时结论成立。</a:t>
            </a:r>
          </a:p>
        </p:txBody>
      </p:sp>
      <p:sp>
        <p:nvSpPr>
          <p:cNvPr id="296966" name="Rectangle 6">
            <a:extLst>
              <a:ext uri="{FF2B5EF4-FFF2-40B4-BE49-F238E27FC236}">
                <a16:creationId xmlns:a16="http://schemas.microsoft.com/office/drawing/2014/main" id="{21C1488C-3FEE-A1E7-9267-939FC5203107}"/>
              </a:ext>
            </a:extLst>
          </p:cNvPr>
          <p:cNvSpPr>
            <a:spLocks noChangeArrowheads="1"/>
          </p:cNvSpPr>
          <p:nvPr/>
        </p:nvSpPr>
        <p:spPr bwMode="auto">
          <a:xfrm>
            <a:off x="786342" y="2256615"/>
            <a:ext cx="3059821" cy="45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00000"/>
              </a:lnSpc>
              <a:buClrTx/>
              <a:buFontTx/>
              <a:buNone/>
            </a:pPr>
            <a:r>
              <a:rPr lang="zh-CN" altLang="en-US" sz="2400" dirty="0">
                <a:sym typeface="Symbol" panose="05050102010706020507" pitchFamily="18" charset="2"/>
              </a:rPr>
              <a:t>假设</a:t>
            </a:r>
            <a:r>
              <a:rPr lang="en-US" altLang="zh-CN" sz="2400" dirty="0">
                <a:sym typeface="Symbol" panose="05050102010706020507" pitchFamily="18" charset="2"/>
              </a:rPr>
              <a:t>k-1</a:t>
            </a:r>
            <a:r>
              <a:rPr lang="zh-CN" altLang="en-US" sz="2400" dirty="0">
                <a:sym typeface="Symbol" panose="05050102010706020507" pitchFamily="18" charset="2"/>
              </a:rPr>
              <a:t>时结论成立，</a:t>
            </a:r>
          </a:p>
        </p:txBody>
      </p:sp>
      <p:graphicFrame>
        <p:nvGraphicFramePr>
          <p:cNvPr id="296967" name="Object 7">
            <a:extLst>
              <a:ext uri="{FF2B5EF4-FFF2-40B4-BE49-F238E27FC236}">
                <a16:creationId xmlns:a16="http://schemas.microsoft.com/office/drawing/2014/main" id="{FCB15115-DD03-F39E-BB23-38C4F5FB385F}"/>
              </a:ext>
            </a:extLst>
          </p:cNvPr>
          <p:cNvGraphicFramePr>
            <a:graphicFrameLocks noChangeAspect="1"/>
          </p:cNvGraphicFramePr>
          <p:nvPr>
            <p:extLst>
              <p:ext uri="{D42A27DB-BD31-4B8C-83A1-F6EECF244321}">
                <p14:modId xmlns:p14="http://schemas.microsoft.com/office/powerpoint/2010/main" val="3155976217"/>
              </p:ext>
            </p:extLst>
          </p:nvPr>
        </p:nvGraphicFramePr>
        <p:xfrm>
          <a:off x="3812817" y="2081951"/>
          <a:ext cx="2461195" cy="795521"/>
        </p:xfrm>
        <a:graphic>
          <a:graphicData uri="http://schemas.openxmlformats.org/presentationml/2006/ole">
            <mc:AlternateContent xmlns:mc="http://schemas.openxmlformats.org/markup-compatibility/2006">
              <mc:Choice xmlns:v="urn:schemas-microsoft-com:vml" Requires="v">
                <p:oleObj name="Equation" r:id="rId4" imgW="1371600" imgH="444500" progId="Equation.3">
                  <p:embed/>
                </p:oleObj>
              </mc:Choice>
              <mc:Fallback>
                <p:oleObj name="Equation" r:id="rId4" imgW="1371600" imgH="444500" progId="Equation.3">
                  <p:embed/>
                  <p:pic>
                    <p:nvPicPr>
                      <p:cNvPr id="296967" name="Object 7">
                        <a:extLst>
                          <a:ext uri="{FF2B5EF4-FFF2-40B4-BE49-F238E27FC236}">
                            <a16:creationId xmlns:a16="http://schemas.microsoft.com/office/drawing/2014/main" id="{FCB15115-DD03-F39E-BB23-38C4F5FB38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2817" y="2081951"/>
                        <a:ext cx="2461195" cy="7955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6968" name="Object 8">
            <a:extLst>
              <a:ext uri="{FF2B5EF4-FFF2-40B4-BE49-F238E27FC236}">
                <a16:creationId xmlns:a16="http://schemas.microsoft.com/office/drawing/2014/main" id="{29F32D8A-3BE6-38DE-6EF3-198E6DCA68DE}"/>
              </a:ext>
            </a:extLst>
          </p:cNvPr>
          <p:cNvGraphicFramePr>
            <a:graphicFrameLocks noChangeAspect="1"/>
          </p:cNvGraphicFramePr>
          <p:nvPr>
            <p:extLst>
              <p:ext uri="{D42A27DB-BD31-4B8C-83A1-F6EECF244321}">
                <p14:modId xmlns:p14="http://schemas.microsoft.com/office/powerpoint/2010/main" val="2216120234"/>
              </p:ext>
            </p:extLst>
          </p:nvPr>
        </p:nvGraphicFramePr>
        <p:xfrm>
          <a:off x="1299968" y="2981225"/>
          <a:ext cx="3506011" cy="881267"/>
        </p:xfrm>
        <a:graphic>
          <a:graphicData uri="http://schemas.openxmlformats.org/presentationml/2006/ole">
            <mc:AlternateContent xmlns:mc="http://schemas.openxmlformats.org/markup-compatibility/2006">
              <mc:Choice xmlns:v="urn:schemas-microsoft-com:vml" Requires="v">
                <p:oleObj name="Equation" r:id="rId6" imgW="1866900" imgH="469900" progId="Equation.3">
                  <p:embed/>
                </p:oleObj>
              </mc:Choice>
              <mc:Fallback>
                <p:oleObj name="Equation" r:id="rId6" imgW="1866900" imgH="469900" progId="Equation.3">
                  <p:embed/>
                  <p:pic>
                    <p:nvPicPr>
                      <p:cNvPr id="296968" name="Object 8">
                        <a:extLst>
                          <a:ext uri="{FF2B5EF4-FFF2-40B4-BE49-F238E27FC236}">
                            <a16:creationId xmlns:a16="http://schemas.microsoft.com/office/drawing/2014/main" id="{29F32D8A-3BE6-38DE-6EF3-198E6DCA68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9968" y="2981225"/>
                        <a:ext cx="3506011" cy="881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6969" name="Rectangle 9">
            <a:extLst>
              <a:ext uri="{FF2B5EF4-FFF2-40B4-BE49-F238E27FC236}">
                <a16:creationId xmlns:a16="http://schemas.microsoft.com/office/drawing/2014/main" id="{C87B3445-3B16-3E00-3EBD-0C101E608D9C}"/>
              </a:ext>
            </a:extLst>
          </p:cNvPr>
          <p:cNvSpPr>
            <a:spLocks noChangeArrowheads="1"/>
          </p:cNvSpPr>
          <p:nvPr/>
        </p:nvSpPr>
        <p:spPr bwMode="auto">
          <a:xfrm>
            <a:off x="842662" y="3171769"/>
            <a:ext cx="494160" cy="46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00000"/>
              </a:lnSpc>
              <a:buClrTx/>
              <a:buFontTx/>
              <a:buNone/>
            </a:pPr>
            <a:r>
              <a:rPr lang="zh-CN" altLang="en-US" sz="2400">
                <a:sym typeface="Symbol" panose="05050102010706020507" pitchFamily="18" charset="2"/>
              </a:rPr>
              <a:t>解</a:t>
            </a:r>
          </a:p>
        </p:txBody>
      </p:sp>
      <p:sp>
        <p:nvSpPr>
          <p:cNvPr id="296970" name="Rectangle 10">
            <a:extLst>
              <a:ext uri="{FF2B5EF4-FFF2-40B4-BE49-F238E27FC236}">
                <a16:creationId xmlns:a16="http://schemas.microsoft.com/office/drawing/2014/main" id="{BE63160D-10F2-A6E5-2638-D97261384B36}"/>
              </a:ext>
            </a:extLst>
          </p:cNvPr>
          <p:cNvSpPr>
            <a:spLocks noChangeArrowheads="1"/>
          </p:cNvSpPr>
          <p:nvPr/>
        </p:nvSpPr>
        <p:spPr bwMode="auto">
          <a:xfrm>
            <a:off x="5415721" y="3171769"/>
            <a:ext cx="494160" cy="46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00000"/>
              </a:lnSpc>
              <a:buClrTx/>
              <a:buFontTx/>
              <a:buNone/>
            </a:pPr>
            <a:r>
              <a:rPr lang="zh-CN" altLang="en-US" sz="2400">
                <a:sym typeface="Symbol" panose="05050102010706020507" pitchFamily="18" charset="2"/>
              </a:rPr>
              <a:t>得</a:t>
            </a:r>
          </a:p>
        </p:txBody>
      </p:sp>
      <p:graphicFrame>
        <p:nvGraphicFramePr>
          <p:cNvPr id="296971" name="Object 11">
            <a:extLst>
              <a:ext uri="{FF2B5EF4-FFF2-40B4-BE49-F238E27FC236}">
                <a16:creationId xmlns:a16="http://schemas.microsoft.com/office/drawing/2014/main" id="{526AF7AC-04E8-F2C5-427B-763E43822DB3}"/>
              </a:ext>
            </a:extLst>
          </p:cNvPr>
          <p:cNvGraphicFramePr>
            <a:graphicFrameLocks noChangeAspect="1"/>
          </p:cNvGraphicFramePr>
          <p:nvPr>
            <p:extLst>
              <p:ext uri="{D42A27DB-BD31-4B8C-83A1-F6EECF244321}">
                <p14:modId xmlns:p14="http://schemas.microsoft.com/office/powerpoint/2010/main" val="4111643231"/>
              </p:ext>
            </p:extLst>
          </p:nvPr>
        </p:nvGraphicFramePr>
        <p:xfrm>
          <a:off x="5873026" y="2981224"/>
          <a:ext cx="2210312" cy="800285"/>
        </p:xfrm>
        <a:graphic>
          <a:graphicData uri="http://schemas.openxmlformats.org/presentationml/2006/ole">
            <mc:AlternateContent xmlns:mc="http://schemas.openxmlformats.org/markup-compatibility/2006">
              <mc:Choice xmlns:v="urn:schemas-microsoft-com:vml" Requires="v">
                <p:oleObj name="Equation" r:id="rId8" imgW="1155700" imgH="419100" progId="Equation.3">
                  <p:embed/>
                </p:oleObj>
              </mc:Choice>
              <mc:Fallback>
                <p:oleObj name="Equation" r:id="rId8" imgW="1155700" imgH="419100" progId="Equation.3">
                  <p:embed/>
                  <p:pic>
                    <p:nvPicPr>
                      <p:cNvPr id="296971" name="Object 11">
                        <a:extLst>
                          <a:ext uri="{FF2B5EF4-FFF2-40B4-BE49-F238E27FC236}">
                            <a16:creationId xmlns:a16="http://schemas.microsoft.com/office/drawing/2014/main" id="{526AF7AC-04E8-F2C5-427B-763E43822D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73026" y="2981224"/>
                        <a:ext cx="2210312" cy="800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6972" name="Rectangle 12">
            <a:extLst>
              <a:ext uri="{FF2B5EF4-FFF2-40B4-BE49-F238E27FC236}">
                <a16:creationId xmlns:a16="http://schemas.microsoft.com/office/drawing/2014/main" id="{310416A2-8FCA-2DB7-A293-6FE66BAF6CC2}"/>
              </a:ext>
            </a:extLst>
          </p:cNvPr>
          <p:cNvSpPr>
            <a:spLocks noChangeArrowheads="1"/>
          </p:cNvSpPr>
          <p:nvPr/>
        </p:nvSpPr>
        <p:spPr bwMode="auto">
          <a:xfrm>
            <a:off x="850917" y="3887611"/>
            <a:ext cx="9058258" cy="168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Tx/>
              <a:buFontTx/>
              <a:buNone/>
            </a:pPr>
            <a:r>
              <a:rPr lang="zh-CN" altLang="en-US" sz="2400" dirty="0">
                <a:sym typeface="Symbol" panose="05050102010706020507" pitchFamily="18" charset="2"/>
              </a:rPr>
              <a:t>结论成立。</a:t>
            </a:r>
          </a:p>
          <a:p>
            <a:pPr eaLnBrk="1" hangingPunct="1">
              <a:lnSpc>
                <a:spcPct val="150000"/>
              </a:lnSpc>
              <a:buClrTx/>
              <a:buFontTx/>
              <a:buNone/>
            </a:pPr>
            <a:r>
              <a:rPr lang="zh-CN" altLang="en-US" sz="2400" dirty="0">
                <a:sym typeface="Symbol" panose="05050102010706020507" pitchFamily="18" charset="2"/>
              </a:rPr>
              <a:t>由归纳法知，对一切</a:t>
            </a:r>
            <a:r>
              <a:rPr lang="en-US" altLang="zh-CN" sz="2400" dirty="0">
                <a:sym typeface="Symbol" panose="05050102010706020507" pitchFamily="18" charset="2"/>
              </a:rPr>
              <a:t>k=0, 1, 2, …</a:t>
            </a:r>
            <a:r>
              <a:rPr lang="zh-CN" altLang="en-US" sz="2400" dirty="0">
                <a:sym typeface="Symbol" panose="05050102010706020507" pitchFamily="18" charset="2"/>
              </a:rPr>
              <a:t>，结论成立。</a:t>
            </a:r>
          </a:p>
          <a:p>
            <a:pPr eaLnBrk="1" hangingPunct="1">
              <a:lnSpc>
                <a:spcPct val="150000"/>
              </a:lnSpc>
              <a:buClrTx/>
              <a:buFontTx/>
              <a:buNone/>
            </a:pPr>
            <a:r>
              <a:rPr lang="zh-CN" altLang="en-US" sz="2400" dirty="0">
                <a:sym typeface="Symbol" panose="05050102010706020507" pitchFamily="18" charset="2"/>
              </a:rPr>
              <a:t>得证</a:t>
            </a:r>
          </a:p>
        </p:txBody>
      </p:sp>
      <p:graphicFrame>
        <p:nvGraphicFramePr>
          <p:cNvPr id="296973" name="Object 13">
            <a:extLst>
              <a:ext uri="{FF2B5EF4-FFF2-40B4-BE49-F238E27FC236}">
                <a16:creationId xmlns:a16="http://schemas.microsoft.com/office/drawing/2014/main" id="{E264CC5A-298A-C470-5037-2AAAD5A45012}"/>
              </a:ext>
            </a:extLst>
          </p:cNvPr>
          <p:cNvGraphicFramePr>
            <a:graphicFrameLocks noChangeAspect="1"/>
          </p:cNvGraphicFramePr>
          <p:nvPr>
            <p:extLst>
              <p:ext uri="{D42A27DB-BD31-4B8C-83A1-F6EECF244321}">
                <p14:modId xmlns:p14="http://schemas.microsoft.com/office/powerpoint/2010/main" val="1966519082"/>
              </p:ext>
            </p:extLst>
          </p:nvPr>
        </p:nvGraphicFramePr>
        <p:xfrm>
          <a:off x="2679074" y="4997589"/>
          <a:ext cx="4344405" cy="770116"/>
        </p:xfrm>
        <a:graphic>
          <a:graphicData uri="http://schemas.openxmlformats.org/presentationml/2006/ole">
            <mc:AlternateContent xmlns:mc="http://schemas.openxmlformats.org/markup-compatibility/2006">
              <mc:Choice xmlns:v="urn:schemas-microsoft-com:vml" Requires="v">
                <p:oleObj name="Equation" r:id="rId10" imgW="2362200" imgH="419100" progId="Equation.3">
                  <p:embed/>
                </p:oleObj>
              </mc:Choice>
              <mc:Fallback>
                <p:oleObj name="Equation" r:id="rId10" imgW="2362200" imgH="419100" progId="Equation.3">
                  <p:embed/>
                  <p:pic>
                    <p:nvPicPr>
                      <p:cNvPr id="296973" name="Object 13">
                        <a:extLst>
                          <a:ext uri="{FF2B5EF4-FFF2-40B4-BE49-F238E27FC236}">
                            <a16:creationId xmlns:a16="http://schemas.microsoft.com/office/drawing/2014/main" id="{E264CC5A-298A-C470-5037-2AAAD5A4501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79074" y="4997589"/>
                        <a:ext cx="4344405" cy="7701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6974" name="Rectangle 14">
            <a:extLst>
              <a:ext uri="{FF2B5EF4-FFF2-40B4-BE49-F238E27FC236}">
                <a16:creationId xmlns:a16="http://schemas.microsoft.com/office/drawing/2014/main" id="{B180B3E2-B738-5D14-F70C-CE72C6A5352E}"/>
              </a:ext>
            </a:extLst>
          </p:cNvPr>
          <p:cNvSpPr>
            <a:spLocks noChangeArrowheads="1"/>
          </p:cNvSpPr>
          <p:nvPr/>
        </p:nvSpPr>
        <p:spPr bwMode="auto">
          <a:xfrm>
            <a:off x="850917" y="5675607"/>
            <a:ext cx="5390810" cy="46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00000"/>
              </a:lnSpc>
              <a:buClrTx/>
              <a:buFontTx/>
              <a:buNone/>
            </a:pPr>
            <a:r>
              <a:rPr lang="zh-CN" altLang="en-US" sz="2400" dirty="0">
                <a:sym typeface="Symbol" panose="05050102010706020507" pitchFamily="18" charset="2"/>
              </a:rPr>
              <a:t>再由平稳独立增量性质，对一切</a:t>
            </a:r>
            <a:r>
              <a:rPr lang="en-US" altLang="zh-CN" sz="2400" dirty="0">
                <a:sym typeface="Symbol" panose="05050102010706020507" pitchFamily="18" charset="2"/>
              </a:rPr>
              <a:t>0s&lt;t, </a:t>
            </a:r>
          </a:p>
        </p:txBody>
      </p:sp>
      <p:graphicFrame>
        <p:nvGraphicFramePr>
          <p:cNvPr id="296975" name="Object 15">
            <a:extLst>
              <a:ext uri="{FF2B5EF4-FFF2-40B4-BE49-F238E27FC236}">
                <a16:creationId xmlns:a16="http://schemas.microsoft.com/office/drawing/2014/main" id="{287F23AD-D972-0C0C-C64D-5CD6B5D4C366}"/>
              </a:ext>
            </a:extLst>
          </p:cNvPr>
          <p:cNvGraphicFramePr>
            <a:graphicFrameLocks noChangeAspect="1"/>
          </p:cNvGraphicFramePr>
          <p:nvPr>
            <p:extLst>
              <p:ext uri="{D42A27DB-BD31-4B8C-83A1-F6EECF244321}">
                <p14:modId xmlns:p14="http://schemas.microsoft.com/office/powerpoint/2010/main" val="3294832658"/>
              </p:ext>
            </p:extLst>
          </p:nvPr>
        </p:nvGraphicFramePr>
        <p:xfrm>
          <a:off x="905426" y="6056694"/>
          <a:ext cx="7774199" cy="759001"/>
        </p:xfrm>
        <a:graphic>
          <a:graphicData uri="http://schemas.openxmlformats.org/presentationml/2006/ole">
            <mc:AlternateContent xmlns:mc="http://schemas.openxmlformats.org/markup-compatibility/2006">
              <mc:Choice xmlns:v="urn:schemas-microsoft-com:vml" Requires="v">
                <p:oleObj name="Equation" r:id="rId12" imgW="4292600" imgH="419100" progId="Equation.3">
                  <p:embed/>
                </p:oleObj>
              </mc:Choice>
              <mc:Fallback>
                <p:oleObj name="Equation" r:id="rId12" imgW="4292600" imgH="419100" progId="Equation.3">
                  <p:embed/>
                  <p:pic>
                    <p:nvPicPr>
                      <p:cNvPr id="296975" name="Object 15">
                        <a:extLst>
                          <a:ext uri="{FF2B5EF4-FFF2-40B4-BE49-F238E27FC236}">
                            <a16:creationId xmlns:a16="http://schemas.microsoft.com/office/drawing/2014/main" id="{287F23AD-D972-0C0C-C64D-5CD6B5D4C36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05426" y="6056694"/>
                        <a:ext cx="7774199" cy="759001"/>
                      </a:xfrm>
                      <a:prstGeom prst="rect">
                        <a:avLst/>
                      </a:prstGeom>
                      <a:noFill/>
                      <a:ln>
                        <a:noFill/>
                      </a:ln>
                      <a:effectLst/>
                    </p:spPr>
                  </p:pic>
                </p:oleObj>
              </mc:Fallback>
            </mc:AlternateContent>
          </a:graphicData>
        </a:graphic>
      </p:graphicFrame>
      <p:sp>
        <p:nvSpPr>
          <p:cNvPr id="296976" name="Rectangle 16">
            <a:extLst>
              <a:ext uri="{FF2B5EF4-FFF2-40B4-BE49-F238E27FC236}">
                <a16:creationId xmlns:a16="http://schemas.microsoft.com/office/drawing/2014/main" id="{E8A763AF-B218-7611-03D9-44376C8D0172}"/>
              </a:ext>
            </a:extLst>
          </p:cNvPr>
          <p:cNvSpPr>
            <a:spLocks noChangeArrowheads="1"/>
          </p:cNvSpPr>
          <p:nvPr/>
        </p:nvSpPr>
        <p:spPr bwMode="auto">
          <a:xfrm>
            <a:off x="8973066" y="6205159"/>
            <a:ext cx="1370330" cy="46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00000"/>
              </a:lnSpc>
              <a:buClrTx/>
              <a:buFontTx/>
              <a:buNone/>
            </a:pPr>
            <a:r>
              <a:rPr lang="zh-CN" altLang="en-US" sz="2400">
                <a:sym typeface="Symbol" panose="05050102010706020507" pitchFamily="18" charset="2"/>
              </a:rPr>
              <a:t>得出</a:t>
            </a:r>
            <a:r>
              <a:rPr lang="en-US" altLang="zh-CN" sz="2400">
                <a:sym typeface="Symbol" panose="05050102010706020507" pitchFamily="18" charset="2"/>
              </a:rPr>
              <a:t>3)</a:t>
            </a:r>
            <a:r>
              <a:rPr lang="zh-CN" altLang="en-US" sz="2400">
                <a:sym typeface="Symbol" panose="05050102010706020507" pitchFamily="18" charset="2"/>
              </a:rPr>
              <a:t>。</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96963">
                                            <p:txEl>
                                              <p:pRg st="0" end="0"/>
                                            </p:txEl>
                                          </p:spTgt>
                                        </p:tgtEl>
                                        <p:attrNameLst>
                                          <p:attrName>style.visibility</p:attrName>
                                        </p:attrNameLst>
                                      </p:cBhvr>
                                      <p:to>
                                        <p:strVal val="visible"/>
                                      </p:to>
                                    </p:set>
                                    <p:anim calcmode="lin" valueType="num">
                                      <p:cBhvr additive="base">
                                        <p:cTn id="7" dur="500" fill="hold"/>
                                        <p:tgtEl>
                                          <p:spTgt spid="2969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6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296964"/>
                                        </p:tgtEl>
                                        <p:attrNameLst>
                                          <p:attrName>style.visibility</p:attrName>
                                        </p:attrNameLst>
                                      </p:cBhvr>
                                      <p:to>
                                        <p:strVal val="visible"/>
                                      </p:to>
                                    </p:set>
                                    <p:anim calcmode="lin" valueType="num">
                                      <p:cBhvr additive="base">
                                        <p:cTn id="12" dur="500" fill="hold"/>
                                        <p:tgtEl>
                                          <p:spTgt spid="296964"/>
                                        </p:tgtEl>
                                        <p:attrNameLst>
                                          <p:attrName>ppt_x</p:attrName>
                                        </p:attrNameLst>
                                      </p:cBhvr>
                                      <p:tavLst>
                                        <p:tav tm="0">
                                          <p:val>
                                            <p:strVal val="#ppt_x"/>
                                          </p:val>
                                        </p:tav>
                                        <p:tav tm="100000">
                                          <p:val>
                                            <p:strVal val="#ppt_x"/>
                                          </p:val>
                                        </p:tav>
                                      </p:tavLst>
                                    </p:anim>
                                    <p:anim calcmode="lin" valueType="num">
                                      <p:cBhvr additive="base">
                                        <p:cTn id="13" dur="500" fill="hold"/>
                                        <p:tgtEl>
                                          <p:spTgt spid="29696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96965"/>
                                        </p:tgtEl>
                                        <p:attrNameLst>
                                          <p:attrName>style.visibility</p:attrName>
                                        </p:attrNameLst>
                                      </p:cBhvr>
                                      <p:to>
                                        <p:strVal val="visible"/>
                                      </p:to>
                                    </p:set>
                                    <p:anim calcmode="lin" valueType="num">
                                      <p:cBhvr additive="base">
                                        <p:cTn id="18" dur="500" fill="hold"/>
                                        <p:tgtEl>
                                          <p:spTgt spid="296965"/>
                                        </p:tgtEl>
                                        <p:attrNameLst>
                                          <p:attrName>ppt_x</p:attrName>
                                        </p:attrNameLst>
                                      </p:cBhvr>
                                      <p:tavLst>
                                        <p:tav tm="0">
                                          <p:val>
                                            <p:strVal val="#ppt_x"/>
                                          </p:val>
                                        </p:tav>
                                        <p:tav tm="100000">
                                          <p:val>
                                            <p:strVal val="#ppt_x"/>
                                          </p:val>
                                        </p:tav>
                                      </p:tavLst>
                                    </p:anim>
                                    <p:anim calcmode="lin" valueType="num">
                                      <p:cBhvr additive="base">
                                        <p:cTn id="19" dur="500" fill="hold"/>
                                        <p:tgtEl>
                                          <p:spTgt spid="296965"/>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96966"/>
                                        </p:tgtEl>
                                        <p:attrNameLst>
                                          <p:attrName>style.visibility</p:attrName>
                                        </p:attrNameLst>
                                      </p:cBhvr>
                                      <p:to>
                                        <p:strVal val="visible"/>
                                      </p:to>
                                    </p:set>
                                    <p:anim calcmode="lin" valueType="num">
                                      <p:cBhvr additive="base">
                                        <p:cTn id="24" dur="500" fill="hold"/>
                                        <p:tgtEl>
                                          <p:spTgt spid="296966"/>
                                        </p:tgtEl>
                                        <p:attrNameLst>
                                          <p:attrName>ppt_x</p:attrName>
                                        </p:attrNameLst>
                                      </p:cBhvr>
                                      <p:tavLst>
                                        <p:tav tm="0">
                                          <p:val>
                                            <p:strVal val="#ppt_x"/>
                                          </p:val>
                                        </p:tav>
                                        <p:tav tm="100000">
                                          <p:val>
                                            <p:strVal val="#ppt_x"/>
                                          </p:val>
                                        </p:tav>
                                      </p:tavLst>
                                    </p:anim>
                                    <p:anim calcmode="lin" valueType="num">
                                      <p:cBhvr additive="base">
                                        <p:cTn id="25" dur="500" fill="hold"/>
                                        <p:tgtEl>
                                          <p:spTgt spid="296966"/>
                                        </p:tgtEl>
                                        <p:attrNameLst>
                                          <p:attrName>ppt_y</p:attrName>
                                        </p:attrNameLst>
                                      </p:cBhvr>
                                      <p:tavLst>
                                        <p:tav tm="0">
                                          <p:val>
                                            <p:strVal val="1+#ppt_h/2"/>
                                          </p:val>
                                        </p:tav>
                                        <p:tav tm="100000">
                                          <p:val>
                                            <p:strVal val="#ppt_y"/>
                                          </p:val>
                                        </p:tav>
                                      </p:tavLst>
                                    </p:anim>
                                  </p:childTnLst>
                                </p:cTn>
                              </p:par>
                            </p:childTnLst>
                          </p:cTn>
                        </p:par>
                        <p:par>
                          <p:cTn id="26" fill="hold" nodeType="afterGroup">
                            <p:stCondLst>
                              <p:cond delay="500"/>
                            </p:stCondLst>
                            <p:childTnLst>
                              <p:par>
                                <p:cTn id="27" presetID="2" presetClass="entr" presetSubtype="4" fill="hold" nodeType="afterEffect">
                                  <p:stCondLst>
                                    <p:cond delay="0"/>
                                  </p:stCondLst>
                                  <p:childTnLst>
                                    <p:set>
                                      <p:cBhvr>
                                        <p:cTn id="28" dur="1" fill="hold">
                                          <p:stCondLst>
                                            <p:cond delay="0"/>
                                          </p:stCondLst>
                                        </p:cTn>
                                        <p:tgtEl>
                                          <p:spTgt spid="296967"/>
                                        </p:tgtEl>
                                        <p:attrNameLst>
                                          <p:attrName>style.visibility</p:attrName>
                                        </p:attrNameLst>
                                      </p:cBhvr>
                                      <p:to>
                                        <p:strVal val="visible"/>
                                      </p:to>
                                    </p:set>
                                    <p:anim calcmode="lin" valueType="num">
                                      <p:cBhvr additive="base">
                                        <p:cTn id="29" dur="500" fill="hold"/>
                                        <p:tgtEl>
                                          <p:spTgt spid="296967"/>
                                        </p:tgtEl>
                                        <p:attrNameLst>
                                          <p:attrName>ppt_x</p:attrName>
                                        </p:attrNameLst>
                                      </p:cBhvr>
                                      <p:tavLst>
                                        <p:tav tm="0">
                                          <p:val>
                                            <p:strVal val="#ppt_x"/>
                                          </p:val>
                                        </p:tav>
                                        <p:tav tm="100000">
                                          <p:val>
                                            <p:strVal val="#ppt_x"/>
                                          </p:val>
                                        </p:tav>
                                      </p:tavLst>
                                    </p:anim>
                                    <p:anim calcmode="lin" valueType="num">
                                      <p:cBhvr additive="base">
                                        <p:cTn id="30" dur="500" fill="hold"/>
                                        <p:tgtEl>
                                          <p:spTgt spid="296967"/>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96969"/>
                                        </p:tgtEl>
                                        <p:attrNameLst>
                                          <p:attrName>style.visibility</p:attrName>
                                        </p:attrNameLst>
                                      </p:cBhvr>
                                      <p:to>
                                        <p:strVal val="visible"/>
                                      </p:to>
                                    </p:set>
                                    <p:anim calcmode="lin" valueType="num">
                                      <p:cBhvr additive="base">
                                        <p:cTn id="35" dur="500" fill="hold"/>
                                        <p:tgtEl>
                                          <p:spTgt spid="296969"/>
                                        </p:tgtEl>
                                        <p:attrNameLst>
                                          <p:attrName>ppt_x</p:attrName>
                                        </p:attrNameLst>
                                      </p:cBhvr>
                                      <p:tavLst>
                                        <p:tav tm="0">
                                          <p:val>
                                            <p:strVal val="#ppt_x"/>
                                          </p:val>
                                        </p:tav>
                                        <p:tav tm="100000">
                                          <p:val>
                                            <p:strVal val="#ppt_x"/>
                                          </p:val>
                                        </p:tav>
                                      </p:tavLst>
                                    </p:anim>
                                    <p:anim calcmode="lin" valueType="num">
                                      <p:cBhvr additive="base">
                                        <p:cTn id="36" dur="500" fill="hold"/>
                                        <p:tgtEl>
                                          <p:spTgt spid="296969"/>
                                        </p:tgtEl>
                                        <p:attrNameLst>
                                          <p:attrName>ppt_y</p:attrName>
                                        </p:attrNameLst>
                                      </p:cBhvr>
                                      <p:tavLst>
                                        <p:tav tm="0">
                                          <p:val>
                                            <p:strVal val="1+#ppt_h/2"/>
                                          </p:val>
                                        </p:tav>
                                        <p:tav tm="100000">
                                          <p:val>
                                            <p:strVal val="#ppt_y"/>
                                          </p:val>
                                        </p:tav>
                                      </p:tavLst>
                                    </p:anim>
                                  </p:childTnLst>
                                </p:cTn>
                              </p:par>
                            </p:childTnLst>
                          </p:cTn>
                        </p:par>
                        <p:par>
                          <p:cTn id="37" fill="hold" nodeType="afterGroup">
                            <p:stCondLst>
                              <p:cond delay="500"/>
                            </p:stCondLst>
                            <p:childTnLst>
                              <p:par>
                                <p:cTn id="38" presetID="2" presetClass="entr" presetSubtype="4" fill="hold" nodeType="afterEffect">
                                  <p:stCondLst>
                                    <p:cond delay="0"/>
                                  </p:stCondLst>
                                  <p:childTnLst>
                                    <p:set>
                                      <p:cBhvr>
                                        <p:cTn id="39" dur="1" fill="hold">
                                          <p:stCondLst>
                                            <p:cond delay="0"/>
                                          </p:stCondLst>
                                        </p:cTn>
                                        <p:tgtEl>
                                          <p:spTgt spid="296968"/>
                                        </p:tgtEl>
                                        <p:attrNameLst>
                                          <p:attrName>style.visibility</p:attrName>
                                        </p:attrNameLst>
                                      </p:cBhvr>
                                      <p:to>
                                        <p:strVal val="visible"/>
                                      </p:to>
                                    </p:set>
                                    <p:anim calcmode="lin" valueType="num">
                                      <p:cBhvr additive="base">
                                        <p:cTn id="40" dur="500" fill="hold"/>
                                        <p:tgtEl>
                                          <p:spTgt spid="296968"/>
                                        </p:tgtEl>
                                        <p:attrNameLst>
                                          <p:attrName>ppt_x</p:attrName>
                                        </p:attrNameLst>
                                      </p:cBhvr>
                                      <p:tavLst>
                                        <p:tav tm="0">
                                          <p:val>
                                            <p:strVal val="#ppt_x"/>
                                          </p:val>
                                        </p:tav>
                                        <p:tav tm="100000">
                                          <p:val>
                                            <p:strVal val="#ppt_x"/>
                                          </p:val>
                                        </p:tav>
                                      </p:tavLst>
                                    </p:anim>
                                    <p:anim calcmode="lin" valueType="num">
                                      <p:cBhvr additive="base">
                                        <p:cTn id="41" dur="500" fill="hold"/>
                                        <p:tgtEl>
                                          <p:spTgt spid="296968"/>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296970"/>
                                        </p:tgtEl>
                                        <p:attrNameLst>
                                          <p:attrName>style.visibility</p:attrName>
                                        </p:attrNameLst>
                                      </p:cBhvr>
                                      <p:to>
                                        <p:strVal val="visible"/>
                                      </p:to>
                                    </p:set>
                                    <p:anim calcmode="lin" valueType="num">
                                      <p:cBhvr additive="base">
                                        <p:cTn id="46" dur="500" fill="hold"/>
                                        <p:tgtEl>
                                          <p:spTgt spid="296970"/>
                                        </p:tgtEl>
                                        <p:attrNameLst>
                                          <p:attrName>ppt_x</p:attrName>
                                        </p:attrNameLst>
                                      </p:cBhvr>
                                      <p:tavLst>
                                        <p:tav tm="0">
                                          <p:val>
                                            <p:strVal val="#ppt_x"/>
                                          </p:val>
                                        </p:tav>
                                        <p:tav tm="100000">
                                          <p:val>
                                            <p:strVal val="#ppt_x"/>
                                          </p:val>
                                        </p:tav>
                                      </p:tavLst>
                                    </p:anim>
                                    <p:anim calcmode="lin" valueType="num">
                                      <p:cBhvr additive="base">
                                        <p:cTn id="47" dur="500" fill="hold"/>
                                        <p:tgtEl>
                                          <p:spTgt spid="296970"/>
                                        </p:tgtEl>
                                        <p:attrNameLst>
                                          <p:attrName>ppt_y</p:attrName>
                                        </p:attrNameLst>
                                      </p:cBhvr>
                                      <p:tavLst>
                                        <p:tav tm="0">
                                          <p:val>
                                            <p:strVal val="1+#ppt_h/2"/>
                                          </p:val>
                                        </p:tav>
                                        <p:tav tm="100000">
                                          <p:val>
                                            <p:strVal val="#ppt_y"/>
                                          </p:val>
                                        </p:tav>
                                      </p:tavLst>
                                    </p:anim>
                                  </p:childTnLst>
                                </p:cTn>
                              </p:par>
                            </p:childTnLst>
                          </p:cTn>
                        </p:par>
                        <p:par>
                          <p:cTn id="48" fill="hold" nodeType="afterGroup">
                            <p:stCondLst>
                              <p:cond delay="500"/>
                            </p:stCondLst>
                            <p:childTnLst>
                              <p:par>
                                <p:cTn id="49" presetID="2" presetClass="entr" presetSubtype="4" fill="hold" nodeType="afterEffect">
                                  <p:stCondLst>
                                    <p:cond delay="0"/>
                                  </p:stCondLst>
                                  <p:childTnLst>
                                    <p:set>
                                      <p:cBhvr>
                                        <p:cTn id="50" dur="1" fill="hold">
                                          <p:stCondLst>
                                            <p:cond delay="0"/>
                                          </p:stCondLst>
                                        </p:cTn>
                                        <p:tgtEl>
                                          <p:spTgt spid="296971"/>
                                        </p:tgtEl>
                                        <p:attrNameLst>
                                          <p:attrName>style.visibility</p:attrName>
                                        </p:attrNameLst>
                                      </p:cBhvr>
                                      <p:to>
                                        <p:strVal val="visible"/>
                                      </p:to>
                                    </p:set>
                                    <p:anim calcmode="lin" valueType="num">
                                      <p:cBhvr additive="base">
                                        <p:cTn id="51" dur="500" fill="hold"/>
                                        <p:tgtEl>
                                          <p:spTgt spid="296971"/>
                                        </p:tgtEl>
                                        <p:attrNameLst>
                                          <p:attrName>ppt_x</p:attrName>
                                        </p:attrNameLst>
                                      </p:cBhvr>
                                      <p:tavLst>
                                        <p:tav tm="0">
                                          <p:val>
                                            <p:strVal val="#ppt_x"/>
                                          </p:val>
                                        </p:tav>
                                        <p:tav tm="100000">
                                          <p:val>
                                            <p:strVal val="#ppt_x"/>
                                          </p:val>
                                        </p:tav>
                                      </p:tavLst>
                                    </p:anim>
                                    <p:anim calcmode="lin" valueType="num">
                                      <p:cBhvr additive="base">
                                        <p:cTn id="52" dur="500" fill="hold"/>
                                        <p:tgtEl>
                                          <p:spTgt spid="296971"/>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96972">
                                            <p:txEl>
                                              <p:pRg st="0" end="0"/>
                                            </p:txEl>
                                          </p:spTgt>
                                        </p:tgtEl>
                                        <p:attrNameLst>
                                          <p:attrName>style.visibility</p:attrName>
                                        </p:attrNameLst>
                                      </p:cBhvr>
                                      <p:to>
                                        <p:strVal val="visible"/>
                                      </p:to>
                                    </p:set>
                                    <p:anim calcmode="lin" valueType="num">
                                      <p:cBhvr additive="base">
                                        <p:cTn id="57" dur="500" fill="hold"/>
                                        <p:tgtEl>
                                          <p:spTgt spid="296972">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969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96972">
                                            <p:txEl>
                                              <p:pRg st="1" end="1"/>
                                            </p:txEl>
                                          </p:spTgt>
                                        </p:tgtEl>
                                        <p:attrNameLst>
                                          <p:attrName>style.visibility</p:attrName>
                                        </p:attrNameLst>
                                      </p:cBhvr>
                                      <p:to>
                                        <p:strVal val="visible"/>
                                      </p:to>
                                    </p:set>
                                    <p:anim calcmode="lin" valueType="num">
                                      <p:cBhvr additive="base">
                                        <p:cTn id="63" dur="500" fill="hold"/>
                                        <p:tgtEl>
                                          <p:spTgt spid="296972">
                                            <p:txEl>
                                              <p:pRg st="1" end="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2969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96972">
                                            <p:txEl>
                                              <p:pRg st="2" end="2"/>
                                            </p:txEl>
                                          </p:spTgt>
                                        </p:tgtEl>
                                        <p:attrNameLst>
                                          <p:attrName>style.visibility</p:attrName>
                                        </p:attrNameLst>
                                      </p:cBhvr>
                                      <p:to>
                                        <p:strVal val="visible"/>
                                      </p:to>
                                    </p:set>
                                    <p:anim calcmode="lin" valueType="num">
                                      <p:cBhvr additive="base">
                                        <p:cTn id="69" dur="500" fill="hold"/>
                                        <p:tgtEl>
                                          <p:spTgt spid="296972">
                                            <p:txEl>
                                              <p:pRg st="2" end="2"/>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296972">
                                            <p:txEl>
                                              <p:pRg st="2" end="2"/>
                                            </p:txEl>
                                          </p:spTgt>
                                        </p:tgtEl>
                                        <p:attrNameLst>
                                          <p:attrName>ppt_y</p:attrName>
                                        </p:attrNameLst>
                                      </p:cBhvr>
                                      <p:tavLst>
                                        <p:tav tm="0">
                                          <p:val>
                                            <p:strVal val="1+#ppt_h/2"/>
                                          </p:val>
                                        </p:tav>
                                        <p:tav tm="100000">
                                          <p:val>
                                            <p:strVal val="#ppt_y"/>
                                          </p:val>
                                        </p:tav>
                                      </p:tavLst>
                                    </p:anim>
                                  </p:childTnLst>
                                </p:cTn>
                              </p:par>
                            </p:childTnLst>
                          </p:cTn>
                        </p:par>
                        <p:par>
                          <p:cTn id="71" fill="hold" nodeType="afterGroup">
                            <p:stCondLst>
                              <p:cond delay="500"/>
                            </p:stCondLst>
                            <p:childTnLst>
                              <p:par>
                                <p:cTn id="72" presetID="2" presetClass="entr" presetSubtype="4" fill="hold" nodeType="afterEffect">
                                  <p:stCondLst>
                                    <p:cond delay="0"/>
                                  </p:stCondLst>
                                  <p:childTnLst>
                                    <p:set>
                                      <p:cBhvr>
                                        <p:cTn id="73" dur="1" fill="hold">
                                          <p:stCondLst>
                                            <p:cond delay="0"/>
                                          </p:stCondLst>
                                        </p:cTn>
                                        <p:tgtEl>
                                          <p:spTgt spid="296973"/>
                                        </p:tgtEl>
                                        <p:attrNameLst>
                                          <p:attrName>style.visibility</p:attrName>
                                        </p:attrNameLst>
                                      </p:cBhvr>
                                      <p:to>
                                        <p:strVal val="visible"/>
                                      </p:to>
                                    </p:set>
                                    <p:anim calcmode="lin" valueType="num">
                                      <p:cBhvr additive="base">
                                        <p:cTn id="74" dur="500" fill="hold"/>
                                        <p:tgtEl>
                                          <p:spTgt spid="296973"/>
                                        </p:tgtEl>
                                        <p:attrNameLst>
                                          <p:attrName>ppt_x</p:attrName>
                                        </p:attrNameLst>
                                      </p:cBhvr>
                                      <p:tavLst>
                                        <p:tav tm="0">
                                          <p:val>
                                            <p:strVal val="#ppt_x"/>
                                          </p:val>
                                        </p:tav>
                                        <p:tav tm="100000">
                                          <p:val>
                                            <p:strVal val="#ppt_x"/>
                                          </p:val>
                                        </p:tav>
                                      </p:tavLst>
                                    </p:anim>
                                    <p:anim calcmode="lin" valueType="num">
                                      <p:cBhvr additive="base">
                                        <p:cTn id="75" dur="500" fill="hold"/>
                                        <p:tgtEl>
                                          <p:spTgt spid="296973"/>
                                        </p:tgtEl>
                                        <p:attrNameLst>
                                          <p:attrName>ppt_y</p:attrName>
                                        </p:attrNameLst>
                                      </p:cBhvr>
                                      <p:tavLst>
                                        <p:tav tm="0">
                                          <p:val>
                                            <p:strVal val="1+#ppt_h/2"/>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296974"/>
                                        </p:tgtEl>
                                        <p:attrNameLst>
                                          <p:attrName>style.visibility</p:attrName>
                                        </p:attrNameLst>
                                      </p:cBhvr>
                                      <p:to>
                                        <p:strVal val="visible"/>
                                      </p:to>
                                    </p:set>
                                    <p:anim calcmode="lin" valueType="num">
                                      <p:cBhvr additive="base">
                                        <p:cTn id="80" dur="500" fill="hold"/>
                                        <p:tgtEl>
                                          <p:spTgt spid="296974"/>
                                        </p:tgtEl>
                                        <p:attrNameLst>
                                          <p:attrName>ppt_x</p:attrName>
                                        </p:attrNameLst>
                                      </p:cBhvr>
                                      <p:tavLst>
                                        <p:tav tm="0">
                                          <p:val>
                                            <p:strVal val="#ppt_x"/>
                                          </p:val>
                                        </p:tav>
                                        <p:tav tm="100000">
                                          <p:val>
                                            <p:strVal val="#ppt_x"/>
                                          </p:val>
                                        </p:tav>
                                      </p:tavLst>
                                    </p:anim>
                                    <p:anim calcmode="lin" valueType="num">
                                      <p:cBhvr additive="base">
                                        <p:cTn id="81" dur="500" fill="hold"/>
                                        <p:tgtEl>
                                          <p:spTgt spid="296974"/>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 presetClass="entr" presetSubtype="4" fill="hold" nodeType="clickEffect">
                                  <p:stCondLst>
                                    <p:cond delay="0"/>
                                  </p:stCondLst>
                                  <p:childTnLst>
                                    <p:set>
                                      <p:cBhvr>
                                        <p:cTn id="85" dur="1" fill="hold">
                                          <p:stCondLst>
                                            <p:cond delay="0"/>
                                          </p:stCondLst>
                                        </p:cTn>
                                        <p:tgtEl>
                                          <p:spTgt spid="296975"/>
                                        </p:tgtEl>
                                        <p:attrNameLst>
                                          <p:attrName>style.visibility</p:attrName>
                                        </p:attrNameLst>
                                      </p:cBhvr>
                                      <p:to>
                                        <p:strVal val="visible"/>
                                      </p:to>
                                    </p:set>
                                    <p:anim calcmode="lin" valueType="num">
                                      <p:cBhvr additive="base">
                                        <p:cTn id="86" dur="500" fill="hold"/>
                                        <p:tgtEl>
                                          <p:spTgt spid="296975"/>
                                        </p:tgtEl>
                                        <p:attrNameLst>
                                          <p:attrName>ppt_x</p:attrName>
                                        </p:attrNameLst>
                                      </p:cBhvr>
                                      <p:tavLst>
                                        <p:tav tm="0">
                                          <p:val>
                                            <p:strVal val="#ppt_x"/>
                                          </p:val>
                                        </p:tav>
                                        <p:tav tm="100000">
                                          <p:val>
                                            <p:strVal val="#ppt_x"/>
                                          </p:val>
                                        </p:tav>
                                      </p:tavLst>
                                    </p:anim>
                                    <p:anim calcmode="lin" valueType="num">
                                      <p:cBhvr additive="base">
                                        <p:cTn id="87" dur="500" fill="hold"/>
                                        <p:tgtEl>
                                          <p:spTgt spid="296975"/>
                                        </p:tgtEl>
                                        <p:attrNameLst>
                                          <p:attrName>ppt_y</p:attrName>
                                        </p:attrNameLst>
                                      </p:cBhvr>
                                      <p:tavLst>
                                        <p:tav tm="0">
                                          <p:val>
                                            <p:strVal val="1+#ppt_h/2"/>
                                          </p:val>
                                        </p:tav>
                                        <p:tav tm="100000">
                                          <p:val>
                                            <p:strVal val="#ppt_y"/>
                                          </p:val>
                                        </p:tav>
                                      </p:tavLst>
                                    </p:anim>
                                  </p:childTnLst>
                                </p:cTn>
                              </p:par>
                            </p:childTnLst>
                          </p:cTn>
                        </p:par>
                        <p:par>
                          <p:cTn id="88" fill="hold" nodeType="afterGroup">
                            <p:stCondLst>
                              <p:cond delay="500"/>
                            </p:stCondLst>
                            <p:childTnLst>
                              <p:par>
                                <p:cTn id="89" presetID="2" presetClass="entr" presetSubtype="4" fill="hold" grpId="0" nodeType="afterEffect">
                                  <p:stCondLst>
                                    <p:cond delay="0"/>
                                  </p:stCondLst>
                                  <p:childTnLst>
                                    <p:set>
                                      <p:cBhvr>
                                        <p:cTn id="90" dur="1" fill="hold">
                                          <p:stCondLst>
                                            <p:cond delay="0"/>
                                          </p:stCondLst>
                                        </p:cTn>
                                        <p:tgtEl>
                                          <p:spTgt spid="296976"/>
                                        </p:tgtEl>
                                        <p:attrNameLst>
                                          <p:attrName>style.visibility</p:attrName>
                                        </p:attrNameLst>
                                      </p:cBhvr>
                                      <p:to>
                                        <p:strVal val="visible"/>
                                      </p:to>
                                    </p:set>
                                    <p:anim calcmode="lin" valueType="num">
                                      <p:cBhvr additive="base">
                                        <p:cTn id="91" dur="500" fill="hold"/>
                                        <p:tgtEl>
                                          <p:spTgt spid="296976"/>
                                        </p:tgtEl>
                                        <p:attrNameLst>
                                          <p:attrName>ppt_x</p:attrName>
                                        </p:attrNameLst>
                                      </p:cBhvr>
                                      <p:tavLst>
                                        <p:tav tm="0">
                                          <p:val>
                                            <p:strVal val="#ppt_x"/>
                                          </p:val>
                                        </p:tav>
                                        <p:tav tm="100000">
                                          <p:val>
                                            <p:strVal val="#ppt_x"/>
                                          </p:val>
                                        </p:tav>
                                      </p:tavLst>
                                    </p:anim>
                                    <p:anim calcmode="lin" valueType="num">
                                      <p:cBhvr additive="base">
                                        <p:cTn id="92" dur="500" fill="hold"/>
                                        <p:tgtEl>
                                          <p:spTgt spid="2969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3" grpId="0" build="p"/>
      <p:bldP spid="296965" grpId="0"/>
      <p:bldP spid="296966" grpId="0"/>
      <p:bldP spid="296969" grpId="0"/>
      <p:bldP spid="296970" grpId="0"/>
      <p:bldP spid="296972" grpId="0" build="p"/>
      <p:bldP spid="296974" grpId="0"/>
      <p:bldP spid="29697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199C5CD4-E5BA-5270-C9EB-C95C00BC8DD1}"/>
              </a:ext>
            </a:extLst>
          </p:cNvPr>
          <p:cNvSpPr>
            <a:spLocks noGrp="1" noChangeArrowheads="1"/>
          </p:cNvSpPr>
          <p:nvPr>
            <p:ph type="title"/>
          </p:nvPr>
        </p:nvSpPr>
        <p:spPr/>
        <p:txBody>
          <a:bodyPr/>
          <a:lstStyle/>
          <a:p>
            <a:pPr eaLnBrk="1" hangingPunct="1"/>
            <a:r>
              <a:rPr lang="en-US" altLang="zh-CN" dirty="0"/>
              <a:t>3.</a:t>
            </a:r>
            <a:r>
              <a:rPr lang="zh-CN" altLang="en-US" dirty="0"/>
              <a:t> 泊松过程的概率分布和数字特征</a:t>
            </a:r>
          </a:p>
        </p:txBody>
      </p:sp>
      <p:sp>
        <p:nvSpPr>
          <p:cNvPr id="297987" name="Rectangle 3">
            <a:extLst>
              <a:ext uri="{FF2B5EF4-FFF2-40B4-BE49-F238E27FC236}">
                <a16:creationId xmlns:a16="http://schemas.microsoft.com/office/drawing/2014/main" id="{ACE50CE5-CEFD-EE4C-877A-944170927822}"/>
              </a:ext>
            </a:extLst>
          </p:cNvPr>
          <p:cNvSpPr>
            <a:spLocks noGrp="1" noChangeArrowheads="1"/>
          </p:cNvSpPr>
          <p:nvPr>
            <p:ph type="body" idx="1"/>
          </p:nvPr>
        </p:nvSpPr>
        <p:spPr>
          <a:xfrm>
            <a:off x="231775" y="1010901"/>
            <a:ext cx="7850417" cy="1665673"/>
          </a:xfrm>
        </p:spPr>
        <p:txBody>
          <a:bodyPr>
            <a:normAutofit/>
          </a:bodyPr>
          <a:lstStyle/>
          <a:p>
            <a:pPr eaLnBrk="1" hangingPunct="1">
              <a:lnSpc>
                <a:spcPct val="125000"/>
              </a:lnSpc>
              <a:buFont typeface="Wingdings" pitchFamily="2" charset="2"/>
              <a:buChar char="Ø"/>
            </a:pPr>
            <a:r>
              <a:rPr lang="zh-CN" altLang="en-US" dirty="0"/>
              <a:t>一维概率分布及均值和方差函数</a:t>
            </a:r>
          </a:p>
          <a:p>
            <a:pPr marL="990798" lvl="1" indent="-533507">
              <a:lnSpc>
                <a:spcPct val="125000"/>
              </a:lnSpc>
              <a:buFont typeface="Wingdings" panose="05000000000000000000" pitchFamily="2" charset="2"/>
              <a:buAutoNum type="arabicParenR"/>
            </a:pPr>
            <a:r>
              <a:rPr lang="zh-CN" altLang="en-US" dirty="0"/>
              <a:t>对任意</a:t>
            </a:r>
            <a:r>
              <a:rPr lang="en-US" altLang="zh-CN" dirty="0"/>
              <a:t>t&gt;0, N(t)</a:t>
            </a:r>
            <a:r>
              <a:rPr lang="zh-CN" altLang="en-US" dirty="0"/>
              <a:t>～</a:t>
            </a:r>
            <a:r>
              <a:rPr lang="zh-CN" altLang="en-US" dirty="0">
                <a:sym typeface="Symbol" panose="05050102010706020507" pitchFamily="18" charset="2"/>
              </a:rPr>
              <a:t></a:t>
            </a:r>
            <a:r>
              <a:rPr lang="en-US" altLang="zh-CN" dirty="0">
                <a:sym typeface="Symbol" panose="05050102010706020507" pitchFamily="18" charset="2"/>
              </a:rPr>
              <a:t>(t), </a:t>
            </a:r>
          </a:p>
          <a:p>
            <a:pPr lvl="2" eaLnBrk="1" hangingPunct="1">
              <a:lnSpc>
                <a:spcPct val="130000"/>
              </a:lnSpc>
              <a:spcBef>
                <a:spcPct val="50000"/>
              </a:spcBef>
              <a:buClr>
                <a:srgbClr val="00FF00"/>
              </a:buClr>
              <a:buFont typeface="Wingdings" panose="05000000000000000000" pitchFamily="2" charset="2"/>
              <a:buNone/>
            </a:pPr>
            <a:r>
              <a:rPr lang="en-US" altLang="zh-CN" dirty="0">
                <a:sym typeface="Symbol" panose="05050102010706020507" pitchFamily="18" charset="2"/>
              </a:rPr>
              <a:t>		P{N(t)=k}</a:t>
            </a:r>
            <a:r>
              <a:rPr lang="zh-CN" altLang="en-US" dirty="0">
                <a:sym typeface="Symbol" panose="05050102010706020507" pitchFamily="18" charset="2"/>
              </a:rPr>
              <a:t>＝</a:t>
            </a:r>
          </a:p>
        </p:txBody>
      </p:sp>
      <p:graphicFrame>
        <p:nvGraphicFramePr>
          <p:cNvPr id="297988" name="Object 4">
            <a:extLst>
              <a:ext uri="{FF2B5EF4-FFF2-40B4-BE49-F238E27FC236}">
                <a16:creationId xmlns:a16="http://schemas.microsoft.com/office/drawing/2014/main" id="{8FA4EE21-7A79-2D00-08B9-2A8852E1773A}"/>
              </a:ext>
            </a:extLst>
          </p:cNvPr>
          <p:cNvGraphicFramePr>
            <a:graphicFrameLocks noChangeAspect="1"/>
          </p:cNvGraphicFramePr>
          <p:nvPr>
            <p:extLst>
              <p:ext uri="{D42A27DB-BD31-4B8C-83A1-F6EECF244321}">
                <p14:modId xmlns:p14="http://schemas.microsoft.com/office/powerpoint/2010/main" val="2150041892"/>
              </p:ext>
            </p:extLst>
          </p:nvPr>
        </p:nvGraphicFramePr>
        <p:xfrm>
          <a:off x="4575986" y="1961055"/>
          <a:ext cx="1448135" cy="901909"/>
        </p:xfrm>
        <a:graphic>
          <a:graphicData uri="http://schemas.openxmlformats.org/presentationml/2006/ole">
            <mc:AlternateContent xmlns:mc="http://schemas.openxmlformats.org/markup-compatibility/2006">
              <mc:Choice xmlns:v="urn:schemas-microsoft-com:vml" Requires="v">
                <p:oleObj name="Equation" r:id="rId2" imgW="672808" imgH="418918" progId="Equation.DSMT4">
                  <p:embed/>
                </p:oleObj>
              </mc:Choice>
              <mc:Fallback>
                <p:oleObj name="Equation" r:id="rId2" imgW="672808" imgH="418918" progId="Equation.DSMT4">
                  <p:embed/>
                  <p:pic>
                    <p:nvPicPr>
                      <p:cNvPr id="297988" name="Object 4">
                        <a:extLst>
                          <a:ext uri="{FF2B5EF4-FFF2-40B4-BE49-F238E27FC236}">
                            <a16:creationId xmlns:a16="http://schemas.microsoft.com/office/drawing/2014/main" id="{8FA4EE21-7A79-2D00-08B9-2A8852E17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5986" y="1961055"/>
                        <a:ext cx="1448135" cy="9019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989" name="Object 5">
            <a:extLst>
              <a:ext uri="{FF2B5EF4-FFF2-40B4-BE49-F238E27FC236}">
                <a16:creationId xmlns:a16="http://schemas.microsoft.com/office/drawing/2014/main" id="{7661998A-D9E3-E045-7DD8-9532520D7093}"/>
              </a:ext>
            </a:extLst>
          </p:cNvPr>
          <p:cNvGraphicFramePr>
            <a:graphicFrameLocks noChangeAspect="1"/>
          </p:cNvGraphicFramePr>
          <p:nvPr>
            <p:extLst>
              <p:ext uri="{D42A27DB-BD31-4B8C-83A1-F6EECF244321}">
                <p14:modId xmlns:p14="http://schemas.microsoft.com/office/powerpoint/2010/main" val="155350564"/>
              </p:ext>
            </p:extLst>
          </p:nvPr>
        </p:nvGraphicFramePr>
        <p:xfrm>
          <a:off x="2256113" y="4444481"/>
          <a:ext cx="4792184" cy="976539"/>
        </p:xfrm>
        <a:graphic>
          <a:graphicData uri="http://schemas.openxmlformats.org/presentationml/2006/ole">
            <mc:AlternateContent xmlns:mc="http://schemas.openxmlformats.org/markup-compatibility/2006">
              <mc:Choice xmlns:v="urn:schemas-microsoft-com:vml" Requires="v">
                <p:oleObj name="公式" r:id="rId4" imgW="2184400" imgH="444500" progId="Equation.3">
                  <p:embed/>
                </p:oleObj>
              </mc:Choice>
              <mc:Fallback>
                <p:oleObj name="公式" r:id="rId4" imgW="2184400" imgH="444500" progId="Equation.3">
                  <p:embed/>
                  <p:pic>
                    <p:nvPicPr>
                      <p:cNvPr id="297989" name="Object 5">
                        <a:extLst>
                          <a:ext uri="{FF2B5EF4-FFF2-40B4-BE49-F238E27FC236}">
                            <a16:creationId xmlns:a16="http://schemas.microsoft.com/office/drawing/2014/main" id="{7661998A-D9E3-E045-7DD8-9532520D70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6113" y="4444481"/>
                        <a:ext cx="4792184" cy="9765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994" name="Rectangle 10">
            <a:extLst>
              <a:ext uri="{FF2B5EF4-FFF2-40B4-BE49-F238E27FC236}">
                <a16:creationId xmlns:a16="http://schemas.microsoft.com/office/drawing/2014/main" id="{70493345-8059-2A9C-056A-EEED84ADB096}"/>
              </a:ext>
            </a:extLst>
          </p:cNvPr>
          <p:cNvSpPr>
            <a:spLocks noChangeArrowheads="1"/>
          </p:cNvSpPr>
          <p:nvPr/>
        </p:nvSpPr>
        <p:spPr bwMode="auto">
          <a:xfrm>
            <a:off x="384175" y="2905632"/>
            <a:ext cx="7850417" cy="1522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33400" indent="-533400">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990600" indent="-53340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lvl="1" eaLnBrk="1" hangingPunct="1">
              <a:lnSpc>
                <a:spcPct val="125000"/>
              </a:lnSpc>
              <a:buFont typeface="Wingdings" panose="05000000000000000000" pitchFamily="2" charset="2"/>
              <a:buAutoNum type="arabicParenR" startAt="2"/>
            </a:pPr>
            <a:r>
              <a:rPr lang="zh-CN" altLang="en-US" dirty="0"/>
              <a:t>均值函数	</a:t>
            </a:r>
            <a:r>
              <a:rPr lang="en-US" altLang="zh-CN" dirty="0"/>
              <a:t>m(t)</a:t>
            </a:r>
            <a:r>
              <a:rPr lang="zh-CN" altLang="en-US" dirty="0"/>
              <a:t>＝</a:t>
            </a:r>
            <a:r>
              <a:rPr lang="en-US" altLang="zh-CN" dirty="0"/>
              <a:t>E[N(t)]</a:t>
            </a:r>
            <a:r>
              <a:rPr lang="zh-CN" altLang="en-US" dirty="0"/>
              <a:t>＝</a:t>
            </a:r>
            <a:r>
              <a:rPr lang="zh-CN" altLang="en-US" dirty="0">
                <a:sym typeface="Symbol" panose="05050102010706020507" pitchFamily="18" charset="2"/>
              </a:rPr>
              <a:t></a:t>
            </a:r>
            <a:r>
              <a:rPr lang="en-US" altLang="zh-CN" dirty="0">
                <a:sym typeface="Symbol" panose="05050102010706020507" pitchFamily="18" charset="2"/>
              </a:rPr>
              <a:t>t</a:t>
            </a:r>
            <a:r>
              <a:rPr lang="zh-CN" altLang="en-US" dirty="0">
                <a:sym typeface="Symbol" panose="05050102010706020507" pitchFamily="18" charset="2"/>
              </a:rPr>
              <a:t>；</a:t>
            </a:r>
          </a:p>
          <a:p>
            <a:pPr lvl="1" eaLnBrk="1" hangingPunct="1">
              <a:lnSpc>
                <a:spcPct val="125000"/>
              </a:lnSpc>
              <a:buFont typeface="Wingdings" panose="05000000000000000000" pitchFamily="2" charset="2"/>
              <a:buAutoNum type="arabicParenR" startAt="2"/>
            </a:pPr>
            <a:r>
              <a:rPr lang="zh-CN" altLang="en-US" dirty="0">
                <a:sym typeface="Symbol" panose="05050102010706020507" pitchFamily="18" charset="2"/>
              </a:rPr>
              <a:t>方差函数	</a:t>
            </a:r>
            <a:r>
              <a:rPr lang="en-US" altLang="zh-CN" dirty="0">
                <a:sym typeface="Symbol" panose="05050102010706020507" pitchFamily="18" charset="2"/>
              </a:rPr>
              <a:t>D(t)</a:t>
            </a:r>
            <a:r>
              <a:rPr lang="zh-CN" altLang="en-US" dirty="0">
                <a:sym typeface="Symbol" panose="05050102010706020507" pitchFamily="18" charset="2"/>
              </a:rPr>
              <a:t>＝</a:t>
            </a:r>
            <a:r>
              <a:rPr lang="en-US" altLang="zh-CN" dirty="0">
                <a:sym typeface="Symbol" panose="05050102010706020507" pitchFamily="18" charset="2"/>
              </a:rPr>
              <a:t>D[N(t)]</a:t>
            </a:r>
            <a:r>
              <a:rPr lang="zh-CN" altLang="en-US" dirty="0">
                <a:sym typeface="Symbol" panose="05050102010706020507" pitchFamily="18" charset="2"/>
              </a:rPr>
              <a:t>＝</a:t>
            </a:r>
            <a:r>
              <a:rPr lang="en-US" altLang="zh-CN" dirty="0">
                <a:sym typeface="Symbol" panose="05050102010706020507" pitchFamily="18" charset="2"/>
              </a:rPr>
              <a:t>t</a:t>
            </a:r>
            <a:r>
              <a:rPr lang="zh-CN" altLang="en-US" dirty="0">
                <a:sym typeface="Symbol" panose="05050102010706020507" pitchFamily="18" charset="2"/>
              </a:rPr>
              <a:t>。</a:t>
            </a:r>
          </a:p>
          <a:p>
            <a:pPr marL="342900" indent="-342900" eaLnBrk="1" hangingPunct="1">
              <a:lnSpc>
                <a:spcPct val="125000"/>
              </a:lnSpc>
              <a:spcBef>
                <a:spcPct val="50000"/>
              </a:spcBef>
              <a:buFont typeface="Wingdings" pitchFamily="2" charset="2"/>
              <a:buChar char="Ø"/>
            </a:pPr>
            <a:r>
              <a:rPr lang="zh-CN" altLang="en-US" sz="2400" dirty="0"/>
              <a:t>一维特征函数</a:t>
            </a:r>
          </a:p>
        </p:txBody>
      </p:sp>
      <p:graphicFrame>
        <p:nvGraphicFramePr>
          <p:cNvPr id="297995" name="Object 11">
            <a:extLst>
              <a:ext uri="{FF2B5EF4-FFF2-40B4-BE49-F238E27FC236}">
                <a16:creationId xmlns:a16="http://schemas.microsoft.com/office/drawing/2014/main" id="{2246E7B4-6D1E-60AB-6321-2A6DBE177965}"/>
              </a:ext>
            </a:extLst>
          </p:cNvPr>
          <p:cNvGraphicFramePr>
            <a:graphicFrameLocks noChangeAspect="1"/>
          </p:cNvGraphicFramePr>
          <p:nvPr>
            <p:extLst>
              <p:ext uri="{D42A27DB-BD31-4B8C-83A1-F6EECF244321}">
                <p14:modId xmlns:p14="http://schemas.microsoft.com/office/powerpoint/2010/main" val="2204178857"/>
              </p:ext>
            </p:extLst>
          </p:nvPr>
        </p:nvGraphicFramePr>
        <p:xfrm>
          <a:off x="3506188" y="5590882"/>
          <a:ext cx="5154218" cy="976538"/>
        </p:xfrm>
        <a:graphic>
          <a:graphicData uri="http://schemas.openxmlformats.org/presentationml/2006/ole">
            <mc:AlternateContent xmlns:mc="http://schemas.openxmlformats.org/markup-compatibility/2006">
              <mc:Choice xmlns:v="urn:schemas-microsoft-com:vml" Requires="v">
                <p:oleObj name="公式" r:id="rId6" imgW="2349500" imgH="444500" progId="Equation.3">
                  <p:embed/>
                </p:oleObj>
              </mc:Choice>
              <mc:Fallback>
                <p:oleObj name="公式" r:id="rId6" imgW="2349500" imgH="444500" progId="Equation.3">
                  <p:embed/>
                  <p:pic>
                    <p:nvPicPr>
                      <p:cNvPr id="297995" name="Object 11">
                        <a:extLst>
                          <a:ext uri="{FF2B5EF4-FFF2-40B4-BE49-F238E27FC236}">
                            <a16:creationId xmlns:a16="http://schemas.microsoft.com/office/drawing/2014/main" id="{2246E7B4-6D1E-60AB-6321-2A6DBE17796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6188" y="5590882"/>
                        <a:ext cx="5154218" cy="976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 name="Object 5">
                <a:extLst>
                  <a:ext uri="{FF2B5EF4-FFF2-40B4-BE49-F238E27FC236}">
                    <a16:creationId xmlns:a16="http://schemas.microsoft.com/office/drawing/2014/main" id="{F352CD3C-7A4A-97F9-85D3-811433179B6B}"/>
                  </a:ext>
                </a:extLst>
              </p:cNvPr>
              <p:cNvSpPr txBox="1"/>
              <p:nvPr/>
            </p:nvSpPr>
            <p:spPr bwMode="auto">
              <a:xfrm>
                <a:off x="6861175" y="996601"/>
                <a:ext cx="4412684" cy="1213994"/>
              </a:xfrm>
              <a:prstGeom prst="rect">
                <a:avLst/>
              </a:prstGeom>
              <a:solidFill>
                <a:srgbClr val="FFFF00"/>
              </a:solidFill>
              <a:ln>
                <a:solidFill>
                  <a:schemeClr val="accent1"/>
                </a:solid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𝑚</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𝑋</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e>
                      </m:d>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𝑘</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𝑘</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e>
                      </m:nary>
                    </m:oMath>
                  </m:oMathPara>
                </a14:m>
                <a:endParaRPr lang="en-US" altLang="zh-CN" dirty="0">
                  <a:solidFill>
                    <a:srgbClr val="000000"/>
                  </a:solidFill>
                </a:endParaRPr>
              </a:p>
              <a:p>
                <a:endParaRPr lang="en-US" altLang="zh-CN" dirty="0"/>
              </a:p>
              <a:p>
                <a:endParaRPr lang="zh-CN" altLang="en-US" dirty="0"/>
              </a:p>
            </p:txBody>
          </p:sp>
        </mc:Choice>
        <mc:Fallback xmlns="">
          <p:sp>
            <p:nvSpPr>
              <p:cNvPr id="2" name="Object 5">
                <a:extLst>
                  <a:ext uri="{FF2B5EF4-FFF2-40B4-BE49-F238E27FC236}">
                    <a16:creationId xmlns:a16="http://schemas.microsoft.com/office/drawing/2014/main" id="{F352CD3C-7A4A-97F9-85D3-811433179B6B}"/>
                  </a:ext>
                </a:extLst>
              </p:cNvPr>
              <p:cNvSpPr txBox="1">
                <a:spLocks noRot="1" noChangeAspect="1" noMove="1" noResize="1" noEditPoints="1" noAdjustHandles="1" noChangeArrowheads="1" noChangeShapeType="1" noTextEdit="1"/>
              </p:cNvSpPr>
              <p:nvPr/>
            </p:nvSpPr>
            <p:spPr bwMode="auto">
              <a:xfrm>
                <a:off x="6861175" y="996601"/>
                <a:ext cx="4412684" cy="1213994"/>
              </a:xfrm>
              <a:prstGeom prst="rect">
                <a:avLst/>
              </a:prstGeom>
              <a:blipFill>
                <a:blip r:embed="rId8"/>
                <a:stretch>
                  <a:fillRect/>
                </a:stretch>
              </a:blipFill>
              <a:ln>
                <a:solidFill>
                  <a:schemeClr val="accent1"/>
                </a:solidFill>
              </a:ln>
              <a:effectLst/>
            </p:spPr>
            <p:txBody>
              <a:bodyPr/>
              <a:lstStyle/>
              <a:p>
                <a:r>
                  <a:rPr lang="en-US">
                    <a:noFill/>
                  </a:rPr>
                  <a:t> </a:t>
                </a:r>
              </a:p>
            </p:txBody>
          </p:sp>
        </mc:Fallback>
      </mc:AlternateContent>
      <p:graphicFrame>
        <p:nvGraphicFramePr>
          <p:cNvPr id="9" name="Object 4">
            <a:extLst>
              <a:ext uri="{FF2B5EF4-FFF2-40B4-BE49-F238E27FC236}">
                <a16:creationId xmlns:a16="http://schemas.microsoft.com/office/drawing/2014/main" id="{EFA1A428-CBC0-34C7-174E-9B3A399EA6C3}"/>
              </a:ext>
            </a:extLst>
          </p:cNvPr>
          <p:cNvGraphicFramePr>
            <a:graphicFrameLocks noChangeAspect="1"/>
          </p:cNvGraphicFramePr>
          <p:nvPr>
            <p:extLst>
              <p:ext uri="{D42A27DB-BD31-4B8C-83A1-F6EECF244321}">
                <p14:modId xmlns:p14="http://schemas.microsoft.com/office/powerpoint/2010/main" val="1155974743"/>
              </p:ext>
            </p:extLst>
          </p:nvPr>
        </p:nvGraphicFramePr>
        <p:xfrm>
          <a:off x="7546975" y="2300742"/>
          <a:ext cx="3960813" cy="847725"/>
        </p:xfrm>
        <a:graphic>
          <a:graphicData uri="http://schemas.openxmlformats.org/presentationml/2006/ole">
            <mc:AlternateContent xmlns:mc="http://schemas.openxmlformats.org/markup-compatibility/2006">
              <mc:Choice xmlns:v="urn:schemas-microsoft-com:vml" Requires="v">
                <p:oleObj name="Equation" r:id="rId9" imgW="1841400" imgH="393480" progId="Equation.DSMT4">
                  <p:embed/>
                </p:oleObj>
              </mc:Choice>
              <mc:Fallback>
                <p:oleObj name="Equation" r:id="rId9" imgW="1841400" imgH="393480" progId="Equation.DSMT4">
                  <p:embed/>
                  <p:pic>
                    <p:nvPicPr>
                      <p:cNvPr id="297988" name="Object 4">
                        <a:extLst>
                          <a:ext uri="{FF2B5EF4-FFF2-40B4-BE49-F238E27FC236}">
                            <a16:creationId xmlns:a16="http://schemas.microsoft.com/office/drawing/2014/main" id="{8FA4EE21-7A79-2D00-08B9-2A8852E1773A}"/>
                          </a:ext>
                        </a:extLst>
                      </p:cNvPr>
                      <p:cNvPicPr>
                        <a:picLocks noChangeAspect="1" noChangeArrowheads="1"/>
                      </p:cNvPicPr>
                      <p:nvPr/>
                    </p:nvPicPr>
                    <p:blipFill>
                      <a:blip r:embed="rId10"/>
                      <a:srcRect/>
                      <a:stretch>
                        <a:fillRect/>
                      </a:stretch>
                    </p:blipFill>
                    <p:spPr bwMode="auto">
                      <a:xfrm>
                        <a:off x="7546975" y="2300742"/>
                        <a:ext cx="3960813" cy="847725"/>
                      </a:xfrm>
                      <a:prstGeom prst="rect">
                        <a:avLst/>
                      </a:prstGeom>
                      <a:solidFill>
                        <a:srgbClr val="FFFF00"/>
                      </a:solidFill>
                      <a:ln>
                        <a:noFill/>
                      </a:ln>
                      <a:effectLst/>
                    </p:spPr>
                  </p:pic>
                </p:oleObj>
              </mc:Fallback>
            </mc:AlternateContent>
          </a:graphicData>
        </a:graphic>
      </p:graphicFrame>
      <p:graphicFrame>
        <p:nvGraphicFramePr>
          <p:cNvPr id="10" name="Object 4">
            <a:extLst>
              <a:ext uri="{FF2B5EF4-FFF2-40B4-BE49-F238E27FC236}">
                <a16:creationId xmlns:a16="http://schemas.microsoft.com/office/drawing/2014/main" id="{CD9F9DCB-0482-0A8E-EDCB-1964190F0846}"/>
              </a:ext>
            </a:extLst>
          </p:cNvPr>
          <p:cNvGraphicFramePr>
            <a:graphicFrameLocks noChangeAspect="1"/>
          </p:cNvGraphicFramePr>
          <p:nvPr>
            <p:extLst>
              <p:ext uri="{D42A27DB-BD31-4B8C-83A1-F6EECF244321}">
                <p14:modId xmlns:p14="http://schemas.microsoft.com/office/powerpoint/2010/main" val="276636705"/>
              </p:ext>
            </p:extLst>
          </p:nvPr>
        </p:nvGraphicFramePr>
        <p:xfrm>
          <a:off x="7623175" y="3429794"/>
          <a:ext cx="1801812" cy="382587"/>
        </p:xfrm>
        <a:graphic>
          <a:graphicData uri="http://schemas.openxmlformats.org/presentationml/2006/ole">
            <mc:AlternateContent xmlns:mc="http://schemas.openxmlformats.org/markup-compatibility/2006">
              <mc:Choice xmlns:v="urn:schemas-microsoft-com:vml" Requires="v">
                <p:oleObj name="Equation" r:id="rId11" imgW="838080" imgH="177480" progId="Equation.DSMT4">
                  <p:embed/>
                </p:oleObj>
              </mc:Choice>
              <mc:Fallback>
                <p:oleObj name="Equation" r:id="rId11" imgW="838080" imgH="177480" progId="Equation.DSMT4">
                  <p:embed/>
                  <p:pic>
                    <p:nvPicPr>
                      <p:cNvPr id="9" name="Object 4">
                        <a:extLst>
                          <a:ext uri="{FF2B5EF4-FFF2-40B4-BE49-F238E27FC236}">
                            <a16:creationId xmlns:a16="http://schemas.microsoft.com/office/drawing/2014/main" id="{EFA1A428-CBC0-34C7-174E-9B3A399EA6C3}"/>
                          </a:ext>
                        </a:extLst>
                      </p:cNvPr>
                      <p:cNvPicPr>
                        <a:picLocks noChangeAspect="1" noChangeArrowheads="1"/>
                      </p:cNvPicPr>
                      <p:nvPr/>
                    </p:nvPicPr>
                    <p:blipFill>
                      <a:blip r:embed="rId12"/>
                      <a:srcRect/>
                      <a:stretch>
                        <a:fillRect/>
                      </a:stretch>
                    </p:blipFill>
                    <p:spPr bwMode="auto">
                      <a:xfrm>
                        <a:off x="7623175" y="3429794"/>
                        <a:ext cx="1801812" cy="382587"/>
                      </a:xfrm>
                      <a:prstGeom prst="rect">
                        <a:avLst/>
                      </a:prstGeom>
                      <a:solidFill>
                        <a:srgbClr val="FFFF00"/>
                      </a:solid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97987">
                                            <p:txEl>
                                              <p:pRg st="0" end="0"/>
                                            </p:txEl>
                                          </p:spTgt>
                                        </p:tgtEl>
                                        <p:attrNameLst>
                                          <p:attrName>style.visibility</p:attrName>
                                        </p:attrNameLst>
                                      </p:cBhvr>
                                      <p:to>
                                        <p:strVal val="visible"/>
                                      </p:to>
                                    </p:set>
                                    <p:anim calcmode="lin" valueType="num">
                                      <p:cBhvr additive="base">
                                        <p:cTn id="7" dur="500" fill="hold"/>
                                        <p:tgtEl>
                                          <p:spTgt spid="2979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79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97987">
                                            <p:txEl>
                                              <p:pRg st="1" end="1"/>
                                            </p:txEl>
                                          </p:spTgt>
                                        </p:tgtEl>
                                        <p:attrNameLst>
                                          <p:attrName>style.visibility</p:attrName>
                                        </p:attrNameLst>
                                      </p:cBhvr>
                                      <p:to>
                                        <p:strVal val="visible"/>
                                      </p:to>
                                    </p:set>
                                    <p:anim calcmode="lin" valueType="num">
                                      <p:cBhvr additive="base">
                                        <p:cTn id="11" dur="500" fill="hold"/>
                                        <p:tgtEl>
                                          <p:spTgt spid="2979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798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7987">
                                            <p:txEl>
                                              <p:pRg st="2" end="2"/>
                                            </p:txEl>
                                          </p:spTgt>
                                        </p:tgtEl>
                                        <p:attrNameLst>
                                          <p:attrName>style.visibility</p:attrName>
                                        </p:attrNameLst>
                                      </p:cBhvr>
                                      <p:to>
                                        <p:strVal val="visible"/>
                                      </p:to>
                                    </p:set>
                                    <p:anim calcmode="lin" valueType="num">
                                      <p:cBhvr additive="base">
                                        <p:cTn id="15" dur="500" fill="hold"/>
                                        <p:tgtEl>
                                          <p:spTgt spid="29798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97987">
                                            <p:txEl>
                                              <p:pRg st="2" end="2"/>
                                            </p:txEl>
                                          </p:spTgt>
                                        </p:tgtEl>
                                        <p:attrNameLst>
                                          <p:attrName>ppt_y</p:attrName>
                                        </p:attrNameLst>
                                      </p:cBhvr>
                                      <p:tavLst>
                                        <p:tav tm="0">
                                          <p:val>
                                            <p:strVal val="1+#ppt_h/2"/>
                                          </p:val>
                                        </p:tav>
                                        <p:tav tm="100000">
                                          <p:val>
                                            <p:strVal val="#ppt_y"/>
                                          </p:val>
                                        </p:tav>
                                      </p:tavLst>
                                    </p:anim>
                                  </p:childTnLst>
                                </p:cTn>
                              </p:par>
                            </p:childTnLst>
                          </p:cTn>
                        </p:par>
                        <p:par>
                          <p:cTn id="17" fill="hold" nodeType="afterGroup">
                            <p:stCondLst>
                              <p:cond delay="500"/>
                            </p:stCondLst>
                            <p:childTnLst>
                              <p:par>
                                <p:cTn id="18" presetID="2" presetClass="entr" presetSubtype="2" fill="hold" nodeType="afterEffect">
                                  <p:stCondLst>
                                    <p:cond delay="0"/>
                                  </p:stCondLst>
                                  <p:childTnLst>
                                    <p:set>
                                      <p:cBhvr>
                                        <p:cTn id="19" dur="1" fill="hold">
                                          <p:stCondLst>
                                            <p:cond delay="0"/>
                                          </p:stCondLst>
                                        </p:cTn>
                                        <p:tgtEl>
                                          <p:spTgt spid="297988"/>
                                        </p:tgtEl>
                                        <p:attrNameLst>
                                          <p:attrName>style.visibility</p:attrName>
                                        </p:attrNameLst>
                                      </p:cBhvr>
                                      <p:to>
                                        <p:strVal val="visible"/>
                                      </p:to>
                                    </p:set>
                                    <p:anim calcmode="lin" valueType="num">
                                      <p:cBhvr additive="base">
                                        <p:cTn id="20" dur="500" fill="hold"/>
                                        <p:tgtEl>
                                          <p:spTgt spid="297988"/>
                                        </p:tgtEl>
                                        <p:attrNameLst>
                                          <p:attrName>ppt_x</p:attrName>
                                        </p:attrNameLst>
                                      </p:cBhvr>
                                      <p:tavLst>
                                        <p:tav tm="0">
                                          <p:val>
                                            <p:strVal val="1+#ppt_w/2"/>
                                          </p:val>
                                        </p:tav>
                                        <p:tav tm="100000">
                                          <p:val>
                                            <p:strVal val="#ppt_x"/>
                                          </p:val>
                                        </p:tav>
                                      </p:tavLst>
                                    </p:anim>
                                    <p:anim calcmode="lin" valueType="num">
                                      <p:cBhvr additive="base">
                                        <p:cTn id="21" dur="500" fill="hold"/>
                                        <p:tgtEl>
                                          <p:spTgt spid="297988"/>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97994">
                                            <p:txEl>
                                              <p:pRg st="0" end="0"/>
                                            </p:txEl>
                                          </p:spTgt>
                                        </p:tgtEl>
                                        <p:attrNameLst>
                                          <p:attrName>style.visibility</p:attrName>
                                        </p:attrNameLst>
                                      </p:cBhvr>
                                      <p:to>
                                        <p:strVal val="visible"/>
                                      </p:to>
                                    </p:set>
                                    <p:anim calcmode="lin" valueType="num">
                                      <p:cBhvr additive="base">
                                        <p:cTn id="26" dur="500" fill="hold"/>
                                        <p:tgtEl>
                                          <p:spTgt spid="297994">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979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97994">
                                            <p:txEl>
                                              <p:pRg st="1" end="1"/>
                                            </p:txEl>
                                          </p:spTgt>
                                        </p:tgtEl>
                                        <p:attrNameLst>
                                          <p:attrName>style.visibility</p:attrName>
                                        </p:attrNameLst>
                                      </p:cBhvr>
                                      <p:to>
                                        <p:strVal val="visible"/>
                                      </p:to>
                                    </p:set>
                                    <p:anim calcmode="lin" valueType="num">
                                      <p:cBhvr additive="base">
                                        <p:cTn id="32" dur="500" fill="hold"/>
                                        <p:tgtEl>
                                          <p:spTgt spid="297994">
                                            <p:txEl>
                                              <p:pRg st="1" end="1"/>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979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nodeType="afterGroup">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randombar(horizontal)">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1+#ppt_w/2"/>
                                          </p:val>
                                        </p:tav>
                                        <p:tav tm="100000">
                                          <p:val>
                                            <p:strVal val="#ppt_x"/>
                                          </p:val>
                                        </p:tav>
                                      </p:tavLst>
                                    </p:anim>
                                    <p:anim calcmode="lin" valueType="num">
                                      <p:cBhvr additive="base">
                                        <p:cTn id="4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1+#ppt_w/2"/>
                                          </p:val>
                                        </p:tav>
                                        <p:tav tm="100000">
                                          <p:val>
                                            <p:strVal val="#ppt_x"/>
                                          </p:val>
                                        </p:tav>
                                      </p:tavLst>
                                    </p:anim>
                                    <p:anim calcmode="lin" valueType="num">
                                      <p:cBhvr additive="base">
                                        <p:cTn id="5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97994">
                                            <p:txEl>
                                              <p:pRg st="2" end="2"/>
                                            </p:txEl>
                                          </p:spTgt>
                                        </p:tgtEl>
                                        <p:attrNameLst>
                                          <p:attrName>style.visibility</p:attrName>
                                        </p:attrNameLst>
                                      </p:cBhvr>
                                      <p:to>
                                        <p:strVal val="visible"/>
                                      </p:to>
                                    </p:set>
                                    <p:anim calcmode="lin" valueType="num">
                                      <p:cBhvr additive="base">
                                        <p:cTn id="55" dur="500" fill="hold"/>
                                        <p:tgtEl>
                                          <p:spTgt spid="297994">
                                            <p:txEl>
                                              <p:pRg st="2" end="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979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97989"/>
                                        </p:tgtEl>
                                        <p:attrNameLst>
                                          <p:attrName>style.visibility</p:attrName>
                                        </p:attrNameLst>
                                      </p:cBhvr>
                                      <p:to>
                                        <p:strVal val="visible"/>
                                      </p:to>
                                    </p:set>
                                    <p:anim calcmode="lin" valueType="num">
                                      <p:cBhvr additive="base">
                                        <p:cTn id="61" dur="500" fill="hold"/>
                                        <p:tgtEl>
                                          <p:spTgt spid="297989"/>
                                        </p:tgtEl>
                                        <p:attrNameLst>
                                          <p:attrName>ppt_x</p:attrName>
                                        </p:attrNameLst>
                                      </p:cBhvr>
                                      <p:tavLst>
                                        <p:tav tm="0">
                                          <p:val>
                                            <p:strVal val="#ppt_x"/>
                                          </p:val>
                                        </p:tav>
                                        <p:tav tm="100000">
                                          <p:val>
                                            <p:strVal val="#ppt_x"/>
                                          </p:val>
                                        </p:tav>
                                      </p:tavLst>
                                    </p:anim>
                                    <p:anim calcmode="lin" valueType="num">
                                      <p:cBhvr additive="base">
                                        <p:cTn id="62" dur="500" fill="hold"/>
                                        <p:tgtEl>
                                          <p:spTgt spid="29798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97995"/>
                                        </p:tgtEl>
                                        <p:attrNameLst>
                                          <p:attrName>style.visibility</p:attrName>
                                        </p:attrNameLst>
                                      </p:cBhvr>
                                      <p:to>
                                        <p:strVal val="visible"/>
                                      </p:to>
                                    </p:set>
                                    <p:anim calcmode="lin" valueType="num">
                                      <p:cBhvr additive="base">
                                        <p:cTn id="67" dur="500" fill="hold"/>
                                        <p:tgtEl>
                                          <p:spTgt spid="297995"/>
                                        </p:tgtEl>
                                        <p:attrNameLst>
                                          <p:attrName>ppt_x</p:attrName>
                                        </p:attrNameLst>
                                      </p:cBhvr>
                                      <p:tavLst>
                                        <p:tav tm="0">
                                          <p:val>
                                            <p:strVal val="#ppt_x"/>
                                          </p:val>
                                        </p:tav>
                                        <p:tav tm="100000">
                                          <p:val>
                                            <p:strVal val="#ppt_x"/>
                                          </p:val>
                                        </p:tav>
                                      </p:tavLst>
                                    </p:anim>
                                    <p:anim calcmode="lin" valueType="num">
                                      <p:cBhvr additive="base">
                                        <p:cTn id="68" dur="500" fill="hold"/>
                                        <p:tgtEl>
                                          <p:spTgt spid="2979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build="p"/>
      <p:bldP spid="297994" grpId="0" uiExpand="1" build="p" bldLvl="3"/>
      <p:bldP spid="2" grpId="0" uiExpan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1F7BBEC0-CFCA-7AC2-8479-59266A66C1AC}"/>
              </a:ext>
            </a:extLst>
          </p:cNvPr>
          <p:cNvSpPr>
            <a:spLocks noGrp="1" noChangeArrowheads="1"/>
          </p:cNvSpPr>
          <p:nvPr>
            <p:ph type="title"/>
          </p:nvPr>
        </p:nvSpPr>
        <p:spPr/>
        <p:txBody>
          <a:bodyPr/>
          <a:lstStyle/>
          <a:p>
            <a:pPr eaLnBrk="1" hangingPunct="1"/>
            <a:r>
              <a:rPr lang="zh-CN" altLang="en-US"/>
              <a:t>泊松过程的概率分布和数字特征</a:t>
            </a:r>
          </a:p>
        </p:txBody>
      </p:sp>
      <p:sp>
        <p:nvSpPr>
          <p:cNvPr id="312323" name="Rectangle 3">
            <a:extLst>
              <a:ext uri="{FF2B5EF4-FFF2-40B4-BE49-F238E27FC236}">
                <a16:creationId xmlns:a16="http://schemas.microsoft.com/office/drawing/2014/main" id="{7D2D1812-58B9-CD32-BA19-E958CB0CEB35}"/>
              </a:ext>
            </a:extLst>
          </p:cNvPr>
          <p:cNvSpPr>
            <a:spLocks noGrp="1" noChangeArrowheads="1"/>
          </p:cNvSpPr>
          <p:nvPr>
            <p:ph type="body" idx="1"/>
          </p:nvPr>
        </p:nvSpPr>
        <p:spPr>
          <a:xfrm>
            <a:off x="841375" y="1220886"/>
            <a:ext cx="7316893" cy="470009"/>
          </a:xfrm>
        </p:spPr>
        <p:txBody>
          <a:bodyPr>
            <a:normAutofit fontScale="92500"/>
          </a:bodyPr>
          <a:lstStyle/>
          <a:p>
            <a:pPr eaLnBrk="1" hangingPunct="1">
              <a:lnSpc>
                <a:spcPct val="110000"/>
              </a:lnSpc>
              <a:buFont typeface="Wingdings" pitchFamily="2" charset="2"/>
              <a:buChar char="Ø"/>
            </a:pPr>
            <a:r>
              <a:rPr lang="zh-CN" altLang="en-US" dirty="0"/>
              <a:t>二维概率分布</a:t>
            </a:r>
          </a:p>
        </p:txBody>
      </p:sp>
      <p:sp>
        <p:nvSpPr>
          <p:cNvPr id="312326" name="Rectangle 6">
            <a:extLst>
              <a:ext uri="{FF2B5EF4-FFF2-40B4-BE49-F238E27FC236}">
                <a16:creationId xmlns:a16="http://schemas.microsoft.com/office/drawing/2014/main" id="{51380BE6-ABFA-377A-8184-96F6A43A7127}"/>
              </a:ext>
            </a:extLst>
          </p:cNvPr>
          <p:cNvSpPr>
            <a:spLocks noChangeArrowheads="1"/>
          </p:cNvSpPr>
          <p:nvPr/>
        </p:nvSpPr>
        <p:spPr bwMode="auto">
          <a:xfrm>
            <a:off x="1303446" y="1649611"/>
            <a:ext cx="4783682" cy="119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60000"/>
              </a:lnSpc>
              <a:buClr>
                <a:srgbClr val="00FF00"/>
              </a:buClr>
              <a:buFontTx/>
              <a:buNone/>
            </a:pPr>
            <a:r>
              <a:rPr lang="en-US" altLang="zh-CN" sz="2400">
                <a:sym typeface="Symbol" panose="05050102010706020507" pitchFamily="18" charset="2"/>
              </a:rPr>
              <a:t>P{N(s)=j, N(t)=k}</a:t>
            </a:r>
          </a:p>
          <a:p>
            <a:pPr eaLnBrk="1" hangingPunct="1">
              <a:lnSpc>
                <a:spcPct val="160000"/>
              </a:lnSpc>
              <a:buClr>
                <a:srgbClr val="00FF00"/>
              </a:buClr>
              <a:buFontTx/>
              <a:buNone/>
            </a:pPr>
            <a:r>
              <a:rPr lang="en-US" altLang="zh-CN" sz="2400">
                <a:sym typeface="Symbol" panose="05050102010706020507" pitchFamily="18" charset="2"/>
              </a:rPr>
              <a:t>	</a:t>
            </a:r>
            <a:r>
              <a:rPr lang="zh-CN" altLang="en-US" sz="2400">
                <a:sym typeface="Symbol" panose="05050102010706020507" pitchFamily="18" charset="2"/>
              </a:rPr>
              <a:t>＝</a:t>
            </a:r>
            <a:r>
              <a:rPr lang="en-US" altLang="zh-CN" sz="2400">
                <a:sym typeface="Symbol" panose="05050102010706020507" pitchFamily="18" charset="2"/>
              </a:rPr>
              <a:t>P{N(s)-N(0)=j, N(t)-N(s)=k-j}</a:t>
            </a:r>
          </a:p>
        </p:txBody>
      </p:sp>
      <p:sp>
        <p:nvSpPr>
          <p:cNvPr id="312327" name="Rectangle 7">
            <a:extLst>
              <a:ext uri="{FF2B5EF4-FFF2-40B4-BE49-F238E27FC236}">
                <a16:creationId xmlns:a16="http://schemas.microsoft.com/office/drawing/2014/main" id="{60A81F38-0082-38DF-0A0A-161DF4052280}"/>
              </a:ext>
            </a:extLst>
          </p:cNvPr>
          <p:cNvSpPr>
            <a:spLocks noChangeArrowheads="1"/>
          </p:cNvSpPr>
          <p:nvPr/>
        </p:nvSpPr>
        <p:spPr bwMode="auto">
          <a:xfrm>
            <a:off x="1679575" y="2129938"/>
            <a:ext cx="7893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00000"/>
              </a:lnSpc>
              <a:buClrTx/>
              <a:buFontTx/>
              <a:buNone/>
            </a:pPr>
            <a:r>
              <a:rPr lang="en-US" altLang="zh-CN" sz="2400" dirty="0">
                <a:sym typeface="Symbol" panose="05050102010706020507" pitchFamily="18" charset="2"/>
              </a:rPr>
              <a:t>t&gt;s</a:t>
            </a:r>
          </a:p>
        </p:txBody>
      </p:sp>
      <p:graphicFrame>
        <p:nvGraphicFramePr>
          <p:cNvPr id="312328" name="Object 8">
            <a:extLst>
              <a:ext uri="{FF2B5EF4-FFF2-40B4-BE49-F238E27FC236}">
                <a16:creationId xmlns:a16="http://schemas.microsoft.com/office/drawing/2014/main" id="{A44781A3-7996-1159-57F6-60E8E7FD21C9}"/>
              </a:ext>
            </a:extLst>
          </p:cNvPr>
          <p:cNvGraphicFramePr>
            <a:graphicFrameLocks noChangeAspect="1"/>
          </p:cNvGraphicFramePr>
          <p:nvPr>
            <p:extLst>
              <p:ext uri="{D42A27DB-BD31-4B8C-83A1-F6EECF244321}">
                <p14:modId xmlns:p14="http://schemas.microsoft.com/office/powerpoint/2010/main" val="2271717544"/>
              </p:ext>
            </p:extLst>
          </p:nvPr>
        </p:nvGraphicFramePr>
        <p:xfrm>
          <a:off x="1962410" y="4026649"/>
          <a:ext cx="4730258" cy="1113095"/>
        </p:xfrm>
        <a:graphic>
          <a:graphicData uri="http://schemas.openxmlformats.org/presentationml/2006/ole">
            <mc:AlternateContent xmlns:mc="http://schemas.openxmlformats.org/markup-compatibility/2006">
              <mc:Choice xmlns:v="urn:schemas-microsoft-com:vml" Requires="v">
                <p:oleObj name="公式" r:id="rId2" imgW="1892300" imgH="444500" progId="Equation.3">
                  <p:embed/>
                </p:oleObj>
              </mc:Choice>
              <mc:Fallback>
                <p:oleObj name="公式" r:id="rId2" imgW="1892300" imgH="444500" progId="Equation.3">
                  <p:embed/>
                  <p:pic>
                    <p:nvPicPr>
                      <p:cNvPr id="312328" name="Object 8">
                        <a:extLst>
                          <a:ext uri="{FF2B5EF4-FFF2-40B4-BE49-F238E27FC236}">
                            <a16:creationId xmlns:a16="http://schemas.microsoft.com/office/drawing/2014/main" id="{A44781A3-7996-1159-57F6-60E8E7FD21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2410" y="4026649"/>
                        <a:ext cx="4730258" cy="11130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2330" name="Object 10">
            <a:extLst>
              <a:ext uri="{FF2B5EF4-FFF2-40B4-BE49-F238E27FC236}">
                <a16:creationId xmlns:a16="http://schemas.microsoft.com/office/drawing/2014/main" id="{2FCA0E92-42EB-E82A-E3D2-E662446E0519}"/>
              </a:ext>
            </a:extLst>
          </p:cNvPr>
          <p:cNvGraphicFramePr>
            <a:graphicFrameLocks noChangeAspect="1"/>
          </p:cNvGraphicFramePr>
          <p:nvPr>
            <p:extLst>
              <p:ext uri="{D42A27DB-BD31-4B8C-83A1-F6EECF244321}">
                <p14:modId xmlns:p14="http://schemas.microsoft.com/office/powerpoint/2010/main" val="59012386"/>
              </p:ext>
            </p:extLst>
          </p:nvPr>
        </p:nvGraphicFramePr>
        <p:xfrm>
          <a:off x="1962410" y="5403329"/>
          <a:ext cx="4634986" cy="1113096"/>
        </p:xfrm>
        <a:graphic>
          <a:graphicData uri="http://schemas.openxmlformats.org/presentationml/2006/ole">
            <mc:AlternateContent xmlns:mc="http://schemas.openxmlformats.org/markup-compatibility/2006">
              <mc:Choice xmlns:v="urn:schemas-microsoft-com:vml" Requires="v">
                <p:oleObj name="公式" r:id="rId4" imgW="1854200" imgH="444500" progId="Equation.3">
                  <p:embed/>
                </p:oleObj>
              </mc:Choice>
              <mc:Fallback>
                <p:oleObj name="公式" r:id="rId4" imgW="1854200" imgH="444500" progId="Equation.3">
                  <p:embed/>
                  <p:pic>
                    <p:nvPicPr>
                      <p:cNvPr id="312330" name="Object 10">
                        <a:extLst>
                          <a:ext uri="{FF2B5EF4-FFF2-40B4-BE49-F238E27FC236}">
                            <a16:creationId xmlns:a16="http://schemas.microsoft.com/office/drawing/2014/main" id="{2FCA0E92-42EB-E82A-E3D2-E662446E05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2410" y="5403329"/>
                        <a:ext cx="4634986" cy="11130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2332" name="Rectangle 12">
            <a:extLst>
              <a:ext uri="{FF2B5EF4-FFF2-40B4-BE49-F238E27FC236}">
                <a16:creationId xmlns:a16="http://schemas.microsoft.com/office/drawing/2014/main" id="{F6C61DBC-1FE2-58F6-FF09-4DF53EB4FAB5}"/>
              </a:ext>
            </a:extLst>
          </p:cNvPr>
          <p:cNvSpPr>
            <a:spLocks noChangeArrowheads="1"/>
          </p:cNvSpPr>
          <p:nvPr/>
        </p:nvSpPr>
        <p:spPr bwMode="auto">
          <a:xfrm>
            <a:off x="1319323" y="3092983"/>
            <a:ext cx="4128053"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914400" indent="-45720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lvl="1" eaLnBrk="1" hangingPunct="1">
              <a:lnSpc>
                <a:spcPct val="150000"/>
              </a:lnSpc>
              <a:buClr>
                <a:srgbClr val="00FF00"/>
              </a:buClr>
              <a:buFontTx/>
              <a:buNone/>
            </a:pPr>
            <a:r>
              <a:rPr lang="zh-CN" altLang="en-US">
                <a:sym typeface="Symbol" panose="05050102010706020507" pitchFamily="18" charset="2"/>
              </a:rPr>
              <a:t>＝</a:t>
            </a:r>
            <a:r>
              <a:rPr lang="en-US" altLang="zh-CN">
                <a:sym typeface="Symbol" panose="05050102010706020507" pitchFamily="18" charset="2"/>
              </a:rPr>
              <a:t>P{N(s)=j} ·P{N(t-s)=k-j}</a:t>
            </a:r>
          </a:p>
        </p:txBody>
      </p:sp>
      <p:sp>
        <p:nvSpPr>
          <p:cNvPr id="12" name="AutoShape 10">
            <a:extLst>
              <a:ext uri="{FF2B5EF4-FFF2-40B4-BE49-F238E27FC236}">
                <a16:creationId xmlns:a16="http://schemas.microsoft.com/office/drawing/2014/main" id="{F982B551-469A-80AB-BD64-2F27BEBCB1D6}"/>
              </a:ext>
            </a:extLst>
          </p:cNvPr>
          <p:cNvSpPr>
            <a:spLocks noChangeArrowheads="1"/>
          </p:cNvSpPr>
          <p:nvPr/>
        </p:nvSpPr>
        <p:spPr bwMode="auto">
          <a:xfrm>
            <a:off x="5794375" y="1266138"/>
            <a:ext cx="3263068" cy="863800"/>
          </a:xfrm>
          <a:prstGeom prst="wedgeRoundRectCallout">
            <a:avLst>
              <a:gd name="adj1" fmla="val -41593"/>
              <a:gd name="adj2" fmla="val 96005"/>
              <a:gd name="adj3" fmla="val 16667"/>
            </a:avLst>
          </a:prstGeom>
          <a:solidFill>
            <a:schemeClr val="accent1"/>
          </a:solidFill>
          <a:ln w="9525">
            <a:solidFill>
              <a:srgbClr val="0000FF"/>
            </a:solidFill>
            <a:miter lim="800000"/>
            <a:headEnd/>
            <a:tailEnd/>
          </a:ln>
        </p:spPr>
        <p:txBody>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algn="ctr" eaLnBrk="1" hangingPunct="1">
              <a:lnSpc>
                <a:spcPct val="150000"/>
              </a:lnSpc>
              <a:buClrTx/>
              <a:buFontTx/>
              <a:buNone/>
            </a:pPr>
            <a:r>
              <a:rPr lang="zh-CN" altLang="en-US" sz="2400" dirty="0">
                <a:solidFill>
                  <a:srgbClr val="FFFF00"/>
                </a:solidFill>
                <a:latin typeface="+mn-ea"/>
                <a:ea typeface="+mn-ea"/>
              </a:rPr>
              <a:t>平稳独立增量过程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12323">
                                            <p:txEl>
                                              <p:pRg st="0" end="0"/>
                                            </p:txEl>
                                          </p:spTgt>
                                        </p:tgtEl>
                                        <p:attrNameLst>
                                          <p:attrName>style.visibility</p:attrName>
                                        </p:attrNameLst>
                                      </p:cBhvr>
                                      <p:to>
                                        <p:strVal val="visible"/>
                                      </p:to>
                                    </p:set>
                                    <p:anim calcmode="lin" valueType="num">
                                      <p:cBhvr additive="base">
                                        <p:cTn id="7" dur="500" fill="hold"/>
                                        <p:tgtEl>
                                          <p:spTgt spid="3123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23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2326">
                                            <p:txEl>
                                              <p:pRg st="0" end="0"/>
                                            </p:txEl>
                                          </p:spTgt>
                                        </p:tgtEl>
                                        <p:attrNameLst>
                                          <p:attrName>style.visibility</p:attrName>
                                        </p:attrNameLst>
                                      </p:cBhvr>
                                      <p:to>
                                        <p:strVal val="visible"/>
                                      </p:to>
                                    </p:set>
                                    <p:animEffect transition="in" filter="slide(fromBottom)">
                                      <p:cBhvr>
                                        <p:cTn id="13" dur="500"/>
                                        <p:tgtEl>
                                          <p:spTgt spid="312326">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312326">
                                            <p:txEl>
                                              <p:pRg st="1" end="1"/>
                                            </p:txEl>
                                          </p:spTgt>
                                        </p:tgtEl>
                                        <p:attrNameLst>
                                          <p:attrName>style.visibility</p:attrName>
                                        </p:attrNameLst>
                                      </p:cBhvr>
                                      <p:to>
                                        <p:strVal val="visible"/>
                                      </p:to>
                                    </p:set>
                                    <p:animEffect transition="in" filter="slide(fromBottom)">
                                      <p:cBhvr>
                                        <p:cTn id="18" dur="500"/>
                                        <p:tgtEl>
                                          <p:spTgt spid="312326">
                                            <p:txEl>
                                              <p:pRg st="1" end="1"/>
                                            </p:txEl>
                                          </p:spTgt>
                                        </p:tgtEl>
                                      </p:cBhvr>
                                    </p:animEffect>
                                  </p:childTnLst>
                                </p:cTn>
                              </p:par>
                            </p:childTnLst>
                          </p:cTn>
                        </p:par>
                        <p:par>
                          <p:cTn id="19" fill="hold" nodeType="afterGroup">
                            <p:stCondLst>
                              <p:cond delay="500"/>
                            </p:stCondLst>
                            <p:childTnLst>
                              <p:par>
                                <p:cTn id="20" presetID="12" presetClass="entr" presetSubtype="8" fill="hold" grpId="0" nodeType="afterEffect">
                                  <p:stCondLst>
                                    <p:cond delay="0"/>
                                  </p:stCondLst>
                                  <p:childTnLst>
                                    <p:set>
                                      <p:cBhvr>
                                        <p:cTn id="21" dur="1" fill="hold">
                                          <p:stCondLst>
                                            <p:cond delay="0"/>
                                          </p:stCondLst>
                                        </p:cTn>
                                        <p:tgtEl>
                                          <p:spTgt spid="312327"/>
                                        </p:tgtEl>
                                        <p:attrNameLst>
                                          <p:attrName>style.visibility</p:attrName>
                                        </p:attrNameLst>
                                      </p:cBhvr>
                                      <p:to>
                                        <p:strVal val="visible"/>
                                      </p:to>
                                    </p:set>
                                    <p:animEffect transition="in" filter="slide(fromLeft)">
                                      <p:cBhvr>
                                        <p:cTn id="22" dur="500"/>
                                        <p:tgtEl>
                                          <p:spTgt spid="3123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9"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0-#ppt_w/2"/>
                                          </p:val>
                                        </p:tav>
                                        <p:tav tm="100000">
                                          <p:val>
                                            <p:strVal val="#ppt_x"/>
                                          </p:val>
                                        </p:tav>
                                      </p:tavLst>
                                    </p:anim>
                                    <p:anim calcmode="lin" valueType="num">
                                      <p:cBhvr additive="base">
                                        <p:cTn id="2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312332">
                                            <p:txEl>
                                              <p:pRg st="0" end="0"/>
                                            </p:txEl>
                                          </p:spTgt>
                                        </p:tgtEl>
                                        <p:attrNameLst>
                                          <p:attrName>style.visibility</p:attrName>
                                        </p:attrNameLst>
                                      </p:cBhvr>
                                      <p:to>
                                        <p:strVal val="visible"/>
                                      </p:to>
                                    </p:set>
                                    <p:animEffect transition="in" filter="slide(fromBottom)">
                                      <p:cBhvr>
                                        <p:cTn id="33" dur="500"/>
                                        <p:tgtEl>
                                          <p:spTgt spid="312332">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8" fill="hold" nodeType="clickEffect">
                                  <p:stCondLst>
                                    <p:cond delay="0"/>
                                  </p:stCondLst>
                                  <p:childTnLst>
                                    <p:set>
                                      <p:cBhvr>
                                        <p:cTn id="37" dur="1" fill="hold">
                                          <p:stCondLst>
                                            <p:cond delay="0"/>
                                          </p:stCondLst>
                                        </p:cTn>
                                        <p:tgtEl>
                                          <p:spTgt spid="312328"/>
                                        </p:tgtEl>
                                        <p:attrNameLst>
                                          <p:attrName>style.visibility</p:attrName>
                                        </p:attrNameLst>
                                      </p:cBhvr>
                                      <p:to>
                                        <p:strVal val="visible"/>
                                      </p:to>
                                    </p:set>
                                    <p:animEffect transition="in" filter="slide(fromLeft)">
                                      <p:cBhvr>
                                        <p:cTn id="38" dur="500"/>
                                        <p:tgtEl>
                                          <p:spTgt spid="31232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8" fill="hold" nodeType="clickEffect">
                                  <p:stCondLst>
                                    <p:cond delay="0"/>
                                  </p:stCondLst>
                                  <p:childTnLst>
                                    <p:set>
                                      <p:cBhvr>
                                        <p:cTn id="42" dur="1" fill="hold">
                                          <p:stCondLst>
                                            <p:cond delay="0"/>
                                          </p:stCondLst>
                                        </p:cTn>
                                        <p:tgtEl>
                                          <p:spTgt spid="312330"/>
                                        </p:tgtEl>
                                        <p:attrNameLst>
                                          <p:attrName>style.visibility</p:attrName>
                                        </p:attrNameLst>
                                      </p:cBhvr>
                                      <p:to>
                                        <p:strVal val="visible"/>
                                      </p:to>
                                    </p:set>
                                    <p:animEffect transition="in" filter="slide(fromLeft)">
                                      <p:cBhvr>
                                        <p:cTn id="43" dur="500"/>
                                        <p:tgtEl>
                                          <p:spTgt spid="312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3" grpId="0" build="p"/>
      <p:bldP spid="312326" grpId="0" build="p" bldLvl="2" autoUpdateAnimBg="0"/>
      <p:bldP spid="312327" grpId="0" autoUpdateAnimBg="0"/>
      <p:bldP spid="312332" grpId="0" build="p" bldLvl="2" autoUpdateAnimBg="0"/>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10023A3E-EC2A-C24E-1548-887526293026}"/>
              </a:ext>
            </a:extLst>
          </p:cNvPr>
          <p:cNvSpPr>
            <a:spLocks noGrp="1" noChangeArrowheads="1"/>
          </p:cNvSpPr>
          <p:nvPr>
            <p:ph type="title"/>
          </p:nvPr>
        </p:nvSpPr>
        <p:spPr/>
        <p:txBody>
          <a:bodyPr/>
          <a:lstStyle/>
          <a:p>
            <a:pPr eaLnBrk="1" hangingPunct="1"/>
            <a:r>
              <a:rPr lang="zh-CN" altLang="en-US"/>
              <a:t>泊松过程的概率分布和数字特征</a:t>
            </a:r>
          </a:p>
        </p:txBody>
      </p:sp>
      <p:sp>
        <p:nvSpPr>
          <p:cNvPr id="299011" name="Rectangle 3">
            <a:extLst>
              <a:ext uri="{FF2B5EF4-FFF2-40B4-BE49-F238E27FC236}">
                <a16:creationId xmlns:a16="http://schemas.microsoft.com/office/drawing/2014/main" id="{F25D6015-A6C8-E9AE-CF96-DA1F00D73BBB}"/>
              </a:ext>
            </a:extLst>
          </p:cNvPr>
          <p:cNvSpPr>
            <a:spLocks noGrp="1" noChangeArrowheads="1"/>
          </p:cNvSpPr>
          <p:nvPr>
            <p:ph type="body" idx="1"/>
          </p:nvPr>
        </p:nvSpPr>
        <p:spPr>
          <a:xfrm>
            <a:off x="760942" y="1067594"/>
            <a:ext cx="7774199" cy="1637092"/>
          </a:xfrm>
        </p:spPr>
        <p:txBody>
          <a:bodyPr>
            <a:normAutofit/>
          </a:bodyPr>
          <a:lstStyle/>
          <a:p>
            <a:pPr eaLnBrk="1" hangingPunct="1">
              <a:lnSpc>
                <a:spcPct val="140000"/>
              </a:lnSpc>
              <a:buFont typeface="Wingdings" pitchFamily="2" charset="2"/>
              <a:buChar char="Ø"/>
            </a:pPr>
            <a:r>
              <a:rPr lang="zh-CN" altLang="en-US" dirty="0"/>
              <a:t>协方差函数和相关函数</a:t>
            </a:r>
          </a:p>
          <a:p>
            <a:pPr marL="990798" lvl="1" indent="-533507">
              <a:lnSpc>
                <a:spcPct val="140000"/>
              </a:lnSpc>
              <a:buNone/>
            </a:pPr>
            <a:r>
              <a:rPr lang="zh-CN" altLang="en-US" dirty="0"/>
              <a:t>协方差函数		</a:t>
            </a:r>
            <a:r>
              <a:rPr lang="en-US" altLang="zh-CN" dirty="0"/>
              <a:t>C(s, t)</a:t>
            </a:r>
            <a:r>
              <a:rPr lang="zh-CN" altLang="en-US" dirty="0"/>
              <a:t>＝</a:t>
            </a:r>
            <a:r>
              <a:rPr lang="zh-CN" altLang="en-US" dirty="0">
                <a:sym typeface="Symbol" panose="05050102010706020507" pitchFamily="18" charset="2"/>
              </a:rPr>
              <a:t></a:t>
            </a:r>
            <a:r>
              <a:rPr lang="en-US" altLang="zh-CN" dirty="0">
                <a:sym typeface="Symbol" panose="05050102010706020507" pitchFamily="18" charset="2"/>
              </a:rPr>
              <a:t>min(s, t)</a:t>
            </a:r>
            <a:r>
              <a:rPr lang="zh-CN" altLang="en-US" dirty="0">
                <a:sym typeface="Symbol" panose="05050102010706020507" pitchFamily="18" charset="2"/>
              </a:rPr>
              <a:t>，</a:t>
            </a:r>
            <a:endParaRPr lang="zh-CN" altLang="en-US" dirty="0"/>
          </a:p>
          <a:p>
            <a:pPr marL="990798" lvl="1" indent="-533507">
              <a:lnSpc>
                <a:spcPct val="140000"/>
              </a:lnSpc>
              <a:buNone/>
            </a:pPr>
            <a:r>
              <a:rPr lang="zh-CN" altLang="en-US" dirty="0"/>
              <a:t>相关函数		</a:t>
            </a:r>
            <a:r>
              <a:rPr lang="en-US" altLang="zh-CN" dirty="0"/>
              <a:t>R(s, t)</a:t>
            </a:r>
            <a:r>
              <a:rPr lang="zh-CN" altLang="en-US" dirty="0"/>
              <a:t>＝</a:t>
            </a:r>
            <a:r>
              <a:rPr lang="zh-CN" altLang="en-US" dirty="0">
                <a:sym typeface="Symbol" panose="05050102010706020507" pitchFamily="18" charset="2"/>
              </a:rPr>
              <a:t></a:t>
            </a:r>
            <a:r>
              <a:rPr lang="en-US" altLang="zh-CN" dirty="0">
                <a:sym typeface="Symbol" panose="05050102010706020507" pitchFamily="18" charset="2"/>
              </a:rPr>
              <a:t>min(s, t)</a:t>
            </a:r>
            <a:r>
              <a:rPr lang="zh-CN" altLang="en-US" dirty="0">
                <a:sym typeface="Symbol" panose="05050102010706020507" pitchFamily="18" charset="2"/>
              </a:rPr>
              <a:t>＋</a:t>
            </a:r>
            <a:r>
              <a:rPr lang="en-US" altLang="zh-CN" baseline="30000" dirty="0">
                <a:sym typeface="Symbol" panose="05050102010706020507" pitchFamily="18" charset="2"/>
              </a:rPr>
              <a:t>2</a:t>
            </a:r>
            <a:r>
              <a:rPr lang="en-US" altLang="zh-CN" dirty="0">
                <a:sym typeface="Symbol" panose="05050102010706020507" pitchFamily="18" charset="2"/>
              </a:rPr>
              <a:t>st</a:t>
            </a:r>
            <a:r>
              <a:rPr lang="zh-CN" altLang="en-US" dirty="0">
                <a:sym typeface="Symbol" panose="05050102010706020507" pitchFamily="18" charset="2"/>
              </a:rPr>
              <a:t>。</a:t>
            </a:r>
          </a:p>
        </p:txBody>
      </p:sp>
      <p:sp>
        <p:nvSpPr>
          <p:cNvPr id="299012" name="Rectangle 4">
            <a:extLst>
              <a:ext uri="{FF2B5EF4-FFF2-40B4-BE49-F238E27FC236}">
                <a16:creationId xmlns:a16="http://schemas.microsoft.com/office/drawing/2014/main" id="{23ADBA98-B576-4347-FE67-D358D2BBA921}"/>
              </a:ext>
            </a:extLst>
          </p:cNvPr>
          <p:cNvSpPr>
            <a:spLocks noChangeArrowheads="1"/>
          </p:cNvSpPr>
          <p:nvPr/>
        </p:nvSpPr>
        <p:spPr bwMode="auto">
          <a:xfrm>
            <a:off x="760942" y="2731678"/>
            <a:ext cx="7774199" cy="367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40000"/>
              </a:lnSpc>
              <a:buClr>
                <a:srgbClr val="00FF00"/>
              </a:buClr>
              <a:buFontTx/>
              <a:buNone/>
            </a:pPr>
            <a:r>
              <a:rPr lang="zh-CN" altLang="en-US" sz="2400">
                <a:solidFill>
                  <a:srgbClr val="CC00CC"/>
                </a:solidFill>
              </a:rPr>
              <a:t>证明</a:t>
            </a:r>
            <a:r>
              <a:rPr lang="zh-CN" altLang="en-US" sz="2400"/>
              <a:t>  </a:t>
            </a:r>
            <a:r>
              <a:rPr lang="en-US" altLang="zh-CN" sz="2400">
                <a:sym typeface="Symbol" panose="05050102010706020507" pitchFamily="18" charset="2"/>
              </a:rPr>
              <a:t>R(s, t)</a:t>
            </a:r>
            <a:r>
              <a:rPr lang="zh-CN" altLang="en-US" sz="2400">
                <a:sym typeface="Symbol" panose="05050102010706020507" pitchFamily="18" charset="2"/>
              </a:rPr>
              <a:t>＝</a:t>
            </a:r>
            <a:r>
              <a:rPr lang="en-US" altLang="zh-CN" sz="2400">
                <a:sym typeface="Symbol" panose="05050102010706020507" pitchFamily="18" charset="2"/>
              </a:rPr>
              <a:t>E[N(s)N(t)]</a:t>
            </a:r>
          </a:p>
          <a:p>
            <a:pPr eaLnBrk="1" hangingPunct="1">
              <a:lnSpc>
                <a:spcPct val="140000"/>
              </a:lnSpc>
              <a:buClr>
                <a:srgbClr val="00FF00"/>
              </a:buClr>
              <a:buFontTx/>
              <a:buNone/>
            </a:pPr>
            <a:r>
              <a:rPr lang="en-US" altLang="zh-CN" sz="2400">
                <a:sym typeface="Symbol" panose="05050102010706020507" pitchFamily="18" charset="2"/>
              </a:rPr>
              <a:t>		</a:t>
            </a:r>
            <a:r>
              <a:rPr lang="zh-CN" altLang="en-US" sz="2400">
                <a:sym typeface="Symbol" panose="05050102010706020507" pitchFamily="18" charset="2"/>
              </a:rPr>
              <a:t>＝</a:t>
            </a:r>
            <a:r>
              <a:rPr lang="en-US" altLang="zh-CN" sz="2400">
                <a:sym typeface="Symbol" panose="05050102010706020507" pitchFamily="18" charset="2"/>
              </a:rPr>
              <a:t>E{N(s)[N(t)-N(s)+N(s)]}	s&lt;t</a:t>
            </a:r>
          </a:p>
          <a:p>
            <a:pPr eaLnBrk="1" hangingPunct="1">
              <a:lnSpc>
                <a:spcPct val="140000"/>
              </a:lnSpc>
              <a:buClr>
                <a:srgbClr val="00FF00"/>
              </a:buClr>
              <a:buFontTx/>
              <a:buNone/>
            </a:pPr>
            <a:r>
              <a:rPr lang="en-US" altLang="zh-CN" sz="2400">
                <a:sym typeface="Symbol" panose="05050102010706020507" pitchFamily="18" charset="2"/>
              </a:rPr>
              <a:t>		</a:t>
            </a:r>
            <a:r>
              <a:rPr lang="zh-CN" altLang="en-US" sz="2400">
                <a:sym typeface="Symbol" panose="05050102010706020507" pitchFamily="18" charset="2"/>
              </a:rPr>
              <a:t>＝</a:t>
            </a:r>
            <a:r>
              <a:rPr lang="en-US" altLang="zh-CN" sz="2400">
                <a:sym typeface="Symbol" panose="05050102010706020507" pitchFamily="18" charset="2"/>
              </a:rPr>
              <a:t>E[N(s)]E[N(t)-N(s)]+E[N</a:t>
            </a:r>
            <a:r>
              <a:rPr lang="en-US" altLang="zh-CN" sz="2400" baseline="30000">
                <a:sym typeface="Symbol" panose="05050102010706020507" pitchFamily="18" charset="2"/>
              </a:rPr>
              <a:t>2</a:t>
            </a:r>
            <a:r>
              <a:rPr lang="en-US" altLang="zh-CN" sz="2400">
                <a:sym typeface="Symbol" panose="05050102010706020507" pitchFamily="18" charset="2"/>
              </a:rPr>
              <a:t>(s)]</a:t>
            </a:r>
          </a:p>
          <a:p>
            <a:pPr eaLnBrk="1" hangingPunct="1">
              <a:lnSpc>
                <a:spcPct val="140000"/>
              </a:lnSpc>
              <a:buClr>
                <a:srgbClr val="00FF00"/>
              </a:buClr>
              <a:buFontTx/>
              <a:buNone/>
            </a:pPr>
            <a:r>
              <a:rPr lang="en-US" altLang="zh-CN" sz="2400">
                <a:sym typeface="Symbol" panose="05050102010706020507" pitchFamily="18" charset="2"/>
              </a:rPr>
              <a:t>		</a:t>
            </a:r>
            <a:r>
              <a:rPr lang="zh-CN" altLang="en-US" sz="2400">
                <a:sym typeface="Symbol" panose="05050102010706020507" pitchFamily="18" charset="2"/>
              </a:rPr>
              <a:t>＝</a:t>
            </a:r>
            <a:r>
              <a:rPr lang="en-US" altLang="zh-CN" sz="2400">
                <a:sym typeface="Symbol" panose="05050102010706020507" pitchFamily="18" charset="2"/>
              </a:rPr>
              <a:t>s</a:t>
            </a:r>
            <a:r>
              <a:rPr lang="en-US" altLang="zh-CN" sz="2400"/>
              <a:t>·</a:t>
            </a:r>
            <a:r>
              <a:rPr lang="en-US" altLang="zh-CN" sz="2400">
                <a:sym typeface="Symbol" panose="05050102010706020507" pitchFamily="18" charset="2"/>
              </a:rPr>
              <a:t>(t-s)+s+(s)</a:t>
            </a:r>
            <a:r>
              <a:rPr lang="en-US" altLang="zh-CN" sz="2400" baseline="30000">
                <a:sym typeface="Symbol" panose="05050102010706020507" pitchFamily="18" charset="2"/>
              </a:rPr>
              <a:t>2</a:t>
            </a:r>
            <a:r>
              <a:rPr lang="zh-CN" altLang="en-US" sz="2400">
                <a:sym typeface="Symbol" panose="05050102010706020507" pitchFamily="18" charset="2"/>
              </a:rPr>
              <a:t>＝</a:t>
            </a:r>
            <a:r>
              <a:rPr lang="en-US" altLang="zh-CN" sz="2400">
                <a:sym typeface="Symbol" panose="05050102010706020507" pitchFamily="18" charset="2"/>
              </a:rPr>
              <a:t>s</a:t>
            </a:r>
            <a:r>
              <a:rPr lang="en-US" altLang="zh-CN" sz="2400"/>
              <a:t>+</a:t>
            </a:r>
            <a:r>
              <a:rPr lang="en-US" altLang="zh-CN" sz="2400">
                <a:sym typeface="Symbol" panose="05050102010706020507" pitchFamily="18" charset="2"/>
              </a:rPr>
              <a:t></a:t>
            </a:r>
            <a:r>
              <a:rPr lang="en-US" altLang="zh-CN" sz="2400" baseline="30000">
                <a:sym typeface="Symbol" panose="05050102010706020507" pitchFamily="18" charset="2"/>
              </a:rPr>
              <a:t>2</a:t>
            </a:r>
            <a:r>
              <a:rPr lang="en-US" altLang="zh-CN" sz="2400">
                <a:sym typeface="Symbol" panose="05050102010706020507" pitchFamily="18" charset="2"/>
              </a:rPr>
              <a:t>st</a:t>
            </a:r>
            <a:endParaRPr lang="en-US" altLang="zh-CN" sz="2400" baseline="30000">
              <a:sym typeface="Symbol" panose="05050102010706020507" pitchFamily="18" charset="2"/>
            </a:endParaRPr>
          </a:p>
          <a:p>
            <a:pPr eaLnBrk="1" hangingPunct="1">
              <a:lnSpc>
                <a:spcPct val="140000"/>
              </a:lnSpc>
              <a:buClr>
                <a:srgbClr val="00FF00"/>
              </a:buClr>
              <a:buFontTx/>
              <a:buNone/>
            </a:pPr>
            <a:r>
              <a:rPr lang="en-US" altLang="zh-CN" sz="2400"/>
              <a:t>		C(s, t)</a:t>
            </a:r>
            <a:r>
              <a:rPr lang="zh-CN" altLang="en-US" sz="2400"/>
              <a:t>＝</a:t>
            </a:r>
            <a:r>
              <a:rPr lang="en-US" altLang="zh-CN" sz="2400">
                <a:sym typeface="Symbol" panose="05050102010706020507" pitchFamily="18" charset="2"/>
              </a:rPr>
              <a:t>R(s, t)-m(s)m(t)</a:t>
            </a:r>
            <a:r>
              <a:rPr lang="zh-CN" altLang="en-US" sz="2400">
                <a:sym typeface="Symbol" panose="05050102010706020507" pitchFamily="18" charset="2"/>
              </a:rPr>
              <a:t>＝</a:t>
            </a:r>
            <a:r>
              <a:rPr lang="en-US" altLang="zh-CN" sz="2400">
                <a:sym typeface="Symbol" panose="05050102010706020507" pitchFamily="18" charset="2"/>
              </a:rPr>
              <a:t>s</a:t>
            </a:r>
            <a:r>
              <a:rPr lang="en-US" altLang="zh-CN" sz="2400"/>
              <a:t>+</a:t>
            </a:r>
            <a:r>
              <a:rPr lang="en-US" altLang="zh-CN" sz="2400">
                <a:sym typeface="Symbol" panose="05050102010706020507" pitchFamily="18" charset="2"/>
              </a:rPr>
              <a:t></a:t>
            </a:r>
            <a:r>
              <a:rPr lang="en-US" altLang="zh-CN" sz="2400" baseline="30000">
                <a:sym typeface="Symbol" panose="05050102010706020507" pitchFamily="18" charset="2"/>
              </a:rPr>
              <a:t>2</a:t>
            </a:r>
            <a:r>
              <a:rPr lang="en-US" altLang="zh-CN" sz="2400">
                <a:sym typeface="Symbol" panose="05050102010706020507" pitchFamily="18" charset="2"/>
              </a:rPr>
              <a:t>st-st</a:t>
            </a:r>
            <a:r>
              <a:rPr lang="zh-CN" altLang="en-US" sz="2400">
                <a:sym typeface="Symbol" panose="05050102010706020507" pitchFamily="18" charset="2"/>
              </a:rPr>
              <a:t>＝</a:t>
            </a:r>
            <a:r>
              <a:rPr lang="en-US" altLang="zh-CN" sz="2400">
                <a:sym typeface="Symbol" panose="05050102010706020507" pitchFamily="18" charset="2"/>
              </a:rPr>
              <a:t>s</a:t>
            </a:r>
            <a:endParaRPr lang="en-US" altLang="zh-CN" sz="2400"/>
          </a:p>
          <a:p>
            <a:pPr eaLnBrk="1" hangingPunct="1">
              <a:lnSpc>
                <a:spcPct val="140000"/>
              </a:lnSpc>
              <a:buClr>
                <a:srgbClr val="00FF00"/>
              </a:buClr>
              <a:buFontTx/>
              <a:buNone/>
            </a:pPr>
            <a:r>
              <a:rPr lang="en-US" altLang="zh-CN" sz="2400">
                <a:sym typeface="Symbol" panose="05050102010706020507" pitchFamily="18" charset="2"/>
              </a:rPr>
              <a:t>	</a:t>
            </a:r>
            <a:r>
              <a:rPr lang="zh-CN" altLang="en-US" sz="2400">
                <a:sym typeface="Symbol" panose="05050102010706020507" pitchFamily="18" charset="2"/>
              </a:rPr>
              <a:t>一般地，</a:t>
            </a:r>
            <a:r>
              <a:rPr lang="en-US" altLang="zh-CN" sz="2400"/>
              <a:t>C(s, t)</a:t>
            </a:r>
            <a:r>
              <a:rPr lang="zh-CN" altLang="en-US" sz="2400"/>
              <a:t>＝</a:t>
            </a:r>
            <a:r>
              <a:rPr lang="zh-CN" altLang="en-US" sz="2400">
                <a:sym typeface="Symbol" panose="05050102010706020507" pitchFamily="18" charset="2"/>
              </a:rPr>
              <a:t></a:t>
            </a:r>
            <a:r>
              <a:rPr lang="en-US" altLang="zh-CN" sz="2400">
                <a:sym typeface="Symbol" panose="05050102010706020507" pitchFamily="18" charset="2"/>
              </a:rPr>
              <a:t>min(s, t)</a:t>
            </a:r>
            <a:r>
              <a:rPr lang="zh-CN" altLang="en-US" sz="2400">
                <a:sym typeface="Symbol" panose="05050102010706020507" pitchFamily="18" charset="2"/>
              </a:rPr>
              <a:t>，</a:t>
            </a:r>
          </a:p>
          <a:p>
            <a:pPr eaLnBrk="1" hangingPunct="1">
              <a:lnSpc>
                <a:spcPct val="140000"/>
              </a:lnSpc>
              <a:buClr>
                <a:srgbClr val="00FF00"/>
              </a:buClr>
              <a:buFontTx/>
              <a:buNone/>
            </a:pPr>
            <a:r>
              <a:rPr lang="zh-CN" altLang="en-US" sz="2400">
                <a:sym typeface="Symbol" panose="05050102010706020507" pitchFamily="18" charset="2"/>
              </a:rPr>
              <a:t>			</a:t>
            </a:r>
            <a:r>
              <a:rPr lang="en-US" altLang="zh-CN" sz="2400"/>
              <a:t>R(s, t)</a:t>
            </a:r>
            <a:r>
              <a:rPr lang="zh-CN" altLang="en-US" sz="2400"/>
              <a:t>＝</a:t>
            </a:r>
            <a:r>
              <a:rPr lang="zh-CN" altLang="en-US" sz="2400">
                <a:sym typeface="Symbol" panose="05050102010706020507" pitchFamily="18" charset="2"/>
              </a:rPr>
              <a:t></a:t>
            </a:r>
            <a:r>
              <a:rPr lang="en-US" altLang="zh-CN" sz="2400">
                <a:sym typeface="Symbol" panose="05050102010706020507" pitchFamily="18" charset="2"/>
              </a:rPr>
              <a:t>min(s, t)</a:t>
            </a:r>
            <a:r>
              <a:rPr lang="zh-CN" altLang="en-US" sz="2400">
                <a:sym typeface="Symbol" panose="05050102010706020507" pitchFamily="18" charset="2"/>
              </a:rPr>
              <a:t>＋</a:t>
            </a:r>
            <a:r>
              <a:rPr lang="en-US" altLang="zh-CN" sz="2400" baseline="30000">
                <a:sym typeface="Symbol" panose="05050102010706020507" pitchFamily="18" charset="2"/>
              </a:rPr>
              <a:t>2</a:t>
            </a:r>
            <a:r>
              <a:rPr lang="en-US" altLang="zh-CN" sz="2400">
                <a:sym typeface="Symbol" panose="05050102010706020507" pitchFamily="18" charset="2"/>
              </a:rPr>
              <a:t>st</a:t>
            </a:r>
            <a:r>
              <a:rPr lang="zh-CN" altLang="en-US" sz="2400">
                <a:sym typeface="Symbol" panose="05050102010706020507" pitchFamily="18" charset="2"/>
              </a:rPr>
              <a:t>。</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99011">
                                            <p:txEl>
                                              <p:pRg st="0" end="0"/>
                                            </p:txEl>
                                          </p:spTgt>
                                        </p:tgtEl>
                                        <p:attrNameLst>
                                          <p:attrName>style.visibility</p:attrName>
                                        </p:attrNameLst>
                                      </p:cBhvr>
                                      <p:to>
                                        <p:strVal val="visible"/>
                                      </p:to>
                                    </p:set>
                                    <p:anim calcmode="lin" valueType="num">
                                      <p:cBhvr additive="base">
                                        <p:cTn id="7" dur="500" fill="hold"/>
                                        <p:tgtEl>
                                          <p:spTgt spid="299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90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99011">
                                            <p:txEl>
                                              <p:pRg st="1" end="1"/>
                                            </p:txEl>
                                          </p:spTgt>
                                        </p:tgtEl>
                                        <p:attrNameLst>
                                          <p:attrName>style.visibility</p:attrName>
                                        </p:attrNameLst>
                                      </p:cBhvr>
                                      <p:to>
                                        <p:strVal val="visible"/>
                                      </p:to>
                                    </p:set>
                                    <p:anim calcmode="lin" valueType="num">
                                      <p:cBhvr additive="base">
                                        <p:cTn id="11" dur="500" fill="hold"/>
                                        <p:tgtEl>
                                          <p:spTgt spid="2990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901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9011">
                                            <p:txEl>
                                              <p:pRg st="2" end="2"/>
                                            </p:txEl>
                                          </p:spTgt>
                                        </p:tgtEl>
                                        <p:attrNameLst>
                                          <p:attrName>style.visibility</p:attrName>
                                        </p:attrNameLst>
                                      </p:cBhvr>
                                      <p:to>
                                        <p:strVal val="visible"/>
                                      </p:to>
                                    </p:set>
                                    <p:anim calcmode="lin" valueType="num">
                                      <p:cBhvr additive="base">
                                        <p:cTn id="15" dur="500" fill="hold"/>
                                        <p:tgtEl>
                                          <p:spTgt spid="29901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990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299012">
                                            <p:txEl>
                                              <p:pRg st="0" end="0"/>
                                            </p:txEl>
                                          </p:spTgt>
                                        </p:tgtEl>
                                        <p:attrNameLst>
                                          <p:attrName>style.visibility</p:attrName>
                                        </p:attrNameLst>
                                      </p:cBhvr>
                                      <p:to>
                                        <p:strVal val="visible"/>
                                      </p:to>
                                    </p:set>
                                    <p:animEffect transition="in" filter="slide(fromLeft)">
                                      <p:cBhvr>
                                        <p:cTn id="21" dur="500"/>
                                        <p:tgtEl>
                                          <p:spTgt spid="299012">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299012">
                                            <p:txEl>
                                              <p:pRg st="1" end="1"/>
                                            </p:txEl>
                                          </p:spTgt>
                                        </p:tgtEl>
                                        <p:attrNameLst>
                                          <p:attrName>style.visibility</p:attrName>
                                        </p:attrNameLst>
                                      </p:cBhvr>
                                      <p:to>
                                        <p:strVal val="visible"/>
                                      </p:to>
                                    </p:set>
                                    <p:animEffect transition="in" filter="slide(fromLeft)">
                                      <p:cBhvr>
                                        <p:cTn id="26" dur="500"/>
                                        <p:tgtEl>
                                          <p:spTgt spid="299012">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299012">
                                            <p:txEl>
                                              <p:pRg st="2" end="2"/>
                                            </p:txEl>
                                          </p:spTgt>
                                        </p:tgtEl>
                                        <p:attrNameLst>
                                          <p:attrName>style.visibility</p:attrName>
                                        </p:attrNameLst>
                                      </p:cBhvr>
                                      <p:to>
                                        <p:strVal val="visible"/>
                                      </p:to>
                                    </p:set>
                                    <p:animEffect transition="in" filter="slide(fromLeft)">
                                      <p:cBhvr>
                                        <p:cTn id="31" dur="500"/>
                                        <p:tgtEl>
                                          <p:spTgt spid="299012">
                                            <p:txEl>
                                              <p:pRg st="2" end="2"/>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8" fill="hold" grpId="0" nodeType="clickEffect">
                                  <p:stCondLst>
                                    <p:cond delay="0"/>
                                  </p:stCondLst>
                                  <p:childTnLst>
                                    <p:set>
                                      <p:cBhvr>
                                        <p:cTn id="35" dur="1" fill="hold">
                                          <p:stCondLst>
                                            <p:cond delay="0"/>
                                          </p:stCondLst>
                                        </p:cTn>
                                        <p:tgtEl>
                                          <p:spTgt spid="299012">
                                            <p:txEl>
                                              <p:pRg st="3" end="3"/>
                                            </p:txEl>
                                          </p:spTgt>
                                        </p:tgtEl>
                                        <p:attrNameLst>
                                          <p:attrName>style.visibility</p:attrName>
                                        </p:attrNameLst>
                                      </p:cBhvr>
                                      <p:to>
                                        <p:strVal val="visible"/>
                                      </p:to>
                                    </p:set>
                                    <p:animEffect transition="in" filter="slide(fromLeft)">
                                      <p:cBhvr>
                                        <p:cTn id="36" dur="500"/>
                                        <p:tgtEl>
                                          <p:spTgt spid="299012">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8" fill="hold" grpId="0" nodeType="clickEffect">
                                  <p:stCondLst>
                                    <p:cond delay="0"/>
                                  </p:stCondLst>
                                  <p:childTnLst>
                                    <p:set>
                                      <p:cBhvr>
                                        <p:cTn id="40" dur="1" fill="hold">
                                          <p:stCondLst>
                                            <p:cond delay="0"/>
                                          </p:stCondLst>
                                        </p:cTn>
                                        <p:tgtEl>
                                          <p:spTgt spid="299012">
                                            <p:txEl>
                                              <p:pRg st="4" end="4"/>
                                            </p:txEl>
                                          </p:spTgt>
                                        </p:tgtEl>
                                        <p:attrNameLst>
                                          <p:attrName>style.visibility</p:attrName>
                                        </p:attrNameLst>
                                      </p:cBhvr>
                                      <p:to>
                                        <p:strVal val="visible"/>
                                      </p:to>
                                    </p:set>
                                    <p:animEffect transition="in" filter="slide(fromLeft)">
                                      <p:cBhvr>
                                        <p:cTn id="41" dur="500"/>
                                        <p:tgtEl>
                                          <p:spTgt spid="299012">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299012">
                                            <p:txEl>
                                              <p:pRg st="5" end="5"/>
                                            </p:txEl>
                                          </p:spTgt>
                                        </p:tgtEl>
                                        <p:attrNameLst>
                                          <p:attrName>style.visibility</p:attrName>
                                        </p:attrNameLst>
                                      </p:cBhvr>
                                      <p:to>
                                        <p:strVal val="visible"/>
                                      </p:to>
                                    </p:set>
                                    <p:animEffect transition="in" filter="slide(fromLeft)">
                                      <p:cBhvr>
                                        <p:cTn id="46" dur="500"/>
                                        <p:tgtEl>
                                          <p:spTgt spid="299012">
                                            <p:txEl>
                                              <p:pRg st="5" end="5"/>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8" fill="hold" grpId="0" nodeType="clickEffect">
                                  <p:stCondLst>
                                    <p:cond delay="0"/>
                                  </p:stCondLst>
                                  <p:childTnLst>
                                    <p:set>
                                      <p:cBhvr>
                                        <p:cTn id="50" dur="1" fill="hold">
                                          <p:stCondLst>
                                            <p:cond delay="0"/>
                                          </p:stCondLst>
                                        </p:cTn>
                                        <p:tgtEl>
                                          <p:spTgt spid="299012">
                                            <p:txEl>
                                              <p:pRg st="6" end="6"/>
                                            </p:txEl>
                                          </p:spTgt>
                                        </p:tgtEl>
                                        <p:attrNameLst>
                                          <p:attrName>style.visibility</p:attrName>
                                        </p:attrNameLst>
                                      </p:cBhvr>
                                      <p:to>
                                        <p:strVal val="visible"/>
                                      </p:to>
                                    </p:set>
                                    <p:animEffect transition="in" filter="slide(fromLeft)">
                                      <p:cBhvr>
                                        <p:cTn id="51" dur="500"/>
                                        <p:tgtEl>
                                          <p:spTgt spid="2990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build="p"/>
      <p:bldP spid="299012"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8" name="Rectangle 2">
            <a:extLst>
              <a:ext uri="{FF2B5EF4-FFF2-40B4-BE49-F238E27FC236}">
                <a16:creationId xmlns:a16="http://schemas.microsoft.com/office/drawing/2014/main" id="{3C391879-7769-9A82-3E1D-68437CD6F793}"/>
              </a:ext>
            </a:extLst>
          </p:cNvPr>
          <p:cNvSpPr>
            <a:spLocks noGrp="1" noChangeArrowheads="1"/>
          </p:cNvSpPr>
          <p:nvPr>
            <p:ph type="title"/>
          </p:nvPr>
        </p:nvSpPr>
        <p:spPr/>
        <p:txBody>
          <a:bodyPr/>
          <a:lstStyle/>
          <a:p>
            <a:pPr eaLnBrk="1" hangingPunct="1"/>
            <a:r>
              <a:rPr lang="en-US" altLang="zh-CN" dirty="0"/>
              <a:t>4.</a:t>
            </a:r>
            <a:r>
              <a:rPr lang="zh-CN" altLang="en-US" dirty="0"/>
              <a:t> 泊松过程的性质</a:t>
            </a:r>
            <a:endParaRPr lang="en-US" altLang="zh-CN" dirty="0"/>
          </a:p>
        </p:txBody>
      </p:sp>
      <p:sp>
        <p:nvSpPr>
          <p:cNvPr id="300035" name="Rectangle 3">
            <a:extLst>
              <a:ext uri="{FF2B5EF4-FFF2-40B4-BE49-F238E27FC236}">
                <a16:creationId xmlns:a16="http://schemas.microsoft.com/office/drawing/2014/main" id="{EB65AC09-8A37-1B22-EDD2-6DF71129DAF4}"/>
              </a:ext>
            </a:extLst>
          </p:cNvPr>
          <p:cNvSpPr>
            <a:spLocks noGrp="1" noChangeArrowheads="1"/>
          </p:cNvSpPr>
          <p:nvPr>
            <p:ph type="body" idx="1"/>
          </p:nvPr>
        </p:nvSpPr>
        <p:spPr>
          <a:xfrm>
            <a:off x="774700" y="1039740"/>
            <a:ext cx="7153343" cy="584335"/>
          </a:xfrm>
        </p:spPr>
        <p:txBody>
          <a:bodyPr>
            <a:normAutofit fontScale="77500" lnSpcReduction="20000"/>
          </a:bodyPr>
          <a:lstStyle/>
          <a:p>
            <a:pPr eaLnBrk="1" hangingPunct="1">
              <a:buFont typeface="Wingdings" panose="05000000000000000000" pitchFamily="2" charset="2"/>
              <a:buNone/>
            </a:pPr>
            <a:r>
              <a:rPr lang="zh-CN" altLang="en-US" sz="3201" dirty="0">
                <a:solidFill>
                  <a:srgbClr val="0000FF"/>
                </a:solidFill>
              </a:rPr>
              <a:t>性质</a:t>
            </a:r>
            <a:r>
              <a:rPr lang="en-US" altLang="zh-CN" sz="3201" dirty="0">
                <a:solidFill>
                  <a:srgbClr val="0000FF"/>
                </a:solidFill>
              </a:rPr>
              <a:t>1</a:t>
            </a:r>
            <a:r>
              <a:rPr lang="zh-CN" altLang="en-US" sz="3201" dirty="0">
                <a:solidFill>
                  <a:srgbClr val="0000FF"/>
                </a:solidFill>
              </a:rPr>
              <a:t>  泊松过程是平稳独立增量过程；</a:t>
            </a:r>
            <a:endParaRPr lang="zh-CN" altLang="en-US" sz="3201" dirty="0">
              <a:solidFill>
                <a:srgbClr val="0000FF"/>
              </a:solidFill>
              <a:sym typeface="Symbol" panose="05050102010706020507" pitchFamily="18" charset="2"/>
            </a:endParaRPr>
          </a:p>
        </p:txBody>
      </p:sp>
      <p:sp>
        <p:nvSpPr>
          <p:cNvPr id="300037" name="Rectangle 5">
            <a:extLst>
              <a:ext uri="{FF2B5EF4-FFF2-40B4-BE49-F238E27FC236}">
                <a16:creationId xmlns:a16="http://schemas.microsoft.com/office/drawing/2014/main" id="{98E8FAB1-8471-1699-CE56-D5C3D4207934}"/>
              </a:ext>
            </a:extLst>
          </p:cNvPr>
          <p:cNvSpPr>
            <a:spLocks noChangeArrowheads="1"/>
          </p:cNvSpPr>
          <p:nvPr/>
        </p:nvSpPr>
        <p:spPr bwMode="auto">
          <a:xfrm>
            <a:off x="469847" y="2439194"/>
            <a:ext cx="11277706" cy="2792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
                <a:srgbClr val="00FF00"/>
              </a:buClr>
              <a:buFont typeface="Wingdings" panose="05000000000000000000" pitchFamily="2" charset="2"/>
              <a:buNone/>
            </a:pPr>
            <a:r>
              <a:rPr lang="en-US" altLang="zh-CN" sz="2400" dirty="0">
                <a:latin typeface="+mn-ea"/>
                <a:ea typeface="+mn-ea"/>
              </a:rPr>
              <a:t>    </a:t>
            </a:r>
            <a:r>
              <a:rPr lang="zh-CN" altLang="en-US" sz="2400" dirty="0">
                <a:latin typeface="+mn-ea"/>
                <a:ea typeface="+mn-ea"/>
              </a:rPr>
              <a:t>设</a:t>
            </a:r>
            <a:r>
              <a:rPr lang="en-US" altLang="zh-CN" sz="2400" dirty="0">
                <a:latin typeface="+mn-ea"/>
                <a:ea typeface="+mn-ea"/>
              </a:rPr>
              <a:t>N(t)</a:t>
            </a:r>
            <a:r>
              <a:rPr lang="zh-CN" altLang="en-US" sz="2400" dirty="0">
                <a:latin typeface="+mn-ea"/>
                <a:ea typeface="+mn-ea"/>
              </a:rPr>
              <a:t>表示区间</a:t>
            </a:r>
            <a:r>
              <a:rPr lang="en-US" altLang="zh-CN" sz="2400" dirty="0">
                <a:latin typeface="+mn-ea"/>
                <a:ea typeface="+mn-ea"/>
              </a:rPr>
              <a:t>[0, t)</a:t>
            </a:r>
            <a:r>
              <a:rPr lang="zh-CN" altLang="en-US" sz="2400" dirty="0">
                <a:latin typeface="+mn-ea"/>
                <a:ea typeface="+mn-ea"/>
              </a:rPr>
              <a:t>内事件出现的次数，</a:t>
            </a:r>
            <a:r>
              <a:rPr lang="en-US" altLang="zh-CN" sz="2400" dirty="0">
                <a:latin typeface="+mn-ea"/>
                <a:ea typeface="+mn-ea"/>
              </a:rPr>
              <a:t>{N(t), t</a:t>
            </a:r>
            <a:r>
              <a:rPr lang="en-US" altLang="zh-CN" sz="2400" dirty="0">
                <a:latin typeface="+mn-ea"/>
                <a:ea typeface="+mn-ea"/>
                <a:sym typeface="Symbol" panose="05050102010706020507" pitchFamily="18" charset="2"/>
              </a:rPr>
              <a:t>0</a:t>
            </a:r>
            <a:r>
              <a:rPr lang="en-US" altLang="zh-CN" sz="2400" dirty="0">
                <a:latin typeface="+mn-ea"/>
                <a:ea typeface="+mn-ea"/>
              </a:rPr>
              <a:t>}</a:t>
            </a:r>
            <a:r>
              <a:rPr lang="zh-CN" altLang="en-US" sz="2400" dirty="0">
                <a:latin typeface="+mn-ea"/>
                <a:ea typeface="+mn-ea"/>
              </a:rPr>
              <a:t>是</a:t>
            </a:r>
            <a:r>
              <a:rPr lang="zh-CN" altLang="en-US" sz="2400" dirty="0">
                <a:latin typeface="+mn-ea"/>
                <a:ea typeface="+mn-ea"/>
                <a:sym typeface="Symbol" panose="05050102010706020507" pitchFamily="18" charset="2"/>
              </a:rPr>
              <a:t>参数为的泊松过程，</a:t>
            </a:r>
            <a:endParaRPr lang="en-US" altLang="zh-CN" sz="2400" dirty="0">
              <a:latin typeface="+mn-ea"/>
              <a:ea typeface="+mn-ea"/>
              <a:sym typeface="Symbol" panose="05050102010706020507" pitchFamily="18" charset="2"/>
            </a:endParaRPr>
          </a:p>
          <a:p>
            <a:pPr eaLnBrk="1" hangingPunct="1">
              <a:lnSpc>
                <a:spcPct val="150000"/>
              </a:lnSpc>
              <a:buClr>
                <a:srgbClr val="00FF00"/>
              </a:buClr>
              <a:buFont typeface="Wingdings" panose="05000000000000000000" pitchFamily="2" charset="2"/>
              <a:buNone/>
            </a:pPr>
            <a:r>
              <a:rPr lang="en-US" altLang="zh-CN" sz="2400" dirty="0">
                <a:latin typeface="+mn-ea"/>
                <a:ea typeface="+mn-ea"/>
                <a:sym typeface="Symbol" panose="05050102010706020507" pitchFamily="18" charset="2"/>
              </a:rPr>
              <a:t>    </a:t>
            </a:r>
            <a:r>
              <a:rPr lang="zh-CN" altLang="en-US" sz="2400" dirty="0">
                <a:latin typeface="+mn-ea"/>
                <a:ea typeface="+mn-ea"/>
                <a:sym typeface="Symbol" panose="05050102010706020507" pitchFamily="18" charset="2"/>
              </a:rPr>
              <a:t>设</a:t>
            </a:r>
            <a:r>
              <a:rPr lang="en-US" altLang="zh-CN" sz="2400" baseline="-25000" dirty="0">
                <a:latin typeface="+mn-ea"/>
                <a:ea typeface="+mn-ea"/>
                <a:sym typeface="Symbol" panose="05050102010706020507" pitchFamily="18" charset="2"/>
              </a:rPr>
              <a:t>1</a:t>
            </a:r>
            <a:r>
              <a:rPr lang="en-US" altLang="zh-CN" sz="2400" dirty="0">
                <a:latin typeface="+mn-ea"/>
                <a:ea typeface="+mn-ea"/>
                <a:sym typeface="Symbol" panose="05050102010706020507" pitchFamily="18" charset="2"/>
              </a:rPr>
              <a:t>, </a:t>
            </a:r>
            <a:r>
              <a:rPr lang="en-US" altLang="zh-CN" sz="2400" baseline="-25000" dirty="0">
                <a:latin typeface="+mn-ea"/>
                <a:ea typeface="+mn-ea"/>
                <a:sym typeface="Symbol" panose="05050102010706020507" pitchFamily="18" charset="2"/>
              </a:rPr>
              <a:t>2</a:t>
            </a:r>
            <a:r>
              <a:rPr lang="en-US" altLang="zh-CN" sz="2400" dirty="0">
                <a:latin typeface="+mn-ea"/>
                <a:ea typeface="+mn-ea"/>
                <a:sym typeface="Symbol" panose="05050102010706020507" pitchFamily="18" charset="2"/>
              </a:rPr>
              <a:t>, …, </a:t>
            </a:r>
            <a:r>
              <a:rPr lang="en-US" altLang="zh-CN" sz="2400" baseline="-25000" dirty="0">
                <a:latin typeface="+mn-ea"/>
                <a:ea typeface="+mn-ea"/>
                <a:sym typeface="Symbol" panose="05050102010706020507" pitchFamily="18" charset="2"/>
              </a:rPr>
              <a:t>n</a:t>
            </a:r>
            <a:r>
              <a:rPr lang="zh-CN" altLang="en-US" sz="2400" dirty="0">
                <a:latin typeface="+mn-ea"/>
                <a:ea typeface="+mn-ea"/>
              </a:rPr>
              <a:t>分别表示事件第</a:t>
            </a:r>
            <a:r>
              <a:rPr lang="en-US" altLang="zh-CN" sz="2400" dirty="0">
                <a:latin typeface="+mn-ea"/>
                <a:ea typeface="+mn-ea"/>
              </a:rPr>
              <a:t>1</a:t>
            </a:r>
            <a:r>
              <a:rPr lang="zh-CN" altLang="en-US" sz="2400" dirty="0">
                <a:latin typeface="+mn-ea"/>
                <a:ea typeface="+mn-ea"/>
              </a:rPr>
              <a:t>、</a:t>
            </a:r>
            <a:r>
              <a:rPr lang="en-US" altLang="zh-CN" sz="2400" dirty="0">
                <a:latin typeface="+mn-ea"/>
                <a:ea typeface="+mn-ea"/>
              </a:rPr>
              <a:t>2</a:t>
            </a:r>
            <a:r>
              <a:rPr lang="zh-CN" altLang="en-US" sz="2400" dirty="0">
                <a:latin typeface="+mn-ea"/>
                <a:ea typeface="+mn-ea"/>
              </a:rPr>
              <a:t>、</a:t>
            </a:r>
            <a:r>
              <a:rPr lang="en-US" altLang="zh-CN" sz="2400" dirty="0">
                <a:latin typeface="+mn-ea"/>
                <a:ea typeface="+mn-ea"/>
              </a:rPr>
              <a:t>…</a:t>
            </a:r>
            <a:r>
              <a:rPr lang="zh-CN" altLang="en-US" sz="2400" dirty="0">
                <a:latin typeface="+mn-ea"/>
                <a:ea typeface="+mn-ea"/>
              </a:rPr>
              <a:t>、</a:t>
            </a:r>
            <a:r>
              <a:rPr lang="en-US" altLang="zh-CN" sz="2400" dirty="0">
                <a:latin typeface="+mn-ea"/>
                <a:ea typeface="+mn-ea"/>
              </a:rPr>
              <a:t>n</a:t>
            </a:r>
            <a:r>
              <a:rPr lang="zh-CN" altLang="en-US" sz="2400" dirty="0">
                <a:latin typeface="+mn-ea"/>
                <a:ea typeface="+mn-ea"/>
              </a:rPr>
              <a:t>次出现的时间，则</a:t>
            </a:r>
            <a:r>
              <a:rPr lang="zh-CN" altLang="en-US"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k</a:t>
            </a:r>
            <a:r>
              <a:rPr lang="zh-CN" altLang="en-US" sz="2400" dirty="0">
                <a:latin typeface="+mn-ea"/>
                <a:ea typeface="+mn-ea"/>
              </a:rPr>
              <a:t>为事件第</a:t>
            </a:r>
            <a:r>
              <a:rPr lang="en-US" altLang="zh-CN" sz="2400" dirty="0">
                <a:latin typeface="+mn-ea"/>
                <a:ea typeface="+mn-ea"/>
              </a:rPr>
              <a:t>k</a:t>
            </a:r>
            <a:r>
              <a:rPr lang="zh-CN" altLang="en-US" sz="2400" dirty="0">
                <a:latin typeface="+mn-ea"/>
                <a:ea typeface="+mn-ea"/>
              </a:rPr>
              <a:t>次出现的</a:t>
            </a:r>
            <a:r>
              <a:rPr lang="zh-CN" altLang="en-US" sz="2400" dirty="0">
                <a:solidFill>
                  <a:srgbClr val="CC00CC"/>
                </a:solidFill>
                <a:latin typeface="+mn-ea"/>
                <a:ea typeface="+mn-ea"/>
              </a:rPr>
              <a:t>等待时间</a:t>
            </a:r>
            <a:r>
              <a:rPr lang="zh-CN" altLang="en-US" sz="2400" dirty="0">
                <a:latin typeface="+mn-ea"/>
                <a:ea typeface="+mn-ea"/>
              </a:rPr>
              <a:t>；</a:t>
            </a:r>
            <a:r>
              <a:rPr lang="en-US" altLang="zh-CN" sz="2400" dirty="0">
                <a:latin typeface="+mn-ea"/>
                <a:ea typeface="+mn-ea"/>
                <a:sym typeface="Symbol" panose="05050102010706020507" pitchFamily="18" charset="2"/>
              </a:rPr>
              <a:t>T</a:t>
            </a:r>
            <a:r>
              <a:rPr lang="en-US" altLang="zh-CN" sz="2400" baseline="-25000" dirty="0">
                <a:latin typeface="+mn-ea"/>
                <a:ea typeface="+mn-ea"/>
                <a:sym typeface="Symbol" panose="05050102010706020507" pitchFamily="18" charset="2"/>
              </a:rPr>
              <a:t>k</a:t>
            </a:r>
            <a:r>
              <a:rPr lang="en-US" altLang="zh-CN" sz="2400" dirty="0">
                <a:latin typeface="+mn-ea"/>
                <a:ea typeface="+mn-ea"/>
                <a:sym typeface="Symbol" panose="05050102010706020507" pitchFamily="18" charset="2"/>
              </a:rPr>
              <a:t>(k1)</a:t>
            </a:r>
            <a:r>
              <a:rPr lang="zh-CN" altLang="en-US" sz="2400" dirty="0">
                <a:latin typeface="+mn-ea"/>
                <a:ea typeface="+mn-ea"/>
                <a:sym typeface="Symbol" panose="05050102010706020507" pitchFamily="18" charset="2"/>
              </a:rPr>
              <a:t>表示事件第</a:t>
            </a:r>
            <a:r>
              <a:rPr lang="en-US" altLang="zh-CN" sz="2400" dirty="0">
                <a:latin typeface="+mn-ea"/>
                <a:ea typeface="+mn-ea"/>
                <a:sym typeface="Symbol" panose="05050102010706020507" pitchFamily="18" charset="2"/>
              </a:rPr>
              <a:t>k-1</a:t>
            </a:r>
            <a:r>
              <a:rPr lang="zh-CN" altLang="en-US" sz="2400" dirty="0">
                <a:latin typeface="+mn-ea"/>
                <a:ea typeface="+mn-ea"/>
                <a:sym typeface="Symbol" panose="05050102010706020507" pitchFamily="18" charset="2"/>
              </a:rPr>
              <a:t>次出现到第</a:t>
            </a:r>
            <a:r>
              <a:rPr lang="en-US" altLang="zh-CN" sz="2400" dirty="0">
                <a:latin typeface="+mn-ea"/>
                <a:ea typeface="+mn-ea"/>
                <a:sym typeface="Symbol" panose="05050102010706020507" pitchFamily="18" charset="2"/>
              </a:rPr>
              <a:t>k</a:t>
            </a:r>
            <a:r>
              <a:rPr lang="zh-CN" altLang="en-US" sz="2400" dirty="0">
                <a:latin typeface="+mn-ea"/>
                <a:ea typeface="+mn-ea"/>
                <a:sym typeface="Symbol" panose="05050102010706020507" pitchFamily="18" charset="2"/>
              </a:rPr>
              <a:t>次出现的</a:t>
            </a:r>
            <a:r>
              <a:rPr lang="zh-CN" altLang="en-US" sz="2400" dirty="0">
                <a:solidFill>
                  <a:srgbClr val="CC00CC"/>
                </a:solidFill>
                <a:latin typeface="+mn-ea"/>
                <a:ea typeface="+mn-ea"/>
                <a:sym typeface="Symbol" panose="05050102010706020507" pitchFamily="18" charset="2"/>
              </a:rPr>
              <a:t>点间间距</a:t>
            </a:r>
            <a:r>
              <a:rPr lang="zh-CN" altLang="en-US" sz="2400" dirty="0">
                <a:latin typeface="+mn-ea"/>
                <a:ea typeface="+mn-ea"/>
                <a:sym typeface="Symbol" panose="05050102010706020507" pitchFamily="18" charset="2"/>
              </a:rPr>
              <a:t>。</a:t>
            </a:r>
          </a:p>
          <a:p>
            <a:pPr algn="ctr" eaLnBrk="1" hangingPunct="1">
              <a:lnSpc>
                <a:spcPct val="150000"/>
              </a:lnSpc>
              <a:buClr>
                <a:srgbClr val="00FF00"/>
              </a:buClr>
              <a:buFont typeface="Wingdings" panose="05000000000000000000" pitchFamily="2" charset="2"/>
              <a:buNone/>
            </a:pPr>
            <a:r>
              <a:rPr lang="en-US" altLang="zh-CN" sz="2400" dirty="0">
                <a:latin typeface="+mn-ea"/>
                <a:ea typeface="+mn-ea"/>
                <a:sym typeface="Symbol" panose="05050102010706020507" pitchFamily="18" charset="2"/>
              </a:rPr>
              <a:t>T</a:t>
            </a:r>
            <a:r>
              <a:rPr lang="en-US" altLang="zh-CN" sz="2400" baseline="-25000" dirty="0">
                <a:latin typeface="+mn-ea"/>
                <a:ea typeface="+mn-ea"/>
                <a:sym typeface="Symbol" panose="05050102010706020507" pitchFamily="18" charset="2"/>
              </a:rPr>
              <a:t>k</a:t>
            </a:r>
            <a:r>
              <a:rPr lang="zh-CN" altLang="en-US"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k</a:t>
            </a:r>
            <a:r>
              <a:rPr lang="en-US" altLang="zh-CN"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k-1</a:t>
            </a:r>
            <a:r>
              <a:rPr lang="zh-CN" altLang="en-US" sz="2400" dirty="0">
                <a:latin typeface="+mn-ea"/>
                <a:ea typeface="+mn-ea"/>
                <a:sym typeface="Symbol" panose="05050102010706020507" pitchFamily="18" charset="2"/>
              </a:rPr>
              <a:t>，</a:t>
            </a:r>
            <a:r>
              <a:rPr lang="en-US" altLang="zh-CN" sz="2400" dirty="0">
                <a:latin typeface="+mn-ea"/>
                <a:ea typeface="+mn-ea"/>
                <a:sym typeface="Symbol" panose="05050102010706020507" pitchFamily="18" charset="2"/>
              </a:rPr>
              <a:t>k=1, 2, …, n</a:t>
            </a:r>
            <a:r>
              <a:rPr lang="zh-CN" altLang="en-US"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0</a:t>
            </a:r>
            <a:r>
              <a:rPr lang="en-US" altLang="zh-CN" sz="2400" dirty="0">
                <a:latin typeface="+mn-ea"/>
                <a:ea typeface="+mn-ea"/>
                <a:sym typeface="Symbol" panose="05050102010706020507" pitchFamily="18" charset="2"/>
              </a:rPr>
              <a:t>=0</a:t>
            </a:r>
            <a:endParaRPr lang="zh-CN" altLang="en-US" sz="2400" dirty="0">
              <a:latin typeface="+mn-ea"/>
              <a:ea typeface="+mn-ea"/>
              <a:sym typeface="Symbol" panose="05050102010706020507" pitchFamily="18" charset="2"/>
            </a:endParaRPr>
          </a:p>
          <a:p>
            <a:pPr algn="ctr" eaLnBrk="1" hangingPunct="1">
              <a:lnSpc>
                <a:spcPct val="150000"/>
              </a:lnSpc>
              <a:buClr>
                <a:srgbClr val="00FF00"/>
              </a:buClr>
              <a:buFont typeface="Wingdings" panose="05000000000000000000" pitchFamily="2" charset="2"/>
              <a:buNone/>
            </a:pPr>
            <a:r>
              <a:rPr lang="zh-CN" altLang="en-US"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k</a:t>
            </a:r>
            <a:r>
              <a:rPr lang="zh-CN" altLang="en-US" sz="2400" dirty="0">
                <a:latin typeface="+mn-ea"/>
                <a:ea typeface="+mn-ea"/>
                <a:sym typeface="Symbol" panose="05050102010706020507" pitchFamily="18" charset="2"/>
              </a:rPr>
              <a:t>＝</a:t>
            </a:r>
            <a:r>
              <a:rPr lang="en-US" altLang="zh-CN" sz="2400" dirty="0">
                <a:latin typeface="+mn-ea"/>
                <a:ea typeface="+mn-ea"/>
                <a:sym typeface="Symbol" panose="05050102010706020507" pitchFamily="18" charset="2"/>
              </a:rPr>
              <a:t>T</a:t>
            </a:r>
            <a:r>
              <a:rPr lang="en-US" altLang="zh-CN" sz="2400" baseline="-25000" dirty="0">
                <a:latin typeface="+mn-ea"/>
                <a:ea typeface="+mn-ea"/>
                <a:sym typeface="Symbol" panose="05050102010706020507" pitchFamily="18" charset="2"/>
              </a:rPr>
              <a:t>1</a:t>
            </a:r>
            <a:r>
              <a:rPr lang="en-US" altLang="zh-CN" sz="2400" dirty="0">
                <a:latin typeface="+mn-ea"/>
                <a:ea typeface="+mn-ea"/>
                <a:sym typeface="Symbol" panose="05050102010706020507" pitchFamily="18" charset="2"/>
              </a:rPr>
              <a:t>+T</a:t>
            </a:r>
            <a:r>
              <a:rPr lang="en-US" altLang="zh-CN" sz="2400" baseline="-25000" dirty="0">
                <a:latin typeface="+mn-ea"/>
                <a:ea typeface="+mn-ea"/>
                <a:sym typeface="Symbol" panose="05050102010706020507" pitchFamily="18" charset="2"/>
              </a:rPr>
              <a:t>2</a:t>
            </a:r>
            <a:r>
              <a:rPr lang="en-US" altLang="zh-CN" sz="2400" dirty="0">
                <a:latin typeface="+mn-ea"/>
                <a:ea typeface="+mn-ea"/>
                <a:sym typeface="Symbol" panose="05050102010706020507" pitchFamily="18" charset="2"/>
              </a:rPr>
              <a:t>+…+T</a:t>
            </a:r>
            <a:r>
              <a:rPr lang="en-US" altLang="zh-CN" sz="2400" baseline="-25000" dirty="0">
                <a:latin typeface="+mn-ea"/>
                <a:ea typeface="+mn-ea"/>
                <a:sym typeface="Symbol" panose="05050102010706020507" pitchFamily="18" charset="2"/>
              </a:rPr>
              <a:t>k</a:t>
            </a:r>
            <a:r>
              <a:rPr lang="zh-CN" altLang="en-US" sz="2400" dirty="0">
                <a:latin typeface="+mn-ea"/>
                <a:ea typeface="+mn-ea"/>
                <a:sym typeface="Symbol" panose="05050102010706020507" pitchFamily="18" charset="2"/>
              </a:rPr>
              <a:t>，</a:t>
            </a:r>
            <a:r>
              <a:rPr lang="en-US" altLang="zh-CN" sz="2400" dirty="0">
                <a:latin typeface="+mn-ea"/>
                <a:ea typeface="+mn-ea"/>
                <a:sym typeface="Symbol" panose="05050102010706020507" pitchFamily="18" charset="2"/>
              </a:rPr>
              <a:t>k=1, 2, …, 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0035">
                                            <p:txEl>
                                              <p:pRg st="0" end="0"/>
                                            </p:txEl>
                                          </p:spTgt>
                                        </p:tgtEl>
                                        <p:attrNameLst>
                                          <p:attrName>style.visibility</p:attrName>
                                        </p:attrNameLst>
                                      </p:cBhvr>
                                      <p:to>
                                        <p:strVal val="visible"/>
                                      </p:to>
                                    </p:set>
                                    <p:anim calcmode="lin" valueType="num">
                                      <p:cBhvr additive="base">
                                        <p:cTn id="7" dur="500" fill="hold"/>
                                        <p:tgtEl>
                                          <p:spTgt spid="3000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00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0037"/>
                                        </p:tgtEl>
                                        <p:attrNameLst>
                                          <p:attrName>style.visibility</p:attrName>
                                        </p:attrNameLst>
                                      </p:cBhvr>
                                      <p:to>
                                        <p:strVal val="visible"/>
                                      </p:to>
                                    </p:set>
                                    <p:anim calcmode="lin" valueType="num">
                                      <p:cBhvr additive="base">
                                        <p:cTn id="13" dur="500" fill="hold"/>
                                        <p:tgtEl>
                                          <p:spTgt spid="300037"/>
                                        </p:tgtEl>
                                        <p:attrNameLst>
                                          <p:attrName>ppt_x</p:attrName>
                                        </p:attrNameLst>
                                      </p:cBhvr>
                                      <p:tavLst>
                                        <p:tav tm="0">
                                          <p:val>
                                            <p:strVal val="0-#ppt_w/2"/>
                                          </p:val>
                                        </p:tav>
                                        <p:tav tm="100000">
                                          <p:val>
                                            <p:strVal val="#ppt_x"/>
                                          </p:val>
                                        </p:tav>
                                      </p:tavLst>
                                    </p:anim>
                                    <p:anim calcmode="lin" valueType="num">
                                      <p:cBhvr additive="base">
                                        <p:cTn id="14" dur="500" fill="hold"/>
                                        <p:tgtEl>
                                          <p:spTgt spid="3000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build="p" autoUpdateAnimBg="0"/>
      <p:bldP spid="300037"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150186E2-EC57-DC7E-4D5A-7A12A78BE19F}"/>
              </a:ext>
            </a:extLst>
          </p:cNvPr>
          <p:cNvSpPr>
            <a:spLocks noGrp="1" noChangeArrowheads="1"/>
          </p:cNvSpPr>
          <p:nvPr>
            <p:ph type="title"/>
          </p:nvPr>
        </p:nvSpPr>
        <p:spPr/>
        <p:txBody>
          <a:bodyPr/>
          <a:lstStyle/>
          <a:p>
            <a:r>
              <a:rPr lang="en-US" altLang="zh-CN" dirty="0"/>
              <a:t>4.</a:t>
            </a:r>
            <a:r>
              <a:rPr lang="zh-CN" altLang="en-US" dirty="0"/>
              <a:t> 泊松过程的性质</a:t>
            </a:r>
          </a:p>
        </p:txBody>
      </p:sp>
      <p:sp>
        <p:nvSpPr>
          <p:cNvPr id="3" name="内容占位符 2">
            <a:extLst>
              <a:ext uri="{FF2B5EF4-FFF2-40B4-BE49-F238E27FC236}">
                <a16:creationId xmlns:a16="http://schemas.microsoft.com/office/drawing/2014/main" id="{75AF1BC5-1A2A-5F1C-3768-C43914FED34F}"/>
              </a:ext>
            </a:extLst>
          </p:cNvPr>
          <p:cNvSpPr>
            <a:spLocks noGrp="1" noChangeArrowheads="1"/>
          </p:cNvSpPr>
          <p:nvPr>
            <p:ph idx="1"/>
          </p:nvPr>
        </p:nvSpPr>
        <p:spPr>
          <a:xfrm>
            <a:off x="460375" y="991394"/>
            <a:ext cx="11353800" cy="1066800"/>
          </a:xfrm>
        </p:spPr>
        <p:txBody>
          <a:bodyPr>
            <a:noAutofit/>
          </a:bodyPr>
          <a:lstStyle/>
          <a:p>
            <a:pPr eaLnBrk="1" hangingPunct="1">
              <a:buFont typeface="Wingdings" panose="05000000000000000000" pitchFamily="2" charset="2"/>
              <a:buNone/>
            </a:pPr>
            <a:r>
              <a:rPr lang="zh-CN" altLang="en-US" dirty="0">
                <a:solidFill>
                  <a:srgbClr val="0000FF"/>
                </a:solidFill>
              </a:rPr>
              <a:t>性质</a:t>
            </a:r>
            <a:r>
              <a:rPr lang="en-US" altLang="zh-CN" dirty="0">
                <a:solidFill>
                  <a:srgbClr val="0000FF"/>
                </a:solidFill>
              </a:rPr>
              <a:t>2  </a:t>
            </a:r>
            <a:r>
              <a:rPr lang="zh-CN" altLang="en-US" dirty="0">
                <a:solidFill>
                  <a:srgbClr val="0000FF"/>
                </a:solidFill>
              </a:rPr>
              <a:t>设</a:t>
            </a:r>
            <a:r>
              <a:rPr lang="en-US" altLang="zh-CN" dirty="0">
                <a:solidFill>
                  <a:srgbClr val="0000FF"/>
                </a:solidFill>
              </a:rPr>
              <a:t>{N(t), t</a:t>
            </a:r>
            <a:r>
              <a:rPr lang="en-US" altLang="zh-CN" dirty="0">
                <a:solidFill>
                  <a:srgbClr val="0000FF"/>
                </a:solidFill>
                <a:sym typeface="Symbol" panose="05050102010706020507" pitchFamily="18" charset="2"/>
              </a:rPr>
              <a:t>0</a:t>
            </a:r>
            <a:r>
              <a:rPr lang="en-US" altLang="zh-CN" dirty="0">
                <a:solidFill>
                  <a:srgbClr val="0000FF"/>
                </a:solidFill>
              </a:rPr>
              <a:t>}</a:t>
            </a:r>
            <a:r>
              <a:rPr lang="zh-CN" altLang="en-US" dirty="0">
                <a:solidFill>
                  <a:srgbClr val="0000FF"/>
                </a:solidFill>
              </a:rPr>
              <a:t>是</a:t>
            </a:r>
            <a:r>
              <a:rPr lang="zh-CN" altLang="en-US" dirty="0">
                <a:solidFill>
                  <a:srgbClr val="0000FF"/>
                </a:solidFill>
                <a:sym typeface="Symbol" panose="05050102010706020507" pitchFamily="18" charset="2"/>
              </a:rPr>
              <a:t>参数为的泊松过程，</a:t>
            </a:r>
            <a:r>
              <a:rPr lang="en-US" altLang="zh-CN" dirty="0">
                <a:solidFill>
                  <a:srgbClr val="0000FF"/>
                </a:solidFill>
                <a:sym typeface="Symbol" panose="05050102010706020507" pitchFamily="18" charset="2"/>
              </a:rPr>
              <a:t>{T</a:t>
            </a:r>
            <a:r>
              <a:rPr lang="en-US" altLang="zh-CN" baseline="-25000" dirty="0">
                <a:solidFill>
                  <a:srgbClr val="0000FF"/>
                </a:solidFill>
                <a:sym typeface="Symbol" panose="05050102010706020507" pitchFamily="18" charset="2"/>
              </a:rPr>
              <a:t>n</a:t>
            </a:r>
            <a:r>
              <a:rPr lang="en-US" altLang="zh-CN" dirty="0">
                <a:solidFill>
                  <a:srgbClr val="0000FF"/>
                </a:solidFill>
                <a:sym typeface="Symbol" panose="05050102010706020507" pitchFamily="18" charset="2"/>
              </a:rPr>
              <a:t>, n=1, 2, …}</a:t>
            </a:r>
            <a:r>
              <a:rPr lang="zh-CN" altLang="en-US" dirty="0">
                <a:solidFill>
                  <a:srgbClr val="0000FF"/>
                </a:solidFill>
                <a:sym typeface="Symbol" panose="05050102010706020507" pitchFamily="18" charset="2"/>
              </a:rPr>
              <a:t>为点间间距序列，则</a:t>
            </a:r>
            <a:endParaRPr lang="en-US" altLang="zh-CN" dirty="0">
              <a:solidFill>
                <a:srgbClr val="0000FF"/>
              </a:solidFill>
              <a:sym typeface="Symbol" panose="05050102010706020507" pitchFamily="18" charset="2"/>
            </a:endParaRPr>
          </a:p>
          <a:p>
            <a:pPr eaLnBrk="1" hangingPunct="1">
              <a:buFont typeface="Wingdings" panose="05000000000000000000" pitchFamily="2" charset="2"/>
              <a:buNone/>
            </a:pPr>
            <a:r>
              <a:rPr lang="en-US" altLang="zh-CN" dirty="0">
                <a:solidFill>
                  <a:srgbClr val="0000FF"/>
                </a:solidFill>
                <a:sym typeface="Symbol" panose="05050102010706020507" pitchFamily="18" charset="2"/>
              </a:rPr>
              <a:t>T</a:t>
            </a:r>
            <a:r>
              <a:rPr lang="en-US" altLang="zh-CN" baseline="-25000" dirty="0">
                <a:solidFill>
                  <a:srgbClr val="0000FF"/>
                </a:solidFill>
                <a:sym typeface="Symbol" panose="05050102010706020507" pitchFamily="18" charset="2"/>
              </a:rPr>
              <a:t>n</a:t>
            </a:r>
            <a:r>
              <a:rPr lang="en-US" altLang="zh-CN" dirty="0">
                <a:solidFill>
                  <a:srgbClr val="0000FF"/>
                </a:solidFill>
                <a:sym typeface="Symbol" panose="05050102010706020507" pitchFamily="18" charset="2"/>
              </a:rPr>
              <a:t>, n=1,2, …</a:t>
            </a:r>
            <a:r>
              <a:rPr lang="zh-CN" altLang="en-US" dirty="0">
                <a:solidFill>
                  <a:srgbClr val="0000FF"/>
                </a:solidFill>
                <a:sym typeface="Symbol" panose="05050102010706020507" pitchFamily="18" charset="2"/>
              </a:rPr>
              <a:t>是相互独立同分布的随机变量，且都服从参数为的</a:t>
            </a:r>
            <a:r>
              <a:rPr lang="en-US" altLang="zh-CN" dirty="0">
                <a:solidFill>
                  <a:srgbClr val="0000FF"/>
                </a:solidFill>
                <a:sym typeface="Symbol" panose="05050102010706020507" pitchFamily="18" charset="2"/>
              </a:rPr>
              <a:t>(</a:t>
            </a:r>
            <a:r>
              <a:rPr lang="zh-CN" altLang="en-US" dirty="0">
                <a:solidFill>
                  <a:srgbClr val="0000FF"/>
                </a:solidFill>
                <a:sym typeface="Symbol" panose="05050102010706020507" pitchFamily="18" charset="2"/>
              </a:rPr>
              <a:t>负</a:t>
            </a:r>
            <a:r>
              <a:rPr lang="en-US" altLang="zh-CN" dirty="0">
                <a:solidFill>
                  <a:srgbClr val="0000FF"/>
                </a:solidFill>
                <a:sym typeface="Symbol" panose="05050102010706020507" pitchFamily="18" charset="2"/>
              </a:rPr>
              <a:t>)</a:t>
            </a:r>
            <a:r>
              <a:rPr lang="zh-CN" altLang="en-US" dirty="0">
                <a:solidFill>
                  <a:srgbClr val="0000FF"/>
                </a:solidFill>
                <a:sym typeface="Symbol" panose="05050102010706020507" pitchFamily="18" charset="2"/>
              </a:rPr>
              <a:t>指数分布。</a:t>
            </a:r>
            <a:endParaRPr lang="zh-CN" altLang="en-US" dirty="0"/>
          </a:p>
        </p:txBody>
      </p:sp>
      <mc:AlternateContent xmlns:mc="http://schemas.openxmlformats.org/markup-compatibility/2006" xmlns:a14="http://schemas.microsoft.com/office/drawing/2010/main">
        <mc:Choice Requires="a14">
          <p:sp>
            <p:nvSpPr>
              <p:cNvPr id="7" name="Text Box 7">
                <a:extLst>
                  <a:ext uri="{FF2B5EF4-FFF2-40B4-BE49-F238E27FC236}">
                    <a16:creationId xmlns:a16="http://schemas.microsoft.com/office/drawing/2014/main" id="{456C0F92-F84A-84BC-1415-FC579BFC1E1E}"/>
                  </a:ext>
                </a:extLst>
              </p:cNvPr>
              <p:cNvSpPr txBox="1">
                <a:spLocks noChangeArrowheads="1"/>
              </p:cNvSpPr>
              <p:nvPr/>
            </p:nvSpPr>
            <p:spPr bwMode="auto">
              <a:xfrm>
                <a:off x="536575" y="2267745"/>
                <a:ext cx="11365508" cy="402950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0" tIns="0" rIns="0" bIns="0">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algn="just" eaLnBrk="1" hangingPunct="1">
                  <a:lnSpc>
                    <a:spcPct val="150000"/>
                  </a:lnSpc>
                  <a:buClrTx/>
                  <a:buFontTx/>
                  <a:buNone/>
                </a:pPr>
                <a:r>
                  <a:rPr lang="zh-CN" altLang="en-US" sz="2400" dirty="0">
                    <a:solidFill>
                      <a:srgbClr val="CC00CC"/>
                    </a:solidFill>
                  </a:rPr>
                  <a:t>证明</a:t>
                </a:r>
                <a:r>
                  <a:rPr lang="zh-CN" altLang="en-US" sz="2400" dirty="0"/>
                  <a:t>  因为</a:t>
                </a:r>
                <a:r>
                  <a:rPr lang="en-US" altLang="zh-CN" sz="2400" dirty="0"/>
                  <a:t>T</a:t>
                </a:r>
                <a:r>
                  <a:rPr lang="en-US" altLang="zh-CN" sz="2400" baseline="-25000" dirty="0"/>
                  <a:t>1</a:t>
                </a:r>
                <a:r>
                  <a:rPr lang="zh-CN" altLang="en-US" sz="2400" dirty="0"/>
                  <a:t>表示事件第</a:t>
                </a:r>
                <a:r>
                  <a:rPr lang="en-US" altLang="zh-CN" sz="2400" dirty="0"/>
                  <a:t>1</a:t>
                </a:r>
                <a:r>
                  <a:rPr lang="zh-CN" altLang="en-US" sz="2400" dirty="0"/>
                  <a:t>次出现以前所需要的时间，所以事件</a:t>
                </a:r>
                <a:r>
                  <a:rPr lang="en-US" altLang="zh-CN" sz="2400" dirty="0"/>
                  <a:t>{T</a:t>
                </a:r>
                <a:r>
                  <a:rPr lang="en-US" altLang="zh-CN" sz="2400" baseline="-25000" dirty="0"/>
                  <a:t>1</a:t>
                </a:r>
                <a:r>
                  <a:rPr lang="en-US" altLang="zh-CN" sz="2400" dirty="0"/>
                  <a:t>&gt;t}</a:t>
                </a:r>
                <a:r>
                  <a:rPr lang="zh-CN" altLang="en-US" sz="2400" dirty="0"/>
                  <a:t>表示在</a:t>
                </a:r>
                <a:r>
                  <a:rPr lang="en-US" altLang="zh-CN" sz="2400" dirty="0"/>
                  <a:t>[0, t)</a:t>
                </a:r>
                <a:r>
                  <a:rPr lang="zh-CN" altLang="en-US" sz="2400" dirty="0"/>
                  <a:t>内泊松事件还没有出现，因此，事件</a:t>
                </a:r>
                <a:r>
                  <a:rPr lang="en-US" altLang="zh-CN" sz="2400" dirty="0"/>
                  <a:t>{T</a:t>
                </a:r>
                <a:r>
                  <a:rPr lang="en-US" altLang="zh-CN" sz="2400" baseline="-25000" dirty="0"/>
                  <a:t>1</a:t>
                </a:r>
                <a:r>
                  <a:rPr lang="en-US" altLang="zh-CN" sz="2400" dirty="0"/>
                  <a:t>&gt;t}</a:t>
                </a:r>
                <a:r>
                  <a:rPr lang="zh-CN" altLang="en-US" sz="2400" dirty="0"/>
                  <a:t>的发生当且仅当没有泊松事件在在</a:t>
                </a:r>
                <a:r>
                  <a:rPr lang="en-US" altLang="zh-CN" sz="2400" dirty="0"/>
                  <a:t>[0, t)</a:t>
                </a:r>
                <a:r>
                  <a:rPr lang="zh-CN" altLang="en-US" sz="2400" dirty="0"/>
                  <a:t>内出现，于是对</a:t>
                </a:r>
                <a:r>
                  <a:rPr lang="en-US" altLang="zh-CN" sz="2400" dirty="0"/>
                  <a:t>t≥0</a:t>
                </a:r>
                <a:r>
                  <a:rPr lang="zh-CN" altLang="en-US" sz="2400" dirty="0"/>
                  <a:t>，有</a:t>
                </a:r>
              </a:p>
              <a:p>
                <a:pPr algn="just" eaLnBrk="1" hangingPunct="1">
                  <a:lnSpc>
                    <a:spcPct val="150000"/>
                  </a:lnSpc>
                  <a:buClrTx/>
                  <a:buFontTx/>
                  <a:buNone/>
                </a:pPr>
                <a:r>
                  <a:rPr lang="zh-CN" altLang="en-US" sz="2400" dirty="0"/>
                  <a:t>		</a:t>
                </a:r>
                <a:r>
                  <a:rPr lang="en-US" altLang="zh-CN" sz="2400" dirty="0"/>
                  <a:t>P {T</a:t>
                </a:r>
                <a:r>
                  <a:rPr lang="en-US" altLang="zh-CN" sz="2400" baseline="-25000" dirty="0"/>
                  <a:t>1</a:t>
                </a:r>
                <a:r>
                  <a:rPr lang="en-US" altLang="zh-CN" sz="2400" dirty="0"/>
                  <a:t>&gt;t}</a:t>
                </a:r>
                <a:r>
                  <a:rPr lang="zh-CN" altLang="en-US" sz="2400" dirty="0"/>
                  <a:t>＝</a:t>
                </a:r>
                <a:r>
                  <a:rPr lang="en-US" altLang="zh-CN" sz="2400" dirty="0"/>
                  <a:t>P{N(t)=0}</a:t>
                </a:r>
                <a:r>
                  <a:rPr lang="zh-CN" altLang="en-US" sz="2400" dirty="0"/>
                  <a:t>＝</a:t>
                </a:r>
                <a:r>
                  <a:rPr lang="en-US" altLang="zh-CN" sz="2400" dirty="0"/>
                  <a:t>e</a:t>
                </a:r>
                <a:r>
                  <a:rPr lang="en-US" altLang="zh-CN" sz="2400" baseline="30000" dirty="0"/>
                  <a:t>-</a:t>
                </a:r>
                <a:r>
                  <a:rPr lang="el-GR" altLang="zh-CN" sz="2400" baseline="30000" dirty="0"/>
                  <a:t>λ</a:t>
                </a:r>
                <a:r>
                  <a:rPr lang="en-US" altLang="zh-CN" sz="2400" baseline="30000" dirty="0"/>
                  <a:t>t</a:t>
                </a:r>
              </a:p>
              <a:p>
                <a:pPr algn="just" eaLnBrk="1" hangingPunct="1">
                  <a:lnSpc>
                    <a:spcPct val="150000"/>
                  </a:lnSpc>
                  <a:buClrTx/>
                  <a:buFontTx/>
                  <a:buNone/>
                </a:pPr>
                <a:r>
                  <a:rPr lang="en-US" altLang="zh-CN" sz="2400" dirty="0"/>
                  <a:t>		P {T</a:t>
                </a:r>
                <a:r>
                  <a:rPr lang="en-US" altLang="zh-CN" sz="2400" baseline="-25000" dirty="0"/>
                  <a:t>1</a:t>
                </a:r>
                <a:r>
                  <a:rPr lang="en-US" altLang="zh-CN" sz="2400" dirty="0"/>
                  <a:t>≤t}</a:t>
                </a:r>
                <a:r>
                  <a:rPr lang="zh-CN" altLang="en-US" sz="2400" dirty="0"/>
                  <a:t>＝</a:t>
                </a:r>
                <a:r>
                  <a:rPr lang="en-US" altLang="zh-CN" sz="2400" dirty="0"/>
                  <a:t>1- P {T</a:t>
                </a:r>
                <a:r>
                  <a:rPr lang="en-US" altLang="zh-CN" sz="2400" baseline="-25000" dirty="0"/>
                  <a:t>1</a:t>
                </a:r>
                <a:r>
                  <a:rPr lang="en-US" altLang="zh-CN" sz="2400" dirty="0"/>
                  <a:t>&gt;t} </a:t>
                </a:r>
                <a:r>
                  <a:rPr lang="zh-CN" altLang="en-US" sz="2400" dirty="0"/>
                  <a:t>＝</a:t>
                </a:r>
                <a:r>
                  <a:rPr lang="en-US" altLang="zh-CN" sz="2400" dirty="0"/>
                  <a:t>1- e</a:t>
                </a:r>
                <a:r>
                  <a:rPr lang="en-US" altLang="zh-CN" sz="2400" baseline="30000" dirty="0"/>
                  <a:t>-</a:t>
                </a:r>
                <a:r>
                  <a:rPr lang="el-GR" altLang="zh-CN" sz="2400" baseline="30000" dirty="0"/>
                  <a:t>λ</a:t>
                </a:r>
                <a:r>
                  <a:rPr lang="en-US" altLang="zh-CN" sz="2400" baseline="30000" dirty="0"/>
                  <a:t>t</a:t>
                </a:r>
              </a:p>
              <a:p>
                <a:pPr algn="just">
                  <a:lnSpc>
                    <a:spcPct val="150000"/>
                  </a:lnSpc>
                  <a:buClrTx/>
                  <a:buNone/>
                </a:pPr>
                <a:r>
                  <a:rPr lang="zh-CN" altLang="en-US" sz="2400" dirty="0"/>
                  <a:t>对</a:t>
                </a:r>
                <a:r>
                  <a:rPr lang="en-US" altLang="zh-CN" sz="2400" dirty="0"/>
                  <a:t>t&lt;0</a:t>
                </a:r>
                <a:r>
                  <a:rPr lang="zh-CN" altLang="en-US" sz="2400" dirty="0"/>
                  <a:t>，有	</a:t>
                </a:r>
                <a:r>
                  <a:rPr lang="en-US" altLang="zh-CN" sz="2400" dirty="0"/>
                  <a:t>P {T</a:t>
                </a:r>
                <a:r>
                  <a:rPr lang="en-US" altLang="zh-CN" sz="2400" baseline="-25000" dirty="0"/>
                  <a:t>1</a:t>
                </a:r>
                <a:r>
                  <a:rPr lang="en-US" altLang="zh-CN" sz="2400" dirty="0"/>
                  <a:t>&gt;t}</a:t>
                </a:r>
                <a:r>
                  <a:rPr lang="zh-CN" altLang="en-US" sz="2400" dirty="0"/>
                  <a:t>＝</a:t>
                </a:r>
                <a:r>
                  <a:rPr lang="en-US" altLang="zh-CN" sz="2400" dirty="0"/>
                  <a:t>1</a:t>
                </a:r>
                <a14:m>
                  <m:oMath xmlns:m="http://schemas.openxmlformats.org/officeDocument/2006/math">
                    <m:r>
                      <a:rPr lang="en-US" altLang="zh-CN" sz="2400" i="1" smtClean="0">
                        <a:solidFill>
                          <a:srgbClr val="FF0000"/>
                        </a:solidFill>
                        <a:latin typeface="Cambria Math" panose="02040503050406030204" pitchFamily="18" charset="0"/>
                        <a:ea typeface="Cambria Math" panose="02040503050406030204" pitchFamily="18" charset="0"/>
                      </a:rPr>
                      <m:t>⇒</m:t>
                    </m:r>
                  </m:oMath>
                </a14:m>
                <a:r>
                  <a:rPr lang="en-US" altLang="zh-CN" sz="2400" dirty="0">
                    <a:solidFill>
                      <a:srgbClr val="FF0000"/>
                    </a:solidFill>
                  </a:rPr>
                  <a:t> P {T</a:t>
                </a:r>
                <a:r>
                  <a:rPr lang="en-US" altLang="zh-CN" sz="2400" baseline="-25000" dirty="0">
                    <a:solidFill>
                      <a:srgbClr val="FF0000"/>
                    </a:solidFill>
                  </a:rPr>
                  <a:t>1</a:t>
                </a:r>
                <a:r>
                  <a:rPr lang="en-US" altLang="zh-CN" sz="2400" dirty="0">
                    <a:solidFill>
                      <a:srgbClr val="FF0000"/>
                    </a:solidFill>
                  </a:rPr>
                  <a:t>≤t}</a:t>
                </a:r>
                <a:r>
                  <a:rPr lang="zh-CN" altLang="en-US" sz="2400" dirty="0">
                    <a:solidFill>
                      <a:srgbClr val="FF0000"/>
                    </a:solidFill>
                  </a:rPr>
                  <a:t>＝</a:t>
                </a:r>
                <a:r>
                  <a:rPr lang="en-US" altLang="zh-CN" sz="2400" dirty="0">
                    <a:solidFill>
                      <a:srgbClr val="FF0000"/>
                    </a:solidFill>
                  </a:rPr>
                  <a:t>1- P {T</a:t>
                </a:r>
                <a:r>
                  <a:rPr lang="en-US" altLang="zh-CN" sz="2400" baseline="-25000" dirty="0">
                    <a:solidFill>
                      <a:srgbClr val="FF0000"/>
                    </a:solidFill>
                  </a:rPr>
                  <a:t>1</a:t>
                </a:r>
                <a:r>
                  <a:rPr lang="en-US" altLang="zh-CN" sz="2400" dirty="0">
                    <a:solidFill>
                      <a:srgbClr val="FF0000"/>
                    </a:solidFill>
                  </a:rPr>
                  <a:t>&gt;t} </a:t>
                </a:r>
                <a:r>
                  <a:rPr lang="zh-CN" altLang="en-US" sz="2400" dirty="0">
                    <a:solidFill>
                      <a:srgbClr val="FF0000"/>
                    </a:solidFill>
                  </a:rPr>
                  <a:t>＝</a:t>
                </a:r>
                <a:r>
                  <a:rPr lang="en-US" altLang="zh-CN" sz="2400" dirty="0">
                    <a:solidFill>
                      <a:srgbClr val="FF0000"/>
                    </a:solidFill>
                  </a:rPr>
                  <a:t>0</a:t>
                </a:r>
              </a:p>
              <a:p>
                <a:pPr algn="just" eaLnBrk="1" hangingPunct="1">
                  <a:lnSpc>
                    <a:spcPct val="150000"/>
                  </a:lnSpc>
                  <a:spcBef>
                    <a:spcPct val="60000"/>
                  </a:spcBef>
                  <a:buClrTx/>
                  <a:buFontTx/>
                  <a:buNone/>
                </a:pPr>
                <a:r>
                  <a:rPr lang="zh-CN" altLang="en-US" sz="2400" dirty="0"/>
                  <a:t>因此，</a:t>
                </a:r>
                <a:r>
                  <a:rPr lang="en-US" altLang="zh-CN" sz="2400" dirty="0"/>
                  <a:t>T</a:t>
                </a:r>
                <a:r>
                  <a:rPr lang="en-US" altLang="zh-CN" sz="2400" baseline="-25000" dirty="0"/>
                  <a:t>1</a:t>
                </a:r>
                <a:r>
                  <a:rPr lang="zh-CN" altLang="en-US" sz="2400" dirty="0"/>
                  <a:t>的分布函数为</a:t>
                </a:r>
                <a:endParaRPr lang="zh-CN" altLang="el-GR" sz="2400" dirty="0"/>
              </a:p>
            </p:txBody>
          </p:sp>
        </mc:Choice>
        <mc:Fallback xmlns="">
          <p:sp>
            <p:nvSpPr>
              <p:cNvPr id="7" name="Text Box 7">
                <a:extLst>
                  <a:ext uri="{FF2B5EF4-FFF2-40B4-BE49-F238E27FC236}">
                    <a16:creationId xmlns:a16="http://schemas.microsoft.com/office/drawing/2014/main" id="{456C0F92-F84A-84BC-1415-FC579BFC1E1E}"/>
                  </a:ext>
                </a:extLst>
              </p:cNvPr>
              <p:cNvSpPr txBox="1">
                <a:spLocks noRot="1" noChangeAspect="1" noMove="1" noResize="1" noEditPoints="1" noAdjustHandles="1" noChangeArrowheads="1" noChangeShapeType="1" noTextEdit="1"/>
              </p:cNvSpPr>
              <p:nvPr/>
            </p:nvSpPr>
            <p:spPr bwMode="auto">
              <a:xfrm>
                <a:off x="536575" y="2267745"/>
                <a:ext cx="11365508" cy="4029501"/>
              </a:xfrm>
              <a:prstGeom prst="rect">
                <a:avLst/>
              </a:prstGeom>
              <a:blipFill>
                <a:blip r:embed="rId2"/>
                <a:stretch>
                  <a:fillRect l="-1609" r="-4345" b="-39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8" name="Object 8">
            <a:extLst>
              <a:ext uri="{FF2B5EF4-FFF2-40B4-BE49-F238E27FC236}">
                <a16:creationId xmlns:a16="http://schemas.microsoft.com/office/drawing/2014/main" id="{96A82112-0308-40BF-73DD-0C798F26E3A2}"/>
              </a:ext>
            </a:extLst>
          </p:cNvPr>
          <p:cNvGraphicFramePr>
            <a:graphicFrameLocks noChangeAspect="1"/>
          </p:cNvGraphicFramePr>
          <p:nvPr>
            <p:extLst>
              <p:ext uri="{D42A27DB-BD31-4B8C-83A1-F6EECF244321}">
                <p14:modId xmlns:p14="http://schemas.microsoft.com/office/powerpoint/2010/main" val="2786287395"/>
              </p:ext>
            </p:extLst>
          </p:nvPr>
        </p:nvGraphicFramePr>
        <p:xfrm>
          <a:off x="3899660" y="5632660"/>
          <a:ext cx="4885319" cy="1046404"/>
        </p:xfrm>
        <a:graphic>
          <a:graphicData uri="http://schemas.openxmlformats.org/presentationml/2006/ole">
            <mc:AlternateContent xmlns:mc="http://schemas.openxmlformats.org/markup-compatibility/2006">
              <mc:Choice xmlns:v="urn:schemas-microsoft-com:vml" Requires="v">
                <p:oleObj name="公式" r:id="rId3" imgW="1524000" imgH="482600" progId="Equation.3">
                  <p:embed/>
                </p:oleObj>
              </mc:Choice>
              <mc:Fallback>
                <p:oleObj name="公式" r:id="rId3" imgW="1524000" imgH="482600" progId="Equation.3">
                  <p:embed/>
                  <p:pic>
                    <p:nvPicPr>
                      <p:cNvPr id="8" name="Object 8">
                        <a:extLst>
                          <a:ext uri="{FF2B5EF4-FFF2-40B4-BE49-F238E27FC236}">
                            <a16:creationId xmlns:a16="http://schemas.microsoft.com/office/drawing/2014/main" id="{96A82112-0308-40BF-73DD-0C798F26E3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9660" y="5632660"/>
                        <a:ext cx="4885319" cy="1046404"/>
                      </a:xfrm>
                      <a:prstGeom prst="rect">
                        <a:avLst/>
                      </a:prstGeom>
                      <a:noFill/>
                      <a:ln>
                        <a:noFill/>
                      </a:ln>
                      <a:effectLst/>
                    </p:spPr>
                  </p:pic>
                </p:oleObj>
              </mc:Fallback>
            </mc:AlternateContent>
          </a:graphicData>
        </a:graphic>
      </p:graphicFrame>
      <p:graphicFrame>
        <p:nvGraphicFramePr>
          <p:cNvPr id="2" name="Object 4">
            <a:extLst>
              <a:ext uri="{FF2B5EF4-FFF2-40B4-BE49-F238E27FC236}">
                <a16:creationId xmlns:a16="http://schemas.microsoft.com/office/drawing/2014/main" id="{64FB1681-EFCE-9944-5B32-B2F505F3CE14}"/>
              </a:ext>
            </a:extLst>
          </p:cNvPr>
          <p:cNvGraphicFramePr>
            <a:graphicFrameLocks noChangeAspect="1"/>
          </p:cNvGraphicFramePr>
          <p:nvPr>
            <p:extLst>
              <p:ext uri="{D42A27DB-BD31-4B8C-83A1-F6EECF244321}">
                <p14:modId xmlns:p14="http://schemas.microsoft.com/office/powerpoint/2010/main" val="1079571129"/>
              </p:ext>
            </p:extLst>
          </p:nvPr>
        </p:nvGraphicFramePr>
        <p:xfrm>
          <a:off x="3899660" y="775710"/>
          <a:ext cx="8315325" cy="862012"/>
        </p:xfrm>
        <a:graphic>
          <a:graphicData uri="http://schemas.openxmlformats.org/presentationml/2006/ole">
            <mc:AlternateContent xmlns:mc="http://schemas.openxmlformats.org/markup-compatibility/2006">
              <mc:Choice xmlns:v="urn:schemas-microsoft-com:vml" Requires="v">
                <p:oleObj name="Equation" r:id="rId5" imgW="2577960" imgH="368280" progId="Equation.DSMT4">
                  <p:embed/>
                </p:oleObj>
              </mc:Choice>
              <mc:Fallback>
                <p:oleObj name="Equation" r:id="rId5" imgW="2577960" imgH="368280" progId="Equation.DSMT4">
                  <p:embed/>
                  <p:pic>
                    <p:nvPicPr>
                      <p:cNvPr id="292868" name="Object 4">
                        <a:extLst>
                          <a:ext uri="{FF2B5EF4-FFF2-40B4-BE49-F238E27FC236}">
                            <a16:creationId xmlns:a16="http://schemas.microsoft.com/office/drawing/2014/main" id="{C728D3F6-45BA-BB74-E4BD-FF0163608AA7}"/>
                          </a:ext>
                        </a:extLst>
                      </p:cNvPr>
                      <p:cNvPicPr>
                        <a:picLocks noChangeAspect="1" noChangeArrowheads="1"/>
                      </p:cNvPicPr>
                      <p:nvPr/>
                    </p:nvPicPr>
                    <p:blipFill>
                      <a:blip r:embed="rId6"/>
                      <a:srcRect/>
                      <a:stretch>
                        <a:fillRect/>
                      </a:stretch>
                    </p:blipFill>
                    <p:spPr bwMode="auto">
                      <a:xfrm>
                        <a:off x="3899660" y="775710"/>
                        <a:ext cx="8315325" cy="862012"/>
                      </a:xfrm>
                      <a:prstGeom prst="rect">
                        <a:avLst/>
                      </a:prstGeom>
                      <a:solidFill>
                        <a:schemeClr val="accent3"/>
                      </a:solid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 calcmode="lin" valueType="num">
                                      <p:cBhvr additive="base">
                                        <p:cTn id="18"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 calcmode="lin" valueType="num">
                                      <p:cBhvr additive="base">
                                        <p:cTn id="24"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par>
                          <p:cTn id="26" fill="hold" nodeType="withGroup">
                            <p:stCondLst>
                              <p:cond delay="500"/>
                            </p:stCondLst>
                            <p:childTnLst>
                              <p:par>
                                <p:cTn id="27" presetID="2" presetClass="entr" presetSubtype="4"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1000" fill="hold"/>
                                        <p:tgtEl>
                                          <p:spTgt spid="2"/>
                                        </p:tgtEl>
                                        <p:attrNameLst>
                                          <p:attrName>ppt_x</p:attrName>
                                        </p:attrNameLst>
                                      </p:cBhvr>
                                      <p:tavLst>
                                        <p:tav tm="0">
                                          <p:val>
                                            <p:strVal val="#ppt_x"/>
                                          </p:val>
                                        </p:tav>
                                        <p:tav tm="100000">
                                          <p:val>
                                            <p:strVal val="#ppt_x"/>
                                          </p:val>
                                        </p:tav>
                                      </p:tavLst>
                                    </p:anim>
                                    <p:anim calcmode="lin" valueType="num">
                                      <p:cBhvr additive="base">
                                        <p:cTn id="30"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 calcmode="lin" valueType="num">
                                      <p:cBhvr additive="base">
                                        <p:cTn id="3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7">
                                            <p:txEl>
                                              <p:pRg st="3" end="3"/>
                                            </p:txEl>
                                          </p:spTgt>
                                        </p:tgtEl>
                                        <p:attrNameLst>
                                          <p:attrName>style.visibility</p:attrName>
                                        </p:attrNameLst>
                                      </p:cBhvr>
                                      <p:to>
                                        <p:strVal val="visible"/>
                                      </p:to>
                                    </p:set>
                                    <p:anim calcmode="lin" valueType="num">
                                      <p:cBhvr additive="base">
                                        <p:cTn id="41"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7">
                                            <p:txEl>
                                              <p:pRg st="4" end="4"/>
                                            </p:txEl>
                                          </p:spTgt>
                                        </p:tgtEl>
                                        <p:attrNameLst>
                                          <p:attrName>style.visibility</p:attrName>
                                        </p:attrNameLst>
                                      </p:cBhvr>
                                      <p:to>
                                        <p:strVal val="visible"/>
                                      </p:to>
                                    </p:set>
                                    <p:anim calcmode="lin" valueType="num">
                                      <p:cBhvr additive="base">
                                        <p:cTn id="4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500" fill="hold"/>
                                        <p:tgtEl>
                                          <p:spTgt spid="8"/>
                                        </p:tgtEl>
                                        <p:attrNameLst>
                                          <p:attrName>ppt_x</p:attrName>
                                        </p:attrNameLst>
                                      </p:cBhvr>
                                      <p:tavLst>
                                        <p:tav tm="0">
                                          <p:val>
                                            <p:strVal val="#ppt_x"/>
                                          </p:val>
                                        </p:tav>
                                        <p:tav tm="100000">
                                          <p:val>
                                            <p:strVal val="#ppt_x"/>
                                          </p:val>
                                        </p:tav>
                                      </p:tavLst>
                                    </p:anim>
                                    <p:anim calcmode="lin" valueType="num">
                                      <p:cBhvr additive="base">
                                        <p:cTn id="5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1EA2E394-8248-B973-DE78-FBEC2C167223}"/>
              </a:ext>
            </a:extLst>
          </p:cNvPr>
          <p:cNvSpPr>
            <a:spLocks noGrp="1" noChangeArrowheads="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F93AC91-6C50-F042-27D6-C63B82E6FFE1}"/>
              </a:ext>
            </a:extLst>
          </p:cNvPr>
          <p:cNvSpPr>
            <a:spLocks noGrp="1" noChangeArrowheads="1"/>
          </p:cNvSpPr>
          <p:nvPr>
            <p:ph idx="1"/>
          </p:nvPr>
        </p:nvSpPr>
        <p:spPr>
          <a:xfrm>
            <a:off x="460375" y="1150498"/>
            <a:ext cx="7697982" cy="401731"/>
          </a:xfrm>
        </p:spPr>
        <p:txBody>
          <a:bodyPr>
            <a:noAutofit/>
          </a:bodyPr>
          <a:lstStyle/>
          <a:p>
            <a:pPr eaLnBrk="1" hangingPunct="1">
              <a:buFont typeface="Wingdings" panose="05000000000000000000" pitchFamily="2" charset="2"/>
              <a:buNone/>
            </a:pPr>
            <a:r>
              <a:rPr lang="en-US" altLang="zh-CN" dirty="0">
                <a:solidFill>
                  <a:srgbClr val="000000"/>
                </a:solidFill>
              </a:rPr>
              <a:t>T</a:t>
            </a:r>
            <a:r>
              <a:rPr lang="en-US" altLang="zh-CN" baseline="-25000" dirty="0">
                <a:solidFill>
                  <a:srgbClr val="000000"/>
                </a:solidFill>
              </a:rPr>
              <a:t>1</a:t>
            </a:r>
            <a:r>
              <a:rPr lang="zh-CN" altLang="en-US" dirty="0">
                <a:solidFill>
                  <a:srgbClr val="000000"/>
                </a:solidFill>
              </a:rPr>
              <a:t>的概率密度为</a:t>
            </a:r>
            <a:endParaRPr lang="zh-CN" altLang="en-US" dirty="0"/>
          </a:p>
        </p:txBody>
      </p:sp>
      <p:graphicFrame>
        <p:nvGraphicFramePr>
          <p:cNvPr id="7" name="Object 4">
            <a:extLst>
              <a:ext uri="{FF2B5EF4-FFF2-40B4-BE49-F238E27FC236}">
                <a16:creationId xmlns:a16="http://schemas.microsoft.com/office/drawing/2014/main" id="{80B621BF-395E-93B7-A777-2C27E0A1E469}"/>
              </a:ext>
            </a:extLst>
          </p:cNvPr>
          <p:cNvGraphicFramePr>
            <a:graphicFrameLocks noChangeAspect="1"/>
          </p:cNvGraphicFramePr>
          <p:nvPr>
            <p:extLst>
              <p:ext uri="{D42A27DB-BD31-4B8C-83A1-F6EECF244321}">
                <p14:modId xmlns:p14="http://schemas.microsoft.com/office/powerpoint/2010/main" val="3502353904"/>
              </p:ext>
            </p:extLst>
          </p:nvPr>
        </p:nvGraphicFramePr>
        <p:xfrm>
          <a:off x="3041114" y="1071105"/>
          <a:ext cx="2767653" cy="965423"/>
        </p:xfrm>
        <a:graphic>
          <a:graphicData uri="http://schemas.openxmlformats.org/presentationml/2006/ole">
            <mc:AlternateContent xmlns:mc="http://schemas.openxmlformats.org/markup-compatibility/2006">
              <mc:Choice xmlns:v="urn:schemas-microsoft-com:vml" Requires="v">
                <p:oleObj name="公式" r:id="rId2" imgW="1384300" imgH="482600" progId="Equation.3">
                  <p:embed/>
                </p:oleObj>
              </mc:Choice>
              <mc:Fallback>
                <p:oleObj name="公式" r:id="rId2" imgW="1384300" imgH="482600" progId="Equation.3">
                  <p:embed/>
                  <p:pic>
                    <p:nvPicPr>
                      <p:cNvPr id="7" name="Object 4">
                        <a:extLst>
                          <a:ext uri="{FF2B5EF4-FFF2-40B4-BE49-F238E27FC236}">
                            <a16:creationId xmlns:a16="http://schemas.microsoft.com/office/drawing/2014/main" id="{80B621BF-395E-93B7-A777-2C27E0A1E4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1114" y="1071105"/>
                        <a:ext cx="2767653" cy="9654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7">
            <a:extLst>
              <a:ext uri="{FF2B5EF4-FFF2-40B4-BE49-F238E27FC236}">
                <a16:creationId xmlns:a16="http://schemas.microsoft.com/office/drawing/2014/main" id="{BCAABF3E-B7F0-4AC9-4EF7-E9D5B7879EC0}"/>
              </a:ext>
            </a:extLst>
          </p:cNvPr>
          <p:cNvSpPr txBox="1">
            <a:spLocks noChangeArrowheads="1"/>
          </p:cNvSpPr>
          <p:nvPr/>
        </p:nvSpPr>
        <p:spPr bwMode="auto">
          <a:xfrm>
            <a:off x="445022" y="1975654"/>
            <a:ext cx="9845153" cy="33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Tx/>
              <a:buFontTx/>
              <a:buNone/>
            </a:pPr>
            <a:r>
              <a:rPr lang="zh-CN" altLang="en-US" sz="2400" dirty="0"/>
              <a:t>即</a:t>
            </a:r>
            <a:r>
              <a:rPr lang="en-US" altLang="zh-CN" sz="2400" dirty="0"/>
              <a:t>T</a:t>
            </a:r>
            <a:r>
              <a:rPr lang="en-US" altLang="zh-CN" sz="2400" baseline="-25000" dirty="0"/>
              <a:t>1</a:t>
            </a:r>
            <a:r>
              <a:rPr lang="zh-CN" altLang="en-US" sz="2400" dirty="0"/>
              <a:t>服从参数为</a:t>
            </a:r>
            <a:r>
              <a:rPr lang="el-GR" altLang="zh-CN" sz="2400" dirty="0"/>
              <a:t>λ</a:t>
            </a:r>
            <a:r>
              <a:rPr lang="zh-CN" altLang="en-US" sz="2400" dirty="0"/>
              <a:t>的（负）指数分布。</a:t>
            </a:r>
          </a:p>
          <a:p>
            <a:pPr eaLnBrk="1" hangingPunct="1">
              <a:lnSpc>
                <a:spcPct val="150000"/>
              </a:lnSpc>
              <a:buClrTx/>
              <a:buFontTx/>
              <a:buNone/>
            </a:pPr>
            <a:r>
              <a:rPr lang="zh-CN" altLang="en-US" sz="2400" dirty="0"/>
              <a:t>    </a:t>
            </a:r>
            <a:r>
              <a:rPr lang="en-US" altLang="zh-CN" sz="2400" dirty="0"/>
              <a:t>T</a:t>
            </a:r>
            <a:r>
              <a:rPr lang="en-US" altLang="zh-CN" sz="2400" baseline="-25000" dirty="0"/>
              <a:t>2</a:t>
            </a:r>
            <a:r>
              <a:rPr lang="zh-CN" altLang="en-US" sz="2400" dirty="0"/>
              <a:t>表示事件第</a:t>
            </a:r>
            <a:r>
              <a:rPr lang="en-US" altLang="zh-CN" sz="2400" dirty="0"/>
              <a:t>1</a:t>
            </a:r>
            <a:r>
              <a:rPr lang="zh-CN" altLang="en-US" sz="2400" dirty="0"/>
              <a:t>次出现至第</a:t>
            </a:r>
            <a:r>
              <a:rPr lang="en-US" altLang="zh-CN" sz="2400" dirty="0"/>
              <a:t>2</a:t>
            </a:r>
            <a:r>
              <a:rPr lang="zh-CN" altLang="en-US" sz="2400" dirty="0"/>
              <a:t>次出现的点间间距</a:t>
            </a:r>
          </a:p>
          <a:p>
            <a:pPr eaLnBrk="1" hangingPunct="1">
              <a:lnSpc>
                <a:spcPct val="150000"/>
              </a:lnSpc>
              <a:buClrTx/>
              <a:buFontTx/>
              <a:buNone/>
            </a:pPr>
            <a:r>
              <a:rPr lang="zh-CN" altLang="en-US" sz="2400" dirty="0"/>
              <a:t>    </a:t>
            </a:r>
            <a:r>
              <a:rPr lang="en-US" altLang="zh-CN" sz="2400" dirty="0"/>
              <a:t>P {T</a:t>
            </a:r>
            <a:r>
              <a:rPr lang="en-US" altLang="zh-CN" sz="2400" baseline="-25000" dirty="0"/>
              <a:t>2</a:t>
            </a:r>
            <a:r>
              <a:rPr lang="en-US" altLang="zh-CN" sz="2400" dirty="0"/>
              <a:t>&gt;t|T</a:t>
            </a:r>
            <a:r>
              <a:rPr lang="en-US" altLang="zh-CN" sz="2400" baseline="-25000" dirty="0"/>
              <a:t>1 </a:t>
            </a:r>
            <a:r>
              <a:rPr lang="en-US" altLang="zh-CN" sz="2400" dirty="0"/>
              <a:t>= s</a:t>
            </a:r>
            <a:r>
              <a:rPr lang="en-US" altLang="zh-CN" sz="2400" baseline="-25000" dirty="0"/>
              <a:t>1</a:t>
            </a:r>
            <a:r>
              <a:rPr lang="en-US" altLang="zh-CN" sz="2400" dirty="0"/>
              <a:t>}</a:t>
            </a:r>
            <a:r>
              <a:rPr lang="zh-CN" altLang="en-US" sz="2400" dirty="0"/>
              <a:t>＝</a:t>
            </a:r>
            <a:r>
              <a:rPr lang="en-US" altLang="zh-CN" sz="2400" dirty="0"/>
              <a:t>P{</a:t>
            </a:r>
            <a:r>
              <a:rPr lang="zh-CN" altLang="en-US" sz="2400" dirty="0"/>
              <a:t>在</a:t>
            </a:r>
            <a:r>
              <a:rPr lang="en-US" altLang="zh-CN" sz="2400" dirty="0"/>
              <a:t>(s</a:t>
            </a:r>
            <a:r>
              <a:rPr lang="en-US" altLang="zh-CN" sz="2400" baseline="-25000" dirty="0"/>
              <a:t>1</a:t>
            </a:r>
            <a:r>
              <a:rPr lang="en-US" altLang="zh-CN" sz="2400" dirty="0"/>
              <a:t>, s</a:t>
            </a:r>
            <a:r>
              <a:rPr lang="en-US" altLang="zh-CN" sz="2400" baseline="-25000" dirty="0"/>
              <a:t>1</a:t>
            </a:r>
            <a:r>
              <a:rPr lang="en-US" altLang="zh-CN" sz="2400" dirty="0"/>
              <a:t>+t)</a:t>
            </a:r>
            <a:r>
              <a:rPr lang="zh-CN" altLang="en-US" sz="2400" dirty="0"/>
              <a:t>内没有事件出现</a:t>
            </a:r>
            <a:r>
              <a:rPr lang="en-US" altLang="zh-CN" sz="2400" dirty="0"/>
              <a:t>|T</a:t>
            </a:r>
            <a:r>
              <a:rPr lang="en-US" altLang="zh-CN" sz="2400" baseline="-25000" dirty="0"/>
              <a:t>1 </a:t>
            </a:r>
            <a:r>
              <a:rPr lang="en-US" altLang="zh-CN" sz="2400" dirty="0"/>
              <a:t>= s</a:t>
            </a:r>
            <a:r>
              <a:rPr lang="en-US" altLang="zh-CN" sz="2400" baseline="-25000" dirty="0"/>
              <a:t>1</a:t>
            </a:r>
            <a:r>
              <a:rPr lang="en-US" altLang="zh-CN" sz="2400" dirty="0"/>
              <a:t>}</a:t>
            </a:r>
          </a:p>
          <a:p>
            <a:pPr eaLnBrk="1" hangingPunct="1">
              <a:lnSpc>
                <a:spcPct val="150000"/>
              </a:lnSpc>
              <a:buClrTx/>
              <a:buFontTx/>
              <a:buNone/>
            </a:pPr>
            <a:r>
              <a:rPr lang="en-US" altLang="zh-CN" sz="2400" dirty="0"/>
              <a:t>	</a:t>
            </a:r>
            <a:r>
              <a:rPr lang="zh-CN" altLang="en-US" sz="2400" dirty="0"/>
              <a:t>＝ </a:t>
            </a:r>
            <a:r>
              <a:rPr lang="en-US" altLang="zh-CN" sz="2400" dirty="0"/>
              <a:t>P{N(s</a:t>
            </a:r>
            <a:r>
              <a:rPr lang="en-US" altLang="zh-CN" sz="2400" baseline="-25000" dirty="0"/>
              <a:t>1</a:t>
            </a:r>
            <a:r>
              <a:rPr lang="en-US" altLang="zh-CN" sz="2400" dirty="0"/>
              <a:t>+t)</a:t>
            </a:r>
            <a:r>
              <a:rPr lang="zh-CN" altLang="en-US" sz="2400" dirty="0"/>
              <a:t>－</a:t>
            </a:r>
            <a:r>
              <a:rPr lang="en-US" altLang="zh-CN" sz="2400" dirty="0"/>
              <a:t>N(s</a:t>
            </a:r>
            <a:r>
              <a:rPr lang="en-US" altLang="zh-CN" sz="2400" baseline="-25000" dirty="0"/>
              <a:t>1</a:t>
            </a:r>
            <a:r>
              <a:rPr lang="en-US" altLang="zh-CN" sz="2400" dirty="0"/>
              <a:t>) = 0| N(s</a:t>
            </a:r>
            <a:r>
              <a:rPr lang="en-US" altLang="zh-CN" sz="2400" baseline="-25000" dirty="0"/>
              <a:t>1</a:t>
            </a:r>
            <a:r>
              <a:rPr lang="en-US" altLang="zh-CN" sz="2400" dirty="0"/>
              <a:t>)</a:t>
            </a:r>
            <a:r>
              <a:rPr lang="zh-CN" altLang="en-US" sz="2400" dirty="0"/>
              <a:t>－</a:t>
            </a:r>
            <a:r>
              <a:rPr lang="en-US" altLang="zh-CN" sz="2400" dirty="0"/>
              <a:t>N(0) =1 }</a:t>
            </a:r>
          </a:p>
          <a:p>
            <a:pPr eaLnBrk="1" hangingPunct="1">
              <a:lnSpc>
                <a:spcPct val="150000"/>
              </a:lnSpc>
              <a:buClrTx/>
              <a:buFontTx/>
              <a:buNone/>
            </a:pPr>
            <a:r>
              <a:rPr lang="en-US" altLang="zh-CN" sz="2400" dirty="0"/>
              <a:t>	</a:t>
            </a:r>
            <a:r>
              <a:rPr lang="zh-CN" altLang="en-US" sz="2400" dirty="0"/>
              <a:t>＝</a:t>
            </a:r>
            <a:r>
              <a:rPr lang="en-US" altLang="zh-CN" sz="2400" dirty="0"/>
              <a:t>P{ N(s</a:t>
            </a:r>
            <a:r>
              <a:rPr lang="en-US" altLang="zh-CN" sz="2400" baseline="-25000" dirty="0"/>
              <a:t>1</a:t>
            </a:r>
            <a:r>
              <a:rPr lang="en-US" altLang="zh-CN" sz="2400" dirty="0"/>
              <a:t>+t)</a:t>
            </a:r>
            <a:r>
              <a:rPr lang="zh-CN" altLang="en-US" sz="2400" dirty="0"/>
              <a:t>－</a:t>
            </a:r>
            <a:r>
              <a:rPr lang="en-US" altLang="zh-CN" sz="2400" dirty="0"/>
              <a:t>N(s</a:t>
            </a:r>
            <a:r>
              <a:rPr lang="en-US" altLang="zh-CN" sz="2400" baseline="-25000" dirty="0"/>
              <a:t>1</a:t>
            </a:r>
            <a:r>
              <a:rPr lang="en-US" altLang="zh-CN" sz="2400" dirty="0"/>
              <a:t>) = 0}</a:t>
            </a:r>
          </a:p>
          <a:p>
            <a:pPr eaLnBrk="1" hangingPunct="1">
              <a:lnSpc>
                <a:spcPct val="150000"/>
              </a:lnSpc>
              <a:buClrTx/>
              <a:buFontTx/>
              <a:buNone/>
            </a:pPr>
            <a:r>
              <a:rPr lang="en-US" altLang="zh-CN" sz="2400" dirty="0"/>
              <a:t>	</a:t>
            </a:r>
            <a:r>
              <a:rPr lang="zh-CN" altLang="en-US" sz="2400" dirty="0"/>
              <a:t>＝</a:t>
            </a:r>
            <a:r>
              <a:rPr lang="en-US" altLang="zh-CN" sz="2400" dirty="0"/>
              <a:t>P{ N(t) = 0}</a:t>
            </a:r>
            <a:r>
              <a:rPr lang="zh-CN" altLang="en-US" sz="2400" dirty="0"/>
              <a:t>＝</a:t>
            </a:r>
            <a:r>
              <a:rPr lang="en-US" altLang="zh-CN" sz="2400" dirty="0"/>
              <a:t>e</a:t>
            </a:r>
            <a:r>
              <a:rPr lang="en-US" altLang="zh-CN" sz="2400" baseline="30000" dirty="0"/>
              <a:t>-</a:t>
            </a:r>
            <a:r>
              <a:rPr lang="el-GR" altLang="zh-CN" sz="2400" baseline="30000" dirty="0"/>
              <a:t>λ</a:t>
            </a:r>
            <a:r>
              <a:rPr lang="en-US" altLang="zh-CN" sz="2400" baseline="30000" dirty="0"/>
              <a:t>t</a:t>
            </a:r>
          </a:p>
        </p:txBody>
      </p:sp>
      <p:graphicFrame>
        <p:nvGraphicFramePr>
          <p:cNvPr id="9" name="Object 8">
            <a:extLst>
              <a:ext uri="{FF2B5EF4-FFF2-40B4-BE49-F238E27FC236}">
                <a16:creationId xmlns:a16="http://schemas.microsoft.com/office/drawing/2014/main" id="{C4C4196D-A688-09D2-C7D4-DA2AE2A66DB6}"/>
              </a:ext>
            </a:extLst>
          </p:cNvPr>
          <p:cNvGraphicFramePr>
            <a:graphicFrameLocks noChangeAspect="1"/>
          </p:cNvGraphicFramePr>
          <p:nvPr>
            <p:extLst>
              <p:ext uri="{D42A27DB-BD31-4B8C-83A1-F6EECF244321}">
                <p14:modId xmlns:p14="http://schemas.microsoft.com/office/powerpoint/2010/main" val="4118268872"/>
              </p:ext>
            </p:extLst>
          </p:nvPr>
        </p:nvGraphicFramePr>
        <p:xfrm>
          <a:off x="6223200" y="1147323"/>
          <a:ext cx="1351275" cy="812988"/>
        </p:xfrm>
        <a:graphic>
          <a:graphicData uri="http://schemas.openxmlformats.org/presentationml/2006/ole">
            <mc:AlternateContent xmlns:mc="http://schemas.openxmlformats.org/markup-compatibility/2006">
              <mc:Choice xmlns:v="urn:schemas-microsoft-com:vml" Requires="v">
                <p:oleObj name="公式" r:id="rId4" imgW="672808" imgH="406224" progId="Equation.3">
                  <p:embed/>
                </p:oleObj>
              </mc:Choice>
              <mc:Fallback>
                <p:oleObj name="公式" r:id="rId4" imgW="672808" imgH="406224" progId="Equation.3">
                  <p:embed/>
                  <p:pic>
                    <p:nvPicPr>
                      <p:cNvPr id="9" name="Object 8">
                        <a:extLst>
                          <a:ext uri="{FF2B5EF4-FFF2-40B4-BE49-F238E27FC236}">
                            <a16:creationId xmlns:a16="http://schemas.microsoft.com/office/drawing/2014/main" id="{C4C4196D-A688-09D2-C7D4-DA2AE2A66D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200" y="1147323"/>
                        <a:ext cx="1351275" cy="81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2">
            <a:extLst>
              <a:ext uri="{FF2B5EF4-FFF2-40B4-BE49-F238E27FC236}">
                <a16:creationId xmlns:a16="http://schemas.microsoft.com/office/drawing/2014/main" id="{B56E359F-44D0-ECA6-5D1F-C0357764D1F1}"/>
              </a:ext>
            </a:extLst>
          </p:cNvPr>
          <p:cNvGraphicFramePr>
            <a:graphicFrameLocks noChangeAspect="1"/>
          </p:cNvGraphicFramePr>
          <p:nvPr>
            <p:extLst>
              <p:ext uri="{D42A27DB-BD31-4B8C-83A1-F6EECF244321}">
                <p14:modId xmlns:p14="http://schemas.microsoft.com/office/powerpoint/2010/main" val="3767467922"/>
              </p:ext>
            </p:extLst>
          </p:nvPr>
        </p:nvGraphicFramePr>
        <p:xfrm>
          <a:off x="680028" y="5300650"/>
          <a:ext cx="4682621" cy="649438"/>
        </p:xfrm>
        <a:graphic>
          <a:graphicData uri="http://schemas.openxmlformats.org/presentationml/2006/ole">
            <mc:AlternateContent xmlns:mc="http://schemas.openxmlformats.org/markup-compatibility/2006">
              <mc:Choice xmlns:v="urn:schemas-microsoft-com:vml" Requires="v">
                <p:oleObj name="公式" r:id="rId6" imgW="2336800" imgH="330200" progId="Equation.3">
                  <p:embed/>
                </p:oleObj>
              </mc:Choice>
              <mc:Fallback>
                <p:oleObj name="公式" r:id="rId6" imgW="2336800" imgH="330200" progId="Equation.3">
                  <p:embed/>
                  <p:pic>
                    <p:nvPicPr>
                      <p:cNvPr id="10" name="Object 12">
                        <a:extLst>
                          <a:ext uri="{FF2B5EF4-FFF2-40B4-BE49-F238E27FC236}">
                            <a16:creationId xmlns:a16="http://schemas.microsoft.com/office/drawing/2014/main" id="{B56E359F-44D0-ECA6-5D1F-C0357764D1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028" y="5300650"/>
                        <a:ext cx="4682621" cy="64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5">
            <a:extLst>
              <a:ext uri="{FF2B5EF4-FFF2-40B4-BE49-F238E27FC236}">
                <a16:creationId xmlns:a16="http://schemas.microsoft.com/office/drawing/2014/main" id="{A9A63E9E-446E-B1B5-01AF-013C4679854B}"/>
              </a:ext>
            </a:extLst>
          </p:cNvPr>
          <p:cNvGraphicFramePr>
            <a:graphicFrameLocks noChangeAspect="1"/>
          </p:cNvGraphicFramePr>
          <p:nvPr>
            <p:extLst>
              <p:ext uri="{D42A27DB-BD31-4B8C-83A1-F6EECF244321}">
                <p14:modId xmlns:p14="http://schemas.microsoft.com/office/powerpoint/2010/main" val="1867188006"/>
              </p:ext>
            </p:extLst>
          </p:nvPr>
        </p:nvGraphicFramePr>
        <p:xfrm>
          <a:off x="5382757" y="5290881"/>
          <a:ext cx="3639392" cy="649437"/>
        </p:xfrm>
        <a:graphic>
          <a:graphicData uri="http://schemas.openxmlformats.org/presentationml/2006/ole">
            <mc:AlternateContent xmlns:mc="http://schemas.openxmlformats.org/markup-compatibility/2006">
              <mc:Choice xmlns:v="urn:schemas-microsoft-com:vml" Requires="v">
                <p:oleObj name="Equation" r:id="rId8" imgW="1816100" imgH="330200" progId="Equation.DSMT4">
                  <p:embed/>
                </p:oleObj>
              </mc:Choice>
              <mc:Fallback>
                <p:oleObj name="Equation" r:id="rId8" imgW="1816100" imgH="330200" progId="Equation.DSMT4">
                  <p:embed/>
                  <p:pic>
                    <p:nvPicPr>
                      <p:cNvPr id="11" name="Object 15">
                        <a:extLst>
                          <a:ext uri="{FF2B5EF4-FFF2-40B4-BE49-F238E27FC236}">
                            <a16:creationId xmlns:a16="http://schemas.microsoft.com/office/drawing/2014/main" id="{A9A63E9E-446E-B1B5-01AF-013C4679854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2757" y="5290881"/>
                        <a:ext cx="3639392" cy="64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6">
            <a:extLst>
              <a:ext uri="{FF2B5EF4-FFF2-40B4-BE49-F238E27FC236}">
                <a16:creationId xmlns:a16="http://schemas.microsoft.com/office/drawing/2014/main" id="{4F2B36F7-23E6-D475-CA04-F43ACF1622FB}"/>
              </a:ext>
            </a:extLst>
          </p:cNvPr>
          <p:cNvGraphicFramePr>
            <a:graphicFrameLocks noChangeAspect="1"/>
          </p:cNvGraphicFramePr>
          <p:nvPr>
            <p:extLst>
              <p:ext uri="{D42A27DB-BD31-4B8C-83A1-F6EECF244321}">
                <p14:modId xmlns:p14="http://schemas.microsoft.com/office/powerpoint/2010/main" val="2551012122"/>
              </p:ext>
            </p:extLst>
          </p:nvPr>
        </p:nvGraphicFramePr>
        <p:xfrm>
          <a:off x="4460668" y="6177681"/>
          <a:ext cx="4003013" cy="658965"/>
        </p:xfrm>
        <a:graphic>
          <a:graphicData uri="http://schemas.openxmlformats.org/presentationml/2006/ole">
            <mc:AlternateContent xmlns:mc="http://schemas.openxmlformats.org/markup-compatibility/2006">
              <mc:Choice xmlns:v="urn:schemas-microsoft-com:vml" Requires="v">
                <p:oleObj name="公式" r:id="rId10" imgW="1968500" imgH="330200" progId="Equation.3">
                  <p:embed/>
                </p:oleObj>
              </mc:Choice>
              <mc:Fallback>
                <p:oleObj name="公式" r:id="rId10" imgW="1968500" imgH="330200" progId="Equation.3">
                  <p:embed/>
                  <p:pic>
                    <p:nvPicPr>
                      <p:cNvPr id="12" name="Object 16">
                        <a:extLst>
                          <a:ext uri="{FF2B5EF4-FFF2-40B4-BE49-F238E27FC236}">
                            <a16:creationId xmlns:a16="http://schemas.microsoft.com/office/drawing/2014/main" id="{4F2B36F7-23E6-D475-CA04-F43ACF1622F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60668" y="6177681"/>
                        <a:ext cx="4003013" cy="6589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7">
            <a:extLst>
              <a:ext uri="{FF2B5EF4-FFF2-40B4-BE49-F238E27FC236}">
                <a16:creationId xmlns:a16="http://schemas.microsoft.com/office/drawing/2014/main" id="{371158A7-1454-E5D6-CFCF-62B805F29A2E}"/>
              </a:ext>
            </a:extLst>
          </p:cNvPr>
          <p:cNvGraphicFramePr>
            <a:graphicFrameLocks noChangeAspect="1"/>
          </p:cNvGraphicFramePr>
          <p:nvPr>
            <p:extLst>
              <p:ext uri="{D42A27DB-BD31-4B8C-83A1-F6EECF244321}">
                <p14:modId xmlns:p14="http://schemas.microsoft.com/office/powerpoint/2010/main" val="532002071"/>
              </p:ext>
            </p:extLst>
          </p:nvPr>
        </p:nvGraphicFramePr>
        <p:xfrm>
          <a:off x="756869" y="6160405"/>
          <a:ext cx="3717197" cy="649437"/>
        </p:xfrm>
        <a:graphic>
          <a:graphicData uri="http://schemas.openxmlformats.org/presentationml/2006/ole">
            <mc:AlternateContent xmlns:mc="http://schemas.openxmlformats.org/markup-compatibility/2006">
              <mc:Choice xmlns:v="urn:schemas-microsoft-com:vml" Requires="v">
                <p:oleObj name="Equation" r:id="rId12" imgW="1854200" imgH="330200" progId="Equation.DSMT4">
                  <p:embed/>
                </p:oleObj>
              </mc:Choice>
              <mc:Fallback>
                <p:oleObj name="Equation" r:id="rId12" imgW="1854200" imgH="330200" progId="Equation.DSMT4">
                  <p:embed/>
                  <p:pic>
                    <p:nvPicPr>
                      <p:cNvPr id="13" name="Object 17">
                        <a:extLst>
                          <a:ext uri="{FF2B5EF4-FFF2-40B4-BE49-F238E27FC236}">
                            <a16:creationId xmlns:a16="http://schemas.microsoft.com/office/drawing/2014/main" id="{371158A7-1454-E5D6-CFCF-62B805F29A2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6869" y="6160405"/>
                        <a:ext cx="3717197" cy="64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8">
            <a:extLst>
              <a:ext uri="{FF2B5EF4-FFF2-40B4-BE49-F238E27FC236}">
                <a16:creationId xmlns:a16="http://schemas.microsoft.com/office/drawing/2014/main" id="{AC8F6D61-FA26-B05A-6F2F-E86BEDEE4884}"/>
              </a:ext>
            </a:extLst>
          </p:cNvPr>
          <p:cNvGraphicFramePr>
            <a:graphicFrameLocks noChangeAspect="1"/>
          </p:cNvGraphicFramePr>
          <p:nvPr>
            <p:extLst>
              <p:ext uri="{D42A27DB-BD31-4B8C-83A1-F6EECF244321}">
                <p14:modId xmlns:p14="http://schemas.microsoft.com/office/powerpoint/2010/main" val="3609197115"/>
              </p:ext>
            </p:extLst>
          </p:nvPr>
        </p:nvGraphicFramePr>
        <p:xfrm>
          <a:off x="8489086" y="6292007"/>
          <a:ext cx="2813701" cy="430312"/>
        </p:xfrm>
        <a:graphic>
          <a:graphicData uri="http://schemas.openxmlformats.org/presentationml/2006/ole">
            <mc:AlternateContent xmlns:mc="http://schemas.openxmlformats.org/markup-compatibility/2006">
              <mc:Choice xmlns:v="urn:schemas-microsoft-com:vml" Requires="v">
                <p:oleObj name="公式" r:id="rId14" imgW="1383699" imgH="215806" progId="Equation.3">
                  <p:embed/>
                </p:oleObj>
              </mc:Choice>
              <mc:Fallback>
                <p:oleObj name="公式" r:id="rId14" imgW="1383699" imgH="215806" progId="Equation.3">
                  <p:embed/>
                  <p:pic>
                    <p:nvPicPr>
                      <p:cNvPr id="14" name="Object 18">
                        <a:extLst>
                          <a:ext uri="{FF2B5EF4-FFF2-40B4-BE49-F238E27FC236}">
                            <a16:creationId xmlns:a16="http://schemas.microsoft.com/office/drawing/2014/main" id="{AC8F6D61-FA26-B05A-6F2F-E86BEDEE488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489086" y="6292007"/>
                        <a:ext cx="2813701" cy="430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AutoShape 10">
            <a:extLst>
              <a:ext uri="{FF2B5EF4-FFF2-40B4-BE49-F238E27FC236}">
                <a16:creationId xmlns:a16="http://schemas.microsoft.com/office/drawing/2014/main" id="{B6119E1D-502F-02F7-FC0A-4E56C6B78421}"/>
              </a:ext>
            </a:extLst>
          </p:cNvPr>
          <p:cNvSpPr>
            <a:spLocks noChangeArrowheads="1"/>
          </p:cNvSpPr>
          <p:nvPr/>
        </p:nvSpPr>
        <p:spPr bwMode="auto">
          <a:xfrm>
            <a:off x="7927975" y="3420799"/>
            <a:ext cx="1772060" cy="987654"/>
          </a:xfrm>
          <a:prstGeom prst="wedgeRoundRectCallout">
            <a:avLst>
              <a:gd name="adj1" fmla="val -216640"/>
              <a:gd name="adj2" fmla="val 63035"/>
              <a:gd name="adj3" fmla="val 16667"/>
            </a:avLst>
          </a:prstGeom>
          <a:solidFill>
            <a:schemeClr val="accent1"/>
          </a:solidFill>
          <a:ln w="9525">
            <a:solidFill>
              <a:srgbClr val="0000FF"/>
            </a:solidFill>
            <a:miter lim="800000"/>
            <a:headEnd/>
            <a:tailEnd/>
          </a:ln>
        </p:spPr>
        <p:txBody>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algn="ctr" eaLnBrk="1" hangingPunct="1">
              <a:lnSpc>
                <a:spcPct val="100000"/>
              </a:lnSpc>
              <a:buClrTx/>
              <a:buFontTx/>
              <a:buNone/>
            </a:pPr>
            <a:r>
              <a:rPr lang="zh-CN" altLang="en-US" sz="2400" dirty="0">
                <a:solidFill>
                  <a:srgbClr val="FFFF00"/>
                </a:solidFill>
              </a:rPr>
              <a:t>平稳独立增量过程</a:t>
            </a:r>
          </a:p>
        </p:txBody>
      </p:sp>
      <p:sp>
        <p:nvSpPr>
          <p:cNvPr id="2" name="AutoShape 10">
            <a:extLst>
              <a:ext uri="{FF2B5EF4-FFF2-40B4-BE49-F238E27FC236}">
                <a16:creationId xmlns:a16="http://schemas.microsoft.com/office/drawing/2014/main" id="{E7D43FA7-FD3B-D7B8-3402-2DE98444593A}"/>
              </a:ext>
            </a:extLst>
          </p:cNvPr>
          <p:cNvSpPr>
            <a:spLocks noChangeArrowheads="1"/>
          </p:cNvSpPr>
          <p:nvPr/>
        </p:nvSpPr>
        <p:spPr bwMode="auto">
          <a:xfrm>
            <a:off x="8689975" y="4593683"/>
            <a:ext cx="1772060" cy="600108"/>
          </a:xfrm>
          <a:prstGeom prst="wedgeRoundRectCallout">
            <a:avLst>
              <a:gd name="adj1" fmla="val -80153"/>
              <a:gd name="adj2" fmla="val 120438"/>
              <a:gd name="adj3" fmla="val 16667"/>
            </a:avLst>
          </a:prstGeom>
          <a:solidFill>
            <a:schemeClr val="accent1"/>
          </a:solidFill>
          <a:ln w="9525">
            <a:solidFill>
              <a:srgbClr val="0000FF"/>
            </a:solidFill>
            <a:miter lim="800000"/>
            <a:headEnd/>
            <a:tailEnd/>
          </a:ln>
        </p:spPr>
        <p:txBody>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algn="ctr" eaLnBrk="1" hangingPunct="1">
              <a:lnSpc>
                <a:spcPct val="100000"/>
              </a:lnSpc>
              <a:buClrTx/>
              <a:buFontTx/>
              <a:buNone/>
            </a:pPr>
            <a:r>
              <a:rPr lang="zh-CN" altLang="en-US" sz="2400" dirty="0">
                <a:solidFill>
                  <a:srgbClr val="FFFF00"/>
                </a:solidFill>
              </a:rPr>
              <a:t>乘法公式</a:t>
            </a:r>
          </a:p>
        </p:txBody>
      </p:sp>
      <p:sp>
        <p:nvSpPr>
          <p:cNvPr id="4" name="AutoShape 10">
            <a:extLst>
              <a:ext uri="{FF2B5EF4-FFF2-40B4-BE49-F238E27FC236}">
                <a16:creationId xmlns:a16="http://schemas.microsoft.com/office/drawing/2014/main" id="{CBABE933-D7D9-97B6-F08F-957098D11724}"/>
              </a:ext>
            </a:extLst>
          </p:cNvPr>
          <p:cNvSpPr>
            <a:spLocks noChangeArrowheads="1"/>
          </p:cNvSpPr>
          <p:nvPr/>
        </p:nvSpPr>
        <p:spPr bwMode="auto">
          <a:xfrm>
            <a:off x="9022149" y="5405413"/>
            <a:ext cx="3096826" cy="600108"/>
          </a:xfrm>
          <a:prstGeom prst="wedgeRoundRectCallout">
            <a:avLst>
              <a:gd name="adj1" fmla="val -15888"/>
              <a:gd name="adj2" fmla="val 119158"/>
              <a:gd name="adj3" fmla="val 16667"/>
            </a:avLst>
          </a:prstGeom>
          <a:solidFill>
            <a:schemeClr val="accent1"/>
          </a:solidFill>
          <a:ln w="9525">
            <a:solidFill>
              <a:srgbClr val="0000FF"/>
            </a:solidFill>
            <a:miter lim="800000"/>
            <a:headEnd/>
            <a:tailEnd/>
          </a:ln>
        </p:spPr>
        <p:txBody>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algn="ctr">
              <a:lnSpc>
                <a:spcPct val="100000"/>
              </a:lnSpc>
              <a:buClrTx/>
              <a:buNone/>
            </a:pPr>
            <a:r>
              <a:rPr lang="en-US" altLang="zh-CN" sz="2400" dirty="0"/>
              <a:t>T</a:t>
            </a:r>
            <a:r>
              <a:rPr lang="en-US" altLang="zh-CN" sz="2400" baseline="-25000" dirty="0"/>
              <a:t>1</a:t>
            </a:r>
            <a:r>
              <a:rPr lang="zh-CN" altLang="en-US" sz="2400" dirty="0">
                <a:solidFill>
                  <a:srgbClr val="0000FF"/>
                </a:solidFill>
                <a:sym typeface="Symbol" panose="05050102010706020507" pitchFamily="18" charset="2"/>
              </a:rPr>
              <a:t>和</a:t>
            </a:r>
            <a:r>
              <a:rPr lang="en-US" altLang="zh-CN" sz="2400" dirty="0"/>
              <a:t>T</a:t>
            </a:r>
            <a:r>
              <a:rPr lang="en-US" altLang="zh-CN" sz="2400" baseline="-25000" dirty="0"/>
              <a:t>2</a:t>
            </a:r>
            <a:r>
              <a:rPr lang="zh-CN" altLang="en-US" sz="2400" dirty="0">
                <a:solidFill>
                  <a:srgbClr val="0000FF"/>
                </a:solidFill>
                <a:sym typeface="Symbol" panose="05050102010706020507" pitchFamily="18" charset="2"/>
              </a:rPr>
              <a:t>是相互独立的</a:t>
            </a:r>
            <a:endParaRPr lang="zh-CN" altLang="en-US" sz="2400"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 calcmode="lin" valueType="num">
                                      <p:cBhvr additive="base">
                                        <p:cTn id="25"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anim calcmode="lin" valueType="num">
                                      <p:cBhvr additive="base">
                                        <p:cTn id="3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 calcmode="lin" valueType="num">
                                      <p:cBhvr additive="base">
                                        <p:cTn id="3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3" end="3"/>
                                            </p:txEl>
                                          </p:spTgt>
                                        </p:tgtEl>
                                        <p:attrNameLst>
                                          <p:attrName>style.visibility</p:attrName>
                                        </p:attrNameLst>
                                      </p:cBhvr>
                                      <p:to>
                                        <p:strVal val="visible"/>
                                      </p:to>
                                    </p:set>
                                    <p:anim calcmode="lin" valueType="num">
                                      <p:cBhvr additive="base">
                                        <p:cTn id="4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9"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0-#ppt_w/2"/>
                                          </p:val>
                                        </p:tav>
                                        <p:tav tm="100000">
                                          <p:val>
                                            <p:strVal val="#ppt_x"/>
                                          </p:val>
                                        </p:tav>
                                      </p:tavLst>
                                    </p:anim>
                                    <p:anim calcmode="lin" valueType="num">
                                      <p:cBhvr additive="base">
                                        <p:cTn id="50"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4" end="4"/>
                                            </p:txEl>
                                          </p:spTgt>
                                        </p:tgtEl>
                                        <p:attrNameLst>
                                          <p:attrName>style.visibility</p:attrName>
                                        </p:attrNameLst>
                                      </p:cBhvr>
                                      <p:to>
                                        <p:strVal val="visible"/>
                                      </p:to>
                                    </p:set>
                                    <p:anim calcmode="lin" valueType="num">
                                      <p:cBhvr additive="base">
                                        <p:cTn id="5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
                                            <p:txEl>
                                              <p:pRg st="5" end="5"/>
                                            </p:txEl>
                                          </p:spTgt>
                                        </p:tgtEl>
                                        <p:attrNameLst>
                                          <p:attrName>style.visibility</p:attrName>
                                        </p:attrNameLst>
                                      </p:cBhvr>
                                      <p:to>
                                        <p:strVal val="visible"/>
                                      </p:to>
                                    </p:set>
                                    <p:anim calcmode="lin" valueType="num">
                                      <p:cBhvr additive="base">
                                        <p:cTn id="6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10"/>
                                        </p:tgtEl>
                                        <p:attrNameLst>
                                          <p:attrName>style.visibility</p:attrName>
                                        </p:attrNameLst>
                                      </p:cBhvr>
                                      <p:to>
                                        <p:strVal val="visible"/>
                                      </p:to>
                                    </p:set>
                                    <p:anim calcmode="lin" valueType="num">
                                      <p:cBhvr additive="base">
                                        <p:cTn id="67" dur="500" fill="hold"/>
                                        <p:tgtEl>
                                          <p:spTgt spid="10"/>
                                        </p:tgtEl>
                                        <p:attrNameLst>
                                          <p:attrName>ppt_x</p:attrName>
                                        </p:attrNameLst>
                                      </p:cBhvr>
                                      <p:tavLst>
                                        <p:tav tm="0">
                                          <p:val>
                                            <p:strVal val="#ppt_x"/>
                                          </p:val>
                                        </p:tav>
                                        <p:tav tm="100000">
                                          <p:val>
                                            <p:strVal val="#ppt_x"/>
                                          </p:val>
                                        </p:tav>
                                      </p:tavLst>
                                    </p:anim>
                                    <p:anim calcmode="lin" valueType="num">
                                      <p:cBhvr additive="base">
                                        <p:cTn id="6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nodeType="click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additive="base">
                                        <p:cTn id="73" dur="500" fill="hold"/>
                                        <p:tgtEl>
                                          <p:spTgt spid="11"/>
                                        </p:tgtEl>
                                        <p:attrNameLst>
                                          <p:attrName>ppt_x</p:attrName>
                                        </p:attrNameLst>
                                      </p:cBhvr>
                                      <p:tavLst>
                                        <p:tav tm="0">
                                          <p:val>
                                            <p:strVal val="#ppt_x"/>
                                          </p:val>
                                        </p:tav>
                                        <p:tav tm="100000">
                                          <p:val>
                                            <p:strVal val="#ppt_x"/>
                                          </p:val>
                                        </p:tav>
                                      </p:tavLst>
                                    </p:anim>
                                    <p:anim calcmode="lin" valueType="num">
                                      <p:cBhvr additive="base">
                                        <p:cTn id="7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4" fill="hold" nodeType="clickEffect">
                                  <p:stCondLst>
                                    <p:cond delay="0"/>
                                  </p:stCondLst>
                                  <p:childTnLst>
                                    <p:set>
                                      <p:cBhvr>
                                        <p:cTn id="78" dur="1" fill="hold">
                                          <p:stCondLst>
                                            <p:cond delay="0"/>
                                          </p:stCondLst>
                                        </p:cTn>
                                        <p:tgtEl>
                                          <p:spTgt spid="13"/>
                                        </p:tgtEl>
                                        <p:attrNameLst>
                                          <p:attrName>style.visibility</p:attrName>
                                        </p:attrNameLst>
                                      </p:cBhvr>
                                      <p:to>
                                        <p:strVal val="visible"/>
                                      </p:to>
                                    </p:set>
                                    <p:anim calcmode="lin" valueType="num">
                                      <p:cBhvr additive="base">
                                        <p:cTn id="79" dur="500" fill="hold"/>
                                        <p:tgtEl>
                                          <p:spTgt spid="13"/>
                                        </p:tgtEl>
                                        <p:attrNameLst>
                                          <p:attrName>ppt_x</p:attrName>
                                        </p:attrNameLst>
                                      </p:cBhvr>
                                      <p:tavLst>
                                        <p:tav tm="0">
                                          <p:val>
                                            <p:strVal val="#ppt_x"/>
                                          </p:val>
                                        </p:tav>
                                        <p:tav tm="100000">
                                          <p:val>
                                            <p:strVal val="#ppt_x"/>
                                          </p:val>
                                        </p:tav>
                                      </p:tavLst>
                                    </p:anim>
                                    <p:anim calcmode="lin" valueType="num">
                                      <p:cBhvr additive="base">
                                        <p:cTn id="8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4" fill="hold" nodeType="clickEffect">
                                  <p:stCondLst>
                                    <p:cond delay="0"/>
                                  </p:stCondLst>
                                  <p:childTnLst>
                                    <p:set>
                                      <p:cBhvr>
                                        <p:cTn id="84" dur="1" fill="hold">
                                          <p:stCondLst>
                                            <p:cond delay="0"/>
                                          </p:stCondLst>
                                        </p:cTn>
                                        <p:tgtEl>
                                          <p:spTgt spid="12"/>
                                        </p:tgtEl>
                                        <p:attrNameLst>
                                          <p:attrName>style.visibility</p:attrName>
                                        </p:attrNameLst>
                                      </p:cBhvr>
                                      <p:to>
                                        <p:strVal val="visible"/>
                                      </p:to>
                                    </p:set>
                                    <p:anim calcmode="lin" valueType="num">
                                      <p:cBhvr additive="base">
                                        <p:cTn id="85" dur="500" fill="hold"/>
                                        <p:tgtEl>
                                          <p:spTgt spid="12"/>
                                        </p:tgtEl>
                                        <p:attrNameLst>
                                          <p:attrName>ppt_x</p:attrName>
                                        </p:attrNameLst>
                                      </p:cBhvr>
                                      <p:tavLst>
                                        <p:tav tm="0">
                                          <p:val>
                                            <p:strVal val="#ppt_x"/>
                                          </p:val>
                                        </p:tav>
                                        <p:tav tm="100000">
                                          <p:val>
                                            <p:strVal val="#ppt_x"/>
                                          </p:val>
                                        </p:tav>
                                      </p:tavLst>
                                    </p:anim>
                                    <p:anim calcmode="lin" valueType="num">
                                      <p:cBhvr additive="base">
                                        <p:cTn id="8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4" fill="hold" nodeType="clickEffect">
                                  <p:stCondLst>
                                    <p:cond delay="0"/>
                                  </p:stCondLst>
                                  <p:childTnLst>
                                    <p:set>
                                      <p:cBhvr>
                                        <p:cTn id="90" dur="1" fill="hold">
                                          <p:stCondLst>
                                            <p:cond delay="0"/>
                                          </p:stCondLst>
                                        </p:cTn>
                                        <p:tgtEl>
                                          <p:spTgt spid="14"/>
                                        </p:tgtEl>
                                        <p:attrNameLst>
                                          <p:attrName>style.visibility</p:attrName>
                                        </p:attrNameLst>
                                      </p:cBhvr>
                                      <p:to>
                                        <p:strVal val="visible"/>
                                      </p:to>
                                    </p:set>
                                    <p:anim calcmode="lin" valueType="num">
                                      <p:cBhvr additive="base">
                                        <p:cTn id="91" dur="500" fill="hold"/>
                                        <p:tgtEl>
                                          <p:spTgt spid="14"/>
                                        </p:tgtEl>
                                        <p:attrNameLst>
                                          <p:attrName>ppt_x</p:attrName>
                                        </p:attrNameLst>
                                      </p:cBhvr>
                                      <p:tavLst>
                                        <p:tav tm="0">
                                          <p:val>
                                            <p:strVal val="#ppt_x"/>
                                          </p:val>
                                        </p:tav>
                                        <p:tav tm="100000">
                                          <p:val>
                                            <p:strVal val="#ppt_x"/>
                                          </p:val>
                                        </p:tav>
                                      </p:tavLst>
                                    </p:anim>
                                    <p:anim calcmode="lin" valueType="num">
                                      <p:cBhvr additive="base">
                                        <p:cTn id="9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9" fill="hold" grpId="0" nodeType="clickEffect">
                                  <p:stCondLst>
                                    <p:cond delay="0"/>
                                  </p:stCondLst>
                                  <p:childTnLst>
                                    <p:set>
                                      <p:cBhvr>
                                        <p:cTn id="96" dur="1" fill="hold">
                                          <p:stCondLst>
                                            <p:cond delay="0"/>
                                          </p:stCondLst>
                                        </p:cTn>
                                        <p:tgtEl>
                                          <p:spTgt spid="2"/>
                                        </p:tgtEl>
                                        <p:attrNameLst>
                                          <p:attrName>style.visibility</p:attrName>
                                        </p:attrNameLst>
                                      </p:cBhvr>
                                      <p:to>
                                        <p:strVal val="visible"/>
                                      </p:to>
                                    </p:set>
                                    <p:anim calcmode="lin" valueType="num">
                                      <p:cBhvr additive="base">
                                        <p:cTn id="97" dur="500" fill="hold"/>
                                        <p:tgtEl>
                                          <p:spTgt spid="2"/>
                                        </p:tgtEl>
                                        <p:attrNameLst>
                                          <p:attrName>ppt_x</p:attrName>
                                        </p:attrNameLst>
                                      </p:cBhvr>
                                      <p:tavLst>
                                        <p:tav tm="0">
                                          <p:val>
                                            <p:strVal val="0-#ppt_w/2"/>
                                          </p:val>
                                        </p:tav>
                                        <p:tav tm="100000">
                                          <p:val>
                                            <p:strVal val="#ppt_x"/>
                                          </p:val>
                                        </p:tav>
                                      </p:tavLst>
                                    </p:anim>
                                    <p:anim calcmode="lin" valueType="num">
                                      <p:cBhvr additive="base">
                                        <p:cTn id="9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9" fill="hold" grpId="0" nodeType="clickEffect">
                                  <p:stCondLst>
                                    <p:cond delay="0"/>
                                  </p:stCondLst>
                                  <p:childTnLst>
                                    <p:set>
                                      <p:cBhvr>
                                        <p:cTn id="102" dur="1" fill="hold">
                                          <p:stCondLst>
                                            <p:cond delay="0"/>
                                          </p:stCondLst>
                                        </p:cTn>
                                        <p:tgtEl>
                                          <p:spTgt spid="4"/>
                                        </p:tgtEl>
                                        <p:attrNameLst>
                                          <p:attrName>style.visibility</p:attrName>
                                        </p:attrNameLst>
                                      </p:cBhvr>
                                      <p:to>
                                        <p:strVal val="visible"/>
                                      </p:to>
                                    </p:set>
                                    <p:anim calcmode="lin" valueType="num">
                                      <p:cBhvr additive="base">
                                        <p:cTn id="103" dur="500" fill="hold"/>
                                        <p:tgtEl>
                                          <p:spTgt spid="4"/>
                                        </p:tgtEl>
                                        <p:attrNameLst>
                                          <p:attrName>ppt_x</p:attrName>
                                        </p:attrNameLst>
                                      </p:cBhvr>
                                      <p:tavLst>
                                        <p:tav tm="0">
                                          <p:val>
                                            <p:strVal val="0-#ppt_w/2"/>
                                          </p:val>
                                        </p:tav>
                                        <p:tav tm="100000">
                                          <p:val>
                                            <p:strVal val="#ppt_x"/>
                                          </p:val>
                                        </p:tav>
                                      </p:tavLst>
                                    </p:anim>
                                    <p:anim calcmode="lin" valueType="num">
                                      <p:cBhvr additive="base">
                                        <p:cTn id="104"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build="p"/>
      <p:bldP spid="15" grpId="0" animBg="1"/>
      <p:bldP spid="2"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a:extLst>
              <a:ext uri="{FF2B5EF4-FFF2-40B4-BE49-F238E27FC236}">
                <a16:creationId xmlns:a16="http://schemas.microsoft.com/office/drawing/2014/main" id="{0ED950E2-F494-9753-5299-853F8FB8FC9E}"/>
              </a:ext>
            </a:extLst>
          </p:cNvPr>
          <p:cNvSpPr>
            <a:spLocks noGrp="1" noChangeArrowheads="1"/>
          </p:cNvSpPr>
          <p:nvPr>
            <p:ph type="title"/>
          </p:nvPr>
        </p:nvSpPr>
        <p:spPr/>
        <p:txBody>
          <a:bodyPr/>
          <a:lstStyle/>
          <a:p>
            <a:pPr eaLnBrk="1" hangingPunct="1"/>
            <a:endParaRPr lang="zh-CN" altLang="zh-CN"/>
          </a:p>
        </p:txBody>
      </p:sp>
      <p:sp>
        <p:nvSpPr>
          <p:cNvPr id="324611" name="Rectangle 3">
            <a:extLst>
              <a:ext uri="{FF2B5EF4-FFF2-40B4-BE49-F238E27FC236}">
                <a16:creationId xmlns:a16="http://schemas.microsoft.com/office/drawing/2014/main" id="{2070ED39-7D70-68E0-AF54-ED0AED450B1A}"/>
              </a:ext>
            </a:extLst>
          </p:cNvPr>
          <p:cNvSpPr>
            <a:spLocks noGrp="1" noChangeArrowheads="1"/>
          </p:cNvSpPr>
          <p:nvPr>
            <p:ph type="body" idx="1"/>
          </p:nvPr>
        </p:nvSpPr>
        <p:spPr>
          <a:xfrm>
            <a:off x="231775" y="1524794"/>
            <a:ext cx="11353800" cy="3429000"/>
          </a:xfrm>
        </p:spPr>
        <p:txBody>
          <a:bodyPr>
            <a:normAutofit/>
          </a:bodyPr>
          <a:lstStyle/>
          <a:p>
            <a:pPr algn="just" eaLnBrk="1" hangingPunct="1">
              <a:lnSpc>
                <a:spcPct val="160000"/>
              </a:lnSpc>
              <a:buFont typeface="Wingdings" panose="05000000000000000000" pitchFamily="2" charset="2"/>
              <a:buNone/>
            </a:pPr>
            <a:r>
              <a:rPr lang="en-US" altLang="zh-CN" dirty="0"/>
              <a:t>	</a:t>
            </a:r>
            <a:r>
              <a:rPr lang="zh-CN" altLang="en-US" dirty="0"/>
              <a:t>当</a:t>
            </a:r>
            <a:r>
              <a:rPr lang="en-US" altLang="zh-CN" dirty="0"/>
              <a:t>s</a:t>
            </a:r>
            <a:r>
              <a:rPr lang="zh-CN" altLang="en-US" dirty="0"/>
              <a:t>＝</a:t>
            </a:r>
            <a:r>
              <a:rPr lang="en-US" altLang="zh-CN" dirty="0"/>
              <a:t>0</a:t>
            </a:r>
            <a:r>
              <a:rPr lang="zh-CN" altLang="en-US" dirty="0"/>
              <a:t>时，可见</a:t>
            </a:r>
            <a:r>
              <a:rPr lang="en-US" altLang="zh-CN" dirty="0"/>
              <a:t>T</a:t>
            </a:r>
            <a:r>
              <a:rPr lang="en-US" altLang="zh-CN" baseline="-25000" dirty="0"/>
              <a:t>2</a:t>
            </a:r>
            <a:r>
              <a:rPr lang="zh-CN" altLang="en-US" dirty="0"/>
              <a:t>也服从参数为</a:t>
            </a:r>
            <a:r>
              <a:rPr lang="el-GR" altLang="zh-CN" dirty="0"/>
              <a:t>λ</a:t>
            </a:r>
            <a:r>
              <a:rPr lang="zh-CN" altLang="en-US" dirty="0"/>
              <a:t>的（负）指数分布且</a:t>
            </a:r>
            <a:r>
              <a:rPr lang="en-US" altLang="zh-CN" dirty="0"/>
              <a:t>T</a:t>
            </a:r>
            <a:r>
              <a:rPr lang="en-US" altLang="zh-CN" baseline="-25000" dirty="0"/>
              <a:t>2</a:t>
            </a:r>
            <a:r>
              <a:rPr lang="zh-CN" altLang="en-US" dirty="0"/>
              <a:t>与</a:t>
            </a:r>
            <a:r>
              <a:rPr lang="en-US" altLang="zh-CN" dirty="0"/>
              <a:t>T</a:t>
            </a:r>
            <a:r>
              <a:rPr lang="en-US" altLang="zh-CN" baseline="-25000" dirty="0"/>
              <a:t>1</a:t>
            </a:r>
            <a:r>
              <a:rPr lang="zh-CN" altLang="en-US" dirty="0"/>
              <a:t>独立同分布。</a:t>
            </a:r>
          </a:p>
          <a:p>
            <a:pPr algn="just" eaLnBrk="1" hangingPunct="1">
              <a:lnSpc>
                <a:spcPct val="160000"/>
              </a:lnSpc>
              <a:buFont typeface="Wingdings" panose="05000000000000000000" pitchFamily="2" charset="2"/>
              <a:buNone/>
            </a:pPr>
            <a:r>
              <a:rPr lang="zh-CN" altLang="en-US" dirty="0"/>
              <a:t>	类似地，可用数学归纳法证明当</a:t>
            </a:r>
            <a:r>
              <a:rPr lang="en-US" altLang="zh-CN" dirty="0"/>
              <a:t>n&gt;2</a:t>
            </a:r>
            <a:r>
              <a:rPr lang="zh-CN" altLang="en-US" dirty="0"/>
              <a:t>时，</a:t>
            </a:r>
            <a:r>
              <a:rPr lang="en-US" altLang="zh-CN" dirty="0"/>
              <a:t>T</a:t>
            </a:r>
            <a:r>
              <a:rPr lang="en-US" altLang="zh-CN" baseline="-25000" dirty="0"/>
              <a:t>n</a:t>
            </a:r>
            <a:r>
              <a:rPr lang="zh-CN" altLang="en-US" dirty="0"/>
              <a:t>，</a:t>
            </a:r>
            <a:r>
              <a:rPr lang="en-US" altLang="zh-CN" dirty="0"/>
              <a:t>n=1, 2, …</a:t>
            </a:r>
            <a:r>
              <a:rPr lang="zh-CN" altLang="en-US" dirty="0"/>
              <a:t>相互独立，都参数为</a:t>
            </a:r>
            <a:r>
              <a:rPr lang="el-GR" altLang="zh-CN" dirty="0"/>
              <a:t>λ</a:t>
            </a:r>
            <a:r>
              <a:rPr lang="zh-CN" altLang="en-US" dirty="0"/>
              <a:t>的（负）指数分布。</a:t>
            </a:r>
            <a:endParaRPr lang="zh-CN" altLang="el-GR"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4611">
                                            <p:txEl>
                                              <p:pRg st="0" end="0"/>
                                            </p:txEl>
                                          </p:spTgt>
                                        </p:tgtEl>
                                        <p:attrNameLst>
                                          <p:attrName>style.visibility</p:attrName>
                                        </p:attrNameLst>
                                      </p:cBhvr>
                                      <p:to>
                                        <p:strVal val="visible"/>
                                      </p:to>
                                    </p:set>
                                    <p:anim calcmode="lin" valueType="num">
                                      <p:cBhvr additive="base">
                                        <p:cTn id="7" dur="500" fill="hold"/>
                                        <p:tgtEl>
                                          <p:spTgt spid="3246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46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24611">
                                            <p:txEl>
                                              <p:pRg st="1" end="1"/>
                                            </p:txEl>
                                          </p:spTgt>
                                        </p:tgtEl>
                                        <p:attrNameLst>
                                          <p:attrName>style.visibility</p:attrName>
                                        </p:attrNameLst>
                                      </p:cBhvr>
                                      <p:to>
                                        <p:strVal val="visible"/>
                                      </p:to>
                                    </p:set>
                                    <p:anim calcmode="lin" valueType="num">
                                      <p:cBhvr additive="base">
                                        <p:cTn id="13" dur="500" fill="hold"/>
                                        <p:tgtEl>
                                          <p:spTgt spid="3246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461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7482D445-F123-B8B1-0246-D40853662C09}"/>
              </a:ext>
            </a:extLst>
          </p:cNvPr>
          <p:cNvSpPr>
            <a:spLocks noGrp="1" noChangeArrowheads="1"/>
          </p:cNvSpPr>
          <p:nvPr>
            <p:ph type="title"/>
          </p:nvPr>
        </p:nvSpPr>
        <p:spPr/>
        <p:txBody>
          <a:bodyPr/>
          <a:lstStyle/>
          <a:p>
            <a:pPr eaLnBrk="1" hangingPunct="1"/>
            <a:r>
              <a:rPr lang="zh-CN" altLang="en-US"/>
              <a:t>泊松过程的性质</a:t>
            </a:r>
            <a:r>
              <a:rPr lang="en-US" altLang="zh-CN"/>
              <a:t>3</a:t>
            </a:r>
          </a:p>
        </p:txBody>
      </p:sp>
      <p:sp>
        <p:nvSpPr>
          <p:cNvPr id="318467" name="Rectangle 3">
            <a:extLst>
              <a:ext uri="{FF2B5EF4-FFF2-40B4-BE49-F238E27FC236}">
                <a16:creationId xmlns:a16="http://schemas.microsoft.com/office/drawing/2014/main" id="{53AB628E-14BA-C18E-9568-89FE28C7645C}"/>
              </a:ext>
            </a:extLst>
          </p:cNvPr>
          <p:cNvSpPr>
            <a:spLocks noGrp="1" noChangeArrowheads="1"/>
          </p:cNvSpPr>
          <p:nvPr>
            <p:ph type="body" idx="1"/>
          </p:nvPr>
        </p:nvSpPr>
        <p:spPr>
          <a:xfrm>
            <a:off x="688975" y="1372394"/>
            <a:ext cx="10744200" cy="1938786"/>
          </a:xfrm>
        </p:spPr>
        <p:txBody>
          <a:bodyPr/>
          <a:lstStyle/>
          <a:p>
            <a:pPr marL="0" indent="719282">
              <a:buNone/>
            </a:pPr>
            <a:r>
              <a:rPr lang="zh-CN" altLang="en-US" dirty="0">
                <a:solidFill>
                  <a:srgbClr val="0000FF"/>
                </a:solidFill>
              </a:rPr>
              <a:t>设</a:t>
            </a:r>
            <a:r>
              <a:rPr lang="en-US" altLang="zh-CN" dirty="0">
                <a:solidFill>
                  <a:srgbClr val="0000FF"/>
                </a:solidFill>
              </a:rPr>
              <a:t>{N(t), t</a:t>
            </a:r>
            <a:r>
              <a:rPr lang="en-US" altLang="zh-CN" dirty="0">
                <a:solidFill>
                  <a:srgbClr val="0000FF"/>
                </a:solidFill>
                <a:sym typeface="Symbol" panose="05050102010706020507" pitchFamily="18" charset="2"/>
              </a:rPr>
              <a:t>0</a:t>
            </a:r>
            <a:r>
              <a:rPr lang="en-US" altLang="zh-CN" dirty="0">
                <a:solidFill>
                  <a:srgbClr val="0000FF"/>
                </a:solidFill>
              </a:rPr>
              <a:t>}</a:t>
            </a:r>
            <a:r>
              <a:rPr lang="zh-CN" altLang="en-US" dirty="0">
                <a:solidFill>
                  <a:srgbClr val="0000FF"/>
                </a:solidFill>
              </a:rPr>
              <a:t>是</a:t>
            </a:r>
            <a:r>
              <a:rPr lang="zh-CN" altLang="en-US" dirty="0">
                <a:solidFill>
                  <a:srgbClr val="0000FF"/>
                </a:solidFill>
                <a:sym typeface="Symbol" panose="05050102010706020507" pitchFamily="18" charset="2"/>
              </a:rPr>
              <a:t>参数为的泊松过程，</a:t>
            </a:r>
            <a:r>
              <a:rPr lang="en-US" altLang="zh-CN" dirty="0">
                <a:solidFill>
                  <a:srgbClr val="0000FF"/>
                </a:solidFill>
                <a:sym typeface="Symbol" panose="05050102010706020507" pitchFamily="18" charset="2"/>
              </a:rPr>
              <a:t>{</a:t>
            </a:r>
            <a:r>
              <a:rPr lang="en-US" altLang="zh-CN" baseline="-25000" dirty="0">
                <a:solidFill>
                  <a:srgbClr val="0000FF"/>
                </a:solidFill>
                <a:sym typeface="Symbol" panose="05050102010706020507" pitchFamily="18" charset="2"/>
              </a:rPr>
              <a:t>n</a:t>
            </a:r>
            <a:r>
              <a:rPr lang="en-US" altLang="zh-CN" dirty="0">
                <a:solidFill>
                  <a:srgbClr val="0000FF"/>
                </a:solidFill>
                <a:sym typeface="Symbol" panose="05050102010706020507" pitchFamily="18" charset="2"/>
              </a:rPr>
              <a:t>, n = 1, 2, …}</a:t>
            </a:r>
            <a:r>
              <a:rPr lang="zh-CN" altLang="en-US" dirty="0">
                <a:solidFill>
                  <a:srgbClr val="0000FF"/>
                </a:solidFill>
                <a:sym typeface="Symbol" panose="05050102010706020507" pitchFamily="18" charset="2"/>
              </a:rPr>
              <a:t>为等待时间序列，则</a:t>
            </a:r>
            <a:r>
              <a:rPr lang="en-US" altLang="zh-CN" baseline="-25000" dirty="0">
                <a:solidFill>
                  <a:srgbClr val="0000FF"/>
                </a:solidFill>
                <a:sym typeface="Symbol" panose="05050102010706020507" pitchFamily="18" charset="2"/>
              </a:rPr>
              <a:t>n</a:t>
            </a:r>
            <a:r>
              <a:rPr lang="zh-CN" altLang="en-US" dirty="0">
                <a:solidFill>
                  <a:srgbClr val="0000FF"/>
                </a:solidFill>
                <a:sym typeface="Symbol" panose="05050102010706020507" pitchFamily="18" charset="2"/>
              </a:rPr>
              <a:t>～</a:t>
            </a:r>
            <a:r>
              <a:rPr lang="en-US" altLang="zh-CN" dirty="0">
                <a:solidFill>
                  <a:srgbClr val="0000FF"/>
                </a:solidFill>
                <a:sym typeface="Symbol" panose="05050102010706020507" pitchFamily="18" charset="2"/>
              </a:rPr>
              <a:t>(n, )</a:t>
            </a:r>
            <a:r>
              <a:rPr lang="zh-CN" altLang="en-US" dirty="0">
                <a:solidFill>
                  <a:srgbClr val="0000FF"/>
                </a:solidFill>
                <a:sym typeface="Symbol" panose="05050102010706020507" pitchFamily="18" charset="2"/>
              </a:rPr>
              <a:t>，即概率密度为：</a:t>
            </a:r>
          </a:p>
        </p:txBody>
      </p:sp>
      <p:graphicFrame>
        <p:nvGraphicFramePr>
          <p:cNvPr id="318468" name="Object 4">
            <a:extLst>
              <a:ext uri="{FF2B5EF4-FFF2-40B4-BE49-F238E27FC236}">
                <a16:creationId xmlns:a16="http://schemas.microsoft.com/office/drawing/2014/main" id="{584BC522-0583-AE5A-D54F-22D8EA1AA240}"/>
              </a:ext>
            </a:extLst>
          </p:cNvPr>
          <p:cNvGraphicFramePr>
            <a:graphicFrameLocks noChangeAspect="1"/>
          </p:cNvGraphicFramePr>
          <p:nvPr>
            <p:extLst>
              <p:ext uri="{D42A27DB-BD31-4B8C-83A1-F6EECF244321}">
                <p14:modId xmlns:p14="http://schemas.microsoft.com/office/powerpoint/2010/main" val="3590169292"/>
              </p:ext>
            </p:extLst>
          </p:nvPr>
        </p:nvGraphicFramePr>
        <p:xfrm>
          <a:off x="1984375" y="3090796"/>
          <a:ext cx="4495800" cy="1615767"/>
        </p:xfrm>
        <a:graphic>
          <a:graphicData uri="http://schemas.openxmlformats.org/presentationml/2006/ole">
            <mc:AlternateContent xmlns:mc="http://schemas.openxmlformats.org/markup-compatibility/2006">
              <mc:Choice xmlns:v="urn:schemas-microsoft-com:vml" Requires="v">
                <p:oleObj name="Equation" r:id="rId2" imgW="3516120" imgH="1219320" progId="Equation.DSMT4">
                  <p:embed/>
                </p:oleObj>
              </mc:Choice>
              <mc:Fallback>
                <p:oleObj name="Equation" r:id="rId2" imgW="3516120" imgH="1219320" progId="Equation.DSMT4">
                  <p:embed/>
                  <p:pic>
                    <p:nvPicPr>
                      <p:cNvPr id="318468" name="Object 4">
                        <a:extLst>
                          <a:ext uri="{FF2B5EF4-FFF2-40B4-BE49-F238E27FC236}">
                            <a16:creationId xmlns:a16="http://schemas.microsoft.com/office/drawing/2014/main" id="{584BC522-0583-AE5A-D54F-22D8EA1AA2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75" y="3090796"/>
                        <a:ext cx="4495800" cy="1615767"/>
                      </a:xfrm>
                      <a:prstGeom prst="rect">
                        <a:avLst/>
                      </a:prstGeom>
                      <a:noFill/>
                      <a:ln>
                        <a:noFill/>
                      </a:ln>
                      <a:effectLst/>
                    </p:spPr>
                  </p:pic>
                </p:oleObj>
              </mc:Fallback>
            </mc:AlternateContent>
          </a:graphicData>
        </a:graphic>
      </p:graphicFrame>
      <p:sp>
        <p:nvSpPr>
          <p:cNvPr id="318473" name="Rectangle 9">
            <a:extLst>
              <a:ext uri="{FF2B5EF4-FFF2-40B4-BE49-F238E27FC236}">
                <a16:creationId xmlns:a16="http://schemas.microsoft.com/office/drawing/2014/main" id="{B323D7FB-297B-E63B-7C1E-B3D1C09482DF}"/>
              </a:ext>
            </a:extLst>
          </p:cNvPr>
          <p:cNvSpPr>
            <a:spLocks noChangeArrowheads="1"/>
          </p:cNvSpPr>
          <p:nvPr/>
        </p:nvSpPr>
        <p:spPr bwMode="auto">
          <a:xfrm>
            <a:off x="762017" y="5102329"/>
            <a:ext cx="7707509" cy="488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33400" indent="-533400">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algn="just" eaLnBrk="1" hangingPunct="1">
              <a:lnSpc>
                <a:spcPct val="150000"/>
              </a:lnSpc>
              <a:buClrTx/>
              <a:buFontTx/>
              <a:buNone/>
            </a:pPr>
            <a:r>
              <a:rPr lang="zh-CN" altLang="en-US" sz="2400" dirty="0">
                <a:solidFill>
                  <a:srgbClr val="CC00CC"/>
                </a:solidFill>
                <a:latin typeface="+mn-ea"/>
                <a:ea typeface="+mn-ea"/>
              </a:rPr>
              <a:t>即</a:t>
            </a:r>
            <a:r>
              <a:rPr lang="en-US" altLang="zh-CN" sz="2400" dirty="0">
                <a:solidFill>
                  <a:srgbClr val="CC00CC"/>
                </a:solidFill>
                <a:latin typeface="+mn-ea"/>
                <a:ea typeface="+mn-ea"/>
              </a:rPr>
              <a:t>n</a:t>
            </a:r>
            <a:r>
              <a:rPr lang="zh-CN" altLang="en-US" sz="2400" dirty="0">
                <a:solidFill>
                  <a:srgbClr val="CC00CC"/>
                </a:solidFill>
                <a:latin typeface="+mn-ea"/>
                <a:ea typeface="+mn-ea"/>
              </a:rPr>
              <a:t>阶爱而朗分布。</a:t>
            </a:r>
            <a:endParaRPr lang="zh-CN" altLang="en-US" sz="2400" dirty="0">
              <a:solidFill>
                <a:srgbClr val="CC00CC"/>
              </a:solidFill>
              <a:latin typeface="+mn-ea"/>
              <a:ea typeface="+mn-ea"/>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18467">
                                            <p:txEl>
                                              <p:pRg st="0" end="0"/>
                                            </p:txEl>
                                          </p:spTgt>
                                        </p:tgtEl>
                                        <p:attrNameLst>
                                          <p:attrName>style.visibility</p:attrName>
                                        </p:attrNameLst>
                                      </p:cBhvr>
                                      <p:to>
                                        <p:strVal val="visible"/>
                                      </p:to>
                                    </p:set>
                                    <p:anim calcmode="lin" valueType="num">
                                      <p:cBhvr additive="base">
                                        <p:cTn id="7" dur="500" fill="hold"/>
                                        <p:tgtEl>
                                          <p:spTgt spid="3184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8467">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318468"/>
                                        </p:tgtEl>
                                        <p:attrNameLst>
                                          <p:attrName>style.visibility</p:attrName>
                                        </p:attrNameLst>
                                      </p:cBhvr>
                                      <p:to>
                                        <p:strVal val="visible"/>
                                      </p:to>
                                    </p:set>
                                    <p:anim calcmode="lin" valueType="num">
                                      <p:cBhvr additive="base">
                                        <p:cTn id="12" dur="500" fill="hold"/>
                                        <p:tgtEl>
                                          <p:spTgt spid="318468"/>
                                        </p:tgtEl>
                                        <p:attrNameLst>
                                          <p:attrName>ppt_x</p:attrName>
                                        </p:attrNameLst>
                                      </p:cBhvr>
                                      <p:tavLst>
                                        <p:tav tm="0">
                                          <p:val>
                                            <p:strVal val="0-#ppt_w/2"/>
                                          </p:val>
                                        </p:tav>
                                        <p:tav tm="100000">
                                          <p:val>
                                            <p:strVal val="#ppt_x"/>
                                          </p:val>
                                        </p:tav>
                                      </p:tavLst>
                                    </p:anim>
                                    <p:anim calcmode="lin" valueType="num">
                                      <p:cBhvr additive="base">
                                        <p:cTn id="13" dur="500" fill="hold"/>
                                        <p:tgtEl>
                                          <p:spTgt spid="318468"/>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318473">
                                            <p:txEl>
                                              <p:pRg st="0" end="0"/>
                                            </p:txEl>
                                          </p:spTgt>
                                        </p:tgtEl>
                                        <p:attrNameLst>
                                          <p:attrName>style.visibility</p:attrName>
                                        </p:attrNameLst>
                                      </p:cBhvr>
                                      <p:to>
                                        <p:strVal val="visible"/>
                                      </p:to>
                                    </p:set>
                                    <p:anim calcmode="lin" valueType="num">
                                      <p:cBhvr additive="base">
                                        <p:cTn id="17" dur="500" fill="hold"/>
                                        <p:tgtEl>
                                          <p:spTgt spid="318473">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1847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7" grpId="0" build="p" autoUpdateAnimBg="0"/>
      <p:bldP spid="318473"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C340F31F-55C7-E966-166F-262AC36BD35C}"/>
              </a:ext>
            </a:extLst>
          </p:cNvPr>
          <p:cNvSpPr>
            <a:spLocks noGrp="1" noChangeArrowheads="1"/>
          </p:cNvSpPr>
          <p:nvPr>
            <p:ph type="title"/>
          </p:nvPr>
        </p:nvSpPr>
        <p:spPr/>
        <p:txBody>
          <a:bodyPr/>
          <a:lstStyle/>
          <a:p>
            <a:pPr algn="l"/>
            <a:r>
              <a:rPr lang="zh-CN" altLang="en-US" dirty="0"/>
              <a:t>证明</a:t>
            </a:r>
          </a:p>
        </p:txBody>
      </p:sp>
      <p:sp>
        <p:nvSpPr>
          <p:cNvPr id="26627" name="内容占位符 2">
            <a:extLst>
              <a:ext uri="{FF2B5EF4-FFF2-40B4-BE49-F238E27FC236}">
                <a16:creationId xmlns:a16="http://schemas.microsoft.com/office/drawing/2014/main" id="{1136DAFE-5458-439D-9DEE-ABEA65EA865B}"/>
              </a:ext>
            </a:extLst>
          </p:cNvPr>
          <p:cNvSpPr>
            <a:spLocks noGrp="1" noChangeArrowheads="1"/>
          </p:cNvSpPr>
          <p:nvPr>
            <p:ph idx="1"/>
          </p:nvPr>
        </p:nvSpPr>
        <p:spPr>
          <a:xfrm>
            <a:off x="536575" y="1067594"/>
            <a:ext cx="10363200" cy="2535825"/>
          </a:xfrm>
        </p:spPr>
        <p:txBody>
          <a:bodyPr>
            <a:noAutofit/>
          </a:bodyPr>
          <a:lstStyle/>
          <a:p>
            <a:pPr marL="0" indent="0">
              <a:buNone/>
            </a:pPr>
            <a:r>
              <a:rPr lang="zh-CN" altLang="en-US" dirty="0"/>
              <a:t>因事件</a:t>
            </a:r>
            <a:r>
              <a:rPr lang="en-US" altLang="zh-CN" dirty="0"/>
              <a:t>{</a:t>
            </a:r>
            <a:r>
              <a:rPr lang="zh-CN" altLang="en-US" dirty="0">
                <a:solidFill>
                  <a:srgbClr val="0000FF"/>
                </a:solidFill>
                <a:sym typeface="Symbol" panose="05050102010706020507" pitchFamily="18" charset="2"/>
              </a:rPr>
              <a:t></a:t>
            </a:r>
            <a:r>
              <a:rPr lang="en-US" altLang="zh-CN" baseline="-25000" dirty="0">
                <a:solidFill>
                  <a:srgbClr val="0000FF"/>
                </a:solidFill>
                <a:sym typeface="Symbol" panose="05050102010706020507" pitchFamily="18" charset="2"/>
              </a:rPr>
              <a:t>n </a:t>
            </a:r>
            <a:r>
              <a:rPr lang="en-US" altLang="zh-CN" dirty="0"/>
              <a:t>≤ t}</a:t>
            </a:r>
            <a:r>
              <a:rPr lang="zh-CN" altLang="en-US" dirty="0"/>
              <a:t>等价于事件</a:t>
            </a:r>
            <a:r>
              <a:rPr lang="en-US" altLang="zh-CN" dirty="0"/>
              <a:t>{N(t) ≥ n}</a:t>
            </a:r>
            <a:r>
              <a:rPr lang="zh-CN" altLang="en-US" dirty="0"/>
              <a:t>，故</a:t>
            </a:r>
            <a:r>
              <a:rPr lang="zh-CN" altLang="en-US" dirty="0">
                <a:solidFill>
                  <a:srgbClr val="0000FF"/>
                </a:solidFill>
                <a:sym typeface="Symbol" panose="05050102010706020507" pitchFamily="18" charset="2"/>
              </a:rPr>
              <a:t></a:t>
            </a:r>
            <a:r>
              <a:rPr lang="en-US" altLang="zh-CN" baseline="-25000" dirty="0">
                <a:solidFill>
                  <a:srgbClr val="0000FF"/>
                </a:solidFill>
                <a:sym typeface="Symbol" panose="05050102010706020507" pitchFamily="18" charset="2"/>
              </a:rPr>
              <a:t>n</a:t>
            </a:r>
            <a:r>
              <a:rPr lang="zh-CN" altLang="en-US" dirty="0"/>
              <a:t>的分布函数为</a:t>
            </a:r>
            <a:endParaRPr lang="en-US" altLang="zh-CN" dirty="0"/>
          </a:p>
          <a:p>
            <a:pPr marL="0" indent="0">
              <a:buNone/>
            </a:pPr>
            <a:endParaRPr lang="en-US" altLang="zh-CN" dirty="0"/>
          </a:p>
          <a:p>
            <a:pPr marL="0" indent="0">
              <a:buNone/>
            </a:pPr>
            <a:endParaRPr lang="en-US" altLang="zh-CN" dirty="0"/>
          </a:p>
          <a:p>
            <a:pPr marL="0" indent="0">
              <a:buNone/>
            </a:pPr>
            <a:r>
              <a:rPr lang="zh-CN" altLang="en-US" dirty="0"/>
              <a:t>于是</a:t>
            </a:r>
            <a:r>
              <a:rPr lang="zh-CN" altLang="en-US" dirty="0">
                <a:solidFill>
                  <a:srgbClr val="0000FF"/>
                </a:solidFill>
                <a:sym typeface="Symbol" panose="05050102010706020507" pitchFamily="18" charset="2"/>
              </a:rPr>
              <a:t></a:t>
            </a:r>
            <a:r>
              <a:rPr lang="en-US" altLang="zh-CN" baseline="-25000" dirty="0">
                <a:solidFill>
                  <a:srgbClr val="0000FF"/>
                </a:solidFill>
                <a:sym typeface="Symbol" panose="05050102010706020507" pitchFamily="18" charset="2"/>
              </a:rPr>
              <a:t>n</a:t>
            </a:r>
            <a:r>
              <a:rPr lang="zh-CN" altLang="en-US" dirty="0"/>
              <a:t>的概率密度</a:t>
            </a:r>
          </a:p>
        </p:txBody>
      </p:sp>
      <p:graphicFrame>
        <p:nvGraphicFramePr>
          <p:cNvPr id="7" name="Object 15">
            <a:extLst>
              <a:ext uri="{FF2B5EF4-FFF2-40B4-BE49-F238E27FC236}">
                <a16:creationId xmlns:a16="http://schemas.microsoft.com/office/drawing/2014/main" id="{5C3BEFA8-231A-47F0-238A-D165F30C8878}"/>
              </a:ext>
            </a:extLst>
          </p:cNvPr>
          <p:cNvGraphicFramePr>
            <a:graphicFrameLocks noChangeAspect="1"/>
          </p:cNvGraphicFramePr>
          <p:nvPr>
            <p:extLst>
              <p:ext uri="{D42A27DB-BD31-4B8C-83A1-F6EECF244321}">
                <p14:modId xmlns:p14="http://schemas.microsoft.com/office/powerpoint/2010/main" val="1846694140"/>
              </p:ext>
            </p:extLst>
          </p:nvPr>
        </p:nvGraphicFramePr>
        <p:xfrm>
          <a:off x="615969" y="1753394"/>
          <a:ext cx="7561425" cy="990829"/>
        </p:xfrm>
        <a:graphic>
          <a:graphicData uri="http://schemas.openxmlformats.org/presentationml/2006/ole">
            <mc:AlternateContent xmlns:mc="http://schemas.openxmlformats.org/markup-compatibility/2006">
              <mc:Choice xmlns:v="urn:schemas-microsoft-com:vml" Requires="v">
                <p:oleObj name="Equation" r:id="rId2" imgW="3327400" imgH="444500" progId="Equation.DSMT4">
                  <p:embed/>
                </p:oleObj>
              </mc:Choice>
              <mc:Fallback>
                <p:oleObj name="Equation" r:id="rId2" imgW="3327400" imgH="444500" progId="Equation.DSMT4">
                  <p:embed/>
                  <p:pic>
                    <p:nvPicPr>
                      <p:cNvPr id="7" name="Object 15">
                        <a:extLst>
                          <a:ext uri="{FF2B5EF4-FFF2-40B4-BE49-F238E27FC236}">
                            <a16:creationId xmlns:a16="http://schemas.microsoft.com/office/drawing/2014/main" id="{5C3BEFA8-231A-47F0-238A-D165F30C8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969" y="1753394"/>
                        <a:ext cx="7561425" cy="990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5">
            <a:extLst>
              <a:ext uri="{FF2B5EF4-FFF2-40B4-BE49-F238E27FC236}">
                <a16:creationId xmlns:a16="http://schemas.microsoft.com/office/drawing/2014/main" id="{2005DD38-FF2C-F16A-2E32-BD47DA7BBFD1}"/>
              </a:ext>
            </a:extLst>
          </p:cNvPr>
          <p:cNvGraphicFramePr>
            <a:graphicFrameLocks noChangeAspect="1"/>
          </p:cNvGraphicFramePr>
          <p:nvPr>
            <p:extLst>
              <p:ext uri="{D42A27DB-BD31-4B8C-83A1-F6EECF244321}">
                <p14:modId xmlns:p14="http://schemas.microsoft.com/office/powerpoint/2010/main" val="1947367222"/>
              </p:ext>
            </p:extLst>
          </p:nvPr>
        </p:nvGraphicFramePr>
        <p:xfrm>
          <a:off x="612794" y="3714570"/>
          <a:ext cx="6811951" cy="990829"/>
        </p:xfrm>
        <a:graphic>
          <a:graphicData uri="http://schemas.openxmlformats.org/presentationml/2006/ole">
            <mc:AlternateContent xmlns:mc="http://schemas.openxmlformats.org/markup-compatibility/2006">
              <mc:Choice xmlns:v="urn:schemas-microsoft-com:vml" Requires="v">
                <p:oleObj name="Equation" r:id="rId4" imgW="2997200" imgH="444500" progId="Equation.DSMT4">
                  <p:embed/>
                </p:oleObj>
              </mc:Choice>
              <mc:Fallback>
                <p:oleObj name="Equation" r:id="rId4" imgW="2997200" imgH="444500" progId="Equation.DSMT4">
                  <p:embed/>
                  <p:pic>
                    <p:nvPicPr>
                      <p:cNvPr id="8" name="Object 15">
                        <a:extLst>
                          <a:ext uri="{FF2B5EF4-FFF2-40B4-BE49-F238E27FC236}">
                            <a16:creationId xmlns:a16="http://schemas.microsoft.com/office/drawing/2014/main" id="{2005DD38-FF2C-F16A-2E32-BD47DA7BBF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794" y="3714570"/>
                        <a:ext cx="6811951" cy="990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5">
            <a:extLst>
              <a:ext uri="{FF2B5EF4-FFF2-40B4-BE49-F238E27FC236}">
                <a16:creationId xmlns:a16="http://schemas.microsoft.com/office/drawing/2014/main" id="{DAF5AF5E-EA30-AD01-FADE-3A33FC8D07E9}"/>
              </a:ext>
            </a:extLst>
          </p:cNvPr>
          <p:cNvGraphicFramePr>
            <a:graphicFrameLocks noChangeAspect="1"/>
          </p:cNvGraphicFramePr>
          <p:nvPr>
            <p:extLst>
              <p:ext uri="{D42A27DB-BD31-4B8C-83A1-F6EECF244321}">
                <p14:modId xmlns:p14="http://schemas.microsoft.com/office/powerpoint/2010/main" val="1291387777"/>
              </p:ext>
            </p:extLst>
          </p:nvPr>
        </p:nvGraphicFramePr>
        <p:xfrm>
          <a:off x="798574" y="5010269"/>
          <a:ext cx="7561425" cy="990829"/>
        </p:xfrm>
        <a:graphic>
          <a:graphicData uri="http://schemas.openxmlformats.org/presentationml/2006/ole">
            <mc:AlternateContent xmlns:mc="http://schemas.openxmlformats.org/markup-compatibility/2006">
              <mc:Choice xmlns:v="urn:schemas-microsoft-com:vml" Requires="v">
                <p:oleObj name="Equation" r:id="rId6" imgW="3327400" imgH="444500" progId="Equation.DSMT4">
                  <p:embed/>
                </p:oleObj>
              </mc:Choice>
              <mc:Fallback>
                <p:oleObj name="Equation" r:id="rId6" imgW="3327400" imgH="444500" progId="Equation.DSMT4">
                  <p:embed/>
                  <p:pic>
                    <p:nvPicPr>
                      <p:cNvPr id="9" name="Object 15">
                        <a:extLst>
                          <a:ext uri="{FF2B5EF4-FFF2-40B4-BE49-F238E27FC236}">
                            <a16:creationId xmlns:a16="http://schemas.microsoft.com/office/drawing/2014/main" id="{DAF5AF5E-EA30-AD01-FADE-3A33FC8D07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8574" y="5010269"/>
                        <a:ext cx="7561425" cy="990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627">
                                            <p:txEl>
                                              <p:pRg st="3" end="3"/>
                                            </p:txEl>
                                          </p:spTgt>
                                        </p:tgtEl>
                                        <p:attrNameLst>
                                          <p:attrName>style.visibility</p:attrName>
                                        </p:attrNameLst>
                                      </p:cBhvr>
                                      <p:to>
                                        <p:strVal val="visible"/>
                                      </p:to>
                                    </p:set>
                                    <p:anim calcmode="lin" valueType="num">
                                      <p:cBhvr additive="base">
                                        <p:cTn id="19"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F0B4C738-8DB6-40E0-F77F-3A30A19F089E}"/>
              </a:ext>
            </a:extLst>
          </p:cNvPr>
          <p:cNvSpPr>
            <a:spLocks noGrp="1" noChangeArrowheads="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2DC3F7F0-4F29-4C0E-BA50-44ECD30CFCC3}"/>
              </a:ext>
            </a:extLst>
          </p:cNvPr>
          <p:cNvSpPr>
            <a:spLocks noGrp="1"/>
          </p:cNvSpPr>
          <p:nvPr>
            <p:ph idx="1"/>
          </p:nvPr>
        </p:nvSpPr>
        <p:spPr>
          <a:xfrm>
            <a:off x="838111" y="2129859"/>
            <a:ext cx="5032464" cy="4217376"/>
          </a:xfrm>
        </p:spPr>
        <p:txBody>
          <a:bodyPr>
            <a:normAutofit/>
          </a:bodyPr>
          <a:lstStyle/>
          <a:p>
            <a:pPr marL="0" indent="0">
              <a:lnSpc>
                <a:spcPct val="200000"/>
              </a:lnSpc>
              <a:buNone/>
              <a:defRPr/>
            </a:pPr>
            <a:r>
              <a:rPr lang="zh-CN" altLang="en-US" dirty="0"/>
              <a:t>当</a:t>
            </a:r>
            <a:r>
              <a:rPr lang="en-US" altLang="zh-CN" dirty="0"/>
              <a:t>t &lt; 0</a:t>
            </a:r>
            <a:r>
              <a:rPr lang="zh-CN" altLang="en-US" dirty="0"/>
              <a:t>时，</a:t>
            </a:r>
            <a:r>
              <a:rPr lang="en-US" altLang="zh-CN" dirty="0"/>
              <a:t>f(t) = 0</a:t>
            </a:r>
            <a:r>
              <a:rPr lang="zh-CN" altLang="en-US" dirty="0"/>
              <a:t>，</a:t>
            </a:r>
            <a:endParaRPr lang="en-US" altLang="zh-CN" dirty="0"/>
          </a:p>
          <a:p>
            <a:pPr marL="0" indent="0">
              <a:lnSpc>
                <a:spcPct val="200000"/>
              </a:lnSpc>
              <a:spcBef>
                <a:spcPts val="3600"/>
              </a:spcBef>
              <a:spcAft>
                <a:spcPts val="2400"/>
              </a:spcAft>
              <a:buNone/>
              <a:defRPr/>
            </a:pPr>
            <a:r>
              <a:rPr lang="zh-CN" altLang="en-US" dirty="0"/>
              <a:t>故</a:t>
            </a:r>
            <a:endParaRPr lang="en-US" altLang="zh-CN" dirty="0"/>
          </a:p>
          <a:p>
            <a:pPr marL="0" indent="0" algn="just">
              <a:lnSpc>
                <a:spcPct val="200000"/>
              </a:lnSpc>
              <a:buNone/>
              <a:defRPr/>
            </a:pPr>
            <a:endParaRPr lang="en-US" altLang="zh-CN" dirty="0">
              <a:sym typeface="Symbol" panose="05050102010706020507" pitchFamily="18" charset="2"/>
            </a:endParaRPr>
          </a:p>
          <a:p>
            <a:pPr marL="0" indent="0" algn="just">
              <a:lnSpc>
                <a:spcPct val="200000"/>
              </a:lnSpc>
              <a:buNone/>
              <a:defRPr/>
            </a:pPr>
            <a:r>
              <a:rPr lang="zh-CN" altLang="en-US" dirty="0">
                <a:sym typeface="Symbol" panose="05050102010706020507" pitchFamily="18" charset="2"/>
              </a:rPr>
              <a:t>则</a:t>
            </a:r>
            <a:r>
              <a:rPr lang="en-US" altLang="zh-CN" baseline="-25000" dirty="0">
                <a:sym typeface="Symbol" panose="05050102010706020507" pitchFamily="18" charset="2"/>
              </a:rPr>
              <a:t>n</a:t>
            </a:r>
            <a:r>
              <a:rPr lang="zh-CN" altLang="en-US" dirty="0">
                <a:sym typeface="Symbol" panose="05050102010706020507" pitchFamily="18" charset="2"/>
              </a:rPr>
              <a:t>～</a:t>
            </a:r>
            <a:r>
              <a:rPr lang="en-US" altLang="zh-CN" dirty="0">
                <a:sym typeface="Symbol" panose="05050102010706020507" pitchFamily="18" charset="2"/>
              </a:rPr>
              <a:t>(n, )</a:t>
            </a:r>
            <a:r>
              <a:rPr lang="zh-CN" altLang="en-US" dirty="0">
                <a:sym typeface="Symbol" panose="05050102010706020507" pitchFamily="18" charset="2"/>
              </a:rPr>
              <a:t>，</a:t>
            </a:r>
            <a:r>
              <a:rPr lang="zh-CN" altLang="en-US" kern="1200" dirty="0"/>
              <a:t>即</a:t>
            </a:r>
            <a:r>
              <a:rPr lang="en-US" altLang="zh-CN" kern="1200" dirty="0"/>
              <a:t>n</a:t>
            </a:r>
            <a:r>
              <a:rPr lang="zh-CN" altLang="en-US" kern="1200" dirty="0"/>
              <a:t>阶爱而朗分布。</a:t>
            </a:r>
            <a:endParaRPr lang="en-US" altLang="zh-CN" kern="1200" dirty="0"/>
          </a:p>
        </p:txBody>
      </p:sp>
      <p:graphicFrame>
        <p:nvGraphicFramePr>
          <p:cNvPr id="7" name="Object 4">
            <a:extLst>
              <a:ext uri="{FF2B5EF4-FFF2-40B4-BE49-F238E27FC236}">
                <a16:creationId xmlns:a16="http://schemas.microsoft.com/office/drawing/2014/main" id="{C2E89BBB-97A8-255C-8575-FB5856CF1686}"/>
              </a:ext>
            </a:extLst>
          </p:cNvPr>
          <p:cNvGraphicFramePr>
            <a:graphicFrameLocks noChangeAspect="1"/>
          </p:cNvGraphicFramePr>
          <p:nvPr>
            <p:extLst>
              <p:ext uri="{D42A27DB-BD31-4B8C-83A1-F6EECF244321}">
                <p14:modId xmlns:p14="http://schemas.microsoft.com/office/powerpoint/2010/main" val="2678629916"/>
              </p:ext>
            </p:extLst>
          </p:nvPr>
        </p:nvGraphicFramePr>
        <p:xfrm>
          <a:off x="1450975" y="3114000"/>
          <a:ext cx="3709987" cy="1515948"/>
        </p:xfrm>
        <a:graphic>
          <a:graphicData uri="http://schemas.openxmlformats.org/presentationml/2006/ole">
            <mc:AlternateContent xmlns:mc="http://schemas.openxmlformats.org/markup-compatibility/2006">
              <mc:Choice xmlns:v="urn:schemas-microsoft-com:vml" Requires="v">
                <p:oleObj name="Equation" r:id="rId2" imgW="1803240" imgH="711000" progId="Equation.DSMT4">
                  <p:embed/>
                </p:oleObj>
              </mc:Choice>
              <mc:Fallback>
                <p:oleObj name="Equation" r:id="rId2" imgW="1803240" imgH="711000" progId="Equation.DSMT4">
                  <p:embed/>
                  <p:pic>
                    <p:nvPicPr>
                      <p:cNvPr id="7" name="Object 4">
                        <a:extLst>
                          <a:ext uri="{FF2B5EF4-FFF2-40B4-BE49-F238E27FC236}">
                            <a16:creationId xmlns:a16="http://schemas.microsoft.com/office/drawing/2014/main" id="{C2E89BBB-97A8-255C-8575-FB5856CF1686}"/>
                          </a:ext>
                        </a:extLst>
                      </p:cNvPr>
                      <p:cNvPicPr>
                        <a:picLocks noChangeAspect="1" noChangeArrowheads="1"/>
                      </p:cNvPicPr>
                      <p:nvPr/>
                    </p:nvPicPr>
                    <p:blipFill>
                      <a:blip r:embed="rId3"/>
                      <a:srcRect/>
                      <a:stretch>
                        <a:fillRect/>
                      </a:stretch>
                    </p:blipFill>
                    <p:spPr bwMode="auto">
                      <a:xfrm>
                        <a:off x="1450975" y="3114000"/>
                        <a:ext cx="3709987" cy="1515948"/>
                      </a:xfrm>
                      <a:prstGeom prst="rect">
                        <a:avLst/>
                      </a:prstGeom>
                      <a:noFill/>
                      <a:ln>
                        <a:noFill/>
                      </a:ln>
                      <a:effectLst/>
                    </p:spPr>
                  </p:pic>
                </p:oleObj>
              </mc:Fallback>
            </mc:AlternateContent>
          </a:graphicData>
        </a:graphic>
      </p:graphicFrame>
      <p:graphicFrame>
        <p:nvGraphicFramePr>
          <p:cNvPr id="8" name="Object 15">
            <a:extLst>
              <a:ext uri="{FF2B5EF4-FFF2-40B4-BE49-F238E27FC236}">
                <a16:creationId xmlns:a16="http://schemas.microsoft.com/office/drawing/2014/main" id="{783E0AFE-F22A-9B5A-8FC1-49B6A7CA61CB}"/>
              </a:ext>
            </a:extLst>
          </p:cNvPr>
          <p:cNvGraphicFramePr>
            <a:graphicFrameLocks noChangeAspect="1"/>
          </p:cNvGraphicFramePr>
          <p:nvPr>
            <p:extLst>
              <p:ext uri="{D42A27DB-BD31-4B8C-83A1-F6EECF244321}">
                <p14:modId xmlns:p14="http://schemas.microsoft.com/office/powerpoint/2010/main" val="3846232371"/>
              </p:ext>
            </p:extLst>
          </p:nvPr>
        </p:nvGraphicFramePr>
        <p:xfrm>
          <a:off x="1222375" y="1143794"/>
          <a:ext cx="3405976" cy="989241"/>
        </p:xfrm>
        <a:graphic>
          <a:graphicData uri="http://schemas.openxmlformats.org/presentationml/2006/ole">
            <mc:AlternateContent xmlns:mc="http://schemas.openxmlformats.org/markup-compatibility/2006">
              <mc:Choice xmlns:v="urn:schemas-microsoft-com:vml" Requires="v">
                <p:oleObj name="Equation" r:id="rId4" imgW="1497950" imgH="444307" progId="Equation.DSMT4">
                  <p:embed/>
                </p:oleObj>
              </mc:Choice>
              <mc:Fallback>
                <p:oleObj name="Equation" r:id="rId4" imgW="1497950" imgH="444307" progId="Equation.DSMT4">
                  <p:embed/>
                  <p:pic>
                    <p:nvPicPr>
                      <p:cNvPr id="8" name="Object 15">
                        <a:extLst>
                          <a:ext uri="{FF2B5EF4-FFF2-40B4-BE49-F238E27FC236}">
                            <a16:creationId xmlns:a16="http://schemas.microsoft.com/office/drawing/2014/main" id="{783E0AFE-F22A-9B5A-8FC1-49B6A7CA61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2375" y="1143794"/>
                        <a:ext cx="3405976" cy="989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内容占位符 2">
            <a:extLst>
              <a:ext uri="{FF2B5EF4-FFF2-40B4-BE49-F238E27FC236}">
                <a16:creationId xmlns:a16="http://schemas.microsoft.com/office/drawing/2014/main" id="{9C5EDD63-BD4B-FDCC-354B-BE61437801E4}"/>
              </a:ext>
            </a:extLst>
          </p:cNvPr>
          <p:cNvSpPr txBox="1">
            <a:spLocks/>
          </p:cNvSpPr>
          <p:nvPr/>
        </p:nvSpPr>
        <p:spPr>
          <a:xfrm>
            <a:off x="5678593" y="915194"/>
            <a:ext cx="6364182" cy="2895600"/>
          </a:xfrm>
          <a:prstGeom prst="rect">
            <a:avLst/>
          </a:prstGeom>
          <a:solidFill>
            <a:schemeClr val="accent3">
              <a:lumMod val="40000"/>
              <a:lumOff val="60000"/>
            </a:schemeClr>
          </a:solidFill>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defRPr/>
            </a:pPr>
            <a:r>
              <a:rPr lang="zh-CN" altLang="en-US" dirty="0"/>
              <a:t>例：假设每天人们以速率为</a:t>
            </a:r>
            <a:r>
              <a:rPr lang="en-US" altLang="zh-CN" dirty="0">
                <a:sym typeface="Symbol" panose="05050102010706020507" pitchFamily="18" charset="2"/>
              </a:rPr>
              <a:t>=1</a:t>
            </a:r>
            <a:r>
              <a:rPr lang="zh-CN" altLang="en-US" dirty="0">
                <a:sym typeface="Symbol" panose="05050102010706020507" pitchFamily="18" charset="2"/>
              </a:rPr>
              <a:t>泊松分布移民进入某个领土。</a:t>
            </a:r>
            <a:endParaRPr lang="en-US" altLang="zh-CN" dirty="0">
              <a:sym typeface="Symbol" panose="05050102010706020507" pitchFamily="18" charset="2"/>
            </a:endParaRPr>
          </a:p>
          <a:p>
            <a:pPr marL="0" indent="0">
              <a:buNone/>
              <a:defRPr/>
            </a:pPr>
            <a:r>
              <a:rPr lang="en-US" altLang="zh-CN" dirty="0"/>
              <a:t>(a) </a:t>
            </a:r>
            <a:r>
              <a:rPr lang="zh-CN" altLang="en-US" dirty="0"/>
              <a:t>直到第</a:t>
            </a:r>
            <a:r>
              <a:rPr lang="en-US" altLang="zh-CN" dirty="0"/>
              <a:t>10</a:t>
            </a:r>
            <a:r>
              <a:rPr lang="zh-CN" altLang="en-US" dirty="0"/>
              <a:t>个移民到达的时间的期望是多少？</a:t>
            </a:r>
            <a:r>
              <a:rPr lang="en-US" altLang="zh-CN" dirty="0"/>
              <a:t>(b)</a:t>
            </a:r>
            <a:r>
              <a:rPr lang="zh-CN" altLang="en-US" dirty="0"/>
              <a:t>第</a:t>
            </a:r>
            <a:r>
              <a:rPr lang="en-US" altLang="zh-CN" dirty="0"/>
              <a:t>10</a:t>
            </a:r>
            <a:r>
              <a:rPr lang="zh-CN" altLang="en-US" dirty="0"/>
              <a:t>个移民到达和第</a:t>
            </a:r>
            <a:r>
              <a:rPr lang="en-US" altLang="zh-CN" dirty="0"/>
              <a:t>11</a:t>
            </a:r>
            <a:r>
              <a:rPr lang="zh-CN" altLang="en-US" dirty="0"/>
              <a:t>个移民到达之间的时间超过</a:t>
            </a:r>
            <a:r>
              <a:rPr lang="en-US" altLang="zh-CN" dirty="0"/>
              <a:t>2</a:t>
            </a:r>
            <a:r>
              <a:rPr lang="zh-CN" altLang="en-US" dirty="0"/>
              <a:t>天的概率是多少？</a:t>
            </a:r>
            <a:endParaRPr lang="en-US" altLang="zh-CN" dirty="0"/>
          </a:p>
        </p:txBody>
      </p:sp>
      <p:sp>
        <p:nvSpPr>
          <p:cNvPr id="4" name="内容占位符 2">
            <a:extLst>
              <a:ext uri="{FF2B5EF4-FFF2-40B4-BE49-F238E27FC236}">
                <a16:creationId xmlns:a16="http://schemas.microsoft.com/office/drawing/2014/main" id="{3F91C7B9-D2A6-16E3-A3BE-92D6FA45F57A}"/>
              </a:ext>
            </a:extLst>
          </p:cNvPr>
          <p:cNvSpPr txBox="1">
            <a:spLocks/>
          </p:cNvSpPr>
          <p:nvPr/>
        </p:nvSpPr>
        <p:spPr>
          <a:xfrm>
            <a:off x="5678593" y="3963501"/>
            <a:ext cx="6364182" cy="1980893"/>
          </a:xfrm>
          <a:prstGeom prst="rect">
            <a:avLst/>
          </a:prstGeom>
          <a:solidFill>
            <a:schemeClr val="accent3">
              <a:lumMod val="40000"/>
              <a:lumOff val="60000"/>
            </a:schemeClr>
          </a:solidFill>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defRPr/>
            </a:pPr>
            <a:r>
              <a:rPr lang="zh-CN" altLang="en-US" dirty="0">
                <a:solidFill>
                  <a:srgbClr val="FF0000"/>
                </a:solidFill>
              </a:rPr>
              <a:t>解</a:t>
            </a:r>
            <a:r>
              <a:rPr lang="zh-CN" altLang="en-US" dirty="0"/>
              <a:t>：</a:t>
            </a:r>
            <a:endParaRPr lang="en-US" altLang="zh-CN" dirty="0"/>
          </a:p>
          <a:p>
            <a:pPr marL="0" indent="0">
              <a:buNone/>
              <a:defRPr/>
            </a:pPr>
            <a:r>
              <a:rPr lang="en-US" altLang="zh-CN" dirty="0"/>
              <a:t>(a) E(T</a:t>
            </a:r>
            <a:r>
              <a:rPr lang="en-US" altLang="zh-CN" baseline="-25000" dirty="0"/>
              <a:t>10</a:t>
            </a:r>
            <a:r>
              <a:rPr lang="en-US" altLang="zh-CN" dirty="0"/>
              <a:t>)=10*1/</a:t>
            </a:r>
            <a:r>
              <a:rPr lang="en-US" altLang="zh-CN" dirty="0">
                <a:sym typeface="Symbol" panose="05050102010706020507" pitchFamily="18" charset="2"/>
              </a:rPr>
              <a:t> =10</a:t>
            </a:r>
          </a:p>
          <a:p>
            <a:pPr marL="0" indent="0">
              <a:buNone/>
              <a:defRPr/>
            </a:pPr>
            <a:r>
              <a:rPr lang="en-US" altLang="zh-CN" dirty="0">
                <a:sym typeface="Symbol" panose="05050102010706020507" pitchFamily="18" charset="2"/>
              </a:rPr>
              <a:t>(b) P{T</a:t>
            </a:r>
            <a:r>
              <a:rPr lang="en-US" altLang="zh-CN" baseline="-25000" dirty="0">
                <a:sym typeface="Symbol" panose="05050102010706020507" pitchFamily="18" charset="2"/>
              </a:rPr>
              <a:t>11</a:t>
            </a:r>
            <a:r>
              <a:rPr lang="en-US" altLang="zh-CN" dirty="0">
                <a:sym typeface="Symbol" panose="05050102010706020507" pitchFamily="18" charset="2"/>
              </a:rPr>
              <a:t>&gt;2}=e</a:t>
            </a:r>
            <a:r>
              <a:rPr lang="en-US" altLang="zh-CN" baseline="30000" dirty="0">
                <a:sym typeface="Symbol" panose="05050102010706020507" pitchFamily="18" charset="2"/>
              </a:rPr>
              <a:t>-2</a:t>
            </a:r>
            <a:r>
              <a:rPr lang="en-US" altLang="zh-CN" dirty="0">
                <a:sym typeface="Symbol" panose="05050102010706020507" pitchFamily="18" charset="2"/>
              </a:rPr>
              <a:t>= e</a:t>
            </a:r>
            <a:r>
              <a:rPr lang="en-US" altLang="zh-CN" baseline="30000" dirty="0">
                <a:sym typeface="Symbol" panose="05050102010706020507" pitchFamily="18" charset="2"/>
              </a:rPr>
              <a:t>-2</a:t>
            </a:r>
            <a:r>
              <a:rPr lang="en-US" altLang="zh-CN" dirty="0">
                <a:sym typeface="Symbol" panose="05050102010706020507" pitchFamily="18" charset="2"/>
              </a:rPr>
              <a:t>≈0.135</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
                                            <p:txEl>
                                              <p:pRg st="0" end="0"/>
                                            </p:txEl>
                                          </p:spTgt>
                                        </p:tgtEl>
                                        <p:attrNameLst>
                                          <p:attrName>style.visibility</p:attrName>
                                        </p:attrNameLst>
                                      </p:cBhvr>
                                      <p:to>
                                        <p:strVal val="visible"/>
                                      </p:to>
                                    </p:set>
                                    <p:anim calcmode="lin" valueType="num">
                                      <p:cBhvr additive="base">
                                        <p:cTn id="35"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
                                            <p:txEl>
                                              <p:pRg st="1" end="1"/>
                                            </p:txEl>
                                          </p:spTgt>
                                        </p:tgtEl>
                                        <p:attrNameLst>
                                          <p:attrName>style.visibility</p:attrName>
                                        </p:attrNameLst>
                                      </p:cBhvr>
                                      <p:to>
                                        <p:strVal val="visible"/>
                                      </p:to>
                                    </p:set>
                                    <p:anim calcmode="lin" valueType="num">
                                      <p:cBhvr additive="base">
                                        <p:cTn id="4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bg/>
                                          </p:spTgt>
                                        </p:tgtEl>
                                        <p:attrNameLst>
                                          <p:attrName>style.visibility</p:attrName>
                                        </p:attrNameLst>
                                      </p:cBhvr>
                                      <p:to>
                                        <p:strVal val="visible"/>
                                      </p:to>
                                    </p:set>
                                    <p:anim calcmode="lin" valueType="num">
                                      <p:cBhvr additive="base">
                                        <p:cTn id="4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48"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txEl>
                                              <p:pRg st="0" end="0"/>
                                            </p:txEl>
                                          </p:spTgt>
                                        </p:tgtEl>
                                        <p:attrNameLst>
                                          <p:attrName>style.visibility</p:attrName>
                                        </p:attrNameLst>
                                      </p:cBhvr>
                                      <p:to>
                                        <p:strVal val="visible"/>
                                      </p:to>
                                    </p:set>
                                    <p:anim calcmode="lin" valueType="num">
                                      <p:cBhvr additive="base">
                                        <p:cTn id="5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
                                            <p:txEl>
                                              <p:pRg st="1" end="1"/>
                                            </p:txEl>
                                          </p:spTgt>
                                        </p:tgtEl>
                                        <p:attrNameLst>
                                          <p:attrName>style.visibility</p:attrName>
                                        </p:attrNameLst>
                                      </p:cBhvr>
                                      <p:to>
                                        <p:strVal val="visible"/>
                                      </p:to>
                                    </p:set>
                                    <p:anim calcmode="lin" valueType="num">
                                      <p:cBhvr additive="base">
                                        <p:cTn id="5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4">
                                            <p:txEl>
                                              <p:pRg st="2" end="2"/>
                                            </p:txEl>
                                          </p:spTgt>
                                        </p:tgtEl>
                                        <p:attrNameLst>
                                          <p:attrName>style.visibility</p:attrName>
                                        </p:attrNameLst>
                                      </p:cBhvr>
                                      <p:to>
                                        <p:strVal val="visible"/>
                                      </p:to>
                                    </p:set>
                                    <p:anim calcmode="lin" valueType="num">
                                      <p:cBhvr additive="base">
                                        <p:cTn id="6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build="p"/>
      <p:bldP spid="4"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0E0C10F-77A2-DD0A-3AFE-68F6A3ADE69F}"/>
              </a:ext>
            </a:extLst>
          </p:cNvPr>
          <p:cNvSpPr>
            <a:spLocks noGrp="1" noChangeArrowheads="1"/>
          </p:cNvSpPr>
          <p:nvPr>
            <p:ph type="title"/>
          </p:nvPr>
        </p:nvSpPr>
        <p:spPr>
          <a:xfrm>
            <a:off x="917575" y="229394"/>
            <a:ext cx="7469329" cy="732007"/>
          </a:xfrm>
        </p:spPr>
        <p:txBody>
          <a:bodyPr/>
          <a:lstStyle/>
          <a:p>
            <a:pPr eaLnBrk="1" hangingPunct="1"/>
            <a:r>
              <a:rPr lang="zh-CN" altLang="en-US" dirty="0"/>
              <a:t>非齐次泊松过程</a:t>
            </a:r>
          </a:p>
        </p:txBody>
      </p:sp>
      <p:sp>
        <p:nvSpPr>
          <p:cNvPr id="301060" name="Rectangle 4">
            <a:extLst>
              <a:ext uri="{FF2B5EF4-FFF2-40B4-BE49-F238E27FC236}">
                <a16:creationId xmlns:a16="http://schemas.microsoft.com/office/drawing/2014/main" id="{C7BE5AD2-B409-41FD-99ED-096590D64D2E}"/>
              </a:ext>
            </a:extLst>
          </p:cNvPr>
          <p:cNvSpPr>
            <a:spLocks noGrp="1" noChangeArrowheads="1"/>
          </p:cNvSpPr>
          <p:nvPr>
            <p:ph idx="1"/>
          </p:nvPr>
        </p:nvSpPr>
        <p:spPr>
          <a:xfrm>
            <a:off x="460375" y="1143265"/>
            <a:ext cx="11125199" cy="4944619"/>
          </a:xfrm>
        </p:spPr>
        <p:txBody>
          <a:bodyPr/>
          <a:lstStyle/>
          <a:p>
            <a:pPr marL="0" indent="720144">
              <a:spcBef>
                <a:spcPts val="600"/>
              </a:spcBef>
              <a:buNone/>
              <a:defRPr/>
            </a:pPr>
            <a:r>
              <a:rPr lang="zh-CN" altLang="en-US" dirty="0"/>
              <a:t>如果计数过程</a:t>
            </a:r>
            <a:r>
              <a:rPr lang="en-US" altLang="zh-CN" dirty="0">
                <a:sym typeface="Symbol" panose="05050102010706020507" pitchFamily="18" charset="2"/>
              </a:rPr>
              <a:t>{N(t), t0}</a:t>
            </a:r>
            <a:r>
              <a:rPr lang="zh-CN" altLang="en-US" dirty="0">
                <a:sym typeface="Symbol" panose="05050102010706020507" pitchFamily="18" charset="2"/>
              </a:rPr>
              <a:t>满足下列条件：</a:t>
            </a:r>
          </a:p>
          <a:p>
            <a:pPr marL="720144" lvl="2" indent="0">
              <a:spcBef>
                <a:spcPts val="600"/>
              </a:spcBef>
              <a:buClr>
                <a:srgbClr val="6600CC"/>
              </a:buClr>
              <a:buFont typeface="Wingdings" panose="05000000000000000000" pitchFamily="2" charset="2"/>
              <a:buAutoNum type="alphaLcParenR"/>
              <a:defRPr/>
            </a:pPr>
            <a:r>
              <a:rPr lang="en-US" altLang="zh-CN" sz="2801" dirty="0">
                <a:sym typeface="Symbol" panose="05050102010706020507" pitchFamily="18" charset="2"/>
              </a:rPr>
              <a:t>N(0)</a:t>
            </a:r>
            <a:r>
              <a:rPr lang="zh-CN" altLang="en-US" sz="2801" dirty="0">
                <a:sym typeface="Symbol" panose="05050102010706020507" pitchFamily="18" charset="2"/>
              </a:rPr>
              <a:t>＝</a:t>
            </a:r>
            <a:r>
              <a:rPr lang="en-US" altLang="zh-CN" sz="2801" dirty="0">
                <a:sym typeface="Symbol" panose="05050102010706020507" pitchFamily="18" charset="2"/>
              </a:rPr>
              <a:t>0</a:t>
            </a:r>
            <a:r>
              <a:rPr lang="zh-CN" altLang="en-US" sz="2801" dirty="0">
                <a:sym typeface="Symbol" panose="05050102010706020507" pitchFamily="18" charset="2"/>
              </a:rPr>
              <a:t>；</a:t>
            </a:r>
          </a:p>
          <a:p>
            <a:pPr marL="720144" lvl="2" indent="0">
              <a:spcBef>
                <a:spcPts val="600"/>
              </a:spcBef>
              <a:buClr>
                <a:srgbClr val="6600CC"/>
              </a:buClr>
              <a:buFont typeface="Wingdings" panose="05000000000000000000" pitchFamily="2" charset="2"/>
              <a:buAutoNum type="alphaLcParenR"/>
              <a:defRPr/>
            </a:pPr>
            <a:r>
              <a:rPr lang="en-US" altLang="zh-CN" sz="2801" dirty="0">
                <a:sym typeface="Symbol" panose="05050102010706020507" pitchFamily="18" charset="2"/>
              </a:rPr>
              <a:t>{N(t), t0}</a:t>
            </a:r>
            <a:r>
              <a:rPr lang="zh-CN" altLang="en-US" sz="2801" dirty="0">
                <a:sym typeface="Symbol" panose="05050102010706020507" pitchFamily="18" charset="2"/>
              </a:rPr>
              <a:t>是独立增量过程；</a:t>
            </a:r>
          </a:p>
          <a:p>
            <a:pPr marL="720144" lvl="2" indent="0">
              <a:spcBef>
                <a:spcPts val="600"/>
              </a:spcBef>
              <a:buClr>
                <a:srgbClr val="6600CC"/>
              </a:buClr>
              <a:buFont typeface="Wingdings" panose="05000000000000000000" pitchFamily="2" charset="2"/>
              <a:buAutoNum type="alphaLcParenR"/>
              <a:defRPr/>
            </a:pPr>
            <a:r>
              <a:rPr lang="en-US" altLang="zh-CN" sz="2801" dirty="0">
                <a:sym typeface="Symbol" panose="05050102010706020507" pitchFamily="18" charset="2"/>
              </a:rPr>
              <a:t>P{N(t+t)-N(t)=1}</a:t>
            </a:r>
            <a:r>
              <a:rPr lang="zh-CN" altLang="en-US" sz="2801" dirty="0">
                <a:sym typeface="Symbol" panose="05050102010706020507" pitchFamily="18" charset="2"/>
              </a:rPr>
              <a:t>＝</a:t>
            </a:r>
            <a:r>
              <a:rPr lang="en-US" altLang="zh-CN" sz="2801" dirty="0">
                <a:sym typeface="Symbol" panose="05050102010706020507" pitchFamily="18" charset="2"/>
              </a:rPr>
              <a:t>(t)t+0(t)</a:t>
            </a:r>
            <a:r>
              <a:rPr lang="zh-CN" altLang="en-US" sz="2801" dirty="0">
                <a:sym typeface="Symbol" panose="05050102010706020507" pitchFamily="18" charset="2"/>
              </a:rPr>
              <a:t>；</a:t>
            </a:r>
          </a:p>
          <a:p>
            <a:pPr marL="720144" lvl="2" indent="0">
              <a:spcBef>
                <a:spcPts val="600"/>
              </a:spcBef>
              <a:buClr>
                <a:srgbClr val="6600CC"/>
              </a:buClr>
              <a:buFont typeface="Wingdings" panose="05000000000000000000" pitchFamily="2" charset="2"/>
              <a:buAutoNum type="alphaLcParenR"/>
              <a:defRPr/>
            </a:pPr>
            <a:r>
              <a:rPr lang="en-US" altLang="zh-CN" sz="2801" dirty="0">
                <a:sym typeface="Symbol" panose="05050102010706020507" pitchFamily="18" charset="2"/>
              </a:rPr>
              <a:t>P{N(t+t)-N(t)2}</a:t>
            </a:r>
            <a:r>
              <a:rPr lang="zh-CN" altLang="en-US" sz="2801" dirty="0">
                <a:sym typeface="Symbol" panose="05050102010706020507" pitchFamily="18" charset="2"/>
              </a:rPr>
              <a:t>＝</a:t>
            </a:r>
            <a:r>
              <a:rPr lang="en-US" altLang="zh-CN" sz="2801" dirty="0">
                <a:sym typeface="Symbol" panose="05050102010706020507" pitchFamily="18" charset="2"/>
              </a:rPr>
              <a:t>0(t)</a:t>
            </a:r>
          </a:p>
          <a:p>
            <a:pPr marL="0" indent="0">
              <a:spcBef>
                <a:spcPts val="600"/>
              </a:spcBef>
              <a:buNone/>
              <a:defRPr/>
            </a:pPr>
            <a:r>
              <a:rPr lang="zh-CN" altLang="en-US" dirty="0">
                <a:sym typeface="Symbol" panose="05050102010706020507" pitchFamily="18" charset="2"/>
              </a:rPr>
              <a:t>则称</a:t>
            </a:r>
            <a:r>
              <a:rPr lang="en-US" altLang="zh-CN" dirty="0">
                <a:sym typeface="Symbol" panose="05050102010706020507" pitchFamily="18" charset="2"/>
              </a:rPr>
              <a:t>{N(t), t0}</a:t>
            </a:r>
            <a:r>
              <a:rPr lang="zh-CN" altLang="en-US" dirty="0">
                <a:sym typeface="Symbol" panose="05050102010706020507" pitchFamily="18" charset="2"/>
              </a:rPr>
              <a:t>为</a:t>
            </a:r>
            <a:r>
              <a:rPr lang="zh-CN" altLang="en-US" dirty="0">
                <a:solidFill>
                  <a:srgbClr val="0000FF"/>
                </a:solidFill>
                <a:sym typeface="Symbol" panose="05050102010706020507" pitchFamily="18" charset="2"/>
              </a:rPr>
              <a:t>参数</a:t>
            </a:r>
            <a:r>
              <a:rPr lang="en-US" altLang="zh-CN" dirty="0">
                <a:solidFill>
                  <a:srgbClr val="0000FF"/>
                </a:solidFill>
                <a:sym typeface="Symbol" panose="05050102010706020507" pitchFamily="18" charset="2"/>
              </a:rPr>
              <a:t>(</a:t>
            </a:r>
            <a:r>
              <a:rPr lang="zh-CN" altLang="en-US" dirty="0">
                <a:solidFill>
                  <a:srgbClr val="0000FF"/>
                </a:solidFill>
                <a:sym typeface="Symbol" panose="05050102010706020507" pitchFamily="18" charset="2"/>
              </a:rPr>
              <a:t>或平均率、强度</a:t>
            </a:r>
            <a:r>
              <a:rPr lang="en-US" altLang="zh-CN" dirty="0">
                <a:solidFill>
                  <a:srgbClr val="0000FF"/>
                </a:solidFill>
                <a:sym typeface="Symbol" panose="05050102010706020507" pitchFamily="18" charset="2"/>
              </a:rPr>
              <a:t>)</a:t>
            </a:r>
            <a:r>
              <a:rPr lang="zh-CN" altLang="en-US" dirty="0">
                <a:solidFill>
                  <a:srgbClr val="0000FF"/>
                </a:solidFill>
                <a:sym typeface="Symbol" panose="05050102010706020507" pitchFamily="18" charset="2"/>
              </a:rPr>
              <a:t>为</a:t>
            </a:r>
            <a:r>
              <a:rPr lang="en-US" altLang="zh-CN" dirty="0">
                <a:solidFill>
                  <a:srgbClr val="0000FF"/>
                </a:solidFill>
                <a:sym typeface="Symbol" panose="05050102010706020507" pitchFamily="18" charset="2"/>
              </a:rPr>
              <a:t>(t)</a:t>
            </a:r>
            <a:r>
              <a:rPr lang="zh-CN" altLang="en-US" dirty="0">
                <a:solidFill>
                  <a:srgbClr val="0000FF"/>
                </a:solidFill>
                <a:sym typeface="Symbol" panose="05050102010706020507" pitchFamily="18" charset="2"/>
              </a:rPr>
              <a:t>的</a:t>
            </a:r>
            <a:r>
              <a:rPr lang="zh-CN" altLang="en-US" dirty="0">
                <a:solidFill>
                  <a:srgbClr val="CC00CC"/>
                </a:solidFill>
                <a:sym typeface="Symbol" panose="05050102010706020507" pitchFamily="18" charset="2"/>
              </a:rPr>
              <a:t>非齐次泊松过程</a:t>
            </a:r>
            <a:r>
              <a:rPr lang="zh-CN" altLang="en-US" dirty="0">
                <a:sym typeface="Symbol" panose="05050102010706020507" pitchFamily="18" charset="2"/>
              </a:rPr>
              <a:t>。</a:t>
            </a:r>
            <a:endParaRPr lang="en-US" altLang="zh-CN" dirty="0">
              <a:sym typeface="Symbol" panose="05050102010706020507" pitchFamily="18" charset="2"/>
            </a:endParaRPr>
          </a:p>
          <a:p>
            <a:pPr marL="0" indent="720144">
              <a:spcBef>
                <a:spcPts val="600"/>
              </a:spcBef>
              <a:buNone/>
              <a:defRPr/>
            </a:pPr>
            <a:r>
              <a:rPr lang="zh-CN" altLang="en-US" dirty="0">
                <a:sym typeface="Symbol" panose="05050102010706020507" pitchFamily="18" charset="2"/>
              </a:rPr>
              <a:t>特别，当</a:t>
            </a:r>
            <a:r>
              <a:rPr lang="en-US" altLang="zh-CN" dirty="0">
                <a:sym typeface="Symbol" panose="05050102010706020507" pitchFamily="18" charset="2"/>
              </a:rPr>
              <a:t>(t)</a:t>
            </a:r>
            <a:r>
              <a:rPr lang="zh-CN" altLang="en-US" dirty="0">
                <a:sym typeface="Symbol" panose="05050102010706020507" pitchFamily="18" charset="2"/>
              </a:rPr>
              <a:t>＝</a:t>
            </a:r>
            <a:r>
              <a:rPr lang="en-US" altLang="zh-CN" dirty="0">
                <a:sym typeface="Symbol" panose="05050102010706020507" pitchFamily="18" charset="2"/>
              </a:rPr>
              <a:t></a:t>
            </a:r>
            <a:r>
              <a:rPr lang="zh-CN" altLang="en-US" dirty="0">
                <a:sym typeface="Symbol" panose="05050102010706020507" pitchFamily="18" charset="2"/>
              </a:rPr>
              <a:t>时，即为</a:t>
            </a:r>
            <a:r>
              <a:rPr lang="zh-CN" altLang="en-US" dirty="0">
                <a:solidFill>
                  <a:srgbClr val="CC00CC"/>
                </a:solidFill>
                <a:sym typeface="Symbol" panose="05050102010706020507" pitchFamily="18" charset="2"/>
              </a:rPr>
              <a:t>齐次泊松过程</a:t>
            </a:r>
            <a:r>
              <a:rPr lang="zh-CN" altLang="en-US" dirty="0">
                <a:sym typeface="Symbol" panose="05050102010706020507" pitchFamily="18" charset="2"/>
              </a:rPr>
              <a:t>。</a:t>
            </a:r>
            <a:endParaRPr lang="zh-CN" altLang="en-US" sz="320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01060">
                                            <p:txEl>
                                              <p:pRg st="0" end="0"/>
                                            </p:txEl>
                                          </p:spTgt>
                                        </p:tgtEl>
                                        <p:attrNameLst>
                                          <p:attrName>style.visibility</p:attrName>
                                        </p:attrNameLst>
                                      </p:cBhvr>
                                      <p:to>
                                        <p:strVal val="visible"/>
                                      </p:to>
                                    </p:set>
                                    <p:anim calcmode="lin" valueType="num">
                                      <p:cBhvr additive="base">
                                        <p:cTn id="7" dur="500" fill="hold"/>
                                        <p:tgtEl>
                                          <p:spTgt spid="3010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10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1060">
                                            <p:txEl>
                                              <p:pRg st="1" end="1"/>
                                            </p:txEl>
                                          </p:spTgt>
                                        </p:tgtEl>
                                        <p:attrNameLst>
                                          <p:attrName>style.visibility</p:attrName>
                                        </p:attrNameLst>
                                      </p:cBhvr>
                                      <p:to>
                                        <p:strVal val="visible"/>
                                      </p:to>
                                    </p:set>
                                    <p:anim calcmode="lin" valueType="num">
                                      <p:cBhvr additive="base">
                                        <p:cTn id="13" dur="500" fill="hold"/>
                                        <p:tgtEl>
                                          <p:spTgt spid="30106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106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1060">
                                            <p:txEl>
                                              <p:pRg st="2" end="2"/>
                                            </p:txEl>
                                          </p:spTgt>
                                        </p:tgtEl>
                                        <p:attrNameLst>
                                          <p:attrName>style.visibility</p:attrName>
                                        </p:attrNameLst>
                                      </p:cBhvr>
                                      <p:to>
                                        <p:strVal val="visible"/>
                                      </p:to>
                                    </p:set>
                                    <p:anim calcmode="lin" valueType="num">
                                      <p:cBhvr additive="base">
                                        <p:cTn id="19" dur="500" fill="hold"/>
                                        <p:tgtEl>
                                          <p:spTgt spid="30106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106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nodeType="after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1060">
                                            <p:txEl>
                                              <p:pRg st="3" end="3"/>
                                            </p:txEl>
                                          </p:spTgt>
                                        </p:tgtEl>
                                        <p:attrNameLst>
                                          <p:attrName>style.visibility</p:attrName>
                                        </p:attrNameLst>
                                      </p:cBhvr>
                                      <p:to>
                                        <p:strVal val="visible"/>
                                      </p:to>
                                    </p:set>
                                    <p:anim calcmode="lin" valueType="num">
                                      <p:cBhvr additive="base">
                                        <p:cTn id="25" dur="500" fill="hold"/>
                                        <p:tgtEl>
                                          <p:spTgt spid="30106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106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nodeType="after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1060">
                                            <p:txEl>
                                              <p:pRg st="4" end="4"/>
                                            </p:txEl>
                                          </p:spTgt>
                                        </p:tgtEl>
                                        <p:attrNameLst>
                                          <p:attrName>style.visibility</p:attrName>
                                        </p:attrNameLst>
                                      </p:cBhvr>
                                      <p:to>
                                        <p:strVal val="visible"/>
                                      </p:to>
                                    </p:set>
                                    <p:anim calcmode="lin" valueType="num">
                                      <p:cBhvr additive="base">
                                        <p:cTn id="31" dur="500" fill="hold"/>
                                        <p:tgtEl>
                                          <p:spTgt spid="30106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106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nodeType="after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1060">
                                            <p:txEl>
                                              <p:pRg st="5" end="5"/>
                                            </p:txEl>
                                          </p:spTgt>
                                        </p:tgtEl>
                                        <p:attrNameLst>
                                          <p:attrName>style.visibility</p:attrName>
                                        </p:attrNameLst>
                                      </p:cBhvr>
                                      <p:to>
                                        <p:strVal val="visible"/>
                                      </p:to>
                                    </p:set>
                                    <p:anim calcmode="lin" valueType="num">
                                      <p:cBhvr additive="base">
                                        <p:cTn id="37" dur="500" fill="hold"/>
                                        <p:tgtEl>
                                          <p:spTgt spid="30106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1060">
                                            <p:txEl>
                                              <p:pRg st="5" end="5"/>
                                            </p:txEl>
                                          </p:spTgt>
                                        </p:tgtEl>
                                        <p:attrNameLst>
                                          <p:attrName>ppt_y</p:attrName>
                                        </p:attrNameLst>
                                      </p:cBhvr>
                                      <p:tavLst>
                                        <p:tav tm="0">
                                          <p:val>
                                            <p:strVal val="1+#ppt_h/2"/>
                                          </p:val>
                                        </p:tav>
                                        <p:tav tm="100000">
                                          <p:val>
                                            <p:strVal val="#ppt_y"/>
                                          </p:val>
                                        </p:tav>
                                      </p:tavLst>
                                    </p:anim>
                                  </p:childTnLst>
                                </p:cTn>
                              </p:par>
                            </p:childTnLst>
                          </p:cTn>
                        </p:par>
                        <p:par>
                          <p:cTn id="39" fill="hold" nodeType="afterGroup">
                            <p:stCondLst>
                              <p:cond delay="500"/>
                            </p:stCondLst>
                            <p:childTnLst>
                              <p:par>
                                <p:cTn id="40" presetID="2" presetClass="entr" presetSubtype="4" fill="hold" grpId="0" nodeType="afterEffect">
                                  <p:stCondLst>
                                    <p:cond delay="0"/>
                                  </p:stCondLst>
                                  <p:childTnLst>
                                    <p:set>
                                      <p:cBhvr>
                                        <p:cTn id="41" dur="1" fill="hold">
                                          <p:stCondLst>
                                            <p:cond delay="0"/>
                                          </p:stCondLst>
                                        </p:cTn>
                                        <p:tgtEl>
                                          <p:spTgt spid="301060">
                                            <p:txEl>
                                              <p:pRg st="6" end="6"/>
                                            </p:txEl>
                                          </p:spTgt>
                                        </p:tgtEl>
                                        <p:attrNameLst>
                                          <p:attrName>style.visibility</p:attrName>
                                        </p:attrNameLst>
                                      </p:cBhvr>
                                      <p:to>
                                        <p:strVal val="visible"/>
                                      </p:to>
                                    </p:set>
                                    <p:anim calcmode="lin" valueType="num">
                                      <p:cBhvr additive="base">
                                        <p:cTn id="42" dur="500" fill="hold"/>
                                        <p:tgtEl>
                                          <p:spTgt spid="301060">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0106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0" grpId="0" build="p" bldLvl="3"/>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CBBBC07-E242-D0CD-E3B6-2594C3B39ED8}"/>
              </a:ext>
            </a:extLst>
          </p:cNvPr>
          <p:cNvSpPr>
            <a:spLocks noGrp="1" noChangeArrowheads="1"/>
          </p:cNvSpPr>
          <p:nvPr>
            <p:ph type="title"/>
          </p:nvPr>
        </p:nvSpPr>
        <p:spPr>
          <a:xfrm>
            <a:off x="688975" y="212460"/>
            <a:ext cx="7469329" cy="732007"/>
          </a:xfrm>
        </p:spPr>
        <p:txBody>
          <a:bodyPr/>
          <a:lstStyle/>
          <a:p>
            <a:pPr algn="l" eaLnBrk="1" hangingPunct="1"/>
            <a:r>
              <a:rPr lang="zh-CN" altLang="en-US" dirty="0"/>
              <a:t>定理</a:t>
            </a:r>
          </a:p>
        </p:txBody>
      </p:sp>
      <p:sp>
        <p:nvSpPr>
          <p:cNvPr id="301060" name="Rectangle 4">
            <a:extLst>
              <a:ext uri="{FF2B5EF4-FFF2-40B4-BE49-F238E27FC236}">
                <a16:creationId xmlns:a16="http://schemas.microsoft.com/office/drawing/2014/main" id="{2B42AF03-2C34-425D-9C58-3465CD20B7B7}"/>
              </a:ext>
            </a:extLst>
          </p:cNvPr>
          <p:cNvSpPr>
            <a:spLocks noGrp="1" noChangeArrowheads="1"/>
          </p:cNvSpPr>
          <p:nvPr>
            <p:ph idx="1"/>
          </p:nvPr>
        </p:nvSpPr>
        <p:spPr>
          <a:xfrm>
            <a:off x="612757" y="1073084"/>
            <a:ext cx="11125218" cy="3318643"/>
          </a:xfrm>
        </p:spPr>
        <p:txBody>
          <a:bodyPr/>
          <a:lstStyle/>
          <a:p>
            <a:pPr marL="0" indent="0">
              <a:lnSpc>
                <a:spcPct val="130000"/>
              </a:lnSpc>
              <a:buNone/>
              <a:defRPr/>
            </a:pPr>
            <a:r>
              <a:rPr lang="zh-CN" altLang="en-US" kern="1200" dirty="0">
                <a:solidFill>
                  <a:srgbClr val="0000FF"/>
                </a:solidFill>
                <a:sym typeface="Symbol" panose="05050102010706020507" pitchFamily="18" charset="2"/>
              </a:rPr>
              <a:t>若过程</a:t>
            </a:r>
            <a:r>
              <a:rPr lang="en-US" altLang="zh-CN" kern="1200" dirty="0">
                <a:solidFill>
                  <a:srgbClr val="0000FF"/>
                </a:solidFill>
                <a:sym typeface="Symbol" panose="05050102010706020507" pitchFamily="18" charset="2"/>
              </a:rPr>
              <a:t>{N(t), t0}</a:t>
            </a:r>
            <a:r>
              <a:rPr lang="zh-CN" altLang="en-US" kern="1200" dirty="0">
                <a:solidFill>
                  <a:srgbClr val="0000FF"/>
                </a:solidFill>
                <a:sym typeface="Symbol" panose="05050102010706020507" pitchFamily="18" charset="2"/>
              </a:rPr>
              <a:t>是非齐次泊松过程，则在时间间距</a:t>
            </a:r>
            <a:r>
              <a:rPr lang="en-US" altLang="zh-CN" kern="1200" dirty="0">
                <a:solidFill>
                  <a:srgbClr val="0000FF"/>
                </a:solidFill>
                <a:sym typeface="Symbol" panose="05050102010706020507" pitchFamily="18" charset="2"/>
              </a:rPr>
              <a:t>[t</a:t>
            </a:r>
            <a:r>
              <a:rPr lang="en-US" altLang="zh-CN" kern="1200" baseline="-25000" dirty="0">
                <a:solidFill>
                  <a:srgbClr val="0000FF"/>
                </a:solidFill>
                <a:sym typeface="Symbol" panose="05050102010706020507" pitchFamily="18" charset="2"/>
              </a:rPr>
              <a:t>0</a:t>
            </a:r>
            <a:r>
              <a:rPr lang="en-US" altLang="zh-CN" kern="1200" dirty="0">
                <a:solidFill>
                  <a:srgbClr val="0000FF"/>
                </a:solidFill>
                <a:sym typeface="Symbol" panose="05050102010706020507" pitchFamily="18" charset="2"/>
              </a:rPr>
              <a:t>, t</a:t>
            </a:r>
            <a:r>
              <a:rPr lang="en-US" altLang="zh-CN" kern="1200" baseline="-25000" dirty="0">
                <a:solidFill>
                  <a:srgbClr val="0000FF"/>
                </a:solidFill>
                <a:sym typeface="Symbol" panose="05050102010706020507" pitchFamily="18" charset="2"/>
              </a:rPr>
              <a:t>0</a:t>
            </a:r>
            <a:r>
              <a:rPr lang="en-US" altLang="zh-CN" kern="1200" dirty="0">
                <a:solidFill>
                  <a:srgbClr val="0000FF"/>
                </a:solidFill>
                <a:sym typeface="Symbol" panose="05050102010706020507" pitchFamily="18" charset="2"/>
              </a:rPr>
              <a:t>+t)</a:t>
            </a:r>
            <a:r>
              <a:rPr lang="zh-CN" altLang="en-US" kern="1200" dirty="0">
                <a:solidFill>
                  <a:srgbClr val="0000FF"/>
                </a:solidFill>
                <a:sym typeface="Symbol" panose="05050102010706020507" pitchFamily="18" charset="2"/>
              </a:rPr>
              <a:t>内事件</a:t>
            </a:r>
            <a:r>
              <a:rPr lang="en-US" altLang="zh-CN" kern="1200" dirty="0">
                <a:solidFill>
                  <a:srgbClr val="0000FF"/>
                </a:solidFill>
                <a:sym typeface="Symbol" panose="05050102010706020507" pitchFamily="18" charset="2"/>
              </a:rPr>
              <a:t>A</a:t>
            </a:r>
            <a:r>
              <a:rPr lang="zh-CN" altLang="en-US" kern="1200" dirty="0">
                <a:solidFill>
                  <a:srgbClr val="0000FF"/>
                </a:solidFill>
                <a:sym typeface="Symbol" panose="05050102010706020507" pitchFamily="18" charset="2"/>
              </a:rPr>
              <a:t>出现</a:t>
            </a:r>
            <a:r>
              <a:rPr lang="en-US" altLang="zh-CN" kern="1200" dirty="0">
                <a:solidFill>
                  <a:srgbClr val="0000FF"/>
                </a:solidFill>
                <a:sym typeface="Symbol" panose="05050102010706020507" pitchFamily="18" charset="2"/>
              </a:rPr>
              <a:t>k</a:t>
            </a:r>
            <a:r>
              <a:rPr lang="zh-CN" altLang="en-US" kern="1200" dirty="0">
                <a:solidFill>
                  <a:srgbClr val="0000FF"/>
                </a:solidFill>
                <a:sym typeface="Symbol" panose="05050102010706020507" pitchFamily="18" charset="2"/>
              </a:rPr>
              <a:t>次的概率为：</a:t>
            </a:r>
            <a:endParaRPr lang="en-US" altLang="zh-CN" kern="1200" dirty="0">
              <a:solidFill>
                <a:srgbClr val="0000FF"/>
              </a:solidFill>
              <a:sym typeface="Symbol" panose="05050102010706020507" pitchFamily="18" charset="2"/>
            </a:endParaRPr>
          </a:p>
          <a:p>
            <a:pPr marL="0" indent="0">
              <a:lnSpc>
                <a:spcPct val="100000"/>
              </a:lnSpc>
              <a:buNone/>
              <a:defRPr/>
            </a:pPr>
            <a:endParaRPr lang="en-US" altLang="zh-CN" kern="1200" dirty="0">
              <a:solidFill>
                <a:srgbClr val="0000FF"/>
              </a:solidFill>
              <a:sym typeface="Symbol" panose="05050102010706020507" pitchFamily="18" charset="2"/>
            </a:endParaRPr>
          </a:p>
          <a:p>
            <a:pPr marL="0" indent="0">
              <a:lnSpc>
                <a:spcPct val="100000"/>
              </a:lnSpc>
              <a:buNone/>
              <a:defRPr/>
            </a:pPr>
            <a:endParaRPr lang="en-US" altLang="zh-CN" kern="1200" dirty="0">
              <a:solidFill>
                <a:srgbClr val="0000FF"/>
              </a:solidFill>
              <a:sym typeface="Symbol" panose="05050102010706020507" pitchFamily="18" charset="2"/>
            </a:endParaRPr>
          </a:p>
          <a:p>
            <a:pPr marL="0" indent="0">
              <a:lnSpc>
                <a:spcPct val="100000"/>
              </a:lnSpc>
              <a:buNone/>
              <a:defRPr/>
            </a:pPr>
            <a:endParaRPr lang="en-US" altLang="zh-CN" kern="1200" dirty="0">
              <a:solidFill>
                <a:srgbClr val="0000FF"/>
              </a:solidFill>
              <a:sym typeface="Symbol" panose="05050102010706020507" pitchFamily="18" charset="2"/>
            </a:endParaRPr>
          </a:p>
          <a:p>
            <a:pPr marL="0" indent="0">
              <a:lnSpc>
                <a:spcPct val="100000"/>
              </a:lnSpc>
              <a:buNone/>
              <a:defRPr/>
            </a:pPr>
            <a:endParaRPr lang="en-US" altLang="zh-CN" kern="1200" dirty="0">
              <a:solidFill>
                <a:srgbClr val="0000FF"/>
              </a:solidFill>
              <a:sym typeface="Symbol" panose="05050102010706020507" pitchFamily="18" charset="2"/>
            </a:endParaRPr>
          </a:p>
          <a:p>
            <a:pPr marL="0" indent="0">
              <a:lnSpc>
                <a:spcPct val="110000"/>
              </a:lnSpc>
              <a:spcAft>
                <a:spcPts val="600"/>
              </a:spcAft>
              <a:buNone/>
              <a:defRPr/>
            </a:pPr>
            <a:r>
              <a:rPr lang="zh-CN" altLang="en-US" kern="1200" dirty="0">
                <a:solidFill>
                  <a:srgbClr val="0000FF"/>
                </a:solidFill>
                <a:sym typeface="Symbol" panose="05050102010706020507" pitchFamily="18" charset="2"/>
              </a:rPr>
              <a:t>式中</a:t>
            </a:r>
            <a:endParaRPr lang="en-US" altLang="zh-CN" kern="1200" dirty="0">
              <a:solidFill>
                <a:srgbClr val="0000FF"/>
              </a:solidFill>
              <a:sym typeface="Symbol" panose="05050102010706020507" pitchFamily="18" charset="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2FF61DF-D847-33E4-9DD0-B639BAA0FD9E}"/>
                  </a:ext>
                </a:extLst>
              </p:cNvPr>
              <p:cNvSpPr txBox="1"/>
              <p:nvPr/>
            </p:nvSpPr>
            <p:spPr>
              <a:xfrm>
                <a:off x="624797" y="2358039"/>
                <a:ext cx="11143948" cy="7487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𝑃</m:t>
                      </m:r>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𝑁</m:t>
                          </m:r>
                          <m:d>
                            <m:dPr>
                              <m:ctrlPr>
                                <a:rPr kumimoji="1" lang="en-US" altLang="zh-CN" b="0" i="1" smtClean="0">
                                  <a:latin typeface="Cambria Math" panose="02040503050406030204" pitchFamily="18" charset="0"/>
                                </a:rPr>
                              </m:ctrlPr>
                            </m:dPr>
                            <m:e>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𝑡</m:t>
                                  </m:r>
                                </m:e>
                                <m:sub>
                                  <m:r>
                                    <a:rPr kumimoji="1" lang="en-US" altLang="zh-CN" b="0" i="1" smtClean="0">
                                      <a:latin typeface="Cambria Math" panose="02040503050406030204" pitchFamily="18" charset="0"/>
                                    </a:rPr>
                                    <m:t>0</m:t>
                                  </m:r>
                                </m:sub>
                              </m:sSub>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𝑡</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𝑁</m:t>
                          </m:r>
                          <m:d>
                            <m:dPr>
                              <m:ctrlPr>
                                <a:rPr kumimoji="1" lang="en-US" altLang="zh-CN" b="0" i="1" smtClean="0">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𝑘</m:t>
                          </m:r>
                        </m:e>
                      </m:d>
                      <m:r>
                        <a:rPr kumimoji="1" lang="en-US" altLang="zh-CN" b="0" i="0" smtClean="0">
                          <a:latin typeface="Cambria Math" panose="02040503050406030204" pitchFamily="18" charset="0"/>
                        </a:rPr>
                        <m:t>=</m:t>
                      </m:r>
                      <m:f>
                        <m:fPr>
                          <m:ctrlPr>
                            <a:rPr kumimoji="1" lang="zh-CN" altLang="en-US" b="0" i="1" smtClean="0">
                              <a:latin typeface="Cambria Math" panose="02040503050406030204" pitchFamily="18" charset="0"/>
                            </a:rPr>
                          </m:ctrlPr>
                        </m:fPr>
                        <m:num>
                          <m:sSup>
                            <m:sSupPr>
                              <m:ctrlPr>
                                <a:rPr kumimoji="1" lang="zh-CN" altLang="en-US" b="0" i="1" smtClean="0">
                                  <a:latin typeface="Cambria Math" panose="02040503050406030204" pitchFamily="18" charset="0"/>
                                </a:rPr>
                              </m:ctrlPr>
                            </m:sSupPr>
                            <m:e>
                              <m:d>
                                <m:dPr>
                                  <m:begChr m:val="["/>
                                  <m:endChr m:val="]"/>
                                  <m:ctrlPr>
                                    <a:rPr kumimoji="1" lang="zh-CN" altLang="en-US" b="0" i="1" smtClean="0">
                                      <a:latin typeface="Cambria Math" panose="02040503050406030204" pitchFamily="18" charset="0"/>
                                    </a:rPr>
                                  </m:ctrlPr>
                                </m:dPr>
                                <m:e>
                                  <m:r>
                                    <a:rPr kumimoji="1" lang="en-US" altLang="zh-CN" b="0" i="1" smtClean="0">
                                      <a:latin typeface="Cambria Math" panose="02040503050406030204" pitchFamily="18" charset="0"/>
                                    </a:rPr>
                                    <m:t>𝑚</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𝑚</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e>
                                  </m:d>
                                </m:e>
                              </m:d>
                            </m:e>
                            <m:sup>
                              <m:r>
                                <a:rPr kumimoji="1" lang="en-US" altLang="zh-CN" b="0" i="1" smtClean="0">
                                  <a:latin typeface="Cambria Math" panose="02040503050406030204" pitchFamily="18" charset="0"/>
                                </a:rPr>
                                <m:t>𝑘</m:t>
                              </m:r>
                            </m:sup>
                          </m:sSup>
                        </m:num>
                        <m:den>
                          <m:r>
                            <a:rPr kumimoji="1" lang="en-US" altLang="zh-CN" b="0" i="1" smtClean="0">
                              <a:latin typeface="Cambria Math" panose="02040503050406030204" pitchFamily="18" charset="0"/>
                            </a:rPr>
                            <m:t>𝑘</m:t>
                          </m:r>
                          <m:r>
                            <a:rPr kumimoji="1" lang="en-US" altLang="zh-CN" b="0" i="1" smtClean="0">
                              <a:latin typeface="Cambria Math" panose="02040503050406030204" pitchFamily="18" charset="0"/>
                            </a:rPr>
                            <m:t>!</m:t>
                          </m:r>
                        </m:den>
                      </m:f>
                      <m:sSup>
                        <m:sSupPr>
                          <m:ctrlPr>
                            <a:rPr kumimoji="1" lang="zh-CN" altLang="en-US" b="0" i="1" smtClean="0">
                              <a:latin typeface="Cambria Math" panose="02040503050406030204" pitchFamily="18" charset="0"/>
                            </a:rPr>
                          </m:ctrlPr>
                        </m:sSupPr>
                        <m:e>
                          <m:r>
                            <a:rPr kumimoji="1" lang="en-US" altLang="zh-CN" b="0" i="1" smtClean="0">
                              <a:latin typeface="Cambria Math" panose="02040503050406030204" pitchFamily="18" charset="0"/>
                            </a:rPr>
                            <m:t>𝑒</m:t>
                          </m:r>
                        </m:e>
                        <m:sup>
                          <m:r>
                            <a:rPr kumimoji="1" lang="en-US" altLang="zh-CN" b="0" i="1" smtClean="0">
                              <a:latin typeface="Cambria Math" panose="02040503050406030204" pitchFamily="18" charset="0"/>
                            </a:rPr>
                            <m:t>−[</m:t>
                          </m:r>
                          <m:r>
                            <a:rPr kumimoji="1" lang="en-US" altLang="zh-CN" i="1">
                              <a:latin typeface="Cambria Math" panose="02040503050406030204" pitchFamily="18" charset="0"/>
                            </a:rPr>
                            <m:t>𝑚</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a:rPr kumimoji="1" lang="en-US" altLang="zh-CN" i="1">
                              <a:latin typeface="Cambria Math" panose="02040503050406030204" pitchFamily="18" charset="0"/>
                            </a:rPr>
                            <m:t>−</m:t>
                          </m:r>
                          <m:r>
                            <a:rPr kumimoji="1" lang="en-US" altLang="zh-CN" i="1">
                              <a:latin typeface="Cambria Math" panose="02040503050406030204" pitchFamily="18" charset="0"/>
                            </a:rPr>
                            <m:t>𝑚</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e>
                          </m:d>
                          <m:r>
                            <a:rPr kumimoji="1" lang="en-US" altLang="zh-CN" b="0" i="1" smtClean="0">
                              <a:latin typeface="Cambria Math" panose="02040503050406030204" pitchFamily="18" charset="0"/>
                            </a:rPr>
                            <m:t>]</m:t>
                          </m:r>
                        </m:sup>
                      </m:sSup>
                      <m:r>
                        <a:rPr kumimoji="1" lang="en-US" altLang="zh-CN" b="0" i="1" smtClean="0">
                          <a:latin typeface="Cambria Math" panose="02040503050406030204" pitchFamily="18" charset="0"/>
                        </a:rPr>
                        <m:t>,   </m:t>
                      </m:r>
                      <m:r>
                        <a:rPr kumimoji="1" lang="en-US" altLang="zh-CN" b="0" i="1" smtClean="0">
                          <a:latin typeface="Cambria Math" panose="02040503050406030204" pitchFamily="18" charset="0"/>
                        </a:rPr>
                        <m:t>𝑘</m:t>
                      </m:r>
                      <m:r>
                        <a:rPr kumimoji="1" lang="en-US" altLang="zh-CN" b="0" i="1" smtClean="0">
                          <a:latin typeface="Cambria Math" panose="02040503050406030204" pitchFamily="18" charset="0"/>
                        </a:rPr>
                        <m:t>=0,1,2,⋯</m:t>
                      </m:r>
                    </m:oMath>
                  </m:oMathPara>
                </a14:m>
                <a:endParaRPr kumimoji="1" lang="zh-CN" altLang="en-US" dirty="0"/>
              </a:p>
            </p:txBody>
          </p:sp>
        </mc:Choice>
        <mc:Fallback xmlns="">
          <p:sp>
            <p:nvSpPr>
              <p:cNvPr id="2" name="文本框 1">
                <a:extLst>
                  <a:ext uri="{FF2B5EF4-FFF2-40B4-BE49-F238E27FC236}">
                    <a16:creationId xmlns:a16="http://schemas.microsoft.com/office/drawing/2014/main" id="{32FF61DF-D847-33E4-9DD0-B639BAA0FD9E}"/>
                  </a:ext>
                </a:extLst>
              </p:cNvPr>
              <p:cNvSpPr txBox="1">
                <a:spLocks noRot="1" noChangeAspect="1" noMove="1" noResize="1" noEditPoints="1" noAdjustHandles="1" noChangeArrowheads="1" noChangeShapeType="1" noTextEdit="1"/>
              </p:cNvSpPr>
              <p:nvPr/>
            </p:nvSpPr>
            <p:spPr>
              <a:xfrm>
                <a:off x="624797" y="2358039"/>
                <a:ext cx="11143948" cy="748731"/>
              </a:xfrm>
              <a:prstGeom prst="rect">
                <a:avLst/>
              </a:prstGeom>
              <a:blipFill>
                <a:blip r:embed="rId2"/>
                <a:stretch>
                  <a:fillRect l="-341"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F0DF68C-F914-00B2-2C12-759B1AB4279D}"/>
                  </a:ext>
                </a:extLst>
              </p:cNvPr>
              <p:cNvSpPr txBox="1"/>
              <p:nvPr/>
            </p:nvSpPr>
            <p:spPr>
              <a:xfrm>
                <a:off x="32078" y="4374126"/>
                <a:ext cx="3505200" cy="9531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𝑚</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𝑡</m:t>
                          </m:r>
                        </m:e>
                      </m:d>
                      <m:r>
                        <a:rPr kumimoji="1" lang="en-US" altLang="zh-CN" b="0" i="1" smtClean="0">
                          <a:latin typeface="Cambria Math" panose="02040503050406030204" pitchFamily="18" charset="0"/>
                        </a:rPr>
                        <m:t>=</m:t>
                      </m:r>
                      <m:nary>
                        <m:naryPr>
                          <m:ctrlPr>
                            <a:rPr kumimoji="1" lang="zh-CN" altLang="en-US" b="0"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0</m:t>
                          </m:r>
                        </m:sub>
                        <m:sup>
                          <m:r>
                            <a:rPr kumimoji="1" lang="en-US" altLang="zh-CN" b="0" i="1" smtClean="0">
                              <a:latin typeface="Cambria Math" panose="02040503050406030204" pitchFamily="18" charset="0"/>
                            </a:rPr>
                            <m:t>𝑡</m:t>
                          </m:r>
                        </m:sup>
                        <m:e>
                          <m:r>
                            <a:rPr kumimoji="1" lang="zh-CN" altLang="en-US" b="0" i="1" smtClean="0">
                              <a:latin typeface="Cambria Math" panose="02040503050406030204" pitchFamily="18" charset="0"/>
                            </a:rPr>
                            <m:t>𝜆</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𝑠</m:t>
                              </m:r>
                            </m:e>
                          </m:d>
                          <m:r>
                            <a:rPr kumimoji="1" lang="en-US" altLang="zh-CN" b="0" i="1" smtClean="0">
                              <a:latin typeface="Cambria Math" panose="02040503050406030204" pitchFamily="18" charset="0"/>
                            </a:rPr>
                            <m:t>𝑑𝑠</m:t>
                          </m:r>
                        </m:e>
                      </m:nary>
                    </m:oMath>
                  </m:oMathPara>
                </a14:m>
                <a:endParaRPr lang="zh-CN" altLang="en-US" dirty="0"/>
              </a:p>
            </p:txBody>
          </p:sp>
        </mc:Choice>
        <mc:Fallback xmlns="">
          <p:sp>
            <p:nvSpPr>
              <p:cNvPr id="4" name="文本框 3">
                <a:extLst>
                  <a:ext uri="{FF2B5EF4-FFF2-40B4-BE49-F238E27FC236}">
                    <a16:creationId xmlns:a16="http://schemas.microsoft.com/office/drawing/2014/main" id="{4F0DF68C-F914-00B2-2C12-759B1AB4279D}"/>
                  </a:ext>
                </a:extLst>
              </p:cNvPr>
              <p:cNvSpPr txBox="1">
                <a:spLocks noRot="1" noChangeAspect="1" noMove="1" noResize="1" noEditPoints="1" noAdjustHandles="1" noChangeArrowheads="1" noChangeShapeType="1" noTextEdit="1"/>
              </p:cNvSpPr>
              <p:nvPr/>
            </p:nvSpPr>
            <p:spPr>
              <a:xfrm>
                <a:off x="32078" y="4374126"/>
                <a:ext cx="3505200" cy="953146"/>
              </a:xfrm>
              <a:prstGeom prst="rect">
                <a:avLst/>
              </a:prstGeom>
              <a:blipFill>
                <a:blip r:embed="rId3"/>
                <a:stretch>
                  <a:fillRect t="-155263" b="-22631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01060">
                                            <p:txEl>
                                              <p:pRg st="0" end="0"/>
                                            </p:txEl>
                                          </p:spTgt>
                                        </p:tgtEl>
                                        <p:attrNameLst>
                                          <p:attrName>style.visibility</p:attrName>
                                        </p:attrNameLst>
                                      </p:cBhvr>
                                      <p:to>
                                        <p:strVal val="visible"/>
                                      </p:to>
                                    </p:set>
                                    <p:anim calcmode="lin" valueType="num">
                                      <p:cBhvr additive="base">
                                        <p:cTn id="7" dur="500" fill="hold"/>
                                        <p:tgtEl>
                                          <p:spTgt spid="3010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1060">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01060">
                                            <p:txEl>
                                              <p:pRg st="5" end="5"/>
                                            </p:txEl>
                                          </p:spTgt>
                                        </p:tgtEl>
                                        <p:attrNameLst>
                                          <p:attrName>style.visibility</p:attrName>
                                        </p:attrNameLst>
                                      </p:cBhvr>
                                      <p:to>
                                        <p:strVal val="visible"/>
                                      </p:to>
                                    </p:set>
                                    <p:anim calcmode="lin" valueType="num">
                                      <p:cBhvr additive="base">
                                        <p:cTn id="12" dur="500" fill="hold"/>
                                        <p:tgtEl>
                                          <p:spTgt spid="301060">
                                            <p:txEl>
                                              <p:pRg st="5" end="5"/>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0106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0" grpId="0" build="p" bldLvl="3"/>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BA8C16F1-9DB8-C33B-3BFC-100E02741E70}"/>
              </a:ext>
            </a:extLst>
          </p:cNvPr>
          <p:cNvSpPr>
            <a:spLocks noGrp="1" noChangeArrowheads="1"/>
          </p:cNvSpPr>
          <p:nvPr>
            <p:ph type="title"/>
          </p:nvPr>
        </p:nvSpPr>
        <p:spPr/>
        <p:txBody>
          <a:bodyPr/>
          <a:lstStyle/>
          <a:p>
            <a:pPr algn="l"/>
            <a:r>
              <a:rPr lang="zh-CN" altLang="en-US"/>
              <a:t>证明</a:t>
            </a:r>
          </a:p>
        </p:txBody>
      </p:sp>
      <p:sp>
        <p:nvSpPr>
          <p:cNvPr id="3" name="内容占位符 2">
            <a:extLst>
              <a:ext uri="{FF2B5EF4-FFF2-40B4-BE49-F238E27FC236}">
                <a16:creationId xmlns:a16="http://schemas.microsoft.com/office/drawing/2014/main" id="{3DAE51A0-5C93-470E-BB20-D321E819CBC2}"/>
              </a:ext>
            </a:extLst>
          </p:cNvPr>
          <p:cNvSpPr>
            <a:spLocks noGrp="1"/>
          </p:cNvSpPr>
          <p:nvPr>
            <p:ph idx="1"/>
          </p:nvPr>
        </p:nvSpPr>
        <p:spPr>
          <a:xfrm>
            <a:off x="536575" y="1143794"/>
            <a:ext cx="11734800" cy="5715794"/>
          </a:xfrm>
        </p:spPr>
        <p:txBody>
          <a:bodyPr>
            <a:normAutofit/>
          </a:bodyPr>
          <a:lstStyle/>
          <a:p>
            <a:pPr marL="0" indent="0">
              <a:buNone/>
              <a:defRPr/>
            </a:pPr>
            <a:r>
              <a:rPr lang="zh-CN" altLang="en-US" kern="1200" dirty="0">
                <a:solidFill>
                  <a:srgbClr val="000000"/>
                </a:solidFill>
                <a:sym typeface="Symbol" panose="05050102010706020507" pitchFamily="18" charset="2"/>
              </a:rPr>
              <a:t>记</a:t>
            </a:r>
            <a:r>
              <a:rPr lang="en-US" altLang="zh-CN" i="1" kern="1200" dirty="0">
                <a:solidFill>
                  <a:srgbClr val="000000"/>
                </a:solidFill>
                <a:sym typeface="Symbol" panose="05050102010706020507" pitchFamily="18" charset="2"/>
              </a:rPr>
              <a:t>P</a:t>
            </a:r>
            <a:r>
              <a:rPr lang="en-US" altLang="zh-CN" i="1" kern="1200" baseline="-25000" dirty="0">
                <a:solidFill>
                  <a:srgbClr val="000000"/>
                </a:solidFill>
                <a:sym typeface="Symbol" panose="05050102010706020507" pitchFamily="18" charset="2"/>
              </a:rPr>
              <a:t>k</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 </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)=P{[</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k</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   </a:t>
            </a:r>
          </a:p>
          <a:p>
            <a:pPr marL="0" indent="0">
              <a:buNone/>
              <a:defRPr/>
            </a:pPr>
            <a:r>
              <a:rPr lang="en-US" altLang="zh-CN" i="1" kern="1200" dirty="0">
                <a:solidFill>
                  <a:srgbClr val="000000"/>
                </a:solidFill>
                <a:sym typeface="Symbol" panose="05050102010706020507" pitchFamily="18" charset="2"/>
              </a:rPr>
              <a:t>P</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l-GR" altLang="zh-CN" kern="1200" dirty="0">
                <a:solidFill>
                  <a:srgbClr val="000000"/>
                </a:solidFill>
                <a:sym typeface="Symbol" panose="05050102010706020507" pitchFamily="18" charset="2"/>
              </a:rPr>
              <a:t>Δ</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 </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)=P{[</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l-GR" altLang="zh-CN" kern="1200" dirty="0">
                <a:solidFill>
                  <a:srgbClr val="000000"/>
                </a:solidFill>
                <a:sym typeface="Symbol" panose="05050102010706020507" pitchFamily="18" charset="2"/>
              </a:rPr>
              <a:t>Δ</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)]=0}</a:t>
            </a:r>
          </a:p>
          <a:p>
            <a:pPr marL="0" indent="0">
              <a:buNone/>
              <a:defRPr/>
            </a:pPr>
            <a:r>
              <a:rPr lang="en-US" altLang="zh-CN" kern="1200" dirty="0">
                <a:solidFill>
                  <a:srgbClr val="000000"/>
                </a:solidFill>
                <a:sym typeface="Symbol" panose="05050102010706020507" pitchFamily="18" charset="2"/>
              </a:rPr>
              <a:t>=P{[</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)]=0, [</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l-GR" altLang="zh-CN" kern="1200" dirty="0">
                <a:solidFill>
                  <a:srgbClr val="000000"/>
                </a:solidFill>
                <a:sym typeface="Symbol" panose="05050102010706020507" pitchFamily="18" charset="2"/>
              </a:rPr>
              <a:t>Δ</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)]=0}</a:t>
            </a:r>
          </a:p>
          <a:p>
            <a:pPr marL="0" indent="0">
              <a:buNone/>
              <a:defRPr/>
            </a:pPr>
            <a:r>
              <a:rPr lang="en-US" altLang="zh-CN" kern="1200" dirty="0">
                <a:solidFill>
                  <a:srgbClr val="000000"/>
                </a:solidFill>
                <a:sym typeface="Symbol" panose="05050102010706020507" pitchFamily="18" charset="2"/>
              </a:rPr>
              <a:t>=P{[</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)]=0}P{[</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l-GR" altLang="zh-CN" kern="1200" dirty="0">
                <a:solidFill>
                  <a:srgbClr val="000000"/>
                </a:solidFill>
                <a:sym typeface="Symbol" panose="05050102010706020507" pitchFamily="18" charset="2"/>
              </a:rPr>
              <a:t>Δ</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N</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)]=0}</a:t>
            </a:r>
            <a:endParaRPr lang="zh-CN" altLang="en-US" kern="1200" dirty="0">
              <a:solidFill>
                <a:srgbClr val="000000"/>
              </a:solidFill>
              <a:sym typeface="Symbol" panose="05050102010706020507" pitchFamily="18" charset="2"/>
            </a:endParaRPr>
          </a:p>
          <a:p>
            <a:pPr marL="0" indent="0">
              <a:buNone/>
              <a:defRPr/>
            </a:pP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P</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 </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)[1-(</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r>
              <a:rPr lang="el-GR" altLang="zh-CN" kern="1200" dirty="0">
                <a:solidFill>
                  <a:srgbClr val="000000"/>
                </a:solidFill>
                <a:sym typeface="Symbol" panose="05050102010706020507" pitchFamily="18" charset="2"/>
              </a:rPr>
              <a:t> Δ</a:t>
            </a:r>
            <a:r>
              <a:rPr lang="en-US" altLang="zh-CN" i="1" kern="1200" dirty="0">
                <a:solidFill>
                  <a:srgbClr val="000000"/>
                </a:solidFill>
                <a:sym typeface="Symbol" panose="05050102010706020507" pitchFamily="18" charset="2"/>
              </a:rPr>
              <a:t>t </a:t>
            </a:r>
            <a:r>
              <a:rPr lang="en-US" altLang="zh-CN" kern="1200" dirty="0">
                <a:solidFill>
                  <a:srgbClr val="000000"/>
                </a:solidFill>
                <a:sym typeface="Symbol" panose="05050102010706020507" pitchFamily="18" charset="2"/>
              </a:rPr>
              <a:t>+ o(</a:t>
            </a:r>
            <a:r>
              <a:rPr lang="el-GR" altLang="zh-CN" kern="1200" dirty="0">
                <a:solidFill>
                  <a:srgbClr val="000000"/>
                </a:solidFill>
                <a:sym typeface="Symbol" panose="05050102010706020507" pitchFamily="18" charset="2"/>
              </a:rPr>
              <a:t>Δ</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a:t>
            </a:r>
          </a:p>
          <a:p>
            <a:pPr marL="0" indent="0">
              <a:buNone/>
              <a:defRPr/>
            </a:pPr>
            <a:r>
              <a:rPr lang="zh-CN" altLang="en-US" kern="1200" dirty="0">
                <a:solidFill>
                  <a:srgbClr val="000000"/>
                </a:solidFill>
                <a:sym typeface="Symbol" panose="05050102010706020507" pitchFamily="18" charset="2"/>
              </a:rPr>
              <a:t>整理得</a:t>
            </a:r>
            <a:endParaRPr lang="en-US" altLang="zh-CN" kern="1200" dirty="0">
              <a:solidFill>
                <a:srgbClr val="000000"/>
              </a:solidFill>
              <a:sym typeface="Symbol" panose="05050102010706020507" pitchFamily="18" charset="2"/>
            </a:endParaRPr>
          </a:p>
          <a:p>
            <a:pPr marL="0" indent="0">
              <a:buNone/>
              <a:defRPr/>
            </a:pPr>
            <a:endParaRPr lang="en-US" altLang="zh-CN" kern="1200" dirty="0">
              <a:solidFill>
                <a:srgbClr val="000000"/>
              </a:solidFill>
              <a:sym typeface="Symbol" panose="05050102010706020507" pitchFamily="18" charset="2"/>
            </a:endParaRPr>
          </a:p>
          <a:p>
            <a:pPr marL="0" indent="0">
              <a:buNone/>
              <a:defRPr/>
            </a:pPr>
            <a:endParaRPr lang="en-US" altLang="zh-CN" kern="1200" dirty="0">
              <a:solidFill>
                <a:srgbClr val="000000"/>
              </a:solidFill>
              <a:sym typeface="Symbol" panose="05050102010706020507" pitchFamily="18" charset="2"/>
            </a:endParaRPr>
          </a:p>
          <a:p>
            <a:pPr marL="0" indent="0">
              <a:buNone/>
              <a:defRPr/>
            </a:pPr>
            <a:r>
              <a:rPr lang="zh-CN" altLang="en-US" kern="1200" dirty="0">
                <a:solidFill>
                  <a:srgbClr val="000000"/>
                </a:solidFill>
                <a:sym typeface="Symbol" panose="05050102010706020507" pitchFamily="18" charset="2"/>
              </a:rPr>
              <a:t>令</a:t>
            </a:r>
            <a:r>
              <a:rPr lang="el-GR" altLang="zh-CN" kern="1200" dirty="0">
                <a:solidFill>
                  <a:srgbClr val="000000"/>
                </a:solidFill>
                <a:sym typeface="Symbol" panose="05050102010706020507" pitchFamily="18" charset="2"/>
              </a:rPr>
              <a:t>Δ</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0</a:t>
            </a:r>
            <a:r>
              <a:rPr lang="zh-CN" altLang="en-US" kern="1200" dirty="0">
                <a:solidFill>
                  <a:srgbClr val="000000"/>
                </a:solidFill>
                <a:sym typeface="Symbol" panose="05050102010706020507" pitchFamily="18" charset="2"/>
              </a:rPr>
              <a:t>得</a:t>
            </a:r>
            <a:endParaRPr lang="zh-CN" altLang="en-US"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7C3A901-06E9-C84F-CEDF-0E910369849A}"/>
                  </a:ext>
                </a:extLst>
              </p:cNvPr>
              <p:cNvSpPr txBox="1"/>
              <p:nvPr/>
            </p:nvSpPr>
            <p:spPr>
              <a:xfrm>
                <a:off x="663017" y="4557487"/>
                <a:ext cx="6438879" cy="704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b="0" i="1" smtClean="0">
                              <a:latin typeface="Cambria Math" panose="02040503050406030204" pitchFamily="18" charset="0"/>
                            </a:rPr>
                          </m:ctrlPr>
                        </m:fPr>
                        <m:num>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m:t>+</m:t>
                          </m:r>
                          <m:r>
                            <m:rPr>
                              <m:nor/>
                            </m:rPr>
                            <a:rPr lang="el-GR"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Δ</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num>
                        <m:den>
                          <m:r>
                            <m:rPr>
                              <m:nor/>
                            </m:rPr>
                            <a:rPr lang="el-GR"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Δ</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den>
                      </m:f>
                      <m:r>
                        <a:rPr kumimoji="1" lang="en-US" altLang="zh-CN" b="0" i="0" smtClean="0">
                          <a:latin typeface="Cambria Math" panose="02040503050406030204" pitchFamily="18" charset="0"/>
                        </a:rPr>
                        <m:t>=</m:t>
                      </m:r>
                      <m:r>
                        <a:rPr kumimoji="1" lang="en-US" altLang="zh-CN" i="1">
                          <a:latin typeface="Cambria Math" panose="02040503050406030204" pitchFamily="18" charset="0"/>
                        </a:rPr>
                        <m:t>−</m:t>
                      </m:r>
                      <m:r>
                        <m:rPr>
                          <m:nor/>
                        </m:rPr>
                        <a:rPr lang="en-US" altLang="zh-CN" dirty="0">
                          <a:solidFill>
                            <a:srgbClr val="000000"/>
                          </a:solidFill>
                          <a:sym typeface="Symbol" panose="05050102010706020507" pitchFamily="18" charset="2"/>
                        </a:rPr>
                        <m:t></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t>+</m:t>
                      </m:r>
                      <m:f>
                        <m:fPr>
                          <m:ctrlPr>
                            <a:rPr kumimoji="1" lang="zh-CN" altLang="en-US" b="0" i="1" smtClean="0">
                              <a:latin typeface="Cambria Math" panose="02040503050406030204" pitchFamily="18" charset="0"/>
                            </a:rPr>
                          </m:ctrlPr>
                        </m:fPr>
                        <m:num>
                          <m:r>
                            <a:rPr kumimoji="1" lang="en-US" altLang="zh-CN" b="0" i="1" smtClean="0">
                              <a:latin typeface="Cambria Math" panose="02040503050406030204" pitchFamily="18" charset="0"/>
                            </a:rPr>
                            <m:t>𝑜</m:t>
                          </m:r>
                          <m:r>
                            <a:rPr kumimoji="1" lang="en-US" altLang="zh-CN" b="0" i="1" smtClean="0">
                              <a:latin typeface="Cambria Math" panose="02040503050406030204" pitchFamily="18" charset="0"/>
                            </a:rPr>
                            <m:t>(</m:t>
                          </m:r>
                          <m:r>
                            <m:rPr>
                              <m:nor/>
                            </m:rPr>
                            <a:rPr lang="el-GR"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Δ</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0"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num>
                        <m:den>
                          <m:r>
                            <m:rPr>
                              <m:nor/>
                            </m:rPr>
                            <a:rPr lang="el-GR"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Δ</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den>
                      </m:f>
                    </m:oMath>
                  </m:oMathPara>
                </a14:m>
                <a:endParaRPr kumimoji="1" lang="zh-CN" altLang="en-US" dirty="0"/>
              </a:p>
            </p:txBody>
          </p:sp>
        </mc:Choice>
        <mc:Fallback xmlns="">
          <p:sp>
            <p:nvSpPr>
              <p:cNvPr id="2" name="文本框 1">
                <a:extLst>
                  <a:ext uri="{FF2B5EF4-FFF2-40B4-BE49-F238E27FC236}">
                    <a16:creationId xmlns:a16="http://schemas.microsoft.com/office/drawing/2014/main" id="{47C3A901-06E9-C84F-CEDF-0E910369849A}"/>
                  </a:ext>
                </a:extLst>
              </p:cNvPr>
              <p:cNvSpPr txBox="1">
                <a:spLocks noRot="1" noChangeAspect="1" noMove="1" noResize="1" noEditPoints="1" noAdjustHandles="1" noChangeArrowheads="1" noChangeShapeType="1" noTextEdit="1"/>
              </p:cNvSpPr>
              <p:nvPr/>
            </p:nvSpPr>
            <p:spPr>
              <a:xfrm>
                <a:off x="663017" y="4557487"/>
                <a:ext cx="6438879" cy="704745"/>
              </a:xfrm>
              <a:prstGeom prst="rect">
                <a:avLst/>
              </a:prstGeom>
              <a:blipFill>
                <a:blip r:embed="rId3"/>
                <a:stretch>
                  <a:fillRect l="-591" t="-14286" r="-984"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F09C247-F7CE-F952-4026-E44D679C3A97}"/>
                  </a:ext>
                </a:extLst>
              </p:cNvPr>
              <p:cNvSpPr txBox="1"/>
              <p:nvPr/>
            </p:nvSpPr>
            <p:spPr>
              <a:xfrm>
                <a:off x="2517775" y="5694624"/>
                <a:ext cx="4078360" cy="7026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b="0" i="1" smtClean="0">
                              <a:latin typeface="Cambria Math" panose="02040503050406030204" pitchFamily="18" charset="0"/>
                            </a:rPr>
                          </m:ctrlPr>
                        </m:fPr>
                        <m:num>
                          <m:r>
                            <m:rPr>
                              <m:nor/>
                            </m:rPr>
                            <a:rPr kumimoji="1" lang="en-US" altLang="zh-CN" b="0" i="1" smtClean="0">
                              <a:latin typeface="Times New Roman" panose="02020603050405020304" pitchFamily="18" charset="0"/>
                              <a:cs typeface="Times New Roman" panose="02020603050405020304" pitchFamily="18" charset="0"/>
                            </a:rPr>
                            <m:t>d</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num>
                        <m:den>
                          <m:r>
                            <m:rPr>
                              <m:nor/>
                            </m:rPr>
                            <a:rPr kumimoji="1" lang="en-US" altLang="zh-CN" b="0" i="1" smtClean="0">
                              <a:latin typeface="Times New Roman" panose="02020603050405020304" pitchFamily="18" charset="0"/>
                              <a:cs typeface="Times New Roman" panose="02020603050405020304" pitchFamily="18" charset="0"/>
                            </a:rPr>
                            <m:t>d</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den>
                      </m:f>
                      <m:r>
                        <a:rPr kumimoji="1" lang="en-US" altLang="zh-CN" b="0" i="0" smtClean="0">
                          <a:latin typeface="Cambria Math" panose="02040503050406030204" pitchFamily="18" charset="0"/>
                        </a:rPr>
                        <m:t>=</m:t>
                      </m:r>
                      <m:r>
                        <a:rPr kumimoji="1" lang="en-US" altLang="zh-CN" i="1">
                          <a:latin typeface="Cambria Math" panose="02040503050406030204" pitchFamily="18" charset="0"/>
                        </a:rPr>
                        <m: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oMath>
                  </m:oMathPara>
                </a14:m>
                <a:endParaRPr kumimoji="1" lang="zh-CN" altLang="en-US"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1F09C247-F7CE-F952-4026-E44D679C3A97}"/>
                  </a:ext>
                </a:extLst>
              </p:cNvPr>
              <p:cNvSpPr txBox="1">
                <a:spLocks noRot="1" noChangeAspect="1" noMove="1" noResize="1" noEditPoints="1" noAdjustHandles="1" noChangeArrowheads="1" noChangeShapeType="1" noTextEdit="1"/>
              </p:cNvSpPr>
              <p:nvPr/>
            </p:nvSpPr>
            <p:spPr>
              <a:xfrm>
                <a:off x="2517775" y="5694624"/>
                <a:ext cx="4078360" cy="702628"/>
              </a:xfrm>
              <a:prstGeom prst="rect">
                <a:avLst/>
              </a:prstGeom>
              <a:blipFill>
                <a:blip r:embed="rId4"/>
                <a:stretch>
                  <a:fillRect l="-311" t="-14286" r="-932" b="-1428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6585C9D4-62CF-D0F4-6EF9-DC11D36008F6}"/>
              </a:ext>
            </a:extLst>
          </p:cNvPr>
          <p:cNvSpPr>
            <a:spLocks noGrp="1" noChangeArrowheads="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DC56466-AADF-21DA-4404-CE8E3F546E2A}"/>
              </a:ext>
            </a:extLst>
          </p:cNvPr>
          <p:cNvSpPr>
            <a:spLocks noGrp="1" noChangeArrowheads="1"/>
          </p:cNvSpPr>
          <p:nvPr>
            <p:ph idx="1"/>
          </p:nvPr>
        </p:nvSpPr>
        <p:spPr>
          <a:xfrm>
            <a:off x="632883" y="1718024"/>
            <a:ext cx="7697982" cy="671724"/>
          </a:xfrm>
        </p:spPr>
        <p:txBody>
          <a:bodyPr>
            <a:normAutofit/>
          </a:bodyPr>
          <a:lstStyle/>
          <a:p>
            <a:pPr marL="0" indent="0">
              <a:buNone/>
            </a:pPr>
            <a:r>
              <a:rPr lang="zh-CN" altLang="en-US" dirty="0"/>
              <a:t>故</a:t>
            </a:r>
          </a:p>
        </p:txBody>
      </p:sp>
      <p:sp>
        <p:nvSpPr>
          <p:cNvPr id="8" name="内容占位符 2">
            <a:extLst>
              <a:ext uri="{FF2B5EF4-FFF2-40B4-BE49-F238E27FC236}">
                <a16:creationId xmlns:a16="http://schemas.microsoft.com/office/drawing/2014/main" id="{8ED8CF27-7536-4174-B413-AD5AAE096242}"/>
              </a:ext>
            </a:extLst>
          </p:cNvPr>
          <p:cNvSpPr txBox="1">
            <a:spLocks/>
          </p:cNvSpPr>
          <p:nvPr/>
        </p:nvSpPr>
        <p:spPr bwMode="auto">
          <a:xfrm>
            <a:off x="775759" y="2415942"/>
            <a:ext cx="10809816" cy="380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533400" indent="-533400" algn="l" rtl="0" eaLnBrk="0" fontAlgn="base" hangingPunct="0">
              <a:lnSpc>
                <a:spcPct val="120000"/>
              </a:lnSpc>
              <a:spcBef>
                <a:spcPct val="0"/>
              </a:spcBef>
              <a:spcAft>
                <a:spcPct val="0"/>
              </a:spcAft>
              <a:buClr>
                <a:srgbClr val="0000FF"/>
              </a:buClr>
              <a:buFont typeface="Wingdings" panose="05000000000000000000" pitchFamily="2" charset="2"/>
              <a:buAutoNum type="arabicPeriod"/>
              <a:defRPr kumimoji="1" sz="2800" b="1">
                <a:solidFill>
                  <a:schemeClr val="tx1"/>
                </a:solidFill>
                <a:latin typeface="+mn-lt"/>
                <a:ea typeface="+mn-ea"/>
                <a:cs typeface="+mn-cs"/>
              </a:defRPr>
            </a:lvl1pPr>
            <a:lvl2pPr marL="914400" indent="-457200" algn="l" rtl="0" eaLnBrk="0" fontAlgn="base" hangingPunct="0">
              <a:lnSpc>
                <a:spcPct val="120000"/>
              </a:lnSpc>
              <a:spcBef>
                <a:spcPct val="0"/>
              </a:spcBef>
              <a:spcAft>
                <a:spcPct val="0"/>
              </a:spcAft>
              <a:buClr>
                <a:srgbClr val="CC00CC"/>
              </a:buClr>
              <a:buAutoNum type="arabicParenR"/>
              <a:defRPr kumimoji="1" sz="2400" b="1">
                <a:solidFill>
                  <a:schemeClr val="tx1"/>
                </a:solidFill>
                <a:latin typeface="+mn-lt"/>
                <a:ea typeface="+mn-ea"/>
              </a:defRPr>
            </a:lvl2pPr>
            <a:lvl3pPr marL="1371600" indent="-457200" algn="l" rtl="0" eaLnBrk="0" fontAlgn="base" hangingPunct="0">
              <a:spcBef>
                <a:spcPct val="20000"/>
              </a:spcBef>
              <a:spcAft>
                <a:spcPct val="0"/>
              </a:spcAft>
              <a:buChar char="•"/>
              <a:defRPr kumimoji="1" sz="2400">
                <a:solidFill>
                  <a:schemeClr val="tx1"/>
                </a:solidFill>
                <a:latin typeface="+mn-lt"/>
                <a:ea typeface="宋体" pitchFamily="2" charset="-122"/>
              </a:defRPr>
            </a:lvl3pPr>
            <a:lvl4pPr marL="1752600" indent="-381000" algn="l" rtl="0" eaLnBrk="0" fontAlgn="base" hangingPunct="0">
              <a:spcBef>
                <a:spcPct val="20000"/>
              </a:spcBef>
              <a:spcAft>
                <a:spcPct val="0"/>
              </a:spcAft>
              <a:buChar char="–"/>
              <a:defRPr kumimoji="1" sz="2000">
                <a:solidFill>
                  <a:schemeClr val="tx1"/>
                </a:solidFill>
                <a:latin typeface="+mn-lt"/>
                <a:ea typeface="宋体" pitchFamily="2" charset="-122"/>
              </a:defRPr>
            </a:lvl4pPr>
            <a:lvl5pPr marL="2209800" indent="-381000" algn="l" rtl="0" eaLnBrk="0" fontAlgn="base" hangingPunct="0">
              <a:spcBef>
                <a:spcPct val="20000"/>
              </a:spcBef>
              <a:spcAft>
                <a:spcPct val="0"/>
              </a:spcAft>
              <a:buChar char="»"/>
              <a:defRPr kumimoji="1" sz="2000">
                <a:solidFill>
                  <a:schemeClr val="tx1"/>
                </a:solidFill>
                <a:latin typeface="+mn-lt"/>
                <a:ea typeface="宋体" pitchFamily="2" charset="-122"/>
              </a:defRPr>
            </a:lvl5pPr>
            <a:lvl6pPr marL="2667000" indent="-381000" algn="l" rtl="0" fontAlgn="base">
              <a:spcBef>
                <a:spcPct val="20000"/>
              </a:spcBef>
              <a:spcAft>
                <a:spcPct val="0"/>
              </a:spcAft>
              <a:buChar char="»"/>
              <a:defRPr kumimoji="1" sz="2000">
                <a:solidFill>
                  <a:schemeClr val="tx1"/>
                </a:solidFill>
                <a:latin typeface="+mn-lt"/>
                <a:ea typeface="宋体" pitchFamily="2" charset="-122"/>
              </a:defRPr>
            </a:lvl6pPr>
            <a:lvl7pPr marL="3124200" indent="-381000" algn="l" rtl="0" fontAlgn="base">
              <a:spcBef>
                <a:spcPct val="20000"/>
              </a:spcBef>
              <a:spcAft>
                <a:spcPct val="0"/>
              </a:spcAft>
              <a:buChar char="»"/>
              <a:defRPr kumimoji="1" sz="2000">
                <a:solidFill>
                  <a:schemeClr val="tx1"/>
                </a:solidFill>
                <a:latin typeface="+mn-lt"/>
                <a:ea typeface="宋体" pitchFamily="2" charset="-122"/>
              </a:defRPr>
            </a:lvl7pPr>
            <a:lvl8pPr marL="3581400" indent="-381000" algn="l" rtl="0" fontAlgn="base">
              <a:spcBef>
                <a:spcPct val="20000"/>
              </a:spcBef>
              <a:spcAft>
                <a:spcPct val="0"/>
              </a:spcAft>
              <a:buChar char="»"/>
              <a:defRPr kumimoji="1" sz="2000">
                <a:solidFill>
                  <a:schemeClr val="tx1"/>
                </a:solidFill>
                <a:latin typeface="+mn-lt"/>
                <a:ea typeface="宋体" pitchFamily="2" charset="-122"/>
              </a:defRPr>
            </a:lvl8pPr>
            <a:lvl9pPr marL="4038600" indent="-381000" algn="l" rtl="0" fontAlgn="base">
              <a:spcBef>
                <a:spcPct val="20000"/>
              </a:spcBef>
              <a:spcAft>
                <a:spcPct val="0"/>
              </a:spcAft>
              <a:buChar char="»"/>
              <a:defRPr kumimoji="1" sz="2000">
                <a:solidFill>
                  <a:schemeClr val="tx1"/>
                </a:solidFill>
                <a:latin typeface="+mn-lt"/>
                <a:ea typeface="宋体" pitchFamily="2" charset="-122"/>
              </a:defRPr>
            </a:lvl9pPr>
          </a:lstStyle>
          <a:p>
            <a:pPr marL="0" indent="0">
              <a:lnSpc>
                <a:spcPct val="150000"/>
              </a:lnSpc>
              <a:buNone/>
              <a:defRPr/>
            </a:pPr>
            <a:r>
              <a:rPr lang="zh-CN" altLang="en-US" sz="2400" kern="0" dirty="0"/>
              <a:t>同理有</a:t>
            </a:r>
            <a:endParaRPr lang="en-US" altLang="zh-CN" sz="2400" kern="0" dirty="0"/>
          </a:p>
          <a:p>
            <a:pPr marL="0" indent="0" eaLnBrk="1" hangingPunct="1">
              <a:lnSpc>
                <a:spcPct val="150000"/>
              </a:lnSpc>
              <a:buClrTx/>
              <a:buNone/>
              <a:defRPr/>
            </a:pPr>
            <a:r>
              <a:rPr lang="en-US" altLang="zh-CN" sz="2400" i="1" dirty="0">
                <a:solidFill>
                  <a:srgbClr val="000000"/>
                </a:solidFill>
                <a:cs typeface="Times New Roman" panose="02020603050405020304" pitchFamily="18" charset="0"/>
                <a:sym typeface="Symbol" panose="05050102010706020507" pitchFamily="18" charset="2"/>
              </a:rPr>
              <a:t> </a:t>
            </a:r>
            <a:r>
              <a:rPr lang="en-US" altLang="zh-CN" sz="2400" i="1" dirty="0" err="1">
                <a:solidFill>
                  <a:srgbClr val="000000"/>
                </a:solidFill>
                <a:cs typeface="Times New Roman" panose="02020603050405020304" pitchFamily="18" charset="0"/>
                <a:sym typeface="Symbol" panose="05050102010706020507" pitchFamily="18" charset="2"/>
              </a:rPr>
              <a:t>P</a:t>
            </a:r>
            <a:r>
              <a:rPr lang="en-US" altLang="zh-CN" sz="2400" i="1" baseline="-25000" dirty="0" err="1">
                <a:solidFill>
                  <a:srgbClr val="000000"/>
                </a:solidFill>
                <a:cs typeface="Times New Roman" panose="02020603050405020304" pitchFamily="18" charset="0"/>
                <a:sym typeface="Symbol" panose="05050102010706020507" pitchFamily="18" charset="2"/>
              </a:rPr>
              <a:t>k</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l-GR" altLang="zh-CN" sz="2400" dirty="0">
                <a:solidFill>
                  <a:srgbClr val="000000"/>
                </a:solidFill>
                <a:cs typeface="Times New Roman" panose="02020603050405020304" pitchFamily="18" charset="0"/>
                <a:sym typeface="Symbol" panose="05050102010706020507" pitchFamily="18" charset="2"/>
              </a:rPr>
              <a:t>Δ</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 </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)=P{[</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l-GR" altLang="zh-CN" sz="2400" dirty="0">
                <a:solidFill>
                  <a:srgbClr val="000000"/>
                </a:solidFill>
                <a:cs typeface="Times New Roman" panose="02020603050405020304" pitchFamily="18" charset="0"/>
                <a:sym typeface="Symbol" panose="05050102010706020507" pitchFamily="18" charset="2"/>
              </a:rPr>
              <a:t>Δ</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k</a:t>
            </a:r>
            <a:r>
              <a:rPr lang="en-US" altLang="zh-CN" sz="2400" dirty="0">
                <a:solidFill>
                  <a:srgbClr val="000000"/>
                </a:solidFill>
                <a:cs typeface="Times New Roman" panose="02020603050405020304" pitchFamily="18" charset="0"/>
                <a:sym typeface="Symbol" panose="05050102010706020507" pitchFamily="18" charset="2"/>
              </a:rPr>
              <a:t>}</a:t>
            </a:r>
          </a:p>
          <a:p>
            <a:pPr marL="0" indent="0" eaLnBrk="1" hangingPunct="1">
              <a:lnSpc>
                <a:spcPct val="150000"/>
              </a:lnSpc>
              <a:buClrTx/>
              <a:buNone/>
              <a:defRPr/>
            </a:pPr>
            <a:r>
              <a:rPr lang="en-US" altLang="zh-CN" sz="2400" dirty="0">
                <a:solidFill>
                  <a:srgbClr val="000000"/>
                </a:solidFill>
                <a:cs typeface="Times New Roman" panose="02020603050405020304" pitchFamily="18" charset="0"/>
                <a:sym typeface="Symbol" panose="05050102010706020507" pitchFamily="18" charset="2"/>
              </a:rPr>
              <a:t>                 =P{[</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k</a:t>
            </a:r>
            <a:r>
              <a:rPr lang="en-US" altLang="zh-CN" sz="2400" dirty="0">
                <a:solidFill>
                  <a:srgbClr val="000000"/>
                </a:solidFill>
                <a:cs typeface="Times New Roman" panose="02020603050405020304" pitchFamily="18" charset="0"/>
                <a:sym typeface="Symbol" panose="05050102010706020507" pitchFamily="18" charset="2"/>
              </a:rPr>
              <a:t>, [</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l-GR" altLang="zh-CN" sz="2400" dirty="0">
                <a:solidFill>
                  <a:srgbClr val="000000"/>
                </a:solidFill>
                <a:cs typeface="Times New Roman" panose="02020603050405020304" pitchFamily="18" charset="0"/>
                <a:sym typeface="Symbol" panose="05050102010706020507" pitchFamily="18" charset="2"/>
              </a:rPr>
              <a:t>Δ</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)]=0}</a:t>
            </a:r>
          </a:p>
          <a:p>
            <a:pPr marL="0" indent="0" eaLnBrk="1" hangingPunct="1">
              <a:lnSpc>
                <a:spcPct val="150000"/>
              </a:lnSpc>
              <a:buClrTx/>
              <a:buNone/>
              <a:defRPr/>
            </a:pPr>
            <a:r>
              <a:rPr lang="en-US" altLang="zh-CN" sz="2400" dirty="0">
                <a:solidFill>
                  <a:srgbClr val="000000"/>
                </a:solidFill>
                <a:cs typeface="Times New Roman" panose="02020603050405020304" pitchFamily="18" charset="0"/>
                <a:sym typeface="Symbol" panose="05050102010706020507" pitchFamily="18" charset="2"/>
              </a:rPr>
              <a:t>                   + P{[</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k</a:t>
            </a:r>
            <a:r>
              <a:rPr lang="en-US" altLang="zh-CN" sz="2400" dirty="0">
                <a:solidFill>
                  <a:srgbClr val="000000"/>
                </a:solidFill>
                <a:cs typeface="Times New Roman" panose="02020603050405020304" pitchFamily="18" charset="0"/>
                <a:sym typeface="Symbol" panose="05050102010706020507" pitchFamily="18" charset="2"/>
              </a:rPr>
              <a:t>-1, [</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l-GR" altLang="zh-CN" sz="2400" dirty="0">
                <a:solidFill>
                  <a:srgbClr val="000000"/>
                </a:solidFill>
                <a:cs typeface="Times New Roman" panose="02020603050405020304" pitchFamily="18" charset="0"/>
                <a:sym typeface="Symbol" panose="05050102010706020507" pitchFamily="18" charset="2"/>
              </a:rPr>
              <a:t>Δ</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)]=1}</a:t>
            </a:r>
          </a:p>
          <a:p>
            <a:pPr marL="0" indent="0" eaLnBrk="1" hangingPunct="1">
              <a:lnSpc>
                <a:spcPct val="150000"/>
              </a:lnSpc>
              <a:buClrTx/>
              <a:buNone/>
              <a:defRPr/>
            </a:pPr>
            <a:r>
              <a:rPr lang="en-US" altLang="zh-CN" sz="2400" dirty="0">
                <a:solidFill>
                  <a:srgbClr val="000000"/>
                </a:solidFill>
                <a:cs typeface="Times New Roman" panose="02020603050405020304" pitchFamily="18" charset="0"/>
                <a:sym typeface="Symbol" panose="05050102010706020507" pitchFamily="18" charset="2"/>
              </a:rPr>
              <a:t>                   + P{[</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k</a:t>
            </a:r>
            <a:r>
              <a:rPr lang="en-US" altLang="zh-CN" sz="2400" dirty="0">
                <a:solidFill>
                  <a:srgbClr val="000000"/>
                </a:solidFill>
                <a:cs typeface="Times New Roman" panose="02020603050405020304" pitchFamily="18" charset="0"/>
                <a:sym typeface="Symbol" panose="05050102010706020507" pitchFamily="18" charset="2"/>
              </a:rPr>
              <a:t>-2, [</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l-GR" altLang="zh-CN" sz="2400" dirty="0">
                <a:solidFill>
                  <a:srgbClr val="000000"/>
                </a:solidFill>
                <a:cs typeface="Times New Roman" panose="02020603050405020304" pitchFamily="18" charset="0"/>
                <a:sym typeface="Symbol" panose="05050102010706020507" pitchFamily="18" charset="2"/>
              </a:rPr>
              <a:t>Δ</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N</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 ≥2}</a:t>
            </a:r>
          </a:p>
          <a:p>
            <a:pPr marL="0" indent="0">
              <a:lnSpc>
                <a:spcPct val="150000"/>
              </a:lnSpc>
              <a:buNone/>
              <a:defRPr/>
            </a:pPr>
            <a:r>
              <a:rPr lang="en-US" altLang="zh-CN" sz="2400" dirty="0">
                <a:solidFill>
                  <a:srgbClr val="000000"/>
                </a:solidFill>
                <a:cs typeface="Times New Roman" panose="02020603050405020304" pitchFamily="18" charset="0"/>
                <a:sym typeface="Symbol" panose="05050102010706020507" pitchFamily="18" charset="2"/>
              </a:rPr>
              <a:t>              =</a:t>
            </a:r>
            <a:r>
              <a:rPr lang="en-US" altLang="zh-CN" sz="2400" i="1" dirty="0">
                <a:solidFill>
                  <a:srgbClr val="000000"/>
                </a:solidFill>
                <a:cs typeface="Times New Roman" panose="02020603050405020304" pitchFamily="18" charset="0"/>
                <a:sym typeface="Symbol" panose="05050102010706020507" pitchFamily="18" charset="2"/>
              </a:rPr>
              <a:t>P</a:t>
            </a:r>
            <a:r>
              <a:rPr lang="en-US" altLang="zh-CN" sz="2400" i="1" baseline="-25000" dirty="0">
                <a:solidFill>
                  <a:srgbClr val="000000"/>
                </a:solidFill>
                <a:cs typeface="Times New Roman" panose="02020603050405020304" pitchFamily="18" charset="0"/>
                <a:sym typeface="Symbol" panose="05050102010706020507" pitchFamily="18" charset="2"/>
              </a:rPr>
              <a:t>k</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 </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)[1-(</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l-GR" altLang="zh-CN" sz="2400" dirty="0">
                <a:solidFill>
                  <a:srgbClr val="000000"/>
                </a:solidFill>
                <a:cs typeface="Times New Roman" panose="02020603050405020304" pitchFamily="18" charset="0"/>
                <a:sym typeface="Symbol" panose="05050102010706020507" pitchFamily="18" charset="2"/>
              </a:rPr>
              <a:t> Δ</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 </a:t>
            </a:r>
            <a:r>
              <a:rPr lang="en-US" altLang="zh-CN" sz="2400" dirty="0">
                <a:solidFill>
                  <a:srgbClr val="000000"/>
                </a:solidFill>
                <a:cs typeface="Times New Roman" panose="02020603050405020304" pitchFamily="18" charset="0"/>
                <a:sym typeface="Symbol" panose="05050102010706020507" pitchFamily="18" charset="2"/>
              </a:rPr>
              <a:t>+ </a:t>
            </a:r>
            <a:r>
              <a:rPr lang="en-US" altLang="zh-CN" sz="2400" i="1" dirty="0">
                <a:solidFill>
                  <a:srgbClr val="000000"/>
                </a:solidFill>
                <a:cs typeface="Times New Roman" panose="02020603050405020304" pitchFamily="18" charset="0"/>
                <a:sym typeface="Symbol" panose="05050102010706020507" pitchFamily="18" charset="2"/>
              </a:rPr>
              <a:t>P</a:t>
            </a:r>
            <a:r>
              <a:rPr lang="en-US" altLang="zh-CN" sz="2400" i="1" baseline="-25000" dirty="0">
                <a:solidFill>
                  <a:srgbClr val="000000"/>
                </a:solidFill>
                <a:cs typeface="Times New Roman" panose="02020603050405020304" pitchFamily="18" charset="0"/>
                <a:sym typeface="Symbol" panose="05050102010706020507" pitchFamily="18" charset="2"/>
              </a:rPr>
              <a:t>k</a:t>
            </a:r>
            <a:r>
              <a:rPr lang="en-US" altLang="zh-CN" sz="2400" baseline="-25000" dirty="0">
                <a:solidFill>
                  <a:srgbClr val="000000"/>
                </a:solidFill>
                <a:cs typeface="Times New Roman" panose="02020603050405020304" pitchFamily="18" charset="0"/>
                <a:sym typeface="Symbol" panose="05050102010706020507" pitchFamily="18" charset="2"/>
              </a:rPr>
              <a:t>-1</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 </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baseline="-25000" dirty="0">
                <a:solidFill>
                  <a:srgbClr val="000000"/>
                </a:solidFill>
                <a:cs typeface="Times New Roman" panose="02020603050405020304" pitchFamily="18" charset="0"/>
                <a:sym typeface="Symbol" panose="05050102010706020507" pitchFamily="18" charset="2"/>
              </a:rPr>
              <a:t>0</a:t>
            </a:r>
            <a:r>
              <a:rPr lang="en-US" altLang="zh-CN" sz="2400" dirty="0">
                <a:solidFill>
                  <a:srgbClr val="000000"/>
                </a:solidFill>
                <a:cs typeface="Times New Roman" panose="02020603050405020304" pitchFamily="18" charset="0"/>
                <a:sym typeface="Symbol" panose="05050102010706020507" pitchFamily="18" charset="2"/>
              </a:rPr>
              <a:t>+</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r>
              <a:rPr lang="el-GR" altLang="zh-CN" sz="2400" dirty="0">
                <a:solidFill>
                  <a:srgbClr val="000000"/>
                </a:solidFill>
                <a:cs typeface="Times New Roman" panose="02020603050405020304" pitchFamily="18" charset="0"/>
                <a:sym typeface="Symbol" panose="05050102010706020507" pitchFamily="18" charset="2"/>
              </a:rPr>
              <a:t> Δ</a:t>
            </a:r>
            <a:r>
              <a:rPr lang="en-US" altLang="zh-CN" sz="2400" i="1" dirty="0">
                <a:solidFill>
                  <a:srgbClr val="000000"/>
                </a:solidFill>
                <a:cs typeface="Times New Roman" panose="02020603050405020304" pitchFamily="18" charset="0"/>
                <a:sym typeface="Symbol" panose="05050102010706020507" pitchFamily="18" charset="2"/>
              </a:rPr>
              <a:t>t </a:t>
            </a:r>
            <a:r>
              <a:rPr lang="en-US" altLang="zh-CN" sz="2400" dirty="0">
                <a:solidFill>
                  <a:srgbClr val="000000"/>
                </a:solidFill>
                <a:cs typeface="Times New Roman" panose="02020603050405020304" pitchFamily="18" charset="0"/>
                <a:sym typeface="Symbol" panose="05050102010706020507" pitchFamily="18" charset="2"/>
              </a:rPr>
              <a:t>+ o(</a:t>
            </a:r>
            <a:r>
              <a:rPr lang="el-GR" altLang="zh-CN" sz="2400" dirty="0">
                <a:solidFill>
                  <a:srgbClr val="000000"/>
                </a:solidFill>
                <a:cs typeface="Times New Roman" panose="02020603050405020304" pitchFamily="18" charset="0"/>
                <a:sym typeface="Symbol" panose="05050102010706020507" pitchFamily="18" charset="2"/>
              </a:rPr>
              <a:t>Δ</a:t>
            </a:r>
            <a:r>
              <a:rPr lang="en-US" altLang="zh-CN" sz="2400" i="1" dirty="0">
                <a:solidFill>
                  <a:srgbClr val="000000"/>
                </a:solidFill>
                <a:cs typeface="Times New Roman" panose="02020603050405020304" pitchFamily="18" charset="0"/>
                <a:sym typeface="Symbol" panose="05050102010706020507" pitchFamily="18" charset="2"/>
              </a:rPr>
              <a:t>t</a:t>
            </a:r>
            <a:r>
              <a:rPr lang="en-US" altLang="zh-CN" sz="2400" dirty="0">
                <a:solidFill>
                  <a:srgbClr val="000000"/>
                </a:solidFill>
                <a:cs typeface="Times New Roman" panose="02020603050405020304" pitchFamily="18" charset="0"/>
                <a:sym typeface="Symbol" panose="05050102010706020507" pitchFamily="18" charset="2"/>
              </a:rPr>
              <a:t>)]</a:t>
            </a:r>
            <a:endParaRPr lang="zh-CN" altLang="en-US" sz="2400" kern="0" dirty="0"/>
          </a:p>
          <a:p>
            <a:pPr marL="0" indent="0">
              <a:lnSpc>
                <a:spcPct val="150000"/>
              </a:lnSpc>
              <a:buNone/>
              <a:defRPr/>
            </a:pPr>
            <a:endParaRPr lang="zh-CN" altLang="en-US" sz="2400" kern="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61F5032-F68A-F29B-5760-5DF98C10446D}"/>
                  </a:ext>
                </a:extLst>
              </p:cNvPr>
              <p:cNvSpPr txBox="1"/>
              <p:nvPr/>
            </p:nvSpPr>
            <p:spPr>
              <a:xfrm>
                <a:off x="632883" y="1141742"/>
                <a:ext cx="8448675" cy="542649"/>
              </a:xfrm>
              <a:prstGeom prst="rect">
                <a:avLst/>
              </a:prstGeom>
              <a:noFill/>
            </p:spPr>
            <p:txBody>
              <a:bodyPr wrap="square" lIns="0" tIns="0" rIns="0" bIns="0" rtlCol="0">
                <a:spAutoFit/>
              </a:bodyPr>
              <a:lstStyle/>
              <a:p>
                <a14:m>
                  <m:oMath xmlns:m="http://schemas.openxmlformats.org/officeDocument/2006/math">
                    <m:r>
                      <m:rPr>
                        <m:nor/>
                      </m:rPr>
                      <a:rPr kumimoji="1" lang="en-US" altLang="zh-CN" dirty="0" smtClean="0">
                        <a:latin typeface="Cambria Math" panose="02040503050406030204" pitchFamily="18" charset="0"/>
                        <a:cs typeface="Times New Roman" panose="02020603050405020304" pitchFamily="18" charset="0"/>
                        <a:sym typeface="Symbol" panose="05050102010706020507" pitchFamily="18" charset="2"/>
                      </a:rPr>
                      <m:t>l</m:t>
                    </m:r>
                    <m:r>
                      <m:rPr>
                        <m:nor/>
                      </m:rPr>
                      <a:rPr kumimoji="1" lang="en-US" altLang="zh-CN" b="0" dirty="0" smtClean="0">
                        <a:latin typeface="Times New Roman" panose="02020603050405020304" pitchFamily="18" charset="0"/>
                        <a:cs typeface="Times New Roman" panose="02020603050405020304" pitchFamily="18" charset="0"/>
                        <a:sym typeface="Symbol" panose="05050102010706020507" pitchFamily="18" charset="2"/>
                      </a:rPr>
                      <m:t>n</m:t>
                    </m:r>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a:rPr lang="en-US" altLang="zh-CN" i="1" dirty="0">
                        <a:solidFill>
                          <a:srgbClr val="000000"/>
                        </a:solidFill>
                        <a:latin typeface="Cambria Math" panose="02040503050406030204" pitchFamily="18" charset="0"/>
                        <a:cs typeface="Times New Roman" panose="02020603050405020304" pitchFamily="18" charset="0"/>
                        <a:sym typeface="Symbol" panose="05050102010706020507" pitchFamily="18" charset="2"/>
                      </a:rPr>
                      <m:t> </m:t>
                    </m:r>
                    <m:r>
                      <a:rPr kumimoji="1" lang="en-US" altLang="zh-CN" b="0" i="0" smtClean="0">
                        <a:latin typeface="Cambria Math" panose="02040503050406030204" pitchFamily="18" charset="0"/>
                      </a:rPr>
                      <m:t>=</m:t>
                    </m:r>
                    <m:r>
                      <a:rPr kumimoji="1" lang="en-US" altLang="zh-CN" i="1">
                        <a:latin typeface="Cambria Math" panose="02040503050406030204" pitchFamily="18" charset="0"/>
                      </a:rPr>
                      <m:t>−</m:t>
                    </m:r>
                    <m:nary>
                      <m:naryPr>
                        <m:ctrlPr>
                          <a:rPr kumimoji="1" lang="en-US" altLang="zh-CN" b="0"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0</m:t>
                        </m:r>
                      </m:sub>
                      <m:sup>
                        <m:r>
                          <a:rPr kumimoji="1" lang="en-US" altLang="zh-CN" b="0" i="1" smtClean="0">
                            <a:latin typeface="Cambria Math" panose="02040503050406030204" pitchFamily="18" charset="0"/>
                          </a:rPr>
                          <m:t>𝑡</m:t>
                        </m:r>
                      </m:sup>
                      <m:e>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b="0" i="1" smtClean="0">
                                <a:latin typeface="Cambria Math" panose="02040503050406030204" pitchFamily="18" charset="0"/>
                              </a:rPr>
                              <m:t>𝑢</m:t>
                            </m:r>
                          </m:e>
                        </m:d>
                        <m:r>
                          <a:rPr kumimoji="1" lang="en-US" altLang="zh-CN" b="0" i="1" smtClean="0">
                            <a:latin typeface="Cambria Math" panose="02040503050406030204" pitchFamily="18" charset="0"/>
                          </a:rPr>
                          <m:t>𝑑𝑢</m:t>
                        </m:r>
                      </m:e>
                    </m:nary>
                  </m:oMath>
                </a14:m>
                <a:r>
                  <a:rPr kumimoji="1" lang="en-US" altLang="zh-CN" dirty="0">
                    <a:latin typeface="Times New Roman" panose="02020603050405020304" pitchFamily="18" charset="0"/>
                    <a:cs typeface="Times New Roman" panose="02020603050405020304" pitchFamily="18" charset="0"/>
                  </a:rPr>
                  <a:t>=</a:t>
                </a:r>
                <a:r>
                  <a:rPr kumimoji="1" lang="en-US" altLang="zh-CN" dirty="0"/>
                  <a:t> </a:t>
                </a:r>
                <a14:m>
                  <m:oMath xmlns:m="http://schemas.openxmlformats.org/officeDocument/2006/math">
                    <m:r>
                      <a:rPr kumimoji="1" lang="en-US" altLang="zh-CN" i="1">
                        <a:latin typeface="Cambria Math" panose="02040503050406030204" pitchFamily="18" charset="0"/>
                      </a:rPr>
                      <m:t>−</m:t>
                    </m:r>
                    <m:nary>
                      <m:naryPr>
                        <m:ctrlPr>
                          <a:rPr kumimoji="1" lang="en-US" altLang="zh-CN" i="1">
                            <a:latin typeface="Cambria Math" panose="02040503050406030204" pitchFamily="18" charset="0"/>
                          </a:rPr>
                        </m:ctrlPr>
                      </m:naryPr>
                      <m:sub>
                        <m:sSub>
                          <m:sSubPr>
                            <m:ctrlPr>
                              <a:rPr kumimoji="1" lang="en-US" altLang="zh-CN" i="1" smtClean="0">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sub>
                      <m:sup>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b="0" i="1" smtClean="0">
                            <a:latin typeface="Cambria Math" panose="02040503050406030204" pitchFamily="18" charset="0"/>
                          </a:rPr>
                          <m:t>+</m:t>
                        </m:r>
                        <m:r>
                          <a:rPr kumimoji="1" lang="en-US" altLang="zh-CN" i="1">
                            <a:latin typeface="Cambria Math" panose="02040503050406030204" pitchFamily="18" charset="0"/>
                          </a:rPr>
                          <m:t>𝑡</m:t>
                        </m:r>
                      </m:sup>
                      <m:e>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r>
                              <a:rPr kumimoji="1" lang="en-US" altLang="zh-CN" b="0" i="1" smtClean="0">
                                <a:latin typeface="Cambria Math" panose="02040503050406030204" pitchFamily="18" charset="0"/>
                              </a:rPr>
                              <m:t>𝑠</m:t>
                            </m:r>
                          </m:e>
                        </m:d>
                        <m:r>
                          <a:rPr kumimoji="1" lang="en-US" altLang="zh-CN" i="1">
                            <a:latin typeface="Cambria Math" panose="02040503050406030204" pitchFamily="18" charset="0"/>
                          </a:rPr>
                          <m:t>𝑑</m:t>
                        </m:r>
                        <m:r>
                          <a:rPr kumimoji="1" lang="en-US" altLang="zh-CN" b="0" i="1" smtClean="0">
                            <a:latin typeface="Cambria Math" panose="02040503050406030204" pitchFamily="18" charset="0"/>
                          </a:rPr>
                          <m:t>𝑠</m:t>
                        </m:r>
                      </m:e>
                    </m:nary>
                  </m:oMath>
                </a14:m>
                <a:endParaRPr kumimoji="1" lang="zh-CN" altLang="en-US" dirty="0">
                  <a:latin typeface="Times New Roman" panose="02020603050405020304" pitchFamily="18" charset="0"/>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B61F5032-F68A-F29B-5760-5DF98C10446D}"/>
                  </a:ext>
                </a:extLst>
              </p:cNvPr>
              <p:cNvSpPr txBox="1">
                <a:spLocks noRot="1" noChangeAspect="1" noMove="1" noResize="1" noEditPoints="1" noAdjustHandles="1" noChangeArrowheads="1" noChangeShapeType="1" noTextEdit="1"/>
              </p:cNvSpPr>
              <p:nvPr/>
            </p:nvSpPr>
            <p:spPr>
              <a:xfrm>
                <a:off x="632883" y="1141742"/>
                <a:ext cx="8448675" cy="542649"/>
              </a:xfrm>
              <a:prstGeom prst="rect">
                <a:avLst/>
              </a:prstGeom>
              <a:blipFill>
                <a:blip r:embed="rId2"/>
                <a:stretch>
                  <a:fillRect l="-1199" t="-125000" b="-19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9486FE1-407A-BB7F-F395-12B93F394D16}"/>
                  </a:ext>
                </a:extLst>
              </p:cNvPr>
              <p:cNvSpPr txBox="1"/>
              <p:nvPr/>
            </p:nvSpPr>
            <p:spPr>
              <a:xfrm>
                <a:off x="384175" y="1710585"/>
                <a:ext cx="5248275" cy="5387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a:rPr lang="en-US" altLang="zh-CN" i="1" dirty="0">
                          <a:solidFill>
                            <a:srgbClr val="000000"/>
                          </a:solidFill>
                          <a:latin typeface="Cambria Math" panose="02040503050406030204" pitchFamily="18" charset="0"/>
                          <a:cs typeface="Times New Roman" panose="02020603050405020304" pitchFamily="18" charset="0"/>
                          <a:sym typeface="Symbol" panose="05050102010706020507" pitchFamily="18" charset="2"/>
                        </a:rPr>
                        <m:t> </m:t>
                      </m:r>
                      <m:r>
                        <a:rPr kumimoji="1" lang="en-US" altLang="zh-CN" b="0" i="0" smtClean="0">
                          <a:latin typeface="Cambria Math" panose="02040503050406030204" pitchFamily="18" charset="0"/>
                        </a:rPr>
                        <m:t>=</m:t>
                      </m:r>
                      <m:sSup>
                        <m:sSupPr>
                          <m:ctrlPr>
                            <a:rPr kumimoji="1" lang="en-US" altLang="zh-CN" b="0" i="1" smtClean="0">
                              <a:latin typeface="Cambria Math" panose="02040503050406030204" pitchFamily="18" charset="0"/>
                            </a:rPr>
                          </m:ctrlPr>
                        </m:sSupPr>
                        <m:e>
                          <m:r>
                            <a:rPr kumimoji="1" lang="en-US" altLang="zh-CN" b="0" i="1" smtClean="0">
                              <a:latin typeface="Cambria Math" panose="02040503050406030204" pitchFamily="18" charset="0"/>
                            </a:rPr>
                            <m:t>𝑒</m:t>
                          </m:r>
                        </m:e>
                        <m:sup>
                          <m:r>
                            <a:rPr kumimoji="1" lang="en-US" altLang="zh-CN" i="1">
                              <a:latin typeface="Cambria Math" panose="02040503050406030204" pitchFamily="18" charset="0"/>
                            </a:rPr>
                            <m:t>−</m:t>
                          </m:r>
                          <m:nary>
                            <m:naryPr>
                              <m:ctrlPr>
                                <a:rPr kumimoji="1" lang="en-US" altLang="zh-CN" i="1">
                                  <a:latin typeface="Cambria Math" panose="02040503050406030204" pitchFamily="18" charset="0"/>
                                </a:rPr>
                              </m:ctrlPr>
                            </m:naryPr>
                            <m:sub>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sub>
                            <m:sup>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sup>
                            <m:e>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𝑠</m:t>
                                  </m:r>
                                </m:e>
                              </m:d>
                              <m:r>
                                <a:rPr kumimoji="1" lang="en-US" altLang="zh-CN" i="1">
                                  <a:latin typeface="Cambria Math" panose="02040503050406030204" pitchFamily="18" charset="0"/>
                                </a:rPr>
                                <m:t>𝑑𝑠</m:t>
                              </m:r>
                            </m:e>
                          </m:nary>
                        </m:sup>
                      </m:sSup>
                    </m:oMath>
                  </m:oMathPara>
                </a14:m>
                <a:endParaRPr kumimoji="1" lang="zh-CN" altLang="en-US"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09486FE1-407A-BB7F-F395-12B93F394D16}"/>
                  </a:ext>
                </a:extLst>
              </p:cNvPr>
              <p:cNvSpPr txBox="1">
                <a:spLocks noRot="1" noChangeAspect="1" noMove="1" noResize="1" noEditPoints="1" noAdjustHandles="1" noChangeArrowheads="1" noChangeShapeType="1" noTextEdit="1"/>
              </p:cNvSpPr>
              <p:nvPr/>
            </p:nvSpPr>
            <p:spPr>
              <a:xfrm>
                <a:off x="384175" y="1710585"/>
                <a:ext cx="5248275" cy="538737"/>
              </a:xfrm>
              <a:prstGeom prst="rect">
                <a:avLst/>
              </a:prstGeom>
              <a:blipFill>
                <a:blip r:embed="rId3"/>
                <a:stretch>
                  <a:fillRect t="-90909" b="-11590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 calcmode="lin" valueType="num">
                                      <p:cBhvr additive="base">
                                        <p:cTn id="19"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 calcmode="lin" valueType="num">
                                      <p:cBhvr additive="base">
                                        <p:cTn id="2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par>
                          <p:cTn id="27" fill="hold" nodeType="afterGroup">
                            <p:stCondLst>
                              <p:cond delay="500"/>
                            </p:stCondLst>
                            <p:childTnLst>
                              <p:par>
                                <p:cTn id="28" presetID="2" presetClass="entr" presetSubtype="4" fill="hold" grpId="0" nodeType="afterEffect">
                                  <p:stCondLst>
                                    <p:cond delay="0"/>
                                  </p:stCondLst>
                                  <p:childTnLst>
                                    <p:set>
                                      <p:cBhvr>
                                        <p:cTn id="29" dur="1" fill="hold">
                                          <p:stCondLst>
                                            <p:cond delay="0"/>
                                          </p:stCondLst>
                                        </p:cTn>
                                        <p:tgtEl>
                                          <p:spTgt spid="8">
                                            <p:txEl>
                                              <p:pRg st="3" end="3"/>
                                            </p:txEl>
                                          </p:spTgt>
                                        </p:tgtEl>
                                        <p:attrNameLst>
                                          <p:attrName>style.visibility</p:attrName>
                                        </p:attrNameLst>
                                      </p:cBhvr>
                                      <p:to>
                                        <p:strVal val="visible"/>
                                      </p:to>
                                    </p:set>
                                    <p:anim calcmode="lin" valueType="num">
                                      <p:cBhvr additive="base">
                                        <p:cTn id="30"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par>
                          <p:cTn id="32" fill="hold" nodeType="afterGroup">
                            <p:stCondLst>
                              <p:cond delay="1000"/>
                            </p:stCondLst>
                            <p:childTnLst>
                              <p:par>
                                <p:cTn id="33" presetID="2" presetClass="entr" presetSubtype="4" fill="hold" grpId="0" nodeType="after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anim calcmode="lin" valueType="num">
                                      <p:cBhvr additive="base">
                                        <p:cTn id="3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
                                            <p:txEl>
                                              <p:pRg st="5" end="5"/>
                                            </p:txEl>
                                          </p:spTgt>
                                        </p:tgtEl>
                                        <p:attrNameLst>
                                          <p:attrName>style.visibility</p:attrName>
                                        </p:attrNameLst>
                                      </p:cBhvr>
                                      <p:to>
                                        <p:strVal val="visible"/>
                                      </p:to>
                                    </p:set>
                                    <p:anim calcmode="lin" valueType="num">
                                      <p:cBhvr additive="base">
                                        <p:cTn id="4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B0E85CE5-1219-C135-ECBC-6C59EFBC0018}"/>
              </a:ext>
            </a:extLst>
          </p:cNvPr>
          <p:cNvSpPr>
            <a:spLocks noGrp="1" noChangeArrowheads="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A44632A-C5AE-4780-89A1-FC859DD74CB4}"/>
              </a:ext>
            </a:extLst>
          </p:cNvPr>
          <p:cNvSpPr>
            <a:spLocks noGrp="1"/>
          </p:cNvSpPr>
          <p:nvPr>
            <p:ph idx="1"/>
          </p:nvPr>
        </p:nvSpPr>
        <p:spPr>
          <a:xfrm>
            <a:off x="844041" y="1285873"/>
            <a:ext cx="10055734" cy="5420521"/>
          </a:xfrm>
        </p:spPr>
        <p:txBody>
          <a:bodyPr>
            <a:normAutofit/>
          </a:bodyPr>
          <a:lstStyle/>
          <a:p>
            <a:pPr marL="0" indent="0">
              <a:lnSpc>
                <a:spcPct val="130000"/>
              </a:lnSpc>
              <a:buNone/>
              <a:defRPr/>
            </a:pPr>
            <a:r>
              <a:rPr lang="zh-CN" altLang="en-US" dirty="0"/>
              <a:t>整理得</a:t>
            </a:r>
            <a:endParaRPr lang="en-US" altLang="zh-CN" dirty="0"/>
          </a:p>
          <a:p>
            <a:pPr marL="0" indent="0">
              <a:lnSpc>
                <a:spcPct val="130000"/>
              </a:lnSpc>
              <a:buNone/>
              <a:defRPr/>
            </a:pPr>
            <a:endParaRPr lang="en-US" altLang="zh-CN" kern="1200" dirty="0">
              <a:solidFill>
                <a:srgbClr val="000000"/>
              </a:solidFill>
              <a:sym typeface="Symbol" panose="05050102010706020507" pitchFamily="18" charset="2"/>
            </a:endParaRPr>
          </a:p>
          <a:p>
            <a:pPr marL="0" indent="0">
              <a:lnSpc>
                <a:spcPct val="130000"/>
              </a:lnSpc>
              <a:spcBef>
                <a:spcPts val="1800"/>
              </a:spcBef>
              <a:buNone/>
              <a:defRPr/>
            </a:pPr>
            <a:endParaRPr lang="en-US" altLang="zh-CN" kern="1200" dirty="0">
              <a:solidFill>
                <a:srgbClr val="000000"/>
              </a:solidFill>
              <a:sym typeface="Symbol" panose="05050102010706020507" pitchFamily="18" charset="2"/>
            </a:endParaRPr>
          </a:p>
          <a:p>
            <a:pPr marL="0" indent="0">
              <a:lnSpc>
                <a:spcPct val="130000"/>
              </a:lnSpc>
              <a:spcBef>
                <a:spcPts val="1800"/>
              </a:spcBef>
              <a:buNone/>
              <a:defRPr/>
            </a:pPr>
            <a:r>
              <a:rPr lang="zh-CN" altLang="en-US" kern="1200" dirty="0">
                <a:solidFill>
                  <a:srgbClr val="000000"/>
                </a:solidFill>
                <a:sym typeface="Symbol" panose="05050102010706020507" pitchFamily="18" charset="2"/>
              </a:rPr>
              <a:t>令</a:t>
            </a:r>
            <a:r>
              <a:rPr lang="el-GR" altLang="zh-CN" kern="1200" dirty="0">
                <a:solidFill>
                  <a:srgbClr val="000000"/>
                </a:solidFill>
                <a:sym typeface="Symbol" panose="05050102010706020507" pitchFamily="18" charset="2"/>
              </a:rPr>
              <a:t>Δ</a:t>
            </a:r>
            <a:r>
              <a:rPr lang="en-US" altLang="zh-CN" i="1" kern="1200" dirty="0">
                <a:solidFill>
                  <a:srgbClr val="000000"/>
                </a:solidFill>
                <a:sym typeface="Symbol" panose="05050102010706020507" pitchFamily="18" charset="2"/>
              </a:rPr>
              <a:t>t</a:t>
            </a:r>
            <a:r>
              <a:rPr lang="en-US" altLang="zh-CN" kern="1200" dirty="0">
                <a:solidFill>
                  <a:srgbClr val="000000"/>
                </a:solidFill>
                <a:sym typeface="Symbol" panose="05050102010706020507" pitchFamily="18" charset="2"/>
              </a:rPr>
              <a:t>0</a:t>
            </a:r>
            <a:r>
              <a:rPr lang="zh-CN" altLang="en-US" kern="1200" dirty="0">
                <a:solidFill>
                  <a:srgbClr val="000000"/>
                </a:solidFill>
                <a:sym typeface="Symbol" panose="05050102010706020507" pitchFamily="18" charset="2"/>
              </a:rPr>
              <a:t>得</a:t>
            </a:r>
            <a:endParaRPr lang="en-US" altLang="zh-CN" kern="1200" dirty="0">
              <a:solidFill>
                <a:srgbClr val="000000"/>
              </a:solidFill>
              <a:sym typeface="Symbol" panose="05050102010706020507" pitchFamily="18" charset="2"/>
            </a:endParaRPr>
          </a:p>
          <a:p>
            <a:pPr marL="0" indent="0">
              <a:lnSpc>
                <a:spcPct val="130000"/>
              </a:lnSpc>
              <a:spcBef>
                <a:spcPts val="1800"/>
              </a:spcBef>
              <a:buNone/>
              <a:defRPr/>
            </a:pPr>
            <a:endParaRPr lang="en-US" altLang="zh-CN" kern="1200" dirty="0">
              <a:solidFill>
                <a:srgbClr val="000000"/>
              </a:solidFill>
              <a:sym typeface="Symbol" panose="05050102010706020507" pitchFamily="18" charset="2"/>
            </a:endParaRPr>
          </a:p>
          <a:p>
            <a:pPr marL="0" indent="0">
              <a:lnSpc>
                <a:spcPct val="130000"/>
              </a:lnSpc>
              <a:spcBef>
                <a:spcPts val="1800"/>
              </a:spcBef>
              <a:buNone/>
              <a:defRPr/>
            </a:pPr>
            <a:r>
              <a:rPr lang="en-US" altLang="zh-CN" kern="1200" dirty="0">
                <a:solidFill>
                  <a:srgbClr val="000000"/>
                </a:solidFill>
                <a:sym typeface="Symbol" panose="05050102010706020507" pitchFamily="18" charset="2"/>
              </a:rPr>
              <a:t>K=1</a:t>
            </a:r>
            <a:r>
              <a:rPr lang="zh-CN" altLang="en-US" kern="1200" dirty="0">
                <a:solidFill>
                  <a:srgbClr val="000000"/>
                </a:solidFill>
                <a:sym typeface="Symbol" panose="05050102010706020507" pitchFamily="18" charset="2"/>
              </a:rPr>
              <a:t>有</a:t>
            </a:r>
            <a:endParaRPr lang="en-US" altLang="zh-CN" kern="1200" dirty="0">
              <a:solidFill>
                <a:srgbClr val="000000"/>
              </a:solidFill>
              <a:sym typeface="Symbol" panose="05050102010706020507" pitchFamily="18" charset="2"/>
            </a:endParaRPr>
          </a:p>
          <a:p>
            <a:pPr marL="0" indent="0">
              <a:lnSpc>
                <a:spcPct val="130000"/>
              </a:lnSpc>
              <a:spcBef>
                <a:spcPts val="1800"/>
              </a:spcBef>
              <a:buNone/>
              <a:defRPr/>
            </a:pPr>
            <a:endParaRPr lang="en-US" altLang="zh-CN" kern="1200" dirty="0">
              <a:solidFill>
                <a:srgbClr val="000000"/>
              </a:solidFill>
              <a:sym typeface="Symbol" panose="05050102010706020507" pitchFamily="18" charset="2"/>
            </a:endParaRPr>
          </a:p>
          <a:p>
            <a:pPr marL="0" indent="0">
              <a:spcBef>
                <a:spcPts val="1200"/>
              </a:spcBef>
              <a:buNone/>
              <a:defRPr/>
            </a:pPr>
            <a:r>
              <a:rPr lang="zh-CN" altLang="en-US" dirty="0"/>
              <a:t>利用初始条件，</a:t>
            </a:r>
            <a:r>
              <a:rPr lang="en-US" altLang="zh-CN" i="1" kern="1200" dirty="0">
                <a:solidFill>
                  <a:srgbClr val="000000"/>
                </a:solidFill>
                <a:sym typeface="Symbol" panose="05050102010706020507" pitchFamily="18" charset="2"/>
              </a:rPr>
              <a:t>P</a:t>
            </a:r>
            <a:r>
              <a:rPr lang="en-US" altLang="zh-CN" kern="1200" baseline="-25000" dirty="0">
                <a:solidFill>
                  <a:srgbClr val="000000"/>
                </a:solidFill>
                <a:sym typeface="Symbol" panose="05050102010706020507" pitchFamily="18" charset="2"/>
              </a:rPr>
              <a:t>1</a:t>
            </a:r>
            <a:r>
              <a:rPr lang="en-US" altLang="zh-CN" kern="1200" dirty="0">
                <a:solidFill>
                  <a:srgbClr val="000000"/>
                </a:solidFill>
                <a:sym typeface="Symbol" panose="05050102010706020507" pitchFamily="18" charset="2"/>
              </a:rPr>
              <a:t>(0, </a:t>
            </a:r>
            <a:r>
              <a:rPr lang="en-US" altLang="zh-CN" i="1" kern="1200" dirty="0">
                <a:solidFill>
                  <a:srgbClr val="000000"/>
                </a:solidFill>
                <a:sym typeface="Symbol" panose="05050102010706020507" pitchFamily="18" charset="2"/>
              </a:rPr>
              <a:t>t</a:t>
            </a:r>
            <a:r>
              <a:rPr lang="en-US" altLang="zh-CN" kern="1200" baseline="-25000" dirty="0">
                <a:solidFill>
                  <a:srgbClr val="000000"/>
                </a:solidFill>
                <a:sym typeface="Symbol" panose="05050102010706020507" pitchFamily="18" charset="2"/>
              </a:rPr>
              <a:t>0</a:t>
            </a:r>
            <a:r>
              <a:rPr lang="en-US" altLang="zh-CN" kern="1200" dirty="0">
                <a:solidFill>
                  <a:srgbClr val="000000"/>
                </a:solidFill>
                <a:sym typeface="Symbol" panose="05050102010706020507" pitchFamily="18" charset="2"/>
              </a:rPr>
              <a:t>)=0</a:t>
            </a:r>
            <a:r>
              <a:rPr lang="zh-CN" altLang="en-US" dirty="0"/>
              <a:t>，解得</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C5278C3-4011-0B8E-77EF-FB33626A8402}"/>
                  </a:ext>
                </a:extLst>
              </p:cNvPr>
              <p:cNvSpPr txBox="1"/>
              <p:nvPr/>
            </p:nvSpPr>
            <p:spPr>
              <a:xfrm>
                <a:off x="917575" y="2210594"/>
                <a:ext cx="9135001" cy="704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b="0" i="1" smtClean="0">
                              <a:latin typeface="Cambria Math" panose="02040503050406030204" pitchFamily="18" charset="0"/>
                            </a:rPr>
                          </m:ctrlPr>
                        </m:fPr>
                        <m:num>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0" i="0"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k</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m:t>+</m:t>
                          </m:r>
                          <m:r>
                            <m:rPr>
                              <m:nor/>
                            </m:rPr>
                            <a:rPr lang="el-GR"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Δ</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0" i="0"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k</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num>
                        <m:den>
                          <m:r>
                            <m:rPr>
                              <m:nor/>
                            </m:rPr>
                            <a:rPr lang="el-GR"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Δ</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den>
                      </m:f>
                      <m:r>
                        <a:rPr kumimoji="1" lang="en-US" altLang="zh-CN" b="0" i="0" smtClean="0">
                          <a:latin typeface="Cambria Math" panose="02040503050406030204" pitchFamily="18" charset="0"/>
                        </a:rPr>
                        <m:t>=</m:t>
                      </m:r>
                      <m:r>
                        <a:rPr kumimoji="1" lang="en-US" altLang="zh-CN" i="1">
                          <a:latin typeface="Cambria Math" panose="02040503050406030204" pitchFamily="18" charset="0"/>
                        </a:rPr>
                        <m:t>−</m:t>
                      </m:r>
                      <m:r>
                        <m:rPr>
                          <m:nor/>
                        </m:rPr>
                        <a:rPr lang="en-US" altLang="zh-CN" dirty="0">
                          <a:solidFill>
                            <a:srgbClr val="000000"/>
                          </a:solidFill>
                          <a:sym typeface="Symbol" panose="05050102010706020507" pitchFamily="18" charset="2"/>
                        </a:rPr>
                        <m:t></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0" i="0"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k</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t>+</m:t>
                      </m:r>
                      <m:r>
                        <m:rPr>
                          <m:nor/>
                        </m:rPr>
                        <a:rPr lang="en-US" altLang="zh-CN" dirty="0">
                          <a:solidFill>
                            <a:srgbClr val="000000"/>
                          </a:solidFill>
                          <a:sym typeface="Symbol" panose="05050102010706020507" pitchFamily="18" charset="2"/>
                        </a:rPr>
                        <m:t></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k</m:t>
                      </m:r>
                      <m:r>
                        <m:rPr>
                          <m:nor/>
                        </m:rPr>
                        <a:rPr lang="en-US" altLang="zh-CN" b="0" i="0"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−1</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a:rPr lang="en-US" altLang="zh-CN" i="1" dirty="0">
                          <a:solidFill>
                            <a:srgbClr val="000000"/>
                          </a:solidFill>
                          <a:latin typeface="Cambria Math" panose="02040503050406030204" pitchFamily="18" charset="0"/>
                          <a:cs typeface="Times New Roman" panose="02020603050405020304" pitchFamily="18" charset="0"/>
                          <a:sym typeface="Symbol" panose="05050102010706020507" pitchFamily="18" charset="2"/>
                        </a:rPr>
                        <m:t>+</m:t>
                      </m:r>
                      <m:f>
                        <m:fPr>
                          <m:ctrlPr>
                            <a:rPr kumimoji="1" lang="zh-CN" altLang="en-US" b="0" i="1" smtClean="0">
                              <a:latin typeface="Cambria Math" panose="02040503050406030204" pitchFamily="18" charset="0"/>
                            </a:rPr>
                          </m:ctrlPr>
                        </m:fPr>
                        <m:num>
                          <m:r>
                            <a:rPr kumimoji="1" lang="en-US" altLang="zh-CN" b="0" i="1" smtClean="0">
                              <a:latin typeface="Cambria Math" panose="02040503050406030204" pitchFamily="18" charset="0"/>
                            </a:rPr>
                            <m:t>𝑜</m:t>
                          </m:r>
                          <m:r>
                            <a:rPr kumimoji="1" lang="en-US" altLang="zh-CN" b="0" i="1" smtClean="0">
                              <a:latin typeface="Cambria Math" panose="02040503050406030204" pitchFamily="18" charset="0"/>
                            </a:rPr>
                            <m:t>(</m:t>
                          </m:r>
                          <m:r>
                            <m:rPr>
                              <m:nor/>
                            </m:rPr>
                            <a:rPr lang="el-GR"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Δ</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0"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num>
                        <m:den>
                          <m:r>
                            <m:rPr>
                              <m:nor/>
                            </m:rPr>
                            <a:rPr lang="el-GR"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Δ</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den>
                      </m:f>
                    </m:oMath>
                  </m:oMathPara>
                </a14:m>
                <a:endParaRPr kumimoji="1" lang="zh-CN" altLang="en-US" dirty="0"/>
              </a:p>
            </p:txBody>
          </p:sp>
        </mc:Choice>
        <mc:Fallback xmlns="">
          <p:sp>
            <p:nvSpPr>
              <p:cNvPr id="2" name="文本框 1">
                <a:extLst>
                  <a:ext uri="{FF2B5EF4-FFF2-40B4-BE49-F238E27FC236}">
                    <a16:creationId xmlns:a16="http://schemas.microsoft.com/office/drawing/2014/main" id="{1C5278C3-4011-0B8E-77EF-FB33626A8402}"/>
                  </a:ext>
                </a:extLst>
              </p:cNvPr>
              <p:cNvSpPr txBox="1">
                <a:spLocks noRot="1" noChangeAspect="1" noMove="1" noResize="1" noEditPoints="1" noAdjustHandles="1" noChangeArrowheads="1" noChangeShapeType="1" noTextEdit="1"/>
              </p:cNvSpPr>
              <p:nvPr/>
            </p:nvSpPr>
            <p:spPr>
              <a:xfrm>
                <a:off x="917575" y="2210594"/>
                <a:ext cx="9135001" cy="704745"/>
              </a:xfrm>
              <a:prstGeom prst="rect">
                <a:avLst/>
              </a:prstGeom>
              <a:blipFill>
                <a:blip r:embed="rId2"/>
                <a:stretch>
                  <a:fillRect t="-12500" r="-278"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459EA8D-90E1-C723-F5AC-C34B1CCDF49D}"/>
                  </a:ext>
                </a:extLst>
              </p:cNvPr>
              <p:cNvSpPr txBox="1"/>
              <p:nvPr/>
            </p:nvSpPr>
            <p:spPr>
              <a:xfrm>
                <a:off x="1603375" y="3944250"/>
                <a:ext cx="6780895" cy="601960"/>
              </a:xfrm>
              <a:prstGeom prst="rect">
                <a:avLst/>
              </a:prstGeom>
              <a:noFill/>
            </p:spPr>
            <p:txBody>
              <a:bodyPr wrap="none" lIns="0" tIns="0" rIns="0" bIns="0" rtlCol="0">
                <a:spAutoFit/>
              </a:bodyPr>
              <a:lstStyle/>
              <a:p>
                <a14:m>
                  <m:oMath xmlns:m="http://schemas.openxmlformats.org/officeDocument/2006/math">
                    <m:f>
                      <m:fPr>
                        <m:ctrlPr>
                          <a:rPr kumimoji="1" lang="en-US" altLang="zh-CN" b="0" i="1" smtClean="0">
                            <a:latin typeface="Cambria Math" panose="02040503050406030204" pitchFamily="18" charset="0"/>
                          </a:rPr>
                        </m:ctrlPr>
                      </m:fPr>
                      <m:num>
                        <m:r>
                          <m:rPr>
                            <m:nor/>
                          </m:rPr>
                          <a:rPr kumimoji="1" lang="en-US" altLang="zh-CN" b="0" i="1" smtClean="0">
                            <a:latin typeface="Times New Roman" panose="02020603050405020304" pitchFamily="18" charset="0"/>
                            <a:cs typeface="Times New Roman" panose="02020603050405020304" pitchFamily="18" charset="0"/>
                          </a:rPr>
                          <m:t>d</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0" i="0"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k</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num>
                      <m:den>
                        <m:r>
                          <m:rPr>
                            <m:nor/>
                          </m:rPr>
                          <a:rPr kumimoji="1" lang="en-US" altLang="zh-CN" b="0" i="1" smtClean="0">
                            <a:latin typeface="Times New Roman" panose="02020603050405020304" pitchFamily="18" charset="0"/>
                            <a:cs typeface="Times New Roman" panose="02020603050405020304" pitchFamily="18" charset="0"/>
                          </a:rPr>
                          <m:t>d</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den>
                    </m:f>
                    <m:r>
                      <a:rPr kumimoji="1" lang="en-US" altLang="zh-CN" b="0" i="0" smtClean="0">
                        <a:latin typeface="Cambria Math" panose="02040503050406030204" pitchFamily="18" charset="0"/>
                      </a:rPr>
                      <m:t>=</m:t>
                    </m:r>
                    <m:r>
                      <a:rPr kumimoji="1" lang="en-US" altLang="zh-CN" i="1">
                        <a:latin typeface="Cambria Math" panose="02040503050406030204" pitchFamily="18" charset="0"/>
                      </a:rPr>
                      <m: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0" i="0"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k</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oMath>
                </a14:m>
                <a:r>
                  <a:rPr lang="en-US" altLang="zh-CN" dirty="0">
                    <a:solidFill>
                      <a:srgbClr val="000000"/>
                    </a:solidFill>
                    <a:cs typeface="Times New Roman" panose="02020603050405020304" pitchFamily="18" charset="0"/>
                    <a:sym typeface="Symbol" panose="05050102010706020507" pitchFamily="18" charset="2"/>
                  </a:rPr>
                  <a:t> </a:t>
                </a:r>
                <a14:m>
                  <m:oMath xmlns:m="http://schemas.openxmlformats.org/officeDocument/2006/math">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a:rPr lang="en-US" altLang="zh-CN" i="1" dirty="0">
                        <a:solidFill>
                          <a:srgbClr val="000000"/>
                        </a:solidFill>
                        <a:latin typeface="Cambria Math" panose="02040503050406030204" pitchFamily="18" charset="0"/>
                        <a:cs typeface="Times New Roman" panose="02020603050405020304" pitchFamily="18" charset="0"/>
                        <a:sym typeface="Symbol" panose="05050102010706020507" pitchFamily="18" charset="2"/>
                      </a:rPr>
                      <m:t>+</m:t>
                    </m:r>
                    <m:r>
                      <m:rPr>
                        <m:nor/>
                      </m:rPr>
                      <a:rPr lang="en-US" altLang="zh-CN" dirty="0">
                        <a:solidFill>
                          <a:srgbClr val="000000"/>
                        </a:solidFill>
                        <a:sym typeface="Symbol" panose="05050102010706020507" pitchFamily="18" charset="2"/>
                      </a:rPr>
                      <m:t></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k</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−1(</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oMath>
                </a14:m>
                <a:endParaRPr kumimoji="1" lang="zh-CN" altLang="en-US"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6459EA8D-90E1-C723-F5AC-C34B1CCDF49D}"/>
                  </a:ext>
                </a:extLst>
              </p:cNvPr>
              <p:cNvSpPr txBox="1">
                <a:spLocks noRot="1" noChangeAspect="1" noMove="1" noResize="1" noEditPoints="1" noAdjustHandles="1" noChangeArrowheads="1" noChangeShapeType="1" noTextEdit="1"/>
              </p:cNvSpPr>
              <p:nvPr/>
            </p:nvSpPr>
            <p:spPr>
              <a:xfrm>
                <a:off x="1603375" y="3944250"/>
                <a:ext cx="6780895" cy="601960"/>
              </a:xfrm>
              <a:prstGeom prst="rect">
                <a:avLst/>
              </a:prstGeom>
              <a:blipFill>
                <a:blip r:embed="rId3"/>
                <a:stretch>
                  <a:fillRect l="-1685" t="-14286" b="-163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695F072-7632-B9B4-EB35-9CDEF2876A6A}"/>
                  </a:ext>
                </a:extLst>
              </p:cNvPr>
              <p:cNvSpPr txBox="1"/>
              <p:nvPr/>
            </p:nvSpPr>
            <p:spPr>
              <a:xfrm>
                <a:off x="1603374" y="5272735"/>
                <a:ext cx="9505807" cy="601960"/>
              </a:xfrm>
              <a:prstGeom prst="rect">
                <a:avLst/>
              </a:prstGeom>
              <a:noFill/>
            </p:spPr>
            <p:txBody>
              <a:bodyPr wrap="none" lIns="0" tIns="0" rIns="0" bIns="0" rtlCol="0">
                <a:spAutoFit/>
              </a:bodyPr>
              <a:lstStyle/>
              <a:p>
                <a14:m>
                  <m:oMath xmlns:m="http://schemas.openxmlformats.org/officeDocument/2006/math">
                    <m:f>
                      <m:fPr>
                        <m:ctrlPr>
                          <a:rPr kumimoji="1" lang="en-US" altLang="zh-CN" b="0" i="1" smtClean="0">
                            <a:latin typeface="Cambria Math" panose="02040503050406030204" pitchFamily="18" charset="0"/>
                          </a:rPr>
                        </m:ctrlPr>
                      </m:fPr>
                      <m:num>
                        <m:r>
                          <m:rPr>
                            <m:nor/>
                          </m:rPr>
                          <a:rPr kumimoji="1" lang="en-US" altLang="zh-CN" b="0" i="1" smtClean="0">
                            <a:latin typeface="Times New Roman" panose="02020603050405020304" pitchFamily="18" charset="0"/>
                            <a:cs typeface="Times New Roman" panose="02020603050405020304" pitchFamily="18" charset="0"/>
                          </a:rPr>
                          <m:t>d</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0" i="0"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1</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num>
                      <m:den>
                        <m:r>
                          <m:rPr>
                            <m:nor/>
                          </m:rPr>
                          <a:rPr kumimoji="1" lang="en-US" altLang="zh-CN" b="0" i="1" smtClean="0">
                            <a:latin typeface="Times New Roman" panose="02020603050405020304" pitchFamily="18" charset="0"/>
                            <a:cs typeface="Times New Roman" panose="02020603050405020304" pitchFamily="18" charset="0"/>
                          </a:rPr>
                          <m:t>d</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den>
                    </m:f>
                    <m:r>
                      <a:rPr kumimoji="1" lang="en-US" altLang="zh-CN" b="0" i="0" smtClean="0">
                        <a:latin typeface="Cambria Math" panose="02040503050406030204" pitchFamily="18" charset="0"/>
                      </a:rPr>
                      <m: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0" i="0"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1</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oMath>
                </a14:m>
                <a:r>
                  <a:rPr lang="en-US" altLang="zh-CN" dirty="0">
                    <a:solidFill>
                      <a:srgbClr val="000000"/>
                    </a:solidFill>
                    <a:cs typeface="Times New Roman" panose="02020603050405020304" pitchFamily="18" charset="0"/>
                    <a:sym typeface="Symbol" panose="05050102010706020507" pitchFamily="18" charset="2"/>
                  </a:rPr>
                  <a:t> </a:t>
                </a:r>
                <a14:m>
                  <m:oMath xmlns:m="http://schemas.openxmlformats.org/officeDocument/2006/math">
                    <m: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t>=</m:t>
                    </m:r>
                    <m:r>
                      <m:rPr>
                        <m:nor/>
                      </m:rPr>
                      <a:rPr lang="en-US" altLang="zh-CN" dirty="0">
                        <a:solidFill>
                          <a:srgbClr val="000000"/>
                        </a:solidFill>
                        <a:sym typeface="Symbol" panose="05050102010706020507" pitchFamily="18" charset="2"/>
                      </a:rPr>
                      <m:t></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0" i="0"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b="0" i="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dirty="0">
                        <a:solidFill>
                          <a:srgbClr val="000000"/>
                        </a:solidFill>
                        <a:sym typeface="Symbol" panose="05050102010706020507" pitchFamily="18" charset="2"/>
                      </a:rPr>
                      <m:t></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oMath>
                </a14:m>
                <a:r>
                  <a:rPr kumimoji="1" lang="en-US" altLang="zh-CN" dirty="0"/>
                  <a:t> </a:t>
                </a:r>
                <a14:m>
                  <m:oMath xmlns:m="http://schemas.openxmlformats.org/officeDocument/2006/math">
                    <m:sSup>
                      <m:sSupPr>
                        <m:ctrlPr>
                          <a:rPr kumimoji="1" lang="en-US" altLang="zh-CN" i="1">
                            <a:latin typeface="Cambria Math" panose="02040503050406030204" pitchFamily="18" charset="0"/>
                          </a:rPr>
                        </m:ctrlPr>
                      </m:sSupPr>
                      <m:e>
                        <m:r>
                          <a:rPr kumimoji="1" lang="en-US" altLang="zh-CN" i="1">
                            <a:latin typeface="Cambria Math" panose="02040503050406030204" pitchFamily="18" charset="0"/>
                          </a:rPr>
                          <m:t>𝑒</m:t>
                        </m:r>
                      </m:e>
                      <m:sup>
                        <m:r>
                          <a:rPr kumimoji="1" lang="en-US" altLang="zh-CN" i="1">
                            <a:latin typeface="Cambria Math" panose="02040503050406030204" pitchFamily="18" charset="0"/>
                          </a:rPr>
                          <m:t>−</m:t>
                        </m:r>
                        <m:nary>
                          <m:naryPr>
                            <m:ctrlPr>
                              <a:rPr kumimoji="1" lang="en-US" altLang="zh-CN" i="1">
                                <a:latin typeface="Cambria Math" panose="02040503050406030204" pitchFamily="18" charset="0"/>
                              </a:rPr>
                            </m:ctrlPr>
                          </m:naryPr>
                          <m:sub>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sub>
                          <m:sup>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sup>
                          <m:e>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𝑠</m:t>
                                </m:r>
                              </m:e>
                            </m:d>
                            <m:r>
                              <a:rPr kumimoji="1" lang="en-US" altLang="zh-CN" i="1">
                                <a:latin typeface="Cambria Math" panose="02040503050406030204" pitchFamily="18" charset="0"/>
                              </a:rPr>
                              <m:t>𝑑𝑠</m:t>
                            </m:r>
                          </m:e>
                        </m:nary>
                      </m:sup>
                    </m:sSup>
                  </m:oMath>
                </a14:m>
                <a:endParaRPr kumimoji="1" lang="zh-CN" altLang="en-US"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E695F072-7632-B9B4-EB35-9CDEF2876A6A}"/>
                  </a:ext>
                </a:extLst>
              </p:cNvPr>
              <p:cNvSpPr txBox="1">
                <a:spLocks noRot="1" noChangeAspect="1" noMove="1" noResize="1" noEditPoints="1" noAdjustHandles="1" noChangeArrowheads="1" noChangeShapeType="1" noTextEdit="1"/>
              </p:cNvSpPr>
              <p:nvPr/>
            </p:nvSpPr>
            <p:spPr>
              <a:xfrm>
                <a:off x="1603374" y="5272735"/>
                <a:ext cx="9505807" cy="601960"/>
              </a:xfrm>
              <a:prstGeom prst="rect">
                <a:avLst/>
              </a:prstGeom>
              <a:blipFill>
                <a:blip r:embed="rId4"/>
                <a:stretch>
                  <a:fillRect l="-1202" t="-85417" b="-9375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DA673F3A-5A03-7F3D-1F51-479A40837E70}"/>
              </a:ext>
            </a:extLst>
          </p:cNvPr>
          <p:cNvSpPr>
            <a:spLocks noGrp="1" noChangeArrowheads="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69072D3-8447-669B-942D-EF693132417E}"/>
              </a:ext>
            </a:extLst>
          </p:cNvPr>
          <p:cNvSpPr>
            <a:spLocks noGrp="1" noChangeArrowheads="1"/>
          </p:cNvSpPr>
          <p:nvPr>
            <p:ph idx="1"/>
          </p:nvPr>
        </p:nvSpPr>
        <p:spPr>
          <a:xfrm>
            <a:off x="917575" y="2219573"/>
            <a:ext cx="7697982" cy="3102693"/>
          </a:xfrm>
        </p:spPr>
        <p:txBody>
          <a:bodyPr>
            <a:normAutofit fontScale="92500"/>
          </a:bodyPr>
          <a:lstStyle/>
          <a:p>
            <a:pPr marL="0" indent="0">
              <a:buNone/>
            </a:pPr>
            <a:r>
              <a:rPr lang="zh-CN" altLang="en-US" dirty="0"/>
              <a:t>利用数学归纳法，可以证得</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dirty="0"/>
              <a:t>其中</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DBFA6B6-7645-0315-C983-BBD4BB670F0F}"/>
                  </a:ext>
                </a:extLst>
              </p:cNvPr>
              <p:cNvSpPr txBox="1"/>
              <p:nvPr/>
            </p:nvSpPr>
            <p:spPr>
              <a:xfrm>
                <a:off x="917575" y="1214492"/>
                <a:ext cx="5093702" cy="8714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1</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t>=(</m:t>
                      </m:r>
                      <m:nary>
                        <m:naryPr>
                          <m:ctrlPr>
                            <a:rPr kumimoji="1" lang="en-US" altLang="zh-CN" i="1">
                              <a:latin typeface="Cambria Math" panose="02040503050406030204" pitchFamily="18" charset="0"/>
                            </a:rPr>
                          </m:ctrlPr>
                        </m:naryPr>
                        <m:sub>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sub>
                        <m:sup>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sup>
                        <m:e>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𝑠</m:t>
                              </m:r>
                            </m:e>
                          </m:d>
                          <m:r>
                            <a:rPr kumimoji="1" lang="en-US" altLang="zh-CN" i="1">
                              <a:latin typeface="Cambria Math" panose="02040503050406030204" pitchFamily="18" charset="0"/>
                            </a:rPr>
                            <m:t>𝑑𝑠</m:t>
                          </m:r>
                        </m:e>
                      </m:nary>
                      <m: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t>)</m:t>
                      </m:r>
                      <m:r>
                        <a:rPr kumimoji="1" lang="en-US" altLang="zh-CN" b="0" i="1" smtClean="0">
                          <a:latin typeface="Cambria Math" panose="02040503050406030204" pitchFamily="18" charset="0"/>
                        </a:rPr>
                        <m:t> </m:t>
                      </m:r>
                      <m:sSup>
                        <m:sSupPr>
                          <m:ctrlPr>
                            <a:rPr kumimoji="1" lang="en-US" altLang="zh-CN" i="1">
                              <a:latin typeface="Cambria Math" panose="02040503050406030204" pitchFamily="18" charset="0"/>
                            </a:rPr>
                          </m:ctrlPr>
                        </m:sSupPr>
                        <m:e>
                          <m:r>
                            <a:rPr kumimoji="1" lang="en-US" altLang="zh-CN" i="1">
                              <a:latin typeface="Cambria Math" panose="02040503050406030204" pitchFamily="18" charset="0"/>
                            </a:rPr>
                            <m:t>𝑒</m:t>
                          </m:r>
                        </m:e>
                        <m:sup>
                          <m:r>
                            <a:rPr kumimoji="1" lang="en-US" altLang="zh-CN" i="1">
                              <a:latin typeface="Cambria Math" panose="02040503050406030204" pitchFamily="18" charset="0"/>
                            </a:rPr>
                            <m:t>−</m:t>
                          </m:r>
                          <m:nary>
                            <m:naryPr>
                              <m:ctrlPr>
                                <a:rPr kumimoji="1" lang="en-US" altLang="zh-CN" i="1">
                                  <a:latin typeface="Cambria Math" panose="02040503050406030204" pitchFamily="18" charset="0"/>
                                </a:rPr>
                              </m:ctrlPr>
                            </m:naryPr>
                            <m:sub>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sub>
                            <m:sup>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sup>
                            <m:e>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𝑠</m:t>
                                  </m:r>
                                </m:e>
                              </m:d>
                              <m:r>
                                <a:rPr kumimoji="1" lang="en-US" altLang="zh-CN" i="1">
                                  <a:latin typeface="Cambria Math" panose="02040503050406030204" pitchFamily="18" charset="0"/>
                                </a:rPr>
                                <m:t>𝑑𝑠</m:t>
                              </m:r>
                            </m:e>
                          </m:nary>
                        </m:sup>
                      </m:sSup>
                    </m:oMath>
                  </m:oMathPara>
                </a14:m>
                <a:endParaRPr kumimoji="1" lang="zh-CN" altLang="en-US" dirty="0">
                  <a:latin typeface="Times New Roman" panose="02020603050405020304" pitchFamily="18" charset="0"/>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EDBFA6B6-7645-0315-C983-BBD4BB670F0F}"/>
                  </a:ext>
                </a:extLst>
              </p:cNvPr>
              <p:cNvSpPr txBox="1">
                <a:spLocks noRot="1" noChangeAspect="1" noMove="1" noResize="1" noEditPoints="1" noAdjustHandles="1" noChangeArrowheads="1" noChangeShapeType="1" noTextEdit="1"/>
              </p:cNvSpPr>
              <p:nvPr/>
            </p:nvSpPr>
            <p:spPr>
              <a:xfrm>
                <a:off x="917575" y="1214492"/>
                <a:ext cx="5093702" cy="871457"/>
              </a:xfrm>
              <a:prstGeom prst="rect">
                <a:avLst/>
              </a:prstGeom>
              <a:blipFill>
                <a:blip r:embed="rId2"/>
                <a:stretch>
                  <a:fillRect l="-746" t="-172857" b="-24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3F161EE-2D53-C0F3-5AEA-C2C43A050FD1}"/>
                  </a:ext>
                </a:extLst>
              </p:cNvPr>
              <p:cNvSpPr txBox="1"/>
              <p:nvPr/>
            </p:nvSpPr>
            <p:spPr>
              <a:xfrm>
                <a:off x="1032028" y="3335190"/>
                <a:ext cx="5739648" cy="9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P</m:t>
                      </m:r>
                      <m:r>
                        <m:rPr>
                          <m:nor/>
                        </m:rPr>
                        <a:rPr lang="en-US" altLang="zh-CN" b="0" i="0"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k</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i="1"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t</m:t>
                      </m:r>
                      <m:r>
                        <m:rPr>
                          <m:nor/>
                        </m:rPr>
                        <a:rPr lang="en-US" altLang="zh-CN" baseline="-25000"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0</m:t>
                      </m:r>
                      <m:r>
                        <m:rPr>
                          <m:nor/>
                        </m:rP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t>=</m:t>
                      </m:r>
                      <m:f>
                        <m:fPr>
                          <m:ctrlP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ctrlPr>
                        </m:fPr>
                        <m:num>
                          <m: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t>1</m:t>
                          </m:r>
                        </m:num>
                        <m:den>
                          <m: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t>𝑘</m:t>
                          </m:r>
                          <m: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t>!</m:t>
                          </m:r>
                        </m:den>
                      </m:f>
                      <m:sSup>
                        <m:sSupPr>
                          <m:ctrlP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ctrlPr>
                        </m:sSupPr>
                        <m:e>
                          <m:d>
                            <m:dPr>
                              <m:begChr m:val="["/>
                              <m:endChr m:val="]"/>
                              <m:ctrlP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ctrlPr>
                            </m:dPr>
                            <m:e>
                              <m:nary>
                                <m:naryPr>
                                  <m:ctrlPr>
                                    <a:rPr kumimoji="1" lang="en-US" altLang="zh-CN" i="1">
                                      <a:latin typeface="Cambria Math" panose="02040503050406030204" pitchFamily="18" charset="0"/>
                                    </a:rPr>
                                  </m:ctrlPr>
                                </m:naryPr>
                                <m:sub>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sub>
                                <m:sup>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sup>
                                <m:e>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𝑠</m:t>
                                      </m:r>
                                    </m:e>
                                  </m:d>
                                  <m:r>
                                    <a:rPr kumimoji="1" lang="en-US" altLang="zh-CN" i="1">
                                      <a:latin typeface="Cambria Math" panose="02040503050406030204" pitchFamily="18" charset="0"/>
                                    </a:rPr>
                                    <m:t>𝑑𝑠</m:t>
                                  </m:r>
                                </m:e>
                              </m:nary>
                            </m:e>
                          </m:d>
                        </m:e>
                        <m:sup>
                          <m:r>
                            <a:rPr lang="en-US" altLang="zh-CN" b="0" i="1" dirty="0" smtClean="0">
                              <a:solidFill>
                                <a:srgbClr val="000000"/>
                              </a:solidFill>
                              <a:latin typeface="Cambria Math" panose="02040503050406030204" pitchFamily="18" charset="0"/>
                              <a:cs typeface="Times New Roman" panose="02020603050405020304" pitchFamily="18" charset="0"/>
                              <a:sym typeface="Symbol" panose="05050102010706020507" pitchFamily="18" charset="2"/>
                            </a:rPr>
                            <m:t>𝑘</m:t>
                          </m:r>
                        </m:sup>
                      </m:sSup>
                      <m:r>
                        <a:rPr kumimoji="1" lang="en-US" altLang="zh-CN" b="0" i="1" smtClean="0">
                          <a:latin typeface="Cambria Math" panose="02040503050406030204" pitchFamily="18" charset="0"/>
                        </a:rPr>
                        <m:t> </m:t>
                      </m:r>
                      <m:sSup>
                        <m:sSupPr>
                          <m:ctrlPr>
                            <a:rPr kumimoji="1" lang="en-US" altLang="zh-CN" i="1">
                              <a:latin typeface="Cambria Math" panose="02040503050406030204" pitchFamily="18" charset="0"/>
                            </a:rPr>
                          </m:ctrlPr>
                        </m:sSupPr>
                        <m:e>
                          <m:r>
                            <a:rPr kumimoji="1" lang="en-US" altLang="zh-CN" i="1">
                              <a:latin typeface="Cambria Math" panose="02040503050406030204" pitchFamily="18" charset="0"/>
                            </a:rPr>
                            <m:t>𝑒</m:t>
                          </m:r>
                        </m:e>
                        <m:sup>
                          <m:r>
                            <a:rPr kumimoji="1" lang="en-US" altLang="zh-CN" i="1">
                              <a:latin typeface="Cambria Math" panose="02040503050406030204" pitchFamily="18" charset="0"/>
                            </a:rPr>
                            <m:t>−</m:t>
                          </m:r>
                          <m:r>
                            <a:rPr kumimoji="1" lang="en-US" altLang="zh-CN" b="0" i="1" smtClean="0">
                              <a:latin typeface="Cambria Math" panose="02040503050406030204" pitchFamily="18" charset="0"/>
                            </a:rPr>
                            <m:t>[</m:t>
                          </m:r>
                          <m:nary>
                            <m:naryPr>
                              <m:ctrlPr>
                                <a:rPr kumimoji="1" lang="en-US" altLang="zh-CN" i="1">
                                  <a:latin typeface="Cambria Math" panose="02040503050406030204" pitchFamily="18" charset="0"/>
                                </a:rPr>
                              </m:ctrlPr>
                            </m:naryPr>
                            <m:sub>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sub>
                            <m:sup>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sup>
                            <m:e>
                              <m:r>
                                <m:rPr>
                                  <m:nor/>
                                </m:rP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𝑠</m:t>
                                  </m:r>
                                </m:e>
                              </m:d>
                              <m:r>
                                <a:rPr kumimoji="1" lang="en-US" altLang="zh-CN" i="1">
                                  <a:latin typeface="Cambria Math" panose="02040503050406030204" pitchFamily="18" charset="0"/>
                                </a:rPr>
                                <m:t>𝑑𝑠</m:t>
                              </m:r>
                            </m:e>
                          </m:nary>
                          <m:r>
                            <a:rPr kumimoji="1" lang="en-US" altLang="zh-CN" b="0" i="1" smtClean="0">
                              <a:latin typeface="Cambria Math" panose="02040503050406030204" pitchFamily="18" charset="0"/>
                            </a:rPr>
                            <m:t>]</m:t>
                          </m:r>
                        </m:sup>
                      </m:sSup>
                    </m:oMath>
                  </m:oMathPara>
                </a14:m>
                <a:endParaRPr kumimoji="1" lang="zh-CN" altLang="en-US"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83F161EE-2D53-C0F3-5AEA-C2C43A050FD1}"/>
                  </a:ext>
                </a:extLst>
              </p:cNvPr>
              <p:cNvSpPr txBox="1">
                <a:spLocks noRot="1" noChangeAspect="1" noMove="1" noResize="1" noEditPoints="1" noAdjustHandles="1" noChangeArrowheads="1" noChangeShapeType="1" noTextEdit="1"/>
              </p:cNvSpPr>
              <p:nvPr/>
            </p:nvSpPr>
            <p:spPr>
              <a:xfrm>
                <a:off x="1032028" y="3335190"/>
                <a:ext cx="5739648" cy="977127"/>
              </a:xfrm>
              <a:prstGeom prst="rect">
                <a:avLst/>
              </a:prstGeom>
              <a:blipFill>
                <a:blip r:embed="rId3"/>
                <a:stretch>
                  <a:fillRect l="-442" t="-147436" b="-2205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1A5F35D-693D-1F2E-824D-F902432E418E}"/>
                  </a:ext>
                </a:extLst>
              </p:cNvPr>
              <p:cNvSpPr txBox="1"/>
              <p:nvPr/>
            </p:nvSpPr>
            <p:spPr>
              <a:xfrm>
                <a:off x="6632575" y="3427523"/>
                <a:ext cx="6109854" cy="686791"/>
              </a:xfrm>
              <a:prstGeom prst="rect">
                <a:avLst/>
              </a:prstGeom>
              <a:noFill/>
            </p:spPr>
            <p:txBody>
              <a:bodyPr wrap="square">
                <a:spAutoFit/>
              </a:bodyPr>
              <a:lstStyle/>
              <a:p>
                <a:r>
                  <a:rPr kumimoji="1" lang="en-US" altLang="zh-CN" b="0" dirty="0"/>
                  <a:t>=</a:t>
                </a:r>
                <a14:m>
                  <m:oMath xmlns:m="http://schemas.openxmlformats.org/officeDocument/2006/math">
                    <m:f>
                      <m:fPr>
                        <m:ctrlPr>
                          <a:rPr kumimoji="1" lang="zh-CN" altLang="en-US" b="0" i="1" smtClean="0">
                            <a:latin typeface="Cambria Math" panose="02040503050406030204" pitchFamily="18" charset="0"/>
                          </a:rPr>
                        </m:ctrlPr>
                      </m:fPr>
                      <m:num>
                        <m:sSup>
                          <m:sSupPr>
                            <m:ctrlPr>
                              <a:rPr kumimoji="1" lang="zh-CN" altLang="en-US" b="0" i="1" smtClean="0">
                                <a:latin typeface="Cambria Math" panose="02040503050406030204" pitchFamily="18" charset="0"/>
                              </a:rPr>
                            </m:ctrlPr>
                          </m:sSupPr>
                          <m:e>
                            <m:d>
                              <m:dPr>
                                <m:begChr m:val="["/>
                                <m:endChr m:val="]"/>
                                <m:ctrlPr>
                                  <a:rPr kumimoji="1" lang="zh-CN" altLang="en-US" b="0" i="1" smtClean="0">
                                    <a:latin typeface="Cambria Math" panose="02040503050406030204" pitchFamily="18" charset="0"/>
                                  </a:rPr>
                                </m:ctrlPr>
                              </m:dPr>
                              <m:e>
                                <m:r>
                                  <a:rPr kumimoji="1" lang="en-US" altLang="zh-CN" b="0" i="1" smtClean="0">
                                    <a:latin typeface="Cambria Math" panose="02040503050406030204" pitchFamily="18" charset="0"/>
                                  </a:rPr>
                                  <m:t>𝑚</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𝑚</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e>
                                </m:d>
                              </m:e>
                            </m:d>
                          </m:e>
                          <m:sup>
                            <m:r>
                              <a:rPr kumimoji="1" lang="en-US" altLang="zh-CN" b="0" i="1" smtClean="0">
                                <a:latin typeface="Cambria Math" panose="02040503050406030204" pitchFamily="18" charset="0"/>
                              </a:rPr>
                              <m:t>𝑘</m:t>
                            </m:r>
                          </m:sup>
                        </m:sSup>
                      </m:num>
                      <m:den>
                        <m:r>
                          <a:rPr kumimoji="1" lang="en-US" altLang="zh-CN" b="0" i="1" smtClean="0">
                            <a:latin typeface="Cambria Math" panose="02040503050406030204" pitchFamily="18" charset="0"/>
                          </a:rPr>
                          <m:t>𝑘</m:t>
                        </m:r>
                        <m:r>
                          <a:rPr kumimoji="1" lang="en-US" altLang="zh-CN" b="0" i="1" smtClean="0">
                            <a:latin typeface="Cambria Math" panose="02040503050406030204" pitchFamily="18" charset="0"/>
                          </a:rPr>
                          <m:t>!</m:t>
                        </m:r>
                      </m:den>
                    </m:f>
                    <m:sSup>
                      <m:sSupPr>
                        <m:ctrlPr>
                          <a:rPr kumimoji="1" lang="zh-CN" altLang="en-US" b="0" i="1" smtClean="0">
                            <a:latin typeface="Cambria Math" panose="02040503050406030204" pitchFamily="18" charset="0"/>
                          </a:rPr>
                        </m:ctrlPr>
                      </m:sSupPr>
                      <m:e>
                        <m:r>
                          <a:rPr kumimoji="1" lang="en-US" altLang="zh-CN" b="0" i="1" smtClean="0">
                            <a:latin typeface="Cambria Math" panose="02040503050406030204" pitchFamily="18" charset="0"/>
                          </a:rPr>
                          <m:t>𝑒</m:t>
                        </m:r>
                      </m:e>
                      <m:sup>
                        <m:r>
                          <a:rPr kumimoji="1" lang="en-US" altLang="zh-CN" b="0" i="1" smtClean="0">
                            <a:latin typeface="Cambria Math" panose="02040503050406030204" pitchFamily="18" charset="0"/>
                          </a:rPr>
                          <m:t>−[</m:t>
                        </m:r>
                        <m:r>
                          <a:rPr kumimoji="1" lang="en-US" altLang="zh-CN" i="1">
                            <a:latin typeface="Cambria Math" panose="02040503050406030204" pitchFamily="18" charset="0"/>
                          </a:rPr>
                          <m:t>𝑚</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r>
                              <a:rPr kumimoji="1" lang="en-US" altLang="zh-CN" i="1">
                                <a:latin typeface="Cambria Math" panose="02040503050406030204" pitchFamily="18" charset="0"/>
                              </a:rPr>
                              <m:t>+</m:t>
                            </m:r>
                            <m:r>
                              <a:rPr kumimoji="1" lang="en-US" altLang="zh-CN" i="1">
                                <a:latin typeface="Cambria Math" panose="02040503050406030204" pitchFamily="18" charset="0"/>
                              </a:rPr>
                              <m:t>𝑡</m:t>
                            </m:r>
                          </m:e>
                        </m:d>
                        <m:r>
                          <a:rPr kumimoji="1" lang="en-US" altLang="zh-CN" i="1">
                            <a:latin typeface="Cambria Math" panose="02040503050406030204" pitchFamily="18" charset="0"/>
                          </a:rPr>
                          <m:t>−</m:t>
                        </m:r>
                        <m:r>
                          <a:rPr kumimoji="1" lang="en-US" altLang="zh-CN" i="1">
                            <a:latin typeface="Cambria Math" panose="02040503050406030204" pitchFamily="18" charset="0"/>
                          </a:rPr>
                          <m:t>𝑚</m:t>
                        </m:r>
                        <m:d>
                          <m:dPr>
                            <m:ctrlPr>
                              <a:rPr kumimoji="1" lang="en-US" altLang="zh-CN" i="1">
                                <a:latin typeface="Cambria Math" panose="02040503050406030204" pitchFamily="18" charset="0"/>
                              </a:rPr>
                            </m:ctrlPr>
                          </m:d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𝑡</m:t>
                                </m:r>
                              </m:e>
                              <m:sub>
                                <m:r>
                                  <a:rPr kumimoji="1" lang="en-US" altLang="zh-CN" i="1">
                                    <a:latin typeface="Cambria Math" panose="02040503050406030204" pitchFamily="18" charset="0"/>
                                  </a:rPr>
                                  <m:t>0</m:t>
                                </m:r>
                              </m:sub>
                            </m:sSub>
                          </m:e>
                        </m:d>
                        <m:r>
                          <a:rPr kumimoji="1" lang="en-US" altLang="zh-CN" b="0" i="1" smtClean="0">
                            <a:latin typeface="Cambria Math" panose="02040503050406030204" pitchFamily="18" charset="0"/>
                          </a:rPr>
                          <m:t>]</m:t>
                        </m:r>
                      </m:sup>
                    </m:sSup>
                  </m:oMath>
                </a14:m>
                <a:endParaRPr lang="zh-CN" altLang="en-US" dirty="0"/>
              </a:p>
            </p:txBody>
          </p:sp>
        </mc:Choice>
        <mc:Fallback xmlns="">
          <p:sp>
            <p:nvSpPr>
              <p:cNvPr id="6" name="文本框 5">
                <a:extLst>
                  <a:ext uri="{FF2B5EF4-FFF2-40B4-BE49-F238E27FC236}">
                    <a16:creationId xmlns:a16="http://schemas.microsoft.com/office/drawing/2014/main" id="{51A5F35D-693D-1F2E-824D-F902432E418E}"/>
                  </a:ext>
                </a:extLst>
              </p:cNvPr>
              <p:cNvSpPr txBox="1">
                <a:spLocks noRot="1" noChangeAspect="1" noMove="1" noResize="1" noEditPoints="1" noAdjustHandles="1" noChangeArrowheads="1" noChangeShapeType="1" noTextEdit="1"/>
              </p:cNvSpPr>
              <p:nvPr/>
            </p:nvSpPr>
            <p:spPr>
              <a:xfrm>
                <a:off x="6632575" y="3427523"/>
                <a:ext cx="6109854" cy="686791"/>
              </a:xfrm>
              <a:prstGeom prst="rect">
                <a:avLst/>
              </a:prstGeom>
              <a:blipFill>
                <a:blip r:embed="rId4"/>
                <a:stretch>
                  <a:fillRect l="-1660" b="-7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A270320-807D-F97C-EEFF-1965EF685EFE}"/>
                  </a:ext>
                </a:extLst>
              </p:cNvPr>
              <p:cNvSpPr txBox="1"/>
              <p:nvPr/>
            </p:nvSpPr>
            <p:spPr>
              <a:xfrm>
                <a:off x="1689100" y="5350667"/>
                <a:ext cx="3505200" cy="9531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𝑚</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𝑡</m:t>
                          </m:r>
                        </m:e>
                      </m:d>
                      <m:r>
                        <a:rPr kumimoji="1" lang="en-US" altLang="zh-CN" b="0" i="1" smtClean="0">
                          <a:latin typeface="Cambria Math" panose="02040503050406030204" pitchFamily="18" charset="0"/>
                        </a:rPr>
                        <m:t>=</m:t>
                      </m:r>
                      <m:nary>
                        <m:naryPr>
                          <m:ctrlPr>
                            <a:rPr kumimoji="1" lang="zh-CN" altLang="en-US" b="0"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0</m:t>
                          </m:r>
                        </m:sub>
                        <m:sup>
                          <m:r>
                            <a:rPr kumimoji="1" lang="en-US" altLang="zh-CN" b="0" i="1" smtClean="0">
                              <a:latin typeface="Cambria Math" panose="02040503050406030204" pitchFamily="18" charset="0"/>
                            </a:rPr>
                            <m:t>𝑡</m:t>
                          </m:r>
                        </m:sup>
                        <m:e>
                          <m:r>
                            <a:rPr kumimoji="1" lang="zh-CN" altLang="en-US" b="0" i="1" smtClean="0">
                              <a:latin typeface="Cambria Math" panose="02040503050406030204" pitchFamily="18" charset="0"/>
                            </a:rPr>
                            <m:t>𝜆</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𝑠</m:t>
                              </m:r>
                            </m:e>
                          </m:d>
                          <m:r>
                            <a:rPr kumimoji="1" lang="en-US" altLang="zh-CN" b="0" i="1" smtClean="0">
                              <a:latin typeface="Cambria Math" panose="02040503050406030204" pitchFamily="18" charset="0"/>
                            </a:rPr>
                            <m:t>𝑑𝑠</m:t>
                          </m:r>
                        </m:e>
                      </m:nary>
                    </m:oMath>
                  </m:oMathPara>
                </a14:m>
                <a:endParaRPr lang="zh-CN" altLang="en-US" dirty="0"/>
              </a:p>
            </p:txBody>
          </p:sp>
        </mc:Choice>
        <mc:Fallback xmlns="">
          <p:sp>
            <p:nvSpPr>
              <p:cNvPr id="13" name="文本框 12">
                <a:extLst>
                  <a:ext uri="{FF2B5EF4-FFF2-40B4-BE49-F238E27FC236}">
                    <a16:creationId xmlns:a16="http://schemas.microsoft.com/office/drawing/2014/main" id="{EA270320-807D-F97C-EEFF-1965EF685EFE}"/>
                  </a:ext>
                </a:extLst>
              </p:cNvPr>
              <p:cNvSpPr txBox="1">
                <a:spLocks noRot="1" noChangeAspect="1" noMove="1" noResize="1" noEditPoints="1" noAdjustHandles="1" noChangeArrowheads="1" noChangeShapeType="1" noTextEdit="1"/>
              </p:cNvSpPr>
              <p:nvPr/>
            </p:nvSpPr>
            <p:spPr>
              <a:xfrm>
                <a:off x="1689100" y="5350667"/>
                <a:ext cx="3505200" cy="953146"/>
              </a:xfrm>
              <a:prstGeom prst="rect">
                <a:avLst/>
              </a:prstGeom>
              <a:blipFill>
                <a:blip r:embed="rId5"/>
                <a:stretch>
                  <a:fillRect t="-155263" b="-22631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0687385-F23B-9410-D9F2-0A7DD40B684F}"/>
              </a:ext>
            </a:extLst>
          </p:cNvPr>
          <p:cNvSpPr>
            <a:spLocks noGrp="1" noChangeArrowheads="1"/>
          </p:cNvSpPr>
          <p:nvPr>
            <p:ph type="title"/>
          </p:nvPr>
        </p:nvSpPr>
        <p:spPr/>
        <p:txBody>
          <a:bodyPr/>
          <a:lstStyle/>
          <a:p>
            <a:pPr algn="l" eaLnBrk="1" hangingPunct="1"/>
            <a:r>
              <a:rPr lang="zh-CN" altLang="en-US"/>
              <a:t>例</a:t>
            </a:r>
          </a:p>
        </p:txBody>
      </p:sp>
      <p:sp>
        <p:nvSpPr>
          <p:cNvPr id="302083" name="Rectangle 3">
            <a:extLst>
              <a:ext uri="{FF2B5EF4-FFF2-40B4-BE49-F238E27FC236}">
                <a16:creationId xmlns:a16="http://schemas.microsoft.com/office/drawing/2014/main" id="{50E5579D-DFF9-B324-3637-45B74AB617E9}"/>
              </a:ext>
            </a:extLst>
          </p:cNvPr>
          <p:cNvSpPr>
            <a:spLocks noGrp="1" noChangeArrowheads="1"/>
          </p:cNvSpPr>
          <p:nvPr>
            <p:ph idx="1"/>
          </p:nvPr>
        </p:nvSpPr>
        <p:spPr>
          <a:xfrm>
            <a:off x="155575" y="1248064"/>
            <a:ext cx="11506200" cy="5001783"/>
          </a:xfrm>
        </p:spPr>
        <p:txBody>
          <a:bodyPr/>
          <a:lstStyle/>
          <a:p>
            <a:pPr algn="just" eaLnBrk="1" hangingPunct="1">
              <a:lnSpc>
                <a:spcPct val="200000"/>
              </a:lnSpc>
              <a:buFont typeface="Wingdings" panose="05000000000000000000" pitchFamily="2" charset="2"/>
              <a:buNone/>
            </a:pPr>
            <a:r>
              <a:rPr lang="en-US" altLang="zh-CN" dirty="0"/>
              <a:t>		</a:t>
            </a:r>
            <a:r>
              <a:rPr lang="zh-CN" altLang="en-US" dirty="0"/>
              <a:t>某镇有一小商店，每日</a:t>
            </a:r>
            <a:r>
              <a:rPr lang="en-US" altLang="zh-CN" dirty="0"/>
              <a:t>8:00</a:t>
            </a:r>
            <a:r>
              <a:rPr lang="zh-CN" altLang="en-US" dirty="0"/>
              <a:t>开始营业。从</a:t>
            </a:r>
            <a:r>
              <a:rPr lang="en-US" altLang="zh-CN" dirty="0"/>
              <a:t>8:00</a:t>
            </a:r>
            <a:r>
              <a:rPr lang="zh-CN" altLang="en-US" dirty="0"/>
              <a:t>到</a:t>
            </a:r>
            <a:r>
              <a:rPr lang="en-US" altLang="zh-CN" dirty="0"/>
              <a:t>11:00</a:t>
            </a:r>
            <a:r>
              <a:rPr lang="zh-CN" altLang="en-US" dirty="0"/>
              <a:t>平均顾客到达率线性增加，在</a:t>
            </a:r>
            <a:r>
              <a:rPr lang="en-US" altLang="zh-CN" dirty="0"/>
              <a:t>8:00</a:t>
            </a:r>
            <a:r>
              <a:rPr lang="zh-CN" altLang="en-US" dirty="0"/>
              <a:t>顾客平均到达</a:t>
            </a:r>
            <a:r>
              <a:rPr lang="en-US" altLang="zh-CN" dirty="0"/>
              <a:t>5</a:t>
            </a:r>
            <a:r>
              <a:rPr lang="zh-CN" altLang="en-US" dirty="0"/>
              <a:t>人</a:t>
            </a:r>
            <a:r>
              <a:rPr lang="en-US" altLang="zh-CN" dirty="0"/>
              <a:t>/</a:t>
            </a:r>
            <a:r>
              <a:rPr lang="zh-CN" altLang="en-US" dirty="0"/>
              <a:t>小时；</a:t>
            </a:r>
            <a:r>
              <a:rPr lang="en-US" altLang="zh-CN" dirty="0"/>
              <a:t>11:00</a:t>
            </a:r>
            <a:r>
              <a:rPr lang="zh-CN" altLang="en-US" dirty="0"/>
              <a:t>到达率达最高峰</a:t>
            </a:r>
            <a:r>
              <a:rPr lang="en-US" altLang="zh-CN" dirty="0"/>
              <a:t>20</a:t>
            </a:r>
            <a:r>
              <a:rPr lang="zh-CN" altLang="en-US" dirty="0"/>
              <a:t>人</a:t>
            </a:r>
            <a:r>
              <a:rPr lang="en-US" altLang="zh-CN" dirty="0"/>
              <a:t>/</a:t>
            </a:r>
            <a:r>
              <a:rPr lang="zh-CN" altLang="en-US" dirty="0"/>
              <a:t>小时。从</a:t>
            </a:r>
            <a:r>
              <a:rPr lang="en-US" altLang="zh-CN" dirty="0"/>
              <a:t>11:00</a:t>
            </a:r>
            <a:r>
              <a:rPr lang="zh-CN" altLang="en-US" dirty="0"/>
              <a:t>到</a:t>
            </a:r>
            <a:r>
              <a:rPr lang="en-US" altLang="zh-CN" dirty="0"/>
              <a:t>13:00</a:t>
            </a:r>
            <a:r>
              <a:rPr lang="zh-CN" altLang="en-US" dirty="0"/>
              <a:t>平均顾客到达率为</a:t>
            </a:r>
            <a:r>
              <a:rPr lang="en-US" altLang="zh-CN" dirty="0"/>
              <a:t>20</a:t>
            </a:r>
            <a:r>
              <a:rPr lang="zh-CN" altLang="en-US" dirty="0"/>
              <a:t>人</a:t>
            </a:r>
            <a:r>
              <a:rPr lang="en-US" altLang="zh-CN" dirty="0"/>
              <a:t>/</a:t>
            </a:r>
            <a:r>
              <a:rPr lang="zh-CN" altLang="en-US" dirty="0"/>
              <a:t>小时。从</a:t>
            </a:r>
            <a:r>
              <a:rPr lang="en-US" altLang="zh-CN" dirty="0"/>
              <a:t>13:00</a:t>
            </a:r>
            <a:r>
              <a:rPr lang="zh-CN" altLang="en-US" dirty="0"/>
              <a:t>到</a:t>
            </a:r>
            <a:r>
              <a:rPr lang="en-US" altLang="zh-CN" dirty="0"/>
              <a:t>17:00</a:t>
            </a:r>
            <a:r>
              <a:rPr lang="zh-CN" altLang="en-US" dirty="0"/>
              <a:t>平均顾客到达率线性下降，</a:t>
            </a:r>
            <a:r>
              <a:rPr lang="en-US" altLang="zh-CN" dirty="0"/>
              <a:t>17:00</a:t>
            </a:r>
            <a:r>
              <a:rPr lang="zh-CN" altLang="en-US" dirty="0"/>
              <a:t>顾客到达率为</a:t>
            </a:r>
            <a:r>
              <a:rPr lang="en-US" altLang="zh-CN" dirty="0"/>
              <a:t>12</a:t>
            </a:r>
            <a:r>
              <a:rPr lang="zh-CN" altLang="en-US" dirty="0"/>
              <a:t>人</a:t>
            </a:r>
            <a:r>
              <a:rPr lang="en-US" altLang="zh-CN" dirty="0"/>
              <a:t>/</a:t>
            </a:r>
            <a:r>
              <a:rPr lang="zh-CN" altLang="en-US" dirty="0"/>
              <a:t>小时。假设在不相交的时间间隔内到达商店的顾客数是相互独立的，试问在</a:t>
            </a:r>
            <a:r>
              <a:rPr lang="en-US" altLang="zh-CN" dirty="0"/>
              <a:t>8:30</a:t>
            </a:r>
            <a:r>
              <a:rPr lang="zh-CN" altLang="en-US" dirty="0"/>
              <a:t>到</a:t>
            </a:r>
            <a:r>
              <a:rPr lang="en-US" altLang="zh-CN" dirty="0"/>
              <a:t>9:30</a:t>
            </a:r>
            <a:r>
              <a:rPr lang="zh-CN" altLang="en-US" dirty="0"/>
              <a:t>时间内无顾客到达商店的概率为多少？在这段时间机内到达商店的顾客的均值为多少？</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5000"/>
                                  </p:iterate>
                                  <p:childTnLst>
                                    <p:set>
                                      <p:cBhvr>
                                        <p:cTn id="6" dur="1" fill="hold">
                                          <p:stCondLst>
                                            <p:cond delay="0"/>
                                          </p:stCondLst>
                                        </p:cTn>
                                        <p:tgtEl>
                                          <p:spTgt spid="302083">
                                            <p:txEl>
                                              <p:pRg st="0" end="0"/>
                                            </p:txEl>
                                          </p:spTgt>
                                        </p:tgtEl>
                                        <p:attrNameLst>
                                          <p:attrName>style.visibility</p:attrName>
                                        </p:attrNameLst>
                                      </p:cBhvr>
                                      <p:to>
                                        <p:strVal val="visible"/>
                                      </p:to>
                                    </p:set>
                                    <p:animEffect transition="in" filter="wipe(left)">
                                      <p:cBhvr>
                                        <p:cTn id="7" dur="500"/>
                                        <p:tgtEl>
                                          <p:spTgt spid="3020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62F6E06-33C3-D73F-D373-BF4D119F3707}"/>
              </a:ext>
            </a:extLst>
          </p:cNvPr>
          <p:cNvSpPr>
            <a:spLocks noGrp="1" noChangeArrowheads="1"/>
          </p:cNvSpPr>
          <p:nvPr>
            <p:ph type="title"/>
          </p:nvPr>
        </p:nvSpPr>
        <p:spPr/>
        <p:txBody>
          <a:bodyPr/>
          <a:lstStyle/>
          <a:p>
            <a:pPr algn="l" eaLnBrk="1" hangingPunct="1"/>
            <a:r>
              <a:rPr lang="zh-CN" altLang="en-US"/>
              <a:t>解</a:t>
            </a:r>
          </a:p>
        </p:txBody>
      </p:sp>
      <p:sp>
        <p:nvSpPr>
          <p:cNvPr id="303107" name="Rectangle 3">
            <a:extLst>
              <a:ext uri="{FF2B5EF4-FFF2-40B4-BE49-F238E27FC236}">
                <a16:creationId xmlns:a16="http://schemas.microsoft.com/office/drawing/2014/main" id="{5C3DD987-0C51-C6CD-D128-A0371B62C7EF}"/>
              </a:ext>
            </a:extLst>
          </p:cNvPr>
          <p:cNvSpPr>
            <a:spLocks noGrp="1" noChangeArrowheads="1"/>
          </p:cNvSpPr>
          <p:nvPr>
            <p:ph idx="1"/>
          </p:nvPr>
        </p:nvSpPr>
        <p:spPr>
          <a:xfrm>
            <a:off x="231775" y="1117859"/>
            <a:ext cx="11430000" cy="1095629"/>
          </a:xfrm>
        </p:spPr>
        <p:txBody>
          <a:bodyPr>
            <a:normAutofit lnSpcReduction="10000"/>
          </a:bodyPr>
          <a:lstStyle/>
          <a:p>
            <a:pPr marL="0" indent="0" eaLnBrk="1" hangingPunct="1">
              <a:buFont typeface="Wingdings" panose="05000000000000000000" pitchFamily="2" charset="2"/>
              <a:buNone/>
            </a:pPr>
            <a:r>
              <a:rPr lang="zh-CN" altLang="en-US" dirty="0"/>
              <a:t>设</a:t>
            </a:r>
            <a:r>
              <a:rPr lang="en-US" altLang="zh-CN" dirty="0"/>
              <a:t>8:00</a:t>
            </a:r>
            <a:r>
              <a:rPr lang="zh-CN" altLang="en-US" dirty="0"/>
              <a:t>为</a:t>
            </a:r>
            <a:r>
              <a:rPr lang="en-US" altLang="zh-CN" dirty="0"/>
              <a:t>t=0</a:t>
            </a:r>
            <a:r>
              <a:rPr lang="zh-CN" altLang="en-US" dirty="0"/>
              <a:t>，</a:t>
            </a:r>
            <a:r>
              <a:rPr lang="en-US" altLang="zh-CN" dirty="0"/>
              <a:t>11:00</a:t>
            </a:r>
            <a:r>
              <a:rPr lang="zh-CN" altLang="en-US" dirty="0"/>
              <a:t>为</a:t>
            </a:r>
            <a:r>
              <a:rPr lang="en-US" altLang="zh-CN" dirty="0"/>
              <a:t>t=3</a:t>
            </a:r>
            <a:r>
              <a:rPr lang="zh-CN" altLang="en-US" dirty="0"/>
              <a:t>，</a:t>
            </a:r>
            <a:r>
              <a:rPr lang="en-US" altLang="zh-CN" dirty="0"/>
              <a:t>13:00</a:t>
            </a:r>
            <a:r>
              <a:rPr lang="zh-CN" altLang="en-US" dirty="0"/>
              <a:t>为</a:t>
            </a:r>
            <a:r>
              <a:rPr lang="en-US" altLang="zh-CN" dirty="0"/>
              <a:t>t=5</a:t>
            </a:r>
            <a:r>
              <a:rPr lang="zh-CN" altLang="en-US" dirty="0"/>
              <a:t>，</a:t>
            </a:r>
            <a:r>
              <a:rPr lang="en-US" altLang="zh-CN" dirty="0"/>
              <a:t>17:00</a:t>
            </a:r>
            <a:r>
              <a:rPr lang="zh-CN" altLang="en-US" dirty="0"/>
              <a:t>为</a:t>
            </a:r>
            <a:r>
              <a:rPr lang="en-US" altLang="zh-CN" dirty="0"/>
              <a:t>t=9</a:t>
            </a:r>
            <a:r>
              <a:rPr lang="zh-CN" altLang="en-US" dirty="0"/>
              <a:t>，第二天</a:t>
            </a:r>
            <a:r>
              <a:rPr lang="en-US" altLang="zh-CN" dirty="0"/>
              <a:t>8:00</a:t>
            </a:r>
            <a:r>
              <a:rPr lang="zh-CN" altLang="en-US" dirty="0"/>
              <a:t>可以为</a:t>
            </a:r>
            <a:r>
              <a:rPr lang="en-US" altLang="zh-CN" dirty="0"/>
              <a:t>t=9</a:t>
            </a:r>
            <a:r>
              <a:rPr lang="zh-CN" altLang="en-US" dirty="0"/>
              <a:t>。于是，顾客到达率是周期为</a:t>
            </a:r>
            <a:r>
              <a:rPr lang="en-US" altLang="zh-CN" dirty="0"/>
              <a:t>9</a:t>
            </a:r>
            <a:r>
              <a:rPr lang="zh-CN" altLang="en-US" dirty="0"/>
              <a:t>的函数：</a:t>
            </a:r>
          </a:p>
        </p:txBody>
      </p:sp>
      <p:graphicFrame>
        <p:nvGraphicFramePr>
          <p:cNvPr id="303108" name="Object 4">
            <a:extLst>
              <a:ext uri="{FF2B5EF4-FFF2-40B4-BE49-F238E27FC236}">
                <a16:creationId xmlns:a16="http://schemas.microsoft.com/office/drawing/2014/main" id="{60CD313F-5F21-7C4F-FE85-59F7AA0CE594}"/>
              </a:ext>
            </a:extLst>
          </p:cNvPr>
          <p:cNvGraphicFramePr>
            <a:graphicFrameLocks noChangeAspect="1"/>
          </p:cNvGraphicFramePr>
          <p:nvPr/>
        </p:nvGraphicFramePr>
        <p:xfrm>
          <a:off x="4193734" y="2124567"/>
          <a:ext cx="3658447" cy="1298876"/>
        </p:xfrm>
        <a:graphic>
          <a:graphicData uri="http://schemas.openxmlformats.org/presentationml/2006/ole">
            <mc:AlternateContent xmlns:mc="http://schemas.openxmlformats.org/markup-compatibility/2006">
              <mc:Choice xmlns:v="urn:schemas-microsoft-com:vml" Requires="v">
                <p:oleObj name="Equation" r:id="rId2" imgW="1968500" imgH="698500" progId="Equation.3">
                  <p:embed/>
                </p:oleObj>
              </mc:Choice>
              <mc:Fallback>
                <p:oleObj name="Equation" r:id="rId2" imgW="1968500" imgH="698500" progId="Equation.3">
                  <p:embed/>
                  <p:pic>
                    <p:nvPicPr>
                      <p:cNvPr id="303108" name="Object 4">
                        <a:extLst>
                          <a:ext uri="{FF2B5EF4-FFF2-40B4-BE49-F238E27FC236}">
                            <a16:creationId xmlns:a16="http://schemas.microsoft.com/office/drawing/2014/main" id="{60CD313F-5F21-7C4F-FE85-59F7AA0CE5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3734" y="2124567"/>
                        <a:ext cx="3658447" cy="12988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3109" name="Rectangle 5">
            <a:extLst>
              <a:ext uri="{FF2B5EF4-FFF2-40B4-BE49-F238E27FC236}">
                <a16:creationId xmlns:a16="http://schemas.microsoft.com/office/drawing/2014/main" id="{FDE1C704-BE33-EE89-B9E1-B601053E2F26}"/>
              </a:ext>
            </a:extLst>
          </p:cNvPr>
          <p:cNvSpPr>
            <a:spLocks noChangeArrowheads="1"/>
          </p:cNvSpPr>
          <p:nvPr/>
        </p:nvSpPr>
        <p:spPr bwMode="auto">
          <a:xfrm>
            <a:off x="4171509" y="3429794"/>
            <a:ext cx="1687904" cy="45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00000"/>
              </a:lnSpc>
              <a:buClrTx/>
              <a:buFontTx/>
              <a:buNone/>
            </a:pPr>
            <a:r>
              <a:rPr lang="en-US" altLang="zh-CN" sz="2400" dirty="0">
                <a:solidFill>
                  <a:srgbClr val="000000"/>
                </a:solidFill>
                <a:sym typeface="Symbol" panose="05050102010706020507" pitchFamily="18" charset="2"/>
              </a:rPr>
              <a:t></a:t>
            </a:r>
            <a:r>
              <a:rPr lang="en-US" altLang="zh-CN" sz="2400" dirty="0">
                <a:solidFill>
                  <a:srgbClr val="000000"/>
                </a:solidFill>
              </a:rPr>
              <a:t>(t)</a:t>
            </a:r>
            <a:r>
              <a:rPr lang="zh-CN" altLang="en-US" sz="2400" dirty="0">
                <a:solidFill>
                  <a:srgbClr val="000000"/>
                </a:solidFill>
              </a:rPr>
              <a:t>＝</a:t>
            </a:r>
            <a:r>
              <a:rPr lang="zh-CN" altLang="en-US" sz="2400" dirty="0">
                <a:solidFill>
                  <a:srgbClr val="000000"/>
                </a:solidFill>
                <a:sym typeface="Symbol" panose="05050102010706020507" pitchFamily="18" charset="2"/>
              </a:rPr>
              <a:t></a:t>
            </a:r>
            <a:r>
              <a:rPr lang="en-US" altLang="zh-CN" sz="2400" dirty="0">
                <a:solidFill>
                  <a:srgbClr val="000000"/>
                </a:solidFill>
                <a:sym typeface="Symbol" panose="05050102010706020507" pitchFamily="18" charset="2"/>
              </a:rPr>
              <a:t>(t-9)</a:t>
            </a:r>
          </a:p>
        </p:txBody>
      </p:sp>
      <p:sp>
        <p:nvSpPr>
          <p:cNvPr id="303110" name="Rectangle 6">
            <a:extLst>
              <a:ext uri="{FF2B5EF4-FFF2-40B4-BE49-F238E27FC236}">
                <a16:creationId xmlns:a16="http://schemas.microsoft.com/office/drawing/2014/main" id="{D085D271-8CFD-9BAD-207A-4065DB4737BB}"/>
              </a:ext>
            </a:extLst>
          </p:cNvPr>
          <p:cNvSpPr>
            <a:spLocks noChangeArrowheads="1"/>
          </p:cNvSpPr>
          <p:nvPr/>
        </p:nvSpPr>
        <p:spPr bwMode="auto">
          <a:xfrm>
            <a:off x="-5292" y="3887416"/>
            <a:ext cx="11103429"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Tx/>
              <a:buFontTx/>
              <a:buNone/>
            </a:pPr>
            <a:r>
              <a:rPr lang="en-US" altLang="zh-CN" sz="2400" dirty="0">
                <a:solidFill>
                  <a:srgbClr val="000000"/>
                </a:solidFill>
                <a:latin typeface="+mn-ea"/>
                <a:ea typeface="+mn-ea"/>
              </a:rPr>
              <a:t>    </a:t>
            </a:r>
            <a:r>
              <a:rPr lang="zh-CN" altLang="en-US" sz="2400" dirty="0">
                <a:solidFill>
                  <a:srgbClr val="000000"/>
                </a:solidFill>
                <a:latin typeface="+mn-ea"/>
                <a:ea typeface="+mn-ea"/>
              </a:rPr>
              <a:t>根据题意，在</a:t>
            </a:r>
            <a:r>
              <a:rPr lang="en-US" altLang="zh-CN" sz="2400" dirty="0">
                <a:solidFill>
                  <a:srgbClr val="000000"/>
                </a:solidFill>
                <a:latin typeface="+mn-ea"/>
                <a:ea typeface="+mn-ea"/>
              </a:rPr>
              <a:t>[0, t)</a:t>
            </a:r>
            <a:r>
              <a:rPr lang="zh-CN" altLang="en-US" sz="2400" dirty="0">
                <a:solidFill>
                  <a:srgbClr val="000000"/>
                </a:solidFill>
                <a:latin typeface="+mn-ea"/>
                <a:ea typeface="+mn-ea"/>
              </a:rPr>
              <a:t>内到达的顾客数</a:t>
            </a:r>
            <a:r>
              <a:rPr lang="en-US" altLang="zh-CN" sz="2400" dirty="0">
                <a:solidFill>
                  <a:srgbClr val="000000"/>
                </a:solidFill>
                <a:latin typeface="+mn-ea"/>
                <a:ea typeface="+mn-ea"/>
                <a:sym typeface="Symbol" panose="05050102010706020507" pitchFamily="18" charset="2"/>
              </a:rPr>
              <a:t>{N(t), t0}</a:t>
            </a:r>
            <a:r>
              <a:rPr lang="zh-CN" altLang="en-US" sz="2400" dirty="0">
                <a:solidFill>
                  <a:srgbClr val="000000"/>
                </a:solidFill>
                <a:latin typeface="+mn-ea"/>
                <a:ea typeface="+mn-ea"/>
              </a:rPr>
              <a:t>是一个非齐次泊松过程。</a:t>
            </a:r>
          </a:p>
          <a:p>
            <a:pPr eaLnBrk="1" hangingPunct="1">
              <a:lnSpc>
                <a:spcPct val="150000"/>
              </a:lnSpc>
              <a:buClrTx/>
              <a:buFontTx/>
              <a:buNone/>
            </a:pPr>
            <a:r>
              <a:rPr lang="zh-CN" altLang="en-US" sz="2400" dirty="0">
                <a:solidFill>
                  <a:srgbClr val="000000"/>
                </a:solidFill>
                <a:latin typeface="+mn-ea"/>
                <a:ea typeface="+mn-ea"/>
              </a:rPr>
              <a:t>    在</a:t>
            </a:r>
            <a:r>
              <a:rPr lang="en-US" altLang="zh-CN" sz="2400" dirty="0">
                <a:solidFill>
                  <a:srgbClr val="000000"/>
                </a:solidFill>
                <a:latin typeface="+mn-ea"/>
                <a:ea typeface="+mn-ea"/>
              </a:rPr>
              <a:t>8:30</a:t>
            </a:r>
            <a:r>
              <a:rPr lang="zh-CN" altLang="en-US" sz="2400" dirty="0">
                <a:solidFill>
                  <a:srgbClr val="000000"/>
                </a:solidFill>
                <a:latin typeface="+mn-ea"/>
                <a:ea typeface="+mn-ea"/>
              </a:rPr>
              <a:t>到</a:t>
            </a:r>
            <a:r>
              <a:rPr lang="en-US" altLang="zh-CN" sz="2400" dirty="0">
                <a:solidFill>
                  <a:srgbClr val="000000"/>
                </a:solidFill>
                <a:latin typeface="+mn-ea"/>
                <a:ea typeface="+mn-ea"/>
              </a:rPr>
              <a:t>9:30</a:t>
            </a:r>
            <a:r>
              <a:rPr lang="zh-CN" altLang="en-US" sz="2400" dirty="0">
                <a:solidFill>
                  <a:srgbClr val="000000"/>
                </a:solidFill>
                <a:latin typeface="+mn-ea"/>
                <a:ea typeface="+mn-ea"/>
              </a:rPr>
              <a:t>无顾客到达商店的概率为</a:t>
            </a:r>
          </a:p>
        </p:txBody>
      </p:sp>
      <p:graphicFrame>
        <p:nvGraphicFramePr>
          <p:cNvPr id="303111" name="Object 7">
            <a:extLst>
              <a:ext uri="{FF2B5EF4-FFF2-40B4-BE49-F238E27FC236}">
                <a16:creationId xmlns:a16="http://schemas.microsoft.com/office/drawing/2014/main" id="{1A8582EA-43A0-719B-3C01-3E180E26D224}"/>
              </a:ext>
            </a:extLst>
          </p:cNvPr>
          <p:cNvGraphicFramePr>
            <a:graphicFrameLocks noChangeAspect="1"/>
          </p:cNvGraphicFramePr>
          <p:nvPr/>
        </p:nvGraphicFramePr>
        <p:xfrm>
          <a:off x="3241014" y="4960498"/>
          <a:ext cx="6997732" cy="698662"/>
        </p:xfrm>
        <a:graphic>
          <a:graphicData uri="http://schemas.openxmlformats.org/presentationml/2006/ole">
            <mc:AlternateContent xmlns:mc="http://schemas.openxmlformats.org/markup-compatibility/2006">
              <mc:Choice xmlns:v="urn:schemas-microsoft-com:vml" Requires="v">
                <p:oleObj name="Equation" r:id="rId4" imgW="3429000" imgH="342900" progId="Equation.DSMT4">
                  <p:embed/>
                </p:oleObj>
              </mc:Choice>
              <mc:Fallback>
                <p:oleObj name="Equation" r:id="rId4" imgW="3429000" imgH="342900" progId="Equation.DSMT4">
                  <p:embed/>
                  <p:pic>
                    <p:nvPicPr>
                      <p:cNvPr id="303111" name="Object 7">
                        <a:extLst>
                          <a:ext uri="{FF2B5EF4-FFF2-40B4-BE49-F238E27FC236}">
                            <a16:creationId xmlns:a16="http://schemas.microsoft.com/office/drawing/2014/main" id="{1A8582EA-43A0-719B-3C01-3E180E26D2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1014" y="4960498"/>
                        <a:ext cx="6997732" cy="698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3112" name="Rectangle 8">
            <a:extLst>
              <a:ext uri="{FF2B5EF4-FFF2-40B4-BE49-F238E27FC236}">
                <a16:creationId xmlns:a16="http://schemas.microsoft.com/office/drawing/2014/main" id="{EE2C0AAE-CFC9-5219-DBC6-581B8D6B19E4}"/>
              </a:ext>
            </a:extLst>
          </p:cNvPr>
          <p:cNvSpPr>
            <a:spLocks noChangeArrowheads="1"/>
          </p:cNvSpPr>
          <p:nvPr/>
        </p:nvSpPr>
        <p:spPr bwMode="auto">
          <a:xfrm>
            <a:off x="460375" y="5671053"/>
            <a:ext cx="7112000"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Tx/>
              <a:buFontTx/>
              <a:buNone/>
            </a:pPr>
            <a:r>
              <a:rPr lang="zh-CN" altLang="en-US" sz="2400" dirty="0">
                <a:solidFill>
                  <a:srgbClr val="000000"/>
                </a:solidFill>
                <a:latin typeface="+mn-ea"/>
                <a:ea typeface="+mn-ea"/>
              </a:rPr>
              <a:t>在</a:t>
            </a:r>
            <a:r>
              <a:rPr lang="en-US" altLang="zh-CN" sz="2400" dirty="0">
                <a:solidFill>
                  <a:srgbClr val="000000"/>
                </a:solidFill>
                <a:latin typeface="+mn-ea"/>
                <a:ea typeface="+mn-ea"/>
              </a:rPr>
              <a:t>8:30</a:t>
            </a:r>
            <a:r>
              <a:rPr lang="zh-CN" altLang="en-US" sz="2400" dirty="0">
                <a:solidFill>
                  <a:srgbClr val="000000"/>
                </a:solidFill>
                <a:latin typeface="+mn-ea"/>
                <a:ea typeface="+mn-ea"/>
              </a:rPr>
              <a:t>到</a:t>
            </a:r>
            <a:r>
              <a:rPr lang="en-US" altLang="zh-CN" sz="2400" dirty="0">
                <a:solidFill>
                  <a:srgbClr val="000000"/>
                </a:solidFill>
                <a:latin typeface="+mn-ea"/>
                <a:ea typeface="+mn-ea"/>
              </a:rPr>
              <a:t>9:30</a:t>
            </a:r>
            <a:r>
              <a:rPr lang="zh-CN" altLang="en-US" sz="2400" dirty="0">
                <a:solidFill>
                  <a:srgbClr val="000000"/>
                </a:solidFill>
                <a:latin typeface="+mn-ea"/>
                <a:ea typeface="+mn-ea"/>
              </a:rPr>
              <a:t>到达商店的顾客均值为</a:t>
            </a:r>
          </a:p>
        </p:txBody>
      </p:sp>
      <p:graphicFrame>
        <p:nvGraphicFramePr>
          <p:cNvPr id="303113" name="Object 9">
            <a:extLst>
              <a:ext uri="{FF2B5EF4-FFF2-40B4-BE49-F238E27FC236}">
                <a16:creationId xmlns:a16="http://schemas.microsoft.com/office/drawing/2014/main" id="{C5F86585-1644-E3C5-6889-5761C860AA14}"/>
              </a:ext>
            </a:extLst>
          </p:cNvPr>
          <p:cNvGraphicFramePr>
            <a:graphicFrameLocks noChangeAspect="1"/>
          </p:cNvGraphicFramePr>
          <p:nvPr>
            <p:extLst>
              <p:ext uri="{D42A27DB-BD31-4B8C-83A1-F6EECF244321}">
                <p14:modId xmlns:p14="http://schemas.microsoft.com/office/powerpoint/2010/main" val="569328954"/>
              </p:ext>
            </p:extLst>
          </p:nvPr>
        </p:nvGraphicFramePr>
        <p:xfrm>
          <a:off x="3241014" y="6259194"/>
          <a:ext cx="6305421" cy="506529"/>
        </p:xfrm>
        <a:graphic>
          <a:graphicData uri="http://schemas.openxmlformats.org/presentationml/2006/ole">
            <mc:AlternateContent xmlns:mc="http://schemas.openxmlformats.org/markup-compatibility/2006">
              <mc:Choice xmlns:v="urn:schemas-microsoft-com:vml" Requires="v">
                <p:oleObj name="Equation" r:id="rId6" imgW="3162300" imgH="254000" progId="Equation.3">
                  <p:embed/>
                </p:oleObj>
              </mc:Choice>
              <mc:Fallback>
                <p:oleObj name="Equation" r:id="rId6" imgW="3162300" imgH="254000" progId="Equation.3">
                  <p:embed/>
                  <p:pic>
                    <p:nvPicPr>
                      <p:cNvPr id="303113" name="Object 9">
                        <a:extLst>
                          <a:ext uri="{FF2B5EF4-FFF2-40B4-BE49-F238E27FC236}">
                            <a16:creationId xmlns:a16="http://schemas.microsoft.com/office/drawing/2014/main" id="{C5F86585-1644-E3C5-6889-5761C860AA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1014" y="6259194"/>
                        <a:ext cx="6305421" cy="5065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03107">
                                            <p:txEl>
                                              <p:pRg st="0" end="0"/>
                                            </p:txEl>
                                          </p:spTgt>
                                        </p:tgtEl>
                                        <p:attrNameLst>
                                          <p:attrName>style.visibility</p:attrName>
                                        </p:attrNameLst>
                                      </p:cBhvr>
                                      <p:to>
                                        <p:strVal val="visible"/>
                                      </p:to>
                                    </p:set>
                                    <p:anim calcmode="lin" valueType="num">
                                      <p:cBhvr additive="base">
                                        <p:cTn id="7" dur="500" fill="hold"/>
                                        <p:tgtEl>
                                          <p:spTgt spid="303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310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303108"/>
                                        </p:tgtEl>
                                        <p:attrNameLst>
                                          <p:attrName>style.visibility</p:attrName>
                                        </p:attrNameLst>
                                      </p:cBhvr>
                                      <p:to>
                                        <p:strVal val="visible"/>
                                      </p:to>
                                    </p:set>
                                    <p:anim calcmode="lin" valueType="num">
                                      <p:cBhvr additive="base">
                                        <p:cTn id="12" dur="500" fill="hold"/>
                                        <p:tgtEl>
                                          <p:spTgt spid="303108"/>
                                        </p:tgtEl>
                                        <p:attrNameLst>
                                          <p:attrName>ppt_x</p:attrName>
                                        </p:attrNameLst>
                                      </p:cBhvr>
                                      <p:tavLst>
                                        <p:tav tm="0">
                                          <p:val>
                                            <p:strVal val="#ppt_x"/>
                                          </p:val>
                                        </p:tav>
                                        <p:tav tm="100000">
                                          <p:val>
                                            <p:strVal val="#ppt_x"/>
                                          </p:val>
                                        </p:tav>
                                      </p:tavLst>
                                    </p:anim>
                                    <p:anim calcmode="lin" valueType="num">
                                      <p:cBhvr additive="base">
                                        <p:cTn id="13" dur="500" fill="hold"/>
                                        <p:tgtEl>
                                          <p:spTgt spid="303108"/>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03109"/>
                                        </p:tgtEl>
                                        <p:attrNameLst>
                                          <p:attrName>style.visibility</p:attrName>
                                        </p:attrNameLst>
                                      </p:cBhvr>
                                      <p:to>
                                        <p:strVal val="visible"/>
                                      </p:to>
                                    </p:set>
                                    <p:anim calcmode="lin" valueType="num">
                                      <p:cBhvr additive="base">
                                        <p:cTn id="17" dur="500" fill="hold"/>
                                        <p:tgtEl>
                                          <p:spTgt spid="303109"/>
                                        </p:tgtEl>
                                        <p:attrNameLst>
                                          <p:attrName>ppt_x</p:attrName>
                                        </p:attrNameLst>
                                      </p:cBhvr>
                                      <p:tavLst>
                                        <p:tav tm="0">
                                          <p:val>
                                            <p:strVal val="#ppt_x"/>
                                          </p:val>
                                        </p:tav>
                                        <p:tav tm="100000">
                                          <p:val>
                                            <p:strVal val="#ppt_x"/>
                                          </p:val>
                                        </p:tav>
                                      </p:tavLst>
                                    </p:anim>
                                    <p:anim calcmode="lin" valueType="num">
                                      <p:cBhvr additive="base">
                                        <p:cTn id="18" dur="500" fill="hold"/>
                                        <p:tgtEl>
                                          <p:spTgt spid="303109"/>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03110"/>
                                        </p:tgtEl>
                                        <p:attrNameLst>
                                          <p:attrName>style.visibility</p:attrName>
                                        </p:attrNameLst>
                                      </p:cBhvr>
                                      <p:to>
                                        <p:strVal val="visible"/>
                                      </p:to>
                                    </p:set>
                                    <p:anim calcmode="lin" valueType="num">
                                      <p:cBhvr additive="base">
                                        <p:cTn id="23" dur="500" fill="hold"/>
                                        <p:tgtEl>
                                          <p:spTgt spid="303110"/>
                                        </p:tgtEl>
                                        <p:attrNameLst>
                                          <p:attrName>ppt_x</p:attrName>
                                        </p:attrNameLst>
                                      </p:cBhvr>
                                      <p:tavLst>
                                        <p:tav tm="0">
                                          <p:val>
                                            <p:strVal val="#ppt_x"/>
                                          </p:val>
                                        </p:tav>
                                        <p:tav tm="100000">
                                          <p:val>
                                            <p:strVal val="#ppt_x"/>
                                          </p:val>
                                        </p:tav>
                                      </p:tavLst>
                                    </p:anim>
                                    <p:anim calcmode="lin" valueType="num">
                                      <p:cBhvr additive="base">
                                        <p:cTn id="24" dur="500" fill="hold"/>
                                        <p:tgtEl>
                                          <p:spTgt spid="303110"/>
                                        </p:tgtEl>
                                        <p:attrNameLst>
                                          <p:attrName>ppt_y</p:attrName>
                                        </p:attrNameLst>
                                      </p:cBhvr>
                                      <p:tavLst>
                                        <p:tav tm="0">
                                          <p:val>
                                            <p:strVal val="1+#ppt_h/2"/>
                                          </p:val>
                                        </p:tav>
                                        <p:tav tm="100000">
                                          <p:val>
                                            <p:strVal val="#ppt_y"/>
                                          </p:val>
                                        </p:tav>
                                      </p:tavLst>
                                    </p:anim>
                                  </p:childTnLst>
                                </p:cTn>
                              </p:par>
                            </p:childTnLst>
                          </p:cTn>
                        </p:par>
                        <p:par>
                          <p:cTn id="25" fill="hold" nodeType="afterGroup">
                            <p:stCondLst>
                              <p:cond delay="500"/>
                            </p:stCondLst>
                            <p:childTnLst>
                              <p:par>
                                <p:cTn id="26" presetID="2" presetClass="entr" presetSubtype="4" fill="hold" nodeType="afterEffect">
                                  <p:stCondLst>
                                    <p:cond delay="0"/>
                                  </p:stCondLst>
                                  <p:childTnLst>
                                    <p:set>
                                      <p:cBhvr>
                                        <p:cTn id="27" dur="1" fill="hold">
                                          <p:stCondLst>
                                            <p:cond delay="0"/>
                                          </p:stCondLst>
                                        </p:cTn>
                                        <p:tgtEl>
                                          <p:spTgt spid="303111"/>
                                        </p:tgtEl>
                                        <p:attrNameLst>
                                          <p:attrName>style.visibility</p:attrName>
                                        </p:attrNameLst>
                                      </p:cBhvr>
                                      <p:to>
                                        <p:strVal val="visible"/>
                                      </p:to>
                                    </p:set>
                                    <p:anim calcmode="lin" valueType="num">
                                      <p:cBhvr additive="base">
                                        <p:cTn id="28" dur="500" fill="hold"/>
                                        <p:tgtEl>
                                          <p:spTgt spid="303111"/>
                                        </p:tgtEl>
                                        <p:attrNameLst>
                                          <p:attrName>ppt_x</p:attrName>
                                        </p:attrNameLst>
                                      </p:cBhvr>
                                      <p:tavLst>
                                        <p:tav tm="0">
                                          <p:val>
                                            <p:strVal val="#ppt_x"/>
                                          </p:val>
                                        </p:tav>
                                        <p:tav tm="100000">
                                          <p:val>
                                            <p:strVal val="#ppt_x"/>
                                          </p:val>
                                        </p:tav>
                                      </p:tavLst>
                                    </p:anim>
                                    <p:anim calcmode="lin" valueType="num">
                                      <p:cBhvr additive="base">
                                        <p:cTn id="29" dur="500" fill="hold"/>
                                        <p:tgtEl>
                                          <p:spTgt spid="303111"/>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03112"/>
                                        </p:tgtEl>
                                        <p:attrNameLst>
                                          <p:attrName>style.visibility</p:attrName>
                                        </p:attrNameLst>
                                      </p:cBhvr>
                                      <p:to>
                                        <p:strVal val="visible"/>
                                      </p:to>
                                    </p:set>
                                    <p:anim calcmode="lin" valueType="num">
                                      <p:cBhvr additive="base">
                                        <p:cTn id="34" dur="500" fill="hold"/>
                                        <p:tgtEl>
                                          <p:spTgt spid="303112"/>
                                        </p:tgtEl>
                                        <p:attrNameLst>
                                          <p:attrName>ppt_x</p:attrName>
                                        </p:attrNameLst>
                                      </p:cBhvr>
                                      <p:tavLst>
                                        <p:tav tm="0">
                                          <p:val>
                                            <p:strVal val="#ppt_x"/>
                                          </p:val>
                                        </p:tav>
                                        <p:tav tm="100000">
                                          <p:val>
                                            <p:strVal val="#ppt_x"/>
                                          </p:val>
                                        </p:tav>
                                      </p:tavLst>
                                    </p:anim>
                                    <p:anim calcmode="lin" valueType="num">
                                      <p:cBhvr additive="base">
                                        <p:cTn id="35" dur="500" fill="hold"/>
                                        <p:tgtEl>
                                          <p:spTgt spid="303112"/>
                                        </p:tgtEl>
                                        <p:attrNameLst>
                                          <p:attrName>ppt_y</p:attrName>
                                        </p:attrNameLst>
                                      </p:cBhvr>
                                      <p:tavLst>
                                        <p:tav tm="0">
                                          <p:val>
                                            <p:strVal val="1+#ppt_h/2"/>
                                          </p:val>
                                        </p:tav>
                                        <p:tav tm="100000">
                                          <p:val>
                                            <p:strVal val="#ppt_y"/>
                                          </p:val>
                                        </p:tav>
                                      </p:tavLst>
                                    </p:anim>
                                  </p:childTnLst>
                                </p:cTn>
                              </p:par>
                            </p:childTnLst>
                          </p:cTn>
                        </p:par>
                        <p:par>
                          <p:cTn id="36" fill="hold" nodeType="afterGroup">
                            <p:stCondLst>
                              <p:cond delay="500"/>
                            </p:stCondLst>
                            <p:childTnLst>
                              <p:par>
                                <p:cTn id="37" presetID="2" presetClass="entr" presetSubtype="4" fill="hold" nodeType="afterEffect">
                                  <p:stCondLst>
                                    <p:cond delay="0"/>
                                  </p:stCondLst>
                                  <p:childTnLst>
                                    <p:set>
                                      <p:cBhvr>
                                        <p:cTn id="38" dur="1" fill="hold">
                                          <p:stCondLst>
                                            <p:cond delay="0"/>
                                          </p:stCondLst>
                                        </p:cTn>
                                        <p:tgtEl>
                                          <p:spTgt spid="303113"/>
                                        </p:tgtEl>
                                        <p:attrNameLst>
                                          <p:attrName>style.visibility</p:attrName>
                                        </p:attrNameLst>
                                      </p:cBhvr>
                                      <p:to>
                                        <p:strVal val="visible"/>
                                      </p:to>
                                    </p:set>
                                    <p:anim calcmode="lin" valueType="num">
                                      <p:cBhvr additive="base">
                                        <p:cTn id="39" dur="500" fill="hold"/>
                                        <p:tgtEl>
                                          <p:spTgt spid="303113"/>
                                        </p:tgtEl>
                                        <p:attrNameLst>
                                          <p:attrName>ppt_x</p:attrName>
                                        </p:attrNameLst>
                                      </p:cBhvr>
                                      <p:tavLst>
                                        <p:tav tm="0">
                                          <p:val>
                                            <p:strVal val="#ppt_x"/>
                                          </p:val>
                                        </p:tav>
                                        <p:tav tm="100000">
                                          <p:val>
                                            <p:strVal val="#ppt_x"/>
                                          </p:val>
                                        </p:tav>
                                      </p:tavLst>
                                    </p:anim>
                                    <p:anim calcmode="lin" valueType="num">
                                      <p:cBhvr additive="base">
                                        <p:cTn id="40" dur="500" fill="hold"/>
                                        <p:tgtEl>
                                          <p:spTgt spid="3031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7" grpId="0" build="p"/>
      <p:bldP spid="303109" grpId="0"/>
      <p:bldP spid="303110" grpId="0"/>
      <p:bldP spid="3031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a:extLst>
              <a:ext uri="{FF2B5EF4-FFF2-40B4-BE49-F238E27FC236}">
                <a16:creationId xmlns:a16="http://schemas.microsoft.com/office/drawing/2014/main" id="{DC6C325D-C5EE-8168-94DF-CA8862E90DD4}"/>
              </a:ext>
            </a:extLst>
          </p:cNvPr>
          <p:cNvSpPr>
            <a:spLocks noGrp="1" noChangeArrowheads="1"/>
          </p:cNvSpPr>
          <p:nvPr>
            <p:ph type="title"/>
          </p:nvPr>
        </p:nvSpPr>
        <p:spPr/>
        <p:txBody>
          <a:bodyPr/>
          <a:lstStyle/>
          <a:p>
            <a:pPr eaLnBrk="1" hangingPunct="1"/>
            <a:r>
              <a:rPr lang="zh-CN" altLang="en-US"/>
              <a:t>复合泊松过程</a:t>
            </a:r>
          </a:p>
        </p:txBody>
      </p:sp>
      <p:sp>
        <p:nvSpPr>
          <p:cNvPr id="36869" name="Rectangle 3">
            <a:extLst>
              <a:ext uri="{FF2B5EF4-FFF2-40B4-BE49-F238E27FC236}">
                <a16:creationId xmlns:a16="http://schemas.microsoft.com/office/drawing/2014/main" id="{DED55FAF-C847-964E-D5F8-F3EF0452B946}"/>
              </a:ext>
            </a:extLst>
          </p:cNvPr>
          <p:cNvSpPr>
            <a:spLocks noGrp="1" noChangeArrowheads="1"/>
          </p:cNvSpPr>
          <p:nvPr>
            <p:ph type="body" idx="1"/>
          </p:nvPr>
        </p:nvSpPr>
        <p:spPr>
          <a:xfrm>
            <a:off x="774700" y="1268707"/>
            <a:ext cx="9430700" cy="1938786"/>
          </a:xfrm>
        </p:spPr>
        <p:txBody>
          <a:bodyPr/>
          <a:lstStyle/>
          <a:p>
            <a:pPr marL="0" indent="0" algn="just">
              <a:buNone/>
            </a:pPr>
            <a:r>
              <a:rPr lang="zh-CN" altLang="en-US">
                <a:latin typeface="黑体" panose="02010609060101010101" pitchFamily="49" charset="-122"/>
              </a:rPr>
              <a:t>    </a:t>
            </a:r>
            <a:r>
              <a:rPr lang="zh-CN" altLang="en-US"/>
              <a:t>设</a:t>
            </a:r>
            <a:r>
              <a:rPr lang="en-US" altLang="zh-CN"/>
              <a:t>{N(t),t</a:t>
            </a:r>
            <a:r>
              <a:rPr lang="en-US" altLang="zh-CN">
                <a:sym typeface="Symbol" panose="05050102010706020507" pitchFamily="18" charset="2"/>
              </a:rPr>
              <a:t>0</a:t>
            </a:r>
            <a:r>
              <a:rPr lang="en-US" altLang="zh-CN"/>
              <a:t>}</a:t>
            </a:r>
            <a:r>
              <a:rPr lang="zh-CN" altLang="en-US"/>
              <a:t>是</a:t>
            </a:r>
            <a:r>
              <a:rPr lang="zh-CN" altLang="en-US">
                <a:sym typeface="Symbol" panose="05050102010706020507" pitchFamily="18" charset="2"/>
              </a:rPr>
              <a:t>参数为的泊松过程，</a:t>
            </a:r>
            <a:r>
              <a:rPr lang="en-US" altLang="zh-CN">
                <a:sym typeface="Symbol" panose="05050102010706020507" pitchFamily="18" charset="2"/>
              </a:rPr>
              <a:t>{Y</a:t>
            </a:r>
            <a:r>
              <a:rPr lang="en-US" altLang="zh-CN" baseline="-25000">
                <a:sym typeface="Symbol" panose="05050102010706020507" pitchFamily="18" charset="2"/>
              </a:rPr>
              <a:t>n</a:t>
            </a:r>
            <a:r>
              <a:rPr lang="zh-CN" altLang="en-US">
                <a:sym typeface="Symbol" panose="05050102010706020507" pitchFamily="18" charset="2"/>
              </a:rPr>
              <a:t>，</a:t>
            </a:r>
            <a:r>
              <a:rPr lang="en-US" altLang="zh-CN">
                <a:sym typeface="Symbol" panose="05050102010706020507" pitchFamily="18" charset="2"/>
              </a:rPr>
              <a:t>n=1,2,…}</a:t>
            </a:r>
            <a:r>
              <a:rPr lang="zh-CN" altLang="en-US">
                <a:sym typeface="Symbol" panose="05050102010706020507" pitchFamily="18" charset="2"/>
              </a:rPr>
              <a:t>是相互独立同分布的随机变量序列，且</a:t>
            </a:r>
            <a:r>
              <a:rPr lang="en-US" altLang="zh-CN"/>
              <a:t>{N(t),t</a:t>
            </a:r>
            <a:r>
              <a:rPr lang="en-US" altLang="zh-CN">
                <a:sym typeface="Symbol" panose="05050102010706020507" pitchFamily="18" charset="2"/>
              </a:rPr>
              <a:t>0</a:t>
            </a:r>
            <a:r>
              <a:rPr lang="en-US" altLang="zh-CN"/>
              <a:t>}</a:t>
            </a:r>
            <a:r>
              <a:rPr lang="zh-CN" altLang="en-US">
                <a:sym typeface="Symbol" panose="05050102010706020507" pitchFamily="18" charset="2"/>
              </a:rPr>
              <a:t>与</a:t>
            </a:r>
            <a:r>
              <a:rPr lang="en-US" altLang="zh-CN">
                <a:sym typeface="Symbol" panose="05050102010706020507" pitchFamily="18" charset="2"/>
              </a:rPr>
              <a:t>{Y</a:t>
            </a:r>
            <a:r>
              <a:rPr lang="en-US" altLang="zh-CN" baseline="-25000">
                <a:sym typeface="Symbol" panose="05050102010706020507" pitchFamily="18" charset="2"/>
              </a:rPr>
              <a:t>n</a:t>
            </a:r>
            <a:r>
              <a:rPr lang="zh-CN" altLang="en-US">
                <a:sym typeface="Symbol" panose="05050102010706020507" pitchFamily="18" charset="2"/>
              </a:rPr>
              <a:t>，</a:t>
            </a:r>
            <a:r>
              <a:rPr lang="en-US" altLang="zh-CN">
                <a:sym typeface="Symbol" panose="05050102010706020507" pitchFamily="18" charset="2"/>
              </a:rPr>
              <a:t>n=1,2,…}</a:t>
            </a:r>
            <a:r>
              <a:rPr lang="zh-CN" altLang="en-US">
                <a:sym typeface="Symbol" panose="05050102010706020507" pitchFamily="18" charset="2"/>
              </a:rPr>
              <a:t>相互独立，令</a:t>
            </a:r>
          </a:p>
        </p:txBody>
      </p:sp>
      <p:graphicFrame>
        <p:nvGraphicFramePr>
          <p:cNvPr id="36870" name="Object 4">
            <a:extLst>
              <a:ext uri="{FF2B5EF4-FFF2-40B4-BE49-F238E27FC236}">
                <a16:creationId xmlns:a16="http://schemas.microsoft.com/office/drawing/2014/main" id="{369A6145-4B54-47FB-1DDB-C821B60746BE}"/>
              </a:ext>
            </a:extLst>
          </p:cNvPr>
          <p:cNvGraphicFramePr>
            <a:graphicFrameLocks noChangeAspect="1"/>
          </p:cNvGraphicFramePr>
          <p:nvPr/>
        </p:nvGraphicFramePr>
        <p:xfrm>
          <a:off x="4417624" y="3251953"/>
          <a:ext cx="3237661" cy="970188"/>
        </p:xfrm>
        <a:graphic>
          <a:graphicData uri="http://schemas.openxmlformats.org/presentationml/2006/ole">
            <mc:AlternateContent xmlns:mc="http://schemas.openxmlformats.org/markup-compatibility/2006">
              <mc:Choice xmlns:v="urn:schemas-microsoft-com:vml" Requires="v">
                <p:oleObj name="Equation" r:id="rId2" imgW="1485255" imgH="444307" progId="Equation.3">
                  <p:embed/>
                </p:oleObj>
              </mc:Choice>
              <mc:Fallback>
                <p:oleObj name="Equation" r:id="rId2" imgW="1485255" imgH="444307" progId="Equation.3">
                  <p:embed/>
                  <p:pic>
                    <p:nvPicPr>
                      <p:cNvPr id="36870" name="Object 4">
                        <a:extLst>
                          <a:ext uri="{FF2B5EF4-FFF2-40B4-BE49-F238E27FC236}">
                            <a16:creationId xmlns:a16="http://schemas.microsoft.com/office/drawing/2014/main" id="{369A6145-4B54-47FB-1DDB-C821B60746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7624" y="3251953"/>
                        <a:ext cx="3237661" cy="97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1" name="Rectangle 5">
            <a:extLst>
              <a:ext uri="{FF2B5EF4-FFF2-40B4-BE49-F238E27FC236}">
                <a16:creationId xmlns:a16="http://schemas.microsoft.com/office/drawing/2014/main" id="{10435B46-F9A2-06D6-9B87-10D752AA0F67}"/>
              </a:ext>
            </a:extLst>
          </p:cNvPr>
          <p:cNvSpPr>
            <a:spLocks noChangeArrowheads="1"/>
          </p:cNvSpPr>
          <p:nvPr/>
        </p:nvSpPr>
        <p:spPr bwMode="auto">
          <a:xfrm>
            <a:off x="1201725" y="4350758"/>
            <a:ext cx="7274490" cy="657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Tx/>
              <a:buFontTx/>
              <a:buNone/>
            </a:pPr>
            <a:r>
              <a:rPr lang="zh-CN" altLang="en-US" sz="2801">
                <a:sym typeface="Symbol" panose="05050102010706020507" pitchFamily="18" charset="2"/>
              </a:rPr>
              <a:t>称</a:t>
            </a:r>
            <a:r>
              <a:rPr lang="en-US" altLang="zh-CN" sz="2801">
                <a:sym typeface="Symbol" panose="05050102010706020507" pitchFamily="18" charset="2"/>
              </a:rPr>
              <a:t>{X(t),</a:t>
            </a:r>
            <a:r>
              <a:rPr lang="en-US" altLang="zh-CN" sz="2801"/>
              <a:t>t</a:t>
            </a:r>
            <a:r>
              <a:rPr lang="en-US" altLang="zh-CN" sz="2801">
                <a:sym typeface="Symbol" panose="05050102010706020507" pitchFamily="18" charset="2"/>
              </a:rPr>
              <a:t>0}</a:t>
            </a:r>
            <a:r>
              <a:rPr lang="zh-CN" altLang="en-US" sz="2801">
                <a:sym typeface="Symbol" panose="05050102010706020507" pitchFamily="18" charset="2"/>
              </a:rPr>
              <a:t>为</a:t>
            </a:r>
            <a:r>
              <a:rPr lang="zh-CN" altLang="en-US" sz="2801">
                <a:solidFill>
                  <a:srgbClr val="CC00CC"/>
                </a:solidFill>
                <a:sym typeface="Symbol" panose="05050102010706020507" pitchFamily="18" charset="2"/>
              </a:rPr>
              <a:t>复合泊松过程</a:t>
            </a:r>
            <a:r>
              <a:rPr lang="zh-CN" altLang="en-US" sz="2801">
                <a:sym typeface="Symbol" panose="05050102010706020507" pitchFamily="18" charset="2"/>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a:extLst>
              <a:ext uri="{FF2B5EF4-FFF2-40B4-BE49-F238E27FC236}">
                <a16:creationId xmlns:a16="http://schemas.microsoft.com/office/drawing/2014/main" id="{02815288-1536-F1A9-FB63-FB2B0CB3328D}"/>
              </a:ext>
            </a:extLst>
          </p:cNvPr>
          <p:cNvSpPr>
            <a:spLocks noGrp="1" noChangeArrowheads="1"/>
          </p:cNvSpPr>
          <p:nvPr>
            <p:ph type="title"/>
          </p:nvPr>
        </p:nvSpPr>
        <p:spPr/>
        <p:txBody>
          <a:bodyPr/>
          <a:lstStyle/>
          <a:p>
            <a:pPr algn="l" eaLnBrk="1" hangingPunct="1"/>
            <a:r>
              <a:rPr lang="zh-CN" altLang="en-US"/>
              <a:t>例</a:t>
            </a:r>
          </a:p>
        </p:txBody>
      </p:sp>
      <p:sp>
        <p:nvSpPr>
          <p:cNvPr id="15367" name="Rectangle 3">
            <a:extLst>
              <a:ext uri="{FF2B5EF4-FFF2-40B4-BE49-F238E27FC236}">
                <a16:creationId xmlns:a16="http://schemas.microsoft.com/office/drawing/2014/main" id="{3F1FA5B1-9094-F286-2DEB-BC7DEC484738}"/>
              </a:ext>
            </a:extLst>
          </p:cNvPr>
          <p:cNvSpPr>
            <a:spLocks noGrp="1" noChangeArrowheads="1"/>
          </p:cNvSpPr>
          <p:nvPr>
            <p:ph type="body" idx="1"/>
          </p:nvPr>
        </p:nvSpPr>
        <p:spPr>
          <a:xfrm>
            <a:off x="536576" y="1178198"/>
            <a:ext cx="9740280" cy="3361516"/>
          </a:xfrm>
        </p:spPr>
        <p:txBody>
          <a:bodyPr/>
          <a:lstStyle/>
          <a:p>
            <a:pPr marL="0" indent="0" algn="just">
              <a:buNone/>
            </a:pPr>
            <a:r>
              <a:rPr lang="en-US" altLang="zh-CN" dirty="0"/>
              <a:t>     </a:t>
            </a:r>
            <a:r>
              <a:rPr lang="zh-CN" altLang="en-US" dirty="0"/>
              <a:t>某计算机相继两次出现故障的间隔时间为相互独立服从相同指数分布的</a:t>
            </a:r>
            <a:r>
              <a:rPr lang="zh-CN" altLang="en-US" dirty="0">
                <a:sym typeface="Symbol" panose="05050102010706020507" pitchFamily="18" charset="2"/>
              </a:rPr>
              <a:t>随机变量。每出现一次故障需要支付费用来维修。</a:t>
            </a:r>
            <a:r>
              <a:rPr lang="zh-CN" altLang="en-US" dirty="0"/>
              <a:t>设发生在不同时间的故障所花的维修费用是相互独立、同分布的，且维修费和故障时间相互独立，设</a:t>
            </a:r>
            <a:r>
              <a:rPr lang="en-US" altLang="zh-CN" dirty="0" err="1"/>
              <a:t>Y</a:t>
            </a:r>
            <a:r>
              <a:rPr lang="en-US" altLang="zh-CN" baseline="-25000" dirty="0" err="1"/>
              <a:t>n</a:t>
            </a:r>
            <a:r>
              <a:rPr lang="zh-CN" altLang="en-US" dirty="0"/>
              <a:t>表示第</a:t>
            </a:r>
            <a:r>
              <a:rPr lang="en-US" altLang="zh-CN" dirty="0"/>
              <a:t>n</a:t>
            </a:r>
            <a:r>
              <a:rPr lang="zh-CN" altLang="en-US" dirty="0"/>
              <a:t>次的维修费，</a:t>
            </a:r>
            <a:r>
              <a:rPr lang="en-US" altLang="zh-CN" dirty="0"/>
              <a:t>N(t)</a:t>
            </a:r>
            <a:r>
              <a:rPr lang="zh-CN" altLang="en-US" dirty="0"/>
              <a:t>表示</a:t>
            </a:r>
            <a:r>
              <a:rPr lang="en-US" altLang="zh-CN" dirty="0"/>
              <a:t>[0,t)</a:t>
            </a:r>
            <a:r>
              <a:rPr lang="zh-CN" altLang="en-US" dirty="0"/>
              <a:t>内的故障次数，</a:t>
            </a:r>
            <a:r>
              <a:rPr lang="zh-CN" altLang="en-US" dirty="0">
                <a:sym typeface="Symbol" panose="05050102010706020507" pitchFamily="18" charset="2"/>
              </a:rPr>
              <a:t>令</a:t>
            </a:r>
          </a:p>
        </p:txBody>
      </p:sp>
      <p:graphicFrame>
        <p:nvGraphicFramePr>
          <p:cNvPr id="15362" name="Object 4">
            <a:extLst>
              <a:ext uri="{FF2B5EF4-FFF2-40B4-BE49-F238E27FC236}">
                <a16:creationId xmlns:a16="http://schemas.microsoft.com/office/drawing/2014/main" id="{2D7E56F8-2960-82F2-1118-3CEE0C67A501}"/>
              </a:ext>
            </a:extLst>
          </p:cNvPr>
          <p:cNvGraphicFramePr>
            <a:graphicFrameLocks noChangeAspect="1"/>
          </p:cNvGraphicFramePr>
          <p:nvPr>
            <p:extLst>
              <p:ext uri="{D42A27DB-BD31-4B8C-83A1-F6EECF244321}">
                <p14:modId xmlns:p14="http://schemas.microsoft.com/office/powerpoint/2010/main" val="2929521792"/>
              </p:ext>
            </p:extLst>
          </p:nvPr>
        </p:nvGraphicFramePr>
        <p:xfrm>
          <a:off x="4270375" y="3886994"/>
          <a:ext cx="3237662" cy="970187"/>
        </p:xfrm>
        <a:graphic>
          <a:graphicData uri="http://schemas.openxmlformats.org/presentationml/2006/ole">
            <mc:AlternateContent xmlns:mc="http://schemas.openxmlformats.org/markup-compatibility/2006">
              <mc:Choice xmlns:v="urn:schemas-microsoft-com:vml" Requires="v">
                <p:oleObj name="Equation" r:id="rId2" imgW="1485255" imgH="444307" progId="Equation.3">
                  <p:embed/>
                </p:oleObj>
              </mc:Choice>
              <mc:Fallback>
                <p:oleObj name="Equation" r:id="rId2" imgW="1485255" imgH="444307" progId="Equation.3">
                  <p:embed/>
                  <p:pic>
                    <p:nvPicPr>
                      <p:cNvPr id="15362" name="Object 4">
                        <a:extLst>
                          <a:ext uri="{FF2B5EF4-FFF2-40B4-BE49-F238E27FC236}">
                            <a16:creationId xmlns:a16="http://schemas.microsoft.com/office/drawing/2014/main" id="{2D7E56F8-2960-82F2-1118-3CEE0C67A5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75" y="3886994"/>
                        <a:ext cx="3237662" cy="97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8" name="Rectangle 5">
            <a:extLst>
              <a:ext uri="{FF2B5EF4-FFF2-40B4-BE49-F238E27FC236}">
                <a16:creationId xmlns:a16="http://schemas.microsoft.com/office/drawing/2014/main" id="{2FB3E331-D790-484A-AF40-16446B69FB55}"/>
              </a:ext>
            </a:extLst>
          </p:cNvPr>
          <p:cNvSpPr>
            <a:spLocks noChangeArrowheads="1"/>
          </p:cNvSpPr>
          <p:nvPr/>
        </p:nvSpPr>
        <p:spPr bwMode="auto">
          <a:xfrm>
            <a:off x="587882" y="5446386"/>
            <a:ext cx="9833469" cy="579710"/>
          </a:xfrm>
          <a:prstGeom prst="rect">
            <a:avLst/>
          </a:prstGeom>
          <a:noFill/>
          <a:ln w="9525">
            <a:noFill/>
            <a:miter lim="800000"/>
            <a:headEnd/>
            <a:tailEnd/>
          </a:ln>
        </p:spPr>
        <p:txBody>
          <a:bodyPr wrap="square">
            <a:spAutoFit/>
          </a:bodyPr>
          <a:lstStyle/>
          <a:p>
            <a:pPr algn="just">
              <a:lnSpc>
                <a:spcPct val="150000"/>
              </a:lnSpc>
              <a:defRPr/>
            </a:pPr>
            <a:r>
              <a:rPr lang="zh-CN" altLang="en-US" b="1" dirty="0">
                <a:sym typeface="Symbol" pitchFamily="18" charset="2"/>
              </a:rPr>
              <a:t>表示</a:t>
            </a:r>
            <a:r>
              <a:rPr lang="en-US" altLang="zh-CN" b="1" dirty="0">
                <a:sym typeface="Symbol" pitchFamily="18" charset="2"/>
              </a:rPr>
              <a:t>[0,t)</a:t>
            </a:r>
            <a:r>
              <a:rPr lang="zh-CN" altLang="en-US" b="1" dirty="0">
                <a:sym typeface="Symbol" pitchFamily="18" charset="2"/>
              </a:rPr>
              <a:t>内的总费用，则</a:t>
            </a:r>
            <a:r>
              <a:rPr lang="en-US" altLang="zh-CN" b="1" dirty="0">
                <a:sym typeface="Symbol" pitchFamily="18" charset="2"/>
              </a:rPr>
              <a:t>{X(t),</a:t>
            </a:r>
            <a:r>
              <a:rPr lang="en-US" altLang="zh-CN" b="1" dirty="0"/>
              <a:t>t</a:t>
            </a:r>
            <a:r>
              <a:rPr lang="en-US" altLang="zh-CN" b="1" dirty="0">
                <a:sym typeface="Symbol" pitchFamily="18" charset="2"/>
              </a:rPr>
              <a:t>0}</a:t>
            </a:r>
            <a:r>
              <a:rPr lang="zh-CN" altLang="en-US" b="1" dirty="0">
                <a:sym typeface="Symbol" pitchFamily="18" charset="2"/>
              </a:rPr>
              <a:t>是一个复合泊松过程。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367">
                                            <p:txEl>
                                              <p:pRg st="0" end="0"/>
                                            </p:txEl>
                                          </p:spTgt>
                                        </p:tgtEl>
                                        <p:attrNameLst>
                                          <p:attrName>style.visibility</p:attrName>
                                        </p:attrNameLst>
                                      </p:cBhvr>
                                      <p:to>
                                        <p:strVal val="visible"/>
                                      </p:to>
                                    </p:set>
                                    <p:anim calcmode="lin" valueType="num">
                                      <p:cBhvr additive="base">
                                        <p:cTn id="7" dur="500" fill="hold"/>
                                        <p:tgtEl>
                                          <p:spTgt spid="153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15362"/>
                                        </p:tgtEl>
                                        <p:attrNameLst>
                                          <p:attrName>style.visibility</p:attrName>
                                        </p:attrNameLst>
                                      </p:cBhvr>
                                      <p:to>
                                        <p:strVal val="visible"/>
                                      </p:to>
                                    </p:set>
                                    <p:anim calcmode="lin" valueType="num">
                                      <p:cBhvr additive="base">
                                        <p:cTn id="12" dur="500" fill="hold"/>
                                        <p:tgtEl>
                                          <p:spTgt spid="15362"/>
                                        </p:tgtEl>
                                        <p:attrNameLst>
                                          <p:attrName>ppt_x</p:attrName>
                                        </p:attrNameLst>
                                      </p:cBhvr>
                                      <p:tavLst>
                                        <p:tav tm="0">
                                          <p:val>
                                            <p:strVal val="#ppt_x"/>
                                          </p:val>
                                        </p:tav>
                                        <p:tav tm="100000">
                                          <p:val>
                                            <p:strVal val="#ppt_x"/>
                                          </p:val>
                                        </p:tav>
                                      </p:tavLst>
                                    </p:anim>
                                    <p:anim calcmode="lin" valueType="num">
                                      <p:cBhvr additive="base">
                                        <p:cTn id="13" dur="500" fill="hold"/>
                                        <p:tgtEl>
                                          <p:spTgt spid="15362"/>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5368"/>
                                        </p:tgtEl>
                                        <p:attrNameLst>
                                          <p:attrName>style.visibility</p:attrName>
                                        </p:attrNameLst>
                                      </p:cBhvr>
                                      <p:to>
                                        <p:strVal val="visible"/>
                                      </p:to>
                                    </p:set>
                                    <p:anim calcmode="lin" valueType="num">
                                      <p:cBhvr additive="base">
                                        <p:cTn id="17" dur="500" fill="hold"/>
                                        <p:tgtEl>
                                          <p:spTgt spid="15368"/>
                                        </p:tgtEl>
                                        <p:attrNameLst>
                                          <p:attrName>ppt_x</p:attrName>
                                        </p:attrNameLst>
                                      </p:cBhvr>
                                      <p:tavLst>
                                        <p:tav tm="0">
                                          <p:val>
                                            <p:strVal val="#ppt_x"/>
                                          </p:val>
                                        </p:tav>
                                        <p:tav tm="100000">
                                          <p:val>
                                            <p:strVal val="#ppt_x"/>
                                          </p:val>
                                        </p:tav>
                                      </p:tavLst>
                                    </p:anim>
                                    <p:anim calcmode="lin" valueType="num">
                                      <p:cBhvr additive="base">
                                        <p:cTn id="18" dur="500" fill="hold"/>
                                        <p:tgtEl>
                                          <p:spTgt spid="153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7" grpId="0" build="p"/>
      <p:bldP spid="1536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a:extLst>
              <a:ext uri="{FF2B5EF4-FFF2-40B4-BE49-F238E27FC236}">
                <a16:creationId xmlns:a16="http://schemas.microsoft.com/office/drawing/2014/main" id="{0FA3222D-AA7D-F05A-6849-028703D8C032}"/>
              </a:ext>
            </a:extLst>
          </p:cNvPr>
          <p:cNvSpPr>
            <a:spLocks noGrp="1" noChangeArrowheads="1"/>
          </p:cNvSpPr>
          <p:nvPr>
            <p:ph type="title"/>
          </p:nvPr>
        </p:nvSpPr>
        <p:spPr/>
        <p:txBody>
          <a:bodyPr/>
          <a:lstStyle/>
          <a:p>
            <a:pPr algn="l" eaLnBrk="1" hangingPunct="1"/>
            <a:r>
              <a:rPr lang="zh-CN" altLang="en-US"/>
              <a:t>复合泊松过程的数字特征</a:t>
            </a:r>
          </a:p>
        </p:txBody>
      </p:sp>
      <p:sp>
        <p:nvSpPr>
          <p:cNvPr id="15367" name="Rectangle 3">
            <a:extLst>
              <a:ext uri="{FF2B5EF4-FFF2-40B4-BE49-F238E27FC236}">
                <a16:creationId xmlns:a16="http://schemas.microsoft.com/office/drawing/2014/main" id="{7E597B4C-AD13-45A2-2747-E489DE344F01}"/>
              </a:ext>
            </a:extLst>
          </p:cNvPr>
          <p:cNvSpPr>
            <a:spLocks noGrp="1" noChangeArrowheads="1"/>
          </p:cNvSpPr>
          <p:nvPr>
            <p:ph type="body" idx="1"/>
          </p:nvPr>
        </p:nvSpPr>
        <p:spPr>
          <a:xfrm>
            <a:off x="583717" y="1052757"/>
            <a:ext cx="11306658" cy="5729837"/>
          </a:xfrm>
        </p:spPr>
        <p:txBody>
          <a:bodyPr>
            <a:normAutofit/>
          </a:bodyPr>
          <a:lstStyle/>
          <a:p>
            <a:pPr marL="0" indent="0" algn="just">
              <a:lnSpc>
                <a:spcPct val="200000"/>
              </a:lnSpc>
              <a:buNone/>
            </a:pPr>
            <a:r>
              <a:rPr lang="en-US" altLang="zh-CN" dirty="0"/>
              <a:t>       </a:t>
            </a:r>
            <a:r>
              <a:rPr lang="zh-CN" altLang="en-US" dirty="0"/>
              <a:t>设</a:t>
            </a:r>
            <a:r>
              <a:rPr lang="en-US" altLang="zh-CN" dirty="0">
                <a:sym typeface="Symbol" panose="05050102010706020507" pitchFamily="18" charset="2"/>
              </a:rPr>
              <a:t>{X(t),</a:t>
            </a:r>
            <a:r>
              <a:rPr lang="en-US" altLang="zh-CN" dirty="0"/>
              <a:t>t</a:t>
            </a:r>
            <a:r>
              <a:rPr lang="en-US" altLang="zh-CN" dirty="0">
                <a:sym typeface="Symbol" panose="05050102010706020507" pitchFamily="18" charset="2"/>
              </a:rPr>
              <a:t>0}</a:t>
            </a:r>
            <a:r>
              <a:rPr lang="zh-CN" altLang="en-US" dirty="0">
                <a:sym typeface="Symbol" panose="05050102010706020507" pitchFamily="18" charset="2"/>
              </a:rPr>
              <a:t>为复合泊松过程，               。其中</a:t>
            </a:r>
            <a:r>
              <a:rPr lang="en-US" altLang="zh-CN" dirty="0">
                <a:sym typeface="Symbol" panose="05050102010706020507" pitchFamily="18" charset="2"/>
              </a:rPr>
              <a:t>{</a:t>
            </a:r>
            <a:r>
              <a:rPr lang="en-US" altLang="zh-CN" dirty="0"/>
              <a:t>N(t),t≥0}</a:t>
            </a:r>
            <a:r>
              <a:rPr lang="zh-CN" altLang="en-US" dirty="0"/>
              <a:t>是参数为</a:t>
            </a:r>
            <a:r>
              <a:rPr lang="el-GR" altLang="zh-CN" dirty="0"/>
              <a:t>λ</a:t>
            </a:r>
            <a:r>
              <a:rPr lang="zh-CN" altLang="en-US" dirty="0"/>
              <a:t>的泊松过程，</a:t>
            </a:r>
            <a:r>
              <a:rPr lang="en-US" altLang="zh-CN" dirty="0" err="1"/>
              <a:t>Y</a:t>
            </a:r>
            <a:r>
              <a:rPr lang="en-US" altLang="zh-CN" baseline="-25000" dirty="0" err="1"/>
              <a:t>n</a:t>
            </a:r>
            <a:r>
              <a:rPr lang="zh-CN" altLang="en-US" baseline="-25000" dirty="0"/>
              <a:t>，</a:t>
            </a:r>
            <a:r>
              <a:rPr lang="en-US" altLang="zh-CN" dirty="0"/>
              <a:t>n=1,2,…</a:t>
            </a:r>
            <a:r>
              <a:rPr lang="zh-CN" altLang="en-US" dirty="0"/>
              <a:t>，相互独立、与</a:t>
            </a:r>
            <a:r>
              <a:rPr lang="en-US" altLang="zh-CN" dirty="0"/>
              <a:t>Y</a:t>
            </a:r>
            <a:r>
              <a:rPr lang="zh-CN" altLang="en-US" dirty="0"/>
              <a:t>同分布的，</a:t>
            </a:r>
            <a:r>
              <a:rPr lang="en-US" altLang="zh-CN" dirty="0"/>
              <a:t>Y</a:t>
            </a:r>
            <a:r>
              <a:rPr lang="zh-CN" altLang="en-US" dirty="0"/>
              <a:t>的特征函数为</a:t>
            </a:r>
            <a:r>
              <a:rPr lang="el-GR" altLang="zh-CN" dirty="0"/>
              <a:t>φ</a:t>
            </a:r>
            <a:r>
              <a:rPr lang="en-US" altLang="zh-CN" baseline="-25000" dirty="0"/>
              <a:t>y</a:t>
            </a:r>
            <a:r>
              <a:rPr lang="en-US" altLang="zh-CN" dirty="0"/>
              <a:t>(u)</a:t>
            </a:r>
            <a:r>
              <a:rPr lang="zh-CN" altLang="en-US" dirty="0"/>
              <a:t>，则复合泊松过程有：</a:t>
            </a:r>
            <a:endParaRPr lang="en-US" altLang="zh-CN" dirty="0"/>
          </a:p>
          <a:p>
            <a:pPr marL="0" indent="0" algn="just">
              <a:buClr>
                <a:srgbClr val="6600CC"/>
              </a:buClr>
              <a:buFontTx/>
              <a:buAutoNum type="arabicParenBoth"/>
            </a:pPr>
            <a:r>
              <a:rPr lang="zh-CN" altLang="en-US" dirty="0"/>
              <a:t>特征函数为</a:t>
            </a:r>
            <a:r>
              <a:rPr lang="el-GR" altLang="zh-CN" dirty="0"/>
              <a:t>φ</a:t>
            </a:r>
            <a:r>
              <a:rPr lang="en-US" altLang="zh-CN" baseline="-25000" dirty="0"/>
              <a:t>X</a:t>
            </a:r>
            <a:r>
              <a:rPr lang="en-US" altLang="zh-CN" dirty="0"/>
              <a:t>(</a:t>
            </a:r>
            <a:r>
              <a:rPr lang="en-US" altLang="zh-CN" dirty="0" err="1"/>
              <a:t>t,u</a:t>
            </a:r>
            <a:r>
              <a:rPr lang="en-US" altLang="zh-CN" dirty="0"/>
              <a:t>)=</a:t>
            </a:r>
          </a:p>
          <a:p>
            <a:pPr marL="0" indent="0" algn="just">
              <a:buClr>
                <a:srgbClr val="6600CC"/>
              </a:buClr>
              <a:buFontTx/>
              <a:buAutoNum type="arabicParenBoth"/>
            </a:pPr>
            <a:r>
              <a:rPr lang="zh-CN" altLang="en-US" dirty="0">
                <a:sym typeface="Symbol" panose="05050102010706020507" pitchFamily="18" charset="2"/>
              </a:rPr>
              <a:t>均值函数</a:t>
            </a:r>
            <a:r>
              <a:rPr lang="en-US" altLang="zh-CN" dirty="0">
                <a:sym typeface="Symbol" panose="05050102010706020507" pitchFamily="18" charset="2"/>
              </a:rPr>
              <a:t>  </a:t>
            </a:r>
            <a:r>
              <a:rPr lang="en-US" altLang="zh-CN" dirty="0" err="1">
                <a:sym typeface="Symbol" panose="05050102010706020507" pitchFamily="18" charset="2"/>
              </a:rPr>
              <a:t>m</a:t>
            </a:r>
            <a:r>
              <a:rPr lang="en-US" altLang="zh-CN" baseline="-25000" dirty="0" err="1">
                <a:sym typeface="Symbol" panose="05050102010706020507" pitchFamily="18" charset="2"/>
              </a:rPr>
              <a:t>X</a:t>
            </a:r>
            <a:r>
              <a:rPr lang="en-US" altLang="zh-CN" dirty="0">
                <a:sym typeface="Symbol" panose="05050102010706020507" pitchFamily="18" charset="2"/>
              </a:rPr>
              <a:t>(t)=E[X(t)]=E[N(t)]E{Y}=</a:t>
            </a:r>
            <a:r>
              <a:rPr lang="el-GR" altLang="zh-CN" dirty="0"/>
              <a:t>λ</a:t>
            </a:r>
            <a:r>
              <a:rPr lang="en-US" altLang="zh-CN" dirty="0" err="1"/>
              <a:t>tE</a:t>
            </a:r>
            <a:r>
              <a:rPr lang="en-US" altLang="zh-CN" dirty="0"/>
              <a:t>[Y]</a:t>
            </a:r>
          </a:p>
          <a:p>
            <a:pPr marL="0" indent="0" algn="just">
              <a:buClr>
                <a:srgbClr val="6600CC"/>
              </a:buClr>
              <a:buFontTx/>
              <a:buAutoNum type="arabicParenBoth"/>
            </a:pPr>
            <a:r>
              <a:rPr lang="zh-CN" altLang="en-US" dirty="0">
                <a:sym typeface="Symbol" panose="05050102010706020507" pitchFamily="18" charset="2"/>
              </a:rPr>
              <a:t>方差函数</a:t>
            </a:r>
            <a:endParaRPr lang="en-US" altLang="zh-CN" dirty="0">
              <a:sym typeface="Symbol" panose="05050102010706020507" pitchFamily="18" charset="2"/>
            </a:endParaRPr>
          </a:p>
          <a:p>
            <a:pPr marL="0" indent="0" algn="just">
              <a:buNone/>
            </a:pPr>
            <a:r>
              <a:rPr lang="en-US" altLang="zh-CN" dirty="0">
                <a:sym typeface="Symbol" panose="05050102010706020507" pitchFamily="18" charset="2"/>
              </a:rPr>
              <a:t>      D</a:t>
            </a:r>
            <a:r>
              <a:rPr lang="en-US" altLang="zh-CN" baseline="-25000" dirty="0">
                <a:sym typeface="Symbol" panose="05050102010706020507" pitchFamily="18" charset="2"/>
              </a:rPr>
              <a:t>X</a:t>
            </a:r>
            <a:r>
              <a:rPr lang="en-US" altLang="zh-CN" dirty="0">
                <a:sym typeface="Symbol" panose="05050102010706020507" pitchFamily="18" charset="2"/>
              </a:rPr>
              <a:t>(t)=D[X(t)]</a:t>
            </a:r>
          </a:p>
          <a:p>
            <a:pPr marL="0" indent="0" algn="just">
              <a:buNone/>
            </a:pPr>
            <a:r>
              <a:rPr lang="en-US" altLang="zh-CN" dirty="0">
                <a:sym typeface="Symbol" panose="05050102010706020507" pitchFamily="18" charset="2"/>
              </a:rPr>
              <a:t>              =E[X</a:t>
            </a:r>
            <a:r>
              <a:rPr lang="en-US" altLang="zh-CN" baseline="30000" dirty="0">
                <a:sym typeface="Symbol" panose="05050102010706020507" pitchFamily="18" charset="2"/>
              </a:rPr>
              <a:t>2</a:t>
            </a:r>
            <a:r>
              <a:rPr lang="en-US" altLang="zh-CN" dirty="0">
                <a:sym typeface="Symbol" panose="05050102010706020507" pitchFamily="18" charset="2"/>
              </a:rPr>
              <a:t>(t)]-E</a:t>
            </a:r>
            <a:r>
              <a:rPr lang="en-US" altLang="zh-CN" baseline="30000" dirty="0">
                <a:sym typeface="Symbol" panose="05050102010706020507" pitchFamily="18" charset="2"/>
              </a:rPr>
              <a:t>2</a:t>
            </a:r>
            <a:r>
              <a:rPr lang="en-US" altLang="zh-CN" dirty="0">
                <a:sym typeface="Symbol" panose="05050102010706020507" pitchFamily="18" charset="2"/>
              </a:rPr>
              <a:t>[X(t)]</a:t>
            </a:r>
          </a:p>
          <a:p>
            <a:pPr marL="0" indent="0" algn="just">
              <a:buNone/>
            </a:pPr>
            <a:r>
              <a:rPr lang="en-US" altLang="zh-CN" dirty="0">
                <a:sym typeface="Symbol" panose="05050102010706020507" pitchFamily="18" charset="2"/>
              </a:rPr>
              <a:t>              =</a:t>
            </a:r>
            <a:r>
              <a:rPr lang="el-GR" altLang="zh-CN" dirty="0"/>
              <a:t>λ</a:t>
            </a:r>
            <a:r>
              <a:rPr lang="en-US" altLang="zh-CN" dirty="0" err="1"/>
              <a:t>tE</a:t>
            </a:r>
            <a:r>
              <a:rPr lang="en-US" altLang="zh-CN" dirty="0"/>
              <a:t>[Y</a:t>
            </a:r>
            <a:r>
              <a:rPr lang="en-US" altLang="zh-CN" baseline="30000" dirty="0">
                <a:sym typeface="Symbol" panose="05050102010706020507" pitchFamily="18" charset="2"/>
              </a:rPr>
              <a:t>2</a:t>
            </a:r>
            <a:r>
              <a:rPr lang="en-US" altLang="zh-CN" dirty="0"/>
              <a:t>]=</a:t>
            </a:r>
            <a:r>
              <a:rPr lang="en-US" altLang="zh-CN" dirty="0">
                <a:sym typeface="Symbol" panose="05050102010706020507" pitchFamily="18" charset="2"/>
              </a:rPr>
              <a:t>E[N(t)]</a:t>
            </a:r>
            <a:r>
              <a:rPr lang="en-US" altLang="zh-CN" dirty="0"/>
              <a:t>E[Y</a:t>
            </a:r>
            <a:r>
              <a:rPr lang="en-US" altLang="zh-CN" baseline="30000" dirty="0">
                <a:sym typeface="Symbol" panose="05050102010706020507" pitchFamily="18" charset="2"/>
              </a:rPr>
              <a:t>2</a:t>
            </a:r>
            <a:r>
              <a:rPr lang="en-US" altLang="zh-CN" dirty="0"/>
              <a:t>]</a:t>
            </a:r>
            <a:endParaRPr lang="zh-CN" altLang="en-US" dirty="0">
              <a:sym typeface="Symbol" panose="05050102010706020507" pitchFamily="18" charset="2"/>
            </a:endParaRPr>
          </a:p>
        </p:txBody>
      </p:sp>
      <p:graphicFrame>
        <p:nvGraphicFramePr>
          <p:cNvPr id="15362" name="Object 4">
            <a:extLst>
              <a:ext uri="{FF2B5EF4-FFF2-40B4-BE49-F238E27FC236}">
                <a16:creationId xmlns:a16="http://schemas.microsoft.com/office/drawing/2014/main" id="{8CED52A4-674E-AD22-4AF2-20656DF1D181}"/>
              </a:ext>
            </a:extLst>
          </p:cNvPr>
          <p:cNvGraphicFramePr>
            <a:graphicFrameLocks noChangeAspect="1"/>
          </p:cNvGraphicFramePr>
          <p:nvPr>
            <p:extLst>
              <p:ext uri="{D42A27DB-BD31-4B8C-83A1-F6EECF244321}">
                <p14:modId xmlns:p14="http://schemas.microsoft.com/office/powerpoint/2010/main" val="1200325181"/>
              </p:ext>
            </p:extLst>
          </p:nvPr>
        </p:nvGraphicFramePr>
        <p:xfrm>
          <a:off x="5337175" y="1166562"/>
          <a:ext cx="1681552" cy="889206"/>
        </p:xfrm>
        <a:graphic>
          <a:graphicData uri="http://schemas.openxmlformats.org/presentationml/2006/ole">
            <mc:AlternateContent xmlns:mc="http://schemas.openxmlformats.org/markup-compatibility/2006">
              <mc:Choice xmlns:v="urn:schemas-microsoft-com:vml" Requires="v">
                <p:oleObj name="Equation" r:id="rId3" imgW="837836" imgH="444307" progId="Equation.DSMT4">
                  <p:embed/>
                </p:oleObj>
              </mc:Choice>
              <mc:Fallback>
                <p:oleObj name="Equation" r:id="rId3" imgW="837836" imgH="444307" progId="Equation.DSMT4">
                  <p:embed/>
                  <p:pic>
                    <p:nvPicPr>
                      <p:cNvPr id="15362" name="Object 4">
                        <a:extLst>
                          <a:ext uri="{FF2B5EF4-FFF2-40B4-BE49-F238E27FC236}">
                            <a16:creationId xmlns:a16="http://schemas.microsoft.com/office/drawing/2014/main" id="{8CED52A4-674E-AD22-4AF2-20656DF1D1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7175" y="1166562"/>
                        <a:ext cx="1681552" cy="889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3">
            <a:extLst>
              <a:ext uri="{FF2B5EF4-FFF2-40B4-BE49-F238E27FC236}">
                <a16:creationId xmlns:a16="http://schemas.microsoft.com/office/drawing/2014/main" id="{A69D71B4-B6B0-534B-1E1B-9AF1B1C9EB3A}"/>
              </a:ext>
            </a:extLst>
          </p:cNvPr>
          <p:cNvGraphicFramePr>
            <a:graphicFrameLocks noChangeAspect="1"/>
          </p:cNvGraphicFramePr>
          <p:nvPr>
            <p:extLst>
              <p:ext uri="{D42A27DB-BD31-4B8C-83A1-F6EECF244321}">
                <p14:modId xmlns:p14="http://schemas.microsoft.com/office/powerpoint/2010/main" val="368881644"/>
              </p:ext>
            </p:extLst>
          </p:nvPr>
        </p:nvGraphicFramePr>
        <p:xfrm>
          <a:off x="3901583" y="3277394"/>
          <a:ext cx="1732918" cy="589064"/>
        </p:xfrm>
        <a:graphic>
          <a:graphicData uri="http://schemas.openxmlformats.org/presentationml/2006/ole">
            <mc:AlternateContent xmlns:mc="http://schemas.openxmlformats.org/markup-compatibility/2006">
              <mc:Choice xmlns:v="urn:schemas-microsoft-com:vml" Requires="v">
                <p:oleObj name="Equation" r:id="rId5" imgW="596641" imgH="203112" progId="Equation.DSMT4">
                  <p:embed/>
                </p:oleObj>
              </mc:Choice>
              <mc:Fallback>
                <p:oleObj name="Equation" r:id="rId5" imgW="596641" imgH="203112" progId="Equation.DSMT4">
                  <p:embed/>
                  <p:pic>
                    <p:nvPicPr>
                      <p:cNvPr id="9" name="Object 3">
                        <a:extLst>
                          <a:ext uri="{FF2B5EF4-FFF2-40B4-BE49-F238E27FC236}">
                            <a16:creationId xmlns:a16="http://schemas.microsoft.com/office/drawing/2014/main" id="{A69D71B4-B6B0-534B-1E1B-9AF1B1C9EB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1583" y="3277394"/>
                        <a:ext cx="1732918" cy="589064"/>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7">
                                            <p:txEl>
                                              <p:pRg st="0" end="0"/>
                                            </p:txEl>
                                          </p:spTgt>
                                        </p:tgtEl>
                                        <p:attrNameLst>
                                          <p:attrName>style.visibility</p:attrName>
                                        </p:attrNameLst>
                                      </p:cBhvr>
                                      <p:to>
                                        <p:strVal val="visible"/>
                                      </p:to>
                                    </p:set>
                                    <p:anim calcmode="lin" valueType="num">
                                      <p:cBhvr additive="base">
                                        <p:cTn id="7" dur="500" fill="hold"/>
                                        <p:tgtEl>
                                          <p:spTgt spid="153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362"/>
                                        </p:tgtEl>
                                        <p:attrNameLst>
                                          <p:attrName>style.visibility</p:attrName>
                                        </p:attrNameLst>
                                      </p:cBhvr>
                                      <p:to>
                                        <p:strVal val="visible"/>
                                      </p:to>
                                    </p:set>
                                    <p:anim calcmode="lin" valueType="num">
                                      <p:cBhvr additive="base">
                                        <p:cTn id="11" dur="500" fill="hold"/>
                                        <p:tgtEl>
                                          <p:spTgt spid="15362"/>
                                        </p:tgtEl>
                                        <p:attrNameLst>
                                          <p:attrName>ppt_x</p:attrName>
                                        </p:attrNameLst>
                                      </p:cBhvr>
                                      <p:tavLst>
                                        <p:tav tm="0">
                                          <p:val>
                                            <p:strVal val="#ppt_x"/>
                                          </p:val>
                                        </p:tav>
                                        <p:tav tm="100000">
                                          <p:val>
                                            <p:strVal val="#ppt_x"/>
                                          </p:val>
                                        </p:tav>
                                      </p:tavLst>
                                    </p:anim>
                                    <p:anim calcmode="lin" valueType="num">
                                      <p:cBhvr additive="base">
                                        <p:cTn id="12" dur="500" fill="hold"/>
                                        <p:tgtEl>
                                          <p:spTgt spid="15362"/>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367">
                                            <p:txEl>
                                              <p:pRg st="1" end="1"/>
                                            </p:txEl>
                                          </p:spTgt>
                                        </p:tgtEl>
                                        <p:attrNameLst>
                                          <p:attrName>style.visibility</p:attrName>
                                        </p:attrNameLst>
                                      </p:cBhvr>
                                      <p:to>
                                        <p:strVal val="visible"/>
                                      </p:to>
                                    </p:set>
                                    <p:anim calcmode="lin" valueType="num">
                                      <p:cBhvr additive="base">
                                        <p:cTn id="17" dur="500" fill="hold"/>
                                        <p:tgtEl>
                                          <p:spTgt spid="1536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367">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5367">
                                            <p:txEl>
                                              <p:pRg st="2" end="2"/>
                                            </p:txEl>
                                          </p:spTgt>
                                        </p:tgtEl>
                                        <p:attrNameLst>
                                          <p:attrName>style.visibility</p:attrName>
                                        </p:attrNameLst>
                                      </p:cBhvr>
                                      <p:to>
                                        <p:strVal val="visible"/>
                                      </p:to>
                                    </p:set>
                                    <p:anim calcmode="lin" valueType="num">
                                      <p:cBhvr additive="base">
                                        <p:cTn id="27" dur="500" fill="hold"/>
                                        <p:tgtEl>
                                          <p:spTgt spid="15367">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53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5367">
                                            <p:txEl>
                                              <p:pRg st="3" end="3"/>
                                            </p:txEl>
                                          </p:spTgt>
                                        </p:tgtEl>
                                        <p:attrNameLst>
                                          <p:attrName>style.visibility</p:attrName>
                                        </p:attrNameLst>
                                      </p:cBhvr>
                                      <p:to>
                                        <p:strVal val="visible"/>
                                      </p:to>
                                    </p:set>
                                    <p:anim calcmode="lin" valueType="num">
                                      <p:cBhvr additive="base">
                                        <p:cTn id="33" dur="500" fill="hold"/>
                                        <p:tgtEl>
                                          <p:spTgt spid="15367">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53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367">
                                            <p:txEl>
                                              <p:pRg st="4" end="4"/>
                                            </p:txEl>
                                          </p:spTgt>
                                        </p:tgtEl>
                                        <p:attrNameLst>
                                          <p:attrName>style.visibility</p:attrName>
                                        </p:attrNameLst>
                                      </p:cBhvr>
                                      <p:to>
                                        <p:strVal val="visible"/>
                                      </p:to>
                                    </p:set>
                                    <p:anim calcmode="lin" valueType="num">
                                      <p:cBhvr additive="base">
                                        <p:cTn id="39" dur="500" fill="hold"/>
                                        <p:tgtEl>
                                          <p:spTgt spid="15367">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53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5367">
                                            <p:txEl>
                                              <p:pRg st="5" end="5"/>
                                            </p:txEl>
                                          </p:spTgt>
                                        </p:tgtEl>
                                        <p:attrNameLst>
                                          <p:attrName>style.visibility</p:attrName>
                                        </p:attrNameLst>
                                      </p:cBhvr>
                                      <p:to>
                                        <p:strVal val="visible"/>
                                      </p:to>
                                    </p:set>
                                    <p:anim calcmode="lin" valueType="num">
                                      <p:cBhvr additive="base">
                                        <p:cTn id="45" dur="500" fill="hold"/>
                                        <p:tgtEl>
                                          <p:spTgt spid="15367">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53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5367">
                                            <p:txEl>
                                              <p:pRg st="6" end="6"/>
                                            </p:txEl>
                                          </p:spTgt>
                                        </p:tgtEl>
                                        <p:attrNameLst>
                                          <p:attrName>style.visibility</p:attrName>
                                        </p:attrNameLst>
                                      </p:cBhvr>
                                      <p:to>
                                        <p:strVal val="visible"/>
                                      </p:to>
                                    </p:set>
                                    <p:anim calcmode="lin" valueType="num">
                                      <p:cBhvr additive="base">
                                        <p:cTn id="51" dur="500" fill="hold"/>
                                        <p:tgtEl>
                                          <p:spTgt spid="15367">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536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a:extLst>
              <a:ext uri="{FF2B5EF4-FFF2-40B4-BE49-F238E27FC236}">
                <a16:creationId xmlns:a16="http://schemas.microsoft.com/office/drawing/2014/main" id="{EF872AC0-2F70-9D71-92B2-537AD3265CA1}"/>
              </a:ext>
            </a:extLst>
          </p:cNvPr>
          <p:cNvSpPr>
            <a:spLocks noGrp="1" noChangeArrowheads="1"/>
          </p:cNvSpPr>
          <p:nvPr>
            <p:ph type="title"/>
          </p:nvPr>
        </p:nvSpPr>
        <p:spPr>
          <a:xfrm>
            <a:off x="765175" y="181790"/>
            <a:ext cx="7469329" cy="732007"/>
          </a:xfrm>
        </p:spPr>
        <p:txBody>
          <a:bodyPr/>
          <a:lstStyle/>
          <a:p>
            <a:pPr eaLnBrk="1" hangingPunct="1"/>
            <a:r>
              <a:rPr lang="zh-CN" altLang="en-US" dirty="0"/>
              <a:t>更新计数过程</a:t>
            </a:r>
          </a:p>
        </p:txBody>
      </p:sp>
      <p:sp>
        <p:nvSpPr>
          <p:cNvPr id="39941" name="Rectangle 3">
            <a:extLst>
              <a:ext uri="{FF2B5EF4-FFF2-40B4-BE49-F238E27FC236}">
                <a16:creationId xmlns:a16="http://schemas.microsoft.com/office/drawing/2014/main" id="{FBF3277A-9D8F-D2E6-4583-297837E5EFEC}"/>
              </a:ext>
            </a:extLst>
          </p:cNvPr>
          <p:cNvSpPr>
            <a:spLocks noGrp="1" noChangeArrowheads="1"/>
          </p:cNvSpPr>
          <p:nvPr>
            <p:ph type="body" idx="1"/>
          </p:nvPr>
        </p:nvSpPr>
        <p:spPr>
          <a:xfrm>
            <a:off x="28575" y="1037601"/>
            <a:ext cx="11709400" cy="1524000"/>
          </a:xfrm>
        </p:spPr>
        <p:txBody>
          <a:bodyPr>
            <a:normAutofit/>
          </a:bodyPr>
          <a:lstStyle/>
          <a:p>
            <a:pPr>
              <a:buNone/>
            </a:pPr>
            <a:r>
              <a:rPr lang="en-US" altLang="zh-CN" dirty="0"/>
              <a:t>	    </a:t>
            </a:r>
            <a:r>
              <a:rPr lang="zh-CN" altLang="en-US" dirty="0"/>
              <a:t>设</a:t>
            </a:r>
            <a:r>
              <a:rPr lang="en-US" altLang="zh-CN" dirty="0">
                <a:sym typeface="Symbol" panose="05050102010706020507" pitchFamily="18" charset="2"/>
              </a:rPr>
              <a:t>{N(t),t0}</a:t>
            </a:r>
            <a:r>
              <a:rPr lang="zh-CN" altLang="en-US" dirty="0"/>
              <a:t>是计数过程，如果它的时间间距</a:t>
            </a:r>
            <a:r>
              <a:rPr lang="en-US" altLang="zh-CN" sz="2400" dirty="0"/>
              <a:t>T</a:t>
            </a:r>
            <a:r>
              <a:rPr lang="en-US" altLang="zh-CN" sz="2400" baseline="-25000" dirty="0"/>
              <a:t>1</a:t>
            </a:r>
            <a:r>
              <a:rPr lang="en-US" altLang="zh-CN" sz="2400" dirty="0"/>
              <a:t>,T</a:t>
            </a:r>
            <a:r>
              <a:rPr lang="en-US" altLang="zh-CN" sz="2400" baseline="-25000" dirty="0"/>
              <a:t>2</a:t>
            </a:r>
            <a:r>
              <a:rPr lang="en-US" altLang="zh-CN" sz="2400" dirty="0"/>
              <a:t>, …,T</a:t>
            </a:r>
            <a:r>
              <a:rPr lang="en-US" altLang="zh-CN" sz="2400" baseline="-25000" dirty="0"/>
              <a:t>n</a:t>
            </a:r>
            <a:r>
              <a:rPr lang="en-US" altLang="zh-CN" sz="2400" dirty="0"/>
              <a:t>,…</a:t>
            </a:r>
            <a:r>
              <a:rPr lang="zh-CN" altLang="en-US" sz="2400" dirty="0"/>
              <a:t>是相互独立同分布的随机变量，</a:t>
            </a:r>
            <a:r>
              <a:rPr lang="zh-CN" altLang="en-US" sz="2400" dirty="0">
                <a:sym typeface="Symbol" panose="05050102010706020507" pitchFamily="18" charset="2"/>
              </a:rPr>
              <a:t>则称</a:t>
            </a:r>
            <a:r>
              <a:rPr lang="en-US" altLang="zh-CN" sz="2400" dirty="0">
                <a:sym typeface="Symbol" panose="05050102010706020507" pitchFamily="18" charset="2"/>
              </a:rPr>
              <a:t>{N(t),t0}</a:t>
            </a:r>
            <a:r>
              <a:rPr lang="zh-CN" altLang="en-US" sz="2400" dirty="0">
                <a:sym typeface="Symbol" panose="05050102010706020507" pitchFamily="18" charset="2"/>
              </a:rPr>
              <a:t>为</a:t>
            </a:r>
            <a:r>
              <a:rPr lang="zh-CN" altLang="en-US" sz="2400" dirty="0">
                <a:solidFill>
                  <a:srgbClr val="CC00CC"/>
                </a:solidFill>
                <a:sym typeface="Symbol" panose="05050102010706020507" pitchFamily="18" charset="2"/>
              </a:rPr>
              <a:t>更新计数过程</a:t>
            </a:r>
            <a:r>
              <a:rPr lang="zh-CN" altLang="en-US" sz="2400" dirty="0">
                <a:sym typeface="Symbol" panose="05050102010706020507" pitchFamily="18" charset="2"/>
              </a:rPr>
              <a:t>，称时间间距为</a:t>
            </a:r>
            <a:r>
              <a:rPr lang="zh-CN" altLang="en-US" sz="2400" dirty="0">
                <a:solidFill>
                  <a:srgbClr val="CC00CC"/>
                </a:solidFill>
                <a:sym typeface="Symbol" panose="05050102010706020507" pitchFamily="18" charset="2"/>
              </a:rPr>
              <a:t>更新间距</a:t>
            </a:r>
            <a:r>
              <a:rPr lang="zh-CN" altLang="en-US" sz="2400" dirty="0">
                <a:sym typeface="Symbol" panose="05050102010706020507" pitchFamily="18" charset="2"/>
              </a:rPr>
              <a:t>。</a:t>
            </a:r>
          </a:p>
          <a:p>
            <a:pPr eaLnBrk="1" hangingPunct="1">
              <a:buFont typeface="Wingdings" panose="05000000000000000000" pitchFamily="2" charset="2"/>
              <a:buNone/>
            </a:pPr>
            <a:endParaRPr lang="en-US" altLang="zh-CN" dirty="0"/>
          </a:p>
          <a:p>
            <a:pPr eaLnBrk="1" hangingPunct="1">
              <a:buFont typeface="Wingdings" panose="05000000000000000000" pitchFamily="2" charset="2"/>
              <a:buNone/>
            </a:pPr>
            <a:endParaRPr lang="en-US" altLang="zh-CN" dirty="0">
              <a:sym typeface="Symbol" panose="05050102010706020507" pitchFamily="18" charset="2"/>
            </a:endParaRPr>
          </a:p>
        </p:txBody>
      </p:sp>
      <p:sp>
        <p:nvSpPr>
          <p:cNvPr id="305157" name="Rectangle 5">
            <a:extLst>
              <a:ext uri="{FF2B5EF4-FFF2-40B4-BE49-F238E27FC236}">
                <a16:creationId xmlns:a16="http://schemas.microsoft.com/office/drawing/2014/main" id="{CF1EE0DD-D6EF-95E9-CF0B-BDC19772EB04}"/>
              </a:ext>
            </a:extLst>
          </p:cNvPr>
          <p:cNvSpPr>
            <a:spLocks noChangeArrowheads="1"/>
          </p:cNvSpPr>
          <p:nvPr/>
        </p:nvSpPr>
        <p:spPr bwMode="auto">
          <a:xfrm>
            <a:off x="612775" y="2545462"/>
            <a:ext cx="11049000" cy="2130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buClrTx/>
              <a:buFontTx/>
              <a:buNone/>
            </a:pPr>
            <a:r>
              <a:rPr lang="zh-CN" altLang="en-US" sz="2400" dirty="0">
                <a:solidFill>
                  <a:srgbClr val="CC00CC"/>
                </a:solidFill>
                <a:latin typeface="+mn-ea"/>
                <a:ea typeface="+mn-ea"/>
                <a:sym typeface="Symbol" panose="05050102010706020507" pitchFamily="18" charset="2"/>
              </a:rPr>
              <a:t>例</a:t>
            </a:r>
            <a:r>
              <a:rPr lang="zh-CN" altLang="en-US" sz="2400" dirty="0">
                <a:latin typeface="+mn-ea"/>
                <a:ea typeface="+mn-ea"/>
                <a:sym typeface="Symbol" panose="05050102010706020507" pitchFamily="18" charset="2"/>
              </a:rPr>
              <a:t>  电话台呼唤流</a:t>
            </a:r>
          </a:p>
          <a:p>
            <a:pPr eaLnBrk="1" hangingPunct="1">
              <a:lnSpc>
                <a:spcPct val="150000"/>
              </a:lnSpc>
              <a:buClrTx/>
              <a:buFontTx/>
              <a:buNone/>
            </a:pPr>
            <a:r>
              <a:rPr lang="zh-CN" altLang="en-US" sz="2400" dirty="0">
                <a:latin typeface="+mn-ea"/>
                <a:ea typeface="+mn-ea"/>
                <a:sym typeface="Symbol" panose="05050102010706020507" pitchFamily="18" charset="2"/>
              </a:rPr>
              <a:t>        设有一个不断受到呼唤的电话台，电话呼唤到达的时间为</a:t>
            </a:r>
            <a:r>
              <a:rPr lang="en-US" altLang="zh-CN" sz="2400" baseline="-25000" dirty="0">
                <a:latin typeface="+mn-ea"/>
                <a:ea typeface="+mn-ea"/>
                <a:sym typeface="Symbol" panose="05050102010706020507" pitchFamily="18" charset="2"/>
              </a:rPr>
              <a:t>1</a:t>
            </a:r>
            <a:r>
              <a:rPr lang="en-US" altLang="zh-CN"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2</a:t>
            </a:r>
            <a:r>
              <a:rPr lang="en-US" altLang="zh-CN"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n</a:t>
            </a:r>
            <a:r>
              <a:rPr lang="zh-CN" altLang="en-US" sz="2400" dirty="0">
                <a:latin typeface="+mn-ea"/>
                <a:ea typeface="+mn-ea"/>
                <a:sym typeface="Symbol" panose="05050102010706020507" pitchFamily="18" charset="2"/>
              </a:rPr>
              <a:t>，时间间距</a:t>
            </a:r>
            <a:r>
              <a:rPr lang="en-US" altLang="zh-CN" sz="2400" dirty="0">
                <a:latin typeface="+mn-ea"/>
                <a:ea typeface="+mn-ea"/>
                <a:sym typeface="Symbol" panose="05050102010706020507" pitchFamily="18" charset="2"/>
              </a:rPr>
              <a:t>T</a:t>
            </a:r>
            <a:r>
              <a:rPr lang="en-US" altLang="zh-CN" sz="2400" baseline="-25000" dirty="0">
                <a:latin typeface="+mn-ea"/>
                <a:ea typeface="+mn-ea"/>
                <a:sym typeface="Symbol" panose="05050102010706020507" pitchFamily="18" charset="2"/>
              </a:rPr>
              <a:t>1</a:t>
            </a:r>
            <a:r>
              <a:rPr lang="en-US" altLang="zh-CN"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1</a:t>
            </a:r>
            <a:r>
              <a:rPr lang="en-US" altLang="zh-CN" sz="2400" dirty="0">
                <a:latin typeface="+mn-ea"/>
                <a:ea typeface="+mn-ea"/>
                <a:sym typeface="Symbol" panose="05050102010706020507" pitchFamily="18" charset="2"/>
              </a:rPr>
              <a:t>,T</a:t>
            </a:r>
            <a:r>
              <a:rPr lang="en-US" altLang="zh-CN" sz="2400" baseline="-25000" dirty="0">
                <a:latin typeface="+mn-ea"/>
                <a:ea typeface="+mn-ea"/>
                <a:sym typeface="Symbol" panose="05050102010706020507" pitchFamily="18" charset="2"/>
              </a:rPr>
              <a:t>2</a:t>
            </a:r>
            <a:r>
              <a:rPr lang="en-US" altLang="zh-CN"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2</a:t>
            </a:r>
            <a:r>
              <a:rPr lang="en-US" altLang="zh-CN"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1</a:t>
            </a:r>
            <a:r>
              <a:rPr lang="zh-CN" altLang="en-US" sz="2400" dirty="0">
                <a:latin typeface="+mn-ea"/>
                <a:ea typeface="+mn-ea"/>
                <a:sym typeface="Symbol" panose="05050102010706020507" pitchFamily="18" charset="2"/>
              </a:rPr>
              <a:t>，</a:t>
            </a:r>
            <a:r>
              <a:rPr lang="en-US" altLang="zh-CN" sz="2400" dirty="0">
                <a:latin typeface="+mn-ea"/>
                <a:ea typeface="+mn-ea"/>
                <a:sym typeface="Symbol" panose="05050102010706020507" pitchFamily="18" charset="2"/>
              </a:rPr>
              <a:t>T</a:t>
            </a:r>
            <a:r>
              <a:rPr lang="en-US" altLang="zh-CN" sz="2400" baseline="-25000" dirty="0">
                <a:latin typeface="+mn-ea"/>
                <a:ea typeface="+mn-ea"/>
                <a:sym typeface="Symbol" panose="05050102010706020507" pitchFamily="18" charset="2"/>
              </a:rPr>
              <a:t>n</a:t>
            </a:r>
            <a:r>
              <a:rPr lang="en-US" altLang="zh-CN"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n</a:t>
            </a:r>
            <a:r>
              <a:rPr lang="en-US" altLang="zh-CN" sz="2400" dirty="0">
                <a:latin typeface="+mn-ea"/>
                <a:ea typeface="+mn-ea"/>
                <a:sym typeface="Symbol" panose="05050102010706020507" pitchFamily="18" charset="2"/>
              </a:rPr>
              <a:t>-</a:t>
            </a:r>
            <a:r>
              <a:rPr lang="en-US" altLang="zh-CN" sz="2400" baseline="-25000" dirty="0">
                <a:latin typeface="+mn-ea"/>
                <a:ea typeface="+mn-ea"/>
                <a:sym typeface="Symbol" panose="05050102010706020507" pitchFamily="18" charset="2"/>
              </a:rPr>
              <a:t>n-1</a:t>
            </a:r>
            <a:r>
              <a:rPr lang="zh-CN" altLang="en-US" sz="2400" dirty="0">
                <a:latin typeface="+mn-ea"/>
                <a:ea typeface="+mn-ea"/>
                <a:sym typeface="Symbol" panose="05050102010706020507" pitchFamily="18" charset="2"/>
              </a:rPr>
              <a:t>是相互独立同分布的随机变量。令</a:t>
            </a:r>
            <a:r>
              <a:rPr lang="en-US" altLang="zh-CN" sz="2400" dirty="0">
                <a:latin typeface="+mn-ea"/>
                <a:ea typeface="+mn-ea"/>
                <a:sym typeface="Symbol" panose="05050102010706020507" pitchFamily="18" charset="2"/>
              </a:rPr>
              <a:t>N(t)</a:t>
            </a:r>
            <a:r>
              <a:rPr lang="zh-CN" altLang="en-US" sz="2400" dirty="0">
                <a:latin typeface="+mn-ea"/>
                <a:ea typeface="+mn-ea"/>
                <a:sym typeface="Symbol" panose="05050102010706020507" pitchFamily="18" charset="2"/>
              </a:rPr>
              <a:t>表示在时间</a:t>
            </a:r>
            <a:r>
              <a:rPr lang="en-US" altLang="zh-CN" sz="2400" dirty="0">
                <a:latin typeface="+mn-ea"/>
                <a:ea typeface="+mn-ea"/>
                <a:sym typeface="Symbol" panose="05050102010706020507" pitchFamily="18" charset="2"/>
              </a:rPr>
              <a:t>[0,t)</a:t>
            </a:r>
            <a:r>
              <a:rPr lang="zh-CN" altLang="en-US" sz="2400" dirty="0">
                <a:latin typeface="+mn-ea"/>
                <a:ea typeface="+mn-ea"/>
                <a:sym typeface="Symbol" panose="05050102010706020507" pitchFamily="18" charset="2"/>
              </a:rPr>
              <a:t>内收到的呼唤数，则</a:t>
            </a:r>
            <a:r>
              <a:rPr lang="en-US" altLang="zh-CN" sz="2400" dirty="0">
                <a:latin typeface="+mn-ea"/>
                <a:ea typeface="+mn-ea"/>
                <a:sym typeface="Symbol" panose="05050102010706020507" pitchFamily="18" charset="2"/>
              </a:rPr>
              <a:t>{N(t),t0}</a:t>
            </a:r>
            <a:r>
              <a:rPr lang="zh-CN" altLang="en-US" sz="2400" dirty="0">
                <a:latin typeface="+mn-ea"/>
                <a:ea typeface="+mn-ea"/>
              </a:rPr>
              <a:t>是更新过程。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5157"/>
                                        </p:tgtEl>
                                        <p:attrNameLst>
                                          <p:attrName>style.visibility</p:attrName>
                                        </p:attrNameLst>
                                      </p:cBhvr>
                                      <p:to>
                                        <p:strVal val="visible"/>
                                      </p:to>
                                    </p:set>
                                    <p:anim calcmode="lin" valueType="num">
                                      <p:cBhvr additive="base">
                                        <p:cTn id="7" dur="500" fill="hold"/>
                                        <p:tgtEl>
                                          <p:spTgt spid="305157"/>
                                        </p:tgtEl>
                                        <p:attrNameLst>
                                          <p:attrName>ppt_x</p:attrName>
                                        </p:attrNameLst>
                                      </p:cBhvr>
                                      <p:tavLst>
                                        <p:tav tm="0">
                                          <p:val>
                                            <p:strVal val="0-#ppt_w/2"/>
                                          </p:val>
                                        </p:tav>
                                        <p:tav tm="100000">
                                          <p:val>
                                            <p:strVal val="#ppt_x"/>
                                          </p:val>
                                        </p:tav>
                                      </p:tavLst>
                                    </p:anim>
                                    <p:anim calcmode="lin" valueType="num">
                                      <p:cBhvr additive="base">
                                        <p:cTn id="8" dur="500" fill="hold"/>
                                        <p:tgtEl>
                                          <p:spTgt spid="3051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7"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a:extLst>
              <a:ext uri="{FF2B5EF4-FFF2-40B4-BE49-F238E27FC236}">
                <a16:creationId xmlns:a16="http://schemas.microsoft.com/office/drawing/2014/main" id="{CAA045BB-A4D1-19CE-02F0-B854F226A5B5}"/>
              </a:ext>
            </a:extLst>
          </p:cNvPr>
          <p:cNvSpPr>
            <a:spLocks noGrp="1" noChangeArrowheads="1"/>
          </p:cNvSpPr>
          <p:nvPr>
            <p:ph type="title"/>
          </p:nvPr>
        </p:nvSpPr>
        <p:spPr>
          <a:xfrm>
            <a:off x="841375" y="154023"/>
            <a:ext cx="7469329" cy="732007"/>
          </a:xfrm>
        </p:spPr>
        <p:txBody>
          <a:bodyPr/>
          <a:lstStyle/>
          <a:p>
            <a:pPr eaLnBrk="1" hangingPunct="1"/>
            <a:r>
              <a:rPr lang="zh-CN" altLang="en-US" dirty="0"/>
              <a:t>更新过程的概率分布</a:t>
            </a:r>
          </a:p>
        </p:txBody>
      </p:sp>
      <p:sp>
        <p:nvSpPr>
          <p:cNvPr id="306179" name="Rectangle 3">
            <a:extLst>
              <a:ext uri="{FF2B5EF4-FFF2-40B4-BE49-F238E27FC236}">
                <a16:creationId xmlns:a16="http://schemas.microsoft.com/office/drawing/2014/main" id="{1DD5B66D-D12C-E843-2864-CCDC073AB295}"/>
              </a:ext>
            </a:extLst>
          </p:cNvPr>
          <p:cNvSpPr>
            <a:spLocks noGrp="1" noChangeArrowheads="1"/>
          </p:cNvSpPr>
          <p:nvPr>
            <p:ph type="body" idx="1"/>
          </p:nvPr>
        </p:nvSpPr>
        <p:spPr>
          <a:xfrm>
            <a:off x="-73025" y="939692"/>
            <a:ext cx="12039600" cy="1388472"/>
          </a:xfrm>
        </p:spPr>
        <p:txBody>
          <a:bodyPr>
            <a:normAutofit/>
          </a:bodyPr>
          <a:lstStyle/>
          <a:p>
            <a:pPr eaLnBrk="1" hangingPunct="1">
              <a:lnSpc>
                <a:spcPct val="170000"/>
              </a:lnSpc>
              <a:buFont typeface="Wingdings" panose="05000000000000000000" pitchFamily="2" charset="2"/>
              <a:buNone/>
            </a:pPr>
            <a:r>
              <a:rPr lang="en-US" altLang="zh-CN" sz="2000" dirty="0"/>
              <a:t>	 </a:t>
            </a:r>
            <a:r>
              <a:rPr lang="zh-CN" altLang="en-US" sz="2000" dirty="0"/>
              <a:t>设</a:t>
            </a:r>
            <a:r>
              <a:rPr lang="en-US" altLang="zh-CN" sz="2000" dirty="0">
                <a:sym typeface="Symbol" panose="05050102010706020507" pitchFamily="18" charset="2"/>
              </a:rPr>
              <a:t>{N(t),t0}</a:t>
            </a:r>
            <a:r>
              <a:rPr lang="zh-CN" altLang="en-US" sz="2000" dirty="0"/>
              <a:t>是更新过程，其</a:t>
            </a:r>
            <a:r>
              <a:rPr lang="zh-CN" altLang="en-US" sz="2000" dirty="0">
                <a:sym typeface="Symbol" panose="05050102010706020507" pitchFamily="18" charset="2"/>
              </a:rPr>
              <a:t>到达的时间为</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baseline="-25000" dirty="0">
                <a:sym typeface="Symbol" panose="05050102010706020507" pitchFamily="18" charset="2"/>
              </a:rPr>
              <a:t>n</a:t>
            </a:r>
            <a:r>
              <a:rPr lang="zh-CN" altLang="en-US" sz="2000" dirty="0">
                <a:sym typeface="Symbol" panose="05050102010706020507" pitchFamily="18" charset="2"/>
              </a:rPr>
              <a:t>。时间间距</a:t>
            </a:r>
            <a:r>
              <a:rPr lang="en-US" altLang="zh-CN" sz="2000" dirty="0">
                <a:sym typeface="Symbol" panose="05050102010706020507" pitchFamily="18" charset="2"/>
              </a:rPr>
              <a:t>T</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baseline="-25000" dirty="0">
                <a:sym typeface="Symbol" panose="05050102010706020507" pitchFamily="18" charset="2"/>
              </a:rPr>
              <a:t>1</a:t>
            </a:r>
            <a:r>
              <a:rPr lang="en-US" altLang="zh-CN" sz="2000" dirty="0">
                <a:sym typeface="Symbol" panose="05050102010706020507" pitchFamily="18" charset="2"/>
              </a:rPr>
              <a:t>,T</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baseline="-25000" dirty="0">
                <a:sym typeface="Symbol" panose="05050102010706020507" pitchFamily="18" charset="2"/>
              </a:rPr>
              <a:t>1</a:t>
            </a:r>
            <a:r>
              <a:rPr lang="en-US" altLang="zh-CN" sz="2000" dirty="0">
                <a:sym typeface="Symbol" panose="05050102010706020507" pitchFamily="18" charset="2"/>
              </a:rPr>
              <a:t>,T</a:t>
            </a:r>
            <a:r>
              <a:rPr lang="en-US" altLang="zh-CN" sz="2000" baseline="-25000" dirty="0">
                <a:sym typeface="Symbol" panose="05050102010706020507" pitchFamily="18" charset="2"/>
              </a:rPr>
              <a:t>n</a:t>
            </a:r>
            <a:r>
              <a:rPr lang="en-US" altLang="zh-CN" sz="2000" dirty="0">
                <a:sym typeface="Symbol" panose="05050102010706020507" pitchFamily="18" charset="2"/>
              </a:rPr>
              <a:t>=</a:t>
            </a:r>
            <a:r>
              <a:rPr lang="en-US" altLang="zh-CN" sz="2000" baseline="-25000" dirty="0">
                <a:sym typeface="Symbol" panose="05050102010706020507" pitchFamily="18" charset="2"/>
              </a:rPr>
              <a:t>n</a:t>
            </a:r>
            <a:r>
              <a:rPr lang="en-US" altLang="zh-CN" sz="2000" dirty="0">
                <a:sym typeface="Symbol" panose="05050102010706020507" pitchFamily="18" charset="2"/>
              </a:rPr>
              <a:t>-</a:t>
            </a:r>
            <a:r>
              <a:rPr lang="en-US" altLang="zh-CN" sz="2000" baseline="-25000" dirty="0">
                <a:sym typeface="Symbol" panose="05050102010706020507" pitchFamily="18" charset="2"/>
              </a:rPr>
              <a:t>n-1</a:t>
            </a:r>
            <a:r>
              <a:rPr lang="zh-CN" altLang="en-US" sz="2000" dirty="0">
                <a:sym typeface="Symbol" panose="05050102010706020507" pitchFamily="18" charset="2"/>
              </a:rPr>
              <a:t>相互独立都与随机变量</a:t>
            </a:r>
            <a:r>
              <a:rPr lang="en-US" altLang="zh-CN" sz="2000" dirty="0">
                <a:sym typeface="Symbol" panose="05050102010706020507" pitchFamily="18" charset="2"/>
              </a:rPr>
              <a:t>T</a:t>
            </a:r>
            <a:r>
              <a:rPr lang="zh-CN" altLang="en-US" sz="2000" dirty="0">
                <a:sym typeface="Symbol" panose="05050102010706020507" pitchFamily="18" charset="2"/>
              </a:rPr>
              <a:t>同分布。设</a:t>
            </a:r>
            <a:r>
              <a:rPr lang="en-US" altLang="zh-CN" sz="2000" dirty="0">
                <a:sym typeface="Symbol" panose="05050102010706020507" pitchFamily="18" charset="2"/>
              </a:rPr>
              <a:t>T</a:t>
            </a:r>
            <a:r>
              <a:rPr lang="zh-CN" altLang="en-US" sz="2000" dirty="0">
                <a:sym typeface="Symbol" panose="05050102010706020507" pitchFamily="18" charset="2"/>
              </a:rPr>
              <a:t>的分布函数为</a:t>
            </a:r>
            <a:r>
              <a:rPr lang="en-US" altLang="zh-CN" sz="2000" dirty="0">
                <a:sym typeface="Symbol" panose="05050102010706020507" pitchFamily="18" charset="2"/>
              </a:rPr>
              <a:t>F</a:t>
            </a:r>
            <a:r>
              <a:rPr lang="en-US" altLang="zh-CN" sz="2000" baseline="-25000" dirty="0">
                <a:sym typeface="Symbol" panose="05050102010706020507" pitchFamily="18" charset="2"/>
              </a:rPr>
              <a:t>T</a:t>
            </a:r>
            <a:r>
              <a:rPr lang="en-US" altLang="zh-CN" sz="2000" dirty="0">
                <a:sym typeface="Symbol" panose="05050102010706020507" pitchFamily="18" charset="2"/>
              </a:rPr>
              <a:t>(t)</a:t>
            </a:r>
            <a:r>
              <a:rPr lang="zh-CN" altLang="en-US" sz="2000" dirty="0">
                <a:sym typeface="Symbol" panose="05050102010706020507" pitchFamily="18" charset="2"/>
              </a:rPr>
              <a:t>，故</a:t>
            </a:r>
            <a:r>
              <a:rPr lang="en-US" altLang="zh-CN" sz="2000" dirty="0">
                <a:sym typeface="Symbol" panose="05050102010706020507" pitchFamily="18" charset="2"/>
              </a:rPr>
              <a:t>T</a:t>
            </a:r>
            <a:r>
              <a:rPr lang="en-US" altLang="zh-CN" sz="2000" baseline="-25000" dirty="0">
                <a:sym typeface="Symbol" panose="05050102010706020507" pitchFamily="18" charset="2"/>
              </a:rPr>
              <a:t>k</a:t>
            </a:r>
            <a:r>
              <a:rPr lang="zh-CN" altLang="en-US" sz="2000" dirty="0">
                <a:sym typeface="Symbol" panose="05050102010706020507" pitchFamily="18" charset="2"/>
              </a:rPr>
              <a:t>的分布函数为</a:t>
            </a:r>
            <a:r>
              <a:rPr lang="en-US" altLang="zh-CN" sz="2000" dirty="0" err="1">
                <a:sym typeface="Symbol" panose="05050102010706020507" pitchFamily="18" charset="2"/>
              </a:rPr>
              <a:t>F</a:t>
            </a:r>
            <a:r>
              <a:rPr lang="en-US" altLang="zh-CN" sz="2000" baseline="-25000" dirty="0" err="1">
                <a:sym typeface="Symbol" panose="05050102010706020507" pitchFamily="18" charset="2"/>
              </a:rPr>
              <a:t>Tk</a:t>
            </a:r>
            <a:r>
              <a:rPr lang="en-US" altLang="zh-CN" sz="2000" dirty="0">
                <a:sym typeface="Symbol" panose="05050102010706020507" pitchFamily="18" charset="2"/>
              </a:rPr>
              <a:t>(t)</a:t>
            </a:r>
            <a:r>
              <a:rPr lang="zh-CN" altLang="en-US" sz="2000" dirty="0">
                <a:sym typeface="Symbol" panose="05050102010706020507" pitchFamily="18" charset="2"/>
              </a:rPr>
              <a:t>＝</a:t>
            </a:r>
            <a:r>
              <a:rPr lang="en-US" altLang="zh-CN" sz="2000" dirty="0">
                <a:sym typeface="Symbol" panose="05050102010706020507" pitchFamily="18" charset="2"/>
              </a:rPr>
              <a:t>F</a:t>
            </a:r>
            <a:r>
              <a:rPr lang="en-US" altLang="zh-CN" sz="2000" baseline="-25000" dirty="0">
                <a:sym typeface="Symbol" panose="05050102010706020507" pitchFamily="18" charset="2"/>
              </a:rPr>
              <a:t>T</a:t>
            </a:r>
            <a:r>
              <a:rPr lang="en-US" altLang="zh-CN" sz="2000" dirty="0">
                <a:sym typeface="Symbol" panose="05050102010706020507" pitchFamily="18" charset="2"/>
              </a:rPr>
              <a:t>(t)</a:t>
            </a:r>
            <a:r>
              <a:rPr lang="zh-CN" altLang="en-US" sz="2000" dirty="0">
                <a:sym typeface="Symbol" panose="05050102010706020507" pitchFamily="18" charset="2"/>
              </a:rPr>
              <a:t>，</a:t>
            </a:r>
            <a:r>
              <a:rPr lang="en-US" altLang="zh-CN" sz="2000" dirty="0">
                <a:sym typeface="Symbol" panose="05050102010706020507" pitchFamily="18" charset="2"/>
              </a:rPr>
              <a:t>k=1,2,…</a:t>
            </a:r>
          </a:p>
        </p:txBody>
      </p:sp>
      <p:sp>
        <p:nvSpPr>
          <p:cNvPr id="306180" name="Rectangle 4">
            <a:extLst>
              <a:ext uri="{FF2B5EF4-FFF2-40B4-BE49-F238E27FC236}">
                <a16:creationId xmlns:a16="http://schemas.microsoft.com/office/drawing/2014/main" id="{A63C9E5F-1B49-0C6B-470E-C502CF4EFC49}"/>
              </a:ext>
            </a:extLst>
          </p:cNvPr>
          <p:cNvSpPr>
            <a:spLocks noChangeArrowheads="1"/>
          </p:cNvSpPr>
          <p:nvPr/>
        </p:nvSpPr>
        <p:spPr bwMode="auto">
          <a:xfrm>
            <a:off x="528529" y="2308340"/>
            <a:ext cx="7782175" cy="48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Tx/>
              <a:buFontTx/>
              <a:buNone/>
            </a:pPr>
            <a:r>
              <a:rPr lang="zh-CN" altLang="en-US" sz="2400" dirty="0">
                <a:sym typeface="Symbol" panose="05050102010706020507" pitchFamily="18" charset="2"/>
              </a:rPr>
              <a:t>令更新计数过程的分布函数为</a:t>
            </a:r>
            <a:r>
              <a:rPr lang="en-US" altLang="zh-CN" sz="2400" dirty="0">
                <a:sym typeface="Symbol" panose="05050102010706020507" pitchFamily="18" charset="2"/>
              </a:rPr>
              <a:t>F</a:t>
            </a:r>
            <a:r>
              <a:rPr lang="en-US" altLang="zh-CN" sz="2400" baseline="-25000" dirty="0">
                <a:sym typeface="Symbol" panose="05050102010706020507" pitchFamily="18" charset="2"/>
              </a:rPr>
              <a:t>N(t)</a:t>
            </a:r>
            <a:r>
              <a:rPr lang="en-US" altLang="zh-CN" sz="2400" dirty="0">
                <a:sym typeface="Symbol" panose="05050102010706020507" pitchFamily="18" charset="2"/>
              </a:rPr>
              <a:t>(k)</a:t>
            </a:r>
            <a:r>
              <a:rPr lang="zh-CN" altLang="en-US" sz="2400" dirty="0">
                <a:sym typeface="Symbol" panose="05050102010706020507" pitchFamily="18" charset="2"/>
              </a:rPr>
              <a:t>＝</a:t>
            </a:r>
            <a:r>
              <a:rPr lang="en-US" altLang="zh-CN" sz="2400" dirty="0">
                <a:sym typeface="Symbol" panose="05050102010706020507" pitchFamily="18" charset="2"/>
              </a:rPr>
              <a:t>P{N(t)&lt;k}</a:t>
            </a:r>
            <a:r>
              <a:rPr lang="zh-CN" altLang="en-US" sz="2400" dirty="0">
                <a:sym typeface="Symbol" panose="05050102010706020507" pitchFamily="18" charset="2"/>
              </a:rPr>
              <a:t>，则</a:t>
            </a:r>
          </a:p>
        </p:txBody>
      </p:sp>
      <p:sp>
        <p:nvSpPr>
          <p:cNvPr id="306181" name="Rectangle 5">
            <a:extLst>
              <a:ext uri="{FF2B5EF4-FFF2-40B4-BE49-F238E27FC236}">
                <a16:creationId xmlns:a16="http://schemas.microsoft.com/office/drawing/2014/main" id="{82E78E54-8D7A-0118-33CC-2F82D2F34F60}"/>
              </a:ext>
            </a:extLst>
          </p:cNvPr>
          <p:cNvSpPr>
            <a:spLocks noChangeArrowheads="1"/>
          </p:cNvSpPr>
          <p:nvPr/>
        </p:nvSpPr>
        <p:spPr bwMode="auto">
          <a:xfrm>
            <a:off x="392133" y="3124994"/>
            <a:ext cx="10583842"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
                <a:srgbClr val="6600CC"/>
              </a:buClr>
              <a:buFontTx/>
              <a:buAutoNum type="arabicParenR"/>
            </a:pPr>
            <a:r>
              <a:rPr lang="zh-CN" altLang="en-US" sz="2400" dirty="0">
                <a:sym typeface="Symbol" panose="05050102010706020507" pitchFamily="18" charset="2"/>
              </a:rPr>
              <a:t>由时间间距</a:t>
            </a:r>
            <a:r>
              <a:rPr lang="en-US" altLang="zh-CN" sz="2400" dirty="0">
                <a:sym typeface="Symbol" panose="05050102010706020507" pitchFamily="18" charset="2"/>
              </a:rPr>
              <a:t>T</a:t>
            </a:r>
            <a:r>
              <a:rPr lang="zh-CN" altLang="en-US" sz="2400" dirty="0">
                <a:sym typeface="Symbol" panose="05050102010706020507" pitchFamily="18" charset="2"/>
              </a:rPr>
              <a:t>的特征函数</a:t>
            </a:r>
            <a:r>
              <a:rPr lang="en-US" altLang="zh-CN" sz="2400" baseline="-25000" dirty="0">
                <a:sym typeface="Symbol" panose="05050102010706020507" pitchFamily="18" charset="2"/>
              </a:rPr>
              <a:t>T</a:t>
            </a:r>
            <a:r>
              <a:rPr lang="en-US" altLang="zh-CN" sz="2400" dirty="0">
                <a:sym typeface="Symbol" panose="05050102010706020507" pitchFamily="18" charset="2"/>
              </a:rPr>
              <a:t>(u)</a:t>
            </a:r>
            <a:r>
              <a:rPr lang="zh-CN" altLang="en-US" sz="2400" dirty="0">
                <a:sym typeface="Symbol" panose="05050102010706020507" pitchFamily="18" charset="2"/>
              </a:rPr>
              <a:t>，计算到达时间</a:t>
            </a:r>
            <a:r>
              <a:rPr lang="en-US" altLang="zh-CN" sz="2400" baseline="-25000" dirty="0">
                <a:sym typeface="Symbol" panose="05050102010706020507" pitchFamily="18" charset="2"/>
              </a:rPr>
              <a:t>k</a:t>
            </a:r>
            <a:r>
              <a:rPr lang="zh-CN" altLang="en-US" sz="2400" dirty="0">
                <a:sym typeface="Symbol" panose="05050102010706020507" pitchFamily="18" charset="2"/>
              </a:rPr>
              <a:t>＝       的特征函数：</a:t>
            </a:r>
          </a:p>
        </p:txBody>
      </p:sp>
      <p:graphicFrame>
        <p:nvGraphicFramePr>
          <p:cNvPr id="306182" name="Object 6">
            <a:extLst>
              <a:ext uri="{FF2B5EF4-FFF2-40B4-BE49-F238E27FC236}">
                <a16:creationId xmlns:a16="http://schemas.microsoft.com/office/drawing/2014/main" id="{7B39F1AC-817E-E7CD-ADA6-7E4837D5E380}"/>
              </a:ext>
            </a:extLst>
          </p:cNvPr>
          <p:cNvGraphicFramePr>
            <a:graphicFrameLocks noChangeAspect="1"/>
          </p:cNvGraphicFramePr>
          <p:nvPr>
            <p:extLst>
              <p:ext uri="{D42A27DB-BD31-4B8C-83A1-F6EECF244321}">
                <p14:modId xmlns:p14="http://schemas.microsoft.com/office/powerpoint/2010/main" val="2285024085"/>
              </p:ext>
            </p:extLst>
          </p:nvPr>
        </p:nvGraphicFramePr>
        <p:xfrm>
          <a:off x="7546975" y="3131023"/>
          <a:ext cx="563692" cy="657521"/>
        </p:xfrm>
        <a:graphic>
          <a:graphicData uri="http://schemas.openxmlformats.org/presentationml/2006/ole">
            <mc:AlternateContent xmlns:mc="http://schemas.openxmlformats.org/markup-compatibility/2006">
              <mc:Choice xmlns:v="urn:schemas-microsoft-com:vml" Requires="v">
                <p:oleObj name="Equation" r:id="rId2" imgW="368140" imgH="431613" progId="Equation.3">
                  <p:embed/>
                </p:oleObj>
              </mc:Choice>
              <mc:Fallback>
                <p:oleObj name="Equation" r:id="rId2" imgW="368140" imgH="431613" progId="Equation.3">
                  <p:embed/>
                  <p:pic>
                    <p:nvPicPr>
                      <p:cNvPr id="306182" name="Object 6">
                        <a:extLst>
                          <a:ext uri="{FF2B5EF4-FFF2-40B4-BE49-F238E27FC236}">
                            <a16:creationId xmlns:a16="http://schemas.microsoft.com/office/drawing/2014/main" id="{7B39F1AC-817E-E7CD-ADA6-7E4837D5E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6975" y="3131023"/>
                        <a:ext cx="563692" cy="657521"/>
                      </a:xfrm>
                      <a:prstGeom prst="rect">
                        <a:avLst/>
                      </a:prstGeom>
                      <a:noFill/>
                      <a:ln>
                        <a:noFill/>
                      </a:ln>
                      <a:effectLst/>
                    </p:spPr>
                  </p:pic>
                </p:oleObj>
              </mc:Fallback>
            </mc:AlternateContent>
          </a:graphicData>
        </a:graphic>
      </p:graphicFrame>
      <p:graphicFrame>
        <p:nvGraphicFramePr>
          <p:cNvPr id="306183" name="Object 7">
            <a:extLst>
              <a:ext uri="{FF2B5EF4-FFF2-40B4-BE49-F238E27FC236}">
                <a16:creationId xmlns:a16="http://schemas.microsoft.com/office/drawing/2014/main" id="{812C4CEA-8668-ED52-E812-E5D107BEE0CF}"/>
              </a:ext>
            </a:extLst>
          </p:cNvPr>
          <p:cNvGraphicFramePr>
            <a:graphicFrameLocks noChangeAspect="1"/>
          </p:cNvGraphicFramePr>
          <p:nvPr>
            <p:extLst>
              <p:ext uri="{D42A27DB-BD31-4B8C-83A1-F6EECF244321}">
                <p14:modId xmlns:p14="http://schemas.microsoft.com/office/powerpoint/2010/main" val="2697388798"/>
              </p:ext>
            </p:extLst>
          </p:nvPr>
        </p:nvGraphicFramePr>
        <p:xfrm>
          <a:off x="9856300" y="3209909"/>
          <a:ext cx="2110275" cy="497002"/>
        </p:xfrm>
        <a:graphic>
          <a:graphicData uri="http://schemas.openxmlformats.org/presentationml/2006/ole">
            <mc:AlternateContent xmlns:mc="http://schemas.openxmlformats.org/markup-compatibility/2006">
              <mc:Choice xmlns:v="urn:schemas-microsoft-com:vml" Requires="v">
                <p:oleObj name="公式" r:id="rId4" imgW="1079032" imgH="253890" progId="Equation.3">
                  <p:embed/>
                </p:oleObj>
              </mc:Choice>
              <mc:Fallback>
                <p:oleObj name="公式" r:id="rId4" imgW="1079032" imgH="253890" progId="Equation.3">
                  <p:embed/>
                  <p:pic>
                    <p:nvPicPr>
                      <p:cNvPr id="306183" name="Object 7">
                        <a:extLst>
                          <a:ext uri="{FF2B5EF4-FFF2-40B4-BE49-F238E27FC236}">
                            <a16:creationId xmlns:a16="http://schemas.microsoft.com/office/drawing/2014/main" id="{812C4CEA-8668-ED52-E812-E5D107BEE0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56300" y="3209909"/>
                        <a:ext cx="2110275" cy="497002"/>
                      </a:xfrm>
                      <a:prstGeom prst="rect">
                        <a:avLst/>
                      </a:prstGeom>
                      <a:noFill/>
                      <a:ln>
                        <a:noFill/>
                      </a:ln>
                      <a:effectLst/>
                    </p:spPr>
                  </p:pic>
                </p:oleObj>
              </mc:Fallback>
            </mc:AlternateContent>
          </a:graphicData>
        </a:graphic>
      </p:graphicFrame>
      <p:sp>
        <p:nvSpPr>
          <p:cNvPr id="306184" name="Rectangle 8">
            <a:extLst>
              <a:ext uri="{FF2B5EF4-FFF2-40B4-BE49-F238E27FC236}">
                <a16:creationId xmlns:a16="http://schemas.microsoft.com/office/drawing/2014/main" id="{CE01BECB-7007-9569-80BF-60DBD5875F3C}"/>
              </a:ext>
            </a:extLst>
          </p:cNvPr>
          <p:cNvSpPr>
            <a:spLocks noChangeArrowheads="1"/>
          </p:cNvSpPr>
          <p:nvPr/>
        </p:nvSpPr>
        <p:spPr bwMode="auto">
          <a:xfrm>
            <a:off x="392133" y="3923540"/>
            <a:ext cx="10507642"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
                <a:srgbClr val="6600CC"/>
              </a:buClr>
              <a:buFontTx/>
              <a:buAutoNum type="arabicParenR" startAt="2"/>
            </a:pPr>
            <a:r>
              <a:rPr lang="zh-CN" altLang="en-US" sz="2400" dirty="0">
                <a:sym typeface="Symbol" panose="05050102010706020507" pitchFamily="18" charset="2"/>
              </a:rPr>
              <a:t>由</a:t>
            </a:r>
            <a:r>
              <a:rPr lang="en-US" altLang="zh-CN" sz="2400" baseline="-25000" dirty="0">
                <a:sym typeface="Symbol" panose="05050102010706020507" pitchFamily="18" charset="2"/>
              </a:rPr>
              <a:t>k</a:t>
            </a:r>
            <a:r>
              <a:rPr lang="zh-CN" altLang="en-US" sz="2400" dirty="0">
                <a:sym typeface="Symbol" panose="05050102010706020507" pitchFamily="18" charset="2"/>
              </a:rPr>
              <a:t>的特征函数</a:t>
            </a:r>
            <a:r>
              <a:rPr lang="zh-CN" altLang="en-US" sz="2400" baseline="-25000" dirty="0">
                <a:sym typeface="Symbol" panose="05050102010706020507" pitchFamily="18" charset="2"/>
              </a:rPr>
              <a:t></a:t>
            </a:r>
            <a:r>
              <a:rPr lang="en-US" altLang="zh-CN" sz="2400" baseline="-25000" dirty="0">
                <a:sym typeface="Symbol" panose="05050102010706020507" pitchFamily="18" charset="2"/>
              </a:rPr>
              <a:t>k</a:t>
            </a:r>
            <a:r>
              <a:rPr lang="en-US" altLang="zh-CN" sz="2400" dirty="0">
                <a:sym typeface="Symbol" panose="05050102010706020507" pitchFamily="18" charset="2"/>
              </a:rPr>
              <a:t>(u)</a:t>
            </a:r>
            <a:r>
              <a:rPr lang="zh-CN" altLang="en-US" sz="2400" dirty="0">
                <a:sym typeface="Symbol" panose="05050102010706020507" pitchFamily="18" charset="2"/>
              </a:rPr>
              <a:t>确定</a:t>
            </a:r>
            <a:r>
              <a:rPr lang="en-US" altLang="zh-CN" sz="2400" baseline="-25000" dirty="0">
                <a:sym typeface="Symbol" panose="05050102010706020507" pitchFamily="18" charset="2"/>
              </a:rPr>
              <a:t>k</a:t>
            </a:r>
            <a:r>
              <a:rPr lang="zh-CN" altLang="en-US" sz="2400" dirty="0">
                <a:sym typeface="Symbol" panose="05050102010706020507" pitchFamily="18" charset="2"/>
              </a:rPr>
              <a:t>的概率密度</a:t>
            </a:r>
            <a:r>
              <a:rPr lang="en-US" altLang="zh-CN" sz="2400" dirty="0" err="1">
                <a:sym typeface="Symbol" panose="05050102010706020507" pitchFamily="18" charset="2"/>
              </a:rPr>
              <a:t>f</a:t>
            </a:r>
            <a:r>
              <a:rPr lang="en-US" altLang="zh-CN" sz="2400" baseline="-25000" dirty="0" err="1">
                <a:sym typeface="Symbol" panose="05050102010706020507" pitchFamily="18" charset="2"/>
              </a:rPr>
              <a:t>k</a:t>
            </a:r>
            <a:r>
              <a:rPr lang="en-US" altLang="zh-CN" sz="2400" dirty="0">
                <a:sym typeface="Symbol" panose="05050102010706020507" pitchFamily="18" charset="2"/>
              </a:rPr>
              <a:t>(t)</a:t>
            </a:r>
            <a:r>
              <a:rPr lang="zh-CN" altLang="en-US" sz="2400" dirty="0">
                <a:sym typeface="Symbol" panose="05050102010706020507" pitchFamily="18" charset="2"/>
              </a:rPr>
              <a:t>和分布函数</a:t>
            </a:r>
            <a:r>
              <a:rPr lang="en-US" altLang="zh-CN" sz="2400" dirty="0" err="1">
                <a:sym typeface="Symbol" panose="05050102010706020507" pitchFamily="18" charset="2"/>
              </a:rPr>
              <a:t>F</a:t>
            </a:r>
            <a:r>
              <a:rPr lang="en-US" altLang="zh-CN" sz="2400" baseline="-25000" dirty="0" err="1">
                <a:sym typeface="Symbol" panose="05050102010706020507" pitchFamily="18" charset="2"/>
              </a:rPr>
              <a:t></a:t>
            </a:r>
            <a:r>
              <a:rPr lang="en-US" altLang="zh-CN" sz="2400" baseline="-50000" dirty="0" err="1">
                <a:sym typeface="Symbol" panose="05050102010706020507" pitchFamily="18" charset="2"/>
              </a:rPr>
              <a:t>k</a:t>
            </a:r>
            <a:r>
              <a:rPr lang="en-US" altLang="zh-CN" sz="2400" dirty="0">
                <a:sym typeface="Symbol" panose="05050102010706020507" pitchFamily="18" charset="2"/>
              </a:rPr>
              <a:t>(t)</a:t>
            </a:r>
            <a:r>
              <a:rPr lang="zh-CN" altLang="en-US" sz="2400" dirty="0">
                <a:sym typeface="Symbol" panose="05050102010706020507" pitchFamily="18" charset="2"/>
              </a:rPr>
              <a:t>；</a:t>
            </a:r>
          </a:p>
          <a:p>
            <a:pPr eaLnBrk="1" hangingPunct="1">
              <a:lnSpc>
                <a:spcPct val="150000"/>
              </a:lnSpc>
              <a:buClr>
                <a:srgbClr val="6600CC"/>
              </a:buClr>
              <a:buFontTx/>
              <a:buAutoNum type="arabicParenR" startAt="2"/>
            </a:pPr>
            <a:r>
              <a:rPr lang="zh-CN" altLang="en-US" sz="2400" dirty="0">
                <a:sym typeface="Symbol" panose="05050102010706020507" pitchFamily="18" charset="2"/>
              </a:rPr>
              <a:t>由</a:t>
            </a:r>
            <a:r>
              <a:rPr lang="en-US" altLang="zh-CN" sz="2400" dirty="0" err="1">
                <a:sym typeface="Symbol" panose="05050102010706020507" pitchFamily="18" charset="2"/>
              </a:rPr>
              <a:t>F</a:t>
            </a:r>
            <a:r>
              <a:rPr lang="en-US" altLang="zh-CN" sz="2400" baseline="-25000" dirty="0" err="1">
                <a:sym typeface="Symbol" panose="05050102010706020507" pitchFamily="18" charset="2"/>
              </a:rPr>
              <a:t></a:t>
            </a:r>
            <a:r>
              <a:rPr lang="en-US" altLang="zh-CN" sz="2400" baseline="-50000" dirty="0" err="1">
                <a:sym typeface="Symbol" panose="05050102010706020507" pitchFamily="18" charset="2"/>
              </a:rPr>
              <a:t>k</a:t>
            </a:r>
            <a:r>
              <a:rPr lang="en-US" altLang="zh-CN" sz="2400" dirty="0">
                <a:sym typeface="Symbol" panose="05050102010706020507" pitchFamily="18" charset="2"/>
              </a:rPr>
              <a:t>(t)</a:t>
            </a:r>
            <a:r>
              <a:rPr lang="zh-CN" altLang="en-US" sz="2400" dirty="0">
                <a:sym typeface="Symbol" panose="05050102010706020507" pitchFamily="18" charset="2"/>
              </a:rPr>
              <a:t>确定更新计数过程</a:t>
            </a:r>
            <a:r>
              <a:rPr lang="en-US" altLang="zh-CN" sz="2400" dirty="0">
                <a:sym typeface="Symbol" panose="05050102010706020507" pitchFamily="18" charset="2"/>
              </a:rPr>
              <a:t>{N(t),t0}</a:t>
            </a:r>
            <a:r>
              <a:rPr lang="zh-CN" altLang="en-US" sz="2400" dirty="0">
                <a:sym typeface="Symbol" panose="05050102010706020507" pitchFamily="18" charset="2"/>
              </a:rPr>
              <a:t>的分布函数。</a:t>
            </a:r>
          </a:p>
        </p:txBody>
      </p:sp>
      <p:sp>
        <p:nvSpPr>
          <p:cNvPr id="306185" name="Rectangle 9">
            <a:extLst>
              <a:ext uri="{FF2B5EF4-FFF2-40B4-BE49-F238E27FC236}">
                <a16:creationId xmlns:a16="http://schemas.microsoft.com/office/drawing/2014/main" id="{D80E544E-3547-2D0B-4252-CF1B71F45339}"/>
              </a:ext>
            </a:extLst>
          </p:cNvPr>
          <p:cNvSpPr>
            <a:spLocks noChangeArrowheads="1"/>
          </p:cNvSpPr>
          <p:nvPr/>
        </p:nvSpPr>
        <p:spPr bwMode="auto">
          <a:xfrm>
            <a:off x="650830" y="5053786"/>
            <a:ext cx="10172745" cy="168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50000"/>
              </a:lnSpc>
              <a:buClr>
                <a:srgbClr val="00FF00"/>
              </a:buClr>
              <a:buFontTx/>
              <a:buNone/>
            </a:pPr>
            <a:r>
              <a:rPr lang="zh-CN" altLang="en-US" sz="2400" dirty="0">
                <a:sym typeface="Symbol" panose="05050102010706020507" pitchFamily="18" charset="2"/>
              </a:rPr>
              <a:t>由于事件</a:t>
            </a:r>
            <a:r>
              <a:rPr lang="en-US" altLang="zh-CN" sz="2400" dirty="0">
                <a:sym typeface="Symbol" panose="05050102010706020507" pitchFamily="18" charset="2"/>
              </a:rPr>
              <a:t>{</a:t>
            </a:r>
            <a:r>
              <a:rPr lang="en-US" altLang="zh-CN" sz="2400" baseline="-25000" dirty="0">
                <a:sym typeface="Symbol" panose="05050102010706020507" pitchFamily="18" charset="2"/>
              </a:rPr>
              <a:t>k</a:t>
            </a:r>
            <a:r>
              <a:rPr lang="en-US" altLang="zh-CN" sz="2400" dirty="0">
                <a:sym typeface="Symbol" panose="05050102010706020507" pitchFamily="18" charset="2"/>
              </a:rPr>
              <a:t>&lt;t}</a:t>
            </a:r>
            <a:r>
              <a:rPr lang="zh-CN" altLang="en-US" sz="2400" dirty="0">
                <a:sym typeface="Symbol" panose="05050102010706020507" pitchFamily="18" charset="2"/>
              </a:rPr>
              <a:t>与事件</a:t>
            </a:r>
            <a:r>
              <a:rPr lang="en-US" altLang="zh-CN" sz="2400" dirty="0">
                <a:sym typeface="Symbol" panose="05050102010706020507" pitchFamily="18" charset="2"/>
              </a:rPr>
              <a:t>{N(t)k}</a:t>
            </a:r>
            <a:r>
              <a:rPr lang="zh-CN" altLang="en-US" sz="2400" dirty="0">
                <a:sym typeface="Symbol" panose="05050102010706020507" pitchFamily="18" charset="2"/>
              </a:rPr>
              <a:t>等价，从而</a:t>
            </a:r>
            <a:r>
              <a:rPr lang="en-US" altLang="zh-CN" sz="2400" dirty="0">
                <a:sym typeface="Symbol" panose="05050102010706020507" pitchFamily="18" charset="2"/>
              </a:rPr>
              <a:t>P{</a:t>
            </a:r>
            <a:r>
              <a:rPr lang="en-US" altLang="zh-CN" sz="2400" baseline="-25000" dirty="0">
                <a:sym typeface="Symbol" panose="05050102010706020507" pitchFamily="18" charset="2"/>
              </a:rPr>
              <a:t>k</a:t>
            </a:r>
            <a:r>
              <a:rPr lang="en-US" altLang="zh-CN" sz="2400" dirty="0">
                <a:sym typeface="Symbol" panose="05050102010706020507" pitchFamily="18" charset="2"/>
              </a:rPr>
              <a:t>&lt;t}</a:t>
            </a:r>
            <a:r>
              <a:rPr lang="zh-CN" altLang="en-US" sz="2400" dirty="0">
                <a:sym typeface="Symbol" panose="05050102010706020507" pitchFamily="18" charset="2"/>
              </a:rPr>
              <a:t>＝</a:t>
            </a:r>
            <a:r>
              <a:rPr lang="en-US" altLang="zh-CN" sz="2400" dirty="0">
                <a:sym typeface="Symbol" panose="05050102010706020507" pitchFamily="18" charset="2"/>
              </a:rPr>
              <a:t>P{N(t)k}</a:t>
            </a:r>
            <a:r>
              <a:rPr lang="zh-CN" altLang="en-US" sz="2400" dirty="0">
                <a:sym typeface="Symbol" panose="05050102010706020507" pitchFamily="18" charset="2"/>
              </a:rPr>
              <a:t>＝</a:t>
            </a:r>
            <a:r>
              <a:rPr lang="en-US" altLang="zh-CN" sz="2400" dirty="0">
                <a:sym typeface="Symbol" panose="05050102010706020507" pitchFamily="18" charset="2"/>
              </a:rPr>
              <a:t>1-P{N(t)&lt;k}</a:t>
            </a:r>
          </a:p>
          <a:p>
            <a:pPr eaLnBrk="1" hangingPunct="1">
              <a:lnSpc>
                <a:spcPct val="150000"/>
              </a:lnSpc>
              <a:buClr>
                <a:srgbClr val="00FF00"/>
              </a:buClr>
              <a:buFontTx/>
              <a:buNone/>
            </a:pPr>
            <a:r>
              <a:rPr lang="zh-CN" altLang="en-US" sz="2400" dirty="0">
                <a:sym typeface="Symbol" panose="05050102010706020507" pitchFamily="18" charset="2"/>
              </a:rPr>
              <a:t>即			</a:t>
            </a:r>
            <a:r>
              <a:rPr lang="en-US" altLang="zh-CN" sz="2400" dirty="0" err="1">
                <a:sym typeface="Symbol" panose="05050102010706020507" pitchFamily="18" charset="2"/>
              </a:rPr>
              <a:t>F</a:t>
            </a:r>
            <a:r>
              <a:rPr lang="en-US" altLang="zh-CN" sz="2400" baseline="-25000" dirty="0" err="1">
                <a:sym typeface="Symbol" panose="05050102010706020507" pitchFamily="18" charset="2"/>
              </a:rPr>
              <a:t></a:t>
            </a:r>
            <a:r>
              <a:rPr lang="en-US" altLang="zh-CN" sz="2400" baseline="-50000" dirty="0" err="1">
                <a:sym typeface="Symbol" panose="05050102010706020507" pitchFamily="18" charset="2"/>
              </a:rPr>
              <a:t>k</a:t>
            </a:r>
            <a:r>
              <a:rPr lang="en-US" altLang="zh-CN" sz="2400" dirty="0">
                <a:sym typeface="Symbol" panose="05050102010706020507" pitchFamily="18" charset="2"/>
              </a:rPr>
              <a:t>(t)</a:t>
            </a:r>
            <a:r>
              <a:rPr lang="zh-CN" altLang="en-US" sz="2400" dirty="0">
                <a:sym typeface="Symbol" panose="05050102010706020507" pitchFamily="18" charset="2"/>
              </a:rPr>
              <a:t>＝</a:t>
            </a:r>
            <a:r>
              <a:rPr lang="en-US" altLang="zh-CN" sz="2400" dirty="0">
                <a:sym typeface="Symbol" panose="05050102010706020507" pitchFamily="18" charset="2"/>
              </a:rPr>
              <a:t>1</a:t>
            </a:r>
            <a:r>
              <a:rPr lang="zh-CN" altLang="en-US" sz="2400" dirty="0">
                <a:sym typeface="Symbol" panose="05050102010706020507" pitchFamily="18" charset="2"/>
              </a:rPr>
              <a:t>－</a:t>
            </a:r>
            <a:r>
              <a:rPr lang="en-US" altLang="zh-CN" sz="2400" dirty="0">
                <a:sym typeface="Symbol" panose="05050102010706020507" pitchFamily="18" charset="2"/>
              </a:rPr>
              <a:t>F</a:t>
            </a:r>
            <a:r>
              <a:rPr lang="en-US" altLang="zh-CN" sz="2400" baseline="-25000" dirty="0">
                <a:sym typeface="Symbol" panose="05050102010706020507" pitchFamily="18" charset="2"/>
              </a:rPr>
              <a:t>N(t)</a:t>
            </a:r>
            <a:r>
              <a:rPr lang="en-US" altLang="zh-CN" sz="2400" dirty="0">
                <a:sym typeface="Symbol" panose="05050102010706020507" pitchFamily="18" charset="2"/>
              </a:rPr>
              <a:t>(k)</a:t>
            </a:r>
          </a:p>
          <a:p>
            <a:pPr eaLnBrk="1" hangingPunct="1">
              <a:lnSpc>
                <a:spcPct val="150000"/>
              </a:lnSpc>
              <a:buClr>
                <a:srgbClr val="00FF00"/>
              </a:buClr>
              <a:buFontTx/>
              <a:buNone/>
            </a:pPr>
            <a:r>
              <a:rPr lang="zh-CN" altLang="en-US" sz="2400" dirty="0">
                <a:sym typeface="Symbol" panose="05050102010706020507" pitchFamily="18" charset="2"/>
              </a:rPr>
              <a:t>故			</a:t>
            </a:r>
            <a:r>
              <a:rPr lang="en-US" altLang="zh-CN" sz="2400" dirty="0">
                <a:sym typeface="Symbol" panose="05050102010706020507" pitchFamily="18" charset="2"/>
              </a:rPr>
              <a:t>F</a:t>
            </a:r>
            <a:r>
              <a:rPr lang="en-US" altLang="zh-CN" sz="2400" baseline="-25000" dirty="0">
                <a:sym typeface="Symbol" panose="05050102010706020507" pitchFamily="18" charset="2"/>
              </a:rPr>
              <a:t>N(t)</a:t>
            </a:r>
            <a:r>
              <a:rPr lang="en-US" altLang="zh-CN" sz="2400" dirty="0">
                <a:sym typeface="Symbol" panose="05050102010706020507" pitchFamily="18" charset="2"/>
              </a:rPr>
              <a:t>(k)</a:t>
            </a:r>
            <a:r>
              <a:rPr lang="zh-CN" altLang="en-US" sz="2400" dirty="0">
                <a:sym typeface="Symbol" panose="05050102010706020507" pitchFamily="18" charset="2"/>
              </a:rPr>
              <a:t>＝</a:t>
            </a:r>
            <a:r>
              <a:rPr lang="en-US" altLang="zh-CN" sz="2400" dirty="0">
                <a:sym typeface="Symbol" panose="05050102010706020507" pitchFamily="18" charset="2"/>
              </a:rPr>
              <a:t>1</a:t>
            </a:r>
            <a:r>
              <a:rPr lang="zh-CN" altLang="en-US" sz="2400" dirty="0">
                <a:sym typeface="Symbol" panose="05050102010706020507" pitchFamily="18" charset="2"/>
              </a:rPr>
              <a:t>－</a:t>
            </a:r>
            <a:r>
              <a:rPr lang="en-US" altLang="zh-CN" sz="2400" dirty="0" err="1">
                <a:sym typeface="Symbol" panose="05050102010706020507" pitchFamily="18" charset="2"/>
              </a:rPr>
              <a:t>F</a:t>
            </a:r>
            <a:r>
              <a:rPr lang="en-US" altLang="zh-CN" sz="2400" baseline="-25000" dirty="0" err="1">
                <a:sym typeface="Symbol" panose="05050102010706020507" pitchFamily="18" charset="2"/>
              </a:rPr>
              <a:t></a:t>
            </a:r>
            <a:r>
              <a:rPr lang="en-US" altLang="zh-CN" sz="2400" baseline="-50000" dirty="0" err="1">
                <a:sym typeface="Symbol" panose="05050102010706020507" pitchFamily="18" charset="2"/>
              </a:rPr>
              <a:t>k</a:t>
            </a:r>
            <a:r>
              <a:rPr lang="en-US" altLang="zh-CN" sz="2400" dirty="0">
                <a:sym typeface="Symbol" panose="05050102010706020507" pitchFamily="18" charset="2"/>
              </a:rPr>
              <a:t>(t)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06179">
                                            <p:txEl>
                                              <p:pRg st="0" end="0"/>
                                            </p:txEl>
                                          </p:spTgt>
                                        </p:tgtEl>
                                        <p:attrNameLst>
                                          <p:attrName>style.visibility</p:attrName>
                                        </p:attrNameLst>
                                      </p:cBhvr>
                                      <p:to>
                                        <p:strVal val="visible"/>
                                      </p:to>
                                    </p:set>
                                    <p:anim calcmode="lin" valueType="num">
                                      <p:cBhvr additive="base">
                                        <p:cTn id="7" dur="500" fill="hold"/>
                                        <p:tgtEl>
                                          <p:spTgt spid="3061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617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06180"/>
                                        </p:tgtEl>
                                        <p:attrNameLst>
                                          <p:attrName>style.visibility</p:attrName>
                                        </p:attrNameLst>
                                      </p:cBhvr>
                                      <p:to>
                                        <p:strVal val="visible"/>
                                      </p:to>
                                    </p:set>
                                    <p:anim calcmode="lin" valueType="num">
                                      <p:cBhvr additive="base">
                                        <p:cTn id="12" dur="500" fill="hold"/>
                                        <p:tgtEl>
                                          <p:spTgt spid="306180"/>
                                        </p:tgtEl>
                                        <p:attrNameLst>
                                          <p:attrName>ppt_x</p:attrName>
                                        </p:attrNameLst>
                                      </p:cBhvr>
                                      <p:tavLst>
                                        <p:tav tm="0">
                                          <p:val>
                                            <p:strVal val="#ppt_x"/>
                                          </p:val>
                                        </p:tav>
                                        <p:tav tm="100000">
                                          <p:val>
                                            <p:strVal val="#ppt_x"/>
                                          </p:val>
                                        </p:tav>
                                      </p:tavLst>
                                    </p:anim>
                                    <p:anim calcmode="lin" valueType="num">
                                      <p:cBhvr additive="base">
                                        <p:cTn id="13" dur="500" fill="hold"/>
                                        <p:tgtEl>
                                          <p:spTgt spid="306180"/>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06181"/>
                                        </p:tgtEl>
                                        <p:attrNameLst>
                                          <p:attrName>style.visibility</p:attrName>
                                        </p:attrNameLst>
                                      </p:cBhvr>
                                      <p:to>
                                        <p:strVal val="visible"/>
                                      </p:to>
                                    </p:set>
                                    <p:anim calcmode="lin" valueType="num">
                                      <p:cBhvr additive="base">
                                        <p:cTn id="17" dur="500" fill="hold"/>
                                        <p:tgtEl>
                                          <p:spTgt spid="306181"/>
                                        </p:tgtEl>
                                        <p:attrNameLst>
                                          <p:attrName>ppt_x</p:attrName>
                                        </p:attrNameLst>
                                      </p:cBhvr>
                                      <p:tavLst>
                                        <p:tav tm="0">
                                          <p:val>
                                            <p:strVal val="#ppt_x"/>
                                          </p:val>
                                        </p:tav>
                                        <p:tav tm="100000">
                                          <p:val>
                                            <p:strVal val="#ppt_x"/>
                                          </p:val>
                                        </p:tav>
                                      </p:tavLst>
                                    </p:anim>
                                    <p:anim calcmode="lin" valueType="num">
                                      <p:cBhvr additive="base">
                                        <p:cTn id="18" dur="500" fill="hold"/>
                                        <p:tgtEl>
                                          <p:spTgt spid="306181"/>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2" fill="hold" nodeType="afterEffect">
                                  <p:stCondLst>
                                    <p:cond delay="0"/>
                                  </p:stCondLst>
                                  <p:childTnLst>
                                    <p:set>
                                      <p:cBhvr>
                                        <p:cTn id="21" dur="1" fill="hold">
                                          <p:stCondLst>
                                            <p:cond delay="0"/>
                                          </p:stCondLst>
                                        </p:cTn>
                                        <p:tgtEl>
                                          <p:spTgt spid="306182"/>
                                        </p:tgtEl>
                                        <p:attrNameLst>
                                          <p:attrName>style.visibility</p:attrName>
                                        </p:attrNameLst>
                                      </p:cBhvr>
                                      <p:to>
                                        <p:strVal val="visible"/>
                                      </p:to>
                                    </p:set>
                                    <p:anim calcmode="lin" valueType="num">
                                      <p:cBhvr additive="base">
                                        <p:cTn id="22" dur="500" fill="hold"/>
                                        <p:tgtEl>
                                          <p:spTgt spid="306182"/>
                                        </p:tgtEl>
                                        <p:attrNameLst>
                                          <p:attrName>ppt_x</p:attrName>
                                        </p:attrNameLst>
                                      </p:cBhvr>
                                      <p:tavLst>
                                        <p:tav tm="0">
                                          <p:val>
                                            <p:strVal val="1+#ppt_w/2"/>
                                          </p:val>
                                        </p:tav>
                                        <p:tav tm="100000">
                                          <p:val>
                                            <p:strVal val="#ppt_x"/>
                                          </p:val>
                                        </p:tav>
                                      </p:tavLst>
                                    </p:anim>
                                    <p:anim calcmode="lin" valueType="num">
                                      <p:cBhvr additive="base">
                                        <p:cTn id="23" dur="500" fill="hold"/>
                                        <p:tgtEl>
                                          <p:spTgt spid="306182"/>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2" fill="hold" nodeType="afterEffect">
                                  <p:stCondLst>
                                    <p:cond delay="0"/>
                                  </p:stCondLst>
                                  <p:childTnLst>
                                    <p:set>
                                      <p:cBhvr>
                                        <p:cTn id="26" dur="1" fill="hold">
                                          <p:stCondLst>
                                            <p:cond delay="0"/>
                                          </p:stCondLst>
                                        </p:cTn>
                                        <p:tgtEl>
                                          <p:spTgt spid="306183"/>
                                        </p:tgtEl>
                                        <p:attrNameLst>
                                          <p:attrName>style.visibility</p:attrName>
                                        </p:attrNameLst>
                                      </p:cBhvr>
                                      <p:to>
                                        <p:strVal val="visible"/>
                                      </p:to>
                                    </p:set>
                                    <p:anim calcmode="lin" valueType="num">
                                      <p:cBhvr additive="base">
                                        <p:cTn id="27" dur="500" fill="hold"/>
                                        <p:tgtEl>
                                          <p:spTgt spid="306183"/>
                                        </p:tgtEl>
                                        <p:attrNameLst>
                                          <p:attrName>ppt_x</p:attrName>
                                        </p:attrNameLst>
                                      </p:cBhvr>
                                      <p:tavLst>
                                        <p:tav tm="0">
                                          <p:val>
                                            <p:strVal val="1+#ppt_w/2"/>
                                          </p:val>
                                        </p:tav>
                                        <p:tav tm="100000">
                                          <p:val>
                                            <p:strVal val="#ppt_x"/>
                                          </p:val>
                                        </p:tav>
                                      </p:tavLst>
                                    </p:anim>
                                    <p:anim calcmode="lin" valueType="num">
                                      <p:cBhvr additive="base">
                                        <p:cTn id="28" dur="500" fill="hold"/>
                                        <p:tgtEl>
                                          <p:spTgt spid="306183"/>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306184">
                                            <p:txEl>
                                              <p:pRg st="0" end="0"/>
                                            </p:txEl>
                                          </p:spTgt>
                                        </p:tgtEl>
                                        <p:attrNameLst>
                                          <p:attrName>style.visibility</p:attrName>
                                        </p:attrNameLst>
                                      </p:cBhvr>
                                      <p:to>
                                        <p:strVal val="visible"/>
                                      </p:to>
                                    </p:set>
                                    <p:anim calcmode="lin" valueType="num">
                                      <p:cBhvr additive="base">
                                        <p:cTn id="32" dur="500" fill="hold"/>
                                        <p:tgtEl>
                                          <p:spTgt spid="306184">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061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06184">
                                            <p:txEl>
                                              <p:pRg st="1" end="1"/>
                                            </p:txEl>
                                          </p:spTgt>
                                        </p:tgtEl>
                                        <p:attrNameLst>
                                          <p:attrName>style.visibility</p:attrName>
                                        </p:attrNameLst>
                                      </p:cBhvr>
                                      <p:to>
                                        <p:strVal val="visible"/>
                                      </p:to>
                                    </p:set>
                                    <p:anim calcmode="lin" valueType="num">
                                      <p:cBhvr additive="base">
                                        <p:cTn id="38" dur="500" fill="hold"/>
                                        <p:tgtEl>
                                          <p:spTgt spid="306184">
                                            <p:txEl>
                                              <p:pRg st="1" end="1"/>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06184">
                                            <p:txEl>
                                              <p:pRg st="1" end="1"/>
                                            </p:txEl>
                                          </p:spTgt>
                                        </p:tgtEl>
                                        <p:attrNameLst>
                                          <p:attrName>ppt_y</p:attrName>
                                        </p:attrNameLst>
                                      </p:cBhvr>
                                      <p:tavLst>
                                        <p:tav tm="0">
                                          <p:val>
                                            <p:strVal val="1+#ppt_h/2"/>
                                          </p:val>
                                        </p:tav>
                                        <p:tav tm="100000">
                                          <p:val>
                                            <p:strVal val="#ppt_y"/>
                                          </p:val>
                                        </p:tav>
                                      </p:tavLst>
                                    </p:anim>
                                  </p:childTnLst>
                                </p:cTn>
                              </p:par>
                            </p:childTnLst>
                          </p:cTn>
                        </p:par>
                        <p:par>
                          <p:cTn id="40" fill="hold" nodeType="afterGroup">
                            <p:stCondLst>
                              <p:cond delay="500"/>
                            </p:stCondLst>
                            <p:childTnLst>
                              <p:par>
                                <p:cTn id="41" presetID="2" presetClass="entr" presetSubtype="4" fill="hold" grpId="0" nodeType="afterEffect">
                                  <p:stCondLst>
                                    <p:cond delay="0"/>
                                  </p:stCondLst>
                                  <p:childTnLst>
                                    <p:set>
                                      <p:cBhvr>
                                        <p:cTn id="42" dur="1" fill="hold">
                                          <p:stCondLst>
                                            <p:cond delay="0"/>
                                          </p:stCondLst>
                                        </p:cTn>
                                        <p:tgtEl>
                                          <p:spTgt spid="306185"/>
                                        </p:tgtEl>
                                        <p:attrNameLst>
                                          <p:attrName>style.visibility</p:attrName>
                                        </p:attrNameLst>
                                      </p:cBhvr>
                                      <p:to>
                                        <p:strVal val="visible"/>
                                      </p:to>
                                    </p:set>
                                    <p:anim calcmode="lin" valueType="num">
                                      <p:cBhvr additive="base">
                                        <p:cTn id="43" dur="500" fill="hold"/>
                                        <p:tgtEl>
                                          <p:spTgt spid="306185"/>
                                        </p:tgtEl>
                                        <p:attrNameLst>
                                          <p:attrName>ppt_x</p:attrName>
                                        </p:attrNameLst>
                                      </p:cBhvr>
                                      <p:tavLst>
                                        <p:tav tm="0">
                                          <p:val>
                                            <p:strVal val="#ppt_x"/>
                                          </p:val>
                                        </p:tav>
                                        <p:tav tm="100000">
                                          <p:val>
                                            <p:strVal val="#ppt_x"/>
                                          </p:val>
                                        </p:tav>
                                      </p:tavLst>
                                    </p:anim>
                                    <p:anim calcmode="lin" valueType="num">
                                      <p:cBhvr additive="base">
                                        <p:cTn id="44" dur="500" fill="hold"/>
                                        <p:tgtEl>
                                          <p:spTgt spid="3061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9" grpId="0" build="p"/>
      <p:bldP spid="306180" grpId="0"/>
      <p:bldP spid="306181" grpId="0"/>
      <p:bldP spid="306184" grpId="0" build="p"/>
      <p:bldP spid="30618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B6D5C0D1-471C-E20A-8C99-7C1710644055}"/>
              </a:ext>
            </a:extLst>
          </p:cNvPr>
          <p:cNvSpPr>
            <a:spLocks noGrp="1" noChangeArrowheads="1"/>
          </p:cNvSpPr>
          <p:nvPr>
            <p:ph type="title"/>
          </p:nvPr>
        </p:nvSpPr>
        <p:spPr>
          <a:xfrm>
            <a:off x="765175" y="192947"/>
            <a:ext cx="7469329" cy="732007"/>
          </a:xfrm>
        </p:spPr>
        <p:txBody>
          <a:bodyPr/>
          <a:lstStyle/>
          <a:p>
            <a:pPr eaLnBrk="1" hangingPunct="1"/>
            <a:r>
              <a:rPr lang="zh-CN" altLang="en-US" dirty="0"/>
              <a:t>更新过程的均值函数</a:t>
            </a:r>
          </a:p>
        </p:txBody>
      </p:sp>
      <p:sp>
        <p:nvSpPr>
          <p:cNvPr id="307203" name="Rectangle 3">
            <a:extLst>
              <a:ext uri="{FF2B5EF4-FFF2-40B4-BE49-F238E27FC236}">
                <a16:creationId xmlns:a16="http://schemas.microsoft.com/office/drawing/2014/main" id="{726C55D7-A327-A170-DA7C-883581375163}"/>
              </a:ext>
            </a:extLst>
          </p:cNvPr>
          <p:cNvSpPr>
            <a:spLocks noGrp="1" noChangeArrowheads="1"/>
          </p:cNvSpPr>
          <p:nvPr>
            <p:ph type="body" idx="1"/>
          </p:nvPr>
        </p:nvSpPr>
        <p:spPr>
          <a:xfrm>
            <a:off x="568297" y="1003419"/>
            <a:ext cx="7220033" cy="732007"/>
          </a:xfrm>
        </p:spPr>
        <p:txBody>
          <a:bodyPr>
            <a:normAutofit/>
          </a:bodyPr>
          <a:lstStyle/>
          <a:p>
            <a:pPr eaLnBrk="1" hangingPunct="1">
              <a:lnSpc>
                <a:spcPct val="110000"/>
              </a:lnSpc>
              <a:buFont typeface="Wingdings" panose="05000000000000000000" pitchFamily="2" charset="2"/>
              <a:buNone/>
            </a:pPr>
            <a:r>
              <a:rPr lang="zh-CN" altLang="en-US" dirty="0"/>
              <a:t>设</a:t>
            </a:r>
            <a:r>
              <a:rPr lang="en-US" altLang="zh-CN" dirty="0">
                <a:sym typeface="Symbol" panose="05050102010706020507" pitchFamily="18" charset="2"/>
              </a:rPr>
              <a:t>{N(t),t0}</a:t>
            </a:r>
            <a:r>
              <a:rPr lang="zh-CN" altLang="en-US" dirty="0"/>
              <a:t>是更新过程，则</a:t>
            </a:r>
            <a:endParaRPr lang="zh-CN" altLang="en-US" dirty="0">
              <a:sym typeface="Symbol" panose="05050102010706020507" pitchFamily="18" charset="2"/>
            </a:endParaRPr>
          </a:p>
        </p:txBody>
      </p:sp>
      <p:graphicFrame>
        <p:nvGraphicFramePr>
          <p:cNvPr id="307204" name="Object 4">
            <a:extLst>
              <a:ext uri="{FF2B5EF4-FFF2-40B4-BE49-F238E27FC236}">
                <a16:creationId xmlns:a16="http://schemas.microsoft.com/office/drawing/2014/main" id="{D7B53A3B-1565-DDF7-EF22-D864F693ADCC}"/>
              </a:ext>
            </a:extLst>
          </p:cNvPr>
          <p:cNvGraphicFramePr>
            <a:graphicFrameLocks noChangeAspect="1"/>
          </p:cNvGraphicFramePr>
          <p:nvPr>
            <p:extLst>
              <p:ext uri="{D42A27DB-BD31-4B8C-83A1-F6EECF244321}">
                <p14:modId xmlns:p14="http://schemas.microsoft.com/office/powerpoint/2010/main" val="3666138488"/>
              </p:ext>
            </p:extLst>
          </p:nvPr>
        </p:nvGraphicFramePr>
        <p:xfrm>
          <a:off x="765175" y="1848552"/>
          <a:ext cx="4729692" cy="929815"/>
        </p:xfrm>
        <a:graphic>
          <a:graphicData uri="http://schemas.openxmlformats.org/presentationml/2006/ole">
            <mc:AlternateContent xmlns:mc="http://schemas.openxmlformats.org/markup-compatibility/2006">
              <mc:Choice xmlns:v="urn:schemas-microsoft-com:vml" Requires="v">
                <p:oleObj name="Equation" r:id="rId2" imgW="2197100" imgH="431800" progId="Equation.3">
                  <p:embed/>
                </p:oleObj>
              </mc:Choice>
              <mc:Fallback>
                <p:oleObj name="Equation" r:id="rId2" imgW="2197100" imgH="431800" progId="Equation.3">
                  <p:embed/>
                  <p:pic>
                    <p:nvPicPr>
                      <p:cNvPr id="307204" name="Object 4">
                        <a:extLst>
                          <a:ext uri="{FF2B5EF4-FFF2-40B4-BE49-F238E27FC236}">
                            <a16:creationId xmlns:a16="http://schemas.microsoft.com/office/drawing/2014/main" id="{D7B53A3B-1565-DDF7-EF22-D864F693A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175" y="1848552"/>
                        <a:ext cx="4729692" cy="929815"/>
                      </a:xfrm>
                      <a:prstGeom prst="rect">
                        <a:avLst/>
                      </a:prstGeom>
                      <a:noFill/>
                      <a:ln>
                        <a:noFill/>
                      </a:ln>
                      <a:effectLst/>
                    </p:spPr>
                  </p:pic>
                </p:oleObj>
              </mc:Fallback>
            </mc:AlternateContent>
          </a:graphicData>
        </a:graphic>
      </p:graphicFrame>
      <p:graphicFrame>
        <p:nvGraphicFramePr>
          <p:cNvPr id="307205" name="Object 5">
            <a:extLst>
              <a:ext uri="{FF2B5EF4-FFF2-40B4-BE49-F238E27FC236}">
                <a16:creationId xmlns:a16="http://schemas.microsoft.com/office/drawing/2014/main" id="{D63C9F2A-0655-FCA6-FFF5-5E5F38ABB528}"/>
              </a:ext>
            </a:extLst>
          </p:cNvPr>
          <p:cNvGraphicFramePr>
            <a:graphicFrameLocks noChangeAspect="1"/>
          </p:cNvGraphicFramePr>
          <p:nvPr>
            <p:extLst>
              <p:ext uri="{D42A27DB-BD31-4B8C-83A1-F6EECF244321}">
                <p14:modId xmlns:p14="http://schemas.microsoft.com/office/powerpoint/2010/main" val="1566550323"/>
              </p:ext>
            </p:extLst>
          </p:nvPr>
        </p:nvGraphicFramePr>
        <p:xfrm>
          <a:off x="1297112" y="2735276"/>
          <a:ext cx="3004429" cy="895775"/>
        </p:xfrm>
        <a:graphic>
          <a:graphicData uri="http://schemas.openxmlformats.org/presentationml/2006/ole">
            <mc:AlternateContent xmlns:mc="http://schemas.openxmlformats.org/markup-compatibility/2006">
              <mc:Choice xmlns:v="urn:schemas-microsoft-com:vml" Requires="v">
                <p:oleObj name="Equation" r:id="rId4" imgW="1447800" imgH="431800" progId="Equation.3">
                  <p:embed/>
                </p:oleObj>
              </mc:Choice>
              <mc:Fallback>
                <p:oleObj name="Equation" r:id="rId4" imgW="1447800" imgH="431800" progId="Equation.3">
                  <p:embed/>
                  <p:pic>
                    <p:nvPicPr>
                      <p:cNvPr id="307205" name="Object 5">
                        <a:extLst>
                          <a:ext uri="{FF2B5EF4-FFF2-40B4-BE49-F238E27FC236}">
                            <a16:creationId xmlns:a16="http://schemas.microsoft.com/office/drawing/2014/main" id="{D63C9F2A-0655-FCA6-FFF5-5E5F38ABB5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7112" y="2735276"/>
                        <a:ext cx="3004429" cy="895775"/>
                      </a:xfrm>
                      <a:prstGeom prst="rect">
                        <a:avLst/>
                      </a:prstGeom>
                      <a:noFill/>
                      <a:ln>
                        <a:noFill/>
                      </a:ln>
                      <a:effectLst/>
                    </p:spPr>
                  </p:pic>
                </p:oleObj>
              </mc:Fallback>
            </mc:AlternateContent>
          </a:graphicData>
        </a:graphic>
      </p:graphicFrame>
      <p:graphicFrame>
        <p:nvGraphicFramePr>
          <p:cNvPr id="307206" name="Object 6">
            <a:extLst>
              <a:ext uri="{FF2B5EF4-FFF2-40B4-BE49-F238E27FC236}">
                <a16:creationId xmlns:a16="http://schemas.microsoft.com/office/drawing/2014/main" id="{195B6F7A-E0DA-2DC1-1FF6-05C57922DE4E}"/>
              </a:ext>
            </a:extLst>
          </p:cNvPr>
          <p:cNvGraphicFramePr>
            <a:graphicFrameLocks noChangeAspect="1"/>
          </p:cNvGraphicFramePr>
          <p:nvPr>
            <p:extLst>
              <p:ext uri="{D42A27DB-BD31-4B8C-83A1-F6EECF244321}">
                <p14:modId xmlns:p14="http://schemas.microsoft.com/office/powerpoint/2010/main" val="1884331510"/>
              </p:ext>
            </p:extLst>
          </p:nvPr>
        </p:nvGraphicFramePr>
        <p:xfrm>
          <a:off x="1297111" y="3817169"/>
          <a:ext cx="8146178" cy="499842"/>
        </p:xfrm>
        <a:graphic>
          <a:graphicData uri="http://schemas.openxmlformats.org/presentationml/2006/ole">
            <mc:AlternateContent xmlns:mc="http://schemas.openxmlformats.org/markup-compatibility/2006">
              <mc:Choice xmlns:v="urn:schemas-microsoft-com:vml" Requires="v">
                <p:oleObj name="Equation" r:id="rId6" imgW="3924300" imgH="241300" progId="Equation.3">
                  <p:embed/>
                </p:oleObj>
              </mc:Choice>
              <mc:Fallback>
                <p:oleObj name="Equation" r:id="rId6" imgW="3924300" imgH="241300" progId="Equation.3">
                  <p:embed/>
                  <p:pic>
                    <p:nvPicPr>
                      <p:cNvPr id="307206" name="Object 6">
                        <a:extLst>
                          <a:ext uri="{FF2B5EF4-FFF2-40B4-BE49-F238E27FC236}">
                            <a16:creationId xmlns:a16="http://schemas.microsoft.com/office/drawing/2014/main" id="{195B6F7A-E0DA-2DC1-1FF6-05C57922DE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7111" y="3817169"/>
                        <a:ext cx="8146178" cy="499842"/>
                      </a:xfrm>
                      <a:prstGeom prst="rect">
                        <a:avLst/>
                      </a:prstGeom>
                      <a:noFill/>
                      <a:ln>
                        <a:noFill/>
                      </a:ln>
                      <a:effectLst/>
                    </p:spPr>
                  </p:pic>
                </p:oleObj>
              </mc:Fallback>
            </mc:AlternateContent>
          </a:graphicData>
        </a:graphic>
      </p:graphicFrame>
      <p:graphicFrame>
        <p:nvGraphicFramePr>
          <p:cNvPr id="307207" name="Object 7">
            <a:extLst>
              <a:ext uri="{FF2B5EF4-FFF2-40B4-BE49-F238E27FC236}">
                <a16:creationId xmlns:a16="http://schemas.microsoft.com/office/drawing/2014/main" id="{A07CF77B-D0FE-1F6C-BDB2-8D04CB87D5B2}"/>
              </a:ext>
            </a:extLst>
          </p:cNvPr>
          <p:cNvGraphicFramePr>
            <a:graphicFrameLocks noChangeAspect="1"/>
          </p:cNvGraphicFramePr>
          <p:nvPr>
            <p:extLst>
              <p:ext uri="{D42A27DB-BD31-4B8C-83A1-F6EECF244321}">
                <p14:modId xmlns:p14="http://schemas.microsoft.com/office/powerpoint/2010/main" val="1874465321"/>
              </p:ext>
            </p:extLst>
          </p:nvPr>
        </p:nvGraphicFramePr>
        <p:xfrm>
          <a:off x="1297111" y="4443822"/>
          <a:ext cx="1476237" cy="895775"/>
        </p:xfrm>
        <a:graphic>
          <a:graphicData uri="http://schemas.openxmlformats.org/presentationml/2006/ole">
            <mc:AlternateContent xmlns:mc="http://schemas.openxmlformats.org/markup-compatibility/2006">
              <mc:Choice xmlns:v="urn:schemas-microsoft-com:vml" Requires="v">
                <p:oleObj name="Equation" r:id="rId8" imgW="710891" imgH="431613" progId="Equation.3">
                  <p:embed/>
                </p:oleObj>
              </mc:Choice>
              <mc:Fallback>
                <p:oleObj name="Equation" r:id="rId8" imgW="710891" imgH="431613" progId="Equation.3">
                  <p:embed/>
                  <p:pic>
                    <p:nvPicPr>
                      <p:cNvPr id="307207" name="Object 7">
                        <a:extLst>
                          <a:ext uri="{FF2B5EF4-FFF2-40B4-BE49-F238E27FC236}">
                            <a16:creationId xmlns:a16="http://schemas.microsoft.com/office/drawing/2014/main" id="{A07CF77B-D0FE-1F6C-BDB2-8D04CB87D5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7111" y="4443822"/>
                        <a:ext cx="1476237" cy="895775"/>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07203">
                                            <p:txEl>
                                              <p:pRg st="0" end="0"/>
                                            </p:txEl>
                                          </p:spTgt>
                                        </p:tgtEl>
                                        <p:attrNameLst>
                                          <p:attrName>style.visibility</p:attrName>
                                        </p:attrNameLst>
                                      </p:cBhvr>
                                      <p:to>
                                        <p:strVal val="visible"/>
                                      </p:to>
                                    </p:set>
                                    <p:anim calcmode="lin" valueType="num">
                                      <p:cBhvr additive="base">
                                        <p:cTn id="7" dur="500" fill="hold"/>
                                        <p:tgtEl>
                                          <p:spTgt spid="3072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07204"/>
                                        </p:tgtEl>
                                        <p:attrNameLst>
                                          <p:attrName>style.visibility</p:attrName>
                                        </p:attrNameLst>
                                      </p:cBhvr>
                                      <p:to>
                                        <p:strVal val="visible"/>
                                      </p:to>
                                    </p:set>
                                    <p:anim calcmode="lin" valueType="num">
                                      <p:cBhvr additive="base">
                                        <p:cTn id="13" dur="500" fill="hold"/>
                                        <p:tgtEl>
                                          <p:spTgt spid="307204"/>
                                        </p:tgtEl>
                                        <p:attrNameLst>
                                          <p:attrName>ppt_x</p:attrName>
                                        </p:attrNameLst>
                                      </p:cBhvr>
                                      <p:tavLst>
                                        <p:tav tm="0">
                                          <p:val>
                                            <p:strVal val="#ppt_x"/>
                                          </p:val>
                                        </p:tav>
                                        <p:tav tm="100000">
                                          <p:val>
                                            <p:strVal val="#ppt_x"/>
                                          </p:val>
                                        </p:tav>
                                      </p:tavLst>
                                    </p:anim>
                                    <p:anim calcmode="lin" valueType="num">
                                      <p:cBhvr additive="base">
                                        <p:cTn id="14" dur="500" fill="hold"/>
                                        <p:tgtEl>
                                          <p:spTgt spid="30720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07205"/>
                                        </p:tgtEl>
                                        <p:attrNameLst>
                                          <p:attrName>style.visibility</p:attrName>
                                        </p:attrNameLst>
                                      </p:cBhvr>
                                      <p:to>
                                        <p:strVal val="visible"/>
                                      </p:to>
                                    </p:set>
                                    <p:anim calcmode="lin" valueType="num">
                                      <p:cBhvr additive="base">
                                        <p:cTn id="19" dur="500" fill="hold"/>
                                        <p:tgtEl>
                                          <p:spTgt spid="307205"/>
                                        </p:tgtEl>
                                        <p:attrNameLst>
                                          <p:attrName>ppt_x</p:attrName>
                                        </p:attrNameLst>
                                      </p:cBhvr>
                                      <p:tavLst>
                                        <p:tav tm="0">
                                          <p:val>
                                            <p:strVal val="#ppt_x"/>
                                          </p:val>
                                        </p:tav>
                                        <p:tav tm="100000">
                                          <p:val>
                                            <p:strVal val="#ppt_x"/>
                                          </p:val>
                                        </p:tav>
                                      </p:tavLst>
                                    </p:anim>
                                    <p:anim calcmode="lin" valueType="num">
                                      <p:cBhvr additive="base">
                                        <p:cTn id="20" dur="500" fill="hold"/>
                                        <p:tgtEl>
                                          <p:spTgt spid="30720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07206"/>
                                        </p:tgtEl>
                                        <p:attrNameLst>
                                          <p:attrName>style.visibility</p:attrName>
                                        </p:attrNameLst>
                                      </p:cBhvr>
                                      <p:to>
                                        <p:strVal val="visible"/>
                                      </p:to>
                                    </p:set>
                                    <p:anim calcmode="lin" valueType="num">
                                      <p:cBhvr additive="base">
                                        <p:cTn id="25" dur="500" fill="hold"/>
                                        <p:tgtEl>
                                          <p:spTgt spid="307206"/>
                                        </p:tgtEl>
                                        <p:attrNameLst>
                                          <p:attrName>ppt_x</p:attrName>
                                        </p:attrNameLst>
                                      </p:cBhvr>
                                      <p:tavLst>
                                        <p:tav tm="0">
                                          <p:val>
                                            <p:strVal val="#ppt_x"/>
                                          </p:val>
                                        </p:tav>
                                        <p:tav tm="100000">
                                          <p:val>
                                            <p:strVal val="#ppt_x"/>
                                          </p:val>
                                        </p:tav>
                                      </p:tavLst>
                                    </p:anim>
                                    <p:anim calcmode="lin" valueType="num">
                                      <p:cBhvr additive="base">
                                        <p:cTn id="26" dur="500" fill="hold"/>
                                        <p:tgtEl>
                                          <p:spTgt spid="307206"/>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07207"/>
                                        </p:tgtEl>
                                        <p:attrNameLst>
                                          <p:attrName>style.visibility</p:attrName>
                                        </p:attrNameLst>
                                      </p:cBhvr>
                                      <p:to>
                                        <p:strVal val="visible"/>
                                      </p:to>
                                    </p:set>
                                    <p:anim calcmode="lin" valueType="num">
                                      <p:cBhvr additive="base">
                                        <p:cTn id="31" dur="500" fill="hold"/>
                                        <p:tgtEl>
                                          <p:spTgt spid="307207"/>
                                        </p:tgtEl>
                                        <p:attrNameLst>
                                          <p:attrName>ppt_x</p:attrName>
                                        </p:attrNameLst>
                                      </p:cBhvr>
                                      <p:tavLst>
                                        <p:tav tm="0">
                                          <p:val>
                                            <p:strVal val="#ppt_x"/>
                                          </p:val>
                                        </p:tav>
                                        <p:tav tm="100000">
                                          <p:val>
                                            <p:strVal val="#ppt_x"/>
                                          </p:val>
                                        </p:tav>
                                      </p:tavLst>
                                    </p:anim>
                                    <p:anim calcmode="lin" valueType="num">
                                      <p:cBhvr additive="base">
                                        <p:cTn id="32" dur="500" fill="hold"/>
                                        <p:tgtEl>
                                          <p:spTgt spid="3072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2F304-56AA-88F4-704B-02D45B5A9343}"/>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CDE02879-A9A9-931C-721B-06E864BAC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18" name="TextBox 17">
            <a:extLst>
              <a:ext uri="{FF2B5EF4-FFF2-40B4-BE49-F238E27FC236}">
                <a16:creationId xmlns:a16="http://schemas.microsoft.com/office/drawing/2014/main" id="{29A42E94-F5E7-6CDF-1407-E29CFD7190B3}"/>
              </a:ext>
            </a:extLst>
          </p:cNvPr>
          <p:cNvSpPr txBox="1"/>
          <p:nvPr/>
        </p:nvSpPr>
        <p:spPr>
          <a:xfrm>
            <a:off x="4117975" y="2550713"/>
            <a:ext cx="1295400" cy="861817"/>
          </a:xfrm>
          <a:prstGeom prst="rect">
            <a:avLst/>
          </a:prstGeom>
          <a:solidFill>
            <a:srgbClr val="28A7E1"/>
          </a:solidFill>
        </p:spPr>
        <p:txBody>
          <a:bodyPr wrap="square" lIns="121963" tIns="60981" rIns="121963" bIns="60981" rtlCol="0">
            <a:spAutoFit/>
          </a:bodyPr>
          <a:lstStyle/>
          <a:p>
            <a:r>
              <a:rPr lang="en-US" altLang="zh-CN" sz="4800" dirty="0">
                <a:solidFill>
                  <a:schemeClr val="bg1"/>
                </a:solidFill>
              </a:rPr>
              <a:t>4.2</a:t>
            </a:r>
            <a:r>
              <a:rPr lang="zh-CN" altLang="en-US" sz="4800" dirty="0">
                <a:solidFill>
                  <a:schemeClr val="bg1"/>
                </a:solidFill>
              </a:rPr>
              <a:t> </a:t>
            </a:r>
          </a:p>
        </p:txBody>
      </p:sp>
      <p:sp>
        <p:nvSpPr>
          <p:cNvPr id="19" name="TextBox 18">
            <a:extLst>
              <a:ext uri="{FF2B5EF4-FFF2-40B4-BE49-F238E27FC236}">
                <a16:creationId xmlns:a16="http://schemas.microsoft.com/office/drawing/2014/main" id="{779EB65A-9BE1-28FE-CDD1-CC0CD1959DAD}"/>
              </a:ext>
            </a:extLst>
          </p:cNvPr>
          <p:cNvSpPr txBox="1"/>
          <p:nvPr/>
        </p:nvSpPr>
        <p:spPr>
          <a:xfrm>
            <a:off x="5565775" y="2550713"/>
            <a:ext cx="5334000" cy="1600481"/>
          </a:xfrm>
          <a:prstGeom prst="rect">
            <a:avLst/>
          </a:prstGeom>
          <a:noFill/>
        </p:spPr>
        <p:txBody>
          <a:bodyPr wrap="square" lIns="121963" tIns="60981" rIns="121963" bIns="60981" rtlCol="0">
            <a:spAutoFit/>
          </a:bodyPr>
          <a:lstStyle/>
          <a:p>
            <a:r>
              <a:rPr lang="zh-CN" altLang="en-US" sz="4800" dirty="0">
                <a:solidFill>
                  <a:schemeClr val="bg1"/>
                </a:solidFill>
                <a:latin typeface="黑体" panose="02010609060101010101" pitchFamily="49" charset="-122"/>
                <a:ea typeface="黑体" panose="02010609060101010101" pitchFamily="49" charset="-122"/>
              </a:rPr>
              <a:t>马尔可夫过程（一）</a:t>
            </a:r>
          </a:p>
          <a:p>
            <a:endParaRPr lang="zh-CN" altLang="en-US" sz="4800" dirty="0">
              <a:solidFill>
                <a:schemeClr val="bg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447744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B9A5323-C501-6E6E-8564-7C1570A3D25D}"/>
              </a:ext>
            </a:extLst>
          </p:cNvPr>
          <p:cNvSpPr>
            <a:spLocks noGrp="1" noChangeArrowheads="1"/>
          </p:cNvSpPr>
          <p:nvPr>
            <p:ph type="title"/>
          </p:nvPr>
        </p:nvSpPr>
        <p:spPr/>
        <p:txBody>
          <a:bodyPr/>
          <a:lstStyle/>
          <a:p>
            <a:pPr eaLnBrk="1" hangingPunct="1"/>
            <a:r>
              <a:rPr lang="en-US" altLang="zh-CN" dirty="0"/>
              <a:t>4.2 </a:t>
            </a:r>
            <a:r>
              <a:rPr lang="zh-CN" altLang="en-US" dirty="0"/>
              <a:t>  马尔可夫过程</a:t>
            </a:r>
          </a:p>
        </p:txBody>
      </p:sp>
      <p:sp>
        <p:nvSpPr>
          <p:cNvPr id="259075" name="Rectangle 3">
            <a:extLst>
              <a:ext uri="{FF2B5EF4-FFF2-40B4-BE49-F238E27FC236}">
                <a16:creationId xmlns:a16="http://schemas.microsoft.com/office/drawing/2014/main" id="{41C38452-9EB6-32BA-2C45-8F9892958D6E}"/>
              </a:ext>
            </a:extLst>
          </p:cNvPr>
          <p:cNvSpPr>
            <a:spLocks noGrp="1" noChangeArrowheads="1"/>
          </p:cNvSpPr>
          <p:nvPr>
            <p:ph idx="1"/>
          </p:nvPr>
        </p:nvSpPr>
        <p:spPr>
          <a:xfrm>
            <a:off x="384175" y="1067048"/>
            <a:ext cx="11204258" cy="5478143"/>
          </a:xfrm>
        </p:spPr>
        <p:txBody>
          <a:bodyPr>
            <a:normAutofit/>
          </a:bodyPr>
          <a:lstStyle/>
          <a:p>
            <a:pPr marL="342969" indent="-342969">
              <a:buClr>
                <a:srgbClr val="FF0000"/>
              </a:buClr>
              <a:buFont typeface="Wingdings" panose="05000000000000000000" pitchFamily="2" charset="2"/>
              <a:buChar char="v"/>
            </a:pPr>
            <a:r>
              <a:rPr lang="zh-CN" altLang="en-US" dirty="0"/>
              <a:t>当过程在</a:t>
            </a:r>
            <a:r>
              <a:rPr lang="en-US" altLang="zh-CN" dirty="0"/>
              <a:t>t=t</a:t>
            </a:r>
            <a:r>
              <a:rPr lang="en-US" altLang="zh-CN" baseline="-25000" dirty="0"/>
              <a:t>0</a:t>
            </a:r>
            <a:r>
              <a:rPr lang="zh-CN" altLang="en-US" dirty="0"/>
              <a:t>时刻所处的状态已知的情况下</a:t>
            </a:r>
            <a:r>
              <a:rPr lang="zh-CN" altLang="en-US" dirty="0">
                <a:solidFill>
                  <a:srgbClr val="0000FF"/>
                </a:solidFill>
              </a:rPr>
              <a:t>，过程在时刻</a:t>
            </a:r>
            <a:r>
              <a:rPr lang="en-US" altLang="zh-CN" dirty="0">
                <a:solidFill>
                  <a:srgbClr val="0000FF"/>
                </a:solidFill>
              </a:rPr>
              <a:t>t(t&gt;t</a:t>
            </a:r>
            <a:r>
              <a:rPr lang="en-US" altLang="zh-CN" baseline="-25000" dirty="0">
                <a:solidFill>
                  <a:srgbClr val="0000FF"/>
                </a:solidFill>
              </a:rPr>
              <a:t>0</a:t>
            </a:r>
            <a:r>
              <a:rPr lang="en-US" altLang="zh-CN" dirty="0">
                <a:solidFill>
                  <a:srgbClr val="0000FF"/>
                </a:solidFill>
              </a:rPr>
              <a:t>)</a:t>
            </a:r>
            <a:r>
              <a:rPr lang="zh-CN" altLang="en-US" dirty="0">
                <a:solidFill>
                  <a:srgbClr val="0000FF"/>
                </a:solidFill>
              </a:rPr>
              <a:t>所处的状态与过程在</a:t>
            </a:r>
            <a:r>
              <a:rPr lang="en-US" altLang="zh-CN" dirty="0">
                <a:solidFill>
                  <a:srgbClr val="0000FF"/>
                </a:solidFill>
              </a:rPr>
              <a:t>t=t</a:t>
            </a:r>
            <a:r>
              <a:rPr lang="en-US" altLang="zh-CN" baseline="-25000" dirty="0">
                <a:solidFill>
                  <a:srgbClr val="0000FF"/>
                </a:solidFill>
              </a:rPr>
              <a:t>0</a:t>
            </a:r>
            <a:r>
              <a:rPr lang="zh-CN" altLang="en-US" dirty="0">
                <a:solidFill>
                  <a:srgbClr val="0000FF"/>
                </a:solidFill>
              </a:rPr>
              <a:t>时刻之前的状态无关。这种已知“现在”的条件下，“将来”与“过去”无关的性质，就是直观意义下的</a:t>
            </a:r>
            <a:r>
              <a:rPr lang="zh-CN" altLang="en-US" dirty="0">
                <a:solidFill>
                  <a:srgbClr val="CC00CC"/>
                </a:solidFill>
              </a:rPr>
              <a:t>马尔可夫性</a:t>
            </a:r>
            <a:r>
              <a:rPr lang="zh-CN" altLang="en-US" dirty="0">
                <a:solidFill>
                  <a:srgbClr val="0000FF"/>
                </a:solidFill>
              </a:rPr>
              <a:t>或称为</a:t>
            </a:r>
            <a:r>
              <a:rPr lang="zh-CN" altLang="en-US" dirty="0">
                <a:solidFill>
                  <a:srgbClr val="CC00CC"/>
                </a:solidFill>
              </a:rPr>
              <a:t>无后效性</a:t>
            </a:r>
            <a:r>
              <a:rPr lang="zh-CN" altLang="en-US" dirty="0">
                <a:solidFill>
                  <a:srgbClr val="0000FF"/>
                </a:solidFill>
              </a:rPr>
              <a:t>。</a:t>
            </a:r>
            <a:r>
              <a:rPr lang="zh-CN" altLang="en-US" dirty="0"/>
              <a:t>具有无后效性的过程称为</a:t>
            </a:r>
            <a:r>
              <a:rPr lang="zh-CN" altLang="en-US" dirty="0">
                <a:solidFill>
                  <a:srgbClr val="CC00CC"/>
                </a:solidFill>
              </a:rPr>
              <a:t>马尔可夫过程</a:t>
            </a:r>
            <a:r>
              <a:rPr lang="zh-CN" altLang="en-US" dirty="0"/>
              <a:t>。</a:t>
            </a:r>
          </a:p>
          <a:p>
            <a:pPr marL="342969" indent="-342969">
              <a:buClr>
                <a:srgbClr val="FF0000"/>
              </a:buClr>
              <a:buFont typeface="Wingdings" panose="05000000000000000000" pitchFamily="2" charset="2"/>
              <a:buChar char="v"/>
            </a:pPr>
            <a:r>
              <a:rPr lang="zh-CN" altLang="en-US" dirty="0">
                <a:solidFill>
                  <a:srgbClr val="0000FF"/>
                </a:solidFill>
              </a:rPr>
              <a:t>马尔可夫过程是理论和实际应用都十分重要的一类随机过程。在工程系统中的噪声和信号分析、通信网络和输送现象的模拟、统计物理学、生物学、数字计算方法、经济管理和市场预测等领域中都有十分重要的作用和广泛应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9075">
                                            <p:txEl>
                                              <p:pRg st="0" end="0"/>
                                            </p:txEl>
                                          </p:spTgt>
                                        </p:tgtEl>
                                        <p:attrNameLst>
                                          <p:attrName>style.visibility</p:attrName>
                                        </p:attrNameLst>
                                      </p:cBhvr>
                                      <p:to>
                                        <p:strVal val="visible"/>
                                      </p:to>
                                    </p:set>
                                    <p:animEffect transition="in" filter="wipe(up)">
                                      <p:cBhvr>
                                        <p:cTn id="7" dur="1000"/>
                                        <p:tgtEl>
                                          <p:spTgt spid="259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9075">
                                            <p:txEl>
                                              <p:pRg st="1" end="1"/>
                                            </p:txEl>
                                          </p:spTgt>
                                        </p:tgtEl>
                                        <p:attrNameLst>
                                          <p:attrName>style.visibility</p:attrName>
                                        </p:attrNameLst>
                                      </p:cBhvr>
                                      <p:to>
                                        <p:strVal val="visible"/>
                                      </p:to>
                                    </p:set>
                                    <p:animEffect transition="in" filter="wipe(up)">
                                      <p:cBhvr>
                                        <p:cTn id="12" dur="1000"/>
                                        <p:tgtEl>
                                          <p:spTgt spid="2590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967F440-1D22-651E-6CAC-4B9D6A652DBF}"/>
              </a:ext>
            </a:extLst>
          </p:cNvPr>
          <p:cNvSpPr>
            <a:spLocks noGrp="1" noChangeArrowheads="1"/>
          </p:cNvSpPr>
          <p:nvPr>
            <p:ph type="title"/>
          </p:nvPr>
        </p:nvSpPr>
        <p:spPr/>
        <p:txBody>
          <a:bodyPr/>
          <a:lstStyle/>
          <a:p>
            <a:pPr eaLnBrk="1" hangingPunct="1"/>
            <a:r>
              <a:rPr lang="en-US" altLang="zh-CN" dirty="0"/>
              <a:t>1  </a:t>
            </a:r>
            <a:r>
              <a:rPr lang="zh-CN" altLang="en-US" dirty="0"/>
              <a:t>马尔可夫过程的概念</a:t>
            </a:r>
          </a:p>
        </p:txBody>
      </p:sp>
      <p:sp>
        <p:nvSpPr>
          <p:cNvPr id="260099" name="Rectangle 3">
            <a:extLst>
              <a:ext uri="{FF2B5EF4-FFF2-40B4-BE49-F238E27FC236}">
                <a16:creationId xmlns:a16="http://schemas.microsoft.com/office/drawing/2014/main" id="{4093F0E8-423B-0261-339E-2D13BB28EC7A}"/>
              </a:ext>
            </a:extLst>
          </p:cNvPr>
          <p:cNvSpPr>
            <a:spLocks noGrp="1" noChangeArrowheads="1"/>
          </p:cNvSpPr>
          <p:nvPr>
            <p:ph idx="1"/>
          </p:nvPr>
        </p:nvSpPr>
        <p:spPr>
          <a:xfrm>
            <a:off x="201186" y="949550"/>
            <a:ext cx="11795978" cy="803461"/>
          </a:xfrm>
        </p:spPr>
        <p:txBody>
          <a:bodyPr>
            <a:noAutofit/>
          </a:bodyPr>
          <a:lstStyle/>
          <a:p>
            <a:pPr eaLnBrk="1" hangingPunct="1">
              <a:buFont typeface="Wingdings" panose="05000000000000000000" pitchFamily="2" charset="2"/>
              <a:buNone/>
            </a:pPr>
            <a:r>
              <a:rPr lang="zh-CN" altLang="en-US" dirty="0"/>
              <a:t>给定随机过程</a:t>
            </a:r>
            <a:r>
              <a:rPr lang="en-US" altLang="zh-CN" dirty="0"/>
              <a:t>{X(t),</a:t>
            </a:r>
            <a:r>
              <a:rPr lang="en-US" altLang="zh-CN" dirty="0" err="1"/>
              <a:t>t</a:t>
            </a:r>
            <a:r>
              <a:rPr lang="en-US" altLang="zh-CN" dirty="0" err="1">
                <a:sym typeface="Symbol" panose="05050102010706020507" pitchFamily="18" charset="2"/>
              </a:rPr>
              <a:t>T</a:t>
            </a:r>
            <a:r>
              <a:rPr lang="en-US" altLang="zh-CN" dirty="0">
                <a:sym typeface="Symbol" panose="05050102010706020507" pitchFamily="18" charset="2"/>
              </a:rPr>
              <a:t>}</a:t>
            </a:r>
            <a:r>
              <a:rPr lang="zh-CN" altLang="en-US" dirty="0">
                <a:sym typeface="Symbol" panose="05050102010706020507" pitchFamily="18" charset="2"/>
              </a:rPr>
              <a:t>，如果对于参数中任意</a:t>
            </a:r>
            <a:r>
              <a:rPr lang="en-US" altLang="zh-CN" dirty="0">
                <a:sym typeface="Symbol" panose="05050102010706020507" pitchFamily="18" charset="2"/>
              </a:rPr>
              <a:t>n</a:t>
            </a:r>
            <a:r>
              <a:rPr lang="zh-CN" altLang="en-US" dirty="0">
                <a:sym typeface="Symbol" panose="05050102010706020507" pitchFamily="18" charset="2"/>
              </a:rPr>
              <a:t>个时刻</a:t>
            </a:r>
            <a:r>
              <a:rPr lang="en-US" altLang="zh-CN" dirty="0" err="1">
                <a:sym typeface="Symbol" panose="05050102010706020507" pitchFamily="18" charset="2"/>
              </a:rPr>
              <a:t>t</a:t>
            </a:r>
            <a:r>
              <a:rPr lang="en-US" altLang="zh-CN" baseline="-25000" dirty="0" err="1">
                <a:sym typeface="Symbol" panose="05050102010706020507" pitchFamily="18" charset="2"/>
              </a:rPr>
              <a:t>i</a:t>
            </a:r>
            <a:r>
              <a:rPr lang="en-US" altLang="zh-CN" dirty="0" err="1">
                <a:sym typeface="Symbol" panose="05050102010706020507" pitchFamily="18" charset="2"/>
              </a:rPr>
              <a:t>,i</a:t>
            </a:r>
            <a:r>
              <a:rPr lang="en-US" altLang="zh-CN" dirty="0">
                <a:sym typeface="Symbol" panose="05050102010706020507" pitchFamily="18" charset="2"/>
              </a:rPr>
              <a:t>=1,2,…,n</a:t>
            </a:r>
            <a:r>
              <a:rPr lang="zh-CN" altLang="en-US" dirty="0">
                <a:sym typeface="Symbol" panose="05050102010706020507" pitchFamily="18" charset="2"/>
              </a:rPr>
              <a:t>，</a:t>
            </a:r>
            <a:r>
              <a:rPr lang="en-US" altLang="zh-CN" dirty="0">
                <a:sym typeface="Symbol" panose="05050102010706020507" pitchFamily="18" charset="2"/>
              </a:rPr>
              <a:t>t</a:t>
            </a:r>
            <a:r>
              <a:rPr lang="en-US" altLang="zh-CN" baseline="-25000" dirty="0">
                <a:sym typeface="Symbol" panose="05050102010706020507" pitchFamily="18" charset="2"/>
              </a:rPr>
              <a:t>1</a:t>
            </a:r>
            <a:r>
              <a:rPr lang="en-US" altLang="zh-CN" dirty="0">
                <a:sym typeface="Symbol" panose="05050102010706020507" pitchFamily="18" charset="2"/>
              </a:rPr>
              <a:t>&lt;t</a:t>
            </a:r>
            <a:r>
              <a:rPr lang="en-US" altLang="zh-CN" baseline="-25000" dirty="0">
                <a:sym typeface="Symbol" panose="05050102010706020507" pitchFamily="18" charset="2"/>
              </a:rPr>
              <a:t>2</a:t>
            </a:r>
            <a:r>
              <a:rPr lang="en-US" altLang="zh-CN" dirty="0">
                <a:sym typeface="Symbol" panose="05050102010706020507" pitchFamily="18" charset="2"/>
              </a:rPr>
              <a:t>&lt;…&lt;</a:t>
            </a:r>
            <a:r>
              <a:rPr lang="en-US" altLang="zh-CN" dirty="0" err="1">
                <a:sym typeface="Symbol" panose="05050102010706020507" pitchFamily="18" charset="2"/>
              </a:rPr>
              <a:t>t</a:t>
            </a:r>
            <a:r>
              <a:rPr lang="en-US" altLang="zh-CN" baseline="-25000" dirty="0" err="1">
                <a:sym typeface="Symbol" panose="05050102010706020507" pitchFamily="18" charset="2"/>
              </a:rPr>
              <a:t>n</a:t>
            </a:r>
            <a:r>
              <a:rPr lang="zh-CN" altLang="en-US" dirty="0">
                <a:sym typeface="Symbol" panose="05050102010706020507" pitchFamily="18" charset="2"/>
              </a:rPr>
              <a:t>有</a:t>
            </a:r>
          </a:p>
        </p:txBody>
      </p:sp>
      <p:sp>
        <p:nvSpPr>
          <p:cNvPr id="260100" name="Rectangle 4">
            <a:extLst>
              <a:ext uri="{FF2B5EF4-FFF2-40B4-BE49-F238E27FC236}">
                <a16:creationId xmlns:a16="http://schemas.microsoft.com/office/drawing/2014/main" id="{18793173-1571-4500-8C76-387DB3BFF23C}"/>
              </a:ext>
            </a:extLst>
          </p:cNvPr>
          <p:cNvSpPr>
            <a:spLocks noChangeArrowheads="1"/>
          </p:cNvSpPr>
          <p:nvPr/>
        </p:nvSpPr>
        <p:spPr bwMode="auto">
          <a:xfrm>
            <a:off x="371080" y="1728099"/>
            <a:ext cx="11626083" cy="1596719"/>
          </a:xfrm>
          <a:prstGeom prst="rect">
            <a:avLst/>
          </a:prstGeom>
          <a:noFill/>
          <a:ln w="9525">
            <a:noFill/>
            <a:miter lim="800000"/>
            <a:headEnd/>
            <a:tailEnd/>
          </a:ln>
        </p:spPr>
        <p:txBody>
          <a:bodyPr wrap="square" lIns="0" tIns="0" rIns="0" bIns="0">
            <a:spAutoFit/>
          </a:bodyPr>
          <a:lstStyle/>
          <a:p>
            <a:pPr algn="ctr" eaLnBrk="1" hangingPunct="1">
              <a:lnSpc>
                <a:spcPct val="150000"/>
              </a:lnSpc>
              <a:buClr>
                <a:srgbClr val="00FF00"/>
              </a:buClr>
              <a:buFont typeface="Wingdings" pitchFamily="2" charset="2"/>
              <a:buNone/>
              <a:defRPr/>
            </a:pPr>
            <a:r>
              <a:rPr lang="en-US" altLang="zh-CN" b="1" dirty="0">
                <a:solidFill>
                  <a:srgbClr val="000000"/>
                </a:solidFill>
                <a:latin typeface="+mn-ea"/>
                <a:sym typeface="Symbol" pitchFamily="18" charset="2"/>
              </a:rPr>
              <a:t>P{X(</a:t>
            </a:r>
            <a:r>
              <a:rPr lang="en-US" altLang="zh-CN" b="1" dirty="0" err="1">
                <a:solidFill>
                  <a:srgbClr val="000000"/>
                </a:solidFill>
                <a:latin typeface="+mn-ea"/>
                <a:sym typeface="Symbol" pitchFamily="18" charset="2"/>
              </a:rPr>
              <a:t>t</a:t>
            </a:r>
            <a:r>
              <a:rPr lang="en-US" altLang="zh-CN" b="1" baseline="-25000" dirty="0" err="1">
                <a:solidFill>
                  <a:srgbClr val="000000"/>
                </a:solidFill>
                <a:latin typeface="+mn-ea"/>
                <a:sym typeface="Symbol" pitchFamily="18" charset="2"/>
              </a:rPr>
              <a:t>n</a:t>
            </a:r>
            <a:r>
              <a:rPr lang="en-US" altLang="zh-CN" b="1" dirty="0">
                <a:solidFill>
                  <a:srgbClr val="000000"/>
                </a:solidFill>
                <a:latin typeface="+mn-ea"/>
                <a:sym typeface="Symbol" pitchFamily="18" charset="2"/>
              </a:rPr>
              <a:t>)&lt;</a:t>
            </a:r>
            <a:r>
              <a:rPr lang="en-US" altLang="zh-CN" b="1" dirty="0" err="1">
                <a:solidFill>
                  <a:srgbClr val="000000"/>
                </a:solidFill>
                <a:latin typeface="+mn-ea"/>
                <a:sym typeface="Symbol" pitchFamily="18" charset="2"/>
              </a:rPr>
              <a:t>x</a:t>
            </a:r>
            <a:r>
              <a:rPr lang="en-US" altLang="zh-CN" b="1" baseline="-25000" dirty="0" err="1">
                <a:solidFill>
                  <a:srgbClr val="000000"/>
                </a:solidFill>
                <a:latin typeface="+mn-ea"/>
                <a:sym typeface="Symbol" pitchFamily="18" charset="2"/>
              </a:rPr>
              <a:t>n</a:t>
            </a:r>
            <a:r>
              <a:rPr lang="en-US" altLang="zh-CN" b="1" dirty="0" err="1">
                <a:solidFill>
                  <a:srgbClr val="000000"/>
                </a:solidFill>
                <a:latin typeface="+mn-ea"/>
                <a:sym typeface="Symbol" pitchFamily="18" charset="2"/>
              </a:rPr>
              <a:t>|X</a:t>
            </a:r>
            <a:r>
              <a:rPr lang="en-US" altLang="zh-CN" b="1" dirty="0">
                <a:solidFill>
                  <a:srgbClr val="000000"/>
                </a:solidFill>
                <a:latin typeface="+mn-ea"/>
                <a:sym typeface="Symbol" pitchFamily="18" charset="2"/>
              </a:rPr>
              <a:t>(t</a:t>
            </a:r>
            <a:r>
              <a:rPr lang="en-US" altLang="zh-CN" b="1" baseline="-25000" dirty="0">
                <a:solidFill>
                  <a:srgbClr val="000000"/>
                </a:solidFill>
                <a:latin typeface="+mn-ea"/>
                <a:sym typeface="Symbol" pitchFamily="18" charset="2"/>
              </a:rPr>
              <a:t>1</a:t>
            </a:r>
            <a:r>
              <a:rPr lang="en-US" altLang="zh-CN" b="1" dirty="0">
                <a:solidFill>
                  <a:srgbClr val="000000"/>
                </a:solidFill>
                <a:latin typeface="+mn-ea"/>
                <a:sym typeface="Symbol" pitchFamily="18" charset="2"/>
              </a:rPr>
              <a:t>)=x</a:t>
            </a:r>
            <a:r>
              <a:rPr lang="en-US" altLang="zh-CN" b="1" baseline="-25000" dirty="0">
                <a:solidFill>
                  <a:srgbClr val="000000"/>
                </a:solidFill>
                <a:latin typeface="+mn-ea"/>
                <a:sym typeface="Symbol" pitchFamily="18" charset="2"/>
              </a:rPr>
              <a:t>1</a:t>
            </a:r>
            <a:r>
              <a:rPr lang="en-US" altLang="zh-CN" b="1" dirty="0">
                <a:solidFill>
                  <a:srgbClr val="000000"/>
                </a:solidFill>
                <a:latin typeface="+mn-ea"/>
                <a:sym typeface="Symbol" pitchFamily="18" charset="2"/>
              </a:rPr>
              <a:t>,X(t</a:t>
            </a:r>
            <a:r>
              <a:rPr lang="en-US" altLang="zh-CN" b="1" baseline="-25000" dirty="0">
                <a:solidFill>
                  <a:srgbClr val="000000"/>
                </a:solidFill>
                <a:latin typeface="+mn-ea"/>
                <a:sym typeface="Symbol" pitchFamily="18" charset="2"/>
              </a:rPr>
              <a:t>2</a:t>
            </a:r>
            <a:r>
              <a:rPr lang="en-US" altLang="zh-CN" b="1" dirty="0">
                <a:solidFill>
                  <a:srgbClr val="000000"/>
                </a:solidFill>
                <a:latin typeface="+mn-ea"/>
                <a:sym typeface="Symbol" pitchFamily="18" charset="2"/>
              </a:rPr>
              <a:t>)=x</a:t>
            </a:r>
            <a:r>
              <a:rPr lang="en-US" altLang="zh-CN" b="1" baseline="-25000" dirty="0">
                <a:solidFill>
                  <a:srgbClr val="000000"/>
                </a:solidFill>
                <a:latin typeface="+mn-ea"/>
                <a:sym typeface="Symbol" pitchFamily="18" charset="2"/>
              </a:rPr>
              <a:t>2</a:t>
            </a:r>
            <a:r>
              <a:rPr lang="en-US" altLang="zh-CN" b="1" dirty="0">
                <a:solidFill>
                  <a:srgbClr val="000000"/>
                </a:solidFill>
                <a:latin typeface="+mn-ea"/>
                <a:sym typeface="Symbol" pitchFamily="18" charset="2"/>
              </a:rPr>
              <a:t>,…,X(t</a:t>
            </a:r>
            <a:r>
              <a:rPr lang="en-US" altLang="zh-CN" b="1" baseline="-25000" dirty="0">
                <a:solidFill>
                  <a:srgbClr val="000000"/>
                </a:solidFill>
                <a:latin typeface="+mn-ea"/>
                <a:sym typeface="Symbol" pitchFamily="18" charset="2"/>
              </a:rPr>
              <a:t>n-1</a:t>
            </a:r>
            <a:r>
              <a:rPr lang="en-US" altLang="zh-CN" b="1" dirty="0">
                <a:solidFill>
                  <a:srgbClr val="000000"/>
                </a:solidFill>
                <a:latin typeface="+mn-ea"/>
                <a:sym typeface="Symbol" pitchFamily="18" charset="2"/>
              </a:rPr>
              <a:t>)=x</a:t>
            </a:r>
            <a:r>
              <a:rPr lang="en-US" altLang="zh-CN" b="1" baseline="-25000" dirty="0">
                <a:solidFill>
                  <a:srgbClr val="000000"/>
                </a:solidFill>
                <a:latin typeface="+mn-ea"/>
                <a:sym typeface="Symbol" pitchFamily="18" charset="2"/>
              </a:rPr>
              <a:t>n-1</a:t>
            </a:r>
            <a:r>
              <a:rPr lang="en-US" altLang="zh-CN" b="1" dirty="0">
                <a:solidFill>
                  <a:srgbClr val="000000"/>
                </a:solidFill>
                <a:latin typeface="+mn-ea"/>
                <a:sym typeface="Symbol" pitchFamily="18" charset="2"/>
              </a:rPr>
              <a:t>}</a:t>
            </a:r>
            <a:r>
              <a:rPr lang="zh-CN" altLang="en-US" b="1" dirty="0">
                <a:solidFill>
                  <a:srgbClr val="000000"/>
                </a:solidFill>
                <a:latin typeface="+mn-ea"/>
                <a:sym typeface="Symbol" pitchFamily="18" charset="2"/>
              </a:rPr>
              <a:t>＝</a:t>
            </a:r>
            <a:r>
              <a:rPr lang="en-US" altLang="zh-CN" b="1" dirty="0">
                <a:solidFill>
                  <a:srgbClr val="000000"/>
                </a:solidFill>
                <a:latin typeface="+mn-ea"/>
                <a:sym typeface="Symbol" pitchFamily="18" charset="2"/>
              </a:rPr>
              <a:t>P{X(</a:t>
            </a:r>
            <a:r>
              <a:rPr lang="en-US" altLang="zh-CN" b="1" dirty="0" err="1">
                <a:solidFill>
                  <a:srgbClr val="000000"/>
                </a:solidFill>
                <a:latin typeface="+mn-ea"/>
                <a:sym typeface="Symbol" pitchFamily="18" charset="2"/>
              </a:rPr>
              <a:t>t</a:t>
            </a:r>
            <a:r>
              <a:rPr lang="en-US" altLang="zh-CN" b="1" baseline="-25000" dirty="0" err="1">
                <a:solidFill>
                  <a:srgbClr val="000000"/>
                </a:solidFill>
                <a:latin typeface="+mn-ea"/>
                <a:sym typeface="Symbol" pitchFamily="18" charset="2"/>
              </a:rPr>
              <a:t>n</a:t>
            </a:r>
            <a:r>
              <a:rPr lang="en-US" altLang="zh-CN" b="1" dirty="0">
                <a:solidFill>
                  <a:srgbClr val="000000"/>
                </a:solidFill>
                <a:latin typeface="+mn-ea"/>
                <a:sym typeface="Symbol" pitchFamily="18" charset="2"/>
              </a:rPr>
              <a:t>)&lt;</a:t>
            </a:r>
            <a:r>
              <a:rPr lang="en-US" altLang="zh-CN" b="1" dirty="0" err="1">
                <a:solidFill>
                  <a:srgbClr val="000000"/>
                </a:solidFill>
                <a:latin typeface="+mn-ea"/>
                <a:sym typeface="Symbol" pitchFamily="18" charset="2"/>
              </a:rPr>
              <a:t>x</a:t>
            </a:r>
            <a:r>
              <a:rPr lang="en-US" altLang="zh-CN" b="1" baseline="-25000" dirty="0" err="1">
                <a:solidFill>
                  <a:srgbClr val="000000"/>
                </a:solidFill>
                <a:latin typeface="+mn-ea"/>
                <a:sym typeface="Symbol" pitchFamily="18" charset="2"/>
              </a:rPr>
              <a:t>n</a:t>
            </a:r>
            <a:r>
              <a:rPr lang="en-US" altLang="zh-CN" b="1" dirty="0" err="1">
                <a:solidFill>
                  <a:srgbClr val="000000"/>
                </a:solidFill>
                <a:latin typeface="+mn-ea"/>
                <a:sym typeface="Symbol" pitchFamily="18" charset="2"/>
              </a:rPr>
              <a:t>|X</a:t>
            </a:r>
            <a:r>
              <a:rPr lang="en-US" altLang="zh-CN" b="1" dirty="0">
                <a:solidFill>
                  <a:srgbClr val="000000"/>
                </a:solidFill>
                <a:latin typeface="+mn-ea"/>
                <a:sym typeface="Symbol" pitchFamily="18" charset="2"/>
              </a:rPr>
              <a:t>(t</a:t>
            </a:r>
            <a:r>
              <a:rPr lang="en-US" altLang="zh-CN" b="1" baseline="-25000" dirty="0">
                <a:solidFill>
                  <a:srgbClr val="000000"/>
                </a:solidFill>
                <a:latin typeface="+mn-ea"/>
                <a:sym typeface="Symbol" pitchFamily="18" charset="2"/>
              </a:rPr>
              <a:t>n-1</a:t>
            </a:r>
            <a:r>
              <a:rPr lang="en-US" altLang="zh-CN" b="1" dirty="0">
                <a:solidFill>
                  <a:srgbClr val="000000"/>
                </a:solidFill>
                <a:latin typeface="+mn-ea"/>
                <a:sym typeface="Symbol" pitchFamily="18" charset="2"/>
              </a:rPr>
              <a:t>)=x</a:t>
            </a:r>
            <a:r>
              <a:rPr lang="en-US" altLang="zh-CN" b="1" baseline="-25000" dirty="0">
                <a:solidFill>
                  <a:srgbClr val="000000"/>
                </a:solidFill>
                <a:latin typeface="+mn-ea"/>
                <a:sym typeface="Symbol" pitchFamily="18" charset="2"/>
              </a:rPr>
              <a:t>n-1</a:t>
            </a:r>
            <a:r>
              <a:rPr lang="en-US" altLang="zh-CN" b="1" dirty="0">
                <a:solidFill>
                  <a:srgbClr val="000000"/>
                </a:solidFill>
                <a:latin typeface="+mn-ea"/>
                <a:sym typeface="Symbol" pitchFamily="18" charset="2"/>
              </a:rPr>
              <a:t>}	</a:t>
            </a:r>
            <a:r>
              <a:rPr lang="en-US" altLang="zh-CN" b="1" dirty="0">
                <a:solidFill>
                  <a:srgbClr val="0000FF"/>
                </a:solidFill>
                <a:latin typeface="+mn-ea"/>
                <a:sym typeface="Symbol" pitchFamily="18" charset="2"/>
              </a:rPr>
              <a:t>(4.1)</a:t>
            </a:r>
          </a:p>
          <a:p>
            <a:pPr eaLnBrk="1" hangingPunct="1">
              <a:lnSpc>
                <a:spcPct val="150000"/>
              </a:lnSpc>
              <a:buClr>
                <a:srgbClr val="00FF00"/>
              </a:buClr>
              <a:buFont typeface="Wingdings" pitchFamily="2" charset="2"/>
              <a:buNone/>
              <a:defRPr/>
            </a:pPr>
            <a:r>
              <a:rPr lang="zh-CN" altLang="en-US" b="1" dirty="0">
                <a:solidFill>
                  <a:srgbClr val="000000"/>
                </a:solidFill>
                <a:latin typeface="+mn-ea"/>
                <a:sym typeface="Symbol" pitchFamily="18" charset="2"/>
              </a:rPr>
              <a:t>则称</a:t>
            </a:r>
            <a:r>
              <a:rPr lang="zh-CN" altLang="en-US" b="1" dirty="0">
                <a:solidFill>
                  <a:srgbClr val="000000"/>
                </a:solidFill>
                <a:latin typeface="+mn-ea"/>
              </a:rPr>
              <a:t>随机过程</a:t>
            </a:r>
            <a:r>
              <a:rPr lang="en-US" altLang="zh-CN" b="1" dirty="0">
                <a:solidFill>
                  <a:srgbClr val="000000"/>
                </a:solidFill>
                <a:latin typeface="+mn-ea"/>
              </a:rPr>
              <a:t>{X(t),</a:t>
            </a:r>
            <a:r>
              <a:rPr lang="en-US" altLang="zh-CN" b="1" dirty="0" err="1">
                <a:solidFill>
                  <a:srgbClr val="000000"/>
                </a:solidFill>
                <a:latin typeface="+mn-ea"/>
              </a:rPr>
              <a:t>t</a:t>
            </a:r>
            <a:r>
              <a:rPr lang="en-US" altLang="zh-CN" b="1" dirty="0" err="1">
                <a:solidFill>
                  <a:srgbClr val="000000"/>
                </a:solidFill>
                <a:latin typeface="+mn-ea"/>
                <a:sym typeface="Symbol" pitchFamily="18" charset="2"/>
              </a:rPr>
              <a:t>T</a:t>
            </a:r>
            <a:r>
              <a:rPr lang="en-US" altLang="zh-CN" b="1" dirty="0">
                <a:solidFill>
                  <a:srgbClr val="000000"/>
                </a:solidFill>
                <a:latin typeface="+mn-ea"/>
                <a:sym typeface="Symbol" pitchFamily="18" charset="2"/>
              </a:rPr>
              <a:t>}</a:t>
            </a:r>
            <a:r>
              <a:rPr lang="zh-CN" altLang="en-US" b="1" dirty="0">
                <a:solidFill>
                  <a:srgbClr val="000000"/>
                </a:solidFill>
                <a:latin typeface="+mn-ea"/>
                <a:sym typeface="Symbol" pitchFamily="18" charset="2"/>
              </a:rPr>
              <a:t>为</a:t>
            </a:r>
            <a:r>
              <a:rPr lang="zh-CN" altLang="en-US" b="1" dirty="0">
                <a:solidFill>
                  <a:srgbClr val="CC00CC"/>
                </a:solidFill>
                <a:latin typeface="+mn-ea"/>
                <a:sym typeface="Symbol" pitchFamily="18" charset="2"/>
              </a:rPr>
              <a:t>马尔可夫过程</a:t>
            </a:r>
            <a:r>
              <a:rPr lang="zh-CN" altLang="en-US" b="1" dirty="0">
                <a:solidFill>
                  <a:srgbClr val="000000"/>
                </a:solidFill>
                <a:latin typeface="+mn-ea"/>
                <a:sym typeface="Symbol" pitchFamily="18" charset="2"/>
              </a:rPr>
              <a:t>，简称</a:t>
            </a:r>
            <a:r>
              <a:rPr lang="zh-CN" altLang="en-US" b="1" dirty="0">
                <a:solidFill>
                  <a:srgbClr val="CC00CC"/>
                </a:solidFill>
                <a:latin typeface="+mn-ea"/>
                <a:sym typeface="Symbol" pitchFamily="18" charset="2"/>
              </a:rPr>
              <a:t>马氏过程</a:t>
            </a:r>
            <a:r>
              <a:rPr lang="zh-CN" altLang="en-US" b="1" dirty="0">
                <a:solidFill>
                  <a:srgbClr val="000000"/>
                </a:solidFill>
                <a:latin typeface="+mn-ea"/>
                <a:sym typeface="Symbol" pitchFamily="18" charset="2"/>
              </a:rPr>
              <a:t>。</a:t>
            </a:r>
          </a:p>
          <a:p>
            <a:pPr eaLnBrk="1" hangingPunct="1">
              <a:lnSpc>
                <a:spcPct val="150000"/>
              </a:lnSpc>
              <a:buClr>
                <a:srgbClr val="00FF00"/>
              </a:buClr>
              <a:buFont typeface="Wingdings" pitchFamily="2" charset="2"/>
              <a:buNone/>
              <a:defRPr/>
            </a:pPr>
            <a:r>
              <a:rPr lang="zh-CN" altLang="en-US" b="1" dirty="0">
                <a:solidFill>
                  <a:srgbClr val="000000"/>
                </a:solidFill>
                <a:latin typeface="+mn-ea"/>
                <a:sym typeface="Symbol" pitchFamily="18" charset="2"/>
              </a:rPr>
              <a:t>具有</a:t>
            </a:r>
            <a:r>
              <a:rPr lang="en-US" altLang="zh-CN" b="1" dirty="0">
                <a:solidFill>
                  <a:srgbClr val="000000"/>
                </a:solidFill>
                <a:latin typeface="+mn-ea"/>
                <a:sym typeface="Symbol" pitchFamily="18" charset="2"/>
              </a:rPr>
              <a:t>(4.1)</a:t>
            </a:r>
            <a:r>
              <a:rPr lang="zh-CN" altLang="en-US" b="1" dirty="0">
                <a:solidFill>
                  <a:srgbClr val="000000"/>
                </a:solidFill>
                <a:latin typeface="+mn-ea"/>
                <a:sym typeface="Symbol" pitchFamily="18" charset="2"/>
              </a:rPr>
              <a:t>式性质称为具有</a:t>
            </a:r>
            <a:r>
              <a:rPr lang="zh-CN" altLang="en-US" b="1" dirty="0">
                <a:solidFill>
                  <a:srgbClr val="CC00CC"/>
                </a:solidFill>
                <a:latin typeface="+mn-ea"/>
                <a:sym typeface="Symbol" pitchFamily="18" charset="2"/>
              </a:rPr>
              <a:t>马尔可夫性</a:t>
            </a:r>
            <a:r>
              <a:rPr lang="zh-CN" altLang="en-US" b="1" dirty="0">
                <a:solidFill>
                  <a:srgbClr val="000000"/>
                </a:solidFill>
                <a:latin typeface="+mn-ea"/>
                <a:sym typeface="Symbol" pitchFamily="18" charset="2"/>
              </a:rPr>
              <a:t>、</a:t>
            </a:r>
            <a:r>
              <a:rPr lang="zh-CN" altLang="en-US" b="1" dirty="0">
                <a:solidFill>
                  <a:srgbClr val="CC00CC"/>
                </a:solidFill>
                <a:latin typeface="+mn-ea"/>
                <a:sym typeface="Symbol" pitchFamily="18" charset="2"/>
              </a:rPr>
              <a:t>无后效性</a:t>
            </a:r>
            <a:r>
              <a:rPr lang="zh-CN" altLang="en-US" b="1" dirty="0">
                <a:solidFill>
                  <a:srgbClr val="000000"/>
                </a:solidFill>
                <a:latin typeface="+mn-ea"/>
                <a:sym typeface="Symbol" pitchFamily="18" charset="2"/>
              </a:rPr>
              <a:t>或</a:t>
            </a:r>
            <a:r>
              <a:rPr lang="zh-CN" altLang="en-US" b="1" dirty="0">
                <a:solidFill>
                  <a:srgbClr val="CC00CC"/>
                </a:solidFill>
                <a:latin typeface="+mn-ea"/>
                <a:sym typeface="Symbol" pitchFamily="18" charset="2"/>
              </a:rPr>
              <a:t>无记忆性</a:t>
            </a:r>
            <a:r>
              <a:rPr lang="zh-CN" altLang="en-US" b="1" dirty="0">
                <a:solidFill>
                  <a:srgbClr val="000000"/>
                </a:solidFill>
                <a:latin typeface="+mn-ea"/>
                <a:sym typeface="Symbol" pitchFamily="18" charset="2"/>
              </a:rPr>
              <a:t>。</a:t>
            </a:r>
          </a:p>
        </p:txBody>
      </p:sp>
      <p:sp>
        <p:nvSpPr>
          <p:cNvPr id="260101" name="Rectangle 5">
            <a:extLst>
              <a:ext uri="{FF2B5EF4-FFF2-40B4-BE49-F238E27FC236}">
                <a16:creationId xmlns:a16="http://schemas.microsoft.com/office/drawing/2014/main" id="{7B609E5A-EB37-800F-6BDB-8D0160221D7A}"/>
              </a:ext>
            </a:extLst>
          </p:cNvPr>
          <p:cNvSpPr>
            <a:spLocks noChangeArrowheads="1"/>
          </p:cNvSpPr>
          <p:nvPr/>
        </p:nvSpPr>
        <p:spPr bwMode="auto">
          <a:xfrm>
            <a:off x="468715" y="3405038"/>
            <a:ext cx="11326842" cy="2145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
                <a:srgbClr val="00FF00"/>
              </a:buClr>
              <a:buFont typeface="Wingdings" panose="05000000000000000000" pitchFamily="2" charset="2"/>
              <a:buNone/>
            </a:pPr>
            <a:r>
              <a:rPr lang="en-US" altLang="zh-CN" sz="2400" dirty="0">
                <a:solidFill>
                  <a:srgbClr val="000000"/>
                </a:solidFill>
                <a:latin typeface="+mn-ea"/>
                <a:ea typeface="+mn-ea"/>
                <a:sym typeface="Symbol" panose="05050102010706020507" pitchFamily="18" charset="2"/>
              </a:rPr>
              <a:t>    </a:t>
            </a:r>
            <a:r>
              <a:rPr lang="zh-CN" altLang="en-US" sz="2400" dirty="0">
                <a:solidFill>
                  <a:srgbClr val="000000"/>
                </a:solidFill>
                <a:latin typeface="+mn-ea"/>
                <a:ea typeface="+mn-ea"/>
                <a:sym typeface="Symbol" panose="05050102010706020507" pitchFamily="18" charset="2"/>
              </a:rPr>
              <a:t>由条件分布函数的定义，</a:t>
            </a:r>
            <a:r>
              <a:rPr lang="en-US" altLang="zh-CN" sz="2400" dirty="0">
                <a:solidFill>
                  <a:srgbClr val="000000"/>
                </a:solidFill>
                <a:latin typeface="+mn-ea"/>
                <a:ea typeface="+mn-ea"/>
                <a:sym typeface="Symbol" panose="05050102010706020507" pitchFamily="18" charset="2"/>
              </a:rPr>
              <a:t>(4.1)</a:t>
            </a:r>
            <a:r>
              <a:rPr lang="zh-CN" altLang="en-US" sz="2400" dirty="0">
                <a:solidFill>
                  <a:srgbClr val="000000"/>
                </a:solidFill>
                <a:latin typeface="+mn-ea"/>
                <a:ea typeface="+mn-ea"/>
                <a:sym typeface="Symbol" panose="05050102010706020507" pitchFamily="18" charset="2"/>
              </a:rPr>
              <a:t>等价于</a:t>
            </a:r>
          </a:p>
          <a:p>
            <a:pPr algn="ctr" eaLnBrk="1" hangingPunct="1">
              <a:lnSpc>
                <a:spcPct val="150000"/>
              </a:lnSpc>
              <a:buClr>
                <a:srgbClr val="00FF00"/>
              </a:buClr>
              <a:buFont typeface="Wingdings" panose="05000000000000000000" pitchFamily="2" charset="2"/>
              <a:buNone/>
            </a:pPr>
            <a:r>
              <a:rPr lang="en-US" altLang="zh-CN" sz="2400" dirty="0">
                <a:solidFill>
                  <a:srgbClr val="000000"/>
                </a:solidFill>
                <a:latin typeface="+mn-ea"/>
                <a:ea typeface="+mn-ea"/>
                <a:sym typeface="Symbol" panose="05050102010706020507" pitchFamily="18" charset="2"/>
              </a:rPr>
              <a:t>F(x</a:t>
            </a:r>
            <a:r>
              <a:rPr lang="en-US" altLang="zh-CN" sz="2400" baseline="-25000" dirty="0">
                <a:solidFill>
                  <a:srgbClr val="000000"/>
                </a:solidFill>
                <a:latin typeface="+mn-ea"/>
                <a:ea typeface="+mn-ea"/>
                <a:sym typeface="Symbol" panose="05050102010706020507" pitchFamily="18" charset="2"/>
              </a:rPr>
              <a:t>n</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n</a:t>
            </a:r>
            <a:r>
              <a:rPr lang="en-US" altLang="zh-CN" sz="2400" dirty="0">
                <a:solidFill>
                  <a:srgbClr val="000000"/>
                </a:solidFill>
                <a:latin typeface="+mn-ea"/>
                <a:ea typeface="+mn-ea"/>
                <a:sym typeface="Symbol" panose="05050102010706020507" pitchFamily="18" charset="2"/>
              </a:rPr>
              <a:t>|x</a:t>
            </a:r>
            <a:r>
              <a:rPr lang="en-US" altLang="zh-CN" sz="2400" baseline="-25000" dirty="0">
                <a:solidFill>
                  <a:srgbClr val="000000"/>
                </a:solidFill>
                <a:latin typeface="+mn-ea"/>
                <a:ea typeface="+mn-ea"/>
                <a:sym typeface="Symbol" panose="05050102010706020507" pitchFamily="18" charset="2"/>
              </a:rPr>
              <a:t>1</a:t>
            </a:r>
            <a:r>
              <a:rPr lang="en-US" altLang="zh-CN" sz="2400" dirty="0">
                <a:solidFill>
                  <a:srgbClr val="000000"/>
                </a:solidFill>
                <a:latin typeface="+mn-ea"/>
                <a:ea typeface="+mn-ea"/>
                <a:sym typeface="Symbol" panose="05050102010706020507" pitchFamily="18" charset="2"/>
              </a:rPr>
              <a:t>,x</a:t>
            </a:r>
            <a:r>
              <a:rPr lang="en-US" altLang="zh-CN" sz="2400" baseline="-25000" dirty="0">
                <a:solidFill>
                  <a:srgbClr val="000000"/>
                </a:solidFill>
                <a:latin typeface="+mn-ea"/>
                <a:ea typeface="+mn-ea"/>
                <a:sym typeface="Symbol" panose="05050102010706020507" pitchFamily="18" charset="2"/>
              </a:rPr>
              <a:t>2</a:t>
            </a:r>
            <a:r>
              <a:rPr lang="en-US" altLang="zh-CN" sz="2400" dirty="0">
                <a:solidFill>
                  <a:srgbClr val="000000"/>
                </a:solidFill>
                <a:latin typeface="+mn-ea"/>
                <a:ea typeface="+mn-ea"/>
                <a:sym typeface="Symbol" panose="05050102010706020507" pitchFamily="18" charset="2"/>
              </a:rPr>
              <a:t>,…,x</a:t>
            </a:r>
            <a:r>
              <a:rPr lang="en-US" altLang="zh-CN" sz="2400" baseline="-25000" dirty="0">
                <a:solidFill>
                  <a:srgbClr val="000000"/>
                </a:solidFill>
                <a:latin typeface="+mn-ea"/>
                <a:ea typeface="+mn-ea"/>
                <a:sym typeface="Symbol" panose="05050102010706020507" pitchFamily="18" charset="2"/>
              </a:rPr>
              <a:t>n-1</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1</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2</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n-1</a:t>
            </a:r>
            <a:r>
              <a:rPr lang="en-US" altLang="zh-CN" sz="2400" dirty="0">
                <a:solidFill>
                  <a:srgbClr val="000000"/>
                </a:solidFill>
                <a:latin typeface="+mn-ea"/>
                <a:ea typeface="+mn-ea"/>
                <a:sym typeface="Symbol" panose="05050102010706020507" pitchFamily="18" charset="2"/>
              </a:rPr>
              <a:t>)</a:t>
            </a:r>
            <a:r>
              <a:rPr lang="zh-CN" altLang="en-US" sz="2400" dirty="0">
                <a:solidFill>
                  <a:srgbClr val="000000"/>
                </a:solidFill>
                <a:latin typeface="+mn-ea"/>
                <a:ea typeface="+mn-ea"/>
                <a:sym typeface="Symbol" panose="05050102010706020507" pitchFamily="18" charset="2"/>
              </a:rPr>
              <a:t>＝</a:t>
            </a:r>
            <a:r>
              <a:rPr lang="en-US" altLang="zh-CN" sz="2400" dirty="0">
                <a:solidFill>
                  <a:srgbClr val="000000"/>
                </a:solidFill>
                <a:latin typeface="+mn-ea"/>
                <a:ea typeface="+mn-ea"/>
                <a:sym typeface="Symbol" panose="05050102010706020507" pitchFamily="18" charset="2"/>
              </a:rPr>
              <a:t>F(x</a:t>
            </a:r>
            <a:r>
              <a:rPr lang="en-US" altLang="zh-CN" sz="2400" baseline="-25000" dirty="0">
                <a:solidFill>
                  <a:srgbClr val="000000"/>
                </a:solidFill>
                <a:latin typeface="+mn-ea"/>
                <a:ea typeface="+mn-ea"/>
                <a:sym typeface="Symbol" panose="05050102010706020507" pitchFamily="18" charset="2"/>
              </a:rPr>
              <a:t>n</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n</a:t>
            </a:r>
            <a:r>
              <a:rPr lang="en-US" altLang="zh-CN" sz="2400" dirty="0">
                <a:solidFill>
                  <a:srgbClr val="000000"/>
                </a:solidFill>
                <a:latin typeface="+mn-ea"/>
                <a:ea typeface="+mn-ea"/>
                <a:sym typeface="Symbol" panose="05050102010706020507" pitchFamily="18" charset="2"/>
              </a:rPr>
              <a:t>|x</a:t>
            </a:r>
            <a:r>
              <a:rPr lang="en-US" altLang="zh-CN" sz="2400" baseline="-25000" dirty="0">
                <a:solidFill>
                  <a:srgbClr val="000000"/>
                </a:solidFill>
                <a:latin typeface="+mn-ea"/>
                <a:ea typeface="+mn-ea"/>
                <a:sym typeface="Symbol" panose="05050102010706020507" pitchFamily="18" charset="2"/>
              </a:rPr>
              <a:t>n-1</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n-1</a:t>
            </a:r>
            <a:r>
              <a:rPr lang="en-US" altLang="zh-CN" sz="2400" dirty="0">
                <a:solidFill>
                  <a:srgbClr val="000000"/>
                </a:solidFill>
                <a:latin typeface="+mn-ea"/>
                <a:ea typeface="+mn-ea"/>
                <a:sym typeface="Symbol" panose="05050102010706020507" pitchFamily="18" charset="2"/>
              </a:rPr>
              <a:t>)</a:t>
            </a:r>
            <a:r>
              <a:rPr lang="zh-CN" altLang="en-US" sz="2400" dirty="0">
                <a:solidFill>
                  <a:srgbClr val="000000"/>
                </a:solidFill>
                <a:latin typeface="+mn-ea"/>
                <a:ea typeface="+mn-ea"/>
                <a:sym typeface="Symbol" panose="05050102010706020507" pitchFamily="18" charset="2"/>
              </a:rPr>
              <a:t>。</a:t>
            </a:r>
          </a:p>
          <a:p>
            <a:pPr eaLnBrk="1" hangingPunct="1">
              <a:lnSpc>
                <a:spcPct val="150000"/>
              </a:lnSpc>
              <a:buClr>
                <a:srgbClr val="00FF00"/>
              </a:buClr>
              <a:buFont typeface="Wingdings" panose="05000000000000000000" pitchFamily="2" charset="2"/>
              <a:buNone/>
            </a:pPr>
            <a:r>
              <a:rPr lang="zh-CN" altLang="en-US" sz="2400" dirty="0">
                <a:solidFill>
                  <a:srgbClr val="000000"/>
                </a:solidFill>
                <a:latin typeface="+mn-ea"/>
                <a:ea typeface="+mn-ea"/>
                <a:sym typeface="Symbol" panose="05050102010706020507" pitchFamily="18" charset="2"/>
              </a:rPr>
              <a:t>    如果概率密度函数存在，它等价于</a:t>
            </a:r>
          </a:p>
          <a:p>
            <a:pPr algn="ctr" eaLnBrk="1" hangingPunct="1">
              <a:lnSpc>
                <a:spcPct val="150000"/>
              </a:lnSpc>
              <a:buClr>
                <a:srgbClr val="00FF00"/>
              </a:buClr>
              <a:buFont typeface="Wingdings" panose="05000000000000000000" pitchFamily="2" charset="2"/>
              <a:buNone/>
            </a:pPr>
            <a:r>
              <a:rPr lang="en-US" altLang="zh-CN" sz="2400" dirty="0">
                <a:solidFill>
                  <a:srgbClr val="000000"/>
                </a:solidFill>
                <a:latin typeface="+mn-ea"/>
                <a:ea typeface="+mn-ea"/>
                <a:sym typeface="Symbol" panose="05050102010706020507" pitchFamily="18" charset="2"/>
              </a:rPr>
              <a:t>f(x</a:t>
            </a:r>
            <a:r>
              <a:rPr lang="en-US" altLang="zh-CN" sz="2400" baseline="-25000" dirty="0">
                <a:solidFill>
                  <a:srgbClr val="000000"/>
                </a:solidFill>
                <a:latin typeface="+mn-ea"/>
                <a:ea typeface="+mn-ea"/>
                <a:sym typeface="Symbol" panose="05050102010706020507" pitchFamily="18" charset="2"/>
              </a:rPr>
              <a:t>n</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n</a:t>
            </a:r>
            <a:r>
              <a:rPr lang="en-US" altLang="zh-CN" sz="2400" dirty="0">
                <a:solidFill>
                  <a:srgbClr val="000000"/>
                </a:solidFill>
                <a:latin typeface="+mn-ea"/>
                <a:ea typeface="+mn-ea"/>
                <a:sym typeface="Symbol" panose="05050102010706020507" pitchFamily="18" charset="2"/>
              </a:rPr>
              <a:t>|x</a:t>
            </a:r>
            <a:r>
              <a:rPr lang="en-US" altLang="zh-CN" sz="2400" baseline="-25000" dirty="0">
                <a:solidFill>
                  <a:srgbClr val="000000"/>
                </a:solidFill>
                <a:latin typeface="+mn-ea"/>
                <a:ea typeface="+mn-ea"/>
                <a:sym typeface="Symbol" panose="05050102010706020507" pitchFamily="18" charset="2"/>
              </a:rPr>
              <a:t>1</a:t>
            </a:r>
            <a:r>
              <a:rPr lang="en-US" altLang="zh-CN" sz="2400" dirty="0">
                <a:solidFill>
                  <a:srgbClr val="000000"/>
                </a:solidFill>
                <a:latin typeface="+mn-ea"/>
                <a:ea typeface="+mn-ea"/>
                <a:sym typeface="Symbol" panose="05050102010706020507" pitchFamily="18" charset="2"/>
              </a:rPr>
              <a:t>,x</a:t>
            </a:r>
            <a:r>
              <a:rPr lang="en-US" altLang="zh-CN" sz="2400" baseline="-25000" dirty="0">
                <a:solidFill>
                  <a:srgbClr val="000000"/>
                </a:solidFill>
                <a:latin typeface="+mn-ea"/>
                <a:ea typeface="+mn-ea"/>
                <a:sym typeface="Symbol" panose="05050102010706020507" pitchFamily="18" charset="2"/>
              </a:rPr>
              <a:t>2</a:t>
            </a:r>
            <a:r>
              <a:rPr lang="en-US" altLang="zh-CN" sz="2400" dirty="0">
                <a:solidFill>
                  <a:srgbClr val="000000"/>
                </a:solidFill>
                <a:latin typeface="+mn-ea"/>
                <a:ea typeface="+mn-ea"/>
                <a:sym typeface="Symbol" panose="05050102010706020507" pitchFamily="18" charset="2"/>
              </a:rPr>
              <a:t>,…,x</a:t>
            </a:r>
            <a:r>
              <a:rPr lang="en-US" altLang="zh-CN" sz="2400" baseline="-25000" dirty="0">
                <a:solidFill>
                  <a:srgbClr val="000000"/>
                </a:solidFill>
                <a:latin typeface="+mn-ea"/>
                <a:ea typeface="+mn-ea"/>
                <a:sym typeface="Symbol" panose="05050102010706020507" pitchFamily="18" charset="2"/>
              </a:rPr>
              <a:t>n-1</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1</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2</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n-1</a:t>
            </a:r>
            <a:r>
              <a:rPr lang="en-US" altLang="zh-CN" sz="2400" dirty="0">
                <a:solidFill>
                  <a:srgbClr val="000000"/>
                </a:solidFill>
                <a:latin typeface="+mn-ea"/>
                <a:ea typeface="+mn-ea"/>
                <a:sym typeface="Symbol" panose="05050102010706020507" pitchFamily="18" charset="2"/>
              </a:rPr>
              <a:t>)</a:t>
            </a:r>
            <a:r>
              <a:rPr lang="zh-CN" altLang="en-US" sz="2400" dirty="0">
                <a:solidFill>
                  <a:srgbClr val="000000"/>
                </a:solidFill>
                <a:latin typeface="+mn-ea"/>
                <a:ea typeface="+mn-ea"/>
                <a:sym typeface="Symbol" panose="05050102010706020507" pitchFamily="18" charset="2"/>
              </a:rPr>
              <a:t>＝</a:t>
            </a:r>
            <a:r>
              <a:rPr lang="en-US" altLang="zh-CN" sz="2400" dirty="0">
                <a:solidFill>
                  <a:srgbClr val="000000"/>
                </a:solidFill>
                <a:latin typeface="+mn-ea"/>
                <a:ea typeface="+mn-ea"/>
                <a:sym typeface="Symbol" panose="05050102010706020507" pitchFamily="18" charset="2"/>
              </a:rPr>
              <a:t>f(x</a:t>
            </a:r>
            <a:r>
              <a:rPr lang="en-US" altLang="zh-CN" sz="2400" baseline="-25000" dirty="0">
                <a:solidFill>
                  <a:srgbClr val="000000"/>
                </a:solidFill>
                <a:latin typeface="+mn-ea"/>
                <a:ea typeface="+mn-ea"/>
                <a:sym typeface="Symbol" panose="05050102010706020507" pitchFamily="18" charset="2"/>
              </a:rPr>
              <a:t>n</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n</a:t>
            </a:r>
            <a:r>
              <a:rPr lang="en-US" altLang="zh-CN" sz="2400" dirty="0">
                <a:solidFill>
                  <a:srgbClr val="000000"/>
                </a:solidFill>
                <a:latin typeface="+mn-ea"/>
                <a:ea typeface="+mn-ea"/>
                <a:sym typeface="Symbol" panose="05050102010706020507" pitchFamily="18" charset="2"/>
              </a:rPr>
              <a:t>|x</a:t>
            </a:r>
            <a:r>
              <a:rPr lang="en-US" altLang="zh-CN" sz="2400" baseline="-25000" dirty="0">
                <a:solidFill>
                  <a:srgbClr val="000000"/>
                </a:solidFill>
                <a:latin typeface="+mn-ea"/>
                <a:ea typeface="+mn-ea"/>
                <a:sym typeface="Symbol" panose="05050102010706020507" pitchFamily="18" charset="2"/>
              </a:rPr>
              <a:t>n-1</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n-1</a:t>
            </a:r>
            <a:r>
              <a:rPr lang="en-US" altLang="zh-CN" sz="2400" dirty="0">
                <a:solidFill>
                  <a:srgbClr val="000000"/>
                </a:solidFill>
                <a:latin typeface="+mn-ea"/>
                <a:ea typeface="+mn-ea"/>
                <a:sym typeface="Symbol" panose="05050102010706020507" pitchFamily="18" charset="2"/>
              </a:rPr>
              <a:t>)</a:t>
            </a:r>
            <a:r>
              <a:rPr lang="zh-CN" altLang="en-US" sz="2400" dirty="0">
                <a:solidFill>
                  <a:srgbClr val="000000"/>
                </a:solidFill>
                <a:latin typeface="+mn-ea"/>
                <a:ea typeface="+mn-ea"/>
                <a:sym typeface="Symbol" panose="05050102010706020507" pitchFamily="18" charset="2"/>
              </a:rPr>
              <a:t>。</a:t>
            </a:r>
          </a:p>
        </p:txBody>
      </p:sp>
      <p:sp>
        <p:nvSpPr>
          <p:cNvPr id="260102" name="Rectangle 6">
            <a:extLst>
              <a:ext uri="{FF2B5EF4-FFF2-40B4-BE49-F238E27FC236}">
                <a16:creationId xmlns:a16="http://schemas.microsoft.com/office/drawing/2014/main" id="{F3704C9B-E2A1-4E63-0CF0-3E96C89AA66C}"/>
              </a:ext>
            </a:extLst>
          </p:cNvPr>
          <p:cNvSpPr>
            <a:spLocks noChangeArrowheads="1"/>
          </p:cNvSpPr>
          <p:nvPr/>
        </p:nvSpPr>
        <p:spPr bwMode="auto">
          <a:xfrm>
            <a:off x="79375" y="5637641"/>
            <a:ext cx="11326842"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
                <a:srgbClr val="00FF00"/>
              </a:buClr>
              <a:buFont typeface="Wingdings" panose="05000000000000000000" pitchFamily="2" charset="2"/>
              <a:buNone/>
            </a:pPr>
            <a:r>
              <a:rPr lang="en-US" altLang="zh-CN" sz="2400" dirty="0">
                <a:solidFill>
                  <a:srgbClr val="000000"/>
                </a:solidFill>
                <a:latin typeface="+mn-ea"/>
                <a:ea typeface="+mn-ea"/>
              </a:rPr>
              <a:t>    </a:t>
            </a:r>
            <a:r>
              <a:rPr lang="zh-CN" altLang="en-US" sz="2400" dirty="0">
                <a:solidFill>
                  <a:srgbClr val="000000"/>
                </a:solidFill>
                <a:latin typeface="+mn-ea"/>
                <a:ea typeface="+mn-ea"/>
              </a:rPr>
              <a:t>随机过程</a:t>
            </a:r>
            <a:r>
              <a:rPr lang="zh-CN" altLang="en-US" sz="2400" dirty="0">
                <a:solidFill>
                  <a:srgbClr val="000000"/>
                </a:solidFill>
                <a:latin typeface="+mn-ea"/>
                <a:ea typeface="+mn-ea"/>
                <a:sym typeface="Symbol" panose="05050102010706020507" pitchFamily="18" charset="2"/>
              </a:rPr>
              <a:t>具有马尔可夫性质是说：</a:t>
            </a:r>
            <a:r>
              <a:rPr lang="zh-CN" altLang="en-US" sz="2400" dirty="0">
                <a:solidFill>
                  <a:srgbClr val="0000FF"/>
                </a:solidFill>
                <a:latin typeface="+mn-ea"/>
                <a:ea typeface="+mn-ea"/>
                <a:sym typeface="Symbol" panose="05050102010706020507" pitchFamily="18" charset="2"/>
              </a:rPr>
              <a:t>当给定</a:t>
            </a:r>
            <a:r>
              <a:rPr lang="en-US" altLang="zh-CN" sz="2400" dirty="0">
                <a:solidFill>
                  <a:srgbClr val="0000FF"/>
                </a:solidFill>
                <a:latin typeface="+mn-ea"/>
                <a:ea typeface="+mn-ea"/>
                <a:sym typeface="Symbol" panose="05050102010706020507" pitchFamily="18" charset="2"/>
              </a:rPr>
              <a:t>X(t</a:t>
            </a:r>
            <a:r>
              <a:rPr lang="en-US" altLang="zh-CN" sz="2400" baseline="-25000" dirty="0">
                <a:solidFill>
                  <a:srgbClr val="0000FF"/>
                </a:solidFill>
                <a:latin typeface="+mn-ea"/>
                <a:ea typeface="+mn-ea"/>
                <a:sym typeface="Symbol" panose="05050102010706020507" pitchFamily="18" charset="2"/>
              </a:rPr>
              <a:t>1</a:t>
            </a:r>
            <a:r>
              <a:rPr lang="en-US" altLang="zh-CN" sz="2400" dirty="0">
                <a:solidFill>
                  <a:srgbClr val="0000FF"/>
                </a:solidFill>
                <a:latin typeface="+mn-ea"/>
                <a:ea typeface="+mn-ea"/>
                <a:sym typeface="Symbol" panose="05050102010706020507" pitchFamily="18" charset="2"/>
              </a:rPr>
              <a:t>), X(t</a:t>
            </a:r>
            <a:r>
              <a:rPr lang="en-US" altLang="zh-CN" sz="2400" baseline="-25000" dirty="0">
                <a:solidFill>
                  <a:srgbClr val="0000FF"/>
                </a:solidFill>
                <a:latin typeface="+mn-ea"/>
                <a:ea typeface="+mn-ea"/>
                <a:sym typeface="Symbol" panose="05050102010706020507" pitchFamily="18" charset="2"/>
              </a:rPr>
              <a:t>2</a:t>
            </a:r>
            <a:r>
              <a:rPr lang="en-US" altLang="zh-CN" sz="2400" dirty="0">
                <a:solidFill>
                  <a:srgbClr val="0000FF"/>
                </a:solidFill>
                <a:latin typeface="+mn-ea"/>
                <a:ea typeface="+mn-ea"/>
                <a:sym typeface="Symbol" panose="05050102010706020507" pitchFamily="18" charset="2"/>
              </a:rPr>
              <a:t>),…,X(t</a:t>
            </a:r>
            <a:r>
              <a:rPr lang="en-US" altLang="zh-CN" sz="2400" baseline="-25000" dirty="0">
                <a:solidFill>
                  <a:srgbClr val="0000FF"/>
                </a:solidFill>
                <a:latin typeface="+mn-ea"/>
                <a:ea typeface="+mn-ea"/>
                <a:sym typeface="Symbol" panose="05050102010706020507" pitchFamily="18" charset="2"/>
              </a:rPr>
              <a:t>n-1</a:t>
            </a:r>
            <a:r>
              <a:rPr lang="en-US" altLang="zh-CN" sz="2400" dirty="0">
                <a:solidFill>
                  <a:srgbClr val="0000FF"/>
                </a:solidFill>
                <a:latin typeface="+mn-ea"/>
                <a:ea typeface="+mn-ea"/>
                <a:sym typeface="Symbol" panose="05050102010706020507" pitchFamily="18" charset="2"/>
              </a:rPr>
              <a:t>)</a:t>
            </a:r>
            <a:r>
              <a:rPr lang="zh-CN" altLang="en-US" sz="2400" dirty="0">
                <a:solidFill>
                  <a:srgbClr val="0000FF"/>
                </a:solidFill>
                <a:latin typeface="+mn-ea"/>
                <a:ea typeface="+mn-ea"/>
                <a:sym typeface="Symbol" panose="05050102010706020507" pitchFamily="18" charset="2"/>
              </a:rPr>
              <a:t>时，</a:t>
            </a:r>
            <a:r>
              <a:rPr lang="en-US" altLang="zh-CN" sz="2400" dirty="0">
                <a:solidFill>
                  <a:srgbClr val="0000FF"/>
                </a:solidFill>
                <a:latin typeface="+mn-ea"/>
                <a:ea typeface="+mn-ea"/>
                <a:sym typeface="Symbol" panose="05050102010706020507" pitchFamily="18" charset="2"/>
              </a:rPr>
              <a:t>X(</a:t>
            </a:r>
            <a:r>
              <a:rPr lang="en-US" altLang="zh-CN" sz="2400" dirty="0" err="1">
                <a:solidFill>
                  <a:srgbClr val="0000FF"/>
                </a:solidFill>
                <a:latin typeface="+mn-ea"/>
                <a:ea typeface="+mn-ea"/>
                <a:sym typeface="Symbol" panose="05050102010706020507" pitchFamily="18" charset="2"/>
              </a:rPr>
              <a:t>t</a:t>
            </a:r>
            <a:r>
              <a:rPr lang="en-US" altLang="zh-CN" sz="2400" baseline="-25000" dirty="0" err="1">
                <a:solidFill>
                  <a:srgbClr val="0000FF"/>
                </a:solidFill>
                <a:latin typeface="+mn-ea"/>
                <a:ea typeface="+mn-ea"/>
                <a:sym typeface="Symbol" panose="05050102010706020507" pitchFamily="18" charset="2"/>
              </a:rPr>
              <a:t>n</a:t>
            </a:r>
            <a:r>
              <a:rPr lang="en-US" altLang="zh-CN" sz="2400" dirty="0">
                <a:solidFill>
                  <a:srgbClr val="0000FF"/>
                </a:solidFill>
                <a:latin typeface="+mn-ea"/>
                <a:ea typeface="+mn-ea"/>
                <a:sym typeface="Symbol" panose="05050102010706020507" pitchFamily="18" charset="2"/>
              </a:rPr>
              <a:t>)</a:t>
            </a:r>
            <a:r>
              <a:rPr lang="zh-CN" altLang="en-US" sz="2400" dirty="0">
                <a:solidFill>
                  <a:srgbClr val="0000FF"/>
                </a:solidFill>
                <a:latin typeface="+mn-ea"/>
                <a:ea typeface="+mn-ea"/>
                <a:sym typeface="Symbol" panose="05050102010706020507" pitchFamily="18" charset="2"/>
              </a:rPr>
              <a:t>的条件分布只依赖于</a:t>
            </a:r>
            <a:r>
              <a:rPr lang="en-US" altLang="zh-CN" sz="2400" dirty="0">
                <a:solidFill>
                  <a:srgbClr val="0000FF"/>
                </a:solidFill>
                <a:latin typeface="+mn-ea"/>
                <a:ea typeface="+mn-ea"/>
                <a:sym typeface="Symbol" panose="05050102010706020507" pitchFamily="18" charset="2"/>
              </a:rPr>
              <a:t>X(t</a:t>
            </a:r>
            <a:r>
              <a:rPr lang="en-US" altLang="zh-CN" sz="2400" baseline="-25000" dirty="0">
                <a:solidFill>
                  <a:srgbClr val="0000FF"/>
                </a:solidFill>
                <a:latin typeface="+mn-ea"/>
                <a:ea typeface="+mn-ea"/>
                <a:sym typeface="Symbol" panose="05050102010706020507" pitchFamily="18" charset="2"/>
              </a:rPr>
              <a:t>n-1</a:t>
            </a:r>
            <a:r>
              <a:rPr lang="en-US" altLang="zh-CN" sz="2400" dirty="0">
                <a:solidFill>
                  <a:srgbClr val="0000FF"/>
                </a:solidFill>
                <a:latin typeface="+mn-ea"/>
                <a:ea typeface="+mn-ea"/>
                <a:sym typeface="Symbol" panose="05050102010706020507" pitchFamily="18" charset="2"/>
              </a:rPr>
              <a:t>)</a:t>
            </a:r>
            <a:r>
              <a:rPr lang="zh-CN" altLang="en-US" sz="2400" dirty="0">
                <a:solidFill>
                  <a:srgbClr val="0000FF"/>
                </a:solidFill>
                <a:latin typeface="+mn-ea"/>
                <a:ea typeface="+mn-ea"/>
                <a:sym typeface="Symbol" panose="05050102010706020507" pitchFamily="18" charset="2"/>
              </a:rPr>
              <a:t>的已知值，而与在</a:t>
            </a:r>
            <a:r>
              <a:rPr lang="en-US" altLang="zh-CN" sz="2400" dirty="0">
                <a:solidFill>
                  <a:srgbClr val="0000FF"/>
                </a:solidFill>
                <a:latin typeface="+mn-ea"/>
                <a:ea typeface="+mn-ea"/>
                <a:sym typeface="Symbol" panose="05050102010706020507" pitchFamily="18" charset="2"/>
              </a:rPr>
              <a:t>t</a:t>
            </a:r>
            <a:r>
              <a:rPr lang="en-US" altLang="zh-CN" sz="2400" baseline="-25000" dirty="0">
                <a:solidFill>
                  <a:srgbClr val="0000FF"/>
                </a:solidFill>
                <a:latin typeface="+mn-ea"/>
                <a:ea typeface="+mn-ea"/>
                <a:sym typeface="Symbol" panose="05050102010706020507" pitchFamily="18" charset="2"/>
              </a:rPr>
              <a:t>n-1</a:t>
            </a:r>
            <a:r>
              <a:rPr lang="zh-CN" altLang="en-US" sz="2400" dirty="0">
                <a:solidFill>
                  <a:srgbClr val="0000FF"/>
                </a:solidFill>
                <a:latin typeface="+mn-ea"/>
                <a:ea typeface="+mn-ea"/>
                <a:sym typeface="Symbol" panose="05050102010706020507" pitchFamily="18" charset="2"/>
              </a:rPr>
              <a:t>以前</a:t>
            </a:r>
            <a:r>
              <a:rPr lang="en-US" altLang="zh-CN" sz="2400" dirty="0">
                <a:solidFill>
                  <a:srgbClr val="0000FF"/>
                </a:solidFill>
                <a:latin typeface="+mn-ea"/>
                <a:ea typeface="+mn-ea"/>
                <a:sym typeface="Symbol" panose="05050102010706020507" pitchFamily="18" charset="2"/>
              </a:rPr>
              <a:t>X(t)</a:t>
            </a:r>
            <a:r>
              <a:rPr lang="zh-CN" altLang="en-US" sz="2400" dirty="0">
                <a:solidFill>
                  <a:srgbClr val="0000FF"/>
                </a:solidFill>
                <a:latin typeface="+mn-ea"/>
                <a:ea typeface="+mn-ea"/>
                <a:sym typeface="Symbol" panose="05050102010706020507" pitchFamily="18" charset="2"/>
              </a:rPr>
              <a:t>的取值无关。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0099">
                                            <p:txEl>
                                              <p:pRg st="0" end="0"/>
                                            </p:txEl>
                                          </p:spTgt>
                                        </p:tgtEl>
                                        <p:attrNameLst>
                                          <p:attrName>style.visibility</p:attrName>
                                        </p:attrNameLst>
                                      </p:cBhvr>
                                      <p:to>
                                        <p:strVal val="visible"/>
                                      </p:to>
                                    </p:set>
                                    <p:anim calcmode="lin" valueType="num">
                                      <p:cBhvr additive="base">
                                        <p:cTn id="7" dur="500" fill="hold"/>
                                        <p:tgtEl>
                                          <p:spTgt spid="260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009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60100">
                                            <p:txEl>
                                              <p:pRg st="0" end="0"/>
                                            </p:txEl>
                                          </p:spTgt>
                                        </p:tgtEl>
                                        <p:attrNameLst>
                                          <p:attrName>style.visibility</p:attrName>
                                        </p:attrNameLst>
                                      </p:cBhvr>
                                      <p:to>
                                        <p:strVal val="visible"/>
                                      </p:to>
                                    </p:set>
                                    <p:anim calcmode="lin" valueType="num">
                                      <p:cBhvr additive="base">
                                        <p:cTn id="12" dur="500" fill="hold"/>
                                        <p:tgtEl>
                                          <p:spTgt spid="260100">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0100">
                                            <p:txEl>
                                              <p:pRg st="0" end="0"/>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60100">
                                            <p:txEl>
                                              <p:pRg st="1" end="1"/>
                                            </p:txEl>
                                          </p:spTgt>
                                        </p:tgtEl>
                                        <p:attrNameLst>
                                          <p:attrName>style.visibility</p:attrName>
                                        </p:attrNameLst>
                                      </p:cBhvr>
                                      <p:to>
                                        <p:strVal val="visible"/>
                                      </p:to>
                                    </p:set>
                                    <p:anim calcmode="lin" valueType="num">
                                      <p:cBhvr additive="base">
                                        <p:cTn id="17" dur="500" fill="hold"/>
                                        <p:tgtEl>
                                          <p:spTgt spid="260100">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0100">
                                            <p:txEl>
                                              <p:pRg st="1" end="1"/>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60100">
                                            <p:txEl>
                                              <p:pRg st="2" end="2"/>
                                            </p:txEl>
                                          </p:spTgt>
                                        </p:tgtEl>
                                        <p:attrNameLst>
                                          <p:attrName>style.visibility</p:attrName>
                                        </p:attrNameLst>
                                      </p:cBhvr>
                                      <p:to>
                                        <p:strVal val="visible"/>
                                      </p:to>
                                    </p:set>
                                    <p:anim calcmode="lin" valueType="num">
                                      <p:cBhvr additive="base">
                                        <p:cTn id="22" dur="500" fill="hold"/>
                                        <p:tgtEl>
                                          <p:spTgt spid="260100">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6010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260101">
                                            <p:txEl>
                                              <p:pRg st="0" end="0"/>
                                            </p:txEl>
                                          </p:spTgt>
                                        </p:tgtEl>
                                        <p:attrNameLst>
                                          <p:attrName>style.visibility</p:attrName>
                                        </p:attrNameLst>
                                      </p:cBhvr>
                                      <p:to>
                                        <p:strVal val="visible"/>
                                      </p:to>
                                    </p:set>
                                    <p:animEffect transition="in" filter="slide(fromBottom)">
                                      <p:cBhvr>
                                        <p:cTn id="28" dur="500"/>
                                        <p:tgtEl>
                                          <p:spTgt spid="260101">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260101">
                                            <p:txEl>
                                              <p:pRg st="1" end="1"/>
                                            </p:txEl>
                                          </p:spTgt>
                                        </p:tgtEl>
                                        <p:attrNameLst>
                                          <p:attrName>style.visibility</p:attrName>
                                        </p:attrNameLst>
                                      </p:cBhvr>
                                      <p:to>
                                        <p:strVal val="visible"/>
                                      </p:to>
                                    </p:set>
                                    <p:animEffect transition="in" filter="slide(fromBottom)">
                                      <p:cBhvr>
                                        <p:cTn id="33" dur="500"/>
                                        <p:tgtEl>
                                          <p:spTgt spid="260101">
                                            <p:txEl>
                                              <p:pRg st="1" end="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260101">
                                            <p:txEl>
                                              <p:pRg st="2" end="2"/>
                                            </p:txEl>
                                          </p:spTgt>
                                        </p:tgtEl>
                                        <p:attrNameLst>
                                          <p:attrName>style.visibility</p:attrName>
                                        </p:attrNameLst>
                                      </p:cBhvr>
                                      <p:to>
                                        <p:strVal val="visible"/>
                                      </p:to>
                                    </p:set>
                                    <p:animEffect transition="in" filter="slide(fromBottom)">
                                      <p:cBhvr>
                                        <p:cTn id="38" dur="500"/>
                                        <p:tgtEl>
                                          <p:spTgt spid="260101">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260101">
                                            <p:txEl>
                                              <p:pRg st="3" end="3"/>
                                            </p:txEl>
                                          </p:spTgt>
                                        </p:tgtEl>
                                        <p:attrNameLst>
                                          <p:attrName>style.visibility</p:attrName>
                                        </p:attrNameLst>
                                      </p:cBhvr>
                                      <p:to>
                                        <p:strVal val="visible"/>
                                      </p:to>
                                    </p:set>
                                    <p:animEffect transition="in" filter="slide(fromBottom)">
                                      <p:cBhvr>
                                        <p:cTn id="43" dur="500"/>
                                        <p:tgtEl>
                                          <p:spTgt spid="260101">
                                            <p:txEl>
                                              <p:pRg st="3" end="3"/>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4" fill="hold" grpId="0" nodeType="clickEffect">
                                  <p:stCondLst>
                                    <p:cond delay="0"/>
                                  </p:stCondLst>
                                  <p:childTnLst>
                                    <p:set>
                                      <p:cBhvr>
                                        <p:cTn id="47" dur="1" fill="hold">
                                          <p:stCondLst>
                                            <p:cond delay="0"/>
                                          </p:stCondLst>
                                        </p:cTn>
                                        <p:tgtEl>
                                          <p:spTgt spid="260102"/>
                                        </p:tgtEl>
                                        <p:attrNameLst>
                                          <p:attrName>style.visibility</p:attrName>
                                        </p:attrNameLst>
                                      </p:cBhvr>
                                      <p:to>
                                        <p:strVal val="visible"/>
                                      </p:to>
                                    </p:set>
                                    <p:animEffect transition="in" filter="slide(fromBottom)">
                                      <p:cBhvr>
                                        <p:cTn id="48" dur="500"/>
                                        <p:tgtEl>
                                          <p:spTgt spid="260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9" grpId="0" build="p"/>
      <p:bldP spid="260100" grpId="0" build="p"/>
      <p:bldP spid="260101" grpId="0" build="p" autoUpdateAnimBg="0"/>
      <p:bldP spid="260102"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B9EAA0B-28A8-F0A9-6C2D-6C5490951F95}"/>
              </a:ext>
            </a:extLst>
          </p:cNvPr>
          <p:cNvSpPr>
            <a:spLocks noGrp="1" noChangeArrowheads="1"/>
          </p:cNvSpPr>
          <p:nvPr>
            <p:ph type="title"/>
          </p:nvPr>
        </p:nvSpPr>
        <p:spPr/>
        <p:txBody>
          <a:bodyPr/>
          <a:lstStyle/>
          <a:p>
            <a:pPr eaLnBrk="1" hangingPunct="1"/>
            <a:r>
              <a:rPr lang="zh-CN" altLang="en-US"/>
              <a:t>转移概率</a:t>
            </a:r>
          </a:p>
        </p:txBody>
      </p:sp>
      <p:sp>
        <p:nvSpPr>
          <p:cNvPr id="261123" name="Rectangle 3">
            <a:extLst>
              <a:ext uri="{FF2B5EF4-FFF2-40B4-BE49-F238E27FC236}">
                <a16:creationId xmlns:a16="http://schemas.microsoft.com/office/drawing/2014/main" id="{4DEC1444-6F19-4B37-B19B-F9A776083633}"/>
              </a:ext>
            </a:extLst>
          </p:cNvPr>
          <p:cNvSpPr>
            <a:spLocks noGrp="1" noChangeArrowheads="1"/>
          </p:cNvSpPr>
          <p:nvPr>
            <p:ph idx="1"/>
          </p:nvPr>
        </p:nvSpPr>
        <p:spPr>
          <a:xfrm>
            <a:off x="231776" y="1149800"/>
            <a:ext cx="11582400" cy="1538643"/>
          </a:xfrm>
        </p:spPr>
        <p:txBody>
          <a:bodyPr>
            <a:noAutofit/>
          </a:bodyPr>
          <a:lstStyle/>
          <a:p>
            <a:pPr eaLnBrk="1" hangingPunct="1">
              <a:buFont typeface="Wingdings" panose="05000000000000000000" pitchFamily="2" charset="2"/>
              <a:buNone/>
            </a:pPr>
            <a:r>
              <a:rPr lang="en-US" altLang="zh-CN" dirty="0"/>
              <a:t>    </a:t>
            </a:r>
            <a:r>
              <a:rPr lang="zh-CN" altLang="en-US" dirty="0"/>
              <a:t>给定马氏过程</a:t>
            </a:r>
            <a:r>
              <a:rPr lang="en-US" altLang="zh-CN" dirty="0"/>
              <a:t>{X(t),</a:t>
            </a:r>
            <a:r>
              <a:rPr lang="en-US" altLang="zh-CN" dirty="0" err="1"/>
              <a:t>t</a:t>
            </a:r>
            <a:r>
              <a:rPr lang="en-US" altLang="zh-CN" dirty="0" err="1">
                <a:sym typeface="Symbol" panose="05050102010706020507" pitchFamily="18" charset="2"/>
              </a:rPr>
              <a:t>T</a:t>
            </a:r>
            <a:r>
              <a:rPr lang="en-US" altLang="zh-CN" dirty="0">
                <a:sym typeface="Symbol" panose="05050102010706020507" pitchFamily="18" charset="2"/>
              </a:rPr>
              <a:t>}</a:t>
            </a:r>
            <a:r>
              <a:rPr lang="zh-CN" altLang="en-US" dirty="0">
                <a:sym typeface="Symbol" panose="05050102010706020507" pitchFamily="18" charset="2"/>
              </a:rPr>
              <a:t>，条件概率</a:t>
            </a:r>
          </a:p>
          <a:p>
            <a:pPr algn="ctr" eaLnBrk="1" hangingPunct="1">
              <a:buFont typeface="Wingdings" panose="05000000000000000000" pitchFamily="2" charset="2"/>
              <a:buNone/>
            </a:pPr>
            <a:r>
              <a:rPr lang="en-US" altLang="zh-CN" dirty="0">
                <a:solidFill>
                  <a:srgbClr val="0000FF"/>
                </a:solidFill>
                <a:sym typeface="Symbol" panose="05050102010706020507" pitchFamily="18" charset="2"/>
              </a:rPr>
              <a:t>p(</a:t>
            </a:r>
            <a:r>
              <a:rPr lang="en-US" altLang="zh-CN" dirty="0" err="1">
                <a:solidFill>
                  <a:srgbClr val="0000FF"/>
                </a:solidFill>
                <a:sym typeface="Symbol" panose="05050102010706020507" pitchFamily="18" charset="2"/>
              </a:rPr>
              <a:t>s,t;x,y</a:t>
            </a:r>
            <a:r>
              <a:rPr lang="en-US" altLang="zh-CN" dirty="0">
                <a:solidFill>
                  <a:srgbClr val="0000FF"/>
                </a:solidFill>
                <a:sym typeface="Symbol" panose="05050102010706020507" pitchFamily="18" charset="2"/>
              </a:rPr>
              <a:t>)</a:t>
            </a:r>
            <a:r>
              <a:rPr lang="zh-CN" altLang="en-US" dirty="0">
                <a:solidFill>
                  <a:srgbClr val="0000FF"/>
                </a:solidFill>
                <a:sym typeface="Symbol" panose="05050102010706020507" pitchFamily="18" charset="2"/>
              </a:rPr>
              <a:t>＝</a:t>
            </a:r>
            <a:r>
              <a:rPr lang="en-US" altLang="zh-CN" dirty="0">
                <a:solidFill>
                  <a:srgbClr val="0000FF"/>
                </a:solidFill>
                <a:sym typeface="Symbol" panose="05050102010706020507" pitchFamily="18" charset="2"/>
              </a:rPr>
              <a:t>P{X(</a:t>
            </a:r>
            <a:r>
              <a:rPr lang="en-US" altLang="zh-CN" dirty="0" err="1">
                <a:solidFill>
                  <a:srgbClr val="0000FF"/>
                </a:solidFill>
                <a:sym typeface="Symbol" panose="05050102010706020507" pitchFamily="18" charset="2"/>
              </a:rPr>
              <a:t>s+t</a:t>
            </a:r>
            <a:r>
              <a:rPr lang="en-US" altLang="zh-CN" dirty="0">
                <a:solidFill>
                  <a:srgbClr val="0000FF"/>
                </a:solidFill>
                <a:sym typeface="Symbol" panose="05050102010706020507" pitchFamily="18" charset="2"/>
              </a:rPr>
              <a:t>)&lt;</a:t>
            </a:r>
            <a:r>
              <a:rPr lang="en-US" altLang="zh-CN" dirty="0" err="1">
                <a:solidFill>
                  <a:srgbClr val="0000FF"/>
                </a:solidFill>
                <a:sym typeface="Symbol" panose="05050102010706020507" pitchFamily="18" charset="2"/>
              </a:rPr>
              <a:t>y|X</a:t>
            </a:r>
            <a:r>
              <a:rPr lang="en-US" altLang="zh-CN" dirty="0">
                <a:solidFill>
                  <a:srgbClr val="0000FF"/>
                </a:solidFill>
                <a:sym typeface="Symbol" panose="05050102010706020507" pitchFamily="18" charset="2"/>
              </a:rPr>
              <a:t>(s)=x}</a:t>
            </a:r>
          </a:p>
          <a:p>
            <a:pPr eaLnBrk="1" hangingPunct="1">
              <a:buFont typeface="Wingdings" panose="05000000000000000000" pitchFamily="2" charset="2"/>
              <a:buNone/>
            </a:pPr>
            <a:r>
              <a:rPr lang="zh-CN" altLang="en-US" dirty="0">
                <a:sym typeface="Symbol" panose="05050102010706020507" pitchFamily="18" charset="2"/>
              </a:rPr>
              <a:t>称为马氏过程的</a:t>
            </a:r>
            <a:r>
              <a:rPr lang="zh-CN" altLang="en-US" dirty="0">
                <a:solidFill>
                  <a:srgbClr val="CC00CC"/>
                </a:solidFill>
                <a:sym typeface="Symbol" panose="05050102010706020507" pitchFamily="18" charset="2"/>
              </a:rPr>
              <a:t>转移概率</a:t>
            </a:r>
            <a:r>
              <a:rPr lang="zh-CN" altLang="en-US" dirty="0">
                <a:sym typeface="Symbol" panose="05050102010706020507" pitchFamily="18" charset="2"/>
              </a:rPr>
              <a:t>。</a:t>
            </a:r>
          </a:p>
        </p:txBody>
      </p:sp>
      <p:sp>
        <p:nvSpPr>
          <p:cNvPr id="261124" name="Rectangle 4">
            <a:extLst>
              <a:ext uri="{FF2B5EF4-FFF2-40B4-BE49-F238E27FC236}">
                <a16:creationId xmlns:a16="http://schemas.microsoft.com/office/drawing/2014/main" id="{FBBFA79D-0181-1CB8-F21E-5643D420BA1A}"/>
              </a:ext>
            </a:extLst>
          </p:cNvPr>
          <p:cNvSpPr>
            <a:spLocks noChangeArrowheads="1"/>
          </p:cNvSpPr>
          <p:nvPr/>
        </p:nvSpPr>
        <p:spPr bwMode="auto">
          <a:xfrm>
            <a:off x="231776" y="3056400"/>
            <a:ext cx="11039475"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Tx/>
              <a:buFontTx/>
              <a:buNone/>
            </a:pPr>
            <a:r>
              <a:rPr lang="en-US" altLang="zh-CN" sz="2400" dirty="0">
                <a:solidFill>
                  <a:srgbClr val="000000"/>
                </a:solidFill>
                <a:latin typeface="+mn-ea"/>
                <a:ea typeface="+mn-ea"/>
                <a:sym typeface="Symbol" panose="05050102010706020507" pitchFamily="18" charset="2"/>
              </a:rPr>
              <a:t>    </a:t>
            </a:r>
            <a:r>
              <a:rPr lang="zh-CN" altLang="en-US" sz="2400" dirty="0">
                <a:solidFill>
                  <a:srgbClr val="000000"/>
                </a:solidFill>
                <a:latin typeface="+mn-ea"/>
                <a:ea typeface="+mn-ea"/>
                <a:sym typeface="Symbol" panose="05050102010706020507" pitchFamily="18" charset="2"/>
              </a:rPr>
              <a:t>若转移概率与</a:t>
            </a:r>
            <a:r>
              <a:rPr lang="en-US" altLang="zh-CN" sz="2400" dirty="0">
                <a:solidFill>
                  <a:srgbClr val="000000"/>
                </a:solidFill>
                <a:latin typeface="+mn-ea"/>
                <a:ea typeface="+mn-ea"/>
                <a:sym typeface="Symbol" panose="05050102010706020507" pitchFamily="18" charset="2"/>
              </a:rPr>
              <a:t>s</a:t>
            </a:r>
            <a:r>
              <a:rPr lang="zh-CN" altLang="en-US" sz="2400" dirty="0">
                <a:solidFill>
                  <a:srgbClr val="000000"/>
                </a:solidFill>
                <a:latin typeface="+mn-ea"/>
                <a:ea typeface="+mn-ea"/>
                <a:sym typeface="Symbol" panose="05050102010706020507" pitchFamily="18" charset="2"/>
              </a:rPr>
              <a:t>无关，则此过程称为</a:t>
            </a:r>
            <a:r>
              <a:rPr lang="zh-CN" altLang="en-US" sz="2400" dirty="0">
                <a:solidFill>
                  <a:srgbClr val="CC00CC"/>
                </a:solidFill>
                <a:latin typeface="+mn-ea"/>
                <a:ea typeface="+mn-ea"/>
                <a:sym typeface="Symbol" panose="05050102010706020507" pitchFamily="18" charset="2"/>
              </a:rPr>
              <a:t>齐次</a:t>
            </a:r>
            <a:r>
              <a:rPr lang="en-US" altLang="zh-CN" sz="2400" dirty="0">
                <a:solidFill>
                  <a:srgbClr val="000000"/>
                </a:solidFill>
                <a:latin typeface="+mn-ea"/>
                <a:ea typeface="+mn-ea"/>
                <a:sym typeface="Symbol" panose="05050102010706020507" pitchFamily="18" charset="2"/>
              </a:rPr>
              <a:t>(</a:t>
            </a:r>
            <a:r>
              <a:rPr lang="zh-CN" altLang="en-US" sz="2400" dirty="0">
                <a:solidFill>
                  <a:srgbClr val="CC00CC"/>
                </a:solidFill>
                <a:latin typeface="+mn-ea"/>
                <a:ea typeface="+mn-ea"/>
                <a:sym typeface="Symbol" panose="05050102010706020507" pitchFamily="18" charset="2"/>
              </a:rPr>
              <a:t>时</a:t>
            </a:r>
            <a:r>
              <a:rPr lang="en-US" altLang="zh-CN" sz="2400" dirty="0">
                <a:solidFill>
                  <a:srgbClr val="000000"/>
                </a:solidFill>
                <a:latin typeface="+mn-ea"/>
                <a:ea typeface="+mn-ea"/>
                <a:sym typeface="Symbol" panose="05050102010706020507" pitchFamily="18" charset="2"/>
              </a:rPr>
              <a:t>)</a:t>
            </a:r>
            <a:r>
              <a:rPr lang="zh-CN" altLang="en-US" sz="2400" dirty="0">
                <a:solidFill>
                  <a:srgbClr val="CC00CC"/>
                </a:solidFill>
                <a:latin typeface="+mn-ea"/>
                <a:ea typeface="+mn-ea"/>
                <a:sym typeface="Symbol" panose="05050102010706020507" pitchFamily="18" charset="2"/>
              </a:rPr>
              <a:t>马氏过程</a:t>
            </a:r>
            <a:r>
              <a:rPr lang="zh-CN" altLang="en-US" sz="2400" dirty="0">
                <a:solidFill>
                  <a:srgbClr val="000000"/>
                </a:solidFill>
                <a:latin typeface="+mn-ea"/>
                <a:ea typeface="+mn-ea"/>
                <a:sym typeface="Symbol" panose="05050102010706020507" pitchFamily="18" charset="2"/>
              </a:rPr>
              <a:t>。</a:t>
            </a:r>
          </a:p>
        </p:txBody>
      </p:sp>
      <p:sp>
        <p:nvSpPr>
          <p:cNvPr id="261125" name="Rectangle 5">
            <a:extLst>
              <a:ext uri="{FF2B5EF4-FFF2-40B4-BE49-F238E27FC236}">
                <a16:creationId xmlns:a16="http://schemas.microsoft.com/office/drawing/2014/main" id="{09CC8B74-73F8-6D72-6D23-A70CC0292769}"/>
              </a:ext>
            </a:extLst>
          </p:cNvPr>
          <p:cNvSpPr>
            <a:spLocks noChangeArrowheads="1"/>
          </p:cNvSpPr>
          <p:nvPr/>
        </p:nvSpPr>
        <p:spPr bwMode="auto">
          <a:xfrm>
            <a:off x="231776" y="3869816"/>
            <a:ext cx="11582400" cy="223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Tx/>
              <a:buFontTx/>
              <a:buNone/>
            </a:pPr>
            <a:r>
              <a:rPr lang="en-US" altLang="zh-CN" sz="2400" dirty="0">
                <a:solidFill>
                  <a:srgbClr val="000000"/>
                </a:solidFill>
                <a:latin typeface="+mn-ea"/>
                <a:ea typeface="+mn-ea"/>
              </a:rPr>
              <a:t>    </a:t>
            </a:r>
            <a:r>
              <a:rPr lang="zh-CN" altLang="en-US" sz="2400" dirty="0">
                <a:solidFill>
                  <a:srgbClr val="000000"/>
                </a:solidFill>
                <a:latin typeface="+mn-ea"/>
                <a:ea typeface="+mn-ea"/>
              </a:rPr>
              <a:t>马氏过程</a:t>
            </a:r>
            <a:r>
              <a:rPr lang="en-US" altLang="zh-CN" sz="2400" dirty="0">
                <a:solidFill>
                  <a:srgbClr val="000000"/>
                </a:solidFill>
                <a:latin typeface="+mn-ea"/>
                <a:ea typeface="+mn-ea"/>
              </a:rPr>
              <a:t>{X(t),</a:t>
            </a:r>
            <a:r>
              <a:rPr lang="en-US" altLang="zh-CN" sz="2400" dirty="0" err="1">
                <a:solidFill>
                  <a:srgbClr val="000000"/>
                </a:solidFill>
                <a:latin typeface="+mn-ea"/>
                <a:ea typeface="+mn-ea"/>
              </a:rPr>
              <a:t>t</a:t>
            </a:r>
            <a:r>
              <a:rPr lang="en-US" altLang="zh-CN" sz="2400" dirty="0" err="1">
                <a:solidFill>
                  <a:srgbClr val="000000"/>
                </a:solidFill>
                <a:latin typeface="+mn-ea"/>
                <a:ea typeface="+mn-ea"/>
                <a:sym typeface="Symbol" panose="05050102010706020507" pitchFamily="18" charset="2"/>
              </a:rPr>
              <a:t>T</a:t>
            </a:r>
            <a:r>
              <a:rPr lang="en-US" altLang="zh-CN" sz="2400" dirty="0">
                <a:solidFill>
                  <a:srgbClr val="000000"/>
                </a:solidFill>
                <a:latin typeface="+mn-ea"/>
                <a:ea typeface="+mn-ea"/>
                <a:sym typeface="Symbol" panose="05050102010706020507" pitchFamily="18" charset="2"/>
              </a:rPr>
              <a:t>}</a:t>
            </a:r>
            <a:r>
              <a:rPr lang="zh-CN" altLang="en-US" sz="2400" dirty="0">
                <a:solidFill>
                  <a:srgbClr val="000000"/>
                </a:solidFill>
                <a:latin typeface="+mn-ea"/>
                <a:ea typeface="+mn-ea"/>
                <a:sym typeface="Symbol" panose="05050102010706020507" pitchFamily="18" charset="2"/>
              </a:rPr>
              <a:t>中，</a:t>
            </a:r>
            <a:r>
              <a:rPr lang="en-US" altLang="zh-CN" sz="2400" dirty="0">
                <a:solidFill>
                  <a:srgbClr val="000000"/>
                </a:solidFill>
                <a:latin typeface="+mn-ea"/>
                <a:ea typeface="+mn-ea"/>
                <a:sym typeface="Symbol" panose="05050102010706020507" pitchFamily="18" charset="2"/>
              </a:rPr>
              <a:t>X(t)</a:t>
            </a:r>
            <a:r>
              <a:rPr lang="zh-CN" altLang="en-US" sz="2400" dirty="0">
                <a:solidFill>
                  <a:srgbClr val="000000"/>
                </a:solidFill>
                <a:latin typeface="+mn-ea"/>
                <a:ea typeface="+mn-ea"/>
                <a:sym typeface="Symbol" panose="05050102010706020507" pitchFamily="18" charset="2"/>
              </a:rPr>
              <a:t>的取值</a:t>
            </a:r>
            <a:r>
              <a:rPr lang="en-US" altLang="zh-CN" sz="2400" dirty="0">
                <a:solidFill>
                  <a:srgbClr val="000000"/>
                </a:solidFill>
                <a:latin typeface="+mn-ea"/>
                <a:ea typeface="+mn-ea"/>
                <a:sym typeface="Symbol" panose="05050102010706020507" pitchFamily="18" charset="2"/>
              </a:rPr>
              <a:t>x</a:t>
            </a:r>
            <a:r>
              <a:rPr lang="zh-CN" altLang="en-US" sz="2400" dirty="0">
                <a:solidFill>
                  <a:srgbClr val="000000"/>
                </a:solidFill>
                <a:latin typeface="+mn-ea"/>
                <a:ea typeface="+mn-ea"/>
                <a:sym typeface="Symbol" panose="05050102010706020507" pitchFamily="18" charset="2"/>
              </a:rPr>
              <a:t>称为</a:t>
            </a:r>
            <a:r>
              <a:rPr lang="zh-CN" altLang="en-US" sz="2400" dirty="0">
                <a:solidFill>
                  <a:srgbClr val="CC00CC"/>
                </a:solidFill>
                <a:latin typeface="+mn-ea"/>
                <a:ea typeface="+mn-ea"/>
                <a:sym typeface="Symbol" panose="05050102010706020507" pitchFamily="18" charset="2"/>
              </a:rPr>
              <a:t>状态</a:t>
            </a:r>
            <a:r>
              <a:rPr lang="zh-CN" altLang="en-US" sz="2400" dirty="0">
                <a:solidFill>
                  <a:srgbClr val="000000"/>
                </a:solidFill>
                <a:latin typeface="+mn-ea"/>
                <a:ea typeface="+mn-ea"/>
                <a:sym typeface="Symbol" panose="05050102010706020507" pitchFamily="18" charset="2"/>
              </a:rPr>
              <a:t>，</a:t>
            </a:r>
            <a:r>
              <a:rPr lang="en-US" altLang="zh-CN" sz="2400" dirty="0">
                <a:solidFill>
                  <a:srgbClr val="000000"/>
                </a:solidFill>
                <a:latin typeface="+mn-ea"/>
                <a:ea typeface="+mn-ea"/>
                <a:sym typeface="Symbol" panose="05050102010706020507" pitchFamily="18" charset="2"/>
              </a:rPr>
              <a:t>X(t)</a:t>
            </a:r>
            <a:r>
              <a:rPr lang="zh-CN" altLang="en-US" sz="2400" dirty="0">
                <a:solidFill>
                  <a:srgbClr val="000000"/>
                </a:solidFill>
                <a:latin typeface="+mn-ea"/>
                <a:ea typeface="+mn-ea"/>
                <a:sym typeface="Symbol" panose="05050102010706020507" pitchFamily="18" charset="2"/>
              </a:rPr>
              <a:t>＝</a:t>
            </a:r>
            <a:r>
              <a:rPr lang="en-US" altLang="zh-CN" sz="2400" dirty="0">
                <a:solidFill>
                  <a:srgbClr val="000000"/>
                </a:solidFill>
                <a:latin typeface="+mn-ea"/>
                <a:ea typeface="+mn-ea"/>
                <a:sym typeface="Symbol" panose="05050102010706020507" pitchFamily="18" charset="2"/>
              </a:rPr>
              <a:t>x</a:t>
            </a:r>
            <a:r>
              <a:rPr lang="zh-CN" altLang="en-US" sz="2400" dirty="0">
                <a:solidFill>
                  <a:srgbClr val="000000"/>
                </a:solidFill>
                <a:latin typeface="+mn-ea"/>
                <a:ea typeface="+mn-ea"/>
                <a:sym typeface="Symbol" panose="05050102010706020507" pitchFamily="18" charset="2"/>
              </a:rPr>
              <a:t>表示过程在时刻</a:t>
            </a:r>
            <a:r>
              <a:rPr lang="en-US" altLang="zh-CN" sz="2400" dirty="0">
                <a:solidFill>
                  <a:srgbClr val="000000"/>
                </a:solidFill>
                <a:latin typeface="+mn-ea"/>
                <a:ea typeface="+mn-ea"/>
                <a:sym typeface="Symbol" panose="05050102010706020507" pitchFamily="18" charset="2"/>
              </a:rPr>
              <a:t>t</a:t>
            </a:r>
            <a:r>
              <a:rPr lang="zh-CN" altLang="en-US" sz="2400" dirty="0">
                <a:solidFill>
                  <a:srgbClr val="000000"/>
                </a:solidFill>
                <a:latin typeface="+mn-ea"/>
                <a:ea typeface="+mn-ea"/>
                <a:sym typeface="Symbol" panose="05050102010706020507" pitchFamily="18" charset="2"/>
              </a:rPr>
              <a:t>处于状态</a:t>
            </a:r>
            <a:r>
              <a:rPr lang="en-US" altLang="zh-CN" sz="2400" dirty="0">
                <a:solidFill>
                  <a:srgbClr val="000000"/>
                </a:solidFill>
                <a:latin typeface="+mn-ea"/>
                <a:ea typeface="+mn-ea"/>
                <a:sym typeface="Symbol" panose="05050102010706020507" pitchFamily="18" charset="2"/>
              </a:rPr>
              <a:t>x</a:t>
            </a:r>
            <a:r>
              <a:rPr lang="zh-CN" altLang="en-US" sz="2400" dirty="0">
                <a:solidFill>
                  <a:srgbClr val="000000"/>
                </a:solidFill>
                <a:latin typeface="+mn-ea"/>
                <a:ea typeface="+mn-ea"/>
                <a:sym typeface="Symbol" panose="05050102010706020507" pitchFamily="18" charset="2"/>
              </a:rPr>
              <a:t>，过程所取状态的全体</a:t>
            </a:r>
          </a:p>
          <a:p>
            <a:pPr algn="ctr" eaLnBrk="1" hangingPunct="1">
              <a:lnSpc>
                <a:spcPct val="150000"/>
              </a:lnSpc>
              <a:buClrTx/>
              <a:buFontTx/>
              <a:buNone/>
            </a:pPr>
            <a:r>
              <a:rPr lang="en-US" altLang="zh-CN" sz="2400" dirty="0">
                <a:solidFill>
                  <a:srgbClr val="0000FF"/>
                </a:solidFill>
                <a:latin typeface="+mn-ea"/>
                <a:ea typeface="+mn-ea"/>
                <a:sym typeface="Symbol" panose="05050102010706020507" pitchFamily="18" charset="2"/>
              </a:rPr>
              <a:t>E</a:t>
            </a:r>
            <a:r>
              <a:rPr lang="zh-CN" altLang="en-US" sz="2400" dirty="0">
                <a:solidFill>
                  <a:srgbClr val="0000FF"/>
                </a:solidFill>
                <a:latin typeface="+mn-ea"/>
                <a:ea typeface="+mn-ea"/>
                <a:sym typeface="Symbol" panose="05050102010706020507" pitchFamily="18" charset="2"/>
              </a:rPr>
              <a:t>＝</a:t>
            </a:r>
            <a:r>
              <a:rPr lang="en-US" altLang="zh-CN" sz="2400" dirty="0">
                <a:solidFill>
                  <a:srgbClr val="0000FF"/>
                </a:solidFill>
                <a:latin typeface="+mn-ea"/>
                <a:ea typeface="+mn-ea"/>
                <a:sym typeface="Symbol" panose="05050102010706020507" pitchFamily="18" charset="2"/>
              </a:rPr>
              <a:t>{x</a:t>
            </a:r>
            <a:r>
              <a:rPr lang="zh-CN" altLang="en-US" sz="2400" dirty="0">
                <a:solidFill>
                  <a:srgbClr val="0000FF"/>
                </a:solidFill>
                <a:latin typeface="+mn-ea"/>
                <a:ea typeface="+mn-ea"/>
                <a:sym typeface="Symbol" panose="05050102010706020507" pitchFamily="18" charset="2"/>
              </a:rPr>
              <a:t>：</a:t>
            </a:r>
            <a:r>
              <a:rPr lang="en-US" altLang="zh-CN" sz="2400" dirty="0">
                <a:solidFill>
                  <a:srgbClr val="0000FF"/>
                </a:solidFill>
                <a:latin typeface="+mn-ea"/>
                <a:ea typeface="+mn-ea"/>
                <a:sym typeface="Symbol" panose="05050102010706020507" pitchFamily="18" charset="2"/>
              </a:rPr>
              <a:t>X(t)=</a:t>
            </a:r>
            <a:r>
              <a:rPr lang="en-US" altLang="zh-CN" sz="2400" dirty="0" err="1">
                <a:solidFill>
                  <a:srgbClr val="0000FF"/>
                </a:solidFill>
                <a:latin typeface="+mn-ea"/>
                <a:ea typeface="+mn-ea"/>
                <a:sym typeface="Symbol" panose="05050102010706020507" pitchFamily="18" charset="2"/>
              </a:rPr>
              <a:t>x,tT</a:t>
            </a:r>
            <a:r>
              <a:rPr lang="en-US" altLang="zh-CN" sz="2400" dirty="0">
                <a:solidFill>
                  <a:srgbClr val="0000FF"/>
                </a:solidFill>
                <a:latin typeface="+mn-ea"/>
                <a:ea typeface="+mn-ea"/>
                <a:sym typeface="Symbol" panose="05050102010706020507" pitchFamily="18" charset="2"/>
              </a:rPr>
              <a:t>}</a:t>
            </a:r>
          </a:p>
          <a:p>
            <a:pPr eaLnBrk="1" hangingPunct="1">
              <a:lnSpc>
                <a:spcPct val="150000"/>
              </a:lnSpc>
              <a:buClrTx/>
              <a:buFontTx/>
              <a:buNone/>
            </a:pPr>
            <a:r>
              <a:rPr lang="zh-CN" altLang="en-US" sz="2400" dirty="0">
                <a:solidFill>
                  <a:srgbClr val="000000"/>
                </a:solidFill>
                <a:latin typeface="+mn-ea"/>
                <a:ea typeface="+mn-ea"/>
                <a:sym typeface="Symbol" panose="05050102010706020507" pitchFamily="18" charset="2"/>
              </a:rPr>
              <a:t>称为</a:t>
            </a:r>
            <a:r>
              <a:rPr lang="zh-CN" altLang="en-US" sz="2400" dirty="0">
                <a:solidFill>
                  <a:srgbClr val="CC00CC"/>
                </a:solidFill>
                <a:latin typeface="+mn-ea"/>
                <a:ea typeface="+mn-ea"/>
                <a:sym typeface="Symbol" panose="05050102010706020507" pitchFamily="18" charset="2"/>
              </a:rPr>
              <a:t>状态空间</a:t>
            </a:r>
            <a:r>
              <a:rPr lang="zh-CN" altLang="en-US" sz="2400" dirty="0">
                <a:solidFill>
                  <a:srgbClr val="000000"/>
                </a:solidFill>
                <a:latin typeface="+mn-ea"/>
                <a:ea typeface="+mn-ea"/>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1123">
                                            <p:txEl>
                                              <p:pRg st="0" end="0"/>
                                            </p:txEl>
                                          </p:spTgt>
                                        </p:tgtEl>
                                        <p:attrNameLst>
                                          <p:attrName>style.visibility</p:attrName>
                                        </p:attrNameLst>
                                      </p:cBhvr>
                                      <p:to>
                                        <p:strVal val="visible"/>
                                      </p:to>
                                    </p:set>
                                    <p:anim calcmode="lin" valueType="num">
                                      <p:cBhvr additive="base">
                                        <p:cTn id="7" dur="500" fill="hold"/>
                                        <p:tgtEl>
                                          <p:spTgt spid="261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112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61123">
                                            <p:txEl>
                                              <p:pRg st="1" end="1"/>
                                            </p:txEl>
                                          </p:spTgt>
                                        </p:tgtEl>
                                        <p:attrNameLst>
                                          <p:attrName>style.visibility</p:attrName>
                                        </p:attrNameLst>
                                      </p:cBhvr>
                                      <p:to>
                                        <p:strVal val="visible"/>
                                      </p:to>
                                    </p:set>
                                    <p:anim calcmode="lin" valueType="num">
                                      <p:cBhvr additive="base">
                                        <p:cTn id="12" dur="500" fill="hold"/>
                                        <p:tgtEl>
                                          <p:spTgt spid="26112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61123">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61123">
                                            <p:txEl>
                                              <p:pRg st="2" end="2"/>
                                            </p:txEl>
                                          </p:spTgt>
                                        </p:tgtEl>
                                        <p:attrNameLst>
                                          <p:attrName>style.visibility</p:attrName>
                                        </p:attrNameLst>
                                      </p:cBhvr>
                                      <p:to>
                                        <p:strVal val="visible"/>
                                      </p:to>
                                    </p:set>
                                    <p:anim calcmode="lin" valueType="num">
                                      <p:cBhvr additive="base">
                                        <p:cTn id="17" dur="500" fill="hold"/>
                                        <p:tgtEl>
                                          <p:spTgt spid="26112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61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61124"/>
                                        </p:tgtEl>
                                        <p:attrNameLst>
                                          <p:attrName>style.visibility</p:attrName>
                                        </p:attrNameLst>
                                      </p:cBhvr>
                                      <p:to>
                                        <p:strVal val="visible"/>
                                      </p:to>
                                    </p:set>
                                    <p:anim calcmode="lin" valueType="num">
                                      <p:cBhvr additive="base">
                                        <p:cTn id="23" dur="500" fill="hold"/>
                                        <p:tgtEl>
                                          <p:spTgt spid="261124"/>
                                        </p:tgtEl>
                                        <p:attrNameLst>
                                          <p:attrName>ppt_x</p:attrName>
                                        </p:attrNameLst>
                                      </p:cBhvr>
                                      <p:tavLst>
                                        <p:tav tm="0">
                                          <p:val>
                                            <p:strVal val="0-#ppt_w/2"/>
                                          </p:val>
                                        </p:tav>
                                        <p:tav tm="100000">
                                          <p:val>
                                            <p:strVal val="#ppt_x"/>
                                          </p:val>
                                        </p:tav>
                                      </p:tavLst>
                                    </p:anim>
                                    <p:anim calcmode="lin" valueType="num">
                                      <p:cBhvr additive="base">
                                        <p:cTn id="24" dur="500" fill="hold"/>
                                        <p:tgtEl>
                                          <p:spTgt spid="261124"/>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61125"/>
                                        </p:tgtEl>
                                        <p:attrNameLst>
                                          <p:attrName>style.visibility</p:attrName>
                                        </p:attrNameLst>
                                      </p:cBhvr>
                                      <p:to>
                                        <p:strVal val="visible"/>
                                      </p:to>
                                    </p:set>
                                    <p:anim calcmode="lin" valueType="num">
                                      <p:cBhvr additive="base">
                                        <p:cTn id="29" dur="500" fill="hold"/>
                                        <p:tgtEl>
                                          <p:spTgt spid="261125"/>
                                        </p:tgtEl>
                                        <p:attrNameLst>
                                          <p:attrName>ppt_x</p:attrName>
                                        </p:attrNameLst>
                                      </p:cBhvr>
                                      <p:tavLst>
                                        <p:tav tm="0">
                                          <p:val>
                                            <p:strVal val="0-#ppt_w/2"/>
                                          </p:val>
                                        </p:tav>
                                        <p:tav tm="100000">
                                          <p:val>
                                            <p:strVal val="#ppt_x"/>
                                          </p:val>
                                        </p:tav>
                                      </p:tavLst>
                                    </p:anim>
                                    <p:anim calcmode="lin" valueType="num">
                                      <p:cBhvr additive="base">
                                        <p:cTn id="30" dur="500" fill="hold"/>
                                        <p:tgtEl>
                                          <p:spTgt spid="2611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build="p"/>
      <p:bldP spid="261124" grpId="0" autoUpdateAnimBg="0"/>
      <p:bldP spid="261125"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C9C1845-D9E7-4EFB-90BC-0AB3681556DF}"/>
              </a:ext>
            </a:extLst>
          </p:cNvPr>
          <p:cNvSpPr>
            <a:spLocks noGrp="1" noChangeArrowheads="1"/>
          </p:cNvSpPr>
          <p:nvPr>
            <p:ph type="title"/>
          </p:nvPr>
        </p:nvSpPr>
        <p:spPr/>
        <p:txBody>
          <a:bodyPr/>
          <a:lstStyle/>
          <a:p>
            <a:pPr eaLnBrk="1" hangingPunct="1"/>
            <a:r>
              <a:rPr lang="zh-CN" altLang="en-US"/>
              <a:t>马尔可夫过程的分类</a:t>
            </a:r>
          </a:p>
        </p:txBody>
      </p:sp>
      <p:graphicFrame>
        <p:nvGraphicFramePr>
          <p:cNvPr id="262186" name="Group 42">
            <a:extLst>
              <a:ext uri="{FF2B5EF4-FFF2-40B4-BE49-F238E27FC236}">
                <a16:creationId xmlns:a16="http://schemas.microsoft.com/office/drawing/2014/main" id="{C2CA6080-0605-4BE5-9897-0B9CD3F1AA6A}"/>
              </a:ext>
            </a:extLst>
          </p:cNvPr>
          <p:cNvGraphicFramePr>
            <a:graphicFrameLocks noGrp="1"/>
          </p:cNvGraphicFramePr>
          <p:nvPr/>
        </p:nvGraphicFramePr>
        <p:xfrm>
          <a:off x="1298575" y="2286794"/>
          <a:ext cx="8839200" cy="2895600"/>
        </p:xfrm>
        <a:graphic>
          <a:graphicData uri="http://schemas.openxmlformats.org/drawingml/2006/table">
            <a:tbl>
              <a:tblPr/>
              <a:tblGrid>
                <a:gridCol w="1764504">
                  <a:extLst>
                    <a:ext uri="{9D8B030D-6E8A-4147-A177-3AD203B41FA5}">
                      <a16:colId xmlns:a16="http://schemas.microsoft.com/office/drawing/2014/main" val="20000"/>
                    </a:ext>
                  </a:extLst>
                </a:gridCol>
                <a:gridCol w="1024968">
                  <a:extLst>
                    <a:ext uri="{9D8B030D-6E8A-4147-A177-3AD203B41FA5}">
                      <a16:colId xmlns:a16="http://schemas.microsoft.com/office/drawing/2014/main" val="20001"/>
                    </a:ext>
                  </a:extLst>
                </a:gridCol>
                <a:gridCol w="3024864">
                  <a:extLst>
                    <a:ext uri="{9D8B030D-6E8A-4147-A177-3AD203B41FA5}">
                      <a16:colId xmlns:a16="http://schemas.microsoft.com/office/drawing/2014/main" val="20002"/>
                    </a:ext>
                  </a:extLst>
                </a:gridCol>
                <a:gridCol w="3024864">
                  <a:extLst>
                    <a:ext uri="{9D8B030D-6E8A-4147-A177-3AD203B41FA5}">
                      <a16:colId xmlns:a16="http://schemas.microsoft.com/office/drawing/2014/main" val="20003"/>
                    </a:ext>
                  </a:extLst>
                </a:gridCol>
              </a:tblGrid>
              <a:tr h="723900">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endParaRPr kumimoji="1" lang="zh-CN" altLang="zh-CN" sz="2400" b="1" i="0" u="none" strike="noStrike" cap="none" normalizeH="0" baseline="0">
                        <a:ln>
                          <a:noFill/>
                        </a:ln>
                        <a:solidFill>
                          <a:srgbClr val="6600CC"/>
                        </a:solidFill>
                        <a:effectLst/>
                        <a:latin typeface="+mn-ea"/>
                        <a:ea typeface="+mn-ea"/>
                      </a:endParaRPr>
                    </a:p>
                  </a:txBody>
                  <a:tcPr marL="0" marR="0" marT="38111" marB="38111"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endParaRPr kumimoji="1" lang="zh-CN" altLang="zh-CN" sz="2400" b="1" i="0" u="none" strike="noStrike" cap="none" normalizeH="0" baseline="0">
                        <a:ln>
                          <a:noFill/>
                        </a:ln>
                        <a:solidFill>
                          <a:srgbClr val="6600CC"/>
                        </a:solidFill>
                        <a:effectLst/>
                        <a:latin typeface="+mn-ea"/>
                        <a:ea typeface="+mn-ea"/>
                      </a:endParaRPr>
                    </a:p>
                  </a:txBody>
                  <a:tcPr marL="0" marR="0" marT="38111" marB="38111" horzOverflow="overflow">
                    <a:lnL>
                      <a:noFill/>
                    </a:lnL>
                    <a:lnR w="19050" cap="flat" cmpd="sng" algn="ctr">
                      <a:solidFill>
                        <a:srgbClr val="FF9900"/>
                      </a:solidFill>
                      <a:prstDash val="solid"/>
                      <a:round/>
                      <a:headEnd type="none" w="med" len="med"/>
                      <a:tailEnd type="none" w="med" len="med"/>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zh-CN" altLang="en-US" sz="2400" b="1" i="0" u="none" strike="noStrike" cap="none" normalizeH="0" baseline="0">
                          <a:ln>
                            <a:noFill/>
                          </a:ln>
                          <a:solidFill>
                            <a:srgbClr val="6600CC"/>
                          </a:solidFill>
                          <a:effectLst/>
                          <a:latin typeface="+mn-ea"/>
                          <a:ea typeface="+mn-ea"/>
                        </a:rPr>
                        <a:t>参数集</a:t>
                      </a:r>
                      <a:r>
                        <a:rPr kumimoji="1" lang="en-US" altLang="zh-CN" sz="2400" b="1" i="0" u="none" strike="noStrike" cap="none" normalizeH="0" baseline="0">
                          <a:ln>
                            <a:noFill/>
                          </a:ln>
                          <a:solidFill>
                            <a:srgbClr val="6600CC"/>
                          </a:solidFill>
                          <a:effectLst/>
                          <a:latin typeface="+mn-ea"/>
                          <a:ea typeface="+mn-ea"/>
                        </a:rPr>
                        <a:t>T</a:t>
                      </a:r>
                    </a:p>
                  </a:txBody>
                  <a:tcPr marL="0" marR="0" marT="38111" marB="38111" horzOverflow="overflow">
                    <a:lnL w="19050" cap="flat" cmpd="sng" algn="ctr">
                      <a:solidFill>
                        <a:srgbClr val="FF9900"/>
                      </a:solidFill>
                      <a:prstDash val="solid"/>
                      <a:round/>
                      <a:headEnd type="none" w="med" len="med"/>
                      <a:tailEnd type="none" w="med" len="med"/>
                    </a:lnL>
                    <a:lnR w="19050" cap="flat" cmpd="sng" algn="ctr">
                      <a:solidFill>
                        <a:srgbClr val="FF9900"/>
                      </a:solidFill>
                      <a:prstDash val="solid"/>
                      <a:round/>
                      <a:headEnd type="none" w="med" len="med"/>
                      <a:tailEnd type="none" w="med" len="med"/>
                    </a:lnR>
                    <a:lnT w="19050" cap="flat" cmpd="sng" algn="ctr">
                      <a:solidFill>
                        <a:srgbClr val="FF9900"/>
                      </a:solidFill>
                      <a:prstDash val="solid"/>
                      <a:round/>
                      <a:headEnd type="none" w="med" len="med"/>
                      <a:tailEnd type="none" w="med" len="med"/>
                    </a:lnT>
                    <a:lnB w="19050" cap="flat" cmpd="sng" algn="ctr">
                      <a:solidFill>
                        <a:srgbClr val="FF9900"/>
                      </a:solidFill>
                      <a:prstDash val="solid"/>
                      <a:round/>
                      <a:headEnd type="none" w="med" len="med"/>
                      <a:tailEnd type="none" w="med" len="med"/>
                    </a:lnB>
                    <a:lnTlToBr>
                      <a:noFill/>
                    </a:lnTlToBr>
                    <a:lnBlToTr>
                      <a:noFill/>
                    </a:lnBlToTr>
                    <a:solidFill>
                      <a:srgbClr val="96FFFF"/>
                    </a:solidFill>
                  </a:tcPr>
                </a:tc>
                <a:tc hMerge="1">
                  <a:txBody>
                    <a:bodyPr/>
                    <a:lstStyle/>
                    <a:p>
                      <a:endParaRPr lang="zh-CN" altLang="en-US"/>
                    </a:p>
                  </a:txBody>
                  <a:tcPr/>
                </a:tc>
                <a:extLst>
                  <a:ext uri="{0D108BD9-81ED-4DB2-BD59-A6C34878D82A}">
                    <a16:rowId xmlns:a16="http://schemas.microsoft.com/office/drawing/2014/main" val="10000"/>
                  </a:ext>
                </a:extLst>
              </a:tr>
              <a:tr h="723900">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endParaRPr kumimoji="1" lang="zh-CN" altLang="zh-CN" sz="2400" b="1" i="0" u="none" strike="noStrike" cap="none" normalizeH="0" baseline="0">
                        <a:ln>
                          <a:noFill/>
                        </a:ln>
                        <a:solidFill>
                          <a:srgbClr val="6600CC"/>
                        </a:solidFill>
                        <a:effectLst/>
                        <a:latin typeface="+mn-ea"/>
                        <a:ea typeface="+mn-ea"/>
                      </a:endParaRPr>
                    </a:p>
                  </a:txBody>
                  <a:tcPr marL="0" marR="0" marT="38111" marB="38111" horzOverflow="overflow">
                    <a:lnL cap="flat">
                      <a:noFill/>
                    </a:lnL>
                    <a:lnR>
                      <a:noFill/>
                    </a:lnR>
                    <a:lnT>
                      <a:noFill/>
                    </a:lnT>
                    <a:lnB w="19050" cap="flat" cmpd="sng" algn="ctr">
                      <a:solidFill>
                        <a:srgbClr val="FF99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endParaRPr kumimoji="1" lang="zh-CN" altLang="zh-CN" sz="2400" b="1" i="0" u="none" strike="noStrike" cap="none" normalizeH="0" baseline="0">
                        <a:ln>
                          <a:noFill/>
                        </a:ln>
                        <a:solidFill>
                          <a:srgbClr val="6600CC"/>
                        </a:solidFill>
                        <a:effectLst/>
                        <a:latin typeface="+mn-ea"/>
                        <a:ea typeface="+mn-ea"/>
                      </a:endParaRPr>
                    </a:p>
                  </a:txBody>
                  <a:tcPr marL="0" marR="0" marT="38111" marB="38111" horzOverflow="overflow">
                    <a:lnL>
                      <a:noFill/>
                    </a:lnL>
                    <a:lnR w="19050" cap="flat" cmpd="sng" algn="ctr">
                      <a:solidFill>
                        <a:srgbClr val="FF9900"/>
                      </a:solidFill>
                      <a:prstDash val="solid"/>
                      <a:round/>
                      <a:headEnd type="none" w="med" len="med"/>
                      <a:tailEnd type="none" w="med" len="med"/>
                    </a:lnR>
                    <a:lnT>
                      <a:noFill/>
                    </a:lnT>
                    <a:lnB w="19050" cap="flat" cmpd="sng" algn="ctr">
                      <a:solidFill>
                        <a:srgbClr val="FF99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zh-CN" altLang="en-US" sz="2400" b="1" i="0" u="none" strike="noStrike" cap="none" normalizeH="0" baseline="0" dirty="0">
                          <a:ln>
                            <a:noFill/>
                          </a:ln>
                          <a:solidFill>
                            <a:srgbClr val="6600CC"/>
                          </a:solidFill>
                          <a:effectLst/>
                          <a:latin typeface="+mn-ea"/>
                          <a:ea typeface="+mn-ea"/>
                        </a:rPr>
                        <a:t>离散</a:t>
                      </a:r>
                    </a:p>
                  </a:txBody>
                  <a:tcPr marL="0" marR="0" marT="38111" marB="38111" horzOverflow="overflow">
                    <a:lnL w="19050" cap="flat" cmpd="sng" algn="ctr">
                      <a:solidFill>
                        <a:srgbClr val="FF9900"/>
                      </a:solidFill>
                      <a:prstDash val="solid"/>
                      <a:round/>
                      <a:headEnd type="none" w="med" len="med"/>
                      <a:tailEnd type="none" w="med" len="med"/>
                    </a:lnL>
                    <a:lnR w="19050" cap="flat" cmpd="sng" algn="ctr">
                      <a:solidFill>
                        <a:srgbClr val="FF9900"/>
                      </a:solidFill>
                      <a:prstDash val="solid"/>
                      <a:round/>
                      <a:headEnd type="none" w="med" len="med"/>
                      <a:tailEnd type="none" w="med" len="med"/>
                    </a:lnR>
                    <a:lnT w="19050" cap="flat" cmpd="sng" algn="ctr">
                      <a:solidFill>
                        <a:srgbClr val="FF9900"/>
                      </a:solidFill>
                      <a:prstDash val="solid"/>
                      <a:round/>
                      <a:headEnd type="none" w="med" len="med"/>
                      <a:tailEnd type="none" w="med" len="med"/>
                    </a:lnT>
                    <a:lnB w="19050" cap="flat" cmpd="sng" algn="ctr">
                      <a:solidFill>
                        <a:srgbClr val="FF9900"/>
                      </a:solidFill>
                      <a:prstDash val="solid"/>
                      <a:round/>
                      <a:headEnd type="none" w="med" len="med"/>
                      <a:tailEnd type="none" w="med" len="med"/>
                    </a:lnB>
                    <a:lnTlToBr>
                      <a:noFill/>
                    </a:lnTlToBr>
                    <a:lnBlToTr>
                      <a:noFill/>
                    </a:lnBlToTr>
                    <a:solidFill>
                      <a:srgbClr val="96FFFF"/>
                    </a:solidFill>
                  </a:tcPr>
                </a:tc>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zh-CN" altLang="en-US" sz="2400" b="1" i="0" u="none" strike="noStrike" cap="none" normalizeH="0" baseline="0">
                          <a:ln>
                            <a:noFill/>
                          </a:ln>
                          <a:solidFill>
                            <a:srgbClr val="6600CC"/>
                          </a:solidFill>
                          <a:effectLst/>
                          <a:latin typeface="+mn-ea"/>
                          <a:ea typeface="+mn-ea"/>
                        </a:rPr>
                        <a:t>连续</a:t>
                      </a:r>
                    </a:p>
                  </a:txBody>
                  <a:tcPr marL="0" marR="0" marT="38111" marB="38111" horzOverflow="overflow">
                    <a:lnL w="19050" cap="flat" cmpd="sng" algn="ctr">
                      <a:solidFill>
                        <a:srgbClr val="FF9900"/>
                      </a:solidFill>
                      <a:prstDash val="solid"/>
                      <a:round/>
                      <a:headEnd type="none" w="med" len="med"/>
                      <a:tailEnd type="none" w="med" len="med"/>
                    </a:lnL>
                    <a:lnR w="19050" cap="flat" cmpd="sng" algn="ctr">
                      <a:solidFill>
                        <a:srgbClr val="FF9900"/>
                      </a:solidFill>
                      <a:prstDash val="solid"/>
                      <a:round/>
                      <a:headEnd type="none" w="med" len="med"/>
                      <a:tailEnd type="none" w="med" len="med"/>
                    </a:lnR>
                    <a:lnT w="19050" cap="flat" cmpd="sng" algn="ctr">
                      <a:solidFill>
                        <a:srgbClr val="FF9900"/>
                      </a:solidFill>
                      <a:prstDash val="solid"/>
                      <a:round/>
                      <a:headEnd type="none" w="med" len="med"/>
                      <a:tailEnd type="none" w="med" len="med"/>
                    </a:lnT>
                    <a:lnB w="19050" cap="flat" cmpd="sng" algn="ctr">
                      <a:solidFill>
                        <a:srgbClr val="FF9900"/>
                      </a:solidFill>
                      <a:prstDash val="solid"/>
                      <a:round/>
                      <a:headEnd type="none" w="med" len="med"/>
                      <a:tailEnd type="none" w="med" len="med"/>
                    </a:lnB>
                    <a:lnTlToBr>
                      <a:noFill/>
                    </a:lnTlToBr>
                    <a:lnBlToTr>
                      <a:noFill/>
                    </a:lnBlToTr>
                    <a:solidFill>
                      <a:srgbClr val="96FFFF"/>
                    </a:solidFill>
                  </a:tcPr>
                </a:tc>
                <a:extLst>
                  <a:ext uri="{0D108BD9-81ED-4DB2-BD59-A6C34878D82A}">
                    <a16:rowId xmlns:a16="http://schemas.microsoft.com/office/drawing/2014/main" val="10001"/>
                  </a:ext>
                </a:extLst>
              </a:tr>
              <a:tr h="723900">
                <a:tc rowSpan="2">
                  <a:txBody>
                    <a:bodyPr/>
                    <a:lstStyle/>
                    <a:p>
                      <a:pPr marL="0" marR="0" lvl="0" indent="0" algn="ctr" defTabSz="914400" rtl="0" eaLnBrk="1" fontAlgn="base" latinLnBrk="0" hangingPunct="1">
                        <a:lnSpc>
                          <a:spcPct val="120000"/>
                        </a:lnSpc>
                        <a:spcBef>
                          <a:spcPct val="50000"/>
                        </a:spcBef>
                        <a:spcAft>
                          <a:spcPct val="0"/>
                        </a:spcAft>
                        <a:buClr>
                          <a:srgbClr val="00FF00"/>
                        </a:buClr>
                        <a:buSzTx/>
                        <a:buFont typeface="Wingdings" pitchFamily="2" charset="2"/>
                        <a:buNone/>
                        <a:tabLst/>
                      </a:pPr>
                      <a:r>
                        <a:rPr kumimoji="1" lang="zh-CN" altLang="en-US" sz="2400" b="1" i="0" u="none" strike="noStrike" cap="none" normalizeH="0" baseline="0">
                          <a:ln>
                            <a:noFill/>
                          </a:ln>
                          <a:solidFill>
                            <a:srgbClr val="6600CC"/>
                          </a:solidFill>
                          <a:effectLst/>
                          <a:latin typeface="+mn-ea"/>
                          <a:ea typeface="+mn-ea"/>
                        </a:rPr>
                        <a:t>状态空间</a:t>
                      </a:r>
                      <a:r>
                        <a:rPr kumimoji="1" lang="en-US" altLang="zh-CN" sz="2400" b="1" i="0" u="none" strike="noStrike" cap="none" normalizeH="0" baseline="0">
                          <a:ln>
                            <a:noFill/>
                          </a:ln>
                          <a:solidFill>
                            <a:srgbClr val="6600CC"/>
                          </a:solidFill>
                          <a:effectLst/>
                          <a:latin typeface="+mn-ea"/>
                          <a:ea typeface="+mn-ea"/>
                        </a:rPr>
                        <a:t>E</a:t>
                      </a:r>
                    </a:p>
                  </a:txBody>
                  <a:tcPr marL="0" marR="0" marT="39611" marB="39611" anchor="ctr" horzOverflow="overflow">
                    <a:lnL w="19050" cap="flat" cmpd="sng" algn="ctr">
                      <a:solidFill>
                        <a:srgbClr val="FF9900"/>
                      </a:solidFill>
                      <a:prstDash val="solid"/>
                      <a:round/>
                      <a:headEnd type="none" w="med" len="med"/>
                      <a:tailEnd type="none" w="med" len="med"/>
                    </a:lnL>
                    <a:lnR w="19050" cap="flat" cmpd="sng" algn="ctr">
                      <a:solidFill>
                        <a:srgbClr val="FF9900"/>
                      </a:solidFill>
                      <a:prstDash val="solid"/>
                      <a:round/>
                      <a:headEnd type="none" w="med" len="med"/>
                      <a:tailEnd type="none" w="med" len="med"/>
                    </a:lnR>
                    <a:lnT w="19050" cap="flat" cmpd="sng" algn="ctr">
                      <a:solidFill>
                        <a:srgbClr val="FF9900"/>
                      </a:solidFill>
                      <a:prstDash val="solid"/>
                      <a:round/>
                      <a:headEnd type="none" w="med" len="med"/>
                      <a:tailEnd type="none" w="med" len="med"/>
                    </a:lnT>
                    <a:lnB w="19050" cap="flat" cmpd="sng" algn="ctr">
                      <a:solidFill>
                        <a:srgbClr val="FF9900"/>
                      </a:solidFill>
                      <a:prstDash val="solid"/>
                      <a:round/>
                      <a:headEnd type="none" w="med" len="med"/>
                      <a:tailEnd type="none" w="med" len="med"/>
                    </a:lnB>
                    <a:lnTlToBr>
                      <a:noFill/>
                    </a:lnTlToBr>
                    <a:lnBlToTr>
                      <a:noFill/>
                    </a:lnBlToTr>
                    <a:solidFill>
                      <a:srgbClr val="96FFFF"/>
                    </a:solidFill>
                  </a:tcPr>
                </a:tc>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zh-CN" altLang="en-US" sz="2400" b="1" i="0" u="none" strike="noStrike" cap="none" normalizeH="0" baseline="0">
                          <a:ln>
                            <a:noFill/>
                          </a:ln>
                          <a:solidFill>
                            <a:srgbClr val="6600CC"/>
                          </a:solidFill>
                          <a:effectLst/>
                          <a:latin typeface="+mn-ea"/>
                          <a:ea typeface="+mn-ea"/>
                        </a:rPr>
                        <a:t>离散</a:t>
                      </a:r>
                    </a:p>
                  </a:txBody>
                  <a:tcPr marL="0" marR="0" marT="38111" marB="38111" horzOverflow="overflow">
                    <a:lnL w="19050" cap="flat" cmpd="sng" algn="ctr">
                      <a:solidFill>
                        <a:srgbClr val="FF9900"/>
                      </a:solidFill>
                      <a:prstDash val="solid"/>
                      <a:round/>
                      <a:headEnd type="none" w="med" len="med"/>
                      <a:tailEnd type="none" w="med" len="med"/>
                    </a:lnL>
                    <a:lnR w="19050" cap="flat" cmpd="sng" algn="ctr">
                      <a:solidFill>
                        <a:srgbClr val="FF9900"/>
                      </a:solidFill>
                      <a:prstDash val="solid"/>
                      <a:round/>
                      <a:headEnd type="none" w="med" len="med"/>
                      <a:tailEnd type="none" w="med" len="med"/>
                    </a:lnR>
                    <a:lnT w="19050" cap="flat" cmpd="sng" algn="ctr">
                      <a:solidFill>
                        <a:srgbClr val="FF9900"/>
                      </a:solidFill>
                      <a:prstDash val="solid"/>
                      <a:round/>
                      <a:headEnd type="none" w="med" len="med"/>
                      <a:tailEnd type="none" w="med" len="med"/>
                    </a:lnT>
                    <a:lnB w="19050" cap="flat" cmpd="sng" algn="ctr">
                      <a:solidFill>
                        <a:srgbClr val="FF9900"/>
                      </a:solidFill>
                      <a:prstDash val="solid"/>
                      <a:round/>
                      <a:headEnd type="none" w="med" len="med"/>
                      <a:tailEnd type="none" w="med" len="med"/>
                    </a:lnB>
                    <a:lnTlToBr>
                      <a:noFill/>
                    </a:lnTlToBr>
                    <a:lnBlToTr>
                      <a:noFill/>
                    </a:lnBlToTr>
                    <a:solidFill>
                      <a:srgbClr val="96FFFF"/>
                    </a:solidFill>
                  </a:tcPr>
                </a:tc>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zh-CN" altLang="en-US" sz="2400" b="1" i="0" u="none" strike="noStrike" cap="none" normalizeH="0" baseline="0">
                          <a:ln>
                            <a:noFill/>
                          </a:ln>
                          <a:solidFill>
                            <a:srgbClr val="6600CC"/>
                          </a:solidFill>
                          <a:effectLst/>
                          <a:latin typeface="+mn-ea"/>
                          <a:ea typeface="+mn-ea"/>
                        </a:rPr>
                        <a:t>离散参数马氏链</a:t>
                      </a:r>
                    </a:p>
                  </a:txBody>
                  <a:tcPr marL="0" marR="0" marT="38111" marB="38111" horzOverflow="overflow">
                    <a:lnL w="19050" cap="flat" cmpd="sng" algn="ctr">
                      <a:solidFill>
                        <a:srgbClr val="FF9900"/>
                      </a:solidFill>
                      <a:prstDash val="solid"/>
                      <a:round/>
                      <a:headEnd type="none" w="med" len="med"/>
                      <a:tailEnd type="none" w="med" len="med"/>
                    </a:lnL>
                    <a:lnR w="19050" cap="flat" cmpd="sng" algn="ctr">
                      <a:solidFill>
                        <a:srgbClr val="FF9900"/>
                      </a:solidFill>
                      <a:prstDash val="solid"/>
                      <a:round/>
                      <a:headEnd type="none" w="med" len="med"/>
                      <a:tailEnd type="none" w="med" len="med"/>
                    </a:lnR>
                    <a:lnT w="19050" cap="flat" cmpd="sng" algn="ctr">
                      <a:solidFill>
                        <a:srgbClr val="FF9900"/>
                      </a:solidFill>
                      <a:prstDash val="solid"/>
                      <a:round/>
                      <a:headEnd type="none" w="med" len="med"/>
                      <a:tailEnd type="none" w="med" len="med"/>
                    </a:lnT>
                    <a:lnB w="19050" cap="flat" cmpd="sng" algn="ctr">
                      <a:solidFill>
                        <a:srgbClr val="FF9900"/>
                      </a:solidFill>
                      <a:prstDash val="solid"/>
                      <a:round/>
                      <a:headEnd type="none" w="med" len="med"/>
                      <a:tailEnd type="none" w="med" len="med"/>
                    </a:lnB>
                    <a:lnTlToBr>
                      <a:noFill/>
                    </a:lnTlToBr>
                    <a:lnBlToTr>
                      <a:noFill/>
                    </a:lnBlToTr>
                    <a:solidFill>
                      <a:srgbClr val="96FFFF"/>
                    </a:solidFill>
                  </a:tcPr>
                </a:tc>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zh-CN" altLang="en-US" sz="2400" b="1" i="0" u="none" strike="noStrike" cap="none" normalizeH="0" baseline="0">
                          <a:ln>
                            <a:noFill/>
                          </a:ln>
                          <a:solidFill>
                            <a:srgbClr val="6600CC"/>
                          </a:solidFill>
                          <a:effectLst/>
                          <a:latin typeface="+mn-ea"/>
                          <a:ea typeface="+mn-ea"/>
                        </a:rPr>
                        <a:t>连续参数马氏链</a:t>
                      </a:r>
                    </a:p>
                  </a:txBody>
                  <a:tcPr marL="0" marR="0" marT="38111" marB="38111" horzOverflow="overflow">
                    <a:lnL w="19050" cap="flat" cmpd="sng" algn="ctr">
                      <a:solidFill>
                        <a:srgbClr val="FF9900"/>
                      </a:solidFill>
                      <a:prstDash val="solid"/>
                      <a:round/>
                      <a:headEnd type="none" w="med" len="med"/>
                      <a:tailEnd type="none" w="med" len="med"/>
                    </a:lnL>
                    <a:lnR w="19050" cap="flat" cmpd="sng" algn="ctr">
                      <a:solidFill>
                        <a:srgbClr val="FF9900"/>
                      </a:solidFill>
                      <a:prstDash val="solid"/>
                      <a:round/>
                      <a:headEnd type="none" w="med" len="med"/>
                      <a:tailEnd type="none" w="med" len="med"/>
                    </a:lnR>
                    <a:lnT w="19050" cap="flat" cmpd="sng" algn="ctr">
                      <a:solidFill>
                        <a:srgbClr val="FF9900"/>
                      </a:solidFill>
                      <a:prstDash val="solid"/>
                      <a:round/>
                      <a:headEnd type="none" w="med" len="med"/>
                      <a:tailEnd type="none" w="med" len="med"/>
                    </a:lnT>
                    <a:lnB w="19050" cap="flat" cmpd="sng" algn="ctr">
                      <a:solidFill>
                        <a:srgbClr val="FF9900"/>
                      </a:solidFill>
                      <a:prstDash val="solid"/>
                      <a:round/>
                      <a:headEnd type="none" w="med" len="med"/>
                      <a:tailEnd type="none" w="med" len="med"/>
                    </a:lnB>
                    <a:lnTlToBr>
                      <a:noFill/>
                    </a:lnTlToBr>
                    <a:lnBlToTr>
                      <a:noFill/>
                    </a:lnBlToTr>
                    <a:solidFill>
                      <a:srgbClr val="96FFFF"/>
                    </a:solidFill>
                  </a:tcPr>
                </a:tc>
                <a:extLst>
                  <a:ext uri="{0D108BD9-81ED-4DB2-BD59-A6C34878D82A}">
                    <a16:rowId xmlns:a16="http://schemas.microsoft.com/office/drawing/2014/main" val="10002"/>
                  </a:ext>
                </a:extLst>
              </a:tr>
              <a:tr h="723900">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zh-CN" altLang="en-US" sz="2400" b="1" i="0" u="none" strike="noStrike" cap="none" normalizeH="0" baseline="0">
                          <a:ln>
                            <a:noFill/>
                          </a:ln>
                          <a:solidFill>
                            <a:srgbClr val="6600CC"/>
                          </a:solidFill>
                          <a:effectLst/>
                          <a:latin typeface="+mn-ea"/>
                          <a:ea typeface="+mn-ea"/>
                        </a:rPr>
                        <a:t>连续</a:t>
                      </a:r>
                    </a:p>
                  </a:txBody>
                  <a:tcPr marL="0" marR="0" marT="38111" marB="38111" horzOverflow="overflow">
                    <a:lnL w="19050" cap="flat" cmpd="sng" algn="ctr">
                      <a:solidFill>
                        <a:srgbClr val="FF9900"/>
                      </a:solidFill>
                      <a:prstDash val="solid"/>
                      <a:round/>
                      <a:headEnd type="none" w="med" len="med"/>
                      <a:tailEnd type="none" w="med" len="med"/>
                    </a:lnL>
                    <a:lnR w="19050" cap="flat" cmpd="sng" algn="ctr">
                      <a:solidFill>
                        <a:srgbClr val="FF9900"/>
                      </a:solidFill>
                      <a:prstDash val="solid"/>
                      <a:round/>
                      <a:headEnd type="none" w="med" len="med"/>
                      <a:tailEnd type="none" w="med" len="med"/>
                    </a:lnR>
                    <a:lnT w="19050" cap="flat" cmpd="sng" algn="ctr">
                      <a:solidFill>
                        <a:srgbClr val="FF9900"/>
                      </a:solidFill>
                      <a:prstDash val="solid"/>
                      <a:round/>
                      <a:headEnd type="none" w="med" len="med"/>
                      <a:tailEnd type="none" w="med" len="med"/>
                    </a:lnT>
                    <a:lnB w="19050" cap="flat" cmpd="sng" algn="ctr">
                      <a:solidFill>
                        <a:srgbClr val="FF9900"/>
                      </a:solidFill>
                      <a:prstDash val="solid"/>
                      <a:round/>
                      <a:headEnd type="none" w="med" len="med"/>
                      <a:tailEnd type="none" w="med" len="med"/>
                    </a:lnB>
                    <a:lnTlToBr>
                      <a:noFill/>
                    </a:lnTlToBr>
                    <a:lnBlToTr>
                      <a:noFill/>
                    </a:lnBlToTr>
                    <a:solidFill>
                      <a:srgbClr val="96FFFF"/>
                    </a:solidFill>
                  </a:tcPr>
                </a:tc>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zh-CN" altLang="en-US" sz="2400" b="1" i="0" u="none" strike="noStrike" cap="none" normalizeH="0" baseline="0">
                          <a:ln>
                            <a:noFill/>
                          </a:ln>
                          <a:solidFill>
                            <a:srgbClr val="6600CC"/>
                          </a:solidFill>
                          <a:effectLst/>
                          <a:latin typeface="+mn-ea"/>
                          <a:ea typeface="+mn-ea"/>
                        </a:rPr>
                        <a:t>离散参数马氏序列</a:t>
                      </a:r>
                    </a:p>
                  </a:txBody>
                  <a:tcPr marL="0" marR="0" marT="38111" marB="38111" horzOverflow="overflow">
                    <a:lnL w="19050" cap="flat" cmpd="sng" algn="ctr">
                      <a:solidFill>
                        <a:srgbClr val="FF9900"/>
                      </a:solidFill>
                      <a:prstDash val="solid"/>
                      <a:round/>
                      <a:headEnd type="none" w="med" len="med"/>
                      <a:tailEnd type="none" w="med" len="med"/>
                    </a:lnL>
                    <a:lnR w="19050" cap="flat" cmpd="sng" algn="ctr">
                      <a:solidFill>
                        <a:srgbClr val="FF9900"/>
                      </a:solidFill>
                      <a:prstDash val="solid"/>
                      <a:round/>
                      <a:headEnd type="none" w="med" len="med"/>
                      <a:tailEnd type="none" w="med" len="med"/>
                    </a:lnR>
                    <a:lnT w="19050" cap="flat" cmpd="sng" algn="ctr">
                      <a:solidFill>
                        <a:srgbClr val="FF9900"/>
                      </a:solidFill>
                      <a:prstDash val="solid"/>
                      <a:round/>
                      <a:headEnd type="none" w="med" len="med"/>
                      <a:tailEnd type="none" w="med" len="med"/>
                    </a:lnT>
                    <a:lnB w="19050" cap="flat" cmpd="sng" algn="ctr">
                      <a:solidFill>
                        <a:srgbClr val="FF9900"/>
                      </a:solidFill>
                      <a:prstDash val="solid"/>
                      <a:round/>
                      <a:headEnd type="none" w="med" len="med"/>
                      <a:tailEnd type="none" w="med" len="med"/>
                    </a:lnB>
                    <a:lnTlToBr>
                      <a:noFill/>
                    </a:lnTlToBr>
                    <a:lnBlToTr>
                      <a:noFill/>
                    </a:lnBlToTr>
                    <a:solidFill>
                      <a:srgbClr val="96FFFF"/>
                    </a:solidFill>
                  </a:tcPr>
                </a:tc>
                <a:tc>
                  <a:txBody>
                    <a:body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zh-CN" altLang="en-US" sz="2400" b="1" i="0" u="none" strike="noStrike" cap="none" normalizeH="0" baseline="0" dirty="0">
                          <a:ln>
                            <a:noFill/>
                          </a:ln>
                          <a:solidFill>
                            <a:srgbClr val="6600CC"/>
                          </a:solidFill>
                          <a:effectLst/>
                          <a:latin typeface="+mn-ea"/>
                          <a:ea typeface="+mn-ea"/>
                        </a:rPr>
                        <a:t>连续参数马氏过程</a:t>
                      </a:r>
                    </a:p>
                  </a:txBody>
                  <a:tcPr marL="0" marR="0" marT="38111" marB="38111" horzOverflow="overflow">
                    <a:lnL w="19050" cap="flat" cmpd="sng" algn="ctr">
                      <a:solidFill>
                        <a:srgbClr val="FF9900"/>
                      </a:solidFill>
                      <a:prstDash val="solid"/>
                      <a:round/>
                      <a:headEnd type="none" w="med" len="med"/>
                      <a:tailEnd type="none" w="med" len="med"/>
                    </a:lnL>
                    <a:lnR w="19050" cap="flat" cmpd="sng" algn="ctr">
                      <a:solidFill>
                        <a:srgbClr val="FF9900"/>
                      </a:solidFill>
                      <a:prstDash val="solid"/>
                      <a:round/>
                      <a:headEnd type="none" w="med" len="med"/>
                      <a:tailEnd type="none" w="med" len="med"/>
                    </a:lnR>
                    <a:lnT w="19050" cap="flat" cmpd="sng" algn="ctr">
                      <a:solidFill>
                        <a:srgbClr val="FF9900"/>
                      </a:solidFill>
                      <a:prstDash val="solid"/>
                      <a:round/>
                      <a:headEnd type="none" w="med" len="med"/>
                      <a:tailEnd type="none" w="med" len="med"/>
                    </a:lnT>
                    <a:lnB w="19050" cap="flat" cmpd="sng" algn="ctr">
                      <a:solidFill>
                        <a:srgbClr val="FF9900"/>
                      </a:solidFill>
                      <a:prstDash val="solid"/>
                      <a:round/>
                      <a:headEnd type="none" w="med" len="med"/>
                      <a:tailEnd type="none" w="med" len="med"/>
                    </a:lnB>
                    <a:lnTlToBr>
                      <a:noFill/>
                    </a:lnTlToBr>
                    <a:lnBlToTr>
                      <a:noFill/>
                    </a:lnBlToTr>
                    <a:solidFill>
                      <a:srgbClr val="96FFFF"/>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262186"/>
                                        </p:tgtEl>
                                        <p:attrNameLst>
                                          <p:attrName>style.visibility</p:attrName>
                                        </p:attrNameLst>
                                      </p:cBhvr>
                                      <p:to>
                                        <p:strVal val="visible"/>
                                      </p:to>
                                    </p:set>
                                    <p:animEffect transition="in" filter="diamond(in)">
                                      <p:cBhvr>
                                        <p:cTn id="7" dur="2000"/>
                                        <p:tgtEl>
                                          <p:spTgt spid="262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4ADF6C1-509E-CBE5-29E7-4649D31E979E}"/>
              </a:ext>
            </a:extLst>
          </p:cNvPr>
          <p:cNvSpPr>
            <a:spLocks noGrp="1" noChangeArrowheads="1"/>
          </p:cNvSpPr>
          <p:nvPr>
            <p:ph type="title"/>
          </p:nvPr>
        </p:nvSpPr>
        <p:spPr/>
        <p:txBody>
          <a:bodyPr/>
          <a:lstStyle/>
          <a:p>
            <a:pPr algn="l" eaLnBrk="1" hangingPunct="1"/>
            <a:r>
              <a:rPr lang="zh-CN" altLang="en-US"/>
              <a:t>例</a:t>
            </a:r>
            <a:r>
              <a:rPr lang="en-US" altLang="zh-CN"/>
              <a:t>1  </a:t>
            </a:r>
            <a:r>
              <a:rPr lang="zh-CN" altLang="en-US"/>
              <a:t>一维随机游动</a:t>
            </a:r>
          </a:p>
        </p:txBody>
      </p:sp>
      <p:sp>
        <p:nvSpPr>
          <p:cNvPr id="263171" name="Rectangle 3">
            <a:extLst>
              <a:ext uri="{FF2B5EF4-FFF2-40B4-BE49-F238E27FC236}">
                <a16:creationId xmlns:a16="http://schemas.microsoft.com/office/drawing/2014/main" id="{B3FE301C-AE96-4DB5-DED4-623E48A42A4E}"/>
              </a:ext>
            </a:extLst>
          </p:cNvPr>
          <p:cNvSpPr>
            <a:spLocks noGrp="1" noChangeArrowheads="1"/>
          </p:cNvSpPr>
          <p:nvPr>
            <p:ph idx="1"/>
          </p:nvPr>
        </p:nvSpPr>
        <p:spPr>
          <a:xfrm>
            <a:off x="460375" y="1448595"/>
            <a:ext cx="11125200" cy="2133600"/>
          </a:xfrm>
        </p:spPr>
        <p:txBody>
          <a:bodyPr>
            <a:normAutofit/>
          </a:bodyPr>
          <a:lstStyle/>
          <a:p>
            <a:pPr marL="0" indent="0" eaLnBrk="1" hangingPunct="1">
              <a:lnSpc>
                <a:spcPct val="160000"/>
              </a:lnSpc>
              <a:buFont typeface="Wingdings" panose="05000000000000000000" pitchFamily="2" charset="2"/>
              <a:buNone/>
            </a:pPr>
            <a:r>
              <a:rPr lang="zh-CN" altLang="en-US" dirty="0"/>
              <a:t>在直线上非负整数点作随机游动的质点，当时刻</a:t>
            </a:r>
            <a:r>
              <a:rPr lang="en-US" altLang="zh-CN" dirty="0"/>
              <a:t>n</a:t>
            </a:r>
            <a:r>
              <a:rPr lang="zh-CN" altLang="en-US" dirty="0"/>
              <a:t>时处于位置</a:t>
            </a:r>
            <a:r>
              <a:rPr lang="en-US" altLang="zh-CN" dirty="0" err="1"/>
              <a:t>i</a:t>
            </a:r>
            <a:r>
              <a:rPr lang="en-US" altLang="zh-CN" dirty="0"/>
              <a:t>(i</a:t>
            </a:r>
            <a:r>
              <a:rPr lang="en-US" altLang="zh-CN" dirty="0">
                <a:sym typeface="Symbol" panose="05050102010706020507" pitchFamily="18" charset="2"/>
              </a:rPr>
              <a:t>0)</a:t>
            </a:r>
            <a:r>
              <a:rPr lang="zh-CN" altLang="en-US" dirty="0">
                <a:sym typeface="Symbol" panose="05050102010706020507" pitchFamily="18" charset="2"/>
              </a:rPr>
              <a:t>，时刻</a:t>
            </a:r>
            <a:r>
              <a:rPr lang="en-US" altLang="zh-CN" dirty="0">
                <a:sym typeface="Symbol" panose="05050102010706020507" pitchFamily="18" charset="2"/>
              </a:rPr>
              <a:t>n+1</a:t>
            </a:r>
            <a:r>
              <a:rPr lang="zh-CN" altLang="en-US" dirty="0">
                <a:sym typeface="Symbol" panose="05050102010706020507" pitchFamily="18" charset="2"/>
              </a:rPr>
              <a:t>时处于</a:t>
            </a:r>
            <a:r>
              <a:rPr lang="en-US" altLang="zh-CN" dirty="0">
                <a:sym typeface="Symbol" panose="05050102010706020507" pitchFamily="18" charset="2"/>
              </a:rPr>
              <a:t>i+1</a:t>
            </a:r>
            <a:r>
              <a:rPr lang="zh-CN" altLang="en-US" dirty="0">
                <a:sym typeface="Symbol" panose="05050102010706020507" pitchFamily="18" charset="2"/>
              </a:rPr>
              <a:t>的概率为</a:t>
            </a:r>
            <a:r>
              <a:rPr lang="en-US" altLang="zh-CN" dirty="0">
                <a:sym typeface="Symbol" panose="05050102010706020507" pitchFamily="18" charset="2"/>
              </a:rPr>
              <a:t>p</a:t>
            </a:r>
            <a:r>
              <a:rPr lang="en-US" altLang="zh-CN" baseline="-25000" dirty="0">
                <a:sym typeface="Symbol" panose="05050102010706020507" pitchFamily="18" charset="2"/>
              </a:rPr>
              <a:t>i</a:t>
            </a:r>
            <a:r>
              <a:rPr lang="zh-CN" altLang="en-US" dirty="0">
                <a:sym typeface="Symbol" panose="05050102010706020507" pitchFamily="18" charset="2"/>
              </a:rPr>
              <a:t>，处于</a:t>
            </a:r>
            <a:r>
              <a:rPr lang="en-US" altLang="zh-CN" dirty="0">
                <a:sym typeface="Symbol" panose="05050102010706020507" pitchFamily="18" charset="2"/>
              </a:rPr>
              <a:t>i-1</a:t>
            </a:r>
            <a:r>
              <a:rPr lang="zh-CN" altLang="en-US" dirty="0">
                <a:sym typeface="Symbol" panose="05050102010706020507" pitchFamily="18" charset="2"/>
              </a:rPr>
              <a:t>的概率为</a:t>
            </a:r>
            <a:r>
              <a:rPr lang="en-US" altLang="zh-CN" dirty="0">
                <a:sym typeface="Symbol" panose="05050102010706020507" pitchFamily="18" charset="2"/>
              </a:rPr>
              <a:t>q</a:t>
            </a:r>
            <a:r>
              <a:rPr lang="en-US" altLang="zh-CN" baseline="-25000" dirty="0">
                <a:sym typeface="Symbol" panose="05050102010706020507" pitchFamily="18" charset="2"/>
              </a:rPr>
              <a:t>i</a:t>
            </a:r>
            <a:r>
              <a:rPr lang="zh-CN" altLang="en-US" dirty="0">
                <a:sym typeface="Symbol" panose="05050102010706020507" pitchFamily="18" charset="2"/>
              </a:rPr>
              <a:t>，不动的概率为</a:t>
            </a:r>
            <a:r>
              <a:rPr lang="en-US" altLang="zh-CN" dirty="0" err="1">
                <a:sym typeface="Symbol" panose="05050102010706020507" pitchFamily="18" charset="2"/>
              </a:rPr>
              <a:t>r</a:t>
            </a:r>
            <a:r>
              <a:rPr lang="en-US" altLang="zh-CN" baseline="-25000" dirty="0" err="1">
                <a:sym typeface="Symbol" panose="05050102010706020507" pitchFamily="18" charset="2"/>
              </a:rPr>
              <a:t>i</a:t>
            </a:r>
            <a:r>
              <a:rPr lang="en-US" altLang="zh-CN" dirty="0">
                <a:sym typeface="Symbol" panose="05050102010706020507" pitchFamily="18" charset="2"/>
              </a:rPr>
              <a:t>(</a:t>
            </a:r>
            <a:r>
              <a:rPr lang="en-US" altLang="zh-CN" dirty="0" err="1">
                <a:sym typeface="Symbol" panose="05050102010706020507" pitchFamily="18" charset="2"/>
              </a:rPr>
              <a:t>p</a:t>
            </a:r>
            <a:r>
              <a:rPr lang="en-US" altLang="zh-CN" baseline="-25000" dirty="0" err="1">
                <a:sym typeface="Symbol" panose="05050102010706020507" pitchFamily="18" charset="2"/>
              </a:rPr>
              <a:t>i</a:t>
            </a:r>
            <a:r>
              <a:rPr lang="en-US" altLang="zh-CN" dirty="0" err="1">
                <a:sym typeface="Symbol" panose="05050102010706020507" pitchFamily="18" charset="2"/>
              </a:rPr>
              <a:t>+q</a:t>
            </a:r>
            <a:r>
              <a:rPr lang="en-US" altLang="zh-CN" baseline="-25000" dirty="0" err="1">
                <a:sym typeface="Symbol" panose="05050102010706020507" pitchFamily="18" charset="2"/>
              </a:rPr>
              <a:t>i</a:t>
            </a:r>
            <a:r>
              <a:rPr lang="en-US" altLang="zh-CN" dirty="0" err="1">
                <a:sym typeface="Symbol" panose="05050102010706020507" pitchFamily="18" charset="2"/>
              </a:rPr>
              <a:t>+r</a:t>
            </a:r>
            <a:r>
              <a:rPr lang="en-US" altLang="zh-CN" baseline="-25000" dirty="0" err="1">
                <a:sym typeface="Symbol" panose="05050102010706020507" pitchFamily="18" charset="2"/>
              </a:rPr>
              <a:t>i</a:t>
            </a:r>
            <a:r>
              <a:rPr lang="en-US" altLang="zh-CN" baseline="-25000" dirty="0">
                <a:sym typeface="Symbol" panose="05050102010706020507" pitchFamily="18" charset="2"/>
              </a:rPr>
              <a:t> </a:t>
            </a:r>
            <a:r>
              <a:rPr lang="en-US" altLang="zh-CN" dirty="0">
                <a:sym typeface="Symbol" panose="05050102010706020507" pitchFamily="18" charset="2"/>
              </a:rPr>
              <a:t>=1)</a:t>
            </a:r>
            <a:r>
              <a:rPr lang="zh-CN" altLang="en-US" dirty="0">
                <a:sym typeface="Symbol" panose="05050102010706020507" pitchFamily="18" charset="2"/>
              </a:rPr>
              <a:t>， 若以</a:t>
            </a:r>
            <a:r>
              <a:rPr lang="en-US" altLang="zh-CN" dirty="0">
                <a:sym typeface="Symbol" panose="05050102010706020507" pitchFamily="18" charset="2"/>
              </a:rPr>
              <a:t>X(n)</a:t>
            </a:r>
            <a:r>
              <a:rPr lang="zh-CN" altLang="en-US" dirty="0">
                <a:sym typeface="Symbol" panose="05050102010706020507" pitchFamily="18" charset="2"/>
              </a:rPr>
              <a:t>表示时刻</a:t>
            </a:r>
            <a:r>
              <a:rPr lang="en-US" altLang="zh-CN" dirty="0">
                <a:sym typeface="Symbol" panose="05050102010706020507" pitchFamily="18" charset="2"/>
              </a:rPr>
              <a:t>n</a:t>
            </a:r>
            <a:r>
              <a:rPr lang="zh-CN" altLang="en-US" dirty="0">
                <a:sym typeface="Symbol" panose="05050102010706020507" pitchFamily="18" charset="2"/>
              </a:rPr>
              <a:t>质点的位置，那么</a:t>
            </a:r>
            <a:r>
              <a:rPr lang="en-US" altLang="zh-CN" dirty="0">
                <a:sym typeface="Symbol" panose="05050102010706020507" pitchFamily="18" charset="2"/>
              </a:rPr>
              <a:t>{X(n),n=0,1,2,…}</a:t>
            </a:r>
            <a:r>
              <a:rPr lang="zh-CN" altLang="en-US" dirty="0">
                <a:sym typeface="Symbol" panose="05050102010706020507" pitchFamily="18" charset="2"/>
              </a:rPr>
              <a:t>离散参数马氏链。</a:t>
            </a:r>
          </a:p>
        </p:txBody>
      </p:sp>
      <p:sp>
        <p:nvSpPr>
          <p:cNvPr id="263172" name="Rectangle 4">
            <a:extLst>
              <a:ext uri="{FF2B5EF4-FFF2-40B4-BE49-F238E27FC236}">
                <a16:creationId xmlns:a16="http://schemas.microsoft.com/office/drawing/2014/main" id="{12F3B53B-0644-0381-025B-3B14BA8EABD5}"/>
              </a:ext>
            </a:extLst>
          </p:cNvPr>
          <p:cNvSpPr>
            <a:spLocks noChangeArrowheads="1"/>
          </p:cNvSpPr>
          <p:nvPr/>
        </p:nvSpPr>
        <p:spPr bwMode="auto">
          <a:xfrm>
            <a:off x="525861" y="3691226"/>
            <a:ext cx="11086706" cy="1115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
                <a:srgbClr val="00FF00"/>
              </a:buClr>
              <a:buFont typeface="Wingdings" panose="05000000000000000000" pitchFamily="2" charset="2"/>
              <a:buNone/>
            </a:pPr>
            <a:r>
              <a:rPr lang="zh-CN" altLang="en-US" sz="2400" dirty="0">
                <a:solidFill>
                  <a:srgbClr val="000000"/>
                </a:solidFill>
                <a:latin typeface="+mn-ea"/>
                <a:ea typeface="+mn-ea"/>
                <a:sym typeface="Symbol" panose="05050102010706020507" pitchFamily="18" charset="2"/>
              </a:rPr>
              <a:t>这是因为，当</a:t>
            </a:r>
            <a:r>
              <a:rPr lang="en-US" altLang="zh-CN" sz="2400" dirty="0">
                <a:solidFill>
                  <a:srgbClr val="000000"/>
                </a:solidFill>
                <a:latin typeface="+mn-ea"/>
                <a:ea typeface="+mn-ea"/>
                <a:sym typeface="Symbol" panose="05050102010706020507" pitchFamily="18" charset="2"/>
              </a:rPr>
              <a:t>X(n)</a:t>
            </a:r>
            <a:r>
              <a:rPr lang="zh-CN" altLang="en-US" sz="2400" dirty="0">
                <a:solidFill>
                  <a:srgbClr val="000000"/>
                </a:solidFill>
                <a:latin typeface="+mn-ea"/>
                <a:ea typeface="+mn-ea"/>
                <a:sym typeface="Symbol" panose="05050102010706020507" pitchFamily="18" charset="2"/>
              </a:rPr>
              <a:t>＝</a:t>
            </a:r>
            <a:r>
              <a:rPr lang="en-US" altLang="zh-CN" sz="2400" dirty="0" err="1">
                <a:solidFill>
                  <a:srgbClr val="000000"/>
                </a:solidFill>
                <a:latin typeface="+mn-ea"/>
                <a:ea typeface="+mn-ea"/>
                <a:sym typeface="Symbol" panose="05050102010706020507" pitchFamily="18" charset="2"/>
              </a:rPr>
              <a:t>i</a:t>
            </a:r>
            <a:r>
              <a:rPr lang="zh-CN" altLang="en-US" sz="2400" dirty="0">
                <a:solidFill>
                  <a:srgbClr val="000000"/>
                </a:solidFill>
                <a:latin typeface="+mn-ea"/>
                <a:ea typeface="+mn-ea"/>
                <a:sym typeface="Symbol" panose="05050102010706020507" pitchFamily="18" charset="2"/>
              </a:rPr>
              <a:t>时，</a:t>
            </a:r>
            <a:r>
              <a:rPr lang="en-US" altLang="zh-CN" sz="2400" dirty="0">
                <a:solidFill>
                  <a:srgbClr val="000000"/>
                </a:solidFill>
                <a:latin typeface="+mn-ea"/>
                <a:ea typeface="+mn-ea"/>
                <a:sym typeface="Symbol" panose="05050102010706020507" pitchFamily="18" charset="2"/>
              </a:rPr>
              <a:t>X(n+1),X(n+2),…</a:t>
            </a:r>
            <a:r>
              <a:rPr lang="zh-CN" altLang="en-US" sz="2400" dirty="0">
                <a:solidFill>
                  <a:srgbClr val="000000"/>
                </a:solidFill>
                <a:latin typeface="+mn-ea"/>
                <a:ea typeface="+mn-ea"/>
                <a:sym typeface="Symbol" panose="05050102010706020507" pitchFamily="18" charset="2"/>
              </a:rPr>
              <a:t>等以后的行为只与</a:t>
            </a:r>
            <a:r>
              <a:rPr lang="en-US" altLang="zh-CN" sz="2400" dirty="0">
                <a:solidFill>
                  <a:srgbClr val="000000"/>
                </a:solidFill>
                <a:latin typeface="+mn-ea"/>
                <a:ea typeface="+mn-ea"/>
                <a:sym typeface="Symbol" panose="05050102010706020507" pitchFamily="18" charset="2"/>
              </a:rPr>
              <a:t>X(n)=</a:t>
            </a:r>
            <a:r>
              <a:rPr lang="en-US" altLang="zh-CN" sz="2400" dirty="0" err="1">
                <a:solidFill>
                  <a:srgbClr val="000000"/>
                </a:solidFill>
                <a:latin typeface="+mn-ea"/>
                <a:ea typeface="+mn-ea"/>
                <a:sym typeface="Symbol" panose="05050102010706020507" pitchFamily="18" charset="2"/>
              </a:rPr>
              <a:t>i</a:t>
            </a:r>
            <a:r>
              <a:rPr lang="zh-CN" altLang="en-US" sz="2400" dirty="0">
                <a:solidFill>
                  <a:srgbClr val="000000"/>
                </a:solidFill>
                <a:latin typeface="+mn-ea"/>
                <a:ea typeface="+mn-ea"/>
                <a:sym typeface="Symbol" panose="05050102010706020507" pitchFamily="18" charset="2"/>
              </a:rPr>
              <a:t>有关，而与质点在</a:t>
            </a:r>
            <a:r>
              <a:rPr lang="en-US" altLang="zh-CN" sz="2400" dirty="0">
                <a:solidFill>
                  <a:srgbClr val="000000"/>
                </a:solidFill>
                <a:latin typeface="+mn-ea"/>
                <a:ea typeface="+mn-ea"/>
                <a:sym typeface="Symbol" panose="05050102010706020507" pitchFamily="18" charset="2"/>
              </a:rPr>
              <a:t>n</a:t>
            </a:r>
            <a:r>
              <a:rPr lang="zh-CN" altLang="en-US" sz="2400" dirty="0">
                <a:solidFill>
                  <a:srgbClr val="000000"/>
                </a:solidFill>
                <a:latin typeface="+mn-ea"/>
                <a:ea typeface="+mn-ea"/>
                <a:sym typeface="Symbol" panose="05050102010706020507" pitchFamily="18" charset="2"/>
              </a:rPr>
              <a:t>以前如何到达</a:t>
            </a:r>
            <a:r>
              <a:rPr lang="en-US" altLang="zh-CN" sz="2400" dirty="0" err="1">
                <a:solidFill>
                  <a:srgbClr val="000000"/>
                </a:solidFill>
                <a:latin typeface="+mn-ea"/>
                <a:ea typeface="+mn-ea"/>
                <a:sym typeface="Symbol" panose="05050102010706020507" pitchFamily="18" charset="2"/>
              </a:rPr>
              <a:t>i</a:t>
            </a:r>
            <a:r>
              <a:rPr lang="zh-CN" altLang="en-US" sz="2400" dirty="0">
                <a:solidFill>
                  <a:srgbClr val="000000"/>
                </a:solidFill>
                <a:latin typeface="+mn-ea"/>
                <a:ea typeface="+mn-ea"/>
                <a:sym typeface="Symbol" panose="05050102010706020507" pitchFamily="18" charset="2"/>
              </a:rPr>
              <a:t>是无关的。它的状态空间</a:t>
            </a:r>
            <a:r>
              <a:rPr lang="en-US" altLang="zh-CN" sz="2400" dirty="0">
                <a:solidFill>
                  <a:srgbClr val="000000"/>
                </a:solidFill>
                <a:latin typeface="+mn-ea"/>
                <a:ea typeface="+mn-ea"/>
                <a:sym typeface="Symbol" panose="05050102010706020507" pitchFamily="18" charset="2"/>
              </a:rPr>
              <a:t>E={0,1,2,…}</a:t>
            </a:r>
            <a:r>
              <a:rPr lang="zh-CN" altLang="en-US" sz="2400" dirty="0">
                <a:solidFill>
                  <a:srgbClr val="000000"/>
                </a:solidFill>
                <a:latin typeface="+mn-ea"/>
                <a:ea typeface="+mn-ea"/>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iterate type="wd">
                                    <p:tmPct val="5000"/>
                                  </p:iterate>
                                  <p:childTnLst>
                                    <p:set>
                                      <p:cBhvr>
                                        <p:cTn id="6" dur="1" fill="hold">
                                          <p:stCondLst>
                                            <p:cond delay="0"/>
                                          </p:stCondLst>
                                        </p:cTn>
                                        <p:tgtEl>
                                          <p:spTgt spid="263171">
                                            <p:txEl>
                                              <p:pRg st="0" end="0"/>
                                            </p:txEl>
                                          </p:spTgt>
                                        </p:tgtEl>
                                        <p:attrNameLst>
                                          <p:attrName>style.visibility</p:attrName>
                                        </p:attrNameLst>
                                      </p:cBhvr>
                                      <p:to>
                                        <p:strVal val="visible"/>
                                      </p:to>
                                    </p:set>
                                    <p:anim calcmode="lin" valueType="num">
                                      <p:cBhvr additive="base">
                                        <p:cTn id="7" dur="500" fill="hold"/>
                                        <p:tgtEl>
                                          <p:spTgt spid="263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3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3172"/>
                                        </p:tgtEl>
                                        <p:attrNameLst>
                                          <p:attrName>style.visibility</p:attrName>
                                        </p:attrNameLst>
                                      </p:cBhvr>
                                      <p:to>
                                        <p:strVal val="visible"/>
                                      </p:to>
                                    </p:set>
                                    <p:anim calcmode="lin" valueType="num">
                                      <p:cBhvr additive="base">
                                        <p:cTn id="13" dur="500" fill="hold"/>
                                        <p:tgtEl>
                                          <p:spTgt spid="263172"/>
                                        </p:tgtEl>
                                        <p:attrNameLst>
                                          <p:attrName>ppt_x</p:attrName>
                                        </p:attrNameLst>
                                      </p:cBhvr>
                                      <p:tavLst>
                                        <p:tav tm="0">
                                          <p:val>
                                            <p:strVal val="0-#ppt_w/2"/>
                                          </p:val>
                                        </p:tav>
                                        <p:tav tm="100000">
                                          <p:val>
                                            <p:strVal val="#ppt_x"/>
                                          </p:val>
                                        </p:tav>
                                      </p:tavLst>
                                    </p:anim>
                                    <p:anim calcmode="lin" valueType="num">
                                      <p:cBhvr additive="base">
                                        <p:cTn id="14" dur="500" fill="hold"/>
                                        <p:tgtEl>
                                          <p:spTgt spid="2631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1" grpId="0" build="p"/>
      <p:bldP spid="263172"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4EFD8B7-E076-4DD4-13B8-F1C2FB224438}"/>
              </a:ext>
            </a:extLst>
          </p:cNvPr>
          <p:cNvSpPr>
            <a:spLocks noGrp="1" noChangeArrowheads="1"/>
          </p:cNvSpPr>
          <p:nvPr>
            <p:ph type="title"/>
          </p:nvPr>
        </p:nvSpPr>
        <p:spPr/>
        <p:txBody>
          <a:bodyPr/>
          <a:lstStyle/>
          <a:p>
            <a:pPr algn="l" eaLnBrk="1" hangingPunct="1"/>
            <a:r>
              <a:rPr lang="zh-CN" altLang="en-US"/>
              <a:t>例</a:t>
            </a:r>
            <a:r>
              <a:rPr lang="en-US" altLang="zh-CN"/>
              <a:t>2</a:t>
            </a:r>
          </a:p>
        </p:txBody>
      </p:sp>
      <p:sp>
        <p:nvSpPr>
          <p:cNvPr id="264195" name="Rectangle 3">
            <a:extLst>
              <a:ext uri="{FF2B5EF4-FFF2-40B4-BE49-F238E27FC236}">
                <a16:creationId xmlns:a16="http://schemas.microsoft.com/office/drawing/2014/main" id="{769F7E7E-54B6-040B-F477-B237D4218D88}"/>
              </a:ext>
            </a:extLst>
          </p:cNvPr>
          <p:cNvSpPr>
            <a:spLocks noGrp="1" noChangeArrowheads="1"/>
          </p:cNvSpPr>
          <p:nvPr>
            <p:ph idx="1"/>
          </p:nvPr>
        </p:nvSpPr>
        <p:spPr>
          <a:xfrm>
            <a:off x="540668" y="1027029"/>
            <a:ext cx="9205260" cy="633718"/>
          </a:xfrm>
        </p:spPr>
        <p:txBody>
          <a:bodyPr>
            <a:normAutofit/>
          </a:bodyPr>
          <a:lstStyle/>
          <a:p>
            <a:pPr marL="0" indent="0" eaLnBrk="1" hangingPunct="1">
              <a:lnSpc>
                <a:spcPct val="160000"/>
              </a:lnSpc>
              <a:buFont typeface="Wingdings" panose="05000000000000000000" pitchFamily="2" charset="2"/>
              <a:buNone/>
            </a:pPr>
            <a:r>
              <a:rPr lang="zh-CN" altLang="en-US" dirty="0">
                <a:solidFill>
                  <a:srgbClr val="990033"/>
                </a:solidFill>
              </a:rPr>
              <a:t>独立过程</a:t>
            </a:r>
            <a:r>
              <a:rPr lang="en-US" altLang="zh-CN" dirty="0">
                <a:solidFill>
                  <a:srgbClr val="990033"/>
                </a:solidFill>
              </a:rPr>
              <a:t>{X(t),</a:t>
            </a:r>
            <a:r>
              <a:rPr lang="en-US" altLang="zh-CN" dirty="0" err="1">
                <a:solidFill>
                  <a:srgbClr val="990033"/>
                </a:solidFill>
              </a:rPr>
              <a:t>t</a:t>
            </a:r>
            <a:r>
              <a:rPr lang="en-US" altLang="zh-CN" dirty="0" err="1">
                <a:solidFill>
                  <a:srgbClr val="990033"/>
                </a:solidFill>
                <a:sym typeface="Symbol" panose="05050102010706020507" pitchFamily="18" charset="2"/>
              </a:rPr>
              <a:t>T</a:t>
            </a:r>
            <a:r>
              <a:rPr lang="en-US" altLang="zh-CN" dirty="0">
                <a:solidFill>
                  <a:srgbClr val="990033"/>
                </a:solidFill>
              </a:rPr>
              <a:t>}</a:t>
            </a:r>
            <a:r>
              <a:rPr lang="zh-CN" altLang="en-US" dirty="0">
                <a:solidFill>
                  <a:srgbClr val="990033"/>
                </a:solidFill>
              </a:rPr>
              <a:t>是马尔可夫过程</a:t>
            </a:r>
            <a:r>
              <a:rPr lang="zh-CN" altLang="en-US" dirty="0">
                <a:sym typeface="Symbol" panose="05050102010706020507" pitchFamily="18" charset="2"/>
              </a:rPr>
              <a:t>。</a:t>
            </a:r>
          </a:p>
        </p:txBody>
      </p:sp>
      <p:sp>
        <p:nvSpPr>
          <p:cNvPr id="264196" name="Rectangle 4">
            <a:extLst>
              <a:ext uri="{FF2B5EF4-FFF2-40B4-BE49-F238E27FC236}">
                <a16:creationId xmlns:a16="http://schemas.microsoft.com/office/drawing/2014/main" id="{ADE17436-812A-4ADF-04F3-DE4C4C4A332E}"/>
              </a:ext>
            </a:extLst>
          </p:cNvPr>
          <p:cNvSpPr>
            <a:spLocks noChangeArrowheads="1"/>
          </p:cNvSpPr>
          <p:nvPr/>
        </p:nvSpPr>
        <p:spPr bwMode="auto">
          <a:xfrm>
            <a:off x="536575" y="1905934"/>
            <a:ext cx="11430000" cy="4391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200000"/>
              </a:lnSpc>
              <a:buClr>
                <a:srgbClr val="00FF00"/>
              </a:buClr>
              <a:buFont typeface="Wingdings" panose="05000000000000000000" pitchFamily="2" charset="2"/>
              <a:buNone/>
            </a:pPr>
            <a:r>
              <a:rPr lang="zh-CN" altLang="en-US" sz="2400" dirty="0">
                <a:solidFill>
                  <a:srgbClr val="0000CC"/>
                </a:solidFill>
                <a:latin typeface="+mn-ea"/>
                <a:ea typeface="+mn-ea"/>
                <a:sym typeface="Symbol" panose="05050102010706020507" pitchFamily="18" charset="2"/>
              </a:rPr>
              <a:t>证明</a:t>
            </a:r>
            <a:r>
              <a:rPr lang="zh-CN" altLang="en-US" sz="2400" dirty="0">
                <a:solidFill>
                  <a:srgbClr val="FF9900"/>
                </a:solidFill>
                <a:latin typeface="+mn-ea"/>
                <a:ea typeface="+mn-ea"/>
                <a:sym typeface="Symbol" panose="05050102010706020507" pitchFamily="18" charset="2"/>
              </a:rPr>
              <a:t> </a:t>
            </a:r>
            <a:r>
              <a:rPr lang="zh-CN" altLang="en-US" sz="2400" dirty="0">
                <a:solidFill>
                  <a:srgbClr val="000000"/>
                </a:solidFill>
                <a:latin typeface="+mn-ea"/>
                <a:ea typeface="+mn-ea"/>
                <a:sym typeface="Symbol" panose="05050102010706020507" pitchFamily="18" charset="2"/>
              </a:rPr>
              <a:t>设</a:t>
            </a:r>
            <a:r>
              <a:rPr lang="en-US" altLang="zh-CN" sz="2400" dirty="0">
                <a:solidFill>
                  <a:srgbClr val="000000"/>
                </a:solidFill>
                <a:latin typeface="+mn-ea"/>
                <a:ea typeface="+mn-ea"/>
              </a:rPr>
              <a:t>{X(t),</a:t>
            </a:r>
            <a:r>
              <a:rPr lang="en-US" altLang="zh-CN" sz="2400" dirty="0" err="1">
                <a:solidFill>
                  <a:srgbClr val="000000"/>
                </a:solidFill>
                <a:latin typeface="+mn-ea"/>
                <a:ea typeface="+mn-ea"/>
              </a:rPr>
              <a:t>t</a:t>
            </a:r>
            <a:r>
              <a:rPr lang="en-US" altLang="zh-CN" sz="2400" dirty="0" err="1">
                <a:solidFill>
                  <a:srgbClr val="000000"/>
                </a:solidFill>
                <a:latin typeface="+mn-ea"/>
                <a:ea typeface="+mn-ea"/>
                <a:sym typeface="Symbol" panose="05050102010706020507" pitchFamily="18" charset="2"/>
              </a:rPr>
              <a:t>T</a:t>
            </a:r>
            <a:r>
              <a:rPr lang="en-US" altLang="zh-CN" sz="2400" dirty="0">
                <a:solidFill>
                  <a:srgbClr val="000000"/>
                </a:solidFill>
                <a:latin typeface="+mn-ea"/>
                <a:ea typeface="+mn-ea"/>
              </a:rPr>
              <a:t>}</a:t>
            </a:r>
            <a:r>
              <a:rPr lang="zh-CN" altLang="en-US" sz="2400" dirty="0">
                <a:solidFill>
                  <a:srgbClr val="000000"/>
                </a:solidFill>
                <a:latin typeface="+mn-ea"/>
                <a:ea typeface="+mn-ea"/>
              </a:rPr>
              <a:t>是独立过程，对于</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1</a:t>
            </a:r>
            <a:r>
              <a:rPr lang="en-US" altLang="zh-CN" sz="2400" dirty="0">
                <a:solidFill>
                  <a:srgbClr val="000000"/>
                </a:solidFill>
                <a:latin typeface="+mn-ea"/>
                <a:ea typeface="+mn-ea"/>
                <a:sym typeface="Symbol" panose="05050102010706020507" pitchFamily="18" charset="2"/>
              </a:rPr>
              <a:t>&lt;t</a:t>
            </a:r>
            <a:r>
              <a:rPr lang="en-US" altLang="zh-CN" sz="2400" baseline="-25000" dirty="0">
                <a:solidFill>
                  <a:srgbClr val="000000"/>
                </a:solidFill>
                <a:latin typeface="+mn-ea"/>
                <a:ea typeface="+mn-ea"/>
                <a:sym typeface="Symbol" panose="05050102010706020507" pitchFamily="18" charset="2"/>
              </a:rPr>
              <a:t>2</a:t>
            </a:r>
            <a:r>
              <a:rPr lang="en-US" altLang="zh-CN" sz="2400" dirty="0">
                <a:solidFill>
                  <a:srgbClr val="000000"/>
                </a:solidFill>
                <a:latin typeface="+mn-ea"/>
                <a:ea typeface="+mn-ea"/>
                <a:sym typeface="Symbol" panose="05050102010706020507" pitchFamily="18" charset="2"/>
              </a:rPr>
              <a:t>&lt;…&lt;</a:t>
            </a:r>
            <a:r>
              <a:rPr lang="en-US" altLang="zh-CN" sz="2400" dirty="0" err="1">
                <a:solidFill>
                  <a:srgbClr val="000000"/>
                </a:solidFill>
                <a:latin typeface="+mn-ea"/>
                <a:ea typeface="+mn-ea"/>
                <a:sym typeface="Symbol" panose="05050102010706020507" pitchFamily="18" charset="2"/>
              </a:rPr>
              <a:t>t</a:t>
            </a:r>
            <a:r>
              <a:rPr lang="en-US" altLang="zh-CN" sz="2400" baseline="-25000" dirty="0" err="1">
                <a:solidFill>
                  <a:srgbClr val="000000"/>
                </a:solidFill>
                <a:latin typeface="+mn-ea"/>
                <a:ea typeface="+mn-ea"/>
                <a:sym typeface="Symbol" panose="05050102010706020507" pitchFamily="18" charset="2"/>
              </a:rPr>
              <a:t>n</a:t>
            </a:r>
            <a:r>
              <a:rPr lang="en-US" altLang="zh-CN" sz="2400" baseline="-25000" dirty="0">
                <a:solidFill>
                  <a:srgbClr val="000000"/>
                </a:solidFill>
                <a:latin typeface="+mn-ea"/>
                <a:ea typeface="+mn-ea"/>
                <a:sym typeface="Symbol" panose="05050102010706020507" pitchFamily="18" charset="2"/>
              </a:rPr>
              <a:t> </a:t>
            </a:r>
            <a:r>
              <a:rPr lang="en-US" altLang="zh-CN" sz="2400" dirty="0">
                <a:solidFill>
                  <a:srgbClr val="000000"/>
                </a:solidFill>
                <a:latin typeface="+mn-ea"/>
                <a:ea typeface="+mn-ea"/>
                <a:sym typeface="Symbol" panose="05050102010706020507" pitchFamily="18" charset="2"/>
              </a:rPr>
              <a:t>T</a:t>
            </a:r>
            <a:r>
              <a:rPr lang="zh-CN" altLang="en-US" sz="2400" dirty="0">
                <a:solidFill>
                  <a:srgbClr val="000000"/>
                </a:solidFill>
                <a:latin typeface="+mn-ea"/>
                <a:ea typeface="+mn-ea"/>
                <a:sym typeface="Symbol" panose="05050102010706020507" pitchFamily="18" charset="2"/>
              </a:rPr>
              <a:t>，</a:t>
            </a:r>
            <a:r>
              <a:rPr lang="en-US" altLang="zh-CN" sz="2400" dirty="0">
                <a:solidFill>
                  <a:srgbClr val="000000"/>
                </a:solidFill>
                <a:latin typeface="+mn-ea"/>
                <a:ea typeface="+mn-ea"/>
              </a:rPr>
              <a:t>X(</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1</a:t>
            </a:r>
            <a:r>
              <a:rPr lang="en-US" altLang="zh-CN" sz="2400" dirty="0">
                <a:solidFill>
                  <a:srgbClr val="000000"/>
                </a:solidFill>
                <a:latin typeface="+mn-ea"/>
                <a:ea typeface="+mn-ea"/>
              </a:rPr>
              <a:t>),X(</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2</a:t>
            </a:r>
            <a:r>
              <a:rPr lang="en-US" altLang="zh-CN" sz="2400" dirty="0">
                <a:solidFill>
                  <a:srgbClr val="000000"/>
                </a:solidFill>
                <a:latin typeface="+mn-ea"/>
                <a:ea typeface="+mn-ea"/>
                <a:sym typeface="Symbol" panose="05050102010706020507" pitchFamily="18" charset="2"/>
              </a:rPr>
              <a:t>),…,X(</a:t>
            </a:r>
            <a:r>
              <a:rPr lang="en-US" altLang="zh-CN" sz="2400" dirty="0" err="1">
                <a:solidFill>
                  <a:srgbClr val="000000"/>
                </a:solidFill>
                <a:latin typeface="+mn-ea"/>
                <a:ea typeface="+mn-ea"/>
                <a:sym typeface="Symbol" panose="05050102010706020507" pitchFamily="18" charset="2"/>
              </a:rPr>
              <a:t>t</a:t>
            </a:r>
            <a:r>
              <a:rPr lang="en-US" altLang="zh-CN" sz="2400" baseline="-25000" dirty="0" err="1">
                <a:solidFill>
                  <a:srgbClr val="000000"/>
                </a:solidFill>
                <a:latin typeface="+mn-ea"/>
                <a:ea typeface="+mn-ea"/>
                <a:sym typeface="Symbol" panose="05050102010706020507" pitchFamily="18" charset="2"/>
              </a:rPr>
              <a:t>n</a:t>
            </a:r>
            <a:r>
              <a:rPr lang="en-US" altLang="zh-CN" sz="2400" dirty="0">
                <a:solidFill>
                  <a:srgbClr val="000000"/>
                </a:solidFill>
                <a:latin typeface="+mn-ea"/>
                <a:ea typeface="+mn-ea"/>
              </a:rPr>
              <a:t>)</a:t>
            </a:r>
            <a:r>
              <a:rPr lang="zh-CN" altLang="en-US" sz="2400" dirty="0">
                <a:solidFill>
                  <a:srgbClr val="000000"/>
                </a:solidFill>
                <a:latin typeface="+mn-ea"/>
                <a:ea typeface="+mn-ea"/>
              </a:rPr>
              <a:t>相互独立，因此</a:t>
            </a:r>
          </a:p>
          <a:p>
            <a:pPr algn="just" eaLnBrk="1" hangingPunct="1">
              <a:lnSpc>
                <a:spcPct val="200000"/>
              </a:lnSpc>
              <a:buClr>
                <a:srgbClr val="00FF00"/>
              </a:buClr>
              <a:buFont typeface="Wingdings" panose="05000000000000000000" pitchFamily="2" charset="2"/>
              <a:buNone/>
            </a:pPr>
            <a:r>
              <a:rPr lang="zh-CN" altLang="en-US" sz="2400" dirty="0">
                <a:solidFill>
                  <a:srgbClr val="000000"/>
                </a:solidFill>
                <a:latin typeface="+mn-ea"/>
                <a:ea typeface="+mn-ea"/>
              </a:rPr>
              <a:t>	</a:t>
            </a:r>
            <a:r>
              <a:rPr lang="en-US" altLang="zh-CN" sz="2400" dirty="0">
                <a:solidFill>
                  <a:srgbClr val="000000"/>
                </a:solidFill>
                <a:latin typeface="+mn-ea"/>
                <a:ea typeface="+mn-ea"/>
              </a:rPr>
              <a:t>P{X(</a:t>
            </a:r>
            <a:r>
              <a:rPr lang="en-US" altLang="zh-CN" sz="2400" dirty="0" err="1">
                <a:solidFill>
                  <a:srgbClr val="000000"/>
                </a:solidFill>
                <a:latin typeface="+mn-ea"/>
                <a:ea typeface="+mn-ea"/>
              </a:rPr>
              <a:t>t</a:t>
            </a:r>
            <a:r>
              <a:rPr lang="en-US" altLang="zh-CN" sz="2400" baseline="-25000" dirty="0" err="1">
                <a:solidFill>
                  <a:srgbClr val="000000"/>
                </a:solidFill>
                <a:latin typeface="+mn-ea"/>
                <a:ea typeface="+mn-ea"/>
              </a:rPr>
              <a:t>n</a:t>
            </a:r>
            <a:r>
              <a:rPr lang="en-US" altLang="zh-CN" sz="2400" dirty="0">
                <a:solidFill>
                  <a:srgbClr val="000000"/>
                </a:solidFill>
                <a:latin typeface="+mn-ea"/>
                <a:ea typeface="+mn-ea"/>
              </a:rPr>
              <a:t>)&lt;</a:t>
            </a:r>
            <a:r>
              <a:rPr lang="en-US" altLang="zh-CN" sz="2400" dirty="0" err="1">
                <a:solidFill>
                  <a:srgbClr val="000000"/>
                </a:solidFill>
                <a:latin typeface="+mn-ea"/>
                <a:ea typeface="+mn-ea"/>
              </a:rPr>
              <a:t>x</a:t>
            </a:r>
            <a:r>
              <a:rPr lang="en-US" altLang="zh-CN" sz="2400" baseline="-25000" dirty="0" err="1">
                <a:solidFill>
                  <a:srgbClr val="000000"/>
                </a:solidFill>
                <a:latin typeface="+mn-ea"/>
                <a:ea typeface="+mn-ea"/>
              </a:rPr>
              <a:t>n</a:t>
            </a:r>
            <a:r>
              <a:rPr lang="en-US" altLang="zh-CN" sz="2400" dirty="0" err="1">
                <a:solidFill>
                  <a:srgbClr val="000000"/>
                </a:solidFill>
                <a:latin typeface="+mn-ea"/>
                <a:ea typeface="+mn-ea"/>
              </a:rPr>
              <a:t>|X</a:t>
            </a:r>
            <a:r>
              <a:rPr lang="en-US" altLang="zh-CN" sz="2400" dirty="0">
                <a:solidFill>
                  <a:srgbClr val="000000"/>
                </a:solidFill>
                <a:latin typeface="+mn-ea"/>
                <a:ea typeface="+mn-ea"/>
              </a:rPr>
              <a:t>(t</a:t>
            </a:r>
            <a:r>
              <a:rPr lang="en-US" altLang="zh-CN" sz="2400" baseline="-25000" dirty="0">
                <a:solidFill>
                  <a:srgbClr val="000000"/>
                </a:solidFill>
                <a:latin typeface="+mn-ea"/>
                <a:ea typeface="+mn-ea"/>
              </a:rPr>
              <a:t>1</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1</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2</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2</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a:t>
            </a:r>
          </a:p>
          <a:p>
            <a:pPr algn="just" eaLnBrk="1" hangingPunct="1">
              <a:lnSpc>
                <a:spcPct val="200000"/>
              </a:lnSpc>
              <a:buClr>
                <a:srgbClr val="00FF00"/>
              </a:buClr>
              <a:buFont typeface="Wingdings" panose="05000000000000000000" pitchFamily="2" charset="2"/>
              <a:buNone/>
            </a:pPr>
            <a:r>
              <a:rPr lang="en-US" altLang="zh-CN" sz="2400" dirty="0">
                <a:solidFill>
                  <a:srgbClr val="000000"/>
                </a:solidFill>
                <a:latin typeface="+mn-ea"/>
                <a:ea typeface="+mn-ea"/>
              </a:rPr>
              <a:t>      </a:t>
            </a:r>
            <a:r>
              <a:rPr lang="zh-CN" altLang="en-US" sz="2400" dirty="0">
                <a:solidFill>
                  <a:srgbClr val="000000"/>
                </a:solidFill>
                <a:latin typeface="+mn-ea"/>
                <a:ea typeface="+mn-ea"/>
              </a:rPr>
              <a:t>＝</a:t>
            </a:r>
            <a:r>
              <a:rPr lang="en-US" altLang="zh-CN" sz="2400" dirty="0">
                <a:solidFill>
                  <a:srgbClr val="000000"/>
                </a:solidFill>
                <a:latin typeface="+mn-ea"/>
                <a:ea typeface="+mn-ea"/>
              </a:rPr>
              <a:t>P{X(</a:t>
            </a:r>
            <a:r>
              <a:rPr lang="en-US" altLang="zh-CN" sz="2400" dirty="0" err="1">
                <a:solidFill>
                  <a:srgbClr val="000000"/>
                </a:solidFill>
                <a:latin typeface="+mn-ea"/>
                <a:ea typeface="+mn-ea"/>
              </a:rPr>
              <a:t>t</a:t>
            </a:r>
            <a:r>
              <a:rPr lang="en-US" altLang="zh-CN" sz="2400" baseline="-25000" dirty="0" err="1">
                <a:solidFill>
                  <a:srgbClr val="000000"/>
                </a:solidFill>
                <a:latin typeface="+mn-ea"/>
                <a:ea typeface="+mn-ea"/>
              </a:rPr>
              <a:t>n</a:t>
            </a:r>
            <a:r>
              <a:rPr lang="en-US" altLang="zh-CN" sz="2400" dirty="0">
                <a:solidFill>
                  <a:srgbClr val="000000"/>
                </a:solidFill>
                <a:latin typeface="+mn-ea"/>
                <a:ea typeface="+mn-ea"/>
              </a:rPr>
              <a:t>)&lt;</a:t>
            </a:r>
            <a:r>
              <a:rPr lang="en-US" altLang="zh-CN" sz="2400" dirty="0" err="1">
                <a:solidFill>
                  <a:srgbClr val="000000"/>
                </a:solidFill>
                <a:latin typeface="+mn-ea"/>
                <a:ea typeface="+mn-ea"/>
              </a:rPr>
              <a:t>x</a:t>
            </a:r>
            <a:r>
              <a:rPr lang="en-US" altLang="zh-CN" sz="2400" baseline="-25000" dirty="0" err="1">
                <a:solidFill>
                  <a:srgbClr val="000000"/>
                </a:solidFill>
                <a:latin typeface="+mn-ea"/>
                <a:ea typeface="+mn-ea"/>
              </a:rPr>
              <a:t>n</a:t>
            </a:r>
            <a:r>
              <a:rPr lang="en-US" altLang="zh-CN" sz="2400" dirty="0">
                <a:solidFill>
                  <a:srgbClr val="000000"/>
                </a:solidFill>
                <a:latin typeface="+mn-ea"/>
                <a:ea typeface="+mn-ea"/>
              </a:rPr>
              <a:t>}</a:t>
            </a:r>
          </a:p>
          <a:p>
            <a:pPr algn="just" eaLnBrk="1" hangingPunct="1">
              <a:lnSpc>
                <a:spcPct val="200000"/>
              </a:lnSpc>
              <a:buClr>
                <a:srgbClr val="00FF00"/>
              </a:buClr>
              <a:buFont typeface="Wingdings" panose="05000000000000000000" pitchFamily="2" charset="2"/>
              <a:buNone/>
            </a:pPr>
            <a:r>
              <a:rPr lang="en-US" altLang="zh-CN" sz="2400" dirty="0">
                <a:solidFill>
                  <a:srgbClr val="000000"/>
                </a:solidFill>
                <a:latin typeface="+mn-ea"/>
                <a:ea typeface="+mn-ea"/>
              </a:rPr>
              <a:t>      </a:t>
            </a:r>
            <a:r>
              <a:rPr lang="zh-CN" altLang="en-US" sz="2400" dirty="0">
                <a:solidFill>
                  <a:srgbClr val="000000"/>
                </a:solidFill>
                <a:latin typeface="+mn-ea"/>
                <a:ea typeface="+mn-ea"/>
              </a:rPr>
              <a:t>＝</a:t>
            </a:r>
            <a:r>
              <a:rPr lang="en-US" altLang="zh-CN" sz="2400" dirty="0">
                <a:solidFill>
                  <a:srgbClr val="000000"/>
                </a:solidFill>
                <a:latin typeface="+mn-ea"/>
                <a:ea typeface="+mn-ea"/>
              </a:rPr>
              <a:t>P{X(</a:t>
            </a:r>
            <a:r>
              <a:rPr lang="en-US" altLang="zh-CN" sz="2400" dirty="0" err="1">
                <a:solidFill>
                  <a:srgbClr val="000000"/>
                </a:solidFill>
                <a:latin typeface="+mn-ea"/>
                <a:ea typeface="+mn-ea"/>
              </a:rPr>
              <a:t>t</a:t>
            </a:r>
            <a:r>
              <a:rPr lang="en-US" altLang="zh-CN" sz="2400" baseline="-25000" dirty="0" err="1">
                <a:solidFill>
                  <a:srgbClr val="000000"/>
                </a:solidFill>
                <a:latin typeface="+mn-ea"/>
                <a:ea typeface="+mn-ea"/>
              </a:rPr>
              <a:t>n</a:t>
            </a:r>
            <a:r>
              <a:rPr lang="en-US" altLang="zh-CN" sz="2400" dirty="0">
                <a:solidFill>
                  <a:srgbClr val="000000"/>
                </a:solidFill>
                <a:latin typeface="+mn-ea"/>
                <a:ea typeface="+mn-ea"/>
              </a:rPr>
              <a:t>)&lt;</a:t>
            </a:r>
            <a:r>
              <a:rPr lang="en-US" altLang="zh-CN" sz="2400" dirty="0" err="1">
                <a:solidFill>
                  <a:srgbClr val="000000"/>
                </a:solidFill>
                <a:latin typeface="+mn-ea"/>
                <a:ea typeface="+mn-ea"/>
              </a:rPr>
              <a:t>x</a:t>
            </a:r>
            <a:r>
              <a:rPr lang="en-US" altLang="zh-CN" sz="2400" baseline="-25000" dirty="0" err="1">
                <a:solidFill>
                  <a:srgbClr val="000000"/>
                </a:solidFill>
                <a:latin typeface="+mn-ea"/>
                <a:ea typeface="+mn-ea"/>
              </a:rPr>
              <a:t>n</a:t>
            </a:r>
            <a:r>
              <a:rPr lang="en-US" altLang="zh-CN" sz="2400" dirty="0" err="1">
                <a:solidFill>
                  <a:srgbClr val="000000"/>
                </a:solidFill>
                <a:latin typeface="+mn-ea"/>
                <a:ea typeface="+mn-ea"/>
              </a:rPr>
              <a:t>|X</a:t>
            </a:r>
            <a:r>
              <a:rPr lang="en-US" altLang="zh-CN" sz="2400" dirty="0">
                <a:solidFill>
                  <a:srgbClr val="000000"/>
                </a:solidFill>
                <a:latin typeface="+mn-ea"/>
                <a:ea typeface="+mn-ea"/>
              </a:rPr>
              <a:t>(t</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a:t>
            </a:r>
          </a:p>
          <a:p>
            <a:pPr algn="just" eaLnBrk="1" hangingPunct="1">
              <a:lnSpc>
                <a:spcPct val="200000"/>
              </a:lnSpc>
              <a:buClr>
                <a:srgbClr val="00FF00"/>
              </a:buClr>
              <a:buFont typeface="Wingdings" panose="05000000000000000000" pitchFamily="2" charset="2"/>
              <a:buNone/>
            </a:pPr>
            <a:r>
              <a:rPr lang="zh-CN" altLang="en-US" sz="2400" dirty="0">
                <a:solidFill>
                  <a:srgbClr val="000000"/>
                </a:solidFill>
                <a:latin typeface="+mn-ea"/>
                <a:ea typeface="+mn-ea"/>
              </a:rPr>
              <a:t>马氏性成立，故独立过程</a:t>
            </a:r>
            <a:r>
              <a:rPr lang="en-US" altLang="zh-CN" sz="2400" dirty="0">
                <a:solidFill>
                  <a:srgbClr val="000000"/>
                </a:solidFill>
                <a:latin typeface="+mn-ea"/>
                <a:ea typeface="+mn-ea"/>
              </a:rPr>
              <a:t>{X(t),</a:t>
            </a:r>
            <a:r>
              <a:rPr lang="en-US" altLang="zh-CN" sz="2400" dirty="0" err="1">
                <a:solidFill>
                  <a:srgbClr val="000000"/>
                </a:solidFill>
                <a:latin typeface="+mn-ea"/>
                <a:ea typeface="+mn-ea"/>
              </a:rPr>
              <a:t>t</a:t>
            </a:r>
            <a:r>
              <a:rPr lang="en-US" altLang="zh-CN" sz="2400" dirty="0" err="1">
                <a:solidFill>
                  <a:srgbClr val="000000"/>
                </a:solidFill>
                <a:latin typeface="+mn-ea"/>
                <a:ea typeface="+mn-ea"/>
                <a:sym typeface="Symbol" panose="05050102010706020507" pitchFamily="18" charset="2"/>
              </a:rPr>
              <a:t>T</a:t>
            </a:r>
            <a:r>
              <a:rPr lang="en-US" altLang="zh-CN" sz="2400" dirty="0">
                <a:solidFill>
                  <a:srgbClr val="000000"/>
                </a:solidFill>
                <a:latin typeface="+mn-ea"/>
                <a:ea typeface="+mn-ea"/>
              </a:rPr>
              <a:t>}</a:t>
            </a:r>
            <a:r>
              <a:rPr lang="zh-CN" altLang="en-US" sz="2400" dirty="0">
                <a:solidFill>
                  <a:srgbClr val="000000"/>
                </a:solidFill>
                <a:latin typeface="+mn-ea"/>
                <a:ea typeface="+mn-ea"/>
              </a:rPr>
              <a:t>是马尔可夫过程</a:t>
            </a:r>
            <a:r>
              <a:rPr lang="zh-CN" altLang="en-US" sz="2400" dirty="0">
                <a:solidFill>
                  <a:srgbClr val="000000"/>
                </a:solidFill>
                <a:latin typeface="+mn-ea"/>
                <a:ea typeface="+mn-ea"/>
                <a:sym typeface="Symbol" panose="05050102010706020507" pitchFamily="18" charset="2"/>
              </a:rPr>
              <a:t>。</a:t>
            </a:r>
            <a:endParaRPr lang="zh-CN" altLang="en-US" sz="2400" dirty="0">
              <a:solidFill>
                <a:srgbClr val="000000"/>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4195">
                                            <p:txEl>
                                              <p:pRg st="0" end="0"/>
                                            </p:txEl>
                                          </p:spTgt>
                                        </p:tgtEl>
                                        <p:attrNameLst>
                                          <p:attrName>style.visibility</p:attrName>
                                        </p:attrNameLst>
                                      </p:cBhvr>
                                      <p:to>
                                        <p:strVal val="visible"/>
                                      </p:to>
                                    </p:set>
                                    <p:anim calcmode="lin" valueType="num">
                                      <p:cBhvr additive="base">
                                        <p:cTn id="7" dur="500" fill="hold"/>
                                        <p:tgtEl>
                                          <p:spTgt spid="2641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41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4196">
                                            <p:txEl>
                                              <p:pRg st="0" end="0"/>
                                            </p:txEl>
                                          </p:spTgt>
                                        </p:tgtEl>
                                        <p:attrNameLst>
                                          <p:attrName>style.visibility</p:attrName>
                                        </p:attrNameLst>
                                      </p:cBhvr>
                                      <p:to>
                                        <p:strVal val="visible"/>
                                      </p:to>
                                    </p:set>
                                    <p:anim calcmode="lin" valueType="num">
                                      <p:cBhvr additive="base">
                                        <p:cTn id="13" dur="500" fill="hold"/>
                                        <p:tgtEl>
                                          <p:spTgt spid="264196">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41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4196">
                                            <p:txEl>
                                              <p:pRg st="1" end="1"/>
                                            </p:txEl>
                                          </p:spTgt>
                                        </p:tgtEl>
                                        <p:attrNameLst>
                                          <p:attrName>style.visibility</p:attrName>
                                        </p:attrNameLst>
                                      </p:cBhvr>
                                      <p:to>
                                        <p:strVal val="visible"/>
                                      </p:to>
                                    </p:set>
                                    <p:anim calcmode="lin" valueType="num">
                                      <p:cBhvr additive="base">
                                        <p:cTn id="19" dur="500" fill="hold"/>
                                        <p:tgtEl>
                                          <p:spTgt spid="264196">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419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4196">
                                            <p:txEl>
                                              <p:pRg st="2" end="2"/>
                                            </p:txEl>
                                          </p:spTgt>
                                        </p:tgtEl>
                                        <p:attrNameLst>
                                          <p:attrName>style.visibility</p:attrName>
                                        </p:attrNameLst>
                                      </p:cBhvr>
                                      <p:to>
                                        <p:strVal val="visible"/>
                                      </p:to>
                                    </p:set>
                                    <p:anim calcmode="lin" valueType="num">
                                      <p:cBhvr additive="base">
                                        <p:cTn id="25" dur="500" fill="hold"/>
                                        <p:tgtEl>
                                          <p:spTgt spid="264196">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419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4196">
                                            <p:txEl>
                                              <p:pRg st="3" end="3"/>
                                            </p:txEl>
                                          </p:spTgt>
                                        </p:tgtEl>
                                        <p:attrNameLst>
                                          <p:attrName>style.visibility</p:attrName>
                                        </p:attrNameLst>
                                      </p:cBhvr>
                                      <p:to>
                                        <p:strVal val="visible"/>
                                      </p:to>
                                    </p:set>
                                    <p:anim calcmode="lin" valueType="num">
                                      <p:cBhvr additive="base">
                                        <p:cTn id="31" dur="500" fill="hold"/>
                                        <p:tgtEl>
                                          <p:spTgt spid="264196">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419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4196">
                                            <p:txEl>
                                              <p:pRg st="4" end="4"/>
                                            </p:txEl>
                                          </p:spTgt>
                                        </p:tgtEl>
                                        <p:attrNameLst>
                                          <p:attrName>style.visibility</p:attrName>
                                        </p:attrNameLst>
                                      </p:cBhvr>
                                      <p:to>
                                        <p:strVal val="visible"/>
                                      </p:to>
                                    </p:set>
                                    <p:anim calcmode="lin" valueType="num">
                                      <p:cBhvr additive="base">
                                        <p:cTn id="37" dur="500" fill="hold"/>
                                        <p:tgtEl>
                                          <p:spTgt spid="264196">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4196">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5" grpId="0" build="p"/>
      <p:bldP spid="264196"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7F364507-9740-91B6-FDDD-F2B9EEDADB4E}"/>
              </a:ext>
            </a:extLst>
          </p:cNvPr>
          <p:cNvSpPr>
            <a:spLocks noGrp="1" noChangeArrowheads="1"/>
          </p:cNvSpPr>
          <p:nvPr>
            <p:ph type="title"/>
          </p:nvPr>
        </p:nvSpPr>
        <p:spPr/>
        <p:txBody>
          <a:bodyPr/>
          <a:lstStyle/>
          <a:p>
            <a:pPr algn="l" eaLnBrk="1" hangingPunct="1"/>
            <a:r>
              <a:rPr lang="zh-CN" altLang="en-US">
                <a:sym typeface="Symbol" panose="05050102010706020507" pitchFamily="18" charset="2"/>
              </a:rPr>
              <a:t>贝努里随机序列</a:t>
            </a:r>
            <a:endParaRPr lang="zh-CN" altLang="en-US"/>
          </a:p>
        </p:txBody>
      </p:sp>
      <p:sp>
        <p:nvSpPr>
          <p:cNvPr id="22531" name="Rectangle 3">
            <a:extLst>
              <a:ext uri="{FF2B5EF4-FFF2-40B4-BE49-F238E27FC236}">
                <a16:creationId xmlns:a16="http://schemas.microsoft.com/office/drawing/2014/main" id="{E7D7A079-C3D3-F99E-467D-D30325B2F588}"/>
              </a:ext>
            </a:extLst>
          </p:cNvPr>
          <p:cNvSpPr>
            <a:spLocks noGrp="1" noChangeArrowheads="1"/>
          </p:cNvSpPr>
          <p:nvPr>
            <p:ph idx="1"/>
          </p:nvPr>
        </p:nvSpPr>
        <p:spPr>
          <a:xfrm>
            <a:off x="307975" y="1327052"/>
            <a:ext cx="11277600" cy="1211543"/>
          </a:xfrm>
        </p:spPr>
        <p:txBody>
          <a:bodyPr/>
          <a:lstStyle/>
          <a:p>
            <a:pPr algn="just" eaLnBrk="1" hangingPunct="1">
              <a:lnSpc>
                <a:spcPct val="150000"/>
              </a:lnSpc>
              <a:buFont typeface="Wingdings" panose="05000000000000000000" pitchFamily="2" charset="2"/>
              <a:buNone/>
            </a:pPr>
            <a:r>
              <a:rPr lang="zh-CN" altLang="en-US" dirty="0">
                <a:solidFill>
                  <a:srgbClr val="CC00CC"/>
                </a:solidFill>
                <a:sym typeface="Symbol" panose="05050102010706020507" pitchFamily="18" charset="2"/>
              </a:rPr>
              <a:t>特例</a:t>
            </a:r>
            <a:r>
              <a:rPr lang="zh-CN" altLang="en-US" dirty="0">
                <a:solidFill>
                  <a:srgbClr val="FF9900"/>
                </a:solidFill>
                <a:sym typeface="Symbol" panose="05050102010706020507" pitchFamily="18" charset="2"/>
              </a:rPr>
              <a:t>  </a:t>
            </a:r>
            <a:r>
              <a:rPr lang="zh-CN" altLang="en-US" dirty="0">
                <a:solidFill>
                  <a:srgbClr val="0000FF"/>
                </a:solidFill>
                <a:sym typeface="Symbol" panose="05050102010706020507" pitchFamily="18" charset="2"/>
              </a:rPr>
              <a:t>贝努里随机序列</a:t>
            </a:r>
            <a:r>
              <a:rPr lang="zh-CN" altLang="en-US" dirty="0">
                <a:sym typeface="Symbol" panose="05050102010706020507" pitchFamily="18" charset="2"/>
              </a:rPr>
              <a:t>，即</a:t>
            </a:r>
            <a:r>
              <a:rPr lang="en-US" altLang="zh-CN" dirty="0">
                <a:sym typeface="Symbol" panose="05050102010706020507" pitchFamily="18" charset="2"/>
              </a:rPr>
              <a:t>X(n)</a:t>
            </a:r>
            <a:r>
              <a:rPr lang="zh-CN" altLang="en-US" dirty="0">
                <a:sym typeface="Symbol" panose="05050102010706020507" pitchFamily="18" charset="2"/>
              </a:rPr>
              <a:t>，</a:t>
            </a:r>
            <a:r>
              <a:rPr lang="en-US" altLang="zh-CN" dirty="0">
                <a:sym typeface="Symbol" panose="05050102010706020507" pitchFamily="18" charset="2"/>
              </a:rPr>
              <a:t>n=0,1,2,…</a:t>
            </a:r>
            <a:r>
              <a:rPr lang="zh-CN" altLang="en-US" dirty="0">
                <a:sym typeface="Symbol" panose="05050102010706020507" pitchFamily="18" charset="2"/>
              </a:rPr>
              <a:t>是相互独立同分布的贝努里随机变量，</a:t>
            </a:r>
          </a:p>
        </p:txBody>
      </p:sp>
      <p:graphicFrame>
        <p:nvGraphicFramePr>
          <p:cNvPr id="350214" name="Group 6">
            <a:extLst>
              <a:ext uri="{FF2B5EF4-FFF2-40B4-BE49-F238E27FC236}">
                <a16:creationId xmlns:a16="http://schemas.microsoft.com/office/drawing/2014/main" id="{41C3683A-53EE-4014-BA53-A94847BF2583}"/>
              </a:ext>
            </a:extLst>
          </p:cNvPr>
          <p:cNvGraphicFramePr>
            <a:graphicFrameLocks noGrp="1"/>
          </p:cNvGraphicFramePr>
          <p:nvPr/>
        </p:nvGraphicFramePr>
        <p:xfrm>
          <a:off x="3965575" y="2698020"/>
          <a:ext cx="2667618" cy="954308"/>
        </p:xfrm>
        <a:graphic>
          <a:graphicData uri="http://schemas.openxmlformats.org/drawingml/2006/table">
            <a:tbl>
              <a:tblPr/>
              <a:tblGrid>
                <a:gridCol w="914612">
                  <a:extLst>
                    <a:ext uri="{9D8B030D-6E8A-4147-A177-3AD203B41FA5}">
                      <a16:colId xmlns:a16="http://schemas.microsoft.com/office/drawing/2014/main" val="20000"/>
                    </a:ext>
                  </a:extLst>
                </a:gridCol>
                <a:gridCol w="838394">
                  <a:extLst>
                    <a:ext uri="{9D8B030D-6E8A-4147-A177-3AD203B41FA5}">
                      <a16:colId xmlns:a16="http://schemas.microsoft.com/office/drawing/2014/main" val="20001"/>
                    </a:ext>
                  </a:extLst>
                </a:gridCol>
                <a:gridCol w="914612">
                  <a:extLst>
                    <a:ext uri="{9D8B030D-6E8A-4147-A177-3AD203B41FA5}">
                      <a16:colId xmlns:a16="http://schemas.microsoft.com/office/drawing/2014/main" val="20002"/>
                    </a:ext>
                  </a:extLst>
                </a:gridCol>
              </a:tblGrid>
              <a:tr h="477154">
                <a:tc>
                  <a:txBody>
                    <a:bodyPr/>
                    <a:lstStyle>
                      <a:lvl1pPr eaLnBrk="0" hangingPunct="0">
                        <a:lnSpc>
                          <a:spcPct val="120000"/>
                        </a:lnSpc>
                        <a:buClr>
                          <a:srgbClr val="00FF00"/>
                        </a:buClr>
                        <a:buFont typeface="Wingdings" pitchFamily="2" charset="2"/>
                        <a:defRPr kumimoji="1" sz="2400" b="1">
                          <a:solidFill>
                            <a:schemeClr val="tx1"/>
                          </a:solidFill>
                          <a:latin typeface="Times New Roman" pitchFamily="18" charset="0"/>
                          <a:ea typeface="宋体" charset="-122"/>
                        </a:defRPr>
                      </a:lvl1pPr>
                      <a:lvl2pPr marL="742950" indent="-285750" eaLnBrk="0" hangingPunct="0">
                        <a:lnSpc>
                          <a:spcPct val="120000"/>
                        </a:lnSpc>
                        <a:buClr>
                          <a:srgbClr val="CC00CC"/>
                        </a:buClr>
                        <a:defRPr kumimoji="1" sz="2000" b="1">
                          <a:solidFill>
                            <a:schemeClr val="tx1"/>
                          </a:solidFill>
                          <a:latin typeface="Times New Roman" pitchFamily="18" charset="0"/>
                          <a:ea typeface="宋体" charset="-122"/>
                        </a:defRPr>
                      </a:lvl2pPr>
                      <a:lvl3pPr marL="1143000" indent="-228600" eaLnBrk="0" hangingPunct="0">
                        <a:spcBef>
                          <a:spcPct val="20000"/>
                        </a:spcBef>
                        <a:defRPr kumimoji="1" sz="2000">
                          <a:solidFill>
                            <a:schemeClr val="tx1"/>
                          </a:solidFill>
                          <a:latin typeface="Times New Roman" pitchFamily="18" charset="0"/>
                          <a:ea typeface="宋体" charset="-122"/>
                        </a:defRPr>
                      </a:lvl3pPr>
                      <a:lvl4pPr marL="1600200" indent="-228600" eaLnBrk="0" hangingPunct="0">
                        <a:spcBef>
                          <a:spcPct val="20000"/>
                        </a:spcBef>
                        <a:defRPr kumimoji="1">
                          <a:solidFill>
                            <a:schemeClr val="tx1"/>
                          </a:solidFill>
                          <a:latin typeface="Times New Roman" pitchFamily="18" charset="0"/>
                          <a:ea typeface="宋体" charset="-122"/>
                        </a:defRPr>
                      </a:lvl4pPr>
                      <a:lvl5pPr marL="2057400" indent="-228600" eaLnBrk="0" hangingPunct="0">
                        <a:spcBef>
                          <a:spcPct val="20000"/>
                        </a:spcBef>
                        <a:defRPr kumimoji="1">
                          <a:solidFill>
                            <a:schemeClr val="tx1"/>
                          </a:solidFill>
                          <a:latin typeface="Times New Roman" pitchFamily="18" charset="0"/>
                          <a:ea typeface="宋体"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en-US" altLang="zh-CN" sz="2400" b="1" i="0" u="none" strike="noStrike" cap="none" normalizeH="0" baseline="0">
                          <a:ln>
                            <a:noFill/>
                          </a:ln>
                          <a:solidFill>
                            <a:srgbClr val="0000FF"/>
                          </a:solidFill>
                          <a:effectLst/>
                          <a:latin typeface="Times New Roman" pitchFamily="18" charset="0"/>
                          <a:ea typeface="黑体" pitchFamily="2" charset="-122"/>
                        </a:rPr>
                        <a:t>X(n)</a:t>
                      </a:r>
                    </a:p>
                  </a:txBody>
                  <a:tcPr marL="19054" marR="19054" marT="19055" marB="19055" horzOverflow="overflow">
                    <a:lnL w="28575"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28575"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solidFill>
                      <a:srgbClr val="96FFFF"/>
                    </a:solidFill>
                  </a:tcPr>
                </a:tc>
                <a:tc>
                  <a:txBody>
                    <a:bodyPr/>
                    <a:lstStyle>
                      <a:lvl1pPr eaLnBrk="0" hangingPunct="0">
                        <a:lnSpc>
                          <a:spcPct val="120000"/>
                        </a:lnSpc>
                        <a:buClr>
                          <a:srgbClr val="00FF00"/>
                        </a:buClr>
                        <a:buFont typeface="Wingdings" pitchFamily="2" charset="2"/>
                        <a:defRPr kumimoji="1" sz="2400" b="1">
                          <a:solidFill>
                            <a:schemeClr val="tx1"/>
                          </a:solidFill>
                          <a:latin typeface="Times New Roman" pitchFamily="18" charset="0"/>
                          <a:ea typeface="宋体" charset="-122"/>
                        </a:defRPr>
                      </a:lvl1pPr>
                      <a:lvl2pPr marL="742950" indent="-285750" eaLnBrk="0" hangingPunct="0">
                        <a:lnSpc>
                          <a:spcPct val="120000"/>
                        </a:lnSpc>
                        <a:buClr>
                          <a:srgbClr val="CC00CC"/>
                        </a:buClr>
                        <a:defRPr kumimoji="1" sz="2000" b="1">
                          <a:solidFill>
                            <a:schemeClr val="tx1"/>
                          </a:solidFill>
                          <a:latin typeface="Times New Roman" pitchFamily="18" charset="0"/>
                          <a:ea typeface="宋体" charset="-122"/>
                        </a:defRPr>
                      </a:lvl2pPr>
                      <a:lvl3pPr marL="1143000" indent="-228600" eaLnBrk="0" hangingPunct="0">
                        <a:spcBef>
                          <a:spcPct val="20000"/>
                        </a:spcBef>
                        <a:defRPr kumimoji="1" sz="2000">
                          <a:solidFill>
                            <a:schemeClr val="tx1"/>
                          </a:solidFill>
                          <a:latin typeface="Times New Roman" pitchFamily="18" charset="0"/>
                          <a:ea typeface="宋体" charset="-122"/>
                        </a:defRPr>
                      </a:lvl3pPr>
                      <a:lvl4pPr marL="1600200" indent="-228600" eaLnBrk="0" hangingPunct="0">
                        <a:spcBef>
                          <a:spcPct val="20000"/>
                        </a:spcBef>
                        <a:defRPr kumimoji="1">
                          <a:solidFill>
                            <a:schemeClr val="tx1"/>
                          </a:solidFill>
                          <a:latin typeface="Times New Roman" pitchFamily="18" charset="0"/>
                          <a:ea typeface="宋体" charset="-122"/>
                        </a:defRPr>
                      </a:lvl4pPr>
                      <a:lvl5pPr marL="2057400" indent="-228600" eaLnBrk="0" hangingPunct="0">
                        <a:spcBef>
                          <a:spcPct val="20000"/>
                        </a:spcBef>
                        <a:defRPr kumimoji="1">
                          <a:solidFill>
                            <a:schemeClr val="tx1"/>
                          </a:solidFill>
                          <a:latin typeface="Times New Roman" pitchFamily="18" charset="0"/>
                          <a:ea typeface="宋体"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en-US" altLang="zh-CN" sz="2400" b="1" i="0" u="none" strike="noStrike" cap="none" normalizeH="0" baseline="0">
                          <a:ln>
                            <a:noFill/>
                          </a:ln>
                          <a:solidFill>
                            <a:srgbClr val="0000FF"/>
                          </a:solidFill>
                          <a:effectLst/>
                          <a:latin typeface="Times New Roman" pitchFamily="18" charset="0"/>
                          <a:ea typeface="黑体" pitchFamily="2" charset="-122"/>
                        </a:rPr>
                        <a:t>0</a:t>
                      </a:r>
                    </a:p>
                  </a:txBody>
                  <a:tcPr marL="19054" marR="19054" marT="19055" marB="19055" horzOverflow="overflow">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28575"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solidFill>
                      <a:srgbClr val="96FFFF"/>
                    </a:solidFill>
                  </a:tcPr>
                </a:tc>
                <a:tc>
                  <a:txBody>
                    <a:bodyPr/>
                    <a:lstStyle>
                      <a:lvl1pPr eaLnBrk="0" hangingPunct="0">
                        <a:lnSpc>
                          <a:spcPct val="120000"/>
                        </a:lnSpc>
                        <a:buClr>
                          <a:srgbClr val="00FF00"/>
                        </a:buClr>
                        <a:buFont typeface="Wingdings" pitchFamily="2" charset="2"/>
                        <a:defRPr kumimoji="1" sz="2400" b="1">
                          <a:solidFill>
                            <a:schemeClr val="tx1"/>
                          </a:solidFill>
                          <a:latin typeface="Times New Roman" pitchFamily="18" charset="0"/>
                          <a:ea typeface="宋体" charset="-122"/>
                        </a:defRPr>
                      </a:lvl1pPr>
                      <a:lvl2pPr marL="742950" indent="-285750" eaLnBrk="0" hangingPunct="0">
                        <a:lnSpc>
                          <a:spcPct val="120000"/>
                        </a:lnSpc>
                        <a:buClr>
                          <a:srgbClr val="CC00CC"/>
                        </a:buClr>
                        <a:defRPr kumimoji="1" sz="2000" b="1">
                          <a:solidFill>
                            <a:schemeClr val="tx1"/>
                          </a:solidFill>
                          <a:latin typeface="Times New Roman" pitchFamily="18" charset="0"/>
                          <a:ea typeface="宋体" charset="-122"/>
                        </a:defRPr>
                      </a:lvl2pPr>
                      <a:lvl3pPr marL="1143000" indent="-228600" eaLnBrk="0" hangingPunct="0">
                        <a:spcBef>
                          <a:spcPct val="20000"/>
                        </a:spcBef>
                        <a:defRPr kumimoji="1" sz="2000">
                          <a:solidFill>
                            <a:schemeClr val="tx1"/>
                          </a:solidFill>
                          <a:latin typeface="Times New Roman" pitchFamily="18" charset="0"/>
                          <a:ea typeface="宋体" charset="-122"/>
                        </a:defRPr>
                      </a:lvl3pPr>
                      <a:lvl4pPr marL="1600200" indent="-228600" eaLnBrk="0" hangingPunct="0">
                        <a:spcBef>
                          <a:spcPct val="20000"/>
                        </a:spcBef>
                        <a:defRPr kumimoji="1">
                          <a:solidFill>
                            <a:schemeClr val="tx1"/>
                          </a:solidFill>
                          <a:latin typeface="Times New Roman" pitchFamily="18" charset="0"/>
                          <a:ea typeface="宋体" charset="-122"/>
                        </a:defRPr>
                      </a:lvl4pPr>
                      <a:lvl5pPr marL="2057400" indent="-228600" eaLnBrk="0" hangingPunct="0">
                        <a:spcBef>
                          <a:spcPct val="20000"/>
                        </a:spcBef>
                        <a:defRPr kumimoji="1">
                          <a:solidFill>
                            <a:schemeClr val="tx1"/>
                          </a:solidFill>
                          <a:latin typeface="Times New Roman" pitchFamily="18" charset="0"/>
                          <a:ea typeface="宋体"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en-US" altLang="zh-CN" sz="2400" b="1" i="0" u="none" strike="noStrike" cap="none" normalizeH="0" baseline="0">
                          <a:ln>
                            <a:noFill/>
                          </a:ln>
                          <a:solidFill>
                            <a:srgbClr val="0000FF"/>
                          </a:solidFill>
                          <a:effectLst/>
                          <a:latin typeface="Times New Roman" pitchFamily="18" charset="0"/>
                          <a:ea typeface="黑体" pitchFamily="2" charset="-122"/>
                        </a:rPr>
                        <a:t>1</a:t>
                      </a:r>
                    </a:p>
                  </a:txBody>
                  <a:tcPr marL="19054" marR="19054" marT="19055" marB="19055" horzOverflow="overflow">
                    <a:lnL w="12700" cap="flat" cmpd="sng" algn="ctr">
                      <a:solidFill>
                        <a:srgbClr val="FF9900"/>
                      </a:solidFill>
                      <a:prstDash val="solid"/>
                      <a:round/>
                      <a:headEnd type="none" w="med" len="med"/>
                      <a:tailEnd type="none" w="med" len="med"/>
                    </a:lnL>
                    <a:lnR w="28575" cap="flat" cmpd="sng" algn="ctr">
                      <a:solidFill>
                        <a:srgbClr val="FF9900"/>
                      </a:solidFill>
                      <a:prstDash val="solid"/>
                      <a:round/>
                      <a:headEnd type="none" w="med" len="med"/>
                      <a:tailEnd type="none" w="med" len="med"/>
                    </a:lnR>
                    <a:lnT w="28575"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a:noFill/>
                    </a:lnTlToBr>
                    <a:lnBlToTr>
                      <a:noFill/>
                    </a:lnBlToTr>
                    <a:solidFill>
                      <a:srgbClr val="96FFFF"/>
                    </a:solidFill>
                  </a:tcPr>
                </a:tc>
                <a:extLst>
                  <a:ext uri="{0D108BD9-81ED-4DB2-BD59-A6C34878D82A}">
                    <a16:rowId xmlns:a16="http://schemas.microsoft.com/office/drawing/2014/main" val="10000"/>
                  </a:ext>
                </a:extLst>
              </a:tr>
              <a:tr h="477154">
                <a:tc>
                  <a:txBody>
                    <a:bodyPr/>
                    <a:lstStyle>
                      <a:lvl1pPr eaLnBrk="0" hangingPunct="0">
                        <a:lnSpc>
                          <a:spcPct val="120000"/>
                        </a:lnSpc>
                        <a:buClr>
                          <a:srgbClr val="00FF00"/>
                        </a:buClr>
                        <a:buFont typeface="Wingdings" pitchFamily="2" charset="2"/>
                        <a:defRPr kumimoji="1" sz="2400" b="1">
                          <a:solidFill>
                            <a:schemeClr val="tx1"/>
                          </a:solidFill>
                          <a:latin typeface="Times New Roman" pitchFamily="18" charset="0"/>
                          <a:ea typeface="宋体" charset="-122"/>
                        </a:defRPr>
                      </a:lvl1pPr>
                      <a:lvl2pPr marL="742950" indent="-285750" eaLnBrk="0" hangingPunct="0">
                        <a:lnSpc>
                          <a:spcPct val="120000"/>
                        </a:lnSpc>
                        <a:buClr>
                          <a:srgbClr val="CC00CC"/>
                        </a:buClr>
                        <a:defRPr kumimoji="1" sz="2000" b="1">
                          <a:solidFill>
                            <a:schemeClr val="tx1"/>
                          </a:solidFill>
                          <a:latin typeface="Times New Roman" pitchFamily="18" charset="0"/>
                          <a:ea typeface="宋体" charset="-122"/>
                        </a:defRPr>
                      </a:lvl2pPr>
                      <a:lvl3pPr marL="1143000" indent="-228600" eaLnBrk="0" hangingPunct="0">
                        <a:spcBef>
                          <a:spcPct val="20000"/>
                        </a:spcBef>
                        <a:defRPr kumimoji="1" sz="2000">
                          <a:solidFill>
                            <a:schemeClr val="tx1"/>
                          </a:solidFill>
                          <a:latin typeface="Times New Roman" pitchFamily="18" charset="0"/>
                          <a:ea typeface="宋体" charset="-122"/>
                        </a:defRPr>
                      </a:lvl3pPr>
                      <a:lvl4pPr marL="1600200" indent="-228600" eaLnBrk="0" hangingPunct="0">
                        <a:spcBef>
                          <a:spcPct val="20000"/>
                        </a:spcBef>
                        <a:defRPr kumimoji="1">
                          <a:solidFill>
                            <a:schemeClr val="tx1"/>
                          </a:solidFill>
                          <a:latin typeface="Times New Roman" pitchFamily="18" charset="0"/>
                          <a:ea typeface="宋体" charset="-122"/>
                        </a:defRPr>
                      </a:lvl4pPr>
                      <a:lvl5pPr marL="2057400" indent="-228600" eaLnBrk="0" hangingPunct="0">
                        <a:spcBef>
                          <a:spcPct val="20000"/>
                        </a:spcBef>
                        <a:defRPr kumimoji="1">
                          <a:solidFill>
                            <a:schemeClr val="tx1"/>
                          </a:solidFill>
                          <a:latin typeface="Times New Roman" pitchFamily="18" charset="0"/>
                          <a:ea typeface="宋体"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en-US" altLang="zh-CN" sz="2400" b="1" i="0" u="none" strike="noStrike" cap="none" normalizeH="0" baseline="0" dirty="0">
                          <a:ln>
                            <a:noFill/>
                          </a:ln>
                          <a:solidFill>
                            <a:srgbClr val="0000FF"/>
                          </a:solidFill>
                          <a:effectLst/>
                          <a:latin typeface="Times New Roman" pitchFamily="18" charset="0"/>
                          <a:ea typeface="黑体" pitchFamily="2" charset="-122"/>
                        </a:rPr>
                        <a:t>P</a:t>
                      </a:r>
                    </a:p>
                  </a:txBody>
                  <a:tcPr marL="19054" marR="19054" marT="19055" marB="19055" horzOverflow="overflow">
                    <a:lnL w="28575"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28575" cap="flat" cmpd="sng" algn="ctr">
                      <a:solidFill>
                        <a:srgbClr val="FF9900"/>
                      </a:solidFill>
                      <a:prstDash val="solid"/>
                      <a:round/>
                      <a:headEnd type="none" w="med" len="med"/>
                      <a:tailEnd type="none" w="med" len="med"/>
                    </a:lnB>
                    <a:lnTlToBr>
                      <a:noFill/>
                    </a:lnTlToBr>
                    <a:lnBlToTr>
                      <a:noFill/>
                    </a:lnBlToTr>
                    <a:solidFill>
                      <a:srgbClr val="96FFFF"/>
                    </a:solidFill>
                  </a:tcPr>
                </a:tc>
                <a:tc>
                  <a:txBody>
                    <a:bodyPr/>
                    <a:lstStyle>
                      <a:lvl1pPr eaLnBrk="0" hangingPunct="0">
                        <a:lnSpc>
                          <a:spcPct val="120000"/>
                        </a:lnSpc>
                        <a:buClr>
                          <a:srgbClr val="00FF00"/>
                        </a:buClr>
                        <a:buFont typeface="Wingdings" pitchFamily="2" charset="2"/>
                        <a:defRPr kumimoji="1" sz="2400" b="1">
                          <a:solidFill>
                            <a:schemeClr val="tx1"/>
                          </a:solidFill>
                          <a:latin typeface="Times New Roman" pitchFamily="18" charset="0"/>
                          <a:ea typeface="宋体" charset="-122"/>
                        </a:defRPr>
                      </a:lvl1pPr>
                      <a:lvl2pPr marL="742950" indent="-285750" eaLnBrk="0" hangingPunct="0">
                        <a:lnSpc>
                          <a:spcPct val="120000"/>
                        </a:lnSpc>
                        <a:buClr>
                          <a:srgbClr val="CC00CC"/>
                        </a:buClr>
                        <a:defRPr kumimoji="1" sz="2000" b="1">
                          <a:solidFill>
                            <a:schemeClr val="tx1"/>
                          </a:solidFill>
                          <a:latin typeface="Times New Roman" pitchFamily="18" charset="0"/>
                          <a:ea typeface="宋体" charset="-122"/>
                        </a:defRPr>
                      </a:lvl2pPr>
                      <a:lvl3pPr marL="1143000" indent="-228600" eaLnBrk="0" hangingPunct="0">
                        <a:spcBef>
                          <a:spcPct val="20000"/>
                        </a:spcBef>
                        <a:defRPr kumimoji="1" sz="2000">
                          <a:solidFill>
                            <a:schemeClr val="tx1"/>
                          </a:solidFill>
                          <a:latin typeface="Times New Roman" pitchFamily="18" charset="0"/>
                          <a:ea typeface="宋体" charset="-122"/>
                        </a:defRPr>
                      </a:lvl3pPr>
                      <a:lvl4pPr marL="1600200" indent="-228600" eaLnBrk="0" hangingPunct="0">
                        <a:spcBef>
                          <a:spcPct val="20000"/>
                        </a:spcBef>
                        <a:defRPr kumimoji="1">
                          <a:solidFill>
                            <a:schemeClr val="tx1"/>
                          </a:solidFill>
                          <a:latin typeface="Times New Roman" pitchFamily="18" charset="0"/>
                          <a:ea typeface="宋体" charset="-122"/>
                        </a:defRPr>
                      </a:lvl4pPr>
                      <a:lvl5pPr marL="2057400" indent="-228600" eaLnBrk="0" hangingPunct="0">
                        <a:spcBef>
                          <a:spcPct val="20000"/>
                        </a:spcBef>
                        <a:defRPr kumimoji="1">
                          <a:solidFill>
                            <a:schemeClr val="tx1"/>
                          </a:solidFill>
                          <a:latin typeface="Times New Roman" pitchFamily="18" charset="0"/>
                          <a:ea typeface="宋体"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en-US" altLang="zh-CN" sz="2400" b="1" i="0" u="none" strike="noStrike" cap="none" normalizeH="0" baseline="0">
                          <a:ln>
                            <a:noFill/>
                          </a:ln>
                          <a:solidFill>
                            <a:srgbClr val="0000FF"/>
                          </a:solidFill>
                          <a:effectLst/>
                          <a:latin typeface="Times New Roman" pitchFamily="18" charset="0"/>
                          <a:ea typeface="黑体" pitchFamily="2" charset="-122"/>
                        </a:rPr>
                        <a:t>q</a:t>
                      </a:r>
                    </a:p>
                  </a:txBody>
                  <a:tcPr marL="19054" marR="19054" marT="19055" marB="19055" horzOverflow="overflow">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28575" cap="flat" cmpd="sng" algn="ctr">
                      <a:solidFill>
                        <a:srgbClr val="FF9900"/>
                      </a:solidFill>
                      <a:prstDash val="solid"/>
                      <a:round/>
                      <a:headEnd type="none" w="med" len="med"/>
                      <a:tailEnd type="none" w="med" len="med"/>
                    </a:lnB>
                    <a:lnTlToBr>
                      <a:noFill/>
                    </a:lnTlToBr>
                    <a:lnBlToTr>
                      <a:noFill/>
                    </a:lnBlToTr>
                    <a:solidFill>
                      <a:srgbClr val="96FFFF"/>
                    </a:solidFill>
                  </a:tcPr>
                </a:tc>
                <a:tc>
                  <a:txBody>
                    <a:bodyPr/>
                    <a:lstStyle>
                      <a:lvl1pPr eaLnBrk="0" hangingPunct="0">
                        <a:lnSpc>
                          <a:spcPct val="120000"/>
                        </a:lnSpc>
                        <a:buClr>
                          <a:srgbClr val="00FF00"/>
                        </a:buClr>
                        <a:buFont typeface="Wingdings" pitchFamily="2" charset="2"/>
                        <a:defRPr kumimoji="1" sz="2400" b="1">
                          <a:solidFill>
                            <a:schemeClr val="tx1"/>
                          </a:solidFill>
                          <a:latin typeface="Times New Roman" pitchFamily="18" charset="0"/>
                          <a:ea typeface="宋体" charset="-122"/>
                        </a:defRPr>
                      </a:lvl1pPr>
                      <a:lvl2pPr marL="742950" indent="-285750" eaLnBrk="0" hangingPunct="0">
                        <a:lnSpc>
                          <a:spcPct val="120000"/>
                        </a:lnSpc>
                        <a:buClr>
                          <a:srgbClr val="CC00CC"/>
                        </a:buClr>
                        <a:defRPr kumimoji="1" sz="2000" b="1">
                          <a:solidFill>
                            <a:schemeClr val="tx1"/>
                          </a:solidFill>
                          <a:latin typeface="Times New Roman" pitchFamily="18" charset="0"/>
                          <a:ea typeface="宋体" charset="-122"/>
                        </a:defRPr>
                      </a:lvl2pPr>
                      <a:lvl3pPr marL="1143000" indent="-228600" eaLnBrk="0" hangingPunct="0">
                        <a:spcBef>
                          <a:spcPct val="20000"/>
                        </a:spcBef>
                        <a:defRPr kumimoji="1" sz="2000">
                          <a:solidFill>
                            <a:schemeClr val="tx1"/>
                          </a:solidFill>
                          <a:latin typeface="Times New Roman" pitchFamily="18" charset="0"/>
                          <a:ea typeface="宋体" charset="-122"/>
                        </a:defRPr>
                      </a:lvl3pPr>
                      <a:lvl4pPr marL="1600200" indent="-228600" eaLnBrk="0" hangingPunct="0">
                        <a:spcBef>
                          <a:spcPct val="20000"/>
                        </a:spcBef>
                        <a:defRPr kumimoji="1">
                          <a:solidFill>
                            <a:schemeClr val="tx1"/>
                          </a:solidFill>
                          <a:latin typeface="Times New Roman" pitchFamily="18" charset="0"/>
                          <a:ea typeface="宋体" charset="-122"/>
                        </a:defRPr>
                      </a:lvl4pPr>
                      <a:lvl5pPr marL="2057400" indent="-228600" eaLnBrk="0" hangingPunct="0">
                        <a:spcBef>
                          <a:spcPct val="20000"/>
                        </a:spcBef>
                        <a:defRPr kumimoji="1">
                          <a:solidFill>
                            <a:schemeClr val="tx1"/>
                          </a:solidFill>
                          <a:latin typeface="Times New Roman" pitchFamily="18" charset="0"/>
                          <a:ea typeface="宋体"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itchFamily="2" charset="2"/>
                        <a:buNone/>
                        <a:tabLst/>
                      </a:pPr>
                      <a:r>
                        <a:rPr kumimoji="1" lang="en-US" altLang="zh-CN" sz="2400" b="1" i="0" u="none" strike="noStrike" cap="none" normalizeH="0" baseline="0" dirty="0">
                          <a:ln>
                            <a:noFill/>
                          </a:ln>
                          <a:solidFill>
                            <a:srgbClr val="0000FF"/>
                          </a:solidFill>
                          <a:effectLst/>
                          <a:latin typeface="Times New Roman" pitchFamily="18" charset="0"/>
                          <a:ea typeface="黑体" pitchFamily="2" charset="-122"/>
                        </a:rPr>
                        <a:t>p</a:t>
                      </a:r>
                    </a:p>
                  </a:txBody>
                  <a:tcPr marL="19054" marR="19054" marT="19055" marB="19055" horzOverflow="overflow">
                    <a:lnL w="12700" cap="flat" cmpd="sng" algn="ctr">
                      <a:solidFill>
                        <a:srgbClr val="FF9900"/>
                      </a:solidFill>
                      <a:prstDash val="solid"/>
                      <a:round/>
                      <a:headEnd type="none" w="med" len="med"/>
                      <a:tailEnd type="none" w="med" len="med"/>
                    </a:lnL>
                    <a:lnR w="28575"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28575" cap="flat" cmpd="sng" algn="ctr">
                      <a:solidFill>
                        <a:srgbClr val="FF9900"/>
                      </a:solidFill>
                      <a:prstDash val="solid"/>
                      <a:round/>
                      <a:headEnd type="none" w="med" len="med"/>
                      <a:tailEnd type="none" w="med" len="med"/>
                    </a:lnB>
                    <a:lnTlToBr>
                      <a:noFill/>
                    </a:lnTlToBr>
                    <a:lnBlToTr>
                      <a:noFill/>
                    </a:lnBlToTr>
                    <a:solidFill>
                      <a:srgbClr val="96FFFF"/>
                    </a:solidFill>
                  </a:tcPr>
                </a:tc>
                <a:extLst>
                  <a:ext uri="{0D108BD9-81ED-4DB2-BD59-A6C34878D82A}">
                    <a16:rowId xmlns:a16="http://schemas.microsoft.com/office/drawing/2014/main" val="10001"/>
                  </a:ext>
                </a:extLst>
              </a:tr>
            </a:tbl>
          </a:graphicData>
        </a:graphic>
      </p:graphicFrame>
      <p:sp>
        <p:nvSpPr>
          <p:cNvPr id="350228" name="Rectangle 20">
            <a:extLst>
              <a:ext uri="{FF2B5EF4-FFF2-40B4-BE49-F238E27FC236}">
                <a16:creationId xmlns:a16="http://schemas.microsoft.com/office/drawing/2014/main" id="{0659ED57-23DC-9850-AD10-809364037F16}"/>
              </a:ext>
            </a:extLst>
          </p:cNvPr>
          <p:cNvSpPr>
            <a:spLocks noChangeArrowheads="1"/>
          </p:cNvSpPr>
          <p:nvPr/>
        </p:nvSpPr>
        <p:spPr bwMode="auto">
          <a:xfrm>
            <a:off x="3542069" y="4357837"/>
            <a:ext cx="3770654"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buClrTx/>
              <a:buFontTx/>
              <a:buNone/>
            </a:pPr>
            <a:r>
              <a:rPr lang="en-US" altLang="zh-CN" sz="2400" dirty="0">
                <a:solidFill>
                  <a:srgbClr val="000000"/>
                </a:solidFill>
              </a:rPr>
              <a:t>0&lt;p&lt;1,p+q=1</a:t>
            </a:r>
            <a:r>
              <a:rPr lang="zh-CN" altLang="en-US" sz="2400" dirty="0">
                <a:solidFill>
                  <a:srgbClr val="000000"/>
                </a:solidFill>
              </a:rPr>
              <a:t>，</a:t>
            </a:r>
            <a:r>
              <a:rPr lang="en-US" altLang="zh-CN" sz="2400" dirty="0">
                <a:solidFill>
                  <a:srgbClr val="000000"/>
                </a:solidFill>
              </a:rPr>
              <a:t>n=1,2,…</a:t>
            </a:r>
          </a:p>
        </p:txBody>
      </p:sp>
      <p:sp>
        <p:nvSpPr>
          <p:cNvPr id="350229" name="Rectangle 21">
            <a:extLst>
              <a:ext uri="{FF2B5EF4-FFF2-40B4-BE49-F238E27FC236}">
                <a16:creationId xmlns:a16="http://schemas.microsoft.com/office/drawing/2014/main" id="{57407E47-42A2-157B-6153-92FF49FA8800}"/>
              </a:ext>
            </a:extLst>
          </p:cNvPr>
          <p:cNvSpPr>
            <a:spLocks noChangeArrowheads="1"/>
          </p:cNvSpPr>
          <p:nvPr/>
        </p:nvSpPr>
        <p:spPr bwMode="auto">
          <a:xfrm>
            <a:off x="905149" y="5639594"/>
            <a:ext cx="58096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buClrTx/>
              <a:buFontTx/>
              <a:buNone/>
            </a:pPr>
            <a:r>
              <a:rPr lang="en-US" altLang="zh-CN" sz="2400" dirty="0">
                <a:solidFill>
                  <a:srgbClr val="000000"/>
                </a:solidFill>
                <a:latin typeface="+mn-ea"/>
                <a:ea typeface="+mn-ea"/>
                <a:sym typeface="Symbol" panose="05050102010706020507" pitchFamily="18" charset="2"/>
              </a:rPr>
              <a:t>{X(n)</a:t>
            </a:r>
            <a:r>
              <a:rPr lang="zh-CN" altLang="en-US" sz="2400" dirty="0">
                <a:solidFill>
                  <a:srgbClr val="000000"/>
                </a:solidFill>
                <a:latin typeface="+mn-ea"/>
                <a:ea typeface="+mn-ea"/>
                <a:sym typeface="Symbol" panose="05050102010706020507" pitchFamily="18" charset="2"/>
              </a:rPr>
              <a:t>，</a:t>
            </a:r>
            <a:r>
              <a:rPr lang="en-US" altLang="zh-CN" sz="2400" dirty="0">
                <a:solidFill>
                  <a:srgbClr val="000000"/>
                </a:solidFill>
                <a:latin typeface="+mn-ea"/>
                <a:ea typeface="+mn-ea"/>
                <a:sym typeface="Symbol" panose="05050102010706020507" pitchFamily="18" charset="2"/>
              </a:rPr>
              <a:t>n=0,1, 2,…}</a:t>
            </a:r>
            <a:r>
              <a:rPr lang="zh-CN" altLang="en-US" sz="2400" dirty="0">
                <a:solidFill>
                  <a:srgbClr val="000000"/>
                </a:solidFill>
                <a:latin typeface="+mn-ea"/>
                <a:ea typeface="+mn-ea"/>
              </a:rPr>
              <a:t>是离散参数马氏链。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nodeType="afterEffect">
                                  <p:stCondLst>
                                    <p:cond delay="0"/>
                                  </p:stCondLst>
                                  <p:childTnLst>
                                    <p:set>
                                      <p:cBhvr>
                                        <p:cTn id="6" dur="1" fill="hold">
                                          <p:stCondLst>
                                            <p:cond delay="0"/>
                                          </p:stCondLst>
                                        </p:cTn>
                                        <p:tgtEl>
                                          <p:spTgt spid="350214"/>
                                        </p:tgtEl>
                                        <p:attrNameLst>
                                          <p:attrName>style.visibility</p:attrName>
                                        </p:attrNameLst>
                                      </p:cBhvr>
                                      <p:to>
                                        <p:strVal val="visible"/>
                                      </p:to>
                                    </p:set>
                                    <p:anim calcmode="lin" valueType="num">
                                      <p:cBhvr>
                                        <p:cTn id="7" dur="1000" fill="hold"/>
                                        <p:tgtEl>
                                          <p:spTgt spid="350214"/>
                                        </p:tgtEl>
                                        <p:attrNameLst>
                                          <p:attrName>ppt_w</p:attrName>
                                        </p:attrNameLst>
                                      </p:cBhvr>
                                      <p:tavLst>
                                        <p:tav tm="0">
                                          <p:val>
                                            <p:fltVal val="0"/>
                                          </p:val>
                                        </p:tav>
                                        <p:tav tm="100000">
                                          <p:val>
                                            <p:strVal val="#ppt_w"/>
                                          </p:val>
                                        </p:tav>
                                      </p:tavLst>
                                    </p:anim>
                                    <p:anim calcmode="lin" valueType="num">
                                      <p:cBhvr>
                                        <p:cTn id="8" dur="1000" fill="hold"/>
                                        <p:tgtEl>
                                          <p:spTgt spid="350214"/>
                                        </p:tgtEl>
                                        <p:attrNameLst>
                                          <p:attrName>ppt_h</p:attrName>
                                        </p:attrNameLst>
                                      </p:cBhvr>
                                      <p:tavLst>
                                        <p:tav tm="0">
                                          <p:val>
                                            <p:fltVal val="0"/>
                                          </p:val>
                                        </p:tav>
                                        <p:tav tm="100000">
                                          <p:val>
                                            <p:strVal val="#ppt_h"/>
                                          </p:val>
                                        </p:tav>
                                      </p:tavLst>
                                    </p:anim>
                                    <p:anim calcmode="lin" valueType="num">
                                      <p:cBhvr>
                                        <p:cTn id="9" dur="1000" fill="hold"/>
                                        <p:tgtEl>
                                          <p:spTgt spid="35021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50214"/>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2" presetClass="entr" presetSubtype="2" fill="hold" grpId="0" nodeType="afterEffect">
                                  <p:stCondLst>
                                    <p:cond delay="0"/>
                                  </p:stCondLst>
                                  <p:childTnLst>
                                    <p:set>
                                      <p:cBhvr>
                                        <p:cTn id="13" dur="1" fill="hold">
                                          <p:stCondLst>
                                            <p:cond delay="0"/>
                                          </p:stCondLst>
                                        </p:cTn>
                                        <p:tgtEl>
                                          <p:spTgt spid="350228"/>
                                        </p:tgtEl>
                                        <p:attrNameLst>
                                          <p:attrName>style.visibility</p:attrName>
                                        </p:attrNameLst>
                                      </p:cBhvr>
                                      <p:to>
                                        <p:strVal val="visible"/>
                                      </p:to>
                                    </p:set>
                                    <p:anim calcmode="lin" valueType="num">
                                      <p:cBhvr additive="base">
                                        <p:cTn id="14" dur="500" fill="hold"/>
                                        <p:tgtEl>
                                          <p:spTgt spid="350228"/>
                                        </p:tgtEl>
                                        <p:attrNameLst>
                                          <p:attrName>ppt_x</p:attrName>
                                        </p:attrNameLst>
                                      </p:cBhvr>
                                      <p:tavLst>
                                        <p:tav tm="0">
                                          <p:val>
                                            <p:strVal val="1+#ppt_w/2"/>
                                          </p:val>
                                        </p:tav>
                                        <p:tav tm="100000">
                                          <p:val>
                                            <p:strVal val="#ppt_x"/>
                                          </p:val>
                                        </p:tav>
                                      </p:tavLst>
                                    </p:anim>
                                    <p:anim calcmode="lin" valueType="num">
                                      <p:cBhvr additive="base">
                                        <p:cTn id="15" dur="500" fill="hold"/>
                                        <p:tgtEl>
                                          <p:spTgt spid="350228"/>
                                        </p:tgtEl>
                                        <p:attrNameLst>
                                          <p:attrName>ppt_y</p:attrName>
                                        </p:attrNameLst>
                                      </p:cBhvr>
                                      <p:tavLst>
                                        <p:tav tm="0">
                                          <p:val>
                                            <p:strVal val="#ppt_y"/>
                                          </p:val>
                                        </p:tav>
                                        <p:tav tm="100000">
                                          <p:val>
                                            <p:strVal val="#ppt_y"/>
                                          </p:val>
                                        </p:tav>
                                      </p:tavLst>
                                    </p:anim>
                                  </p:childTnLst>
                                </p:cTn>
                              </p:par>
                            </p:childTnLst>
                          </p:cTn>
                        </p:par>
                        <p:par>
                          <p:cTn id="16" fill="hold" nodeType="afterGroup">
                            <p:stCondLst>
                              <p:cond delay="1500"/>
                            </p:stCondLst>
                            <p:childTnLst>
                              <p:par>
                                <p:cTn id="17" presetID="2" presetClass="entr" presetSubtype="8" fill="hold" grpId="0" nodeType="afterEffect">
                                  <p:stCondLst>
                                    <p:cond delay="0"/>
                                  </p:stCondLst>
                                  <p:childTnLst>
                                    <p:set>
                                      <p:cBhvr>
                                        <p:cTn id="18" dur="1" fill="hold">
                                          <p:stCondLst>
                                            <p:cond delay="0"/>
                                          </p:stCondLst>
                                        </p:cTn>
                                        <p:tgtEl>
                                          <p:spTgt spid="350229"/>
                                        </p:tgtEl>
                                        <p:attrNameLst>
                                          <p:attrName>style.visibility</p:attrName>
                                        </p:attrNameLst>
                                      </p:cBhvr>
                                      <p:to>
                                        <p:strVal val="visible"/>
                                      </p:to>
                                    </p:set>
                                    <p:anim calcmode="lin" valueType="num">
                                      <p:cBhvr additive="base">
                                        <p:cTn id="19" dur="500" fill="hold"/>
                                        <p:tgtEl>
                                          <p:spTgt spid="350229"/>
                                        </p:tgtEl>
                                        <p:attrNameLst>
                                          <p:attrName>ppt_x</p:attrName>
                                        </p:attrNameLst>
                                      </p:cBhvr>
                                      <p:tavLst>
                                        <p:tav tm="0">
                                          <p:val>
                                            <p:strVal val="0-#ppt_w/2"/>
                                          </p:val>
                                        </p:tav>
                                        <p:tav tm="100000">
                                          <p:val>
                                            <p:strVal val="#ppt_x"/>
                                          </p:val>
                                        </p:tav>
                                      </p:tavLst>
                                    </p:anim>
                                    <p:anim calcmode="lin" valueType="num">
                                      <p:cBhvr additive="base">
                                        <p:cTn id="20" dur="500" fill="hold"/>
                                        <p:tgtEl>
                                          <p:spTgt spid="3502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28" grpId="0" autoUpdateAnimBg="0"/>
      <p:bldP spid="350229"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CFBF3EE-360D-6135-F894-39E7D477E25B}"/>
              </a:ext>
            </a:extLst>
          </p:cNvPr>
          <p:cNvSpPr>
            <a:spLocks noGrp="1" noChangeArrowheads="1"/>
          </p:cNvSpPr>
          <p:nvPr>
            <p:ph type="title"/>
          </p:nvPr>
        </p:nvSpPr>
        <p:spPr/>
        <p:txBody>
          <a:bodyPr/>
          <a:lstStyle/>
          <a:p>
            <a:pPr algn="l" eaLnBrk="1" hangingPunct="1"/>
            <a:r>
              <a:rPr lang="zh-CN" altLang="en-US"/>
              <a:t>例</a:t>
            </a:r>
            <a:r>
              <a:rPr lang="en-US" altLang="zh-CN"/>
              <a:t>3</a:t>
            </a:r>
          </a:p>
        </p:txBody>
      </p:sp>
      <p:sp>
        <p:nvSpPr>
          <p:cNvPr id="265219" name="Rectangle 3">
            <a:extLst>
              <a:ext uri="{FF2B5EF4-FFF2-40B4-BE49-F238E27FC236}">
                <a16:creationId xmlns:a16="http://schemas.microsoft.com/office/drawing/2014/main" id="{65537562-4B70-9FAB-8472-AEAE8D5D7CA0}"/>
              </a:ext>
            </a:extLst>
          </p:cNvPr>
          <p:cNvSpPr>
            <a:spLocks noGrp="1" noChangeArrowheads="1"/>
          </p:cNvSpPr>
          <p:nvPr>
            <p:ph idx="1"/>
          </p:nvPr>
        </p:nvSpPr>
        <p:spPr>
          <a:xfrm>
            <a:off x="307975" y="1086103"/>
            <a:ext cx="7697982" cy="438251"/>
          </a:xfrm>
        </p:spPr>
        <p:txBody>
          <a:bodyPr>
            <a:noAutofit/>
          </a:bodyPr>
          <a:lstStyle/>
          <a:p>
            <a:pPr algn="r" eaLnBrk="1" hangingPunct="1">
              <a:buFont typeface="Wingdings" panose="05000000000000000000" pitchFamily="2" charset="2"/>
              <a:buNone/>
            </a:pPr>
            <a:r>
              <a:rPr lang="zh-CN" altLang="en-US" dirty="0"/>
              <a:t>独立增量过程</a:t>
            </a:r>
            <a:r>
              <a:rPr lang="en-US" altLang="zh-CN" dirty="0"/>
              <a:t>{X(t),t</a:t>
            </a:r>
            <a:r>
              <a:rPr lang="en-US" altLang="zh-CN" dirty="0">
                <a:sym typeface="Symbol" panose="05050102010706020507" pitchFamily="18" charset="2"/>
              </a:rPr>
              <a:t>0</a:t>
            </a:r>
            <a:r>
              <a:rPr lang="en-US" altLang="zh-CN" dirty="0"/>
              <a:t>}</a:t>
            </a:r>
            <a:r>
              <a:rPr lang="zh-CN" altLang="en-US" dirty="0"/>
              <a:t>，</a:t>
            </a:r>
            <a:r>
              <a:rPr lang="en-US" altLang="zh-CN" dirty="0"/>
              <a:t>(X(0)=0)</a:t>
            </a:r>
            <a:r>
              <a:rPr lang="zh-CN" altLang="en-US" dirty="0"/>
              <a:t>是马尔可夫过程</a:t>
            </a:r>
            <a:r>
              <a:rPr lang="zh-CN" altLang="en-US" dirty="0">
                <a:sym typeface="Symbol" panose="05050102010706020507" pitchFamily="18" charset="2"/>
              </a:rPr>
              <a:t>。</a:t>
            </a:r>
          </a:p>
        </p:txBody>
      </p:sp>
      <p:sp>
        <p:nvSpPr>
          <p:cNvPr id="265220" name="Rectangle 4">
            <a:extLst>
              <a:ext uri="{FF2B5EF4-FFF2-40B4-BE49-F238E27FC236}">
                <a16:creationId xmlns:a16="http://schemas.microsoft.com/office/drawing/2014/main" id="{2CDB55F6-2342-0B04-7B91-361BB270EF0C}"/>
              </a:ext>
            </a:extLst>
          </p:cNvPr>
          <p:cNvSpPr>
            <a:spLocks noChangeArrowheads="1"/>
          </p:cNvSpPr>
          <p:nvPr/>
        </p:nvSpPr>
        <p:spPr bwMode="auto">
          <a:xfrm>
            <a:off x="536575" y="1876708"/>
            <a:ext cx="11430000" cy="4631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80000"/>
              </a:lnSpc>
              <a:buClr>
                <a:srgbClr val="00FF00"/>
              </a:buClr>
              <a:buFont typeface="Wingdings" panose="05000000000000000000" pitchFamily="2" charset="2"/>
              <a:buNone/>
            </a:pPr>
            <a:r>
              <a:rPr lang="zh-CN" altLang="en-US" sz="2400" dirty="0">
                <a:solidFill>
                  <a:srgbClr val="CC00CC"/>
                </a:solidFill>
                <a:latin typeface="+mn-ea"/>
                <a:ea typeface="+mn-ea"/>
                <a:sym typeface="Symbol" panose="05050102010706020507" pitchFamily="18" charset="2"/>
              </a:rPr>
              <a:t>证明</a:t>
            </a:r>
            <a:r>
              <a:rPr lang="zh-CN" altLang="en-US" sz="2400" dirty="0">
                <a:solidFill>
                  <a:srgbClr val="000000"/>
                </a:solidFill>
                <a:latin typeface="+mn-ea"/>
                <a:ea typeface="+mn-ea"/>
                <a:sym typeface="Symbol" panose="05050102010706020507" pitchFamily="18" charset="2"/>
              </a:rPr>
              <a:t>  设</a:t>
            </a:r>
            <a:r>
              <a:rPr lang="en-US" altLang="zh-CN" sz="2400" dirty="0">
                <a:solidFill>
                  <a:srgbClr val="000000"/>
                </a:solidFill>
                <a:latin typeface="+mn-ea"/>
                <a:ea typeface="+mn-ea"/>
              </a:rPr>
              <a:t>{X(t),</a:t>
            </a:r>
            <a:r>
              <a:rPr lang="en-US" altLang="zh-CN" sz="2400" dirty="0" err="1">
                <a:solidFill>
                  <a:srgbClr val="000000"/>
                </a:solidFill>
                <a:latin typeface="+mn-ea"/>
                <a:ea typeface="+mn-ea"/>
              </a:rPr>
              <a:t>t</a:t>
            </a:r>
            <a:r>
              <a:rPr lang="en-US" altLang="zh-CN" sz="2400" dirty="0" err="1">
                <a:solidFill>
                  <a:srgbClr val="000000"/>
                </a:solidFill>
                <a:latin typeface="+mn-ea"/>
                <a:ea typeface="+mn-ea"/>
                <a:sym typeface="Symbol" panose="05050102010706020507" pitchFamily="18" charset="2"/>
              </a:rPr>
              <a:t>T</a:t>
            </a:r>
            <a:r>
              <a:rPr lang="en-US" altLang="zh-CN" sz="2400" dirty="0">
                <a:solidFill>
                  <a:srgbClr val="000000"/>
                </a:solidFill>
                <a:latin typeface="+mn-ea"/>
                <a:ea typeface="+mn-ea"/>
              </a:rPr>
              <a:t>}</a:t>
            </a:r>
            <a:r>
              <a:rPr lang="zh-CN" altLang="en-US" sz="2400" dirty="0">
                <a:solidFill>
                  <a:srgbClr val="000000"/>
                </a:solidFill>
                <a:latin typeface="+mn-ea"/>
                <a:ea typeface="+mn-ea"/>
              </a:rPr>
              <a:t>是独立增量过程，</a:t>
            </a:r>
            <a:r>
              <a:rPr lang="en-US" altLang="zh-CN" sz="2400" dirty="0">
                <a:solidFill>
                  <a:srgbClr val="000000"/>
                </a:solidFill>
                <a:latin typeface="+mn-ea"/>
                <a:ea typeface="+mn-ea"/>
              </a:rPr>
              <a:t>X(0)=0</a:t>
            </a:r>
            <a:r>
              <a:rPr lang="zh-CN" altLang="en-US" sz="2400" dirty="0">
                <a:solidFill>
                  <a:srgbClr val="000000"/>
                </a:solidFill>
                <a:latin typeface="+mn-ea"/>
                <a:ea typeface="+mn-ea"/>
              </a:rPr>
              <a:t>，对任意</a:t>
            </a:r>
            <a:r>
              <a:rPr lang="en-US" altLang="zh-CN" sz="2400" dirty="0">
                <a:solidFill>
                  <a:srgbClr val="000000"/>
                </a:solidFill>
                <a:latin typeface="+mn-ea"/>
                <a:ea typeface="+mn-ea"/>
                <a:sym typeface="Symbol" panose="05050102010706020507" pitchFamily="18" charset="2"/>
              </a:rPr>
              <a:t>t</a:t>
            </a:r>
            <a:r>
              <a:rPr lang="en-US" altLang="zh-CN" sz="2400" baseline="-25000" dirty="0">
                <a:solidFill>
                  <a:srgbClr val="000000"/>
                </a:solidFill>
                <a:latin typeface="+mn-ea"/>
                <a:ea typeface="+mn-ea"/>
                <a:sym typeface="Symbol" panose="05050102010706020507" pitchFamily="18" charset="2"/>
              </a:rPr>
              <a:t>1</a:t>
            </a:r>
            <a:r>
              <a:rPr lang="en-US" altLang="zh-CN" sz="2400" dirty="0">
                <a:solidFill>
                  <a:srgbClr val="000000"/>
                </a:solidFill>
                <a:latin typeface="+mn-ea"/>
                <a:ea typeface="+mn-ea"/>
                <a:sym typeface="Symbol" panose="05050102010706020507" pitchFamily="18" charset="2"/>
              </a:rPr>
              <a:t>&lt;t</a:t>
            </a:r>
            <a:r>
              <a:rPr lang="en-US" altLang="zh-CN" sz="2400" baseline="-25000" dirty="0">
                <a:solidFill>
                  <a:srgbClr val="000000"/>
                </a:solidFill>
                <a:latin typeface="+mn-ea"/>
                <a:ea typeface="+mn-ea"/>
                <a:sym typeface="Symbol" panose="05050102010706020507" pitchFamily="18" charset="2"/>
              </a:rPr>
              <a:t>2</a:t>
            </a:r>
            <a:r>
              <a:rPr lang="en-US" altLang="zh-CN" sz="2400" dirty="0">
                <a:solidFill>
                  <a:srgbClr val="000000"/>
                </a:solidFill>
                <a:latin typeface="+mn-ea"/>
                <a:ea typeface="+mn-ea"/>
                <a:sym typeface="Symbol" panose="05050102010706020507" pitchFamily="18" charset="2"/>
              </a:rPr>
              <a:t>&lt;…&lt;</a:t>
            </a:r>
            <a:r>
              <a:rPr lang="en-US" altLang="zh-CN" sz="2400" dirty="0" err="1">
                <a:solidFill>
                  <a:srgbClr val="000000"/>
                </a:solidFill>
                <a:latin typeface="+mn-ea"/>
                <a:ea typeface="+mn-ea"/>
                <a:sym typeface="Symbol" panose="05050102010706020507" pitchFamily="18" charset="2"/>
              </a:rPr>
              <a:t>t</a:t>
            </a:r>
            <a:r>
              <a:rPr lang="en-US" altLang="zh-CN" sz="2400" baseline="-25000" dirty="0" err="1">
                <a:solidFill>
                  <a:srgbClr val="000000"/>
                </a:solidFill>
                <a:latin typeface="+mn-ea"/>
                <a:ea typeface="+mn-ea"/>
                <a:sym typeface="Symbol" panose="05050102010706020507" pitchFamily="18" charset="2"/>
              </a:rPr>
              <a:t>n</a:t>
            </a:r>
            <a:r>
              <a:rPr lang="zh-CN" altLang="en-US" sz="2400" dirty="0">
                <a:solidFill>
                  <a:srgbClr val="000000"/>
                </a:solidFill>
                <a:latin typeface="+mn-ea"/>
                <a:ea typeface="+mn-ea"/>
                <a:sym typeface="Symbol" panose="05050102010706020507" pitchFamily="18" charset="2"/>
              </a:rPr>
              <a:t>，</a:t>
            </a:r>
            <a:r>
              <a:rPr lang="zh-CN" altLang="en-US" sz="2400" dirty="0">
                <a:solidFill>
                  <a:srgbClr val="000000"/>
                </a:solidFill>
                <a:latin typeface="+mn-ea"/>
                <a:ea typeface="+mn-ea"/>
              </a:rPr>
              <a:t>有</a:t>
            </a:r>
            <a:endParaRPr lang="en-US" altLang="zh-CN" sz="2400" dirty="0">
              <a:solidFill>
                <a:srgbClr val="000000"/>
              </a:solidFill>
              <a:latin typeface="+mn-ea"/>
              <a:ea typeface="+mn-ea"/>
            </a:endParaRPr>
          </a:p>
          <a:p>
            <a:pPr algn="just" eaLnBrk="1" hangingPunct="1">
              <a:lnSpc>
                <a:spcPct val="180000"/>
              </a:lnSpc>
              <a:buClr>
                <a:srgbClr val="00FF00"/>
              </a:buClr>
              <a:buFont typeface="Wingdings" panose="05000000000000000000" pitchFamily="2" charset="2"/>
              <a:buNone/>
            </a:pPr>
            <a:r>
              <a:rPr lang="en-US" altLang="zh-CN" sz="2400" dirty="0">
                <a:solidFill>
                  <a:srgbClr val="000000"/>
                </a:solidFill>
                <a:latin typeface="+mn-ea"/>
                <a:ea typeface="+mn-ea"/>
              </a:rPr>
              <a:t>P{X(</a:t>
            </a:r>
            <a:r>
              <a:rPr lang="en-US" altLang="zh-CN" sz="2400" dirty="0" err="1">
                <a:solidFill>
                  <a:srgbClr val="000000"/>
                </a:solidFill>
                <a:latin typeface="+mn-ea"/>
                <a:ea typeface="+mn-ea"/>
              </a:rPr>
              <a:t>t</a:t>
            </a:r>
            <a:r>
              <a:rPr lang="en-US" altLang="zh-CN" sz="2400" baseline="-25000" dirty="0" err="1">
                <a:solidFill>
                  <a:srgbClr val="000000"/>
                </a:solidFill>
                <a:latin typeface="+mn-ea"/>
                <a:ea typeface="+mn-ea"/>
              </a:rPr>
              <a:t>n</a:t>
            </a:r>
            <a:r>
              <a:rPr lang="en-US" altLang="zh-CN" sz="2400" dirty="0">
                <a:solidFill>
                  <a:srgbClr val="000000"/>
                </a:solidFill>
                <a:latin typeface="+mn-ea"/>
                <a:ea typeface="+mn-ea"/>
              </a:rPr>
              <a:t>)&lt;</a:t>
            </a:r>
            <a:r>
              <a:rPr lang="en-US" altLang="zh-CN" sz="2400" dirty="0" err="1">
                <a:solidFill>
                  <a:srgbClr val="000000"/>
                </a:solidFill>
                <a:latin typeface="+mn-ea"/>
                <a:ea typeface="+mn-ea"/>
              </a:rPr>
              <a:t>x</a:t>
            </a:r>
            <a:r>
              <a:rPr lang="en-US" altLang="zh-CN" sz="2400" baseline="-25000" dirty="0" err="1">
                <a:solidFill>
                  <a:srgbClr val="000000"/>
                </a:solidFill>
                <a:latin typeface="+mn-ea"/>
                <a:ea typeface="+mn-ea"/>
              </a:rPr>
              <a:t>n</a:t>
            </a:r>
            <a:r>
              <a:rPr lang="en-US" altLang="zh-CN" sz="2400" dirty="0" err="1">
                <a:solidFill>
                  <a:srgbClr val="000000"/>
                </a:solidFill>
                <a:latin typeface="+mn-ea"/>
                <a:ea typeface="+mn-ea"/>
              </a:rPr>
              <a:t>|X</a:t>
            </a:r>
            <a:r>
              <a:rPr lang="en-US" altLang="zh-CN" sz="2400" dirty="0">
                <a:solidFill>
                  <a:srgbClr val="000000"/>
                </a:solidFill>
                <a:latin typeface="+mn-ea"/>
                <a:ea typeface="+mn-ea"/>
              </a:rPr>
              <a:t>(t</a:t>
            </a:r>
            <a:r>
              <a:rPr lang="en-US" altLang="zh-CN" sz="2400" baseline="-25000" dirty="0">
                <a:solidFill>
                  <a:srgbClr val="000000"/>
                </a:solidFill>
                <a:latin typeface="+mn-ea"/>
                <a:ea typeface="+mn-ea"/>
              </a:rPr>
              <a:t>1</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1</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2</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2</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a:t>
            </a:r>
          </a:p>
          <a:p>
            <a:pPr eaLnBrk="1" hangingPunct="1">
              <a:lnSpc>
                <a:spcPct val="180000"/>
              </a:lnSpc>
              <a:buClr>
                <a:srgbClr val="00FF00"/>
              </a:buClr>
              <a:buFont typeface="Wingdings" panose="05000000000000000000" pitchFamily="2" charset="2"/>
              <a:buNone/>
            </a:pPr>
            <a:r>
              <a:rPr lang="zh-CN" altLang="en-US" sz="2400" dirty="0">
                <a:solidFill>
                  <a:srgbClr val="000000"/>
                </a:solidFill>
                <a:latin typeface="+mn-ea"/>
                <a:ea typeface="+mn-ea"/>
              </a:rPr>
              <a:t>＝</a:t>
            </a:r>
            <a:r>
              <a:rPr lang="en-US" altLang="zh-CN" sz="2400" dirty="0">
                <a:solidFill>
                  <a:srgbClr val="000000"/>
                </a:solidFill>
                <a:latin typeface="+mn-ea"/>
                <a:ea typeface="+mn-ea"/>
              </a:rPr>
              <a:t>P{X(</a:t>
            </a:r>
            <a:r>
              <a:rPr lang="en-US" altLang="zh-CN" sz="2400" dirty="0" err="1">
                <a:solidFill>
                  <a:srgbClr val="000000"/>
                </a:solidFill>
                <a:latin typeface="+mn-ea"/>
                <a:ea typeface="+mn-ea"/>
              </a:rPr>
              <a:t>t</a:t>
            </a:r>
            <a:r>
              <a:rPr lang="en-US" altLang="zh-CN" sz="2400" baseline="-25000" dirty="0" err="1">
                <a:solidFill>
                  <a:srgbClr val="000000"/>
                </a:solidFill>
                <a:latin typeface="+mn-ea"/>
                <a:ea typeface="+mn-ea"/>
              </a:rPr>
              <a:t>n</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)&lt;x</a:t>
            </a:r>
            <a:r>
              <a:rPr lang="en-US" altLang="zh-CN" sz="2400" baseline="-25000" dirty="0">
                <a:solidFill>
                  <a:srgbClr val="000000"/>
                </a:solidFill>
                <a:latin typeface="+mn-ea"/>
                <a:ea typeface="+mn-ea"/>
              </a:rPr>
              <a:t>n</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1</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0</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1</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2</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1</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2</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1</a:t>
            </a:r>
            <a:r>
              <a:rPr lang="en-US" altLang="zh-CN" sz="2400" dirty="0">
                <a:solidFill>
                  <a:srgbClr val="000000"/>
                </a:solidFill>
                <a:latin typeface="+mn-ea"/>
                <a:ea typeface="+mn-ea"/>
              </a:rPr>
              <a:t>,…,</a:t>
            </a:r>
          </a:p>
          <a:p>
            <a:pPr eaLnBrk="1" hangingPunct="1">
              <a:lnSpc>
                <a:spcPct val="180000"/>
              </a:lnSpc>
              <a:buClr>
                <a:srgbClr val="00FF00"/>
              </a:buClr>
              <a:buFont typeface="Wingdings" panose="05000000000000000000" pitchFamily="2" charset="2"/>
              <a:buNone/>
            </a:pPr>
            <a:r>
              <a:rPr lang="en-US" altLang="zh-CN" sz="2400" dirty="0">
                <a:solidFill>
                  <a:srgbClr val="000000"/>
                </a:solidFill>
                <a:latin typeface="+mn-ea"/>
                <a:ea typeface="+mn-ea"/>
              </a:rPr>
              <a:t>      X(t</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n-2</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n-2</a:t>
            </a:r>
            <a:r>
              <a:rPr lang="en-US" altLang="zh-CN" sz="2400" dirty="0">
                <a:solidFill>
                  <a:srgbClr val="000000"/>
                </a:solidFill>
                <a:latin typeface="+mn-ea"/>
                <a:ea typeface="+mn-ea"/>
              </a:rPr>
              <a:t>}</a:t>
            </a:r>
          </a:p>
          <a:p>
            <a:pPr eaLnBrk="1" hangingPunct="1">
              <a:lnSpc>
                <a:spcPct val="180000"/>
              </a:lnSpc>
              <a:buClr>
                <a:srgbClr val="00FF00"/>
              </a:buClr>
              <a:buFont typeface="Wingdings" panose="05000000000000000000" pitchFamily="2" charset="2"/>
              <a:buNone/>
            </a:pPr>
            <a:r>
              <a:rPr lang="zh-CN" altLang="en-US" sz="2400" dirty="0">
                <a:solidFill>
                  <a:srgbClr val="000000"/>
                </a:solidFill>
                <a:latin typeface="+mn-ea"/>
                <a:ea typeface="+mn-ea"/>
              </a:rPr>
              <a:t>＝</a:t>
            </a:r>
            <a:r>
              <a:rPr lang="en-US" altLang="zh-CN" sz="2400" dirty="0">
                <a:solidFill>
                  <a:srgbClr val="000000"/>
                </a:solidFill>
                <a:latin typeface="+mn-ea"/>
                <a:ea typeface="+mn-ea"/>
              </a:rPr>
              <a:t>P{X(</a:t>
            </a:r>
            <a:r>
              <a:rPr lang="en-US" altLang="zh-CN" sz="2400" dirty="0" err="1">
                <a:solidFill>
                  <a:srgbClr val="000000"/>
                </a:solidFill>
                <a:latin typeface="+mn-ea"/>
                <a:ea typeface="+mn-ea"/>
              </a:rPr>
              <a:t>t</a:t>
            </a:r>
            <a:r>
              <a:rPr lang="en-US" altLang="zh-CN" sz="2400" baseline="-25000" dirty="0" err="1">
                <a:solidFill>
                  <a:srgbClr val="000000"/>
                </a:solidFill>
                <a:latin typeface="+mn-ea"/>
                <a:ea typeface="+mn-ea"/>
              </a:rPr>
              <a:t>n</a:t>
            </a:r>
            <a:r>
              <a:rPr lang="en-US" altLang="zh-CN" sz="2400" dirty="0">
                <a:solidFill>
                  <a:srgbClr val="000000"/>
                </a:solidFill>
                <a:latin typeface="+mn-ea"/>
                <a:ea typeface="+mn-ea"/>
              </a:rPr>
              <a:t>)-X(t</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)&lt;x</a:t>
            </a:r>
            <a:r>
              <a:rPr lang="en-US" altLang="zh-CN" sz="2400" baseline="-25000" dirty="0">
                <a:solidFill>
                  <a:srgbClr val="000000"/>
                </a:solidFill>
                <a:latin typeface="+mn-ea"/>
                <a:ea typeface="+mn-ea"/>
              </a:rPr>
              <a:t>n</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a:t>
            </a:r>
          </a:p>
          <a:p>
            <a:pPr eaLnBrk="1" hangingPunct="1">
              <a:lnSpc>
                <a:spcPct val="180000"/>
              </a:lnSpc>
              <a:buClr>
                <a:srgbClr val="00FF00"/>
              </a:buClr>
              <a:buFont typeface="Wingdings" panose="05000000000000000000" pitchFamily="2" charset="2"/>
              <a:buNone/>
            </a:pPr>
            <a:r>
              <a:rPr lang="zh-CN" altLang="en-US" sz="2400" dirty="0">
                <a:solidFill>
                  <a:srgbClr val="000000"/>
                </a:solidFill>
                <a:latin typeface="+mn-ea"/>
                <a:ea typeface="+mn-ea"/>
              </a:rPr>
              <a:t>＝</a:t>
            </a:r>
            <a:r>
              <a:rPr lang="en-US" altLang="zh-CN" sz="2400" dirty="0">
                <a:solidFill>
                  <a:srgbClr val="000000"/>
                </a:solidFill>
                <a:latin typeface="+mn-ea"/>
                <a:ea typeface="+mn-ea"/>
              </a:rPr>
              <a:t>P{X(</a:t>
            </a:r>
            <a:r>
              <a:rPr lang="en-US" altLang="zh-CN" sz="2400" dirty="0" err="1">
                <a:solidFill>
                  <a:srgbClr val="000000"/>
                </a:solidFill>
                <a:latin typeface="+mn-ea"/>
                <a:ea typeface="+mn-ea"/>
              </a:rPr>
              <a:t>t</a:t>
            </a:r>
            <a:r>
              <a:rPr lang="en-US" altLang="zh-CN" sz="2400" baseline="-25000" dirty="0" err="1">
                <a:solidFill>
                  <a:srgbClr val="000000"/>
                </a:solidFill>
                <a:latin typeface="+mn-ea"/>
                <a:ea typeface="+mn-ea"/>
              </a:rPr>
              <a:t>n</a:t>
            </a:r>
            <a:r>
              <a:rPr lang="en-US" altLang="zh-CN" sz="2400" dirty="0">
                <a:solidFill>
                  <a:srgbClr val="000000"/>
                </a:solidFill>
                <a:latin typeface="+mn-ea"/>
                <a:ea typeface="+mn-ea"/>
              </a:rPr>
              <a:t>)&lt;</a:t>
            </a:r>
            <a:r>
              <a:rPr lang="en-US" altLang="zh-CN" sz="2400" dirty="0" err="1">
                <a:solidFill>
                  <a:srgbClr val="000000"/>
                </a:solidFill>
                <a:latin typeface="+mn-ea"/>
                <a:ea typeface="+mn-ea"/>
              </a:rPr>
              <a:t>x</a:t>
            </a:r>
            <a:r>
              <a:rPr lang="en-US" altLang="zh-CN" sz="2400" baseline="-25000" dirty="0" err="1">
                <a:solidFill>
                  <a:srgbClr val="000000"/>
                </a:solidFill>
                <a:latin typeface="+mn-ea"/>
                <a:ea typeface="+mn-ea"/>
              </a:rPr>
              <a:t>n</a:t>
            </a:r>
            <a:r>
              <a:rPr lang="en-US" altLang="zh-CN" sz="2400" dirty="0" err="1">
                <a:solidFill>
                  <a:srgbClr val="000000"/>
                </a:solidFill>
                <a:latin typeface="+mn-ea"/>
                <a:ea typeface="+mn-ea"/>
              </a:rPr>
              <a:t>|X</a:t>
            </a:r>
            <a:r>
              <a:rPr lang="en-US" altLang="zh-CN" sz="2400" dirty="0">
                <a:solidFill>
                  <a:srgbClr val="000000"/>
                </a:solidFill>
                <a:latin typeface="+mn-ea"/>
                <a:ea typeface="+mn-ea"/>
              </a:rPr>
              <a:t>(t</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)=x</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a:t>
            </a:r>
          </a:p>
          <a:p>
            <a:pPr algn="just" eaLnBrk="1" hangingPunct="1">
              <a:lnSpc>
                <a:spcPct val="180000"/>
              </a:lnSpc>
              <a:buClr>
                <a:srgbClr val="00FF00"/>
              </a:buClr>
              <a:buFont typeface="Wingdings" panose="05000000000000000000" pitchFamily="2" charset="2"/>
              <a:buNone/>
            </a:pPr>
            <a:r>
              <a:rPr lang="zh-CN" altLang="en-US" sz="2400" dirty="0">
                <a:solidFill>
                  <a:srgbClr val="000000"/>
                </a:solidFill>
                <a:latin typeface="+mn-ea"/>
                <a:ea typeface="+mn-ea"/>
              </a:rPr>
              <a:t>马氏性成立，故独立增量过程</a:t>
            </a:r>
            <a:r>
              <a:rPr lang="en-US" altLang="zh-CN" sz="2400" dirty="0">
                <a:solidFill>
                  <a:srgbClr val="000000"/>
                </a:solidFill>
                <a:latin typeface="+mn-ea"/>
                <a:ea typeface="+mn-ea"/>
              </a:rPr>
              <a:t>{X(t),t</a:t>
            </a:r>
            <a:r>
              <a:rPr lang="en-US" altLang="zh-CN" sz="2400" dirty="0">
                <a:solidFill>
                  <a:srgbClr val="000000"/>
                </a:solidFill>
                <a:latin typeface="+mn-ea"/>
                <a:ea typeface="+mn-ea"/>
                <a:sym typeface="Symbol" panose="05050102010706020507" pitchFamily="18" charset="2"/>
              </a:rPr>
              <a:t>0</a:t>
            </a:r>
            <a:r>
              <a:rPr lang="en-US" altLang="zh-CN" sz="2400" dirty="0">
                <a:solidFill>
                  <a:srgbClr val="000000"/>
                </a:solidFill>
                <a:latin typeface="+mn-ea"/>
                <a:ea typeface="+mn-ea"/>
              </a:rPr>
              <a:t>}</a:t>
            </a:r>
            <a:r>
              <a:rPr lang="zh-CN" altLang="en-US" sz="2400" dirty="0">
                <a:solidFill>
                  <a:srgbClr val="000000"/>
                </a:solidFill>
                <a:latin typeface="+mn-ea"/>
                <a:ea typeface="+mn-ea"/>
              </a:rPr>
              <a:t>是马尔可夫过程</a:t>
            </a:r>
            <a:r>
              <a:rPr lang="zh-CN" altLang="en-US" sz="2400" dirty="0">
                <a:solidFill>
                  <a:srgbClr val="000000"/>
                </a:solidFill>
                <a:latin typeface="+mn-ea"/>
                <a:ea typeface="+mn-ea"/>
                <a:sym typeface="Symbol" panose="05050102010706020507" pitchFamily="18" charset="2"/>
              </a:rPr>
              <a:t>。</a:t>
            </a:r>
            <a:endParaRPr lang="zh-CN" altLang="en-US" sz="2400" dirty="0">
              <a:solidFill>
                <a:srgbClr val="000000"/>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5219">
                                            <p:txEl>
                                              <p:pRg st="0" end="0"/>
                                            </p:txEl>
                                          </p:spTgt>
                                        </p:tgtEl>
                                        <p:attrNameLst>
                                          <p:attrName>style.visibility</p:attrName>
                                        </p:attrNameLst>
                                      </p:cBhvr>
                                      <p:to>
                                        <p:strVal val="visible"/>
                                      </p:to>
                                    </p:set>
                                    <p:anim calcmode="lin" valueType="num">
                                      <p:cBhvr additive="base">
                                        <p:cTn id="7" dur="500" fill="hold"/>
                                        <p:tgtEl>
                                          <p:spTgt spid="2652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5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5220">
                                            <p:txEl>
                                              <p:pRg st="0" end="0"/>
                                            </p:txEl>
                                          </p:spTgt>
                                        </p:tgtEl>
                                        <p:attrNameLst>
                                          <p:attrName>style.visibility</p:attrName>
                                        </p:attrNameLst>
                                      </p:cBhvr>
                                      <p:to>
                                        <p:strVal val="visible"/>
                                      </p:to>
                                    </p:set>
                                    <p:anim calcmode="lin" valueType="num">
                                      <p:cBhvr additive="base">
                                        <p:cTn id="13" dur="500" fill="hold"/>
                                        <p:tgtEl>
                                          <p:spTgt spid="26522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52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5220">
                                            <p:txEl>
                                              <p:pRg st="1" end="1"/>
                                            </p:txEl>
                                          </p:spTgt>
                                        </p:tgtEl>
                                        <p:attrNameLst>
                                          <p:attrName>style.visibility</p:attrName>
                                        </p:attrNameLst>
                                      </p:cBhvr>
                                      <p:to>
                                        <p:strVal val="visible"/>
                                      </p:to>
                                    </p:set>
                                    <p:anim calcmode="lin" valueType="num">
                                      <p:cBhvr additive="base">
                                        <p:cTn id="19" dur="500" fill="hold"/>
                                        <p:tgtEl>
                                          <p:spTgt spid="265220">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52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5220">
                                            <p:txEl>
                                              <p:pRg st="2" end="2"/>
                                            </p:txEl>
                                          </p:spTgt>
                                        </p:tgtEl>
                                        <p:attrNameLst>
                                          <p:attrName>style.visibility</p:attrName>
                                        </p:attrNameLst>
                                      </p:cBhvr>
                                      <p:to>
                                        <p:strVal val="visible"/>
                                      </p:to>
                                    </p:set>
                                    <p:anim calcmode="lin" valueType="num">
                                      <p:cBhvr additive="base">
                                        <p:cTn id="25" dur="500" fill="hold"/>
                                        <p:tgtEl>
                                          <p:spTgt spid="265220">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522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5220">
                                            <p:txEl>
                                              <p:pRg st="3" end="3"/>
                                            </p:txEl>
                                          </p:spTgt>
                                        </p:tgtEl>
                                        <p:attrNameLst>
                                          <p:attrName>style.visibility</p:attrName>
                                        </p:attrNameLst>
                                      </p:cBhvr>
                                      <p:to>
                                        <p:strVal val="visible"/>
                                      </p:to>
                                    </p:set>
                                    <p:anim calcmode="lin" valueType="num">
                                      <p:cBhvr additive="base">
                                        <p:cTn id="31" dur="500" fill="hold"/>
                                        <p:tgtEl>
                                          <p:spTgt spid="265220">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522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5220">
                                            <p:txEl>
                                              <p:pRg st="4" end="4"/>
                                            </p:txEl>
                                          </p:spTgt>
                                        </p:tgtEl>
                                        <p:attrNameLst>
                                          <p:attrName>style.visibility</p:attrName>
                                        </p:attrNameLst>
                                      </p:cBhvr>
                                      <p:to>
                                        <p:strVal val="visible"/>
                                      </p:to>
                                    </p:set>
                                    <p:anim calcmode="lin" valueType="num">
                                      <p:cBhvr additive="base">
                                        <p:cTn id="37" dur="500" fill="hold"/>
                                        <p:tgtEl>
                                          <p:spTgt spid="265220">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522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5220">
                                            <p:txEl>
                                              <p:pRg st="5" end="5"/>
                                            </p:txEl>
                                          </p:spTgt>
                                        </p:tgtEl>
                                        <p:attrNameLst>
                                          <p:attrName>style.visibility</p:attrName>
                                        </p:attrNameLst>
                                      </p:cBhvr>
                                      <p:to>
                                        <p:strVal val="visible"/>
                                      </p:to>
                                    </p:set>
                                    <p:anim calcmode="lin" valueType="num">
                                      <p:cBhvr additive="base">
                                        <p:cTn id="43" dur="500" fill="hold"/>
                                        <p:tgtEl>
                                          <p:spTgt spid="265220">
                                            <p:txEl>
                                              <p:pRg st="5" end="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6522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5220">
                                            <p:txEl>
                                              <p:pRg st="6" end="6"/>
                                            </p:txEl>
                                          </p:spTgt>
                                        </p:tgtEl>
                                        <p:attrNameLst>
                                          <p:attrName>style.visibility</p:attrName>
                                        </p:attrNameLst>
                                      </p:cBhvr>
                                      <p:to>
                                        <p:strVal val="visible"/>
                                      </p:to>
                                    </p:set>
                                    <p:anim calcmode="lin" valueType="num">
                                      <p:cBhvr additive="base">
                                        <p:cTn id="49" dur="500" fill="hold"/>
                                        <p:tgtEl>
                                          <p:spTgt spid="265220">
                                            <p:txEl>
                                              <p:pRg st="6" end="6"/>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65220">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build="p"/>
      <p:bldP spid="265220"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0E0B5E5-5361-06CE-5109-EA8B0DFF4971}"/>
              </a:ext>
            </a:extLst>
          </p:cNvPr>
          <p:cNvSpPr>
            <a:spLocks noGrp="1" noChangeArrowheads="1"/>
          </p:cNvSpPr>
          <p:nvPr>
            <p:ph type="title"/>
          </p:nvPr>
        </p:nvSpPr>
        <p:spPr/>
        <p:txBody>
          <a:bodyPr/>
          <a:lstStyle/>
          <a:p>
            <a:pPr algn="l" eaLnBrk="1" hangingPunct="1"/>
            <a:r>
              <a:rPr lang="zh-CN" altLang="en-US">
                <a:sym typeface="Symbol" panose="05050102010706020507" pitchFamily="18" charset="2"/>
              </a:rPr>
              <a:t>二项计数过程</a:t>
            </a:r>
          </a:p>
        </p:txBody>
      </p:sp>
      <p:sp>
        <p:nvSpPr>
          <p:cNvPr id="266243" name="Rectangle 3">
            <a:extLst>
              <a:ext uri="{FF2B5EF4-FFF2-40B4-BE49-F238E27FC236}">
                <a16:creationId xmlns:a16="http://schemas.microsoft.com/office/drawing/2014/main" id="{BCF9D452-A666-6C1C-AABB-8AF1B2BCBD13}"/>
              </a:ext>
            </a:extLst>
          </p:cNvPr>
          <p:cNvSpPr>
            <a:spLocks noGrp="1" noChangeArrowheads="1"/>
          </p:cNvSpPr>
          <p:nvPr>
            <p:ph idx="1"/>
          </p:nvPr>
        </p:nvSpPr>
        <p:spPr>
          <a:xfrm>
            <a:off x="546013" y="1219394"/>
            <a:ext cx="11191962" cy="1538644"/>
          </a:xfrm>
        </p:spPr>
        <p:txBody>
          <a:bodyPr>
            <a:normAutofit/>
          </a:bodyPr>
          <a:lstStyle/>
          <a:p>
            <a:pPr marL="0" indent="0" eaLnBrk="1" hangingPunct="1">
              <a:lnSpc>
                <a:spcPct val="160000"/>
              </a:lnSpc>
              <a:buFont typeface="Wingdings" panose="05000000000000000000" pitchFamily="2" charset="2"/>
              <a:buNone/>
            </a:pPr>
            <a:r>
              <a:rPr lang="zh-CN" altLang="en-US" dirty="0">
                <a:sym typeface="Symbol" panose="05050102010706020507" pitchFamily="18" charset="2"/>
              </a:rPr>
              <a:t>设</a:t>
            </a:r>
            <a:r>
              <a:rPr lang="en-US" altLang="zh-CN" dirty="0">
                <a:sym typeface="Symbol" panose="05050102010706020507" pitchFamily="18" charset="2"/>
              </a:rPr>
              <a:t>{X(n),n=1,2,…}</a:t>
            </a:r>
            <a:r>
              <a:rPr lang="zh-CN" altLang="en-US" dirty="0">
                <a:sym typeface="Symbol" panose="05050102010706020507" pitchFamily="18" charset="2"/>
              </a:rPr>
              <a:t>是</a:t>
            </a:r>
            <a:r>
              <a:rPr lang="zh-CN" altLang="en-US" dirty="0">
                <a:solidFill>
                  <a:srgbClr val="0000FF"/>
                </a:solidFill>
                <a:sym typeface="Symbol" panose="05050102010706020507" pitchFamily="18" charset="2"/>
              </a:rPr>
              <a:t>贝努里随机序列</a:t>
            </a:r>
            <a:r>
              <a:rPr lang="zh-CN" altLang="en-US" dirty="0">
                <a:sym typeface="Symbol" panose="05050102010706020507" pitchFamily="18" charset="2"/>
              </a:rPr>
              <a:t>，</a:t>
            </a:r>
            <a:r>
              <a:rPr lang="en-US" altLang="zh-CN" dirty="0">
                <a:sym typeface="Symbol" panose="05050102010706020507" pitchFamily="18" charset="2"/>
              </a:rPr>
              <a:t>X(0)=0</a:t>
            </a:r>
            <a:r>
              <a:rPr lang="zh-CN" altLang="en-US" dirty="0">
                <a:sym typeface="Symbol" panose="05050102010706020507" pitchFamily="18" charset="2"/>
              </a:rPr>
              <a:t>，</a:t>
            </a:r>
            <a:r>
              <a:rPr lang="en-US" altLang="zh-CN" dirty="0">
                <a:sym typeface="Symbol" panose="05050102010706020507" pitchFamily="18" charset="2"/>
              </a:rPr>
              <a:t>X(n),n=1,2,…</a:t>
            </a:r>
            <a:r>
              <a:rPr lang="zh-CN" altLang="en-US" dirty="0">
                <a:sym typeface="Symbol" panose="05050102010706020507" pitchFamily="18" charset="2"/>
              </a:rPr>
              <a:t>是相互独立同分布的贝努里随机变量，设</a:t>
            </a:r>
          </a:p>
        </p:txBody>
      </p:sp>
      <p:sp>
        <p:nvSpPr>
          <p:cNvPr id="266244" name="Rectangle 4">
            <a:extLst>
              <a:ext uri="{FF2B5EF4-FFF2-40B4-BE49-F238E27FC236}">
                <a16:creationId xmlns:a16="http://schemas.microsoft.com/office/drawing/2014/main" id="{ACF7C04E-D07C-2EFD-C3B9-351EDD623648}"/>
              </a:ext>
            </a:extLst>
          </p:cNvPr>
          <p:cNvSpPr>
            <a:spLocks noChangeArrowheads="1"/>
          </p:cNvSpPr>
          <p:nvPr/>
        </p:nvSpPr>
        <p:spPr bwMode="auto">
          <a:xfrm>
            <a:off x="812761" y="3886994"/>
            <a:ext cx="10925213"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Tx/>
              <a:buFontTx/>
              <a:buNone/>
            </a:pPr>
            <a:r>
              <a:rPr lang="zh-CN" altLang="en-US" sz="2400" dirty="0">
                <a:solidFill>
                  <a:srgbClr val="000000"/>
                </a:solidFill>
                <a:latin typeface="+mn-ea"/>
                <a:ea typeface="+mn-ea"/>
              </a:rPr>
              <a:t>称</a:t>
            </a:r>
            <a:r>
              <a:rPr lang="en-US" altLang="zh-CN" sz="2400" dirty="0">
                <a:solidFill>
                  <a:srgbClr val="000000"/>
                </a:solidFill>
                <a:latin typeface="+mn-ea"/>
                <a:ea typeface="+mn-ea"/>
                <a:sym typeface="Symbol" panose="05050102010706020507" pitchFamily="18" charset="2"/>
              </a:rPr>
              <a:t>{Y(n),n=0,1,2,…}</a:t>
            </a:r>
            <a:r>
              <a:rPr lang="zh-CN" altLang="en-US" sz="2400" dirty="0">
                <a:solidFill>
                  <a:srgbClr val="000000"/>
                </a:solidFill>
                <a:latin typeface="+mn-ea"/>
                <a:ea typeface="+mn-ea"/>
                <a:sym typeface="Symbol" panose="05050102010706020507" pitchFamily="18" charset="2"/>
              </a:rPr>
              <a:t>为</a:t>
            </a:r>
            <a:r>
              <a:rPr lang="zh-CN" altLang="en-US" sz="2400" dirty="0">
                <a:solidFill>
                  <a:srgbClr val="CC00CC"/>
                </a:solidFill>
                <a:latin typeface="+mn-ea"/>
                <a:ea typeface="+mn-ea"/>
                <a:sym typeface="Symbol" panose="05050102010706020507" pitchFamily="18" charset="2"/>
              </a:rPr>
              <a:t>二项计数过程</a:t>
            </a:r>
            <a:r>
              <a:rPr lang="en-US" altLang="zh-CN" sz="2400" dirty="0">
                <a:solidFill>
                  <a:srgbClr val="000000"/>
                </a:solidFill>
                <a:latin typeface="+mn-ea"/>
                <a:ea typeface="+mn-ea"/>
                <a:sym typeface="Symbol" panose="05050102010706020507" pitchFamily="18" charset="2"/>
              </a:rPr>
              <a:t>(</a:t>
            </a:r>
            <a:r>
              <a:rPr lang="zh-CN" altLang="en-US" sz="2400" dirty="0">
                <a:solidFill>
                  <a:srgbClr val="CC00CC"/>
                </a:solidFill>
                <a:latin typeface="+mn-ea"/>
                <a:ea typeface="+mn-ea"/>
                <a:sym typeface="Symbol" panose="05050102010706020507" pitchFamily="18" charset="2"/>
              </a:rPr>
              <a:t>广义随机游动</a:t>
            </a:r>
            <a:r>
              <a:rPr lang="en-US" altLang="zh-CN" sz="2400" dirty="0">
                <a:solidFill>
                  <a:srgbClr val="000000"/>
                </a:solidFill>
                <a:latin typeface="+mn-ea"/>
                <a:ea typeface="+mn-ea"/>
                <a:sym typeface="Symbol" panose="05050102010706020507" pitchFamily="18" charset="2"/>
              </a:rPr>
              <a:t>)</a:t>
            </a:r>
            <a:r>
              <a:rPr lang="zh-CN" altLang="en-US" sz="2400" dirty="0">
                <a:solidFill>
                  <a:srgbClr val="000000"/>
                </a:solidFill>
                <a:latin typeface="+mn-ea"/>
                <a:ea typeface="+mn-ea"/>
                <a:sym typeface="Symbol" panose="05050102010706020507" pitchFamily="18" charset="2"/>
              </a:rPr>
              <a:t>，它是平稳独立增量过程，因而</a:t>
            </a:r>
            <a:r>
              <a:rPr lang="zh-CN" altLang="en-US" sz="2400" dirty="0">
                <a:solidFill>
                  <a:srgbClr val="000000"/>
                </a:solidFill>
                <a:latin typeface="+mn-ea"/>
                <a:ea typeface="+mn-ea"/>
              </a:rPr>
              <a:t>是离散参数马氏链。</a:t>
            </a:r>
          </a:p>
        </p:txBody>
      </p:sp>
      <p:graphicFrame>
        <p:nvGraphicFramePr>
          <p:cNvPr id="266245" name="Object 5">
            <a:extLst>
              <a:ext uri="{FF2B5EF4-FFF2-40B4-BE49-F238E27FC236}">
                <a16:creationId xmlns:a16="http://schemas.microsoft.com/office/drawing/2014/main" id="{5D7DCD98-5569-1CFC-E199-4FB6A0B8D510}"/>
              </a:ext>
            </a:extLst>
          </p:cNvPr>
          <p:cNvGraphicFramePr>
            <a:graphicFrameLocks noChangeAspect="1"/>
          </p:cNvGraphicFramePr>
          <p:nvPr/>
        </p:nvGraphicFramePr>
        <p:xfrm>
          <a:off x="2746375" y="2551791"/>
          <a:ext cx="5640105" cy="994005"/>
        </p:xfrm>
        <a:graphic>
          <a:graphicData uri="http://schemas.openxmlformats.org/presentationml/2006/ole">
            <mc:AlternateContent xmlns:mc="http://schemas.openxmlformats.org/markup-compatibility/2006">
              <mc:Choice xmlns:v="urn:schemas-microsoft-com:vml" Requires="v">
                <p:oleObj name="Equation" r:id="rId3" imgW="2451100" imgH="431800" progId="Equation.3">
                  <p:embed/>
                </p:oleObj>
              </mc:Choice>
              <mc:Fallback>
                <p:oleObj name="Equation" r:id="rId3" imgW="2451100" imgH="431800" progId="Equation.3">
                  <p:embed/>
                  <p:pic>
                    <p:nvPicPr>
                      <p:cNvPr id="266245" name="Object 5">
                        <a:extLst>
                          <a:ext uri="{FF2B5EF4-FFF2-40B4-BE49-F238E27FC236}">
                            <a16:creationId xmlns:a16="http://schemas.microsoft.com/office/drawing/2014/main" id="{5D7DCD98-5569-1CFC-E199-4FB6A0B8D5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6375" y="2551791"/>
                        <a:ext cx="5640105" cy="9940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6243">
                                            <p:txEl>
                                              <p:pRg st="0" end="0"/>
                                            </p:txEl>
                                          </p:spTgt>
                                        </p:tgtEl>
                                        <p:attrNameLst>
                                          <p:attrName>style.visibility</p:attrName>
                                        </p:attrNameLst>
                                      </p:cBhvr>
                                      <p:to>
                                        <p:strVal val="visible"/>
                                      </p:to>
                                    </p:set>
                                    <p:anim calcmode="lin" valueType="num">
                                      <p:cBhvr additive="base">
                                        <p:cTn id="7" dur="500" fill="hold"/>
                                        <p:tgtEl>
                                          <p:spTgt spid="266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4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266245"/>
                                        </p:tgtEl>
                                        <p:attrNameLst>
                                          <p:attrName>style.visibility</p:attrName>
                                        </p:attrNameLst>
                                      </p:cBhvr>
                                      <p:to>
                                        <p:strVal val="visible"/>
                                      </p:to>
                                    </p:set>
                                    <p:anim calcmode="lin" valueType="num">
                                      <p:cBhvr additive="base">
                                        <p:cTn id="12" dur="500" fill="hold"/>
                                        <p:tgtEl>
                                          <p:spTgt spid="266245"/>
                                        </p:tgtEl>
                                        <p:attrNameLst>
                                          <p:attrName>ppt_x</p:attrName>
                                        </p:attrNameLst>
                                      </p:cBhvr>
                                      <p:tavLst>
                                        <p:tav tm="0">
                                          <p:val>
                                            <p:strVal val="#ppt_x"/>
                                          </p:val>
                                        </p:tav>
                                        <p:tav tm="100000">
                                          <p:val>
                                            <p:strVal val="#ppt_x"/>
                                          </p:val>
                                        </p:tav>
                                      </p:tavLst>
                                    </p:anim>
                                    <p:anim calcmode="lin" valueType="num">
                                      <p:cBhvr additive="base">
                                        <p:cTn id="13" dur="500" fill="hold"/>
                                        <p:tgtEl>
                                          <p:spTgt spid="266245"/>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66244"/>
                                        </p:tgtEl>
                                        <p:attrNameLst>
                                          <p:attrName>style.visibility</p:attrName>
                                        </p:attrNameLst>
                                      </p:cBhvr>
                                      <p:to>
                                        <p:strVal val="visible"/>
                                      </p:to>
                                    </p:set>
                                    <p:anim calcmode="lin" valueType="num">
                                      <p:cBhvr additive="base">
                                        <p:cTn id="17" dur="500" fill="hold"/>
                                        <p:tgtEl>
                                          <p:spTgt spid="266244"/>
                                        </p:tgtEl>
                                        <p:attrNameLst>
                                          <p:attrName>ppt_x</p:attrName>
                                        </p:attrNameLst>
                                      </p:cBhvr>
                                      <p:tavLst>
                                        <p:tav tm="0">
                                          <p:val>
                                            <p:strVal val="#ppt_x"/>
                                          </p:val>
                                        </p:tav>
                                        <p:tav tm="100000">
                                          <p:val>
                                            <p:strVal val="#ppt_x"/>
                                          </p:val>
                                        </p:tav>
                                      </p:tavLst>
                                    </p:anim>
                                    <p:anim calcmode="lin" valueType="num">
                                      <p:cBhvr additive="base">
                                        <p:cTn id="18" dur="500" fill="hold"/>
                                        <p:tgtEl>
                                          <p:spTgt spid="2662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3" grpId="0" build="p"/>
      <p:bldP spid="26624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80BEDBC-5FE5-EB7B-FEEF-F1CC0DC3D7AA}"/>
              </a:ext>
            </a:extLst>
          </p:cNvPr>
          <p:cNvSpPr>
            <a:spLocks noGrp="1" noChangeArrowheads="1"/>
          </p:cNvSpPr>
          <p:nvPr>
            <p:ph type="title"/>
          </p:nvPr>
        </p:nvSpPr>
        <p:spPr/>
        <p:txBody>
          <a:bodyPr/>
          <a:lstStyle/>
          <a:p>
            <a:pPr algn="l" eaLnBrk="1" hangingPunct="1"/>
            <a:r>
              <a:rPr lang="zh-CN" altLang="en-US">
                <a:sym typeface="Symbol" panose="05050102010706020507" pitchFamily="18" charset="2"/>
              </a:rPr>
              <a:t>例</a:t>
            </a:r>
            <a:r>
              <a:rPr lang="en-US" altLang="zh-CN">
                <a:sym typeface="Symbol" panose="05050102010706020507" pitchFamily="18" charset="2"/>
              </a:rPr>
              <a:t>4</a:t>
            </a:r>
          </a:p>
        </p:txBody>
      </p:sp>
      <p:sp>
        <p:nvSpPr>
          <p:cNvPr id="349187" name="Rectangle 3">
            <a:extLst>
              <a:ext uri="{FF2B5EF4-FFF2-40B4-BE49-F238E27FC236}">
                <a16:creationId xmlns:a16="http://schemas.microsoft.com/office/drawing/2014/main" id="{2330E6E9-07FB-1C03-6AFC-2A88D494D22A}"/>
              </a:ext>
            </a:extLst>
          </p:cNvPr>
          <p:cNvSpPr>
            <a:spLocks noGrp="1" noChangeArrowheads="1"/>
          </p:cNvSpPr>
          <p:nvPr>
            <p:ph idx="1"/>
          </p:nvPr>
        </p:nvSpPr>
        <p:spPr>
          <a:xfrm>
            <a:off x="155575" y="1143794"/>
            <a:ext cx="10820400" cy="5105400"/>
          </a:xfrm>
        </p:spPr>
        <p:txBody>
          <a:bodyPr>
            <a:normAutofit/>
          </a:bodyPr>
          <a:lstStyle/>
          <a:p>
            <a:pPr eaLnBrk="1" hangingPunct="1">
              <a:buFont typeface="Wingdings" panose="05000000000000000000" pitchFamily="2" charset="2"/>
              <a:buNone/>
            </a:pPr>
            <a:r>
              <a:rPr lang="zh-CN" altLang="en-US" dirty="0"/>
              <a:t>   泊松过程</a:t>
            </a:r>
            <a:r>
              <a:rPr lang="en-US" altLang="zh-CN" dirty="0">
                <a:sym typeface="Symbol" panose="05050102010706020507" pitchFamily="18" charset="2"/>
              </a:rPr>
              <a:t>{N(t),</a:t>
            </a:r>
            <a:r>
              <a:rPr lang="en-US" altLang="zh-CN" dirty="0"/>
              <a:t>t</a:t>
            </a:r>
            <a:r>
              <a:rPr lang="en-US" altLang="zh-CN" dirty="0">
                <a:sym typeface="Symbol" panose="05050102010706020507" pitchFamily="18" charset="2"/>
              </a:rPr>
              <a:t>0</a:t>
            </a:r>
            <a:r>
              <a:rPr lang="en-US" altLang="zh-CN" dirty="0"/>
              <a:t>} </a:t>
            </a:r>
            <a:r>
              <a:rPr lang="zh-CN" altLang="en-US" dirty="0"/>
              <a:t>是马尔可夫过程。</a:t>
            </a:r>
          </a:p>
          <a:p>
            <a:pPr eaLnBrk="1" hangingPunct="1">
              <a:buFont typeface="Wingdings" panose="05000000000000000000" pitchFamily="2" charset="2"/>
              <a:buNone/>
            </a:pPr>
            <a:r>
              <a:rPr lang="zh-CN" altLang="en-US" dirty="0"/>
              <a:t>	</a:t>
            </a:r>
            <a:r>
              <a:rPr lang="zh-CN" altLang="en-US" dirty="0">
                <a:solidFill>
                  <a:srgbClr val="CC00CC"/>
                </a:solidFill>
              </a:rPr>
              <a:t>证明</a:t>
            </a:r>
            <a:r>
              <a:rPr lang="zh-CN" altLang="en-US" dirty="0"/>
              <a:t>  因为泊松过程</a:t>
            </a:r>
            <a:r>
              <a:rPr lang="en-US" altLang="zh-CN" dirty="0">
                <a:sym typeface="Symbol" panose="05050102010706020507" pitchFamily="18" charset="2"/>
              </a:rPr>
              <a:t>{N(t),</a:t>
            </a:r>
            <a:r>
              <a:rPr lang="en-US" altLang="zh-CN" dirty="0"/>
              <a:t>t</a:t>
            </a:r>
            <a:r>
              <a:rPr lang="en-US" altLang="zh-CN" dirty="0">
                <a:sym typeface="Symbol" panose="05050102010706020507" pitchFamily="18" charset="2"/>
              </a:rPr>
              <a:t>0</a:t>
            </a:r>
            <a:r>
              <a:rPr lang="en-US" altLang="zh-CN" dirty="0"/>
              <a:t>}</a:t>
            </a:r>
            <a:r>
              <a:rPr lang="zh-CN" altLang="en-US" dirty="0"/>
              <a:t>是平稳独立增量过程</a:t>
            </a:r>
            <a:r>
              <a:rPr lang="zh-CN" altLang="en-US" dirty="0">
                <a:sym typeface="Symbol" panose="05050102010706020507" pitchFamily="18" charset="2"/>
              </a:rPr>
              <a:t>，因而</a:t>
            </a:r>
            <a:r>
              <a:rPr lang="zh-CN" altLang="en-US" dirty="0"/>
              <a:t>是马尔可夫过程。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49187">
                                            <p:txEl>
                                              <p:pRg st="0" end="0"/>
                                            </p:txEl>
                                          </p:spTgt>
                                        </p:tgtEl>
                                        <p:attrNameLst>
                                          <p:attrName>style.visibility</p:attrName>
                                        </p:attrNameLst>
                                      </p:cBhvr>
                                      <p:to>
                                        <p:strVal val="visible"/>
                                      </p:to>
                                    </p:set>
                                    <p:anim calcmode="lin" valueType="num">
                                      <p:cBhvr additive="base">
                                        <p:cTn id="7" dur="500" fill="hold"/>
                                        <p:tgtEl>
                                          <p:spTgt spid="349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91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9187">
                                            <p:txEl>
                                              <p:pRg st="1" end="1"/>
                                            </p:txEl>
                                          </p:spTgt>
                                        </p:tgtEl>
                                        <p:attrNameLst>
                                          <p:attrName>style.visibility</p:attrName>
                                        </p:attrNameLst>
                                      </p:cBhvr>
                                      <p:to>
                                        <p:strVal val="visible"/>
                                      </p:to>
                                    </p:set>
                                    <p:anim calcmode="lin" valueType="num">
                                      <p:cBhvr additive="base">
                                        <p:cTn id="13" dur="500" fill="hold"/>
                                        <p:tgtEl>
                                          <p:spTgt spid="3491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91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291F4D7-B312-C8D9-0E4F-A140D4058F4C}"/>
              </a:ext>
            </a:extLst>
          </p:cNvPr>
          <p:cNvSpPr>
            <a:spLocks noGrp="1" noChangeArrowheads="1"/>
          </p:cNvSpPr>
          <p:nvPr>
            <p:ph type="title"/>
          </p:nvPr>
        </p:nvSpPr>
        <p:spPr/>
        <p:txBody>
          <a:bodyPr/>
          <a:lstStyle/>
          <a:p>
            <a:pPr eaLnBrk="1" hangingPunct="1"/>
            <a:r>
              <a:rPr lang="en-US" altLang="zh-CN" dirty="0"/>
              <a:t>2  </a:t>
            </a:r>
            <a:r>
              <a:rPr lang="zh-CN" altLang="en-US" dirty="0"/>
              <a:t>离散参数马氏链</a:t>
            </a:r>
          </a:p>
        </p:txBody>
      </p:sp>
      <p:sp>
        <p:nvSpPr>
          <p:cNvPr id="267267" name="Rectangle 3">
            <a:extLst>
              <a:ext uri="{FF2B5EF4-FFF2-40B4-BE49-F238E27FC236}">
                <a16:creationId xmlns:a16="http://schemas.microsoft.com/office/drawing/2014/main" id="{284FA7A0-E7AE-B61F-2725-D3939C753C99}"/>
              </a:ext>
            </a:extLst>
          </p:cNvPr>
          <p:cNvSpPr>
            <a:spLocks noGrp="1" noChangeArrowheads="1"/>
          </p:cNvSpPr>
          <p:nvPr>
            <p:ph idx="1"/>
          </p:nvPr>
        </p:nvSpPr>
        <p:spPr>
          <a:xfrm>
            <a:off x="460375" y="1089277"/>
            <a:ext cx="11201399" cy="1111507"/>
          </a:xfrm>
        </p:spPr>
        <p:txBody>
          <a:bodyPr>
            <a:normAutofit lnSpcReduction="10000"/>
          </a:bodyPr>
          <a:lstStyle/>
          <a:p>
            <a:pPr marL="0" indent="0" eaLnBrk="1" hangingPunct="1">
              <a:buFont typeface="Wingdings" panose="05000000000000000000" pitchFamily="2" charset="2"/>
              <a:buNone/>
            </a:pPr>
            <a:r>
              <a:rPr lang="zh-CN" altLang="en-US" dirty="0"/>
              <a:t>状态空间</a:t>
            </a:r>
            <a:r>
              <a:rPr lang="en-US" altLang="zh-CN" dirty="0"/>
              <a:t>E</a:t>
            </a:r>
            <a:r>
              <a:rPr lang="zh-CN" altLang="en-US" dirty="0"/>
              <a:t>和参数集</a:t>
            </a:r>
            <a:r>
              <a:rPr lang="en-US" altLang="zh-CN" dirty="0"/>
              <a:t>T</a:t>
            </a:r>
            <a:r>
              <a:rPr lang="zh-CN" altLang="en-US" dirty="0"/>
              <a:t>都是离散的马尔可夫过程称为</a:t>
            </a:r>
            <a:r>
              <a:rPr lang="zh-CN" altLang="en-US" dirty="0">
                <a:solidFill>
                  <a:srgbClr val="0000FF"/>
                </a:solidFill>
              </a:rPr>
              <a:t>离散参数马氏链</a:t>
            </a:r>
            <a:r>
              <a:rPr lang="zh-CN" altLang="en-US" dirty="0"/>
              <a:t>，简称</a:t>
            </a:r>
            <a:r>
              <a:rPr lang="zh-CN" altLang="en-US" dirty="0">
                <a:solidFill>
                  <a:srgbClr val="0000FF"/>
                </a:solidFill>
              </a:rPr>
              <a:t>马氏链</a:t>
            </a:r>
            <a:r>
              <a:rPr lang="zh-CN" altLang="en-US" dirty="0"/>
              <a:t>。即</a:t>
            </a:r>
          </a:p>
        </p:txBody>
      </p:sp>
      <p:sp>
        <p:nvSpPr>
          <p:cNvPr id="267268" name="Rectangle 4">
            <a:extLst>
              <a:ext uri="{FF2B5EF4-FFF2-40B4-BE49-F238E27FC236}">
                <a16:creationId xmlns:a16="http://schemas.microsoft.com/office/drawing/2014/main" id="{48C1FC2D-B14C-BD13-D1C0-C731F3D834BA}"/>
              </a:ext>
            </a:extLst>
          </p:cNvPr>
          <p:cNvSpPr>
            <a:spLocks noChangeArrowheads="1"/>
          </p:cNvSpPr>
          <p:nvPr/>
        </p:nvSpPr>
        <p:spPr bwMode="auto">
          <a:xfrm>
            <a:off x="612775" y="2508218"/>
            <a:ext cx="10972800" cy="279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Tx/>
              <a:buFontTx/>
              <a:buNone/>
            </a:pPr>
            <a:r>
              <a:rPr lang="zh-CN" altLang="en-US" sz="2400" dirty="0">
                <a:solidFill>
                  <a:srgbClr val="000000"/>
                </a:solidFill>
                <a:latin typeface="+mn-ea"/>
                <a:ea typeface="+mn-ea"/>
              </a:rPr>
              <a:t>设</a:t>
            </a:r>
            <a:r>
              <a:rPr lang="en-US" altLang="zh-CN" sz="2400" dirty="0">
                <a:solidFill>
                  <a:srgbClr val="000000"/>
                </a:solidFill>
                <a:latin typeface="+mn-ea"/>
                <a:ea typeface="+mn-ea"/>
                <a:sym typeface="Symbol" panose="05050102010706020507" pitchFamily="18" charset="2"/>
              </a:rPr>
              <a:t>{X(n),n=0,1,2,…}</a:t>
            </a:r>
            <a:r>
              <a:rPr lang="zh-CN" altLang="en-US" sz="2400" dirty="0">
                <a:solidFill>
                  <a:srgbClr val="000000"/>
                </a:solidFill>
                <a:latin typeface="+mn-ea"/>
                <a:ea typeface="+mn-ea"/>
                <a:sym typeface="Symbol" panose="05050102010706020507" pitchFamily="18" charset="2"/>
              </a:rPr>
              <a:t>为随机序列，状态空间</a:t>
            </a:r>
            <a:r>
              <a:rPr lang="en-US" altLang="zh-CN" sz="2400" dirty="0">
                <a:solidFill>
                  <a:srgbClr val="000000"/>
                </a:solidFill>
                <a:latin typeface="+mn-ea"/>
                <a:ea typeface="+mn-ea"/>
                <a:sym typeface="Symbol" panose="05050102010706020507" pitchFamily="18" charset="2"/>
              </a:rPr>
              <a:t>E={0,1,2,…}</a:t>
            </a:r>
            <a:r>
              <a:rPr lang="zh-CN" altLang="en-US" sz="2400" dirty="0">
                <a:solidFill>
                  <a:srgbClr val="000000"/>
                </a:solidFill>
                <a:latin typeface="+mn-ea"/>
                <a:ea typeface="+mn-ea"/>
                <a:sym typeface="Symbol" panose="05050102010706020507" pitchFamily="18" charset="2"/>
              </a:rPr>
              <a:t>。如果对于任意非负整数</a:t>
            </a:r>
            <a:r>
              <a:rPr lang="en-US" altLang="zh-CN" sz="2400" dirty="0">
                <a:solidFill>
                  <a:srgbClr val="000000"/>
                </a:solidFill>
                <a:latin typeface="+mn-ea"/>
                <a:ea typeface="+mn-ea"/>
                <a:sym typeface="Symbol" panose="05050102010706020507" pitchFamily="18" charset="2"/>
              </a:rPr>
              <a:t>k</a:t>
            </a:r>
            <a:r>
              <a:rPr lang="zh-CN" altLang="en-US" sz="2400" dirty="0">
                <a:solidFill>
                  <a:srgbClr val="000000"/>
                </a:solidFill>
                <a:latin typeface="+mn-ea"/>
                <a:ea typeface="+mn-ea"/>
                <a:sym typeface="Symbol" panose="05050102010706020507" pitchFamily="18" charset="2"/>
              </a:rPr>
              <a:t>、</a:t>
            </a:r>
            <a:r>
              <a:rPr lang="en-US" altLang="zh-CN" sz="2400" dirty="0">
                <a:solidFill>
                  <a:srgbClr val="000000"/>
                </a:solidFill>
                <a:latin typeface="+mn-ea"/>
                <a:ea typeface="+mn-ea"/>
                <a:sym typeface="Symbol" panose="05050102010706020507" pitchFamily="18" charset="2"/>
              </a:rPr>
              <a:t>n</a:t>
            </a:r>
            <a:r>
              <a:rPr lang="en-US" altLang="zh-CN" sz="2400" baseline="-25000" dirty="0">
                <a:solidFill>
                  <a:srgbClr val="000000"/>
                </a:solidFill>
                <a:latin typeface="+mn-ea"/>
                <a:ea typeface="+mn-ea"/>
                <a:sym typeface="Symbol" panose="05050102010706020507" pitchFamily="18" charset="2"/>
              </a:rPr>
              <a:t>1</a:t>
            </a:r>
            <a:r>
              <a:rPr lang="en-US" altLang="zh-CN" sz="2400" dirty="0">
                <a:solidFill>
                  <a:srgbClr val="000000"/>
                </a:solidFill>
                <a:latin typeface="+mn-ea"/>
                <a:ea typeface="+mn-ea"/>
                <a:sym typeface="Symbol" panose="05050102010706020507" pitchFamily="18" charset="2"/>
              </a:rPr>
              <a:t>&lt;n</a:t>
            </a:r>
            <a:r>
              <a:rPr lang="en-US" altLang="zh-CN" sz="2400" baseline="-25000" dirty="0">
                <a:solidFill>
                  <a:srgbClr val="000000"/>
                </a:solidFill>
                <a:latin typeface="+mn-ea"/>
                <a:ea typeface="+mn-ea"/>
                <a:sym typeface="Symbol" panose="05050102010706020507" pitchFamily="18" charset="2"/>
              </a:rPr>
              <a:t>2</a:t>
            </a:r>
            <a:r>
              <a:rPr lang="en-US" altLang="zh-CN" sz="2400" dirty="0">
                <a:solidFill>
                  <a:srgbClr val="000000"/>
                </a:solidFill>
                <a:latin typeface="+mn-ea"/>
                <a:ea typeface="+mn-ea"/>
                <a:sym typeface="Symbol" panose="05050102010706020507" pitchFamily="18" charset="2"/>
              </a:rPr>
              <a:t>&lt;…&lt;</a:t>
            </a:r>
            <a:r>
              <a:rPr lang="en-US" altLang="zh-CN" sz="2400" dirty="0" err="1">
                <a:solidFill>
                  <a:srgbClr val="000000"/>
                </a:solidFill>
                <a:latin typeface="+mn-ea"/>
                <a:ea typeface="+mn-ea"/>
                <a:sym typeface="Symbol" panose="05050102010706020507" pitchFamily="18" charset="2"/>
              </a:rPr>
              <a:t>n</a:t>
            </a:r>
            <a:r>
              <a:rPr lang="en-US" altLang="zh-CN" sz="2400" baseline="-25000" dirty="0" err="1">
                <a:solidFill>
                  <a:srgbClr val="000000"/>
                </a:solidFill>
                <a:latin typeface="+mn-ea"/>
                <a:ea typeface="+mn-ea"/>
                <a:sym typeface="Symbol" panose="05050102010706020507" pitchFamily="18" charset="2"/>
              </a:rPr>
              <a:t>j</a:t>
            </a:r>
            <a:r>
              <a:rPr lang="en-US" altLang="zh-CN" sz="2400" dirty="0">
                <a:solidFill>
                  <a:srgbClr val="000000"/>
                </a:solidFill>
                <a:latin typeface="+mn-ea"/>
                <a:ea typeface="+mn-ea"/>
                <a:sym typeface="Symbol" panose="05050102010706020507" pitchFamily="18" charset="2"/>
              </a:rPr>
              <a:t>&lt;m</a:t>
            </a:r>
            <a:r>
              <a:rPr lang="zh-CN" altLang="en-US" sz="2400" dirty="0">
                <a:solidFill>
                  <a:srgbClr val="000000"/>
                </a:solidFill>
                <a:latin typeface="+mn-ea"/>
                <a:ea typeface="+mn-ea"/>
              </a:rPr>
              <a:t>及</a:t>
            </a:r>
            <a:r>
              <a:rPr lang="en-US" altLang="zh-CN" sz="2400" dirty="0">
                <a:solidFill>
                  <a:srgbClr val="000000"/>
                </a:solidFill>
                <a:latin typeface="+mn-ea"/>
                <a:ea typeface="+mn-ea"/>
              </a:rPr>
              <a:t>i</a:t>
            </a:r>
            <a:r>
              <a:rPr lang="en-US" altLang="zh-CN" sz="2400" baseline="-25000" dirty="0">
                <a:solidFill>
                  <a:srgbClr val="000000"/>
                </a:solidFill>
                <a:latin typeface="+mn-ea"/>
                <a:ea typeface="+mn-ea"/>
              </a:rPr>
              <a:t>n1</a:t>
            </a:r>
            <a:r>
              <a:rPr lang="en-US" altLang="zh-CN" sz="2400" dirty="0">
                <a:solidFill>
                  <a:srgbClr val="000000"/>
                </a:solidFill>
                <a:latin typeface="+mn-ea"/>
                <a:ea typeface="+mn-ea"/>
              </a:rPr>
              <a:t>,i</a:t>
            </a:r>
            <a:r>
              <a:rPr lang="en-US" altLang="zh-CN" sz="2400" baseline="-25000" dirty="0">
                <a:solidFill>
                  <a:srgbClr val="000000"/>
                </a:solidFill>
                <a:latin typeface="+mn-ea"/>
                <a:ea typeface="+mn-ea"/>
              </a:rPr>
              <a:t>n2</a:t>
            </a:r>
            <a:r>
              <a:rPr lang="en-US" altLang="zh-CN" sz="2400" dirty="0">
                <a:solidFill>
                  <a:srgbClr val="000000"/>
                </a:solidFill>
                <a:latin typeface="+mn-ea"/>
                <a:ea typeface="+mn-ea"/>
              </a:rPr>
              <a:t>,…</a:t>
            </a:r>
            <a:r>
              <a:rPr lang="en-US" altLang="zh-CN" sz="2400" dirty="0" err="1">
                <a:solidFill>
                  <a:srgbClr val="000000"/>
                </a:solidFill>
                <a:latin typeface="+mn-ea"/>
                <a:ea typeface="+mn-ea"/>
              </a:rPr>
              <a:t>i</a:t>
            </a:r>
            <a:r>
              <a:rPr lang="en-US" altLang="zh-CN" sz="2400" baseline="-25000" dirty="0" err="1">
                <a:solidFill>
                  <a:srgbClr val="000000"/>
                </a:solidFill>
                <a:latin typeface="+mn-ea"/>
                <a:ea typeface="+mn-ea"/>
              </a:rPr>
              <a:t>nj</a:t>
            </a:r>
            <a:r>
              <a:rPr lang="en-US" altLang="zh-CN" sz="2400" dirty="0" err="1">
                <a:solidFill>
                  <a:srgbClr val="000000"/>
                </a:solidFill>
                <a:latin typeface="+mn-ea"/>
                <a:ea typeface="+mn-ea"/>
              </a:rPr>
              <a:t>,i</a:t>
            </a:r>
            <a:r>
              <a:rPr lang="en-US" altLang="zh-CN" sz="2400" baseline="-25000" dirty="0" err="1">
                <a:solidFill>
                  <a:srgbClr val="000000"/>
                </a:solidFill>
                <a:latin typeface="+mn-ea"/>
                <a:ea typeface="+mn-ea"/>
              </a:rPr>
              <a:t>m</a:t>
            </a:r>
            <a:r>
              <a:rPr lang="en-US" altLang="zh-CN" sz="2400" dirty="0" err="1">
                <a:solidFill>
                  <a:srgbClr val="000000"/>
                </a:solidFill>
                <a:latin typeface="+mn-ea"/>
                <a:ea typeface="+mn-ea"/>
              </a:rPr>
              <a:t>,i</a:t>
            </a:r>
            <a:r>
              <a:rPr lang="en-US" altLang="zh-CN" sz="2400" baseline="-25000" dirty="0" err="1">
                <a:solidFill>
                  <a:srgbClr val="000000"/>
                </a:solidFill>
                <a:latin typeface="+mn-ea"/>
                <a:ea typeface="+mn-ea"/>
              </a:rPr>
              <a:t>m+k</a:t>
            </a:r>
            <a:r>
              <a:rPr lang="en-US" altLang="zh-CN" sz="2400" dirty="0" err="1">
                <a:solidFill>
                  <a:srgbClr val="000000"/>
                </a:solidFill>
                <a:latin typeface="+mn-ea"/>
                <a:ea typeface="+mn-ea"/>
                <a:sym typeface="Symbol" panose="05050102010706020507" pitchFamily="18" charset="2"/>
              </a:rPr>
              <a:t>E</a:t>
            </a:r>
            <a:r>
              <a:rPr lang="zh-CN" altLang="en-US" sz="2400" dirty="0">
                <a:solidFill>
                  <a:srgbClr val="000000"/>
                </a:solidFill>
                <a:latin typeface="+mn-ea"/>
                <a:ea typeface="+mn-ea"/>
                <a:sym typeface="Symbol" panose="05050102010706020507" pitchFamily="18" charset="2"/>
              </a:rPr>
              <a:t>，马尔可夫性</a:t>
            </a:r>
          </a:p>
          <a:p>
            <a:pPr eaLnBrk="1" hangingPunct="1">
              <a:lnSpc>
                <a:spcPct val="150000"/>
              </a:lnSpc>
              <a:buClrTx/>
              <a:buFontTx/>
              <a:buNone/>
            </a:pPr>
            <a:r>
              <a:rPr lang="zh-CN" altLang="en-US" sz="2400" dirty="0">
                <a:solidFill>
                  <a:srgbClr val="000000"/>
                </a:solidFill>
                <a:latin typeface="+mn-ea"/>
                <a:ea typeface="+mn-ea"/>
                <a:sym typeface="Symbol" panose="05050102010706020507" pitchFamily="18" charset="2"/>
              </a:rPr>
              <a:t>    </a:t>
            </a:r>
            <a:r>
              <a:rPr lang="en-US" altLang="zh-CN" sz="2400" dirty="0">
                <a:solidFill>
                  <a:srgbClr val="000000"/>
                </a:solidFill>
                <a:latin typeface="+mn-ea"/>
                <a:ea typeface="+mn-ea"/>
                <a:sym typeface="Symbol" panose="05050102010706020507" pitchFamily="18" charset="2"/>
              </a:rPr>
              <a:t>P{X(</a:t>
            </a:r>
            <a:r>
              <a:rPr lang="en-US" altLang="zh-CN" sz="2400" dirty="0" err="1">
                <a:solidFill>
                  <a:srgbClr val="000000"/>
                </a:solidFill>
                <a:latin typeface="+mn-ea"/>
                <a:ea typeface="+mn-ea"/>
                <a:sym typeface="Symbol" panose="05050102010706020507" pitchFamily="18" charset="2"/>
              </a:rPr>
              <a:t>m+k</a:t>
            </a:r>
            <a:r>
              <a:rPr lang="en-US" altLang="zh-CN" sz="2400" dirty="0">
                <a:solidFill>
                  <a:srgbClr val="000000"/>
                </a:solidFill>
                <a:latin typeface="+mn-ea"/>
                <a:ea typeface="+mn-ea"/>
                <a:sym typeface="Symbol" panose="05050102010706020507" pitchFamily="18" charset="2"/>
              </a:rPr>
              <a:t>)=</a:t>
            </a:r>
            <a:r>
              <a:rPr lang="en-US" altLang="zh-CN" sz="2400" dirty="0" err="1">
                <a:solidFill>
                  <a:srgbClr val="000000"/>
                </a:solidFill>
                <a:latin typeface="+mn-ea"/>
                <a:ea typeface="+mn-ea"/>
                <a:sym typeface="Symbol" panose="05050102010706020507" pitchFamily="18" charset="2"/>
              </a:rPr>
              <a:t>i</a:t>
            </a:r>
            <a:r>
              <a:rPr lang="en-US" altLang="zh-CN" sz="2400" baseline="-25000" dirty="0" err="1">
                <a:solidFill>
                  <a:srgbClr val="000000"/>
                </a:solidFill>
                <a:latin typeface="+mn-ea"/>
                <a:ea typeface="+mn-ea"/>
                <a:sym typeface="Symbol" panose="05050102010706020507" pitchFamily="18" charset="2"/>
              </a:rPr>
              <a:t>m+k</a:t>
            </a:r>
            <a:r>
              <a:rPr lang="en-US" altLang="zh-CN" sz="2400" dirty="0" err="1">
                <a:solidFill>
                  <a:srgbClr val="000000"/>
                </a:solidFill>
                <a:latin typeface="+mn-ea"/>
                <a:ea typeface="+mn-ea"/>
                <a:sym typeface="Symbol" panose="05050102010706020507" pitchFamily="18" charset="2"/>
              </a:rPr>
              <a:t>|X</a:t>
            </a:r>
            <a:r>
              <a:rPr lang="en-US" altLang="zh-CN" sz="2400" dirty="0">
                <a:solidFill>
                  <a:srgbClr val="000000"/>
                </a:solidFill>
                <a:latin typeface="+mn-ea"/>
                <a:ea typeface="+mn-ea"/>
                <a:sym typeface="Symbol" panose="05050102010706020507" pitchFamily="18" charset="2"/>
              </a:rPr>
              <a:t>(n</a:t>
            </a:r>
            <a:r>
              <a:rPr lang="en-US" altLang="zh-CN" sz="2400" baseline="-25000" dirty="0">
                <a:solidFill>
                  <a:srgbClr val="000000"/>
                </a:solidFill>
                <a:latin typeface="+mn-ea"/>
                <a:ea typeface="+mn-ea"/>
                <a:sym typeface="Symbol" panose="05050102010706020507" pitchFamily="18" charset="2"/>
              </a:rPr>
              <a:t>1</a:t>
            </a:r>
            <a:r>
              <a:rPr lang="en-US" altLang="zh-CN" sz="2400" dirty="0">
                <a:solidFill>
                  <a:srgbClr val="000000"/>
                </a:solidFill>
                <a:latin typeface="+mn-ea"/>
                <a:ea typeface="+mn-ea"/>
                <a:sym typeface="Symbol" panose="05050102010706020507" pitchFamily="18" charset="2"/>
              </a:rPr>
              <a:t>)=i</a:t>
            </a:r>
            <a:r>
              <a:rPr lang="en-US" altLang="zh-CN" sz="2400" baseline="-25000" dirty="0">
                <a:solidFill>
                  <a:srgbClr val="000000"/>
                </a:solidFill>
                <a:latin typeface="+mn-ea"/>
                <a:ea typeface="+mn-ea"/>
                <a:sym typeface="Symbol" panose="05050102010706020507" pitchFamily="18" charset="2"/>
              </a:rPr>
              <a:t>n1</a:t>
            </a:r>
            <a:r>
              <a:rPr lang="en-US" altLang="zh-CN" sz="2400" dirty="0">
                <a:solidFill>
                  <a:srgbClr val="000000"/>
                </a:solidFill>
                <a:latin typeface="+mn-ea"/>
                <a:ea typeface="+mn-ea"/>
                <a:sym typeface="Symbol" panose="05050102010706020507" pitchFamily="18" charset="2"/>
              </a:rPr>
              <a:t>,  X(n</a:t>
            </a:r>
            <a:r>
              <a:rPr lang="en-US" altLang="zh-CN" sz="2400" baseline="-25000" dirty="0">
                <a:solidFill>
                  <a:srgbClr val="000000"/>
                </a:solidFill>
                <a:latin typeface="+mn-ea"/>
                <a:ea typeface="+mn-ea"/>
                <a:sym typeface="Symbol" panose="05050102010706020507" pitchFamily="18" charset="2"/>
              </a:rPr>
              <a:t>2</a:t>
            </a:r>
            <a:r>
              <a:rPr lang="en-US" altLang="zh-CN" sz="2400" dirty="0">
                <a:solidFill>
                  <a:srgbClr val="000000"/>
                </a:solidFill>
                <a:latin typeface="+mn-ea"/>
                <a:ea typeface="+mn-ea"/>
                <a:sym typeface="Symbol" panose="05050102010706020507" pitchFamily="18" charset="2"/>
              </a:rPr>
              <a:t>)=i</a:t>
            </a:r>
            <a:r>
              <a:rPr lang="en-US" altLang="zh-CN" sz="2400" baseline="-25000" dirty="0">
                <a:solidFill>
                  <a:srgbClr val="000000"/>
                </a:solidFill>
                <a:latin typeface="+mn-ea"/>
                <a:ea typeface="+mn-ea"/>
                <a:sym typeface="Symbol" panose="05050102010706020507" pitchFamily="18" charset="2"/>
              </a:rPr>
              <a:t>n2</a:t>
            </a:r>
            <a:r>
              <a:rPr lang="en-US" altLang="zh-CN" sz="2400" dirty="0">
                <a:solidFill>
                  <a:srgbClr val="000000"/>
                </a:solidFill>
                <a:latin typeface="+mn-ea"/>
                <a:ea typeface="+mn-ea"/>
                <a:sym typeface="Symbol" panose="05050102010706020507" pitchFamily="18" charset="2"/>
              </a:rPr>
              <a:t>,…,X(</a:t>
            </a:r>
            <a:r>
              <a:rPr lang="en-US" altLang="zh-CN" sz="2400" dirty="0" err="1">
                <a:solidFill>
                  <a:srgbClr val="000000"/>
                </a:solidFill>
                <a:latin typeface="+mn-ea"/>
                <a:ea typeface="+mn-ea"/>
                <a:sym typeface="Symbol" panose="05050102010706020507" pitchFamily="18" charset="2"/>
              </a:rPr>
              <a:t>n</a:t>
            </a:r>
            <a:r>
              <a:rPr lang="en-US" altLang="zh-CN" sz="2400" baseline="-25000" dirty="0" err="1">
                <a:solidFill>
                  <a:srgbClr val="000000"/>
                </a:solidFill>
                <a:latin typeface="+mn-ea"/>
                <a:ea typeface="+mn-ea"/>
                <a:sym typeface="Symbol" panose="05050102010706020507" pitchFamily="18" charset="2"/>
              </a:rPr>
              <a:t>j</a:t>
            </a:r>
            <a:r>
              <a:rPr lang="en-US" altLang="zh-CN" sz="2400" dirty="0">
                <a:solidFill>
                  <a:srgbClr val="000000"/>
                </a:solidFill>
                <a:latin typeface="+mn-ea"/>
                <a:ea typeface="+mn-ea"/>
                <a:sym typeface="Symbol" panose="05050102010706020507" pitchFamily="18" charset="2"/>
              </a:rPr>
              <a:t>)=</a:t>
            </a:r>
            <a:r>
              <a:rPr lang="en-US" altLang="zh-CN" sz="2400" dirty="0" err="1">
                <a:solidFill>
                  <a:srgbClr val="000000"/>
                </a:solidFill>
                <a:latin typeface="+mn-ea"/>
                <a:ea typeface="+mn-ea"/>
                <a:sym typeface="Symbol" panose="05050102010706020507" pitchFamily="18" charset="2"/>
              </a:rPr>
              <a:t>i</a:t>
            </a:r>
            <a:r>
              <a:rPr lang="en-US" altLang="zh-CN" sz="2400" baseline="-25000" dirty="0" err="1">
                <a:solidFill>
                  <a:srgbClr val="000000"/>
                </a:solidFill>
                <a:latin typeface="+mn-ea"/>
                <a:ea typeface="+mn-ea"/>
                <a:sym typeface="Symbol" panose="05050102010706020507" pitchFamily="18" charset="2"/>
              </a:rPr>
              <a:t>nj</a:t>
            </a:r>
            <a:r>
              <a:rPr lang="en-US" altLang="zh-CN" sz="2400" dirty="0" err="1">
                <a:solidFill>
                  <a:srgbClr val="000000"/>
                </a:solidFill>
                <a:latin typeface="+mn-ea"/>
                <a:ea typeface="+mn-ea"/>
                <a:sym typeface="Symbol" panose="05050102010706020507" pitchFamily="18" charset="2"/>
              </a:rPr>
              <a:t>,X</a:t>
            </a:r>
            <a:r>
              <a:rPr lang="en-US" altLang="zh-CN" sz="2400" dirty="0">
                <a:solidFill>
                  <a:srgbClr val="000000"/>
                </a:solidFill>
                <a:latin typeface="+mn-ea"/>
                <a:ea typeface="+mn-ea"/>
                <a:sym typeface="Symbol" panose="05050102010706020507" pitchFamily="18" charset="2"/>
              </a:rPr>
              <a:t>(m)=</a:t>
            </a:r>
            <a:r>
              <a:rPr lang="en-US" altLang="zh-CN" sz="2400" dirty="0" err="1">
                <a:solidFill>
                  <a:srgbClr val="000000"/>
                </a:solidFill>
                <a:latin typeface="+mn-ea"/>
                <a:ea typeface="+mn-ea"/>
                <a:sym typeface="Symbol" panose="05050102010706020507" pitchFamily="18" charset="2"/>
              </a:rPr>
              <a:t>i</a:t>
            </a:r>
            <a:r>
              <a:rPr lang="en-US" altLang="zh-CN" sz="2400" baseline="-25000" dirty="0" err="1">
                <a:solidFill>
                  <a:srgbClr val="000000"/>
                </a:solidFill>
                <a:latin typeface="+mn-ea"/>
                <a:ea typeface="+mn-ea"/>
                <a:sym typeface="Symbol" panose="05050102010706020507" pitchFamily="18" charset="2"/>
              </a:rPr>
              <a:t>m</a:t>
            </a:r>
            <a:r>
              <a:rPr lang="en-US" altLang="zh-CN" sz="2400" dirty="0">
                <a:solidFill>
                  <a:srgbClr val="000000"/>
                </a:solidFill>
                <a:latin typeface="+mn-ea"/>
                <a:ea typeface="+mn-ea"/>
                <a:sym typeface="Symbol" panose="05050102010706020507" pitchFamily="18" charset="2"/>
              </a:rPr>
              <a:t>}</a:t>
            </a:r>
          </a:p>
          <a:p>
            <a:pPr eaLnBrk="1" hangingPunct="1">
              <a:lnSpc>
                <a:spcPct val="150000"/>
              </a:lnSpc>
              <a:buClrTx/>
              <a:buFontTx/>
              <a:buNone/>
            </a:pPr>
            <a:r>
              <a:rPr lang="en-US" altLang="zh-CN" sz="2400" dirty="0">
                <a:solidFill>
                  <a:srgbClr val="000000"/>
                </a:solidFill>
                <a:latin typeface="+mn-ea"/>
                <a:ea typeface="+mn-ea"/>
                <a:sym typeface="Symbol" panose="05050102010706020507" pitchFamily="18" charset="2"/>
              </a:rPr>
              <a:t>  </a:t>
            </a:r>
            <a:r>
              <a:rPr lang="zh-CN" altLang="en-US" sz="2400" dirty="0">
                <a:solidFill>
                  <a:srgbClr val="000000"/>
                </a:solidFill>
                <a:latin typeface="+mn-ea"/>
                <a:ea typeface="+mn-ea"/>
                <a:sym typeface="Symbol" panose="05050102010706020507" pitchFamily="18" charset="2"/>
              </a:rPr>
              <a:t>＝</a:t>
            </a:r>
            <a:r>
              <a:rPr lang="en-US" altLang="zh-CN" sz="2400" dirty="0">
                <a:solidFill>
                  <a:srgbClr val="000000"/>
                </a:solidFill>
                <a:latin typeface="+mn-ea"/>
                <a:ea typeface="+mn-ea"/>
                <a:sym typeface="Symbol" panose="05050102010706020507" pitchFamily="18" charset="2"/>
              </a:rPr>
              <a:t>P{X(</a:t>
            </a:r>
            <a:r>
              <a:rPr lang="en-US" altLang="zh-CN" sz="2400" dirty="0" err="1">
                <a:solidFill>
                  <a:srgbClr val="000000"/>
                </a:solidFill>
                <a:latin typeface="+mn-ea"/>
                <a:ea typeface="+mn-ea"/>
                <a:sym typeface="Symbol" panose="05050102010706020507" pitchFamily="18" charset="2"/>
              </a:rPr>
              <a:t>m+k</a:t>
            </a:r>
            <a:r>
              <a:rPr lang="en-US" altLang="zh-CN" sz="2400" dirty="0">
                <a:solidFill>
                  <a:srgbClr val="000000"/>
                </a:solidFill>
                <a:latin typeface="+mn-ea"/>
                <a:ea typeface="+mn-ea"/>
                <a:sym typeface="Symbol" panose="05050102010706020507" pitchFamily="18" charset="2"/>
              </a:rPr>
              <a:t>)=</a:t>
            </a:r>
            <a:r>
              <a:rPr lang="en-US" altLang="zh-CN" sz="2400" dirty="0" err="1">
                <a:solidFill>
                  <a:srgbClr val="000000"/>
                </a:solidFill>
                <a:latin typeface="+mn-ea"/>
                <a:ea typeface="+mn-ea"/>
                <a:sym typeface="Symbol" panose="05050102010706020507" pitchFamily="18" charset="2"/>
              </a:rPr>
              <a:t>i</a:t>
            </a:r>
            <a:r>
              <a:rPr lang="en-US" altLang="zh-CN" sz="2400" baseline="-25000" dirty="0" err="1">
                <a:solidFill>
                  <a:srgbClr val="000000"/>
                </a:solidFill>
                <a:latin typeface="+mn-ea"/>
                <a:ea typeface="+mn-ea"/>
                <a:sym typeface="Symbol" panose="05050102010706020507" pitchFamily="18" charset="2"/>
              </a:rPr>
              <a:t>m+k</a:t>
            </a:r>
            <a:r>
              <a:rPr lang="en-US" altLang="zh-CN" sz="2400" dirty="0" err="1">
                <a:solidFill>
                  <a:srgbClr val="000000"/>
                </a:solidFill>
                <a:latin typeface="+mn-ea"/>
                <a:ea typeface="+mn-ea"/>
                <a:sym typeface="Symbol" panose="05050102010706020507" pitchFamily="18" charset="2"/>
              </a:rPr>
              <a:t>|X</a:t>
            </a:r>
            <a:r>
              <a:rPr lang="en-US" altLang="zh-CN" sz="2400" dirty="0">
                <a:solidFill>
                  <a:srgbClr val="000000"/>
                </a:solidFill>
                <a:latin typeface="+mn-ea"/>
                <a:ea typeface="+mn-ea"/>
                <a:sym typeface="Symbol" panose="05050102010706020507" pitchFamily="18" charset="2"/>
              </a:rPr>
              <a:t>(m)=</a:t>
            </a:r>
            <a:r>
              <a:rPr lang="en-US" altLang="zh-CN" sz="2400" dirty="0" err="1">
                <a:solidFill>
                  <a:srgbClr val="000000"/>
                </a:solidFill>
                <a:latin typeface="+mn-ea"/>
                <a:ea typeface="+mn-ea"/>
                <a:sym typeface="Symbol" panose="05050102010706020507" pitchFamily="18" charset="2"/>
              </a:rPr>
              <a:t>i</a:t>
            </a:r>
            <a:r>
              <a:rPr lang="en-US" altLang="zh-CN" sz="2400" baseline="-25000" dirty="0" err="1">
                <a:solidFill>
                  <a:srgbClr val="000000"/>
                </a:solidFill>
                <a:latin typeface="+mn-ea"/>
                <a:ea typeface="+mn-ea"/>
                <a:sym typeface="Symbol" panose="05050102010706020507" pitchFamily="18" charset="2"/>
              </a:rPr>
              <a:t>m</a:t>
            </a:r>
            <a:r>
              <a:rPr lang="en-US" altLang="zh-CN" sz="2400" dirty="0">
                <a:solidFill>
                  <a:srgbClr val="000000"/>
                </a:solidFill>
                <a:latin typeface="+mn-ea"/>
                <a:ea typeface="+mn-ea"/>
                <a:sym typeface="Symbol" panose="05050102010706020507" pitchFamily="18" charset="2"/>
              </a:rPr>
              <a:t>}</a:t>
            </a:r>
          </a:p>
          <a:p>
            <a:pPr eaLnBrk="1" hangingPunct="1">
              <a:lnSpc>
                <a:spcPct val="150000"/>
              </a:lnSpc>
              <a:buClrTx/>
              <a:buFontTx/>
              <a:buNone/>
            </a:pPr>
            <a:r>
              <a:rPr lang="zh-CN" altLang="en-US" sz="2400" dirty="0">
                <a:solidFill>
                  <a:srgbClr val="000000"/>
                </a:solidFill>
                <a:latin typeface="+mn-ea"/>
                <a:ea typeface="+mn-ea"/>
                <a:sym typeface="Symbol" panose="05050102010706020507" pitchFamily="18" charset="2"/>
              </a:rPr>
              <a:t>成立，则称</a:t>
            </a:r>
            <a:r>
              <a:rPr lang="en-US" altLang="zh-CN" sz="2400" dirty="0">
                <a:solidFill>
                  <a:srgbClr val="000000"/>
                </a:solidFill>
                <a:latin typeface="+mn-ea"/>
                <a:ea typeface="+mn-ea"/>
                <a:sym typeface="Symbol" panose="05050102010706020507" pitchFamily="18" charset="2"/>
              </a:rPr>
              <a:t>{X(n),n=0,1,2,…}</a:t>
            </a:r>
            <a:r>
              <a:rPr lang="zh-CN" altLang="en-US" sz="2400" dirty="0">
                <a:solidFill>
                  <a:srgbClr val="000000"/>
                </a:solidFill>
                <a:latin typeface="+mn-ea"/>
                <a:ea typeface="+mn-ea"/>
                <a:sym typeface="Symbol" panose="05050102010706020507" pitchFamily="18" charset="2"/>
              </a:rPr>
              <a:t>为</a:t>
            </a:r>
            <a:r>
              <a:rPr lang="zh-CN" altLang="en-US" sz="2400" dirty="0">
                <a:solidFill>
                  <a:srgbClr val="0000FF"/>
                </a:solidFill>
                <a:latin typeface="+mn-ea"/>
                <a:ea typeface="+mn-ea"/>
                <a:sym typeface="Symbol" panose="05050102010706020507" pitchFamily="18" charset="2"/>
              </a:rPr>
              <a:t>离散参数马尔可夫链</a:t>
            </a:r>
            <a:r>
              <a:rPr lang="zh-CN" altLang="en-US" sz="2400" dirty="0">
                <a:solidFill>
                  <a:srgbClr val="000000"/>
                </a:solidFill>
                <a:latin typeface="+mn-ea"/>
                <a:ea typeface="+mn-ea"/>
                <a:sym typeface="Symbol" panose="05050102010706020507" pitchFamily="18" charset="2"/>
              </a:rPr>
              <a:t>，简称</a:t>
            </a:r>
            <a:r>
              <a:rPr lang="zh-CN" altLang="en-US" sz="2400" dirty="0">
                <a:solidFill>
                  <a:srgbClr val="0000FF"/>
                </a:solidFill>
                <a:latin typeface="+mn-ea"/>
                <a:ea typeface="+mn-ea"/>
                <a:sym typeface="Symbol" panose="05050102010706020507" pitchFamily="18" charset="2"/>
              </a:rPr>
              <a:t>马氏链</a:t>
            </a:r>
            <a:r>
              <a:rPr lang="zh-CN" altLang="en-US" sz="2400" dirty="0">
                <a:solidFill>
                  <a:srgbClr val="000000"/>
                </a:solidFill>
                <a:latin typeface="+mn-ea"/>
                <a:ea typeface="+mn-ea"/>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7267">
                                            <p:txEl>
                                              <p:pRg st="0" end="0"/>
                                            </p:txEl>
                                          </p:spTgt>
                                        </p:tgtEl>
                                        <p:attrNameLst>
                                          <p:attrName>style.visibility</p:attrName>
                                        </p:attrNameLst>
                                      </p:cBhvr>
                                      <p:to>
                                        <p:strVal val="visible"/>
                                      </p:to>
                                    </p:set>
                                    <p:anim calcmode="lin" valueType="num">
                                      <p:cBhvr additive="base">
                                        <p:cTn id="7" dur="500" fill="hold"/>
                                        <p:tgtEl>
                                          <p:spTgt spid="267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726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67268">
                                            <p:txEl>
                                              <p:pRg st="0" end="0"/>
                                            </p:txEl>
                                          </p:spTgt>
                                        </p:tgtEl>
                                        <p:attrNameLst>
                                          <p:attrName>style.visibility</p:attrName>
                                        </p:attrNameLst>
                                      </p:cBhvr>
                                      <p:to>
                                        <p:strVal val="visible"/>
                                      </p:to>
                                    </p:set>
                                    <p:anim calcmode="lin" valueType="num">
                                      <p:cBhvr additive="base">
                                        <p:cTn id="12" dur="500" fill="hold"/>
                                        <p:tgtEl>
                                          <p:spTgt spid="267268">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7268">
                                            <p:txEl>
                                              <p:pRg st="0" end="0"/>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67268">
                                            <p:txEl>
                                              <p:pRg st="1" end="1"/>
                                            </p:txEl>
                                          </p:spTgt>
                                        </p:tgtEl>
                                        <p:attrNameLst>
                                          <p:attrName>style.visibility</p:attrName>
                                        </p:attrNameLst>
                                      </p:cBhvr>
                                      <p:to>
                                        <p:strVal val="visible"/>
                                      </p:to>
                                    </p:set>
                                    <p:anim calcmode="lin" valueType="num">
                                      <p:cBhvr additive="base">
                                        <p:cTn id="17" dur="500" fill="hold"/>
                                        <p:tgtEl>
                                          <p:spTgt spid="26726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7268">
                                            <p:txEl>
                                              <p:pRg st="1" end="1"/>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67268">
                                            <p:txEl>
                                              <p:pRg st="2" end="2"/>
                                            </p:txEl>
                                          </p:spTgt>
                                        </p:tgtEl>
                                        <p:attrNameLst>
                                          <p:attrName>style.visibility</p:attrName>
                                        </p:attrNameLst>
                                      </p:cBhvr>
                                      <p:to>
                                        <p:strVal val="visible"/>
                                      </p:to>
                                    </p:set>
                                    <p:anim calcmode="lin" valueType="num">
                                      <p:cBhvr additive="base">
                                        <p:cTn id="22" dur="500" fill="hold"/>
                                        <p:tgtEl>
                                          <p:spTgt spid="267268">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67268">
                                            <p:txEl>
                                              <p:pRg st="2" end="2"/>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67268">
                                            <p:txEl>
                                              <p:pRg st="3" end="3"/>
                                            </p:txEl>
                                          </p:spTgt>
                                        </p:tgtEl>
                                        <p:attrNameLst>
                                          <p:attrName>style.visibility</p:attrName>
                                        </p:attrNameLst>
                                      </p:cBhvr>
                                      <p:to>
                                        <p:strVal val="visible"/>
                                      </p:to>
                                    </p:set>
                                    <p:anim calcmode="lin" valueType="num">
                                      <p:cBhvr additive="base">
                                        <p:cTn id="27" dur="500" fill="hold"/>
                                        <p:tgtEl>
                                          <p:spTgt spid="267268">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726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7" grpId="0" build="p"/>
      <p:bldP spid="267268"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5AFAA38-DF0E-91DC-6817-EF06E849F757}"/>
              </a:ext>
            </a:extLst>
          </p:cNvPr>
          <p:cNvSpPr>
            <a:spLocks noGrp="1" noChangeArrowheads="1"/>
          </p:cNvSpPr>
          <p:nvPr>
            <p:ph type="title"/>
          </p:nvPr>
        </p:nvSpPr>
        <p:spPr/>
        <p:txBody>
          <a:bodyPr/>
          <a:lstStyle/>
          <a:p>
            <a:pPr eaLnBrk="1" hangingPunct="1"/>
            <a:r>
              <a:rPr lang="en-US" altLang="zh-CN"/>
              <a:t>k</a:t>
            </a:r>
            <a:r>
              <a:rPr lang="zh-CN" altLang="en-US"/>
              <a:t>步转移概率</a:t>
            </a:r>
          </a:p>
        </p:txBody>
      </p:sp>
      <p:sp>
        <p:nvSpPr>
          <p:cNvPr id="268291" name="Rectangle 3">
            <a:extLst>
              <a:ext uri="{FF2B5EF4-FFF2-40B4-BE49-F238E27FC236}">
                <a16:creationId xmlns:a16="http://schemas.microsoft.com/office/drawing/2014/main" id="{3404C85F-1EBC-4CF3-4B26-C454629E2176}"/>
              </a:ext>
            </a:extLst>
          </p:cNvPr>
          <p:cNvSpPr>
            <a:spLocks noGrp="1" noChangeArrowheads="1"/>
          </p:cNvSpPr>
          <p:nvPr>
            <p:ph idx="1"/>
          </p:nvPr>
        </p:nvSpPr>
        <p:spPr>
          <a:xfrm>
            <a:off x="384175" y="1167083"/>
            <a:ext cx="11506199" cy="2051525"/>
          </a:xfrm>
        </p:spPr>
        <p:txBody>
          <a:bodyPr>
            <a:normAutofit/>
          </a:bodyPr>
          <a:lstStyle/>
          <a:p>
            <a:pPr algn="just" eaLnBrk="1" hangingPunct="1">
              <a:buFont typeface="Wingdings" panose="05000000000000000000" pitchFamily="2" charset="2"/>
              <a:buNone/>
            </a:pPr>
            <a:r>
              <a:rPr lang="en-US" altLang="zh-CN" dirty="0"/>
              <a:t>	</a:t>
            </a:r>
            <a:r>
              <a:rPr lang="zh-CN" altLang="en-US" dirty="0"/>
              <a:t>设</a:t>
            </a:r>
            <a:r>
              <a:rPr lang="en-US" altLang="zh-CN" dirty="0">
                <a:sym typeface="Symbol" panose="05050102010706020507" pitchFamily="18" charset="2"/>
              </a:rPr>
              <a:t>{X(n),n=0,1,2,…}</a:t>
            </a:r>
            <a:r>
              <a:rPr lang="zh-CN" altLang="en-US" dirty="0">
                <a:sym typeface="Symbol" panose="05050102010706020507" pitchFamily="18" charset="2"/>
              </a:rPr>
              <a:t>为马氏链，</a:t>
            </a:r>
            <a:r>
              <a:rPr lang="en-US" altLang="zh-CN" dirty="0">
                <a:sym typeface="Symbol" panose="05050102010706020507" pitchFamily="18" charset="2"/>
              </a:rPr>
              <a:t>E={0,1,2,…}</a:t>
            </a:r>
            <a:r>
              <a:rPr lang="zh-CN" altLang="en-US" dirty="0">
                <a:sym typeface="Symbol" panose="05050102010706020507" pitchFamily="18" charset="2"/>
              </a:rPr>
              <a:t>，</a:t>
            </a:r>
            <a:r>
              <a:rPr lang="zh-CN" altLang="en-US" dirty="0"/>
              <a:t>称条件概率</a:t>
            </a:r>
          </a:p>
          <a:p>
            <a:pPr algn="ctr" eaLnBrk="1" hangingPunct="1">
              <a:buFont typeface="Wingdings" panose="05000000000000000000" pitchFamily="2" charset="2"/>
              <a:buNone/>
            </a:pPr>
            <a:r>
              <a:rPr lang="en-US" altLang="zh-CN" dirty="0" err="1"/>
              <a:t>p</a:t>
            </a:r>
            <a:r>
              <a:rPr lang="en-US" altLang="zh-CN" baseline="-25000" dirty="0" err="1"/>
              <a:t>ij</a:t>
            </a:r>
            <a:r>
              <a:rPr lang="en-US" altLang="zh-CN" dirty="0"/>
              <a:t>(</a:t>
            </a:r>
            <a:r>
              <a:rPr lang="en-US" altLang="zh-CN" dirty="0" err="1"/>
              <a:t>m,k</a:t>
            </a:r>
            <a:r>
              <a:rPr lang="en-US" altLang="zh-CN" dirty="0"/>
              <a:t>)</a:t>
            </a:r>
            <a:r>
              <a:rPr lang="zh-CN" altLang="en-US" dirty="0"/>
              <a:t>＝</a:t>
            </a:r>
            <a:r>
              <a:rPr lang="en-US" altLang="zh-CN" dirty="0"/>
              <a:t>P{X(</a:t>
            </a:r>
            <a:r>
              <a:rPr lang="en-US" altLang="zh-CN" dirty="0" err="1"/>
              <a:t>m+k</a:t>
            </a:r>
            <a:r>
              <a:rPr lang="en-US" altLang="zh-CN" dirty="0"/>
              <a:t>)=</a:t>
            </a:r>
            <a:r>
              <a:rPr lang="en-US" altLang="zh-CN" dirty="0" err="1"/>
              <a:t>j|X</a:t>
            </a:r>
            <a:r>
              <a:rPr lang="en-US" altLang="zh-CN" dirty="0"/>
              <a:t>(m)=</a:t>
            </a:r>
            <a:r>
              <a:rPr lang="en-US" altLang="zh-CN" dirty="0" err="1"/>
              <a:t>i</a:t>
            </a:r>
            <a:r>
              <a:rPr lang="en-US" altLang="zh-CN" dirty="0"/>
              <a:t>}</a:t>
            </a:r>
          </a:p>
          <a:p>
            <a:pPr eaLnBrk="1" hangingPunct="1">
              <a:buFont typeface="Wingdings" panose="05000000000000000000" pitchFamily="2" charset="2"/>
              <a:buNone/>
            </a:pPr>
            <a:r>
              <a:rPr lang="zh-CN" altLang="en-US" dirty="0"/>
              <a:t>为马氏链</a:t>
            </a:r>
            <a:r>
              <a:rPr lang="en-US" altLang="zh-CN" dirty="0">
                <a:sym typeface="Symbol" panose="05050102010706020507" pitchFamily="18" charset="2"/>
              </a:rPr>
              <a:t>{X(n),n=0,1,…}</a:t>
            </a:r>
            <a:r>
              <a:rPr lang="zh-CN" altLang="en-US" dirty="0">
                <a:solidFill>
                  <a:srgbClr val="0000FF"/>
                </a:solidFill>
              </a:rPr>
              <a:t>在</a:t>
            </a:r>
            <a:r>
              <a:rPr lang="en-US" altLang="zh-CN" dirty="0">
                <a:solidFill>
                  <a:srgbClr val="0000FF"/>
                </a:solidFill>
              </a:rPr>
              <a:t>m</a:t>
            </a:r>
            <a:r>
              <a:rPr lang="zh-CN" altLang="en-US" dirty="0">
                <a:solidFill>
                  <a:srgbClr val="0000FF"/>
                </a:solidFill>
              </a:rPr>
              <a:t>时刻的</a:t>
            </a:r>
            <a:r>
              <a:rPr lang="en-US" altLang="zh-CN" dirty="0">
                <a:solidFill>
                  <a:srgbClr val="0000FF"/>
                </a:solidFill>
              </a:rPr>
              <a:t>k</a:t>
            </a:r>
            <a:r>
              <a:rPr lang="zh-CN" altLang="en-US" dirty="0">
                <a:solidFill>
                  <a:srgbClr val="0000FF"/>
                </a:solidFill>
              </a:rPr>
              <a:t>步转移概率</a:t>
            </a:r>
            <a:r>
              <a:rPr lang="en-US" altLang="zh-CN" dirty="0"/>
              <a:t>.</a:t>
            </a:r>
          </a:p>
        </p:txBody>
      </p:sp>
      <p:sp>
        <p:nvSpPr>
          <p:cNvPr id="268292" name="Rectangle 4">
            <a:extLst>
              <a:ext uri="{FF2B5EF4-FFF2-40B4-BE49-F238E27FC236}">
                <a16:creationId xmlns:a16="http://schemas.microsoft.com/office/drawing/2014/main" id="{C5A9F2D9-5722-9346-2B92-049CEFA5C726}"/>
              </a:ext>
            </a:extLst>
          </p:cNvPr>
          <p:cNvSpPr>
            <a:spLocks noChangeArrowheads="1"/>
          </p:cNvSpPr>
          <p:nvPr/>
        </p:nvSpPr>
        <p:spPr bwMode="auto">
          <a:xfrm>
            <a:off x="536575" y="3247984"/>
            <a:ext cx="11353799" cy="113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Tx/>
              <a:buFontTx/>
              <a:buNone/>
            </a:pPr>
            <a:r>
              <a:rPr lang="en-US" altLang="zh-CN" sz="2400" dirty="0">
                <a:solidFill>
                  <a:srgbClr val="000000"/>
                </a:solidFill>
                <a:latin typeface="+mn-ea"/>
                <a:ea typeface="+mn-ea"/>
              </a:rPr>
              <a:t>    </a:t>
            </a:r>
            <a:r>
              <a:rPr lang="en-US" altLang="zh-CN" sz="2400" dirty="0">
                <a:solidFill>
                  <a:srgbClr val="000000"/>
                </a:solidFill>
                <a:latin typeface="+mn-ea"/>
                <a:ea typeface="+mn-ea"/>
                <a:sym typeface="Symbol" panose="05050102010706020507" pitchFamily="18" charset="2"/>
              </a:rPr>
              <a:t>k</a:t>
            </a:r>
            <a:r>
              <a:rPr lang="zh-CN" altLang="en-US" sz="2400" dirty="0">
                <a:solidFill>
                  <a:srgbClr val="000000"/>
                </a:solidFill>
                <a:latin typeface="+mn-ea"/>
                <a:ea typeface="+mn-ea"/>
                <a:sym typeface="Symbol" panose="05050102010706020507" pitchFamily="18" charset="2"/>
              </a:rPr>
              <a:t>步转移概率的直观意义是：</a:t>
            </a:r>
            <a:r>
              <a:rPr lang="zh-CN" altLang="en-US" sz="2400" dirty="0">
                <a:solidFill>
                  <a:srgbClr val="CC00CC"/>
                </a:solidFill>
                <a:latin typeface="+mn-ea"/>
                <a:ea typeface="+mn-ea"/>
                <a:sym typeface="Symbol" panose="05050102010706020507" pitchFamily="18" charset="2"/>
              </a:rPr>
              <a:t>质点在时刻</a:t>
            </a:r>
            <a:r>
              <a:rPr lang="en-US" altLang="zh-CN" sz="2400" dirty="0">
                <a:solidFill>
                  <a:srgbClr val="CC00CC"/>
                </a:solidFill>
                <a:latin typeface="+mn-ea"/>
                <a:ea typeface="+mn-ea"/>
                <a:sym typeface="Symbol" panose="05050102010706020507" pitchFamily="18" charset="2"/>
              </a:rPr>
              <a:t>m</a:t>
            </a:r>
            <a:r>
              <a:rPr lang="zh-CN" altLang="en-US" sz="2400" dirty="0">
                <a:solidFill>
                  <a:srgbClr val="CC00CC"/>
                </a:solidFill>
                <a:latin typeface="+mn-ea"/>
                <a:ea typeface="+mn-ea"/>
                <a:sym typeface="Symbol" panose="05050102010706020507" pitchFamily="18" charset="2"/>
              </a:rPr>
              <a:t>时处于状态</a:t>
            </a:r>
            <a:r>
              <a:rPr lang="en-US" altLang="zh-CN" sz="2400" dirty="0" err="1">
                <a:solidFill>
                  <a:srgbClr val="CC00CC"/>
                </a:solidFill>
                <a:latin typeface="+mn-ea"/>
                <a:ea typeface="+mn-ea"/>
                <a:sym typeface="Symbol" panose="05050102010706020507" pitchFamily="18" charset="2"/>
              </a:rPr>
              <a:t>i</a:t>
            </a:r>
            <a:r>
              <a:rPr lang="zh-CN" altLang="en-US" sz="2400" dirty="0">
                <a:solidFill>
                  <a:srgbClr val="CC00CC"/>
                </a:solidFill>
                <a:latin typeface="+mn-ea"/>
                <a:ea typeface="+mn-ea"/>
                <a:sym typeface="Symbol" panose="05050102010706020507" pitchFamily="18" charset="2"/>
              </a:rPr>
              <a:t>，再经过</a:t>
            </a:r>
            <a:r>
              <a:rPr lang="en-US" altLang="zh-CN" sz="2400" dirty="0">
                <a:solidFill>
                  <a:srgbClr val="CC00CC"/>
                </a:solidFill>
                <a:latin typeface="+mn-ea"/>
                <a:ea typeface="+mn-ea"/>
                <a:sym typeface="Symbol" panose="05050102010706020507" pitchFamily="18" charset="2"/>
              </a:rPr>
              <a:t>k</a:t>
            </a:r>
            <a:r>
              <a:rPr lang="zh-CN" altLang="en-US" sz="2400" dirty="0">
                <a:solidFill>
                  <a:srgbClr val="CC00CC"/>
                </a:solidFill>
                <a:latin typeface="+mn-ea"/>
                <a:ea typeface="+mn-ea"/>
                <a:sym typeface="Symbol" panose="05050102010706020507" pitchFamily="18" charset="2"/>
              </a:rPr>
              <a:t>步</a:t>
            </a:r>
            <a:r>
              <a:rPr lang="en-US" altLang="zh-CN" sz="2400" dirty="0">
                <a:solidFill>
                  <a:srgbClr val="CC00CC"/>
                </a:solidFill>
                <a:latin typeface="+mn-ea"/>
                <a:ea typeface="+mn-ea"/>
                <a:sym typeface="Symbol" panose="05050102010706020507" pitchFamily="18" charset="2"/>
              </a:rPr>
              <a:t>(k</a:t>
            </a:r>
            <a:r>
              <a:rPr lang="zh-CN" altLang="en-US" sz="2400" dirty="0">
                <a:solidFill>
                  <a:srgbClr val="CC00CC"/>
                </a:solidFill>
                <a:latin typeface="+mn-ea"/>
                <a:ea typeface="+mn-ea"/>
                <a:sym typeface="Symbol" panose="05050102010706020507" pitchFamily="18" charset="2"/>
              </a:rPr>
              <a:t>个单位时间</a:t>
            </a:r>
            <a:r>
              <a:rPr lang="en-US" altLang="zh-CN" sz="2400" dirty="0">
                <a:solidFill>
                  <a:srgbClr val="CC00CC"/>
                </a:solidFill>
                <a:latin typeface="+mn-ea"/>
                <a:ea typeface="+mn-ea"/>
                <a:sym typeface="Symbol" panose="05050102010706020507" pitchFamily="18" charset="2"/>
              </a:rPr>
              <a:t>)</a:t>
            </a:r>
            <a:r>
              <a:rPr lang="zh-CN" altLang="en-US" sz="2400" dirty="0">
                <a:solidFill>
                  <a:srgbClr val="CC00CC"/>
                </a:solidFill>
                <a:latin typeface="+mn-ea"/>
                <a:ea typeface="+mn-ea"/>
                <a:sym typeface="Symbol" panose="05050102010706020507" pitchFamily="18" charset="2"/>
              </a:rPr>
              <a:t>处于状态</a:t>
            </a:r>
            <a:r>
              <a:rPr lang="en-US" altLang="zh-CN" sz="2400" dirty="0">
                <a:solidFill>
                  <a:srgbClr val="CC00CC"/>
                </a:solidFill>
                <a:latin typeface="+mn-ea"/>
                <a:ea typeface="+mn-ea"/>
                <a:sym typeface="Symbol" panose="05050102010706020507" pitchFamily="18" charset="2"/>
              </a:rPr>
              <a:t>j</a:t>
            </a:r>
            <a:r>
              <a:rPr lang="zh-CN" altLang="en-US" sz="2400" dirty="0">
                <a:solidFill>
                  <a:srgbClr val="CC00CC"/>
                </a:solidFill>
                <a:latin typeface="+mn-ea"/>
                <a:ea typeface="+mn-ea"/>
                <a:sym typeface="Symbol" panose="05050102010706020507" pitchFamily="18" charset="2"/>
              </a:rPr>
              <a:t>的条件概率</a:t>
            </a:r>
            <a:r>
              <a:rPr lang="zh-CN" altLang="en-US" sz="2400" dirty="0">
                <a:solidFill>
                  <a:srgbClr val="000000"/>
                </a:solidFill>
                <a:latin typeface="+mn-ea"/>
                <a:ea typeface="+mn-ea"/>
                <a:sym typeface="Symbol" panose="05050102010706020507" pitchFamily="18" charset="2"/>
              </a:rPr>
              <a:t>。</a:t>
            </a:r>
          </a:p>
        </p:txBody>
      </p:sp>
      <p:sp>
        <p:nvSpPr>
          <p:cNvPr id="268293" name="Rectangle 5">
            <a:extLst>
              <a:ext uri="{FF2B5EF4-FFF2-40B4-BE49-F238E27FC236}">
                <a16:creationId xmlns:a16="http://schemas.microsoft.com/office/drawing/2014/main" id="{201490F2-BE1D-0993-112D-056F346DEDF6}"/>
              </a:ext>
            </a:extLst>
          </p:cNvPr>
          <p:cNvSpPr>
            <a:spLocks noChangeArrowheads="1"/>
          </p:cNvSpPr>
          <p:nvPr/>
        </p:nvSpPr>
        <p:spPr bwMode="auto">
          <a:xfrm>
            <a:off x="793482" y="4725194"/>
            <a:ext cx="11020693" cy="168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Tx/>
              <a:buFontTx/>
              <a:buNone/>
            </a:pPr>
            <a:r>
              <a:rPr lang="en-US" altLang="zh-CN" sz="2400">
                <a:solidFill>
                  <a:srgbClr val="000000"/>
                </a:solidFill>
                <a:latin typeface="+mn-ea"/>
                <a:ea typeface="+mn-ea"/>
              </a:rPr>
              <a:t>    </a:t>
            </a:r>
            <a:r>
              <a:rPr lang="zh-CN" altLang="en-US" sz="2400">
                <a:solidFill>
                  <a:srgbClr val="000000"/>
                </a:solidFill>
                <a:latin typeface="+mn-ea"/>
                <a:ea typeface="+mn-ea"/>
              </a:rPr>
              <a:t>特别地，</a:t>
            </a:r>
            <a:r>
              <a:rPr lang="en-US" altLang="zh-CN" sz="2400">
                <a:solidFill>
                  <a:srgbClr val="000000"/>
                </a:solidFill>
                <a:latin typeface="+mn-ea"/>
                <a:ea typeface="+mn-ea"/>
              </a:rPr>
              <a:t>k=1</a:t>
            </a:r>
            <a:r>
              <a:rPr lang="zh-CN" altLang="en-US" sz="2400">
                <a:solidFill>
                  <a:srgbClr val="000000"/>
                </a:solidFill>
                <a:latin typeface="+mn-ea"/>
                <a:ea typeface="+mn-ea"/>
              </a:rPr>
              <a:t>时，</a:t>
            </a:r>
          </a:p>
          <a:p>
            <a:pPr algn="ctr" eaLnBrk="1" hangingPunct="1">
              <a:lnSpc>
                <a:spcPct val="150000"/>
              </a:lnSpc>
              <a:buClr>
                <a:srgbClr val="00FF00"/>
              </a:buClr>
              <a:buFont typeface="Wingdings" panose="05000000000000000000" pitchFamily="2" charset="2"/>
              <a:buNone/>
            </a:pPr>
            <a:r>
              <a:rPr lang="en-US" altLang="zh-CN" sz="2400">
                <a:solidFill>
                  <a:srgbClr val="000000"/>
                </a:solidFill>
                <a:latin typeface="+mn-ea"/>
                <a:ea typeface="+mn-ea"/>
              </a:rPr>
              <a:t>p</a:t>
            </a:r>
            <a:r>
              <a:rPr lang="en-US" altLang="zh-CN" sz="2400" baseline="-25000">
                <a:solidFill>
                  <a:srgbClr val="000000"/>
                </a:solidFill>
                <a:latin typeface="+mn-ea"/>
                <a:ea typeface="+mn-ea"/>
              </a:rPr>
              <a:t>ij</a:t>
            </a:r>
            <a:r>
              <a:rPr lang="en-US" altLang="zh-CN" sz="2400">
                <a:solidFill>
                  <a:srgbClr val="000000"/>
                </a:solidFill>
                <a:latin typeface="+mn-ea"/>
                <a:ea typeface="+mn-ea"/>
              </a:rPr>
              <a:t>(m,1)</a:t>
            </a:r>
            <a:r>
              <a:rPr lang="zh-CN" altLang="en-US" sz="2400">
                <a:solidFill>
                  <a:srgbClr val="000000"/>
                </a:solidFill>
                <a:latin typeface="+mn-ea"/>
                <a:ea typeface="+mn-ea"/>
              </a:rPr>
              <a:t>＝</a:t>
            </a:r>
            <a:r>
              <a:rPr lang="en-US" altLang="zh-CN" sz="2400">
                <a:solidFill>
                  <a:srgbClr val="000000"/>
                </a:solidFill>
                <a:latin typeface="+mn-ea"/>
                <a:ea typeface="+mn-ea"/>
              </a:rPr>
              <a:t>P{X(m+1)=j|X(m)=i}</a:t>
            </a:r>
          </a:p>
          <a:p>
            <a:pPr algn="just" eaLnBrk="1" hangingPunct="1">
              <a:lnSpc>
                <a:spcPct val="150000"/>
              </a:lnSpc>
              <a:buClr>
                <a:srgbClr val="00FF00"/>
              </a:buClr>
              <a:buFont typeface="Wingdings" panose="05000000000000000000" pitchFamily="2" charset="2"/>
              <a:buNone/>
            </a:pPr>
            <a:r>
              <a:rPr lang="zh-CN" altLang="en-US" sz="2400">
                <a:solidFill>
                  <a:srgbClr val="000000"/>
                </a:solidFill>
                <a:latin typeface="+mn-ea"/>
                <a:ea typeface="+mn-ea"/>
              </a:rPr>
              <a:t>称为</a:t>
            </a:r>
            <a:r>
              <a:rPr lang="zh-CN" altLang="en-US" sz="2400">
                <a:solidFill>
                  <a:srgbClr val="0000FF"/>
                </a:solidFill>
                <a:latin typeface="+mn-ea"/>
                <a:ea typeface="+mn-ea"/>
              </a:rPr>
              <a:t>一步转移概率</a:t>
            </a:r>
            <a:r>
              <a:rPr lang="zh-CN" altLang="en-US" sz="2400">
                <a:solidFill>
                  <a:srgbClr val="000000"/>
                </a:solidFill>
                <a:latin typeface="+mn-ea"/>
                <a:ea typeface="+mn-ea"/>
              </a:rPr>
              <a:t>，简称</a:t>
            </a:r>
            <a:r>
              <a:rPr lang="zh-CN" altLang="en-US" sz="2400">
                <a:solidFill>
                  <a:srgbClr val="0000FF"/>
                </a:solidFill>
                <a:latin typeface="+mn-ea"/>
                <a:ea typeface="+mn-ea"/>
              </a:rPr>
              <a:t>转移概率</a:t>
            </a:r>
            <a:r>
              <a:rPr lang="zh-CN" altLang="en-US" sz="2400">
                <a:solidFill>
                  <a:srgbClr val="000000"/>
                </a:solidFill>
                <a:latin typeface="+mn-ea"/>
                <a:ea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8291">
                                            <p:txEl>
                                              <p:pRg st="0" end="0"/>
                                            </p:txEl>
                                          </p:spTgt>
                                        </p:tgtEl>
                                        <p:attrNameLst>
                                          <p:attrName>style.visibility</p:attrName>
                                        </p:attrNameLst>
                                      </p:cBhvr>
                                      <p:to>
                                        <p:strVal val="visible"/>
                                      </p:to>
                                    </p:set>
                                    <p:anim calcmode="lin" valueType="num">
                                      <p:cBhvr additive="base">
                                        <p:cTn id="7" dur="500" fill="hold"/>
                                        <p:tgtEl>
                                          <p:spTgt spid="2682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8291">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68291">
                                            <p:txEl>
                                              <p:pRg st="1" end="1"/>
                                            </p:txEl>
                                          </p:spTgt>
                                        </p:tgtEl>
                                        <p:attrNameLst>
                                          <p:attrName>style.visibility</p:attrName>
                                        </p:attrNameLst>
                                      </p:cBhvr>
                                      <p:to>
                                        <p:strVal val="visible"/>
                                      </p:to>
                                    </p:set>
                                    <p:anim calcmode="lin" valueType="num">
                                      <p:cBhvr additive="base">
                                        <p:cTn id="12" dur="500" fill="hold"/>
                                        <p:tgtEl>
                                          <p:spTgt spid="268291">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68291">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68291">
                                            <p:txEl>
                                              <p:pRg st="2" end="2"/>
                                            </p:txEl>
                                          </p:spTgt>
                                        </p:tgtEl>
                                        <p:attrNameLst>
                                          <p:attrName>style.visibility</p:attrName>
                                        </p:attrNameLst>
                                      </p:cBhvr>
                                      <p:to>
                                        <p:strVal val="visible"/>
                                      </p:to>
                                    </p:set>
                                    <p:anim calcmode="lin" valueType="num">
                                      <p:cBhvr additive="base">
                                        <p:cTn id="17" dur="500" fill="hold"/>
                                        <p:tgtEl>
                                          <p:spTgt spid="26829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682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iterate type="wd">
                                    <p:tmPct val="10000"/>
                                  </p:iterate>
                                  <p:childTnLst>
                                    <p:set>
                                      <p:cBhvr>
                                        <p:cTn id="22" dur="1" fill="hold">
                                          <p:stCondLst>
                                            <p:cond delay="0"/>
                                          </p:stCondLst>
                                        </p:cTn>
                                        <p:tgtEl>
                                          <p:spTgt spid="268292"/>
                                        </p:tgtEl>
                                        <p:attrNameLst>
                                          <p:attrName>style.visibility</p:attrName>
                                        </p:attrNameLst>
                                      </p:cBhvr>
                                      <p:to>
                                        <p:strVal val="visible"/>
                                      </p:to>
                                    </p:set>
                                    <p:anim calcmode="lin" valueType="num">
                                      <p:cBhvr additive="base">
                                        <p:cTn id="23" dur="500" fill="hold"/>
                                        <p:tgtEl>
                                          <p:spTgt spid="268292"/>
                                        </p:tgtEl>
                                        <p:attrNameLst>
                                          <p:attrName>ppt_x</p:attrName>
                                        </p:attrNameLst>
                                      </p:cBhvr>
                                      <p:tavLst>
                                        <p:tav tm="0">
                                          <p:val>
                                            <p:strVal val="0-#ppt_w/2"/>
                                          </p:val>
                                        </p:tav>
                                        <p:tav tm="100000">
                                          <p:val>
                                            <p:strVal val="#ppt_x"/>
                                          </p:val>
                                        </p:tav>
                                      </p:tavLst>
                                    </p:anim>
                                    <p:anim calcmode="lin" valueType="num">
                                      <p:cBhvr additive="base">
                                        <p:cTn id="24" dur="500" fill="hold"/>
                                        <p:tgtEl>
                                          <p:spTgt spid="268292"/>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68293"/>
                                        </p:tgtEl>
                                        <p:attrNameLst>
                                          <p:attrName>style.visibility</p:attrName>
                                        </p:attrNameLst>
                                      </p:cBhvr>
                                      <p:to>
                                        <p:strVal val="visible"/>
                                      </p:to>
                                    </p:set>
                                    <p:anim calcmode="lin" valueType="num">
                                      <p:cBhvr additive="base">
                                        <p:cTn id="29" dur="500" fill="hold"/>
                                        <p:tgtEl>
                                          <p:spTgt spid="268293"/>
                                        </p:tgtEl>
                                        <p:attrNameLst>
                                          <p:attrName>ppt_x</p:attrName>
                                        </p:attrNameLst>
                                      </p:cBhvr>
                                      <p:tavLst>
                                        <p:tav tm="0">
                                          <p:val>
                                            <p:strVal val="0-#ppt_w/2"/>
                                          </p:val>
                                        </p:tav>
                                        <p:tav tm="100000">
                                          <p:val>
                                            <p:strVal val="#ppt_x"/>
                                          </p:val>
                                        </p:tav>
                                      </p:tavLst>
                                    </p:anim>
                                    <p:anim calcmode="lin" valueType="num">
                                      <p:cBhvr additive="base">
                                        <p:cTn id="30" dur="500" fill="hold"/>
                                        <p:tgtEl>
                                          <p:spTgt spid="2682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1" grpId="0" build="p"/>
      <p:bldP spid="268292" grpId="0" autoUpdateAnimBg="0"/>
      <p:bldP spid="268293"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063A56D-8A38-212A-FBBC-0A78621A9C86}"/>
              </a:ext>
            </a:extLst>
          </p:cNvPr>
          <p:cNvSpPr>
            <a:spLocks noGrp="1" noChangeArrowheads="1"/>
          </p:cNvSpPr>
          <p:nvPr>
            <p:ph type="title"/>
          </p:nvPr>
        </p:nvSpPr>
        <p:spPr/>
        <p:txBody>
          <a:bodyPr/>
          <a:lstStyle/>
          <a:p>
            <a:pPr eaLnBrk="1" hangingPunct="1"/>
            <a:r>
              <a:rPr lang="en-US" altLang="zh-CN"/>
              <a:t>k</a:t>
            </a:r>
            <a:r>
              <a:rPr lang="zh-CN" altLang="en-US"/>
              <a:t>步转移矩阵</a:t>
            </a:r>
          </a:p>
        </p:txBody>
      </p:sp>
      <p:sp>
        <p:nvSpPr>
          <p:cNvPr id="269315" name="Rectangle 3">
            <a:extLst>
              <a:ext uri="{FF2B5EF4-FFF2-40B4-BE49-F238E27FC236}">
                <a16:creationId xmlns:a16="http://schemas.microsoft.com/office/drawing/2014/main" id="{A9DF17EF-B170-2508-D9F3-6755145A2986}"/>
              </a:ext>
            </a:extLst>
          </p:cNvPr>
          <p:cNvSpPr>
            <a:spLocks noGrp="1" noChangeArrowheads="1"/>
          </p:cNvSpPr>
          <p:nvPr>
            <p:ph idx="1"/>
          </p:nvPr>
        </p:nvSpPr>
        <p:spPr>
          <a:xfrm>
            <a:off x="536575" y="1085276"/>
            <a:ext cx="1195665" cy="512882"/>
          </a:xfrm>
        </p:spPr>
        <p:txBody>
          <a:bodyPr>
            <a:noAutofit/>
          </a:bodyPr>
          <a:lstStyle/>
          <a:p>
            <a:pPr eaLnBrk="1" hangingPunct="1">
              <a:buFont typeface="Wingdings" panose="05000000000000000000" pitchFamily="2" charset="2"/>
              <a:buNone/>
            </a:pPr>
            <a:r>
              <a:rPr lang="zh-CN" altLang="en-US" dirty="0"/>
              <a:t>称矩阵</a:t>
            </a:r>
          </a:p>
        </p:txBody>
      </p:sp>
      <p:graphicFrame>
        <p:nvGraphicFramePr>
          <p:cNvPr id="269316" name="Object 4">
            <a:extLst>
              <a:ext uri="{FF2B5EF4-FFF2-40B4-BE49-F238E27FC236}">
                <a16:creationId xmlns:a16="http://schemas.microsoft.com/office/drawing/2014/main" id="{EA5E4989-EFD9-D2FA-598E-E9DD87E97B43}"/>
              </a:ext>
            </a:extLst>
          </p:cNvPr>
          <p:cNvGraphicFramePr>
            <a:graphicFrameLocks noChangeAspect="1"/>
          </p:cNvGraphicFramePr>
          <p:nvPr/>
        </p:nvGraphicFramePr>
        <p:xfrm>
          <a:off x="2441575" y="1270085"/>
          <a:ext cx="6326064" cy="2872452"/>
        </p:xfrm>
        <a:graphic>
          <a:graphicData uri="http://schemas.openxmlformats.org/presentationml/2006/ole">
            <mc:AlternateContent xmlns:mc="http://schemas.openxmlformats.org/markup-compatibility/2006">
              <mc:Choice xmlns:v="urn:schemas-microsoft-com:vml" Requires="v">
                <p:oleObj name="Equation" r:id="rId3" imgW="2908300" imgH="1320800" progId="Equation.3">
                  <p:embed/>
                </p:oleObj>
              </mc:Choice>
              <mc:Fallback>
                <p:oleObj name="Equation" r:id="rId3" imgW="2908300" imgH="1320800" progId="Equation.3">
                  <p:embed/>
                  <p:pic>
                    <p:nvPicPr>
                      <p:cNvPr id="269316" name="Object 4">
                        <a:extLst>
                          <a:ext uri="{FF2B5EF4-FFF2-40B4-BE49-F238E27FC236}">
                            <a16:creationId xmlns:a16="http://schemas.microsoft.com/office/drawing/2014/main" id="{EA5E4989-EFD9-D2FA-598E-E9DD87E97B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1575" y="1270085"/>
                        <a:ext cx="6326064" cy="28724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17" name="Rectangle 5">
            <a:extLst>
              <a:ext uri="{FF2B5EF4-FFF2-40B4-BE49-F238E27FC236}">
                <a16:creationId xmlns:a16="http://schemas.microsoft.com/office/drawing/2014/main" id="{A24A90F0-3E41-9372-9BA5-01B3C3F02A56}"/>
              </a:ext>
            </a:extLst>
          </p:cNvPr>
          <p:cNvSpPr>
            <a:spLocks noChangeArrowheads="1"/>
          </p:cNvSpPr>
          <p:nvPr/>
        </p:nvSpPr>
        <p:spPr bwMode="auto">
          <a:xfrm>
            <a:off x="536575" y="4123117"/>
            <a:ext cx="10972800"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Tx/>
              <a:buFontTx/>
              <a:buNone/>
            </a:pPr>
            <a:r>
              <a:rPr lang="zh-CN" altLang="en-US" sz="2400" dirty="0">
                <a:solidFill>
                  <a:srgbClr val="000000"/>
                </a:solidFill>
                <a:latin typeface="+mn-ea"/>
                <a:ea typeface="+mn-ea"/>
              </a:rPr>
              <a:t>为马氏链</a:t>
            </a:r>
            <a:r>
              <a:rPr lang="en-US" altLang="zh-CN" sz="2400" dirty="0">
                <a:solidFill>
                  <a:srgbClr val="000000"/>
                </a:solidFill>
                <a:latin typeface="+mn-ea"/>
                <a:ea typeface="+mn-ea"/>
                <a:sym typeface="Symbol" panose="05050102010706020507" pitchFamily="18" charset="2"/>
              </a:rPr>
              <a:t>{X(n),n=0,1,…}</a:t>
            </a:r>
            <a:r>
              <a:rPr lang="zh-CN" altLang="en-US" sz="2400" dirty="0">
                <a:solidFill>
                  <a:srgbClr val="0000FF"/>
                </a:solidFill>
                <a:latin typeface="+mn-ea"/>
                <a:ea typeface="+mn-ea"/>
              </a:rPr>
              <a:t>在</a:t>
            </a:r>
            <a:r>
              <a:rPr lang="en-US" altLang="zh-CN" sz="2400" dirty="0">
                <a:solidFill>
                  <a:srgbClr val="0000FF"/>
                </a:solidFill>
                <a:latin typeface="+mn-ea"/>
                <a:ea typeface="+mn-ea"/>
              </a:rPr>
              <a:t>m</a:t>
            </a:r>
            <a:r>
              <a:rPr lang="zh-CN" altLang="en-US" sz="2400" dirty="0">
                <a:solidFill>
                  <a:srgbClr val="0000FF"/>
                </a:solidFill>
                <a:latin typeface="+mn-ea"/>
                <a:ea typeface="+mn-ea"/>
              </a:rPr>
              <a:t>时刻的</a:t>
            </a:r>
            <a:r>
              <a:rPr lang="en-US" altLang="zh-CN" sz="2400" dirty="0">
                <a:solidFill>
                  <a:srgbClr val="CC00CC"/>
                </a:solidFill>
                <a:latin typeface="+mn-ea"/>
                <a:ea typeface="+mn-ea"/>
              </a:rPr>
              <a:t>k</a:t>
            </a:r>
            <a:r>
              <a:rPr lang="zh-CN" altLang="en-US" sz="2400" dirty="0">
                <a:solidFill>
                  <a:srgbClr val="CC00CC"/>
                </a:solidFill>
                <a:latin typeface="+mn-ea"/>
                <a:ea typeface="+mn-ea"/>
              </a:rPr>
              <a:t>步转移矩阵</a:t>
            </a:r>
            <a:r>
              <a:rPr lang="zh-CN" altLang="en-US" sz="2400" dirty="0">
                <a:solidFill>
                  <a:srgbClr val="000000"/>
                </a:solidFill>
                <a:latin typeface="+mn-ea"/>
                <a:ea typeface="+mn-ea"/>
              </a:rPr>
              <a:t>。一步转移矩阵</a:t>
            </a:r>
            <a:r>
              <a:rPr lang="en-US" altLang="zh-CN" sz="2400" dirty="0">
                <a:solidFill>
                  <a:srgbClr val="000000"/>
                </a:solidFill>
                <a:latin typeface="+mn-ea"/>
                <a:ea typeface="+mn-ea"/>
              </a:rPr>
              <a:t>P(m,1)</a:t>
            </a:r>
            <a:r>
              <a:rPr lang="zh-CN" altLang="en-US" sz="2400" dirty="0">
                <a:solidFill>
                  <a:srgbClr val="000000"/>
                </a:solidFill>
                <a:latin typeface="+mn-ea"/>
                <a:ea typeface="+mn-ea"/>
              </a:rPr>
              <a:t>简称</a:t>
            </a:r>
            <a:r>
              <a:rPr lang="zh-CN" altLang="en-US" sz="2400" dirty="0">
                <a:solidFill>
                  <a:srgbClr val="CC00CC"/>
                </a:solidFill>
                <a:latin typeface="+mn-ea"/>
                <a:ea typeface="+mn-ea"/>
              </a:rPr>
              <a:t>转移矩阵</a:t>
            </a:r>
            <a:r>
              <a:rPr lang="zh-CN" altLang="en-US" sz="2400" dirty="0">
                <a:solidFill>
                  <a:srgbClr val="000000"/>
                </a:solidFill>
                <a:latin typeface="+mn-ea"/>
                <a:ea typeface="+mn-ea"/>
              </a:rPr>
              <a:t>。</a:t>
            </a:r>
          </a:p>
        </p:txBody>
      </p:sp>
      <p:graphicFrame>
        <p:nvGraphicFramePr>
          <p:cNvPr id="269318" name="Object 6">
            <a:extLst>
              <a:ext uri="{FF2B5EF4-FFF2-40B4-BE49-F238E27FC236}">
                <a16:creationId xmlns:a16="http://schemas.microsoft.com/office/drawing/2014/main" id="{4D53DD0C-58B0-F52F-9EEE-95A8F647389D}"/>
              </a:ext>
            </a:extLst>
          </p:cNvPr>
          <p:cNvGraphicFramePr>
            <a:graphicFrameLocks noChangeAspect="1"/>
          </p:cNvGraphicFramePr>
          <p:nvPr/>
        </p:nvGraphicFramePr>
        <p:xfrm>
          <a:off x="4956175" y="5390229"/>
          <a:ext cx="4954147" cy="851097"/>
        </p:xfrm>
        <a:graphic>
          <a:graphicData uri="http://schemas.openxmlformats.org/presentationml/2006/ole">
            <mc:AlternateContent xmlns:mc="http://schemas.openxmlformats.org/markup-compatibility/2006">
              <mc:Choice xmlns:v="urn:schemas-microsoft-com:vml" Requires="v">
                <p:oleObj name="Equation" r:id="rId5" imgW="2070100" imgH="355600" progId="Equation.3">
                  <p:embed/>
                </p:oleObj>
              </mc:Choice>
              <mc:Fallback>
                <p:oleObj name="Equation" r:id="rId5" imgW="2070100" imgH="355600" progId="Equation.3">
                  <p:embed/>
                  <p:pic>
                    <p:nvPicPr>
                      <p:cNvPr id="269318" name="Object 6">
                        <a:extLst>
                          <a:ext uri="{FF2B5EF4-FFF2-40B4-BE49-F238E27FC236}">
                            <a16:creationId xmlns:a16="http://schemas.microsoft.com/office/drawing/2014/main" id="{4D53DD0C-58B0-F52F-9EEE-95A8F64738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6175" y="5390229"/>
                        <a:ext cx="4954147" cy="8510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19" name="Rectangle 7">
            <a:extLst>
              <a:ext uri="{FF2B5EF4-FFF2-40B4-BE49-F238E27FC236}">
                <a16:creationId xmlns:a16="http://schemas.microsoft.com/office/drawing/2014/main" id="{86149D18-6DD9-5383-13A0-1D3C3F12ABE5}"/>
              </a:ext>
            </a:extLst>
          </p:cNvPr>
          <p:cNvSpPr>
            <a:spLocks noChangeArrowheads="1"/>
          </p:cNvSpPr>
          <p:nvPr/>
        </p:nvSpPr>
        <p:spPr bwMode="auto">
          <a:xfrm>
            <a:off x="79375" y="5436213"/>
            <a:ext cx="7774199"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400" dirty="0">
                <a:solidFill>
                  <a:srgbClr val="000000"/>
                </a:solidFill>
                <a:latin typeface="+mn-ea"/>
                <a:ea typeface="+mn-ea"/>
              </a:rPr>
              <a:t>    </a:t>
            </a:r>
            <a:r>
              <a:rPr lang="zh-CN" altLang="en-US" sz="2400" dirty="0">
                <a:solidFill>
                  <a:srgbClr val="000000"/>
                </a:solidFill>
                <a:latin typeface="+mn-ea"/>
                <a:ea typeface="+mn-ea"/>
              </a:rPr>
              <a:t>由转移概率的定义，显然有：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9315">
                                            <p:txEl>
                                              <p:pRg st="0" end="0"/>
                                            </p:txEl>
                                          </p:spTgt>
                                        </p:tgtEl>
                                        <p:attrNameLst>
                                          <p:attrName>style.visibility</p:attrName>
                                        </p:attrNameLst>
                                      </p:cBhvr>
                                      <p:to>
                                        <p:strVal val="visible"/>
                                      </p:to>
                                    </p:set>
                                    <p:anim calcmode="lin" valueType="num">
                                      <p:cBhvr additive="base">
                                        <p:cTn id="7" dur="500" fill="hold"/>
                                        <p:tgtEl>
                                          <p:spTgt spid="269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9315">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6" presetClass="entr" presetSubtype="32" fill="hold" nodeType="afterEffect">
                                  <p:stCondLst>
                                    <p:cond delay="0"/>
                                  </p:stCondLst>
                                  <p:childTnLst>
                                    <p:set>
                                      <p:cBhvr>
                                        <p:cTn id="11" dur="1" fill="hold">
                                          <p:stCondLst>
                                            <p:cond delay="0"/>
                                          </p:stCondLst>
                                        </p:cTn>
                                        <p:tgtEl>
                                          <p:spTgt spid="269316"/>
                                        </p:tgtEl>
                                        <p:attrNameLst>
                                          <p:attrName>style.visibility</p:attrName>
                                        </p:attrNameLst>
                                      </p:cBhvr>
                                      <p:to>
                                        <p:strVal val="visible"/>
                                      </p:to>
                                    </p:set>
                                    <p:animEffect transition="in" filter="circle(out)">
                                      <p:cBhvr>
                                        <p:cTn id="12" dur="2000"/>
                                        <p:tgtEl>
                                          <p:spTgt spid="269316"/>
                                        </p:tgtEl>
                                      </p:cBhvr>
                                    </p:animEffect>
                                  </p:childTnLst>
                                </p:cTn>
                              </p:par>
                            </p:childTnLst>
                          </p:cTn>
                        </p:par>
                        <p:par>
                          <p:cTn id="13" fill="hold" nodeType="afterGroup">
                            <p:stCondLst>
                              <p:cond delay="2500"/>
                            </p:stCondLst>
                            <p:childTnLst>
                              <p:par>
                                <p:cTn id="14" presetID="2" presetClass="entr" presetSubtype="4" fill="hold" grpId="0" nodeType="afterEffect">
                                  <p:stCondLst>
                                    <p:cond delay="0"/>
                                  </p:stCondLst>
                                  <p:childTnLst>
                                    <p:set>
                                      <p:cBhvr>
                                        <p:cTn id="15" dur="1" fill="hold">
                                          <p:stCondLst>
                                            <p:cond delay="0"/>
                                          </p:stCondLst>
                                        </p:cTn>
                                        <p:tgtEl>
                                          <p:spTgt spid="269317"/>
                                        </p:tgtEl>
                                        <p:attrNameLst>
                                          <p:attrName>style.visibility</p:attrName>
                                        </p:attrNameLst>
                                      </p:cBhvr>
                                      <p:to>
                                        <p:strVal val="visible"/>
                                      </p:to>
                                    </p:set>
                                    <p:anim calcmode="lin" valueType="num">
                                      <p:cBhvr additive="base">
                                        <p:cTn id="16" dur="500" fill="hold"/>
                                        <p:tgtEl>
                                          <p:spTgt spid="269317"/>
                                        </p:tgtEl>
                                        <p:attrNameLst>
                                          <p:attrName>ppt_x</p:attrName>
                                        </p:attrNameLst>
                                      </p:cBhvr>
                                      <p:tavLst>
                                        <p:tav tm="0">
                                          <p:val>
                                            <p:strVal val="#ppt_x"/>
                                          </p:val>
                                        </p:tav>
                                        <p:tav tm="100000">
                                          <p:val>
                                            <p:strVal val="#ppt_x"/>
                                          </p:val>
                                        </p:tav>
                                      </p:tavLst>
                                    </p:anim>
                                    <p:anim calcmode="lin" valueType="num">
                                      <p:cBhvr additive="base">
                                        <p:cTn id="17" dur="500" fill="hold"/>
                                        <p:tgtEl>
                                          <p:spTgt spid="269317"/>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69319"/>
                                        </p:tgtEl>
                                        <p:attrNameLst>
                                          <p:attrName>style.visibility</p:attrName>
                                        </p:attrNameLst>
                                      </p:cBhvr>
                                      <p:to>
                                        <p:strVal val="visible"/>
                                      </p:to>
                                    </p:set>
                                    <p:anim calcmode="lin" valueType="num">
                                      <p:cBhvr additive="base">
                                        <p:cTn id="22" dur="500" fill="hold"/>
                                        <p:tgtEl>
                                          <p:spTgt spid="269319"/>
                                        </p:tgtEl>
                                        <p:attrNameLst>
                                          <p:attrName>ppt_x</p:attrName>
                                        </p:attrNameLst>
                                      </p:cBhvr>
                                      <p:tavLst>
                                        <p:tav tm="0">
                                          <p:val>
                                            <p:strVal val="#ppt_x"/>
                                          </p:val>
                                        </p:tav>
                                        <p:tav tm="100000">
                                          <p:val>
                                            <p:strVal val="#ppt_x"/>
                                          </p:val>
                                        </p:tav>
                                      </p:tavLst>
                                    </p:anim>
                                    <p:anim calcmode="lin" valueType="num">
                                      <p:cBhvr additive="base">
                                        <p:cTn id="23" dur="500" fill="hold"/>
                                        <p:tgtEl>
                                          <p:spTgt spid="269319"/>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500"/>
                            </p:stCondLst>
                            <p:childTnLst>
                              <p:par>
                                <p:cTn id="25" presetID="2" presetClass="entr" presetSubtype="4" fill="hold" nodeType="afterEffect">
                                  <p:stCondLst>
                                    <p:cond delay="0"/>
                                  </p:stCondLst>
                                  <p:childTnLst>
                                    <p:set>
                                      <p:cBhvr>
                                        <p:cTn id="26" dur="1" fill="hold">
                                          <p:stCondLst>
                                            <p:cond delay="0"/>
                                          </p:stCondLst>
                                        </p:cTn>
                                        <p:tgtEl>
                                          <p:spTgt spid="269318"/>
                                        </p:tgtEl>
                                        <p:attrNameLst>
                                          <p:attrName>style.visibility</p:attrName>
                                        </p:attrNameLst>
                                      </p:cBhvr>
                                      <p:to>
                                        <p:strVal val="visible"/>
                                      </p:to>
                                    </p:set>
                                    <p:anim calcmode="lin" valueType="num">
                                      <p:cBhvr additive="base">
                                        <p:cTn id="27" dur="500" fill="hold"/>
                                        <p:tgtEl>
                                          <p:spTgt spid="269318"/>
                                        </p:tgtEl>
                                        <p:attrNameLst>
                                          <p:attrName>ppt_x</p:attrName>
                                        </p:attrNameLst>
                                      </p:cBhvr>
                                      <p:tavLst>
                                        <p:tav tm="0">
                                          <p:val>
                                            <p:strVal val="#ppt_x"/>
                                          </p:val>
                                        </p:tav>
                                        <p:tav tm="100000">
                                          <p:val>
                                            <p:strVal val="#ppt_x"/>
                                          </p:val>
                                        </p:tav>
                                      </p:tavLst>
                                    </p:anim>
                                    <p:anim calcmode="lin" valueType="num">
                                      <p:cBhvr additive="base">
                                        <p:cTn id="28" dur="500" fill="hold"/>
                                        <p:tgtEl>
                                          <p:spTgt spid="2693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5" grpId="0" build="p"/>
      <p:bldP spid="269317" grpId="0"/>
      <p:bldP spid="2693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43" name="Rectangle 7">
            <a:extLst>
              <a:ext uri="{FF2B5EF4-FFF2-40B4-BE49-F238E27FC236}">
                <a16:creationId xmlns:a16="http://schemas.microsoft.com/office/drawing/2014/main" id="{2C7A8C75-19CB-D89D-0267-3315D1E00FB3}"/>
              </a:ext>
            </a:extLst>
          </p:cNvPr>
          <p:cNvSpPr>
            <a:spLocks noChangeArrowheads="1"/>
          </p:cNvSpPr>
          <p:nvPr/>
        </p:nvSpPr>
        <p:spPr bwMode="auto">
          <a:xfrm>
            <a:off x="700871" y="3636319"/>
            <a:ext cx="11341903" cy="2426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
                <a:srgbClr val="00FF00"/>
              </a:buClr>
              <a:buFont typeface="Wingdings" panose="05000000000000000000" pitchFamily="2" charset="2"/>
              <a:buNone/>
            </a:pPr>
            <a:r>
              <a:rPr lang="zh-CN" altLang="en-US" sz="2400" dirty="0">
                <a:solidFill>
                  <a:srgbClr val="000000"/>
                </a:solidFill>
                <a:latin typeface="+mn-ea"/>
                <a:ea typeface="+mn-ea"/>
              </a:rPr>
              <a:t>齐次马氏链的</a:t>
            </a:r>
            <a:r>
              <a:rPr lang="en-US" altLang="zh-CN" sz="2400" dirty="0">
                <a:solidFill>
                  <a:srgbClr val="000000"/>
                </a:solidFill>
                <a:latin typeface="+mn-ea"/>
                <a:ea typeface="+mn-ea"/>
              </a:rPr>
              <a:t>k</a:t>
            </a:r>
            <a:r>
              <a:rPr lang="zh-CN" altLang="en-US" sz="2400" dirty="0">
                <a:solidFill>
                  <a:srgbClr val="000000"/>
                </a:solidFill>
                <a:latin typeface="+mn-ea"/>
                <a:ea typeface="+mn-ea"/>
              </a:rPr>
              <a:t>步转移矩阵记为：</a:t>
            </a:r>
            <a:r>
              <a:rPr lang="en-US" altLang="zh-CN" dirty="0">
                <a:solidFill>
                  <a:srgbClr val="000000"/>
                </a:solidFill>
                <a:latin typeface="+mn-ea"/>
                <a:ea typeface="+mn-ea"/>
              </a:rPr>
              <a:t>P(</a:t>
            </a:r>
            <a:r>
              <a:rPr lang="en-US" altLang="zh-CN" dirty="0" err="1">
                <a:solidFill>
                  <a:srgbClr val="000000"/>
                </a:solidFill>
                <a:latin typeface="+mn-ea"/>
                <a:ea typeface="+mn-ea"/>
              </a:rPr>
              <a:t>m,k</a:t>
            </a:r>
            <a:r>
              <a:rPr lang="en-US" altLang="zh-CN" dirty="0">
                <a:solidFill>
                  <a:srgbClr val="000000"/>
                </a:solidFill>
                <a:latin typeface="+mn-ea"/>
                <a:ea typeface="+mn-ea"/>
              </a:rPr>
              <a:t>)</a:t>
            </a:r>
            <a:r>
              <a:rPr lang="zh-CN" altLang="en-US" dirty="0">
                <a:solidFill>
                  <a:srgbClr val="000000"/>
                </a:solidFill>
                <a:latin typeface="+mn-ea"/>
                <a:ea typeface="+mn-ea"/>
              </a:rPr>
              <a:t>＝</a:t>
            </a:r>
            <a:r>
              <a:rPr lang="en-US" altLang="zh-CN" dirty="0">
                <a:solidFill>
                  <a:srgbClr val="000000"/>
                </a:solidFill>
                <a:latin typeface="+mn-ea"/>
                <a:ea typeface="+mn-ea"/>
              </a:rPr>
              <a:t>P(k)</a:t>
            </a:r>
            <a:r>
              <a:rPr lang="zh-CN" altLang="en-US" dirty="0">
                <a:solidFill>
                  <a:srgbClr val="000000"/>
                </a:solidFill>
                <a:latin typeface="+mn-ea"/>
                <a:ea typeface="+mn-ea"/>
              </a:rPr>
              <a:t>＝</a:t>
            </a:r>
            <a:r>
              <a:rPr lang="en-US" altLang="zh-CN" dirty="0">
                <a:solidFill>
                  <a:srgbClr val="000000"/>
                </a:solidFill>
                <a:latin typeface="+mn-ea"/>
                <a:ea typeface="+mn-ea"/>
              </a:rPr>
              <a:t>(</a:t>
            </a:r>
            <a:r>
              <a:rPr lang="en-US" altLang="zh-CN" dirty="0" err="1">
                <a:solidFill>
                  <a:srgbClr val="000000"/>
                </a:solidFill>
                <a:latin typeface="+mn-ea"/>
                <a:ea typeface="+mn-ea"/>
                <a:sym typeface="Symbol" panose="05050102010706020507" pitchFamily="18" charset="2"/>
              </a:rPr>
              <a:t>p</a:t>
            </a:r>
            <a:r>
              <a:rPr lang="en-US" altLang="zh-CN" baseline="-25000" dirty="0" err="1">
                <a:solidFill>
                  <a:srgbClr val="000000"/>
                </a:solidFill>
                <a:latin typeface="+mn-ea"/>
                <a:ea typeface="+mn-ea"/>
                <a:sym typeface="Symbol" panose="05050102010706020507" pitchFamily="18" charset="2"/>
              </a:rPr>
              <a:t>ij</a:t>
            </a:r>
            <a:r>
              <a:rPr lang="en-US" altLang="zh-CN" dirty="0">
                <a:solidFill>
                  <a:srgbClr val="000000"/>
                </a:solidFill>
                <a:latin typeface="+mn-ea"/>
                <a:ea typeface="+mn-ea"/>
                <a:sym typeface="Symbol" panose="05050102010706020507" pitchFamily="18" charset="2"/>
              </a:rPr>
              <a:t>(k)</a:t>
            </a:r>
            <a:r>
              <a:rPr lang="en-US" altLang="zh-CN" dirty="0">
                <a:solidFill>
                  <a:srgbClr val="000000"/>
                </a:solidFill>
                <a:latin typeface="+mn-ea"/>
                <a:ea typeface="+mn-ea"/>
              </a:rPr>
              <a:t>)</a:t>
            </a:r>
            <a:r>
              <a:rPr lang="en-US" altLang="zh-CN" baseline="-25000" dirty="0" err="1">
                <a:solidFill>
                  <a:srgbClr val="000000"/>
                </a:solidFill>
                <a:latin typeface="+mn-ea"/>
                <a:ea typeface="+mn-ea"/>
              </a:rPr>
              <a:t>i,j</a:t>
            </a:r>
            <a:r>
              <a:rPr lang="en-US" altLang="zh-CN" baseline="-25000" dirty="0" err="1">
                <a:solidFill>
                  <a:srgbClr val="000000"/>
                </a:solidFill>
                <a:latin typeface="+mn-ea"/>
                <a:ea typeface="+mn-ea"/>
                <a:sym typeface="Symbol" panose="05050102010706020507" pitchFamily="18" charset="2"/>
              </a:rPr>
              <a:t>E</a:t>
            </a:r>
            <a:endParaRPr lang="en-US" altLang="zh-CN" baseline="-25000" dirty="0">
              <a:solidFill>
                <a:srgbClr val="000000"/>
              </a:solidFill>
              <a:latin typeface="+mn-ea"/>
              <a:ea typeface="+mn-ea"/>
              <a:sym typeface="Symbol" panose="05050102010706020507" pitchFamily="18" charset="2"/>
            </a:endParaRPr>
          </a:p>
          <a:p>
            <a:pPr eaLnBrk="1" hangingPunct="1">
              <a:lnSpc>
                <a:spcPct val="150000"/>
              </a:lnSpc>
              <a:buClr>
                <a:srgbClr val="00FF00"/>
              </a:buClr>
              <a:buFont typeface="Wingdings" panose="05000000000000000000" pitchFamily="2" charset="2"/>
              <a:buNone/>
            </a:pPr>
            <a:r>
              <a:rPr lang="zh-CN" altLang="en-US" sz="2400" dirty="0">
                <a:solidFill>
                  <a:srgbClr val="000000"/>
                </a:solidFill>
                <a:latin typeface="+mn-ea"/>
                <a:ea typeface="+mn-ea"/>
              </a:rPr>
              <a:t>一步转移矩阵，简称</a:t>
            </a:r>
            <a:r>
              <a:rPr lang="zh-CN" altLang="en-US" sz="2400" dirty="0">
                <a:solidFill>
                  <a:srgbClr val="CC00CC"/>
                </a:solidFill>
                <a:latin typeface="+mn-ea"/>
                <a:ea typeface="+mn-ea"/>
              </a:rPr>
              <a:t>转移矩阵</a:t>
            </a:r>
            <a:r>
              <a:rPr lang="zh-CN" altLang="en-US" sz="2400" dirty="0">
                <a:solidFill>
                  <a:srgbClr val="000000"/>
                </a:solidFill>
                <a:latin typeface="+mn-ea"/>
                <a:ea typeface="+mn-ea"/>
              </a:rPr>
              <a:t>，记为：</a:t>
            </a:r>
            <a:r>
              <a:rPr lang="en-US" altLang="zh-CN" dirty="0">
                <a:solidFill>
                  <a:srgbClr val="000000"/>
                </a:solidFill>
                <a:latin typeface="+mn-ea"/>
                <a:ea typeface="+mn-ea"/>
              </a:rPr>
              <a:t>P(m,1)</a:t>
            </a:r>
            <a:r>
              <a:rPr lang="zh-CN" altLang="en-US" dirty="0">
                <a:solidFill>
                  <a:srgbClr val="000000"/>
                </a:solidFill>
                <a:latin typeface="+mn-ea"/>
                <a:ea typeface="+mn-ea"/>
              </a:rPr>
              <a:t>＝</a:t>
            </a:r>
            <a:r>
              <a:rPr lang="en-US" altLang="zh-CN" dirty="0">
                <a:solidFill>
                  <a:srgbClr val="000000"/>
                </a:solidFill>
                <a:latin typeface="+mn-ea"/>
                <a:ea typeface="+mn-ea"/>
              </a:rPr>
              <a:t>P(1)</a:t>
            </a:r>
            <a:r>
              <a:rPr lang="zh-CN" altLang="en-US" dirty="0">
                <a:solidFill>
                  <a:srgbClr val="000000"/>
                </a:solidFill>
                <a:latin typeface="+mn-ea"/>
                <a:ea typeface="+mn-ea"/>
              </a:rPr>
              <a:t>＝</a:t>
            </a:r>
            <a:r>
              <a:rPr lang="en-US" altLang="zh-CN" dirty="0">
                <a:solidFill>
                  <a:srgbClr val="000000"/>
                </a:solidFill>
                <a:latin typeface="+mn-ea"/>
                <a:ea typeface="+mn-ea"/>
              </a:rPr>
              <a:t>P</a:t>
            </a:r>
            <a:r>
              <a:rPr lang="zh-CN" altLang="en-US" dirty="0">
                <a:solidFill>
                  <a:srgbClr val="000000"/>
                </a:solidFill>
                <a:latin typeface="+mn-ea"/>
                <a:ea typeface="+mn-ea"/>
              </a:rPr>
              <a:t>＝</a:t>
            </a:r>
            <a:r>
              <a:rPr lang="en-US" altLang="zh-CN" dirty="0">
                <a:solidFill>
                  <a:srgbClr val="000000"/>
                </a:solidFill>
                <a:latin typeface="+mn-ea"/>
                <a:ea typeface="+mn-ea"/>
              </a:rPr>
              <a:t>(</a:t>
            </a:r>
            <a:r>
              <a:rPr lang="en-US" altLang="zh-CN" dirty="0" err="1">
                <a:solidFill>
                  <a:srgbClr val="000000"/>
                </a:solidFill>
                <a:latin typeface="+mn-ea"/>
                <a:ea typeface="+mn-ea"/>
                <a:sym typeface="Symbol" panose="05050102010706020507" pitchFamily="18" charset="2"/>
              </a:rPr>
              <a:t>p</a:t>
            </a:r>
            <a:r>
              <a:rPr lang="en-US" altLang="zh-CN" baseline="-25000" dirty="0" err="1">
                <a:solidFill>
                  <a:srgbClr val="000000"/>
                </a:solidFill>
                <a:latin typeface="+mn-ea"/>
                <a:ea typeface="+mn-ea"/>
                <a:sym typeface="Symbol" panose="05050102010706020507" pitchFamily="18" charset="2"/>
              </a:rPr>
              <a:t>ij</a:t>
            </a:r>
            <a:r>
              <a:rPr lang="en-US" altLang="zh-CN" dirty="0">
                <a:solidFill>
                  <a:srgbClr val="000000"/>
                </a:solidFill>
                <a:latin typeface="+mn-ea"/>
                <a:ea typeface="+mn-ea"/>
              </a:rPr>
              <a:t>)</a:t>
            </a:r>
            <a:r>
              <a:rPr lang="en-US" altLang="zh-CN" baseline="-25000" dirty="0" err="1">
                <a:solidFill>
                  <a:srgbClr val="000000"/>
                </a:solidFill>
                <a:latin typeface="+mn-ea"/>
                <a:ea typeface="+mn-ea"/>
              </a:rPr>
              <a:t>i,j</a:t>
            </a:r>
            <a:r>
              <a:rPr lang="en-US" altLang="zh-CN" baseline="-25000" dirty="0" err="1">
                <a:solidFill>
                  <a:srgbClr val="000000"/>
                </a:solidFill>
                <a:latin typeface="+mn-ea"/>
                <a:ea typeface="+mn-ea"/>
                <a:sym typeface="Symbol" panose="05050102010706020507" pitchFamily="18" charset="2"/>
              </a:rPr>
              <a:t>E</a:t>
            </a:r>
            <a:endParaRPr lang="en-US" altLang="zh-CN" baseline="-25000" dirty="0">
              <a:solidFill>
                <a:srgbClr val="000000"/>
              </a:solidFill>
              <a:latin typeface="+mn-ea"/>
              <a:ea typeface="+mn-ea"/>
              <a:sym typeface="Symbol" panose="05050102010706020507" pitchFamily="18" charset="2"/>
            </a:endParaRPr>
          </a:p>
          <a:p>
            <a:pPr eaLnBrk="1" hangingPunct="1">
              <a:lnSpc>
                <a:spcPct val="150000"/>
              </a:lnSpc>
              <a:buClr>
                <a:srgbClr val="00FF00"/>
              </a:buClr>
              <a:buFont typeface="Wingdings" panose="05000000000000000000" pitchFamily="2" charset="2"/>
              <a:buNone/>
            </a:pPr>
            <a:r>
              <a:rPr lang="zh-CN" altLang="en-US" sz="2400" dirty="0">
                <a:solidFill>
                  <a:srgbClr val="000000"/>
                </a:solidFill>
                <a:latin typeface="+mn-ea"/>
                <a:ea typeface="+mn-ea"/>
              </a:rPr>
              <a:t>齐次马氏链的转移概率具有如下性质：</a:t>
            </a:r>
          </a:p>
          <a:p>
            <a:pPr lvl="1" eaLnBrk="1" hangingPunct="1">
              <a:lnSpc>
                <a:spcPct val="150000"/>
              </a:lnSpc>
              <a:buClr>
                <a:srgbClr val="00FF00"/>
              </a:buClr>
              <a:buFont typeface="Wingdings" panose="05000000000000000000" pitchFamily="2" charset="2"/>
              <a:buNone/>
            </a:pPr>
            <a:r>
              <a:rPr lang="en-US" altLang="zh-CN" dirty="0">
                <a:solidFill>
                  <a:srgbClr val="000000"/>
                </a:solidFill>
                <a:latin typeface="+mn-ea"/>
                <a:ea typeface="+mn-ea"/>
              </a:rPr>
              <a:t>0</a:t>
            </a:r>
            <a:r>
              <a:rPr lang="en-US" altLang="zh-CN" dirty="0">
                <a:solidFill>
                  <a:srgbClr val="000000"/>
                </a:solidFill>
                <a:latin typeface="+mn-ea"/>
                <a:ea typeface="+mn-ea"/>
                <a:sym typeface="Symbol" panose="05050102010706020507" pitchFamily="18" charset="2"/>
              </a:rPr>
              <a:t>p</a:t>
            </a:r>
            <a:r>
              <a:rPr lang="en-US" altLang="zh-CN" baseline="-25000" dirty="0">
                <a:solidFill>
                  <a:srgbClr val="000000"/>
                </a:solidFill>
                <a:latin typeface="+mn-ea"/>
                <a:ea typeface="+mn-ea"/>
                <a:sym typeface="Symbol" panose="05050102010706020507" pitchFamily="18" charset="2"/>
              </a:rPr>
              <a:t>ij</a:t>
            </a:r>
            <a:r>
              <a:rPr lang="en-US" altLang="zh-CN" dirty="0">
                <a:solidFill>
                  <a:srgbClr val="000000"/>
                </a:solidFill>
                <a:latin typeface="+mn-ea"/>
                <a:ea typeface="+mn-ea"/>
                <a:sym typeface="Symbol" panose="05050102010706020507" pitchFamily="18" charset="2"/>
              </a:rPr>
              <a:t>(k)1</a:t>
            </a:r>
            <a:r>
              <a:rPr lang="zh-CN" altLang="en-US" dirty="0">
                <a:solidFill>
                  <a:srgbClr val="000000"/>
                </a:solidFill>
                <a:latin typeface="+mn-ea"/>
                <a:ea typeface="+mn-ea"/>
                <a:sym typeface="Symbol" panose="05050102010706020507" pitchFamily="18" charset="2"/>
              </a:rPr>
              <a:t>，		 </a:t>
            </a:r>
            <a:r>
              <a:rPr lang="en-US" altLang="zh-CN" dirty="0">
                <a:solidFill>
                  <a:srgbClr val="000000"/>
                </a:solidFill>
                <a:latin typeface="+mn-ea"/>
                <a:ea typeface="+mn-ea"/>
              </a:rPr>
              <a:t>0</a:t>
            </a:r>
            <a:r>
              <a:rPr lang="en-US" altLang="zh-CN" dirty="0">
                <a:solidFill>
                  <a:srgbClr val="000000"/>
                </a:solidFill>
                <a:latin typeface="+mn-ea"/>
                <a:ea typeface="+mn-ea"/>
                <a:sym typeface="Symbol" panose="05050102010706020507" pitchFamily="18" charset="2"/>
              </a:rPr>
              <a:t>p</a:t>
            </a:r>
            <a:r>
              <a:rPr lang="en-US" altLang="zh-CN" baseline="-25000" dirty="0">
                <a:solidFill>
                  <a:srgbClr val="000000"/>
                </a:solidFill>
                <a:latin typeface="+mn-ea"/>
                <a:ea typeface="+mn-ea"/>
                <a:sym typeface="Symbol" panose="05050102010706020507" pitchFamily="18" charset="2"/>
              </a:rPr>
              <a:t>ij</a:t>
            </a:r>
            <a:r>
              <a:rPr lang="en-US" altLang="zh-CN" dirty="0">
                <a:solidFill>
                  <a:srgbClr val="000000"/>
                </a:solidFill>
                <a:latin typeface="+mn-ea"/>
                <a:ea typeface="+mn-ea"/>
                <a:sym typeface="Symbol" panose="05050102010706020507" pitchFamily="18" charset="2"/>
              </a:rPr>
              <a:t>1</a:t>
            </a:r>
            <a:r>
              <a:rPr lang="zh-CN" altLang="en-US" dirty="0">
                <a:solidFill>
                  <a:srgbClr val="000000"/>
                </a:solidFill>
                <a:latin typeface="+mn-ea"/>
                <a:ea typeface="+mn-ea"/>
                <a:sym typeface="Symbol" panose="05050102010706020507" pitchFamily="18" charset="2"/>
              </a:rPr>
              <a:t>，</a:t>
            </a:r>
          </a:p>
        </p:txBody>
      </p:sp>
      <p:sp>
        <p:nvSpPr>
          <p:cNvPr id="36866" name="Rectangle 2">
            <a:extLst>
              <a:ext uri="{FF2B5EF4-FFF2-40B4-BE49-F238E27FC236}">
                <a16:creationId xmlns:a16="http://schemas.microsoft.com/office/drawing/2014/main" id="{FB7E6CFE-4FB1-0D8D-4FD4-EF2EAC42B9F2}"/>
              </a:ext>
            </a:extLst>
          </p:cNvPr>
          <p:cNvSpPr>
            <a:spLocks noGrp="1" noChangeArrowheads="1"/>
          </p:cNvSpPr>
          <p:nvPr>
            <p:ph type="title"/>
          </p:nvPr>
        </p:nvSpPr>
        <p:spPr/>
        <p:txBody>
          <a:bodyPr/>
          <a:lstStyle/>
          <a:p>
            <a:pPr eaLnBrk="1" hangingPunct="1"/>
            <a:r>
              <a:rPr lang="zh-CN" altLang="en-US"/>
              <a:t>齐次马尔可夫链</a:t>
            </a:r>
          </a:p>
        </p:txBody>
      </p:sp>
      <p:sp>
        <p:nvSpPr>
          <p:cNvPr id="270339" name="Rectangle 3">
            <a:extLst>
              <a:ext uri="{FF2B5EF4-FFF2-40B4-BE49-F238E27FC236}">
                <a16:creationId xmlns:a16="http://schemas.microsoft.com/office/drawing/2014/main" id="{16D972CA-7F0A-AF3D-A3D7-C356A23CC4E0}"/>
              </a:ext>
            </a:extLst>
          </p:cNvPr>
          <p:cNvSpPr>
            <a:spLocks noGrp="1" noChangeArrowheads="1"/>
          </p:cNvSpPr>
          <p:nvPr>
            <p:ph idx="1"/>
          </p:nvPr>
        </p:nvSpPr>
        <p:spPr>
          <a:xfrm>
            <a:off x="612775" y="1143266"/>
            <a:ext cx="10439400" cy="991128"/>
          </a:xfrm>
        </p:spPr>
        <p:txBody>
          <a:bodyPr>
            <a:normAutofit/>
          </a:bodyPr>
          <a:lstStyle/>
          <a:p>
            <a:pPr>
              <a:buNone/>
            </a:pPr>
            <a:r>
              <a:rPr lang="zh-CN" altLang="en-US" dirty="0"/>
              <a:t>若马氏链</a:t>
            </a:r>
            <a:r>
              <a:rPr lang="en-US" altLang="zh-CN" dirty="0">
                <a:sym typeface="Symbol" panose="05050102010706020507" pitchFamily="18" charset="2"/>
              </a:rPr>
              <a:t>{X(n),n=0,1,2,…}</a:t>
            </a:r>
            <a:r>
              <a:rPr lang="zh-CN" altLang="en-US" dirty="0">
                <a:sym typeface="Symbol" panose="05050102010706020507" pitchFamily="18" charset="2"/>
              </a:rPr>
              <a:t>的转移概率</a:t>
            </a:r>
            <a:r>
              <a:rPr lang="en-US" altLang="zh-CN" dirty="0" err="1">
                <a:sym typeface="Symbol" panose="05050102010706020507" pitchFamily="18" charset="2"/>
              </a:rPr>
              <a:t>p</a:t>
            </a:r>
            <a:r>
              <a:rPr lang="en-US" altLang="zh-CN" baseline="-25000" dirty="0" err="1">
                <a:sym typeface="Symbol" panose="05050102010706020507" pitchFamily="18" charset="2"/>
              </a:rPr>
              <a:t>ij</a:t>
            </a:r>
            <a:r>
              <a:rPr lang="en-US" altLang="zh-CN" dirty="0">
                <a:sym typeface="Symbol" panose="05050102010706020507" pitchFamily="18" charset="2"/>
              </a:rPr>
              <a:t>(</a:t>
            </a:r>
            <a:r>
              <a:rPr lang="en-US" altLang="zh-CN" dirty="0" err="1">
                <a:sym typeface="Symbol" panose="05050102010706020507" pitchFamily="18" charset="2"/>
              </a:rPr>
              <a:t>m,k</a:t>
            </a:r>
            <a:r>
              <a:rPr lang="en-US" altLang="zh-CN" dirty="0">
                <a:sym typeface="Symbol" panose="05050102010706020507" pitchFamily="18" charset="2"/>
              </a:rPr>
              <a:t>)</a:t>
            </a:r>
            <a:r>
              <a:rPr lang="zh-CN" altLang="en-US" dirty="0">
                <a:sym typeface="Symbol" panose="05050102010706020507" pitchFamily="18" charset="2"/>
              </a:rPr>
              <a:t>与</a:t>
            </a:r>
            <a:r>
              <a:rPr lang="en-US" altLang="zh-CN" dirty="0">
                <a:sym typeface="Symbol" panose="05050102010706020507" pitchFamily="18" charset="2"/>
              </a:rPr>
              <a:t>m</a:t>
            </a:r>
            <a:r>
              <a:rPr lang="zh-CN" altLang="en-US" dirty="0">
                <a:solidFill>
                  <a:srgbClr val="000000"/>
                </a:solidFill>
                <a:sym typeface="Symbol" panose="05050102010706020507" pitchFamily="18" charset="2"/>
              </a:rPr>
              <a:t>无关，即</a:t>
            </a:r>
          </a:p>
          <a:p>
            <a:pPr eaLnBrk="1" hangingPunct="1">
              <a:buFont typeface="Wingdings" panose="05000000000000000000" pitchFamily="2" charset="2"/>
              <a:buNone/>
            </a:pPr>
            <a:endParaRPr lang="en-US" altLang="zh-CN" dirty="0"/>
          </a:p>
        </p:txBody>
      </p:sp>
      <p:sp>
        <p:nvSpPr>
          <p:cNvPr id="270340" name="Rectangle 4">
            <a:extLst>
              <a:ext uri="{FF2B5EF4-FFF2-40B4-BE49-F238E27FC236}">
                <a16:creationId xmlns:a16="http://schemas.microsoft.com/office/drawing/2014/main" id="{9B440BD4-C4BC-7A6D-1982-E4FD8474EFBF}"/>
              </a:ext>
            </a:extLst>
          </p:cNvPr>
          <p:cNvSpPr>
            <a:spLocks noChangeArrowheads="1"/>
          </p:cNvSpPr>
          <p:nvPr/>
        </p:nvSpPr>
        <p:spPr bwMode="auto">
          <a:xfrm>
            <a:off x="727075" y="1812249"/>
            <a:ext cx="10210800" cy="168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
                <a:srgbClr val="00FF00"/>
              </a:buClr>
              <a:buFont typeface="Wingdings" panose="05000000000000000000" pitchFamily="2" charset="2"/>
              <a:buNone/>
            </a:pPr>
            <a:r>
              <a:rPr lang="zh-CN" altLang="en-US" sz="2400" dirty="0">
                <a:solidFill>
                  <a:srgbClr val="000000"/>
                </a:solidFill>
                <a:latin typeface="+mn-ea"/>
                <a:ea typeface="+mn-ea"/>
                <a:sym typeface="Symbol" panose="05050102010706020507" pitchFamily="18" charset="2"/>
              </a:rPr>
              <a:t>	</a:t>
            </a:r>
            <a:r>
              <a:rPr lang="en-US" altLang="zh-CN" sz="2400" dirty="0" err="1">
                <a:solidFill>
                  <a:srgbClr val="000000"/>
                </a:solidFill>
                <a:latin typeface="+mn-ea"/>
                <a:ea typeface="+mn-ea"/>
                <a:sym typeface="Symbol" panose="05050102010706020507" pitchFamily="18" charset="2"/>
              </a:rPr>
              <a:t>p</a:t>
            </a:r>
            <a:r>
              <a:rPr lang="en-US" altLang="zh-CN" sz="2400" baseline="-25000" dirty="0" err="1">
                <a:solidFill>
                  <a:srgbClr val="000000"/>
                </a:solidFill>
                <a:latin typeface="+mn-ea"/>
                <a:ea typeface="+mn-ea"/>
                <a:sym typeface="Symbol" panose="05050102010706020507" pitchFamily="18" charset="2"/>
              </a:rPr>
              <a:t>ij</a:t>
            </a:r>
            <a:r>
              <a:rPr lang="en-US" altLang="zh-CN" sz="2400" dirty="0">
                <a:solidFill>
                  <a:srgbClr val="000000"/>
                </a:solidFill>
                <a:latin typeface="+mn-ea"/>
                <a:ea typeface="+mn-ea"/>
                <a:sym typeface="Symbol" panose="05050102010706020507" pitchFamily="18" charset="2"/>
              </a:rPr>
              <a:t>(</a:t>
            </a:r>
            <a:r>
              <a:rPr lang="en-US" altLang="zh-CN" sz="2400" dirty="0" err="1">
                <a:solidFill>
                  <a:srgbClr val="000000"/>
                </a:solidFill>
                <a:latin typeface="+mn-ea"/>
                <a:ea typeface="+mn-ea"/>
                <a:sym typeface="Symbol" panose="05050102010706020507" pitchFamily="18" charset="2"/>
              </a:rPr>
              <a:t>m,k</a:t>
            </a:r>
            <a:r>
              <a:rPr lang="en-US" altLang="zh-CN" sz="2400" dirty="0">
                <a:solidFill>
                  <a:srgbClr val="000000"/>
                </a:solidFill>
                <a:latin typeface="+mn-ea"/>
                <a:ea typeface="+mn-ea"/>
                <a:sym typeface="Symbol" panose="05050102010706020507" pitchFamily="18" charset="2"/>
              </a:rPr>
              <a:t>)</a:t>
            </a:r>
            <a:r>
              <a:rPr lang="zh-CN" altLang="en-US" sz="2400" dirty="0">
                <a:solidFill>
                  <a:srgbClr val="000000"/>
                </a:solidFill>
                <a:latin typeface="+mn-ea"/>
                <a:ea typeface="+mn-ea"/>
                <a:sym typeface="Symbol" panose="05050102010706020507" pitchFamily="18" charset="2"/>
              </a:rPr>
              <a:t>＝</a:t>
            </a:r>
            <a:r>
              <a:rPr lang="en-US" altLang="zh-CN" sz="2400" dirty="0">
                <a:solidFill>
                  <a:srgbClr val="000000"/>
                </a:solidFill>
                <a:latin typeface="+mn-ea"/>
                <a:ea typeface="+mn-ea"/>
                <a:sym typeface="Symbol" panose="05050102010706020507" pitchFamily="18" charset="2"/>
              </a:rPr>
              <a:t>P{X(</a:t>
            </a:r>
            <a:r>
              <a:rPr lang="en-US" altLang="zh-CN" sz="2400" dirty="0" err="1">
                <a:solidFill>
                  <a:srgbClr val="000000"/>
                </a:solidFill>
                <a:latin typeface="+mn-ea"/>
                <a:ea typeface="+mn-ea"/>
                <a:sym typeface="Symbol" panose="05050102010706020507" pitchFamily="18" charset="2"/>
              </a:rPr>
              <a:t>m+k</a:t>
            </a:r>
            <a:r>
              <a:rPr lang="en-US" altLang="zh-CN" sz="2400" dirty="0">
                <a:solidFill>
                  <a:srgbClr val="000000"/>
                </a:solidFill>
                <a:latin typeface="+mn-ea"/>
                <a:ea typeface="+mn-ea"/>
                <a:sym typeface="Symbol" panose="05050102010706020507" pitchFamily="18" charset="2"/>
              </a:rPr>
              <a:t>)=</a:t>
            </a:r>
            <a:r>
              <a:rPr lang="en-US" altLang="zh-CN" sz="2400" dirty="0" err="1">
                <a:solidFill>
                  <a:srgbClr val="000000"/>
                </a:solidFill>
                <a:latin typeface="+mn-ea"/>
                <a:ea typeface="+mn-ea"/>
                <a:sym typeface="Symbol" panose="05050102010706020507" pitchFamily="18" charset="2"/>
              </a:rPr>
              <a:t>j|X</a:t>
            </a:r>
            <a:r>
              <a:rPr lang="en-US" altLang="zh-CN" sz="2400" dirty="0">
                <a:solidFill>
                  <a:srgbClr val="000000"/>
                </a:solidFill>
                <a:latin typeface="+mn-ea"/>
                <a:ea typeface="+mn-ea"/>
                <a:sym typeface="Symbol" panose="05050102010706020507" pitchFamily="18" charset="2"/>
              </a:rPr>
              <a:t>(m)=</a:t>
            </a:r>
            <a:r>
              <a:rPr lang="en-US" altLang="zh-CN" sz="2400" dirty="0" err="1">
                <a:solidFill>
                  <a:srgbClr val="000000"/>
                </a:solidFill>
                <a:latin typeface="+mn-ea"/>
                <a:ea typeface="+mn-ea"/>
                <a:sym typeface="Symbol" panose="05050102010706020507" pitchFamily="18" charset="2"/>
              </a:rPr>
              <a:t>i</a:t>
            </a:r>
            <a:r>
              <a:rPr lang="en-US" altLang="zh-CN" sz="2400" dirty="0">
                <a:solidFill>
                  <a:srgbClr val="000000"/>
                </a:solidFill>
                <a:latin typeface="+mn-ea"/>
                <a:ea typeface="+mn-ea"/>
                <a:sym typeface="Symbol" panose="05050102010706020507" pitchFamily="18" charset="2"/>
              </a:rPr>
              <a:t>}</a:t>
            </a:r>
            <a:r>
              <a:rPr lang="zh-CN" altLang="en-US" sz="2400" dirty="0">
                <a:solidFill>
                  <a:srgbClr val="000000"/>
                </a:solidFill>
                <a:latin typeface="+mn-ea"/>
                <a:ea typeface="+mn-ea"/>
                <a:sym typeface="Symbol" panose="05050102010706020507" pitchFamily="18" charset="2"/>
              </a:rPr>
              <a:t>＝</a:t>
            </a:r>
            <a:r>
              <a:rPr lang="en-US" altLang="zh-CN" sz="2400" dirty="0" err="1">
                <a:solidFill>
                  <a:srgbClr val="000000"/>
                </a:solidFill>
                <a:latin typeface="+mn-ea"/>
                <a:ea typeface="+mn-ea"/>
                <a:sym typeface="Symbol" panose="05050102010706020507" pitchFamily="18" charset="2"/>
              </a:rPr>
              <a:t>p</a:t>
            </a:r>
            <a:r>
              <a:rPr lang="en-US" altLang="zh-CN" sz="2400" baseline="-25000" dirty="0" err="1">
                <a:solidFill>
                  <a:srgbClr val="000000"/>
                </a:solidFill>
                <a:latin typeface="+mn-ea"/>
                <a:ea typeface="+mn-ea"/>
                <a:sym typeface="Symbol" panose="05050102010706020507" pitchFamily="18" charset="2"/>
              </a:rPr>
              <a:t>ij</a:t>
            </a:r>
            <a:r>
              <a:rPr lang="en-US" altLang="zh-CN" sz="2400" dirty="0">
                <a:solidFill>
                  <a:srgbClr val="000000"/>
                </a:solidFill>
                <a:latin typeface="+mn-ea"/>
                <a:ea typeface="+mn-ea"/>
                <a:sym typeface="Symbol" panose="05050102010706020507" pitchFamily="18" charset="2"/>
              </a:rPr>
              <a:t>(k)</a:t>
            </a:r>
            <a:r>
              <a:rPr lang="zh-CN" altLang="en-US" sz="2400" dirty="0">
                <a:solidFill>
                  <a:srgbClr val="000000"/>
                </a:solidFill>
                <a:latin typeface="+mn-ea"/>
                <a:ea typeface="+mn-ea"/>
                <a:sym typeface="Symbol" panose="05050102010706020507" pitchFamily="18" charset="2"/>
              </a:rPr>
              <a:t>；</a:t>
            </a:r>
          </a:p>
          <a:p>
            <a:pPr eaLnBrk="1" hangingPunct="1">
              <a:lnSpc>
                <a:spcPct val="150000"/>
              </a:lnSpc>
              <a:buClr>
                <a:srgbClr val="00FF00"/>
              </a:buClr>
              <a:buFont typeface="Wingdings" panose="05000000000000000000" pitchFamily="2" charset="2"/>
              <a:buNone/>
            </a:pPr>
            <a:r>
              <a:rPr lang="zh-CN" altLang="en-US" sz="2400" dirty="0">
                <a:solidFill>
                  <a:srgbClr val="000000"/>
                </a:solidFill>
                <a:latin typeface="+mn-ea"/>
                <a:ea typeface="+mn-ea"/>
                <a:sym typeface="Symbol" panose="05050102010706020507" pitchFamily="18" charset="2"/>
              </a:rPr>
              <a:t>	</a:t>
            </a:r>
            <a:r>
              <a:rPr lang="en-US" altLang="zh-CN" sz="2400" dirty="0" err="1">
                <a:solidFill>
                  <a:srgbClr val="000000"/>
                </a:solidFill>
                <a:latin typeface="+mn-ea"/>
                <a:ea typeface="+mn-ea"/>
                <a:sym typeface="Symbol" panose="05050102010706020507" pitchFamily="18" charset="2"/>
              </a:rPr>
              <a:t>p</a:t>
            </a:r>
            <a:r>
              <a:rPr lang="en-US" altLang="zh-CN" sz="2400" baseline="-25000" dirty="0" err="1">
                <a:solidFill>
                  <a:srgbClr val="000000"/>
                </a:solidFill>
                <a:latin typeface="+mn-ea"/>
                <a:ea typeface="+mn-ea"/>
                <a:sym typeface="Symbol" panose="05050102010706020507" pitchFamily="18" charset="2"/>
              </a:rPr>
              <a:t>ij</a:t>
            </a:r>
            <a:r>
              <a:rPr lang="en-US" altLang="zh-CN" sz="2400" dirty="0">
                <a:solidFill>
                  <a:srgbClr val="000000"/>
                </a:solidFill>
                <a:latin typeface="+mn-ea"/>
                <a:ea typeface="+mn-ea"/>
                <a:sym typeface="Symbol" panose="05050102010706020507" pitchFamily="18" charset="2"/>
              </a:rPr>
              <a:t>(m,1)</a:t>
            </a:r>
            <a:r>
              <a:rPr lang="zh-CN" altLang="en-US" sz="2400" dirty="0">
                <a:solidFill>
                  <a:srgbClr val="000000"/>
                </a:solidFill>
                <a:latin typeface="+mn-ea"/>
                <a:ea typeface="+mn-ea"/>
                <a:sym typeface="Symbol" panose="05050102010706020507" pitchFamily="18" charset="2"/>
              </a:rPr>
              <a:t>＝</a:t>
            </a:r>
            <a:r>
              <a:rPr lang="en-US" altLang="zh-CN" sz="2400" dirty="0">
                <a:solidFill>
                  <a:srgbClr val="000000"/>
                </a:solidFill>
                <a:latin typeface="+mn-ea"/>
                <a:ea typeface="+mn-ea"/>
                <a:sym typeface="Symbol" panose="05050102010706020507" pitchFamily="18" charset="2"/>
              </a:rPr>
              <a:t>P{X(m+1)=</a:t>
            </a:r>
            <a:r>
              <a:rPr lang="en-US" altLang="zh-CN" sz="2400" dirty="0" err="1">
                <a:solidFill>
                  <a:srgbClr val="000000"/>
                </a:solidFill>
                <a:latin typeface="+mn-ea"/>
                <a:ea typeface="+mn-ea"/>
                <a:sym typeface="Symbol" panose="05050102010706020507" pitchFamily="18" charset="2"/>
              </a:rPr>
              <a:t>j|X</a:t>
            </a:r>
            <a:r>
              <a:rPr lang="en-US" altLang="zh-CN" sz="2400" dirty="0">
                <a:solidFill>
                  <a:srgbClr val="000000"/>
                </a:solidFill>
                <a:latin typeface="+mn-ea"/>
                <a:ea typeface="+mn-ea"/>
                <a:sym typeface="Symbol" panose="05050102010706020507" pitchFamily="18" charset="2"/>
              </a:rPr>
              <a:t>(m)=</a:t>
            </a:r>
            <a:r>
              <a:rPr lang="en-US" altLang="zh-CN" sz="2400" dirty="0" err="1">
                <a:solidFill>
                  <a:srgbClr val="000000"/>
                </a:solidFill>
                <a:latin typeface="+mn-ea"/>
                <a:ea typeface="+mn-ea"/>
                <a:sym typeface="Symbol" panose="05050102010706020507" pitchFamily="18" charset="2"/>
              </a:rPr>
              <a:t>i</a:t>
            </a:r>
            <a:r>
              <a:rPr lang="en-US" altLang="zh-CN" sz="2400" dirty="0">
                <a:solidFill>
                  <a:srgbClr val="000000"/>
                </a:solidFill>
                <a:latin typeface="+mn-ea"/>
                <a:ea typeface="+mn-ea"/>
                <a:sym typeface="Symbol" panose="05050102010706020507" pitchFamily="18" charset="2"/>
              </a:rPr>
              <a:t>}</a:t>
            </a:r>
            <a:r>
              <a:rPr lang="zh-CN" altLang="en-US" sz="2400" dirty="0">
                <a:solidFill>
                  <a:srgbClr val="000000"/>
                </a:solidFill>
                <a:latin typeface="+mn-ea"/>
                <a:ea typeface="+mn-ea"/>
                <a:sym typeface="Symbol" panose="05050102010706020507" pitchFamily="18" charset="2"/>
              </a:rPr>
              <a:t>＝</a:t>
            </a:r>
            <a:r>
              <a:rPr lang="en-US" altLang="zh-CN" sz="2400" dirty="0" err="1">
                <a:solidFill>
                  <a:srgbClr val="000000"/>
                </a:solidFill>
                <a:latin typeface="+mn-ea"/>
                <a:ea typeface="+mn-ea"/>
                <a:sym typeface="Symbol" panose="05050102010706020507" pitchFamily="18" charset="2"/>
              </a:rPr>
              <a:t>p</a:t>
            </a:r>
            <a:r>
              <a:rPr lang="en-US" altLang="zh-CN" sz="2400" baseline="-25000" dirty="0" err="1">
                <a:solidFill>
                  <a:srgbClr val="000000"/>
                </a:solidFill>
                <a:latin typeface="+mn-ea"/>
                <a:ea typeface="+mn-ea"/>
                <a:sym typeface="Symbol" panose="05050102010706020507" pitchFamily="18" charset="2"/>
              </a:rPr>
              <a:t>ij</a:t>
            </a:r>
            <a:r>
              <a:rPr lang="en-US" altLang="zh-CN" sz="2400" dirty="0">
                <a:solidFill>
                  <a:srgbClr val="000000"/>
                </a:solidFill>
                <a:latin typeface="+mn-ea"/>
                <a:ea typeface="+mn-ea"/>
                <a:sym typeface="Symbol" panose="05050102010706020507" pitchFamily="18" charset="2"/>
              </a:rPr>
              <a:t>(1)</a:t>
            </a:r>
            <a:r>
              <a:rPr lang="zh-CN" altLang="en-US" sz="2400" dirty="0">
                <a:solidFill>
                  <a:srgbClr val="000000"/>
                </a:solidFill>
                <a:latin typeface="+mn-ea"/>
                <a:ea typeface="+mn-ea"/>
                <a:sym typeface="Symbol" panose="05050102010706020507" pitchFamily="18" charset="2"/>
              </a:rPr>
              <a:t>＝</a:t>
            </a:r>
            <a:r>
              <a:rPr lang="en-US" altLang="zh-CN" sz="2400" dirty="0" err="1">
                <a:solidFill>
                  <a:srgbClr val="000000"/>
                </a:solidFill>
                <a:latin typeface="+mn-ea"/>
                <a:ea typeface="+mn-ea"/>
                <a:sym typeface="Symbol" panose="05050102010706020507" pitchFamily="18" charset="2"/>
              </a:rPr>
              <a:t>p</a:t>
            </a:r>
            <a:r>
              <a:rPr lang="en-US" altLang="zh-CN" sz="2400" baseline="-25000" dirty="0" err="1">
                <a:solidFill>
                  <a:srgbClr val="000000"/>
                </a:solidFill>
                <a:latin typeface="+mn-ea"/>
                <a:ea typeface="+mn-ea"/>
                <a:sym typeface="Symbol" panose="05050102010706020507" pitchFamily="18" charset="2"/>
              </a:rPr>
              <a:t>ij</a:t>
            </a:r>
            <a:r>
              <a:rPr lang="zh-CN" altLang="en-US" sz="2400" dirty="0">
                <a:solidFill>
                  <a:srgbClr val="000000"/>
                </a:solidFill>
                <a:latin typeface="+mn-ea"/>
                <a:ea typeface="+mn-ea"/>
                <a:sym typeface="Symbol" panose="05050102010706020507" pitchFamily="18" charset="2"/>
              </a:rPr>
              <a:t>；</a:t>
            </a:r>
          </a:p>
          <a:p>
            <a:pPr eaLnBrk="1" hangingPunct="1">
              <a:lnSpc>
                <a:spcPct val="150000"/>
              </a:lnSpc>
              <a:buClr>
                <a:srgbClr val="00FF00"/>
              </a:buClr>
              <a:buFont typeface="Wingdings" panose="05000000000000000000" pitchFamily="2" charset="2"/>
              <a:buNone/>
            </a:pPr>
            <a:r>
              <a:rPr lang="zh-CN" altLang="en-US" sz="2400" dirty="0">
                <a:solidFill>
                  <a:srgbClr val="000000"/>
                </a:solidFill>
                <a:latin typeface="+mn-ea"/>
                <a:ea typeface="+mn-ea"/>
                <a:sym typeface="Symbol" panose="05050102010706020507" pitchFamily="18" charset="2"/>
              </a:rPr>
              <a:t>则称</a:t>
            </a:r>
            <a:r>
              <a:rPr lang="en-US" altLang="zh-CN" sz="2400" dirty="0">
                <a:solidFill>
                  <a:srgbClr val="000000"/>
                </a:solidFill>
                <a:latin typeface="+mn-ea"/>
                <a:ea typeface="+mn-ea"/>
                <a:sym typeface="Symbol" panose="05050102010706020507" pitchFamily="18" charset="2"/>
              </a:rPr>
              <a:t>{X(n),n=0,1,2,…}</a:t>
            </a:r>
            <a:r>
              <a:rPr lang="zh-CN" altLang="en-US" sz="2400" dirty="0">
                <a:solidFill>
                  <a:srgbClr val="000000"/>
                </a:solidFill>
                <a:latin typeface="+mn-ea"/>
                <a:ea typeface="+mn-ea"/>
                <a:sym typeface="Symbol" panose="05050102010706020507" pitchFamily="18" charset="2"/>
              </a:rPr>
              <a:t>为</a:t>
            </a:r>
            <a:r>
              <a:rPr lang="zh-CN" altLang="en-US" sz="2400" dirty="0">
                <a:solidFill>
                  <a:srgbClr val="CC00CC"/>
                </a:solidFill>
                <a:latin typeface="+mn-ea"/>
                <a:ea typeface="+mn-ea"/>
              </a:rPr>
              <a:t>齐次马尔可夫链</a:t>
            </a:r>
            <a:r>
              <a:rPr lang="zh-CN" altLang="en-US" sz="2400" dirty="0">
                <a:solidFill>
                  <a:srgbClr val="000000"/>
                </a:solidFill>
                <a:latin typeface="+mn-ea"/>
                <a:ea typeface="+mn-ea"/>
              </a:rPr>
              <a:t>，简称</a:t>
            </a:r>
            <a:r>
              <a:rPr lang="zh-CN" altLang="en-US" sz="2400" dirty="0">
                <a:solidFill>
                  <a:srgbClr val="CC00CC"/>
                </a:solidFill>
                <a:latin typeface="+mn-ea"/>
                <a:ea typeface="+mn-ea"/>
              </a:rPr>
              <a:t>齐次马氏链</a:t>
            </a:r>
            <a:r>
              <a:rPr lang="zh-CN" altLang="en-US" sz="2400" dirty="0">
                <a:solidFill>
                  <a:srgbClr val="000000"/>
                </a:solidFill>
                <a:latin typeface="+mn-ea"/>
                <a:ea typeface="+mn-ea"/>
              </a:rPr>
              <a:t>。  </a:t>
            </a:r>
            <a:endParaRPr lang="zh-CN" altLang="en-US" sz="2801" dirty="0">
              <a:solidFill>
                <a:srgbClr val="000000"/>
              </a:solidFill>
              <a:latin typeface="+mn-ea"/>
              <a:ea typeface="+mn-ea"/>
              <a:sym typeface="Symbol" panose="05050102010706020507" pitchFamily="18" charset="2"/>
            </a:endParaRPr>
          </a:p>
        </p:txBody>
      </p:sp>
      <p:graphicFrame>
        <p:nvGraphicFramePr>
          <p:cNvPr id="270341" name="Object 5">
            <a:extLst>
              <a:ext uri="{FF2B5EF4-FFF2-40B4-BE49-F238E27FC236}">
                <a16:creationId xmlns:a16="http://schemas.microsoft.com/office/drawing/2014/main" id="{CBF7D72B-C71E-00C5-6719-1CE6D768B1CA}"/>
              </a:ext>
            </a:extLst>
          </p:cNvPr>
          <p:cNvGraphicFramePr>
            <a:graphicFrameLocks noChangeAspect="1"/>
          </p:cNvGraphicFramePr>
          <p:nvPr/>
        </p:nvGraphicFramePr>
        <p:xfrm>
          <a:off x="6709058" y="5406899"/>
          <a:ext cx="1546583" cy="655790"/>
        </p:xfrm>
        <a:graphic>
          <a:graphicData uri="http://schemas.openxmlformats.org/presentationml/2006/ole">
            <mc:AlternateContent xmlns:mc="http://schemas.openxmlformats.org/markup-compatibility/2006">
              <mc:Choice xmlns:v="urn:schemas-microsoft-com:vml" Requires="v">
                <p:oleObj name="Equation" r:id="rId3" imgW="837836" imgH="355446" progId="Equation.3">
                  <p:embed/>
                </p:oleObj>
              </mc:Choice>
              <mc:Fallback>
                <p:oleObj name="Equation" r:id="rId3" imgW="837836" imgH="355446" progId="Equation.3">
                  <p:embed/>
                  <p:pic>
                    <p:nvPicPr>
                      <p:cNvPr id="270341" name="Object 5">
                        <a:extLst>
                          <a:ext uri="{FF2B5EF4-FFF2-40B4-BE49-F238E27FC236}">
                            <a16:creationId xmlns:a16="http://schemas.microsoft.com/office/drawing/2014/main" id="{CBF7D72B-C71E-00C5-6719-1CE6D768B1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9058" y="5406899"/>
                        <a:ext cx="1546583" cy="6557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0342" name="Object 6">
            <a:extLst>
              <a:ext uri="{FF2B5EF4-FFF2-40B4-BE49-F238E27FC236}">
                <a16:creationId xmlns:a16="http://schemas.microsoft.com/office/drawing/2014/main" id="{7689BEEF-56B1-34C7-0D08-50BFFB826F03}"/>
              </a:ext>
            </a:extLst>
          </p:cNvPr>
          <p:cNvGraphicFramePr>
            <a:graphicFrameLocks noChangeAspect="1"/>
          </p:cNvGraphicFramePr>
          <p:nvPr/>
        </p:nvGraphicFramePr>
        <p:xfrm>
          <a:off x="9070975" y="5388427"/>
          <a:ext cx="1219482" cy="655789"/>
        </p:xfrm>
        <a:graphic>
          <a:graphicData uri="http://schemas.openxmlformats.org/presentationml/2006/ole">
            <mc:AlternateContent xmlns:mc="http://schemas.openxmlformats.org/markup-compatibility/2006">
              <mc:Choice xmlns:v="urn:schemas-microsoft-com:vml" Requires="v">
                <p:oleObj name="Equation" r:id="rId5" imgW="660113" imgH="355446" progId="Equation.3">
                  <p:embed/>
                </p:oleObj>
              </mc:Choice>
              <mc:Fallback>
                <p:oleObj name="Equation" r:id="rId5" imgW="660113" imgH="355446" progId="Equation.3">
                  <p:embed/>
                  <p:pic>
                    <p:nvPicPr>
                      <p:cNvPr id="270342" name="Object 6">
                        <a:extLst>
                          <a:ext uri="{FF2B5EF4-FFF2-40B4-BE49-F238E27FC236}">
                            <a16:creationId xmlns:a16="http://schemas.microsoft.com/office/drawing/2014/main" id="{7689BEEF-56B1-34C7-0D08-50BFFB826F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70975" y="5388427"/>
                        <a:ext cx="1219482" cy="6557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0339">
                                            <p:txEl>
                                              <p:pRg st="0" end="0"/>
                                            </p:txEl>
                                          </p:spTgt>
                                        </p:tgtEl>
                                        <p:attrNameLst>
                                          <p:attrName>style.visibility</p:attrName>
                                        </p:attrNameLst>
                                      </p:cBhvr>
                                      <p:to>
                                        <p:strVal val="visible"/>
                                      </p:to>
                                    </p:set>
                                    <p:anim calcmode="lin" valueType="num">
                                      <p:cBhvr additive="base">
                                        <p:cTn id="7" dur="500" fill="hold"/>
                                        <p:tgtEl>
                                          <p:spTgt spid="270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033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70340">
                                            <p:txEl>
                                              <p:pRg st="0" end="0"/>
                                            </p:txEl>
                                          </p:spTgt>
                                        </p:tgtEl>
                                        <p:attrNameLst>
                                          <p:attrName>style.visibility</p:attrName>
                                        </p:attrNameLst>
                                      </p:cBhvr>
                                      <p:to>
                                        <p:strVal val="visible"/>
                                      </p:to>
                                    </p:set>
                                    <p:anim calcmode="lin" valueType="num">
                                      <p:cBhvr additive="base">
                                        <p:cTn id="12" dur="500" fill="hold"/>
                                        <p:tgtEl>
                                          <p:spTgt spid="270340">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70340">
                                            <p:txEl>
                                              <p:pRg st="0" end="0"/>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70340">
                                            <p:txEl>
                                              <p:pRg st="1" end="1"/>
                                            </p:txEl>
                                          </p:spTgt>
                                        </p:tgtEl>
                                        <p:attrNameLst>
                                          <p:attrName>style.visibility</p:attrName>
                                        </p:attrNameLst>
                                      </p:cBhvr>
                                      <p:to>
                                        <p:strVal val="visible"/>
                                      </p:to>
                                    </p:set>
                                    <p:anim calcmode="lin" valueType="num">
                                      <p:cBhvr additive="base">
                                        <p:cTn id="17" dur="500" fill="hold"/>
                                        <p:tgtEl>
                                          <p:spTgt spid="270340">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0340">
                                            <p:txEl>
                                              <p:pRg st="1" end="1"/>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70340">
                                            <p:txEl>
                                              <p:pRg st="2" end="2"/>
                                            </p:txEl>
                                          </p:spTgt>
                                        </p:tgtEl>
                                        <p:attrNameLst>
                                          <p:attrName>style.visibility</p:attrName>
                                        </p:attrNameLst>
                                      </p:cBhvr>
                                      <p:to>
                                        <p:strVal val="visible"/>
                                      </p:to>
                                    </p:set>
                                    <p:anim calcmode="lin" valueType="num">
                                      <p:cBhvr additive="base">
                                        <p:cTn id="22" dur="500" fill="hold"/>
                                        <p:tgtEl>
                                          <p:spTgt spid="270340">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7034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70343">
                                            <p:txEl>
                                              <p:pRg st="0" end="0"/>
                                            </p:txEl>
                                          </p:spTgt>
                                        </p:tgtEl>
                                        <p:attrNameLst>
                                          <p:attrName>style.visibility</p:attrName>
                                        </p:attrNameLst>
                                      </p:cBhvr>
                                      <p:to>
                                        <p:strVal val="visible"/>
                                      </p:to>
                                    </p:set>
                                    <p:anim calcmode="lin" valueType="num">
                                      <p:cBhvr additive="base">
                                        <p:cTn id="28" dur="500" fill="hold"/>
                                        <p:tgtEl>
                                          <p:spTgt spid="270343">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703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70343">
                                            <p:txEl>
                                              <p:pRg st="1" end="1"/>
                                            </p:txEl>
                                          </p:spTgt>
                                        </p:tgtEl>
                                        <p:attrNameLst>
                                          <p:attrName>style.visibility</p:attrName>
                                        </p:attrNameLst>
                                      </p:cBhvr>
                                      <p:to>
                                        <p:strVal val="visible"/>
                                      </p:to>
                                    </p:set>
                                    <p:anim calcmode="lin" valueType="num">
                                      <p:cBhvr additive="base">
                                        <p:cTn id="34" dur="500" fill="hold"/>
                                        <p:tgtEl>
                                          <p:spTgt spid="270343">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703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270343">
                                            <p:txEl>
                                              <p:pRg st="2" end="2"/>
                                            </p:txEl>
                                          </p:spTgt>
                                        </p:tgtEl>
                                        <p:attrNameLst>
                                          <p:attrName>style.visibility</p:attrName>
                                        </p:attrNameLst>
                                      </p:cBhvr>
                                      <p:to>
                                        <p:strVal val="visible"/>
                                      </p:to>
                                    </p:set>
                                    <p:anim calcmode="lin" valueType="num">
                                      <p:cBhvr additive="base">
                                        <p:cTn id="40" dur="500" fill="hold"/>
                                        <p:tgtEl>
                                          <p:spTgt spid="270343">
                                            <p:txEl>
                                              <p:pRg st="2" end="2"/>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70343">
                                            <p:txEl>
                                              <p:pRg st="2" end="2"/>
                                            </p:txEl>
                                          </p:spTgt>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270343">
                                            <p:txEl>
                                              <p:pRg st="3" end="3"/>
                                            </p:txEl>
                                          </p:spTgt>
                                        </p:tgtEl>
                                        <p:attrNameLst>
                                          <p:attrName>style.visibility</p:attrName>
                                        </p:attrNameLst>
                                      </p:cBhvr>
                                      <p:to>
                                        <p:strVal val="visible"/>
                                      </p:to>
                                    </p:set>
                                    <p:anim calcmode="lin" valueType="num">
                                      <p:cBhvr additive="base">
                                        <p:cTn id="44" dur="500" fill="hold"/>
                                        <p:tgtEl>
                                          <p:spTgt spid="270343">
                                            <p:txEl>
                                              <p:pRg st="3" end="3"/>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70343">
                                            <p:txEl>
                                              <p:pRg st="3" end="3"/>
                                            </p:txEl>
                                          </p:spTgt>
                                        </p:tgtEl>
                                        <p:attrNameLst>
                                          <p:attrName>ppt_y</p:attrName>
                                        </p:attrNameLst>
                                      </p:cBhvr>
                                      <p:tavLst>
                                        <p:tav tm="0">
                                          <p:val>
                                            <p:strVal val="1+#ppt_h/2"/>
                                          </p:val>
                                        </p:tav>
                                        <p:tav tm="100000">
                                          <p:val>
                                            <p:strVal val="#ppt_y"/>
                                          </p:val>
                                        </p:tav>
                                      </p:tavLst>
                                    </p:anim>
                                  </p:childTnLst>
                                </p:cTn>
                              </p:par>
                            </p:childTnLst>
                          </p:cTn>
                        </p:par>
                        <p:par>
                          <p:cTn id="46" fill="hold" nodeType="afterGroup">
                            <p:stCondLst>
                              <p:cond delay="500"/>
                            </p:stCondLst>
                            <p:childTnLst>
                              <p:par>
                                <p:cTn id="47" presetID="2" presetClass="entr" presetSubtype="4" fill="hold" nodeType="afterEffect">
                                  <p:stCondLst>
                                    <p:cond delay="0"/>
                                  </p:stCondLst>
                                  <p:childTnLst>
                                    <p:set>
                                      <p:cBhvr>
                                        <p:cTn id="48" dur="1" fill="hold">
                                          <p:stCondLst>
                                            <p:cond delay="0"/>
                                          </p:stCondLst>
                                        </p:cTn>
                                        <p:tgtEl>
                                          <p:spTgt spid="270341"/>
                                        </p:tgtEl>
                                        <p:attrNameLst>
                                          <p:attrName>style.visibility</p:attrName>
                                        </p:attrNameLst>
                                      </p:cBhvr>
                                      <p:to>
                                        <p:strVal val="visible"/>
                                      </p:to>
                                    </p:set>
                                    <p:anim calcmode="lin" valueType="num">
                                      <p:cBhvr additive="base">
                                        <p:cTn id="49" dur="500" fill="hold"/>
                                        <p:tgtEl>
                                          <p:spTgt spid="270341"/>
                                        </p:tgtEl>
                                        <p:attrNameLst>
                                          <p:attrName>ppt_x</p:attrName>
                                        </p:attrNameLst>
                                      </p:cBhvr>
                                      <p:tavLst>
                                        <p:tav tm="0">
                                          <p:val>
                                            <p:strVal val="#ppt_x"/>
                                          </p:val>
                                        </p:tav>
                                        <p:tav tm="100000">
                                          <p:val>
                                            <p:strVal val="#ppt_x"/>
                                          </p:val>
                                        </p:tav>
                                      </p:tavLst>
                                    </p:anim>
                                    <p:anim calcmode="lin" valueType="num">
                                      <p:cBhvr additive="base">
                                        <p:cTn id="50" dur="500" fill="hold"/>
                                        <p:tgtEl>
                                          <p:spTgt spid="270341"/>
                                        </p:tgtEl>
                                        <p:attrNameLst>
                                          <p:attrName>ppt_y</p:attrName>
                                        </p:attrNameLst>
                                      </p:cBhvr>
                                      <p:tavLst>
                                        <p:tav tm="0">
                                          <p:val>
                                            <p:strVal val="1+#ppt_h/2"/>
                                          </p:val>
                                        </p:tav>
                                        <p:tav tm="100000">
                                          <p:val>
                                            <p:strVal val="#ppt_y"/>
                                          </p:val>
                                        </p:tav>
                                      </p:tavLst>
                                    </p:anim>
                                  </p:childTnLst>
                                </p:cTn>
                              </p:par>
                            </p:childTnLst>
                          </p:cTn>
                        </p:par>
                        <p:par>
                          <p:cTn id="51" fill="hold" nodeType="afterGroup">
                            <p:stCondLst>
                              <p:cond delay="1000"/>
                            </p:stCondLst>
                            <p:childTnLst>
                              <p:par>
                                <p:cTn id="52" presetID="2" presetClass="entr" presetSubtype="4" fill="hold" nodeType="afterEffect">
                                  <p:stCondLst>
                                    <p:cond delay="0"/>
                                  </p:stCondLst>
                                  <p:childTnLst>
                                    <p:set>
                                      <p:cBhvr>
                                        <p:cTn id="53" dur="1" fill="hold">
                                          <p:stCondLst>
                                            <p:cond delay="0"/>
                                          </p:stCondLst>
                                        </p:cTn>
                                        <p:tgtEl>
                                          <p:spTgt spid="270342"/>
                                        </p:tgtEl>
                                        <p:attrNameLst>
                                          <p:attrName>style.visibility</p:attrName>
                                        </p:attrNameLst>
                                      </p:cBhvr>
                                      <p:to>
                                        <p:strVal val="visible"/>
                                      </p:to>
                                    </p:set>
                                    <p:anim calcmode="lin" valueType="num">
                                      <p:cBhvr additive="base">
                                        <p:cTn id="54" dur="500" fill="hold"/>
                                        <p:tgtEl>
                                          <p:spTgt spid="270342"/>
                                        </p:tgtEl>
                                        <p:attrNameLst>
                                          <p:attrName>ppt_x</p:attrName>
                                        </p:attrNameLst>
                                      </p:cBhvr>
                                      <p:tavLst>
                                        <p:tav tm="0">
                                          <p:val>
                                            <p:strVal val="#ppt_x"/>
                                          </p:val>
                                        </p:tav>
                                        <p:tav tm="100000">
                                          <p:val>
                                            <p:strVal val="#ppt_x"/>
                                          </p:val>
                                        </p:tav>
                                      </p:tavLst>
                                    </p:anim>
                                    <p:anim calcmode="lin" valueType="num">
                                      <p:cBhvr additive="base">
                                        <p:cTn id="55" dur="500" fill="hold"/>
                                        <p:tgtEl>
                                          <p:spTgt spid="2703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3" grpId="0" build="p" autoUpdateAnimBg="0"/>
      <p:bldP spid="270339" grpId="0" build="p"/>
      <p:bldP spid="270340"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D977219A-411B-6A75-D51D-4E8888AB0A52}"/>
              </a:ext>
            </a:extLst>
          </p:cNvPr>
          <p:cNvSpPr>
            <a:spLocks noGrp="1" noChangeArrowheads="1"/>
          </p:cNvSpPr>
          <p:nvPr>
            <p:ph type="title"/>
          </p:nvPr>
        </p:nvSpPr>
        <p:spPr>
          <a:xfrm>
            <a:off x="841375" y="206425"/>
            <a:ext cx="7469329" cy="670080"/>
          </a:xfrm>
        </p:spPr>
        <p:txBody>
          <a:bodyPr/>
          <a:lstStyle/>
          <a:p>
            <a:pPr algn="l" eaLnBrk="1" hangingPunct="1"/>
            <a:r>
              <a:rPr lang="zh-CN" altLang="en-US" dirty="0"/>
              <a:t>例</a:t>
            </a:r>
            <a:r>
              <a:rPr lang="en-US" altLang="zh-CN" dirty="0"/>
              <a:t>1  </a:t>
            </a:r>
            <a:r>
              <a:rPr lang="zh-CN" altLang="en-US" dirty="0"/>
              <a:t>贝努里序列</a:t>
            </a:r>
          </a:p>
        </p:txBody>
      </p:sp>
      <p:sp>
        <p:nvSpPr>
          <p:cNvPr id="271363" name="Rectangle 3">
            <a:extLst>
              <a:ext uri="{FF2B5EF4-FFF2-40B4-BE49-F238E27FC236}">
                <a16:creationId xmlns:a16="http://schemas.microsoft.com/office/drawing/2014/main" id="{ABEDE8CB-9520-7A65-5C4F-68A440E294AA}"/>
              </a:ext>
            </a:extLst>
          </p:cNvPr>
          <p:cNvSpPr>
            <a:spLocks noGrp="1" noChangeArrowheads="1"/>
          </p:cNvSpPr>
          <p:nvPr>
            <p:ph idx="1"/>
          </p:nvPr>
        </p:nvSpPr>
        <p:spPr>
          <a:xfrm>
            <a:off x="307904" y="969736"/>
            <a:ext cx="10972800" cy="1025762"/>
          </a:xfrm>
        </p:spPr>
        <p:txBody>
          <a:bodyPr>
            <a:normAutofit/>
          </a:bodyPr>
          <a:lstStyle/>
          <a:p>
            <a:pPr eaLnBrk="1" hangingPunct="1">
              <a:buFont typeface="Wingdings" panose="05000000000000000000" pitchFamily="2" charset="2"/>
              <a:buNone/>
            </a:pPr>
            <a:r>
              <a:rPr lang="en-US" altLang="zh-CN" dirty="0">
                <a:sym typeface="Symbol" panose="05050102010706020507" pitchFamily="18" charset="2"/>
              </a:rPr>
              <a:t>	</a:t>
            </a:r>
            <a:r>
              <a:rPr lang="zh-CN" altLang="en-US" dirty="0">
                <a:sym typeface="Symbol" panose="05050102010706020507" pitchFamily="18" charset="2"/>
              </a:rPr>
              <a:t>如上节例</a:t>
            </a:r>
            <a:r>
              <a:rPr lang="en-US" altLang="zh-CN" dirty="0">
                <a:sym typeface="Symbol" panose="05050102010706020507" pitchFamily="18" charset="2"/>
              </a:rPr>
              <a:t>2</a:t>
            </a:r>
            <a:r>
              <a:rPr lang="zh-CN" altLang="en-US" dirty="0">
                <a:sym typeface="Symbol" panose="05050102010706020507" pitchFamily="18" charset="2"/>
              </a:rPr>
              <a:t>所述，贝努里序列是一个齐次马氏链，其转移矩阵为</a:t>
            </a:r>
          </a:p>
        </p:txBody>
      </p:sp>
      <p:graphicFrame>
        <p:nvGraphicFramePr>
          <p:cNvPr id="271364" name="Object 4">
            <a:extLst>
              <a:ext uri="{FF2B5EF4-FFF2-40B4-BE49-F238E27FC236}">
                <a16:creationId xmlns:a16="http://schemas.microsoft.com/office/drawing/2014/main" id="{4C8A4B86-488B-34ED-AB9F-52C723C790D7}"/>
              </a:ext>
            </a:extLst>
          </p:cNvPr>
          <p:cNvGraphicFramePr>
            <a:graphicFrameLocks noChangeAspect="1"/>
          </p:cNvGraphicFramePr>
          <p:nvPr/>
        </p:nvGraphicFramePr>
        <p:xfrm>
          <a:off x="4803474" y="2070546"/>
          <a:ext cx="1981659" cy="1222658"/>
        </p:xfrm>
        <a:graphic>
          <a:graphicData uri="http://schemas.openxmlformats.org/presentationml/2006/ole">
            <mc:AlternateContent xmlns:mc="http://schemas.openxmlformats.org/markup-compatibility/2006">
              <mc:Choice xmlns:v="urn:schemas-microsoft-com:vml" Requires="v">
                <p:oleObj name="Equation" r:id="rId3" imgW="761669" imgH="469696" progId="Equation.3">
                  <p:embed/>
                </p:oleObj>
              </mc:Choice>
              <mc:Fallback>
                <p:oleObj name="Equation" r:id="rId3" imgW="761669" imgH="469696" progId="Equation.3">
                  <p:embed/>
                  <p:pic>
                    <p:nvPicPr>
                      <p:cNvPr id="271364" name="Object 4">
                        <a:extLst>
                          <a:ext uri="{FF2B5EF4-FFF2-40B4-BE49-F238E27FC236}">
                            <a16:creationId xmlns:a16="http://schemas.microsoft.com/office/drawing/2014/main" id="{4C8A4B86-488B-34ED-AB9F-52C723C790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3474" y="2070546"/>
                        <a:ext cx="1981659" cy="1222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1365" name="Rectangle 5">
            <a:extLst>
              <a:ext uri="{FF2B5EF4-FFF2-40B4-BE49-F238E27FC236}">
                <a16:creationId xmlns:a16="http://schemas.microsoft.com/office/drawing/2014/main" id="{EB82028D-51E7-4403-4F50-F8230FBDC024}"/>
              </a:ext>
            </a:extLst>
          </p:cNvPr>
          <p:cNvSpPr>
            <a:spLocks noChangeArrowheads="1"/>
          </p:cNvSpPr>
          <p:nvPr/>
        </p:nvSpPr>
        <p:spPr bwMode="auto">
          <a:xfrm>
            <a:off x="688975" y="3817586"/>
            <a:ext cx="10972800"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
                <a:srgbClr val="00FF00"/>
              </a:buClr>
              <a:buFont typeface="Wingdings" panose="05000000000000000000" pitchFamily="2" charset="2"/>
              <a:buNone/>
            </a:pPr>
            <a:r>
              <a:rPr lang="en-US" altLang="zh-CN" sz="2400" dirty="0">
                <a:solidFill>
                  <a:srgbClr val="000000"/>
                </a:solidFill>
                <a:latin typeface="+mn-ea"/>
                <a:ea typeface="+mn-ea"/>
                <a:sym typeface="Symbol" panose="05050102010706020507" pitchFamily="18" charset="2"/>
              </a:rPr>
              <a:t>    </a:t>
            </a:r>
            <a:r>
              <a:rPr lang="zh-CN" altLang="en-US" sz="2400" dirty="0">
                <a:solidFill>
                  <a:srgbClr val="000000"/>
                </a:solidFill>
                <a:latin typeface="+mn-ea"/>
                <a:ea typeface="+mn-ea"/>
                <a:sym typeface="Symbol" panose="05050102010706020507" pitchFamily="18" charset="2"/>
              </a:rPr>
              <a:t>一般地，</a:t>
            </a:r>
            <a:r>
              <a:rPr lang="zh-CN" altLang="en-US" sz="2400" dirty="0">
                <a:solidFill>
                  <a:srgbClr val="0000FF"/>
                </a:solidFill>
                <a:latin typeface="+mn-ea"/>
                <a:ea typeface="+mn-ea"/>
                <a:sym typeface="Symbol" panose="05050102010706020507" pitchFamily="18" charset="2"/>
              </a:rPr>
              <a:t>独立同分布的离散随机变量序列</a:t>
            </a:r>
            <a:r>
              <a:rPr lang="en-US" altLang="zh-CN" sz="2400" dirty="0">
                <a:solidFill>
                  <a:srgbClr val="0000FF"/>
                </a:solidFill>
                <a:latin typeface="+mn-ea"/>
                <a:ea typeface="+mn-ea"/>
                <a:sym typeface="Symbol" panose="05050102010706020507" pitchFamily="18" charset="2"/>
              </a:rPr>
              <a:t>{X(n),n=0,1,2,…}</a:t>
            </a:r>
            <a:r>
              <a:rPr lang="zh-CN" altLang="en-US" sz="2400" dirty="0">
                <a:solidFill>
                  <a:srgbClr val="0000FF"/>
                </a:solidFill>
                <a:latin typeface="+mn-ea"/>
                <a:ea typeface="+mn-ea"/>
                <a:sym typeface="Symbol" panose="05050102010706020507" pitchFamily="18" charset="2"/>
              </a:rPr>
              <a:t>都是齐次马氏链</a:t>
            </a:r>
            <a:r>
              <a:rPr lang="zh-CN" altLang="en-US" sz="2400" dirty="0">
                <a:solidFill>
                  <a:srgbClr val="000000"/>
                </a:solidFill>
                <a:latin typeface="+mn-ea"/>
                <a:ea typeface="+mn-ea"/>
              </a:rPr>
              <a:t>。  </a:t>
            </a:r>
            <a:endParaRPr lang="zh-CN" altLang="en-US" sz="2400" dirty="0">
              <a:solidFill>
                <a:srgbClr val="000000"/>
              </a:solidFill>
              <a:latin typeface="+mn-ea"/>
              <a:ea typeface="+mn-ea"/>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1363">
                                            <p:txEl>
                                              <p:pRg st="0" end="0"/>
                                            </p:txEl>
                                          </p:spTgt>
                                        </p:tgtEl>
                                        <p:attrNameLst>
                                          <p:attrName>style.visibility</p:attrName>
                                        </p:attrNameLst>
                                      </p:cBhvr>
                                      <p:to>
                                        <p:strVal val="visible"/>
                                      </p:to>
                                    </p:set>
                                    <p:anim calcmode="lin" valueType="num">
                                      <p:cBhvr additive="base">
                                        <p:cTn id="7" dur="500" fill="hold"/>
                                        <p:tgtEl>
                                          <p:spTgt spid="271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136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271364"/>
                                        </p:tgtEl>
                                        <p:attrNameLst>
                                          <p:attrName>style.visibility</p:attrName>
                                        </p:attrNameLst>
                                      </p:cBhvr>
                                      <p:to>
                                        <p:strVal val="visible"/>
                                      </p:to>
                                    </p:set>
                                    <p:anim calcmode="lin" valueType="num">
                                      <p:cBhvr additive="base">
                                        <p:cTn id="12" dur="500" fill="hold"/>
                                        <p:tgtEl>
                                          <p:spTgt spid="271364"/>
                                        </p:tgtEl>
                                        <p:attrNameLst>
                                          <p:attrName>ppt_x</p:attrName>
                                        </p:attrNameLst>
                                      </p:cBhvr>
                                      <p:tavLst>
                                        <p:tav tm="0">
                                          <p:val>
                                            <p:strVal val="#ppt_x"/>
                                          </p:val>
                                        </p:tav>
                                        <p:tav tm="100000">
                                          <p:val>
                                            <p:strVal val="#ppt_x"/>
                                          </p:val>
                                        </p:tav>
                                      </p:tavLst>
                                    </p:anim>
                                    <p:anim calcmode="lin" valueType="num">
                                      <p:cBhvr additive="base">
                                        <p:cTn id="13" dur="500" fill="hold"/>
                                        <p:tgtEl>
                                          <p:spTgt spid="27136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71365"/>
                                        </p:tgtEl>
                                        <p:attrNameLst>
                                          <p:attrName>style.visibility</p:attrName>
                                        </p:attrNameLst>
                                      </p:cBhvr>
                                      <p:to>
                                        <p:strVal val="visible"/>
                                      </p:to>
                                    </p:set>
                                    <p:anim calcmode="lin" valueType="num">
                                      <p:cBhvr additive="base">
                                        <p:cTn id="18" dur="500" fill="hold"/>
                                        <p:tgtEl>
                                          <p:spTgt spid="271365"/>
                                        </p:tgtEl>
                                        <p:attrNameLst>
                                          <p:attrName>ppt_x</p:attrName>
                                        </p:attrNameLst>
                                      </p:cBhvr>
                                      <p:tavLst>
                                        <p:tav tm="0">
                                          <p:val>
                                            <p:strVal val="#ppt_x"/>
                                          </p:val>
                                        </p:tav>
                                        <p:tav tm="100000">
                                          <p:val>
                                            <p:strVal val="#ppt_x"/>
                                          </p:val>
                                        </p:tav>
                                      </p:tavLst>
                                    </p:anim>
                                    <p:anim calcmode="lin" valueType="num">
                                      <p:cBhvr additive="base">
                                        <p:cTn id="19" dur="500" fill="hold"/>
                                        <p:tgtEl>
                                          <p:spTgt spid="2713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3" grpId="0" build="p"/>
      <p:bldP spid="27136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8D8B8F7-177C-42BB-FD02-0B283D04920A}"/>
              </a:ext>
            </a:extLst>
          </p:cNvPr>
          <p:cNvSpPr>
            <a:spLocks noGrp="1" noChangeArrowheads="1"/>
          </p:cNvSpPr>
          <p:nvPr>
            <p:ph type="title"/>
          </p:nvPr>
        </p:nvSpPr>
        <p:spPr>
          <a:xfrm>
            <a:off x="765175" y="305594"/>
            <a:ext cx="5334000" cy="429419"/>
          </a:xfrm>
        </p:spPr>
        <p:txBody>
          <a:bodyPr/>
          <a:lstStyle/>
          <a:p>
            <a:pPr algn="l" eaLnBrk="1" hangingPunct="1"/>
            <a:r>
              <a:rPr lang="zh-CN" altLang="en-US" dirty="0"/>
              <a:t>例</a:t>
            </a:r>
            <a:r>
              <a:rPr lang="en-US" altLang="zh-CN" dirty="0"/>
              <a:t>2  </a:t>
            </a:r>
            <a:r>
              <a:rPr lang="zh-CN" altLang="en-US" dirty="0"/>
              <a:t>随机游动</a:t>
            </a:r>
          </a:p>
        </p:txBody>
      </p:sp>
      <p:sp>
        <p:nvSpPr>
          <p:cNvPr id="272387" name="Rectangle 3">
            <a:extLst>
              <a:ext uri="{FF2B5EF4-FFF2-40B4-BE49-F238E27FC236}">
                <a16:creationId xmlns:a16="http://schemas.microsoft.com/office/drawing/2014/main" id="{37DC8E7E-4CBA-1E2C-54F9-5880A4E0D80A}"/>
              </a:ext>
            </a:extLst>
          </p:cNvPr>
          <p:cNvSpPr>
            <a:spLocks noGrp="1" noChangeArrowheads="1"/>
          </p:cNvSpPr>
          <p:nvPr>
            <p:ph idx="1"/>
          </p:nvPr>
        </p:nvSpPr>
        <p:spPr>
          <a:xfrm>
            <a:off x="307975" y="1125799"/>
            <a:ext cx="11811000" cy="5335235"/>
          </a:xfrm>
        </p:spPr>
        <p:txBody>
          <a:bodyPr/>
          <a:lstStyle/>
          <a:p>
            <a:pPr marL="0" indent="0" eaLnBrk="1" hangingPunct="1">
              <a:lnSpc>
                <a:spcPct val="200000"/>
              </a:lnSpc>
              <a:buFont typeface="Wingdings" panose="05000000000000000000" pitchFamily="2" charset="2"/>
              <a:buNone/>
            </a:pPr>
            <a:r>
              <a:rPr lang="zh-CN" altLang="en-US" dirty="0"/>
              <a:t>一质点在数轴上的整数点上作随机游动的，</a:t>
            </a:r>
            <a:r>
              <a:rPr lang="zh-CN" altLang="en-US" dirty="0">
                <a:sym typeface="Symbol" panose="05050102010706020507" pitchFamily="18" charset="2"/>
              </a:rPr>
              <a:t>以</a:t>
            </a:r>
            <a:r>
              <a:rPr lang="en-US" altLang="zh-CN" dirty="0">
                <a:sym typeface="Symbol" panose="05050102010706020507" pitchFamily="18" charset="2"/>
              </a:rPr>
              <a:t>X(n)</a:t>
            </a:r>
            <a:r>
              <a:rPr lang="zh-CN" altLang="en-US" dirty="0">
                <a:sym typeface="Symbol" panose="05050102010706020507" pitchFamily="18" charset="2"/>
              </a:rPr>
              <a:t>表示时刻</a:t>
            </a:r>
            <a:r>
              <a:rPr lang="en-US" altLang="zh-CN" dirty="0">
                <a:sym typeface="Symbol" panose="05050102010706020507" pitchFamily="18" charset="2"/>
              </a:rPr>
              <a:t>n</a:t>
            </a:r>
            <a:r>
              <a:rPr lang="zh-CN" altLang="en-US" dirty="0">
                <a:sym typeface="Symbol" panose="05050102010706020507" pitchFamily="18" charset="2"/>
              </a:rPr>
              <a:t>质点的位置。质点在某一</a:t>
            </a:r>
            <a:r>
              <a:rPr lang="zh-CN" altLang="en-US" dirty="0"/>
              <a:t>时刻</a:t>
            </a:r>
            <a:r>
              <a:rPr lang="en-US" altLang="zh-CN" dirty="0"/>
              <a:t>m</a:t>
            </a:r>
            <a:r>
              <a:rPr lang="zh-CN" altLang="en-US" dirty="0"/>
              <a:t>时处于状态</a:t>
            </a:r>
            <a:r>
              <a:rPr lang="en-US" altLang="zh-CN" dirty="0" err="1"/>
              <a:t>i</a:t>
            </a:r>
            <a:r>
              <a:rPr lang="zh-CN" altLang="en-US" dirty="0">
                <a:sym typeface="Symbol" panose="05050102010706020507" pitchFamily="18" charset="2"/>
              </a:rPr>
              <a:t>，即</a:t>
            </a:r>
            <a:r>
              <a:rPr lang="en-US" altLang="zh-CN" dirty="0">
                <a:sym typeface="Symbol" panose="05050102010706020507" pitchFamily="18" charset="2"/>
              </a:rPr>
              <a:t>X(m)=</a:t>
            </a:r>
            <a:r>
              <a:rPr lang="en-US" altLang="zh-CN" dirty="0" err="1">
                <a:sym typeface="Symbol" panose="05050102010706020507" pitchFamily="18" charset="2"/>
              </a:rPr>
              <a:t>i</a:t>
            </a:r>
            <a:r>
              <a:rPr lang="zh-CN" altLang="en-US" dirty="0">
                <a:sym typeface="Symbol" panose="05050102010706020507" pitchFamily="18" charset="2"/>
              </a:rPr>
              <a:t>，则下一步以概率</a:t>
            </a:r>
            <a:r>
              <a:rPr lang="en-US" altLang="zh-CN" dirty="0">
                <a:sym typeface="Symbol" panose="05050102010706020507" pitchFamily="18" charset="2"/>
              </a:rPr>
              <a:t>q</a:t>
            </a:r>
            <a:r>
              <a:rPr lang="zh-CN" altLang="en-US" dirty="0">
                <a:sym typeface="Symbol" panose="05050102010706020507" pitchFamily="18" charset="2"/>
              </a:rPr>
              <a:t>左移到状态</a:t>
            </a:r>
            <a:r>
              <a:rPr lang="en-US" altLang="zh-CN" dirty="0">
                <a:sym typeface="Symbol" panose="05050102010706020507" pitchFamily="18" charset="2"/>
              </a:rPr>
              <a:t>i-1</a:t>
            </a:r>
            <a:r>
              <a:rPr lang="zh-CN" altLang="en-US" dirty="0">
                <a:sym typeface="Symbol" panose="05050102010706020507" pitchFamily="18" charset="2"/>
              </a:rPr>
              <a:t>，即</a:t>
            </a:r>
            <a:r>
              <a:rPr lang="en-US" altLang="zh-CN" dirty="0">
                <a:sym typeface="Symbol" panose="05050102010706020507" pitchFamily="18" charset="2"/>
              </a:rPr>
              <a:t>p</a:t>
            </a:r>
            <a:r>
              <a:rPr lang="en-US" altLang="zh-CN" baseline="-25000" dirty="0">
                <a:sym typeface="Symbol" panose="05050102010706020507" pitchFamily="18" charset="2"/>
              </a:rPr>
              <a:t>i,i-1</a:t>
            </a:r>
            <a:r>
              <a:rPr lang="en-US" altLang="zh-CN" dirty="0">
                <a:sym typeface="Symbol" panose="05050102010706020507" pitchFamily="18" charset="2"/>
              </a:rPr>
              <a:t>(m,1)=q</a:t>
            </a:r>
            <a:r>
              <a:rPr lang="zh-CN" altLang="en-US" dirty="0">
                <a:sym typeface="Symbol" panose="05050102010706020507" pitchFamily="18" charset="2"/>
              </a:rPr>
              <a:t>；而以概率</a:t>
            </a:r>
            <a:r>
              <a:rPr lang="en-US" altLang="zh-CN" dirty="0">
                <a:sym typeface="Symbol" panose="05050102010706020507" pitchFamily="18" charset="2"/>
              </a:rPr>
              <a:t>p</a:t>
            </a:r>
            <a:r>
              <a:rPr lang="zh-CN" altLang="en-US" dirty="0">
                <a:sym typeface="Symbol" panose="05050102010706020507" pitchFamily="18" charset="2"/>
              </a:rPr>
              <a:t>右移到状态</a:t>
            </a:r>
            <a:r>
              <a:rPr lang="en-US" altLang="zh-CN" dirty="0">
                <a:sym typeface="Symbol" panose="05050102010706020507" pitchFamily="18" charset="2"/>
              </a:rPr>
              <a:t>i+1</a:t>
            </a:r>
            <a:r>
              <a:rPr lang="zh-CN" altLang="en-US" dirty="0">
                <a:sym typeface="Symbol" panose="05050102010706020507" pitchFamily="18" charset="2"/>
              </a:rPr>
              <a:t>，即</a:t>
            </a:r>
            <a:r>
              <a:rPr lang="en-US" altLang="zh-CN" dirty="0">
                <a:sym typeface="Symbol" panose="05050102010706020507" pitchFamily="18" charset="2"/>
              </a:rPr>
              <a:t>p</a:t>
            </a:r>
            <a:r>
              <a:rPr lang="en-US" altLang="zh-CN" baseline="-25000" dirty="0">
                <a:sym typeface="Symbol" panose="05050102010706020507" pitchFamily="18" charset="2"/>
              </a:rPr>
              <a:t>i,i+1</a:t>
            </a:r>
            <a:r>
              <a:rPr lang="en-US" altLang="zh-CN" dirty="0">
                <a:sym typeface="Symbol" panose="05050102010706020507" pitchFamily="18" charset="2"/>
              </a:rPr>
              <a:t>(m,1)=p</a:t>
            </a:r>
            <a:r>
              <a:rPr lang="zh-CN" altLang="en-US" dirty="0">
                <a:sym typeface="Symbol" panose="05050102010706020507" pitchFamily="18" charset="2"/>
              </a:rPr>
              <a:t>。因而质点将来所处的状态</a:t>
            </a:r>
            <a:r>
              <a:rPr lang="en-US" altLang="zh-CN" dirty="0">
                <a:sym typeface="Symbol" panose="05050102010706020507" pitchFamily="18" charset="2"/>
              </a:rPr>
              <a:t>X(m+1), X(m+2),…,X(</a:t>
            </a:r>
            <a:r>
              <a:rPr lang="en-US" altLang="zh-CN" dirty="0" err="1">
                <a:sym typeface="Symbol" panose="05050102010706020507" pitchFamily="18" charset="2"/>
              </a:rPr>
              <a:t>m+k</a:t>
            </a:r>
            <a:r>
              <a:rPr lang="en-US" altLang="zh-CN" dirty="0">
                <a:sym typeface="Symbol" panose="05050102010706020507" pitchFamily="18" charset="2"/>
              </a:rPr>
              <a:t>)</a:t>
            </a:r>
            <a:r>
              <a:rPr lang="zh-CN" altLang="en-US" dirty="0">
                <a:sym typeface="Symbol" panose="05050102010706020507" pitchFamily="18" charset="2"/>
              </a:rPr>
              <a:t>等仅与现在所处的状态</a:t>
            </a:r>
            <a:r>
              <a:rPr lang="en-US" altLang="zh-CN" dirty="0">
                <a:sym typeface="Symbol" panose="05050102010706020507" pitchFamily="18" charset="2"/>
              </a:rPr>
              <a:t>X(m)=</a:t>
            </a:r>
            <a:r>
              <a:rPr lang="en-US" altLang="zh-CN" dirty="0" err="1">
                <a:sym typeface="Symbol" panose="05050102010706020507" pitchFamily="18" charset="2"/>
              </a:rPr>
              <a:t>i</a:t>
            </a:r>
            <a:r>
              <a:rPr lang="zh-CN" altLang="en-US" dirty="0">
                <a:sym typeface="Symbol" panose="05050102010706020507" pitchFamily="18" charset="2"/>
              </a:rPr>
              <a:t>有关，而与过去所处的状态无关。因此，随机游动</a:t>
            </a:r>
            <a:r>
              <a:rPr lang="en-US" altLang="zh-CN" dirty="0">
                <a:sym typeface="Symbol" panose="05050102010706020507" pitchFamily="18" charset="2"/>
              </a:rPr>
              <a:t>{X(n),n=0,1,2,…}</a:t>
            </a:r>
            <a:r>
              <a:rPr lang="zh-CN" altLang="en-US" dirty="0">
                <a:sym typeface="Symbol" panose="05050102010706020507" pitchFamily="18" charset="2"/>
              </a:rPr>
              <a:t>是齐次马氏链。随机游动的统计特征由它在边界的特点决定，下面给出几种特殊的情形。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2387">
                                            <p:txEl>
                                              <p:pRg st="0" end="0"/>
                                            </p:txEl>
                                          </p:spTgt>
                                        </p:tgtEl>
                                        <p:attrNameLst>
                                          <p:attrName>style.visibility</p:attrName>
                                        </p:attrNameLst>
                                      </p:cBhvr>
                                      <p:to>
                                        <p:strVal val="visible"/>
                                      </p:to>
                                    </p:set>
                                    <p:anim calcmode="lin" valueType="num">
                                      <p:cBhvr additive="base">
                                        <p:cTn id="7" dur="500" fill="hold"/>
                                        <p:tgtEl>
                                          <p:spTgt spid="272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238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ACD0B2C-C142-9537-F230-4B0D25241C3F}"/>
              </a:ext>
            </a:extLst>
          </p:cNvPr>
          <p:cNvSpPr>
            <a:spLocks noGrp="1" noChangeArrowheads="1"/>
          </p:cNvSpPr>
          <p:nvPr>
            <p:ph type="title"/>
          </p:nvPr>
        </p:nvSpPr>
        <p:spPr/>
        <p:txBody>
          <a:bodyPr/>
          <a:lstStyle/>
          <a:p>
            <a:pPr algn="l" eaLnBrk="1" hangingPunct="1"/>
            <a:r>
              <a:rPr lang="en-US" altLang="zh-CN"/>
              <a:t>1.</a:t>
            </a:r>
            <a:r>
              <a:rPr lang="zh-CN" altLang="en-US"/>
              <a:t>自由</a:t>
            </a:r>
            <a:r>
              <a:rPr lang="en-US" altLang="zh-CN"/>
              <a:t>(</a:t>
            </a:r>
            <a:r>
              <a:rPr lang="zh-CN" altLang="en-US"/>
              <a:t>无限制</a:t>
            </a:r>
            <a:r>
              <a:rPr lang="en-US" altLang="zh-CN"/>
              <a:t>)</a:t>
            </a:r>
            <a:r>
              <a:rPr lang="zh-CN" altLang="en-US"/>
              <a:t>随机游动</a:t>
            </a:r>
          </a:p>
        </p:txBody>
      </p:sp>
      <p:sp>
        <p:nvSpPr>
          <p:cNvPr id="273411" name="Rectangle 3">
            <a:extLst>
              <a:ext uri="{FF2B5EF4-FFF2-40B4-BE49-F238E27FC236}">
                <a16:creationId xmlns:a16="http://schemas.microsoft.com/office/drawing/2014/main" id="{08CAC8E2-D93D-5093-AC59-CC45138B2F9B}"/>
              </a:ext>
            </a:extLst>
          </p:cNvPr>
          <p:cNvSpPr>
            <a:spLocks noGrp="1" noChangeArrowheads="1"/>
          </p:cNvSpPr>
          <p:nvPr>
            <p:ph idx="1"/>
          </p:nvPr>
        </p:nvSpPr>
        <p:spPr>
          <a:xfrm>
            <a:off x="307975" y="1268706"/>
            <a:ext cx="11344275" cy="1667261"/>
          </a:xfrm>
        </p:spPr>
        <p:txBody>
          <a:bodyPr>
            <a:normAutofit/>
          </a:bodyPr>
          <a:lstStyle/>
          <a:p>
            <a:pPr eaLnBrk="1" hangingPunct="1">
              <a:buFont typeface="Wingdings" panose="05000000000000000000" pitchFamily="2" charset="2"/>
              <a:buNone/>
            </a:pPr>
            <a:r>
              <a:rPr lang="en-US" altLang="zh-CN" dirty="0"/>
              <a:t>	</a:t>
            </a:r>
            <a:r>
              <a:rPr lang="zh-CN" altLang="en-US" dirty="0"/>
              <a:t>状态空间</a:t>
            </a:r>
            <a:r>
              <a:rPr lang="en-US" altLang="zh-CN" dirty="0"/>
              <a:t>E</a:t>
            </a:r>
            <a:r>
              <a:rPr lang="zh-CN" altLang="en-US" dirty="0"/>
              <a:t>＝</a:t>
            </a:r>
            <a:r>
              <a:rPr lang="en-US" altLang="zh-CN" dirty="0"/>
              <a:t>{…,-2,-1,0,1,2,…}</a:t>
            </a:r>
            <a:r>
              <a:rPr lang="zh-CN" altLang="en-US" dirty="0"/>
              <a:t>两端无限制。转移概率：</a:t>
            </a:r>
          </a:p>
          <a:p>
            <a:pPr algn="ctr" eaLnBrk="1" hangingPunct="1">
              <a:buFont typeface="Wingdings" panose="05000000000000000000" pitchFamily="2" charset="2"/>
              <a:buNone/>
            </a:pPr>
            <a:r>
              <a:rPr lang="en-US" altLang="zh-CN" dirty="0"/>
              <a:t>p</a:t>
            </a:r>
            <a:r>
              <a:rPr lang="en-US" altLang="zh-CN" baseline="-25000" dirty="0"/>
              <a:t>i,i-1</a:t>
            </a:r>
            <a:r>
              <a:rPr lang="zh-CN" altLang="en-US" dirty="0"/>
              <a:t>＝</a:t>
            </a:r>
            <a:r>
              <a:rPr lang="en-US" altLang="zh-CN" dirty="0"/>
              <a:t>q</a:t>
            </a:r>
            <a:r>
              <a:rPr lang="zh-CN" altLang="en-US" dirty="0"/>
              <a:t>，</a:t>
            </a:r>
            <a:r>
              <a:rPr lang="en-US" altLang="zh-CN" dirty="0"/>
              <a:t>p</a:t>
            </a:r>
            <a:r>
              <a:rPr lang="en-US" altLang="zh-CN" baseline="-25000" dirty="0"/>
              <a:t>i,i+1</a:t>
            </a:r>
            <a:r>
              <a:rPr lang="zh-CN" altLang="en-US" dirty="0"/>
              <a:t>＝</a:t>
            </a:r>
            <a:r>
              <a:rPr lang="en-US" altLang="zh-CN" dirty="0"/>
              <a:t>p</a:t>
            </a:r>
            <a:r>
              <a:rPr lang="zh-CN" altLang="en-US" dirty="0"/>
              <a:t>，其余</a:t>
            </a:r>
            <a:r>
              <a:rPr lang="en-US" altLang="zh-CN" dirty="0" err="1"/>
              <a:t>p</a:t>
            </a:r>
            <a:r>
              <a:rPr lang="en-US" altLang="zh-CN" baseline="-25000" dirty="0" err="1"/>
              <a:t>i,j</a:t>
            </a:r>
            <a:r>
              <a:rPr lang="zh-CN" altLang="en-US" dirty="0"/>
              <a:t>＝</a:t>
            </a:r>
            <a:r>
              <a:rPr lang="en-US" altLang="zh-CN" dirty="0"/>
              <a:t>0</a:t>
            </a:r>
            <a:r>
              <a:rPr lang="zh-CN" altLang="en-US" dirty="0"/>
              <a:t>，</a:t>
            </a:r>
            <a:r>
              <a:rPr lang="en-US" altLang="zh-CN" dirty="0"/>
              <a:t>j</a:t>
            </a:r>
            <a:r>
              <a:rPr lang="en-US" altLang="zh-CN" dirty="0">
                <a:sym typeface="Symbol" panose="05050102010706020507" pitchFamily="18" charset="2"/>
              </a:rPr>
              <a:t>i-1,i+1</a:t>
            </a:r>
          </a:p>
        </p:txBody>
      </p:sp>
      <p:graphicFrame>
        <p:nvGraphicFramePr>
          <p:cNvPr id="273412" name="Object 4">
            <a:extLst>
              <a:ext uri="{FF2B5EF4-FFF2-40B4-BE49-F238E27FC236}">
                <a16:creationId xmlns:a16="http://schemas.microsoft.com/office/drawing/2014/main" id="{2BC6FA17-1414-CFD5-8379-B7471F67C10D}"/>
              </a:ext>
            </a:extLst>
          </p:cNvPr>
          <p:cNvGraphicFramePr>
            <a:graphicFrameLocks noChangeAspect="1"/>
          </p:cNvGraphicFramePr>
          <p:nvPr/>
        </p:nvGraphicFramePr>
        <p:xfrm>
          <a:off x="2822575" y="2927757"/>
          <a:ext cx="6021193" cy="2524709"/>
        </p:xfrm>
        <a:graphic>
          <a:graphicData uri="http://schemas.openxmlformats.org/presentationml/2006/ole">
            <mc:AlternateContent xmlns:mc="http://schemas.openxmlformats.org/markup-compatibility/2006">
              <mc:Choice xmlns:v="urn:schemas-microsoft-com:vml" Requires="v">
                <p:oleObj name="Equation" r:id="rId3" imgW="2755900" imgH="1155700" progId="Equation.3">
                  <p:embed/>
                </p:oleObj>
              </mc:Choice>
              <mc:Fallback>
                <p:oleObj name="Equation" r:id="rId3" imgW="2755900" imgH="1155700" progId="Equation.3">
                  <p:embed/>
                  <p:pic>
                    <p:nvPicPr>
                      <p:cNvPr id="273412" name="Object 4">
                        <a:extLst>
                          <a:ext uri="{FF2B5EF4-FFF2-40B4-BE49-F238E27FC236}">
                            <a16:creationId xmlns:a16="http://schemas.microsoft.com/office/drawing/2014/main" id="{2BC6FA17-1414-CFD5-8379-B7471F67C1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2575" y="2927757"/>
                        <a:ext cx="6021193" cy="25247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3413" name="Rectangle 5">
            <a:extLst>
              <a:ext uri="{FF2B5EF4-FFF2-40B4-BE49-F238E27FC236}">
                <a16:creationId xmlns:a16="http://schemas.microsoft.com/office/drawing/2014/main" id="{92E503D5-6A89-D474-62FF-831321DB1BA0}"/>
              </a:ext>
            </a:extLst>
          </p:cNvPr>
          <p:cNvSpPr>
            <a:spLocks noChangeArrowheads="1"/>
          </p:cNvSpPr>
          <p:nvPr/>
        </p:nvSpPr>
        <p:spPr bwMode="auto">
          <a:xfrm>
            <a:off x="917575" y="3734594"/>
            <a:ext cx="2886290" cy="657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
                <a:srgbClr val="00FF00"/>
              </a:buClr>
              <a:buFont typeface="Wingdings" panose="05000000000000000000" pitchFamily="2" charset="2"/>
              <a:buNone/>
            </a:pPr>
            <a:r>
              <a:rPr lang="zh-CN" altLang="en-US" sz="2801" dirty="0">
                <a:solidFill>
                  <a:srgbClr val="000000"/>
                </a:solidFill>
                <a:sym typeface="Symbol" panose="05050102010706020507" pitchFamily="18" charset="2"/>
              </a:rPr>
              <a:t>转移矩阵：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73411">
                                            <p:txEl>
                                              <p:pRg st="0" end="0"/>
                                            </p:txEl>
                                          </p:spTgt>
                                        </p:tgtEl>
                                        <p:attrNameLst>
                                          <p:attrName>style.visibility</p:attrName>
                                        </p:attrNameLst>
                                      </p:cBhvr>
                                      <p:to>
                                        <p:strVal val="visible"/>
                                      </p:to>
                                    </p:set>
                                    <p:anim calcmode="lin" valueType="num">
                                      <p:cBhvr additive="base">
                                        <p:cTn id="7" dur="500" fill="hold"/>
                                        <p:tgtEl>
                                          <p:spTgt spid="2734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73411">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73411">
                                            <p:txEl>
                                              <p:pRg st="1" end="1"/>
                                            </p:txEl>
                                          </p:spTgt>
                                        </p:tgtEl>
                                        <p:attrNameLst>
                                          <p:attrName>style.visibility</p:attrName>
                                        </p:attrNameLst>
                                      </p:cBhvr>
                                      <p:to>
                                        <p:strVal val="visible"/>
                                      </p:to>
                                    </p:set>
                                    <p:anim calcmode="lin" valueType="num">
                                      <p:cBhvr additive="base">
                                        <p:cTn id="12" dur="500" fill="hold"/>
                                        <p:tgtEl>
                                          <p:spTgt spid="273411">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73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73413"/>
                                        </p:tgtEl>
                                        <p:attrNameLst>
                                          <p:attrName>style.visibility</p:attrName>
                                        </p:attrNameLst>
                                      </p:cBhvr>
                                      <p:to>
                                        <p:strVal val="visible"/>
                                      </p:to>
                                    </p:set>
                                    <p:anim calcmode="lin" valueType="num">
                                      <p:cBhvr additive="base">
                                        <p:cTn id="18" dur="500" fill="hold"/>
                                        <p:tgtEl>
                                          <p:spTgt spid="273413"/>
                                        </p:tgtEl>
                                        <p:attrNameLst>
                                          <p:attrName>ppt_x</p:attrName>
                                        </p:attrNameLst>
                                      </p:cBhvr>
                                      <p:tavLst>
                                        <p:tav tm="0">
                                          <p:val>
                                            <p:strVal val="0-#ppt_w/2"/>
                                          </p:val>
                                        </p:tav>
                                        <p:tav tm="100000">
                                          <p:val>
                                            <p:strVal val="#ppt_x"/>
                                          </p:val>
                                        </p:tav>
                                      </p:tavLst>
                                    </p:anim>
                                    <p:anim calcmode="lin" valueType="num">
                                      <p:cBhvr additive="base">
                                        <p:cTn id="19" dur="500" fill="hold"/>
                                        <p:tgtEl>
                                          <p:spTgt spid="273413"/>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8" presetClass="entr" presetSubtype="32" fill="hold" nodeType="afterEffect">
                                  <p:stCondLst>
                                    <p:cond delay="0"/>
                                  </p:stCondLst>
                                  <p:childTnLst>
                                    <p:set>
                                      <p:cBhvr>
                                        <p:cTn id="22" dur="1" fill="hold">
                                          <p:stCondLst>
                                            <p:cond delay="0"/>
                                          </p:stCondLst>
                                        </p:cTn>
                                        <p:tgtEl>
                                          <p:spTgt spid="273412"/>
                                        </p:tgtEl>
                                        <p:attrNameLst>
                                          <p:attrName>style.visibility</p:attrName>
                                        </p:attrNameLst>
                                      </p:cBhvr>
                                      <p:to>
                                        <p:strVal val="visible"/>
                                      </p:to>
                                    </p:set>
                                    <p:animEffect transition="in" filter="diamond(out)">
                                      <p:cBhvr>
                                        <p:cTn id="23" dur="2000"/>
                                        <p:tgtEl>
                                          <p:spTgt spid="273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uild="p"/>
      <p:bldP spid="27341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696F4F31-E019-F87D-2A2A-5450556198F1}"/>
              </a:ext>
            </a:extLst>
          </p:cNvPr>
          <p:cNvSpPr>
            <a:spLocks noGrp="1" noChangeArrowheads="1"/>
          </p:cNvSpPr>
          <p:nvPr>
            <p:ph type="title"/>
          </p:nvPr>
        </p:nvSpPr>
        <p:spPr/>
        <p:txBody>
          <a:bodyPr/>
          <a:lstStyle/>
          <a:p>
            <a:pPr algn="l" eaLnBrk="1" hangingPunct="1"/>
            <a:r>
              <a:rPr lang="en-US" altLang="zh-CN"/>
              <a:t>2.</a:t>
            </a:r>
            <a:r>
              <a:rPr lang="zh-CN" altLang="en-US"/>
              <a:t>两个吸收壁随机游动</a:t>
            </a:r>
          </a:p>
        </p:txBody>
      </p:sp>
      <p:sp>
        <p:nvSpPr>
          <p:cNvPr id="274435" name="Rectangle 3">
            <a:extLst>
              <a:ext uri="{FF2B5EF4-FFF2-40B4-BE49-F238E27FC236}">
                <a16:creationId xmlns:a16="http://schemas.microsoft.com/office/drawing/2014/main" id="{2AB1294B-FE3A-83F8-A95C-E422425CCB99}"/>
              </a:ext>
            </a:extLst>
          </p:cNvPr>
          <p:cNvSpPr>
            <a:spLocks noGrp="1" noChangeArrowheads="1"/>
          </p:cNvSpPr>
          <p:nvPr>
            <p:ph idx="1"/>
          </p:nvPr>
        </p:nvSpPr>
        <p:spPr>
          <a:xfrm>
            <a:off x="774700" y="1066676"/>
            <a:ext cx="11344275" cy="3299252"/>
          </a:xfrm>
        </p:spPr>
        <p:txBody>
          <a:bodyPr>
            <a:noAutofit/>
          </a:bodyPr>
          <a:lstStyle/>
          <a:p>
            <a:pPr eaLnBrk="1" hangingPunct="1">
              <a:buFont typeface="Wingdings" panose="05000000000000000000" pitchFamily="2" charset="2"/>
              <a:buNone/>
            </a:pPr>
            <a:r>
              <a:rPr lang="en-US" altLang="zh-CN" dirty="0"/>
              <a:t>	</a:t>
            </a:r>
            <a:r>
              <a:rPr lang="zh-CN" altLang="en-US" dirty="0"/>
              <a:t>状态空间</a:t>
            </a:r>
            <a:r>
              <a:rPr lang="en-US" altLang="zh-CN" dirty="0"/>
              <a:t>E</a:t>
            </a:r>
            <a:r>
              <a:rPr lang="zh-CN" altLang="en-US" dirty="0"/>
              <a:t>＝</a:t>
            </a:r>
            <a:r>
              <a:rPr lang="en-US" altLang="zh-CN" dirty="0"/>
              <a:t>{1,2,3,4,5}</a:t>
            </a:r>
            <a:r>
              <a:rPr lang="zh-CN" altLang="en-US" dirty="0"/>
              <a:t>。转移概率</a:t>
            </a:r>
          </a:p>
          <a:p>
            <a:pPr algn="ctr" eaLnBrk="1" hangingPunct="1">
              <a:buFont typeface="Wingdings" panose="05000000000000000000" pitchFamily="2" charset="2"/>
              <a:buNone/>
            </a:pPr>
            <a:r>
              <a:rPr lang="en-US" altLang="zh-CN" dirty="0"/>
              <a:t>p</a:t>
            </a:r>
            <a:r>
              <a:rPr lang="en-US" altLang="zh-CN" baseline="-25000" dirty="0"/>
              <a:t>11</a:t>
            </a:r>
            <a:r>
              <a:rPr lang="zh-CN" altLang="en-US" dirty="0"/>
              <a:t>＝</a:t>
            </a:r>
            <a:r>
              <a:rPr lang="en-US" altLang="zh-CN" dirty="0"/>
              <a:t>p</a:t>
            </a:r>
            <a:r>
              <a:rPr lang="en-US" altLang="zh-CN" baseline="-25000" dirty="0"/>
              <a:t>55</a:t>
            </a:r>
            <a:r>
              <a:rPr lang="zh-CN" altLang="en-US" dirty="0"/>
              <a:t>＝</a:t>
            </a:r>
            <a:r>
              <a:rPr lang="en-US" altLang="zh-CN" dirty="0"/>
              <a:t>1</a:t>
            </a:r>
            <a:r>
              <a:rPr lang="zh-CN" altLang="en-US" dirty="0"/>
              <a:t>；</a:t>
            </a:r>
            <a:r>
              <a:rPr lang="en-US" altLang="zh-CN" dirty="0"/>
              <a:t>p</a:t>
            </a:r>
            <a:r>
              <a:rPr lang="en-US" altLang="zh-CN" baseline="-25000" dirty="0"/>
              <a:t>1j</a:t>
            </a:r>
            <a:r>
              <a:rPr lang="zh-CN" altLang="en-US" dirty="0"/>
              <a:t>＝</a:t>
            </a:r>
            <a:r>
              <a:rPr lang="en-US" altLang="zh-CN" dirty="0"/>
              <a:t>0</a:t>
            </a:r>
            <a:r>
              <a:rPr lang="zh-CN" altLang="en-US" dirty="0"/>
              <a:t>，</a:t>
            </a:r>
            <a:r>
              <a:rPr lang="en-US" altLang="zh-CN" dirty="0"/>
              <a:t>j</a:t>
            </a:r>
            <a:r>
              <a:rPr lang="en-US" altLang="zh-CN" dirty="0">
                <a:sym typeface="Symbol" panose="05050102010706020507" pitchFamily="18" charset="2"/>
              </a:rPr>
              <a:t>1</a:t>
            </a:r>
            <a:r>
              <a:rPr lang="zh-CN" altLang="en-US" dirty="0">
                <a:sym typeface="Symbol" panose="05050102010706020507" pitchFamily="18" charset="2"/>
              </a:rPr>
              <a:t>；</a:t>
            </a:r>
            <a:r>
              <a:rPr lang="en-US" altLang="zh-CN" dirty="0"/>
              <a:t>p</a:t>
            </a:r>
            <a:r>
              <a:rPr lang="en-US" altLang="zh-CN" baseline="-25000" dirty="0"/>
              <a:t>5j</a:t>
            </a:r>
            <a:r>
              <a:rPr lang="zh-CN" altLang="en-US" dirty="0"/>
              <a:t>＝</a:t>
            </a:r>
            <a:r>
              <a:rPr lang="en-US" altLang="zh-CN" dirty="0"/>
              <a:t>0</a:t>
            </a:r>
            <a:r>
              <a:rPr lang="zh-CN" altLang="en-US" dirty="0"/>
              <a:t>，</a:t>
            </a:r>
            <a:r>
              <a:rPr lang="en-US" altLang="zh-CN" dirty="0"/>
              <a:t>j</a:t>
            </a:r>
            <a:r>
              <a:rPr lang="en-US" altLang="zh-CN" dirty="0">
                <a:sym typeface="Symbol" panose="05050102010706020507" pitchFamily="18" charset="2"/>
              </a:rPr>
              <a:t>5</a:t>
            </a:r>
            <a:r>
              <a:rPr lang="zh-CN" altLang="en-US" dirty="0">
                <a:sym typeface="Symbol" panose="05050102010706020507" pitchFamily="18" charset="2"/>
              </a:rPr>
              <a:t>；</a:t>
            </a:r>
          </a:p>
          <a:p>
            <a:pPr algn="ctr" eaLnBrk="1" hangingPunct="1">
              <a:buFont typeface="Wingdings" panose="05000000000000000000" pitchFamily="2" charset="2"/>
              <a:buNone/>
            </a:pPr>
            <a:r>
              <a:rPr lang="en-US" altLang="zh-CN" dirty="0"/>
              <a:t>p</a:t>
            </a:r>
            <a:r>
              <a:rPr lang="en-US" altLang="zh-CN" baseline="-25000" dirty="0"/>
              <a:t>i,i-1</a:t>
            </a:r>
            <a:r>
              <a:rPr lang="zh-CN" altLang="en-US" dirty="0"/>
              <a:t>＝</a:t>
            </a:r>
            <a:r>
              <a:rPr lang="en-US" altLang="zh-CN" dirty="0"/>
              <a:t>q</a:t>
            </a:r>
            <a:r>
              <a:rPr lang="zh-CN" altLang="en-US" dirty="0"/>
              <a:t>，</a:t>
            </a:r>
            <a:r>
              <a:rPr lang="en-US" altLang="zh-CN" dirty="0"/>
              <a:t>p</a:t>
            </a:r>
            <a:r>
              <a:rPr lang="en-US" altLang="zh-CN" baseline="-25000" dirty="0"/>
              <a:t>i,i+1</a:t>
            </a:r>
            <a:r>
              <a:rPr lang="zh-CN" altLang="en-US" dirty="0"/>
              <a:t>＝</a:t>
            </a:r>
            <a:r>
              <a:rPr lang="en-US" altLang="zh-CN" dirty="0"/>
              <a:t>p</a:t>
            </a:r>
            <a:r>
              <a:rPr lang="zh-CN" altLang="en-US" dirty="0"/>
              <a:t>，</a:t>
            </a:r>
            <a:r>
              <a:rPr lang="en-US" altLang="zh-CN" dirty="0" err="1"/>
              <a:t>i</a:t>
            </a:r>
            <a:r>
              <a:rPr lang="en-US" altLang="zh-CN" dirty="0"/>
              <a:t>=2,3,4</a:t>
            </a:r>
            <a:r>
              <a:rPr lang="zh-CN" altLang="en-US" dirty="0"/>
              <a:t>；</a:t>
            </a:r>
          </a:p>
          <a:p>
            <a:pPr algn="ctr" eaLnBrk="1" hangingPunct="1">
              <a:buFont typeface="Wingdings" panose="05000000000000000000" pitchFamily="2" charset="2"/>
              <a:buNone/>
            </a:pPr>
            <a:r>
              <a:rPr lang="en-US" altLang="zh-CN" dirty="0" err="1"/>
              <a:t>p</a:t>
            </a:r>
            <a:r>
              <a:rPr lang="en-US" altLang="zh-CN" baseline="-25000" dirty="0" err="1"/>
              <a:t>i,j</a:t>
            </a:r>
            <a:r>
              <a:rPr lang="zh-CN" altLang="en-US" dirty="0"/>
              <a:t>＝</a:t>
            </a:r>
            <a:r>
              <a:rPr lang="en-US" altLang="zh-CN" dirty="0"/>
              <a:t>0</a:t>
            </a:r>
            <a:r>
              <a:rPr lang="zh-CN" altLang="en-US" dirty="0"/>
              <a:t>，</a:t>
            </a:r>
            <a:r>
              <a:rPr lang="en-US" altLang="zh-CN" dirty="0"/>
              <a:t>j</a:t>
            </a:r>
            <a:r>
              <a:rPr lang="en-US" altLang="zh-CN" dirty="0">
                <a:sym typeface="Symbol" panose="05050102010706020507" pitchFamily="18" charset="2"/>
              </a:rPr>
              <a:t>i-1,i+1</a:t>
            </a:r>
            <a:r>
              <a:rPr lang="zh-CN" altLang="en-US" dirty="0">
                <a:sym typeface="Symbol" panose="05050102010706020507" pitchFamily="18" charset="2"/>
              </a:rPr>
              <a:t>。</a:t>
            </a:r>
          </a:p>
          <a:p>
            <a:pPr eaLnBrk="1" hangingPunct="1">
              <a:buFont typeface="Wingdings" panose="05000000000000000000" pitchFamily="2" charset="2"/>
              <a:buNone/>
            </a:pPr>
            <a:r>
              <a:rPr lang="zh-CN" altLang="en-US" dirty="0">
                <a:sym typeface="Symbol" panose="05050102010706020507" pitchFamily="18" charset="2"/>
              </a:rPr>
              <a:t>质点运动到</a:t>
            </a:r>
            <a:r>
              <a:rPr lang="en-US" altLang="zh-CN" dirty="0">
                <a:sym typeface="Symbol" panose="05050102010706020507" pitchFamily="18" charset="2"/>
              </a:rPr>
              <a:t>1,5</a:t>
            </a:r>
            <a:r>
              <a:rPr lang="zh-CN" altLang="en-US" dirty="0">
                <a:sym typeface="Symbol" panose="05050102010706020507" pitchFamily="18" charset="2"/>
              </a:rPr>
              <a:t>时，永远留在那里，称状态</a:t>
            </a:r>
            <a:r>
              <a:rPr lang="en-US" altLang="zh-CN" dirty="0">
                <a:sym typeface="Symbol" panose="05050102010706020507" pitchFamily="18" charset="2"/>
              </a:rPr>
              <a:t>1,5</a:t>
            </a:r>
            <a:r>
              <a:rPr lang="zh-CN" altLang="en-US" dirty="0">
                <a:sym typeface="Symbol" panose="05050102010706020507" pitchFamily="18" charset="2"/>
              </a:rPr>
              <a:t>为</a:t>
            </a:r>
            <a:r>
              <a:rPr lang="zh-CN" altLang="en-US" dirty="0">
                <a:solidFill>
                  <a:srgbClr val="0000FF"/>
                </a:solidFill>
                <a:sym typeface="Symbol" panose="05050102010706020507" pitchFamily="18" charset="2"/>
              </a:rPr>
              <a:t>吸收壁</a:t>
            </a:r>
            <a:r>
              <a:rPr lang="en-US" altLang="zh-CN" dirty="0">
                <a:sym typeface="Symbol" panose="05050102010706020507" pitchFamily="18" charset="2"/>
              </a:rPr>
              <a:t>(</a:t>
            </a:r>
            <a:r>
              <a:rPr lang="zh-CN" altLang="en-US" dirty="0">
                <a:solidFill>
                  <a:srgbClr val="0000FF"/>
                </a:solidFill>
                <a:sym typeface="Symbol" panose="05050102010706020507" pitchFamily="18" charset="2"/>
              </a:rPr>
              <a:t>状态</a:t>
            </a:r>
            <a:r>
              <a:rPr lang="en-US" altLang="zh-CN" dirty="0">
                <a:sym typeface="Symbol" panose="05050102010706020507" pitchFamily="18" charset="2"/>
              </a:rPr>
              <a:t>)</a:t>
            </a:r>
            <a:r>
              <a:rPr lang="zh-CN" altLang="en-US" dirty="0">
                <a:sym typeface="Symbol" panose="05050102010706020507" pitchFamily="18" charset="2"/>
              </a:rPr>
              <a:t>。</a:t>
            </a:r>
          </a:p>
        </p:txBody>
      </p:sp>
      <p:graphicFrame>
        <p:nvGraphicFramePr>
          <p:cNvPr id="274436" name="Object 4">
            <a:extLst>
              <a:ext uri="{FF2B5EF4-FFF2-40B4-BE49-F238E27FC236}">
                <a16:creationId xmlns:a16="http://schemas.microsoft.com/office/drawing/2014/main" id="{6BDDCA26-FC2C-581A-805B-B6AF00364CB1}"/>
              </a:ext>
            </a:extLst>
          </p:cNvPr>
          <p:cNvGraphicFramePr>
            <a:graphicFrameLocks noChangeAspect="1"/>
          </p:cNvGraphicFramePr>
          <p:nvPr/>
        </p:nvGraphicFramePr>
        <p:xfrm>
          <a:off x="5028953" y="4420394"/>
          <a:ext cx="2934379" cy="2342104"/>
        </p:xfrm>
        <a:graphic>
          <a:graphicData uri="http://schemas.openxmlformats.org/presentationml/2006/ole">
            <mc:AlternateContent xmlns:mc="http://schemas.openxmlformats.org/markup-compatibility/2006">
              <mc:Choice xmlns:v="urn:schemas-microsoft-com:vml" Requires="v">
                <p:oleObj name="Equation" r:id="rId3" imgW="1447800" imgH="1155700" progId="Equation.3">
                  <p:embed/>
                </p:oleObj>
              </mc:Choice>
              <mc:Fallback>
                <p:oleObj name="Equation" r:id="rId3" imgW="1447800" imgH="1155700" progId="Equation.3">
                  <p:embed/>
                  <p:pic>
                    <p:nvPicPr>
                      <p:cNvPr id="274436" name="Object 4">
                        <a:extLst>
                          <a:ext uri="{FF2B5EF4-FFF2-40B4-BE49-F238E27FC236}">
                            <a16:creationId xmlns:a16="http://schemas.microsoft.com/office/drawing/2014/main" id="{6BDDCA26-FC2C-581A-805B-B6AF00364C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8953" y="4420394"/>
                        <a:ext cx="2934379" cy="2342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4437" name="Rectangle 5">
            <a:extLst>
              <a:ext uri="{FF2B5EF4-FFF2-40B4-BE49-F238E27FC236}">
                <a16:creationId xmlns:a16="http://schemas.microsoft.com/office/drawing/2014/main" id="{A7E9B7D8-A74E-0D33-7EC9-D3A5C0F54DCA}"/>
              </a:ext>
            </a:extLst>
          </p:cNvPr>
          <p:cNvSpPr>
            <a:spLocks noChangeArrowheads="1"/>
          </p:cNvSpPr>
          <p:nvPr/>
        </p:nvSpPr>
        <p:spPr bwMode="auto">
          <a:xfrm>
            <a:off x="2929792" y="5384580"/>
            <a:ext cx="2099161" cy="35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buClr>
                <a:srgbClr val="00FF00"/>
              </a:buClr>
              <a:buFont typeface="Wingdings" panose="05000000000000000000" pitchFamily="2" charset="2"/>
              <a:buNone/>
            </a:pPr>
            <a:r>
              <a:rPr lang="zh-CN" altLang="en-US" sz="2400" dirty="0">
                <a:solidFill>
                  <a:srgbClr val="000000"/>
                </a:solidFill>
                <a:sym typeface="Symbol" panose="05050102010706020507" pitchFamily="18" charset="2"/>
              </a:rPr>
              <a:t>转移矩阵：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74435">
                                            <p:txEl>
                                              <p:pRg st="0" end="0"/>
                                            </p:txEl>
                                          </p:spTgt>
                                        </p:tgtEl>
                                        <p:attrNameLst>
                                          <p:attrName>style.visibility</p:attrName>
                                        </p:attrNameLst>
                                      </p:cBhvr>
                                      <p:to>
                                        <p:strVal val="visible"/>
                                      </p:to>
                                    </p:set>
                                    <p:anim calcmode="lin" valueType="num">
                                      <p:cBhvr additive="base">
                                        <p:cTn id="7" dur="500" fill="hold"/>
                                        <p:tgtEl>
                                          <p:spTgt spid="274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74435">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74435">
                                            <p:txEl>
                                              <p:pRg st="1" end="1"/>
                                            </p:txEl>
                                          </p:spTgt>
                                        </p:tgtEl>
                                        <p:attrNameLst>
                                          <p:attrName>style.visibility</p:attrName>
                                        </p:attrNameLst>
                                      </p:cBhvr>
                                      <p:to>
                                        <p:strVal val="visible"/>
                                      </p:to>
                                    </p:set>
                                    <p:anim calcmode="lin" valueType="num">
                                      <p:cBhvr additive="base">
                                        <p:cTn id="12" dur="500" fill="hold"/>
                                        <p:tgtEl>
                                          <p:spTgt spid="27443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74435">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74435">
                                            <p:txEl>
                                              <p:pRg st="2" end="2"/>
                                            </p:txEl>
                                          </p:spTgt>
                                        </p:tgtEl>
                                        <p:attrNameLst>
                                          <p:attrName>style.visibility</p:attrName>
                                        </p:attrNameLst>
                                      </p:cBhvr>
                                      <p:to>
                                        <p:strVal val="visible"/>
                                      </p:to>
                                    </p:set>
                                    <p:anim calcmode="lin" valueType="num">
                                      <p:cBhvr additive="base">
                                        <p:cTn id="17" dur="500" fill="hold"/>
                                        <p:tgtEl>
                                          <p:spTgt spid="27443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74435">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274435">
                                            <p:txEl>
                                              <p:pRg st="3" end="3"/>
                                            </p:txEl>
                                          </p:spTgt>
                                        </p:tgtEl>
                                        <p:attrNameLst>
                                          <p:attrName>style.visibility</p:attrName>
                                        </p:attrNameLst>
                                      </p:cBhvr>
                                      <p:to>
                                        <p:strVal val="visible"/>
                                      </p:to>
                                    </p:set>
                                    <p:anim calcmode="lin" valueType="num">
                                      <p:cBhvr additive="base">
                                        <p:cTn id="22" dur="500" fill="hold"/>
                                        <p:tgtEl>
                                          <p:spTgt spid="274435">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74435">
                                            <p:txEl>
                                              <p:pRg st="3" end="3"/>
                                            </p:txEl>
                                          </p:spTgt>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274435">
                                            <p:txEl>
                                              <p:pRg st="4" end="4"/>
                                            </p:txEl>
                                          </p:spTgt>
                                        </p:tgtEl>
                                        <p:attrNameLst>
                                          <p:attrName>style.visibility</p:attrName>
                                        </p:attrNameLst>
                                      </p:cBhvr>
                                      <p:to>
                                        <p:strVal val="visible"/>
                                      </p:to>
                                    </p:set>
                                    <p:anim calcmode="lin" valueType="num">
                                      <p:cBhvr additive="base">
                                        <p:cTn id="27" dur="500" fill="hold"/>
                                        <p:tgtEl>
                                          <p:spTgt spid="274435">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744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74437"/>
                                        </p:tgtEl>
                                        <p:attrNameLst>
                                          <p:attrName>style.visibility</p:attrName>
                                        </p:attrNameLst>
                                      </p:cBhvr>
                                      <p:to>
                                        <p:strVal val="visible"/>
                                      </p:to>
                                    </p:set>
                                    <p:anim calcmode="lin" valueType="num">
                                      <p:cBhvr additive="base">
                                        <p:cTn id="33" dur="500" fill="hold"/>
                                        <p:tgtEl>
                                          <p:spTgt spid="274437"/>
                                        </p:tgtEl>
                                        <p:attrNameLst>
                                          <p:attrName>ppt_x</p:attrName>
                                        </p:attrNameLst>
                                      </p:cBhvr>
                                      <p:tavLst>
                                        <p:tav tm="0">
                                          <p:val>
                                            <p:strVal val="0-#ppt_w/2"/>
                                          </p:val>
                                        </p:tav>
                                        <p:tav tm="100000">
                                          <p:val>
                                            <p:strVal val="#ppt_x"/>
                                          </p:val>
                                        </p:tav>
                                      </p:tavLst>
                                    </p:anim>
                                    <p:anim calcmode="lin" valueType="num">
                                      <p:cBhvr additive="base">
                                        <p:cTn id="34" dur="500" fill="hold"/>
                                        <p:tgtEl>
                                          <p:spTgt spid="274437"/>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500"/>
                            </p:stCondLst>
                            <p:childTnLst>
                              <p:par>
                                <p:cTn id="36" presetID="6" presetClass="entr" presetSubtype="32" fill="hold" nodeType="afterEffect">
                                  <p:stCondLst>
                                    <p:cond delay="0"/>
                                  </p:stCondLst>
                                  <p:childTnLst>
                                    <p:set>
                                      <p:cBhvr>
                                        <p:cTn id="37" dur="1" fill="hold">
                                          <p:stCondLst>
                                            <p:cond delay="0"/>
                                          </p:stCondLst>
                                        </p:cTn>
                                        <p:tgtEl>
                                          <p:spTgt spid="274436"/>
                                        </p:tgtEl>
                                        <p:attrNameLst>
                                          <p:attrName>style.visibility</p:attrName>
                                        </p:attrNameLst>
                                      </p:cBhvr>
                                      <p:to>
                                        <p:strVal val="visible"/>
                                      </p:to>
                                    </p:set>
                                    <p:animEffect transition="in" filter="circle(out)">
                                      <p:cBhvr>
                                        <p:cTn id="38" dur="2000"/>
                                        <p:tgtEl>
                                          <p:spTgt spid="274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build="p"/>
      <p:bldP spid="27443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543E1D1-F1D6-6857-8F8C-1B03ECF662F9}"/>
              </a:ext>
            </a:extLst>
          </p:cNvPr>
          <p:cNvSpPr>
            <a:spLocks noGrp="1" noChangeArrowheads="1"/>
          </p:cNvSpPr>
          <p:nvPr>
            <p:ph type="title"/>
          </p:nvPr>
        </p:nvSpPr>
        <p:spPr/>
        <p:txBody>
          <a:bodyPr/>
          <a:lstStyle/>
          <a:p>
            <a:pPr algn="l" eaLnBrk="1" hangingPunct="1"/>
            <a:r>
              <a:rPr lang="en-US" altLang="zh-CN"/>
              <a:t>4.</a:t>
            </a:r>
            <a:r>
              <a:rPr lang="zh-CN" altLang="en-US"/>
              <a:t>带有两个反射壁的随机游动</a:t>
            </a:r>
          </a:p>
        </p:txBody>
      </p:sp>
      <p:sp>
        <p:nvSpPr>
          <p:cNvPr id="275459" name="Rectangle 3">
            <a:extLst>
              <a:ext uri="{FF2B5EF4-FFF2-40B4-BE49-F238E27FC236}">
                <a16:creationId xmlns:a16="http://schemas.microsoft.com/office/drawing/2014/main" id="{2C3B9935-9AD3-80A7-532E-894E2907743F}"/>
              </a:ext>
            </a:extLst>
          </p:cNvPr>
          <p:cNvSpPr>
            <a:spLocks noGrp="1" noChangeArrowheads="1"/>
          </p:cNvSpPr>
          <p:nvPr>
            <p:ph idx="1"/>
          </p:nvPr>
        </p:nvSpPr>
        <p:spPr>
          <a:xfrm>
            <a:off x="231775" y="915194"/>
            <a:ext cx="11269490" cy="4095750"/>
          </a:xfrm>
        </p:spPr>
        <p:txBody>
          <a:bodyPr>
            <a:normAutofit/>
          </a:bodyPr>
          <a:lstStyle/>
          <a:p>
            <a:pPr eaLnBrk="1" hangingPunct="1">
              <a:lnSpc>
                <a:spcPct val="160000"/>
              </a:lnSpc>
              <a:buFont typeface="Wingdings" panose="05000000000000000000" pitchFamily="2" charset="2"/>
              <a:buNone/>
            </a:pPr>
            <a:r>
              <a:rPr lang="en-US" altLang="zh-CN" dirty="0"/>
              <a:t>	</a:t>
            </a:r>
            <a:r>
              <a:rPr lang="zh-CN" altLang="en-US" dirty="0"/>
              <a:t>状态空间</a:t>
            </a:r>
            <a:r>
              <a:rPr lang="en-US" altLang="zh-CN" dirty="0"/>
              <a:t>E</a:t>
            </a:r>
            <a:r>
              <a:rPr lang="zh-CN" altLang="en-US" dirty="0"/>
              <a:t>＝</a:t>
            </a:r>
            <a:r>
              <a:rPr lang="en-US" altLang="zh-CN" dirty="0"/>
              <a:t>{1,2,3,4,5}</a:t>
            </a:r>
            <a:r>
              <a:rPr lang="zh-CN" altLang="en-US" dirty="0"/>
              <a:t>。转移概率：</a:t>
            </a:r>
          </a:p>
          <a:p>
            <a:pPr algn="ctr" eaLnBrk="1" hangingPunct="1">
              <a:lnSpc>
                <a:spcPct val="160000"/>
              </a:lnSpc>
              <a:buFont typeface="Wingdings" panose="05000000000000000000" pitchFamily="2" charset="2"/>
              <a:buNone/>
            </a:pPr>
            <a:r>
              <a:rPr lang="en-US" altLang="zh-CN" dirty="0"/>
              <a:t>p</a:t>
            </a:r>
            <a:r>
              <a:rPr lang="en-US" altLang="zh-CN" baseline="-25000" dirty="0"/>
              <a:t>11</a:t>
            </a:r>
            <a:r>
              <a:rPr lang="zh-CN" altLang="en-US" dirty="0"/>
              <a:t>＝</a:t>
            </a:r>
            <a:r>
              <a:rPr lang="en-US" altLang="zh-CN" dirty="0"/>
              <a:t>0</a:t>
            </a:r>
            <a:r>
              <a:rPr lang="zh-CN" altLang="en-US" dirty="0"/>
              <a:t>，</a:t>
            </a:r>
            <a:r>
              <a:rPr lang="en-US" altLang="zh-CN" dirty="0"/>
              <a:t>p</a:t>
            </a:r>
            <a:r>
              <a:rPr lang="en-US" altLang="zh-CN" baseline="-25000" dirty="0"/>
              <a:t>12</a:t>
            </a:r>
            <a:r>
              <a:rPr lang="zh-CN" altLang="en-US" dirty="0"/>
              <a:t>＝</a:t>
            </a:r>
            <a:r>
              <a:rPr lang="en-US" altLang="zh-CN" dirty="0"/>
              <a:t>1</a:t>
            </a:r>
            <a:r>
              <a:rPr lang="zh-CN" altLang="en-US" dirty="0"/>
              <a:t>，</a:t>
            </a:r>
            <a:r>
              <a:rPr lang="en-US" altLang="zh-CN" dirty="0"/>
              <a:t>p</a:t>
            </a:r>
            <a:r>
              <a:rPr lang="en-US" altLang="zh-CN" baseline="-25000" dirty="0"/>
              <a:t>1j</a:t>
            </a:r>
            <a:r>
              <a:rPr lang="zh-CN" altLang="en-US" dirty="0"/>
              <a:t>＝</a:t>
            </a:r>
            <a:r>
              <a:rPr lang="en-US" altLang="zh-CN" dirty="0"/>
              <a:t>0</a:t>
            </a:r>
            <a:r>
              <a:rPr lang="zh-CN" altLang="en-US" dirty="0"/>
              <a:t>，</a:t>
            </a:r>
            <a:r>
              <a:rPr lang="en-US" altLang="zh-CN" dirty="0"/>
              <a:t>j</a:t>
            </a:r>
            <a:r>
              <a:rPr lang="en-US" altLang="zh-CN" dirty="0">
                <a:sym typeface="Symbol" panose="05050102010706020507" pitchFamily="18" charset="2"/>
              </a:rPr>
              <a:t>=3,4,5</a:t>
            </a:r>
            <a:r>
              <a:rPr lang="zh-CN" altLang="en-US" dirty="0">
                <a:sym typeface="Symbol" panose="05050102010706020507" pitchFamily="18" charset="2"/>
              </a:rPr>
              <a:t>；</a:t>
            </a:r>
          </a:p>
          <a:p>
            <a:pPr algn="ctr" eaLnBrk="1" hangingPunct="1">
              <a:lnSpc>
                <a:spcPct val="160000"/>
              </a:lnSpc>
              <a:buFont typeface="Wingdings" panose="05000000000000000000" pitchFamily="2" charset="2"/>
              <a:buNone/>
            </a:pPr>
            <a:r>
              <a:rPr lang="en-US" altLang="zh-CN" dirty="0"/>
              <a:t>p</a:t>
            </a:r>
            <a:r>
              <a:rPr lang="en-US" altLang="zh-CN" baseline="-25000" dirty="0"/>
              <a:t>55</a:t>
            </a:r>
            <a:r>
              <a:rPr lang="zh-CN" altLang="en-US" dirty="0"/>
              <a:t>＝</a:t>
            </a:r>
            <a:r>
              <a:rPr lang="en-US" altLang="zh-CN" dirty="0"/>
              <a:t>0</a:t>
            </a:r>
            <a:r>
              <a:rPr lang="zh-CN" altLang="en-US" dirty="0"/>
              <a:t>，</a:t>
            </a:r>
            <a:r>
              <a:rPr lang="en-US" altLang="zh-CN" dirty="0"/>
              <a:t>p</a:t>
            </a:r>
            <a:r>
              <a:rPr lang="en-US" altLang="zh-CN" baseline="-25000" dirty="0"/>
              <a:t>54</a:t>
            </a:r>
            <a:r>
              <a:rPr lang="zh-CN" altLang="en-US" dirty="0"/>
              <a:t>＝</a:t>
            </a:r>
            <a:r>
              <a:rPr lang="en-US" altLang="zh-CN" dirty="0"/>
              <a:t>1</a:t>
            </a:r>
            <a:r>
              <a:rPr lang="zh-CN" altLang="en-US" dirty="0"/>
              <a:t>，</a:t>
            </a:r>
            <a:r>
              <a:rPr lang="en-US" altLang="zh-CN" dirty="0"/>
              <a:t>p</a:t>
            </a:r>
            <a:r>
              <a:rPr lang="en-US" altLang="zh-CN" baseline="-25000" dirty="0"/>
              <a:t>5j</a:t>
            </a:r>
            <a:r>
              <a:rPr lang="zh-CN" altLang="en-US" dirty="0"/>
              <a:t>＝</a:t>
            </a:r>
            <a:r>
              <a:rPr lang="en-US" altLang="zh-CN" dirty="0"/>
              <a:t>0</a:t>
            </a:r>
            <a:r>
              <a:rPr lang="zh-CN" altLang="en-US" dirty="0"/>
              <a:t>，</a:t>
            </a:r>
            <a:r>
              <a:rPr lang="en-US" altLang="zh-CN" dirty="0"/>
              <a:t>j</a:t>
            </a:r>
            <a:r>
              <a:rPr lang="en-US" altLang="zh-CN" dirty="0">
                <a:sym typeface="Symbol" panose="05050102010706020507" pitchFamily="18" charset="2"/>
              </a:rPr>
              <a:t>=1,2,3</a:t>
            </a:r>
            <a:r>
              <a:rPr lang="zh-CN" altLang="en-US" dirty="0">
                <a:sym typeface="Symbol" panose="05050102010706020507" pitchFamily="18" charset="2"/>
              </a:rPr>
              <a:t>；</a:t>
            </a:r>
          </a:p>
          <a:p>
            <a:pPr algn="ctr" eaLnBrk="1" hangingPunct="1">
              <a:lnSpc>
                <a:spcPct val="160000"/>
              </a:lnSpc>
              <a:buFont typeface="Wingdings" panose="05000000000000000000" pitchFamily="2" charset="2"/>
              <a:buNone/>
            </a:pPr>
            <a:r>
              <a:rPr lang="en-US" altLang="zh-CN" dirty="0"/>
              <a:t>p</a:t>
            </a:r>
            <a:r>
              <a:rPr lang="en-US" altLang="zh-CN" baseline="-25000" dirty="0"/>
              <a:t>i,i-1</a:t>
            </a:r>
            <a:r>
              <a:rPr lang="zh-CN" altLang="en-US" dirty="0"/>
              <a:t>＝</a:t>
            </a:r>
            <a:r>
              <a:rPr lang="en-US" altLang="zh-CN" dirty="0"/>
              <a:t>q</a:t>
            </a:r>
            <a:r>
              <a:rPr lang="zh-CN" altLang="en-US" dirty="0"/>
              <a:t>，</a:t>
            </a:r>
            <a:r>
              <a:rPr lang="en-US" altLang="zh-CN" dirty="0"/>
              <a:t>p</a:t>
            </a:r>
            <a:r>
              <a:rPr lang="en-US" altLang="zh-CN" baseline="-25000" dirty="0"/>
              <a:t>i,i+1</a:t>
            </a:r>
            <a:r>
              <a:rPr lang="zh-CN" altLang="en-US" dirty="0"/>
              <a:t>＝</a:t>
            </a:r>
            <a:r>
              <a:rPr lang="en-US" altLang="zh-CN" dirty="0"/>
              <a:t>p</a:t>
            </a:r>
            <a:r>
              <a:rPr lang="zh-CN" altLang="en-US" dirty="0"/>
              <a:t>，</a:t>
            </a:r>
            <a:r>
              <a:rPr lang="en-US" altLang="zh-CN" dirty="0" err="1"/>
              <a:t>i</a:t>
            </a:r>
            <a:r>
              <a:rPr lang="en-US" altLang="zh-CN" dirty="0"/>
              <a:t>=2,3,4</a:t>
            </a:r>
            <a:r>
              <a:rPr lang="zh-CN" altLang="en-US" dirty="0"/>
              <a:t>；</a:t>
            </a:r>
          </a:p>
          <a:p>
            <a:pPr algn="ctr" eaLnBrk="1" hangingPunct="1">
              <a:lnSpc>
                <a:spcPct val="160000"/>
              </a:lnSpc>
              <a:buFont typeface="Wingdings" panose="05000000000000000000" pitchFamily="2" charset="2"/>
              <a:buNone/>
            </a:pPr>
            <a:r>
              <a:rPr lang="en-US" altLang="zh-CN" dirty="0" err="1"/>
              <a:t>p</a:t>
            </a:r>
            <a:r>
              <a:rPr lang="en-US" altLang="zh-CN" baseline="-25000" dirty="0" err="1"/>
              <a:t>ij</a:t>
            </a:r>
            <a:r>
              <a:rPr lang="zh-CN" altLang="en-US" dirty="0"/>
              <a:t>＝</a:t>
            </a:r>
            <a:r>
              <a:rPr lang="en-US" altLang="zh-CN" dirty="0"/>
              <a:t>0</a:t>
            </a:r>
            <a:r>
              <a:rPr lang="zh-CN" altLang="en-US" dirty="0"/>
              <a:t>，</a:t>
            </a:r>
            <a:r>
              <a:rPr lang="en-US" altLang="zh-CN" dirty="0"/>
              <a:t>j</a:t>
            </a:r>
            <a:r>
              <a:rPr lang="en-US" altLang="zh-CN" dirty="0">
                <a:sym typeface="Symbol" panose="05050102010706020507" pitchFamily="18" charset="2"/>
              </a:rPr>
              <a:t>i-1,i+1</a:t>
            </a:r>
            <a:r>
              <a:rPr lang="zh-CN" altLang="en-US" dirty="0">
                <a:sym typeface="Symbol" panose="05050102010706020507" pitchFamily="18" charset="2"/>
              </a:rPr>
              <a:t>，</a:t>
            </a:r>
            <a:r>
              <a:rPr lang="en-US" altLang="zh-CN" dirty="0" err="1">
                <a:sym typeface="Symbol" panose="05050102010706020507" pitchFamily="18" charset="2"/>
              </a:rPr>
              <a:t>i</a:t>
            </a:r>
            <a:r>
              <a:rPr lang="en-US" altLang="zh-CN" dirty="0">
                <a:sym typeface="Symbol" panose="05050102010706020507" pitchFamily="18" charset="2"/>
              </a:rPr>
              <a:t>=2,3,4</a:t>
            </a:r>
            <a:r>
              <a:rPr lang="zh-CN" altLang="en-US" dirty="0">
                <a:sym typeface="Symbol" panose="05050102010706020507" pitchFamily="18" charset="2"/>
              </a:rPr>
              <a:t>。</a:t>
            </a:r>
          </a:p>
          <a:p>
            <a:pPr eaLnBrk="1" hangingPunct="1">
              <a:lnSpc>
                <a:spcPct val="160000"/>
              </a:lnSpc>
              <a:buFont typeface="Wingdings" panose="05000000000000000000" pitchFamily="2" charset="2"/>
              <a:buNone/>
            </a:pPr>
            <a:r>
              <a:rPr lang="zh-CN" altLang="en-US" dirty="0">
                <a:sym typeface="Symbol" panose="05050102010706020507" pitchFamily="18" charset="2"/>
              </a:rPr>
              <a:t>状态</a:t>
            </a:r>
            <a:r>
              <a:rPr lang="en-US" altLang="zh-CN" dirty="0">
                <a:sym typeface="Symbol" panose="05050102010706020507" pitchFamily="18" charset="2"/>
              </a:rPr>
              <a:t>1</a:t>
            </a:r>
            <a:r>
              <a:rPr lang="zh-CN" altLang="en-US" dirty="0">
                <a:sym typeface="Symbol" panose="05050102010706020507" pitchFamily="18" charset="2"/>
              </a:rPr>
              <a:t>和</a:t>
            </a:r>
            <a:r>
              <a:rPr lang="en-US" altLang="zh-CN" dirty="0">
                <a:sym typeface="Symbol" panose="05050102010706020507" pitchFamily="18" charset="2"/>
              </a:rPr>
              <a:t>5</a:t>
            </a:r>
            <a:r>
              <a:rPr lang="zh-CN" altLang="en-US" dirty="0">
                <a:sym typeface="Symbol" panose="05050102010706020507" pitchFamily="18" charset="2"/>
              </a:rPr>
              <a:t>永远不能停留，称为</a:t>
            </a:r>
            <a:r>
              <a:rPr lang="zh-CN" altLang="en-US" dirty="0">
                <a:solidFill>
                  <a:srgbClr val="0000FF"/>
                </a:solidFill>
                <a:sym typeface="Symbol" panose="05050102010706020507" pitchFamily="18" charset="2"/>
              </a:rPr>
              <a:t>反射壁</a:t>
            </a:r>
            <a:r>
              <a:rPr lang="zh-CN" altLang="en-US" dirty="0">
                <a:sym typeface="Symbol" panose="05050102010706020507" pitchFamily="18" charset="2"/>
              </a:rPr>
              <a:t>。</a:t>
            </a:r>
          </a:p>
        </p:txBody>
      </p:sp>
      <p:graphicFrame>
        <p:nvGraphicFramePr>
          <p:cNvPr id="275460" name="Object 4">
            <a:extLst>
              <a:ext uri="{FF2B5EF4-FFF2-40B4-BE49-F238E27FC236}">
                <a16:creationId xmlns:a16="http://schemas.microsoft.com/office/drawing/2014/main" id="{AF62405C-E8A1-402B-8F8D-3A4B8292EAE6}"/>
              </a:ext>
            </a:extLst>
          </p:cNvPr>
          <p:cNvGraphicFramePr>
            <a:graphicFrameLocks noChangeAspect="1"/>
          </p:cNvGraphicFramePr>
          <p:nvPr/>
        </p:nvGraphicFramePr>
        <p:xfrm>
          <a:off x="5184564" y="4565744"/>
          <a:ext cx="2820053" cy="2251596"/>
        </p:xfrm>
        <a:graphic>
          <a:graphicData uri="http://schemas.openxmlformats.org/presentationml/2006/ole">
            <mc:AlternateContent xmlns:mc="http://schemas.openxmlformats.org/markup-compatibility/2006">
              <mc:Choice xmlns:v="urn:schemas-microsoft-com:vml" Requires="v">
                <p:oleObj name="Equation" r:id="rId3" imgW="1447800" imgH="1155700" progId="Equation.3">
                  <p:embed/>
                </p:oleObj>
              </mc:Choice>
              <mc:Fallback>
                <p:oleObj name="Equation" r:id="rId3" imgW="1447800" imgH="1155700" progId="Equation.3">
                  <p:embed/>
                  <p:pic>
                    <p:nvPicPr>
                      <p:cNvPr id="275460" name="Object 4">
                        <a:extLst>
                          <a:ext uri="{FF2B5EF4-FFF2-40B4-BE49-F238E27FC236}">
                            <a16:creationId xmlns:a16="http://schemas.microsoft.com/office/drawing/2014/main" id="{AF62405C-E8A1-402B-8F8D-3A4B8292EA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4564" y="4565744"/>
                        <a:ext cx="2820053" cy="2251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5461" name="Rectangle 5">
            <a:extLst>
              <a:ext uri="{FF2B5EF4-FFF2-40B4-BE49-F238E27FC236}">
                <a16:creationId xmlns:a16="http://schemas.microsoft.com/office/drawing/2014/main" id="{73FA2374-1E6F-182D-8230-9EDE1060DEEB}"/>
              </a:ext>
            </a:extLst>
          </p:cNvPr>
          <p:cNvSpPr>
            <a:spLocks noChangeArrowheads="1"/>
          </p:cNvSpPr>
          <p:nvPr/>
        </p:nvSpPr>
        <p:spPr bwMode="auto">
          <a:xfrm>
            <a:off x="2964574" y="5435675"/>
            <a:ext cx="2210312" cy="45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buClr>
                <a:srgbClr val="00FF00"/>
              </a:buClr>
              <a:buFont typeface="Wingdings" panose="05000000000000000000" pitchFamily="2" charset="2"/>
              <a:buNone/>
            </a:pPr>
            <a:r>
              <a:rPr lang="zh-CN" altLang="en-US" sz="2400" dirty="0">
                <a:solidFill>
                  <a:srgbClr val="000000"/>
                </a:solidFill>
                <a:sym typeface="Symbol" panose="05050102010706020507" pitchFamily="18" charset="2"/>
              </a:rPr>
              <a:t>转移矩阵：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5459">
                                            <p:txEl>
                                              <p:pRg st="0" end="0"/>
                                            </p:txEl>
                                          </p:spTgt>
                                        </p:tgtEl>
                                        <p:attrNameLst>
                                          <p:attrName>style.visibility</p:attrName>
                                        </p:attrNameLst>
                                      </p:cBhvr>
                                      <p:to>
                                        <p:strVal val="visible"/>
                                      </p:to>
                                    </p:set>
                                    <p:anim calcmode="lin" valueType="num">
                                      <p:cBhvr additive="base">
                                        <p:cTn id="7" dur="500" fill="hold"/>
                                        <p:tgtEl>
                                          <p:spTgt spid="275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545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75459">
                                            <p:txEl>
                                              <p:pRg st="1" end="1"/>
                                            </p:txEl>
                                          </p:spTgt>
                                        </p:tgtEl>
                                        <p:attrNameLst>
                                          <p:attrName>style.visibility</p:attrName>
                                        </p:attrNameLst>
                                      </p:cBhvr>
                                      <p:to>
                                        <p:strVal val="visible"/>
                                      </p:to>
                                    </p:set>
                                    <p:anim calcmode="lin" valueType="num">
                                      <p:cBhvr additive="base">
                                        <p:cTn id="12" dur="500" fill="hold"/>
                                        <p:tgtEl>
                                          <p:spTgt spid="27545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75459">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75459">
                                            <p:txEl>
                                              <p:pRg st="2" end="2"/>
                                            </p:txEl>
                                          </p:spTgt>
                                        </p:tgtEl>
                                        <p:attrNameLst>
                                          <p:attrName>style.visibility</p:attrName>
                                        </p:attrNameLst>
                                      </p:cBhvr>
                                      <p:to>
                                        <p:strVal val="visible"/>
                                      </p:to>
                                    </p:set>
                                    <p:anim calcmode="lin" valueType="num">
                                      <p:cBhvr additive="base">
                                        <p:cTn id="17" dur="500" fill="hold"/>
                                        <p:tgtEl>
                                          <p:spTgt spid="2754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5459">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75459">
                                            <p:txEl>
                                              <p:pRg st="3" end="3"/>
                                            </p:txEl>
                                          </p:spTgt>
                                        </p:tgtEl>
                                        <p:attrNameLst>
                                          <p:attrName>style.visibility</p:attrName>
                                        </p:attrNameLst>
                                      </p:cBhvr>
                                      <p:to>
                                        <p:strVal val="visible"/>
                                      </p:to>
                                    </p:set>
                                    <p:anim calcmode="lin" valueType="num">
                                      <p:cBhvr additive="base">
                                        <p:cTn id="22" dur="500" fill="hold"/>
                                        <p:tgtEl>
                                          <p:spTgt spid="27545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75459">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75459">
                                            <p:txEl>
                                              <p:pRg st="4" end="4"/>
                                            </p:txEl>
                                          </p:spTgt>
                                        </p:tgtEl>
                                        <p:attrNameLst>
                                          <p:attrName>style.visibility</p:attrName>
                                        </p:attrNameLst>
                                      </p:cBhvr>
                                      <p:to>
                                        <p:strVal val="visible"/>
                                      </p:to>
                                    </p:set>
                                    <p:anim calcmode="lin" valueType="num">
                                      <p:cBhvr additive="base">
                                        <p:cTn id="27" dur="500" fill="hold"/>
                                        <p:tgtEl>
                                          <p:spTgt spid="27545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5459">
                                            <p:txEl>
                                              <p:pRg st="4" end="4"/>
                                            </p:txEl>
                                          </p:spTgt>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275459">
                                            <p:txEl>
                                              <p:pRg st="5" end="5"/>
                                            </p:txEl>
                                          </p:spTgt>
                                        </p:tgtEl>
                                        <p:attrNameLst>
                                          <p:attrName>style.visibility</p:attrName>
                                        </p:attrNameLst>
                                      </p:cBhvr>
                                      <p:to>
                                        <p:strVal val="visible"/>
                                      </p:to>
                                    </p:set>
                                    <p:anim calcmode="lin" valueType="num">
                                      <p:cBhvr additive="base">
                                        <p:cTn id="32" dur="500" fill="hold"/>
                                        <p:tgtEl>
                                          <p:spTgt spid="275459">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754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75461"/>
                                        </p:tgtEl>
                                        <p:attrNameLst>
                                          <p:attrName>style.visibility</p:attrName>
                                        </p:attrNameLst>
                                      </p:cBhvr>
                                      <p:to>
                                        <p:strVal val="visible"/>
                                      </p:to>
                                    </p:set>
                                    <p:anim calcmode="lin" valueType="num">
                                      <p:cBhvr additive="base">
                                        <p:cTn id="38" dur="500" fill="hold"/>
                                        <p:tgtEl>
                                          <p:spTgt spid="275461"/>
                                        </p:tgtEl>
                                        <p:attrNameLst>
                                          <p:attrName>ppt_x</p:attrName>
                                        </p:attrNameLst>
                                      </p:cBhvr>
                                      <p:tavLst>
                                        <p:tav tm="0">
                                          <p:val>
                                            <p:strVal val="#ppt_x"/>
                                          </p:val>
                                        </p:tav>
                                        <p:tav tm="100000">
                                          <p:val>
                                            <p:strVal val="#ppt_x"/>
                                          </p:val>
                                        </p:tav>
                                      </p:tavLst>
                                    </p:anim>
                                    <p:anim calcmode="lin" valueType="num">
                                      <p:cBhvr additive="base">
                                        <p:cTn id="39" dur="500" fill="hold"/>
                                        <p:tgtEl>
                                          <p:spTgt spid="275461"/>
                                        </p:tgtEl>
                                        <p:attrNameLst>
                                          <p:attrName>ppt_y</p:attrName>
                                        </p:attrNameLst>
                                      </p:cBhvr>
                                      <p:tavLst>
                                        <p:tav tm="0">
                                          <p:val>
                                            <p:strVal val="1+#ppt_h/2"/>
                                          </p:val>
                                        </p:tav>
                                        <p:tav tm="100000">
                                          <p:val>
                                            <p:strVal val="#ppt_y"/>
                                          </p:val>
                                        </p:tav>
                                      </p:tavLst>
                                    </p:anim>
                                  </p:childTnLst>
                                </p:cTn>
                              </p:par>
                            </p:childTnLst>
                          </p:cTn>
                        </p:par>
                        <p:par>
                          <p:cTn id="40" fill="hold" nodeType="afterGroup">
                            <p:stCondLst>
                              <p:cond delay="500"/>
                            </p:stCondLst>
                            <p:childTnLst>
                              <p:par>
                                <p:cTn id="41" presetID="6" presetClass="entr" presetSubtype="16" fill="hold" nodeType="afterEffect">
                                  <p:stCondLst>
                                    <p:cond delay="0"/>
                                  </p:stCondLst>
                                  <p:childTnLst>
                                    <p:set>
                                      <p:cBhvr>
                                        <p:cTn id="42" dur="1" fill="hold">
                                          <p:stCondLst>
                                            <p:cond delay="0"/>
                                          </p:stCondLst>
                                        </p:cTn>
                                        <p:tgtEl>
                                          <p:spTgt spid="275460"/>
                                        </p:tgtEl>
                                        <p:attrNameLst>
                                          <p:attrName>style.visibility</p:attrName>
                                        </p:attrNameLst>
                                      </p:cBhvr>
                                      <p:to>
                                        <p:strVal val="visible"/>
                                      </p:to>
                                    </p:set>
                                    <p:animEffect transition="in" filter="circle(in)">
                                      <p:cBhvr>
                                        <p:cTn id="43" dur="2000"/>
                                        <p:tgtEl>
                                          <p:spTgt spid="275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9" grpId="0" build="p"/>
      <p:bldP spid="27546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CD71DA7-A485-7545-859F-AB90B80604E5}"/>
              </a:ext>
            </a:extLst>
          </p:cNvPr>
          <p:cNvSpPr>
            <a:spLocks noGrp="1" noChangeArrowheads="1"/>
          </p:cNvSpPr>
          <p:nvPr>
            <p:ph type="title"/>
          </p:nvPr>
        </p:nvSpPr>
        <p:spPr/>
        <p:txBody>
          <a:bodyPr/>
          <a:lstStyle/>
          <a:p>
            <a:pPr algn="l" eaLnBrk="1" hangingPunct="1"/>
            <a:r>
              <a:rPr lang="en-US" altLang="zh-CN"/>
              <a:t>4.</a:t>
            </a:r>
            <a:r>
              <a:rPr lang="zh-CN" altLang="en-US"/>
              <a:t>带有两个弹性壁的随机游动</a:t>
            </a:r>
          </a:p>
        </p:txBody>
      </p:sp>
      <p:sp>
        <p:nvSpPr>
          <p:cNvPr id="276483" name="Rectangle 3">
            <a:extLst>
              <a:ext uri="{FF2B5EF4-FFF2-40B4-BE49-F238E27FC236}">
                <a16:creationId xmlns:a16="http://schemas.microsoft.com/office/drawing/2014/main" id="{ADD8FB83-58CA-9379-FF06-5D45CE017C2E}"/>
              </a:ext>
            </a:extLst>
          </p:cNvPr>
          <p:cNvSpPr>
            <a:spLocks noGrp="1" noChangeArrowheads="1"/>
          </p:cNvSpPr>
          <p:nvPr>
            <p:ph idx="1"/>
          </p:nvPr>
        </p:nvSpPr>
        <p:spPr>
          <a:xfrm>
            <a:off x="778793" y="994447"/>
            <a:ext cx="10501982" cy="3502147"/>
          </a:xfrm>
        </p:spPr>
        <p:txBody>
          <a:bodyPr>
            <a:normAutofit lnSpcReduction="10000"/>
          </a:bodyPr>
          <a:lstStyle/>
          <a:p>
            <a:pPr eaLnBrk="1" hangingPunct="1">
              <a:lnSpc>
                <a:spcPct val="160000"/>
              </a:lnSpc>
              <a:buFont typeface="Wingdings" panose="05000000000000000000" pitchFamily="2" charset="2"/>
              <a:buNone/>
            </a:pPr>
            <a:r>
              <a:rPr lang="en-US" altLang="zh-CN" dirty="0"/>
              <a:t>	</a:t>
            </a:r>
            <a:r>
              <a:rPr lang="zh-CN" altLang="en-US" dirty="0"/>
              <a:t>状态空间</a:t>
            </a:r>
            <a:r>
              <a:rPr lang="en-US" altLang="zh-CN" dirty="0"/>
              <a:t>E</a:t>
            </a:r>
            <a:r>
              <a:rPr lang="zh-CN" altLang="en-US" dirty="0"/>
              <a:t>＝</a:t>
            </a:r>
            <a:r>
              <a:rPr lang="en-US" altLang="zh-CN" dirty="0"/>
              <a:t>{1,2,3,4,5}</a:t>
            </a:r>
            <a:r>
              <a:rPr lang="zh-CN" altLang="en-US" dirty="0"/>
              <a:t>。转移概率：</a:t>
            </a:r>
          </a:p>
          <a:p>
            <a:pPr algn="ctr" eaLnBrk="1" hangingPunct="1">
              <a:lnSpc>
                <a:spcPct val="160000"/>
              </a:lnSpc>
              <a:buFont typeface="Wingdings" panose="05000000000000000000" pitchFamily="2" charset="2"/>
              <a:buNone/>
            </a:pPr>
            <a:r>
              <a:rPr lang="en-US" altLang="zh-CN" dirty="0"/>
              <a:t>p</a:t>
            </a:r>
            <a:r>
              <a:rPr lang="en-US" altLang="zh-CN" baseline="-25000" dirty="0"/>
              <a:t>11</a:t>
            </a:r>
            <a:r>
              <a:rPr lang="zh-CN" altLang="en-US" dirty="0"/>
              <a:t>＝</a:t>
            </a:r>
            <a:r>
              <a:rPr lang="en-US" altLang="zh-CN" dirty="0"/>
              <a:t>q</a:t>
            </a:r>
            <a:r>
              <a:rPr lang="zh-CN" altLang="en-US" dirty="0"/>
              <a:t>，</a:t>
            </a:r>
            <a:r>
              <a:rPr lang="en-US" altLang="zh-CN" dirty="0"/>
              <a:t>p</a:t>
            </a:r>
            <a:r>
              <a:rPr lang="en-US" altLang="zh-CN" baseline="-25000" dirty="0"/>
              <a:t>12</a:t>
            </a:r>
            <a:r>
              <a:rPr lang="zh-CN" altLang="en-US" dirty="0"/>
              <a:t>＝</a:t>
            </a:r>
            <a:r>
              <a:rPr lang="en-US" altLang="zh-CN" dirty="0"/>
              <a:t>p</a:t>
            </a:r>
            <a:r>
              <a:rPr lang="zh-CN" altLang="en-US" dirty="0"/>
              <a:t>，</a:t>
            </a:r>
            <a:r>
              <a:rPr lang="en-US" altLang="zh-CN" dirty="0"/>
              <a:t>p</a:t>
            </a:r>
            <a:r>
              <a:rPr lang="en-US" altLang="zh-CN" baseline="-25000" dirty="0"/>
              <a:t>1j</a:t>
            </a:r>
            <a:r>
              <a:rPr lang="zh-CN" altLang="en-US" dirty="0"/>
              <a:t>＝</a:t>
            </a:r>
            <a:r>
              <a:rPr lang="en-US" altLang="zh-CN" dirty="0"/>
              <a:t>0</a:t>
            </a:r>
            <a:r>
              <a:rPr lang="zh-CN" altLang="en-US" dirty="0"/>
              <a:t>，</a:t>
            </a:r>
            <a:r>
              <a:rPr lang="en-US" altLang="zh-CN" dirty="0"/>
              <a:t>j</a:t>
            </a:r>
            <a:r>
              <a:rPr lang="en-US" altLang="zh-CN" dirty="0">
                <a:sym typeface="Symbol" panose="05050102010706020507" pitchFamily="18" charset="2"/>
              </a:rPr>
              <a:t>=3,4,5</a:t>
            </a:r>
            <a:r>
              <a:rPr lang="zh-CN" altLang="en-US" dirty="0">
                <a:sym typeface="Symbol" panose="05050102010706020507" pitchFamily="18" charset="2"/>
              </a:rPr>
              <a:t>；</a:t>
            </a:r>
          </a:p>
          <a:p>
            <a:pPr algn="ctr" eaLnBrk="1" hangingPunct="1">
              <a:lnSpc>
                <a:spcPct val="160000"/>
              </a:lnSpc>
              <a:buFont typeface="Wingdings" panose="05000000000000000000" pitchFamily="2" charset="2"/>
              <a:buNone/>
            </a:pPr>
            <a:r>
              <a:rPr lang="en-US" altLang="zh-CN" dirty="0"/>
              <a:t>p</a:t>
            </a:r>
            <a:r>
              <a:rPr lang="en-US" altLang="zh-CN" baseline="-25000" dirty="0"/>
              <a:t>55</a:t>
            </a:r>
            <a:r>
              <a:rPr lang="zh-CN" altLang="en-US" dirty="0"/>
              <a:t>＝</a:t>
            </a:r>
            <a:r>
              <a:rPr lang="en-US" altLang="zh-CN" dirty="0"/>
              <a:t>p</a:t>
            </a:r>
            <a:r>
              <a:rPr lang="zh-CN" altLang="en-US" dirty="0"/>
              <a:t>，</a:t>
            </a:r>
            <a:r>
              <a:rPr lang="en-US" altLang="zh-CN" dirty="0"/>
              <a:t>p</a:t>
            </a:r>
            <a:r>
              <a:rPr lang="en-US" altLang="zh-CN" baseline="-25000" dirty="0"/>
              <a:t>54</a:t>
            </a:r>
            <a:r>
              <a:rPr lang="zh-CN" altLang="en-US" dirty="0"/>
              <a:t>＝</a:t>
            </a:r>
            <a:r>
              <a:rPr lang="en-US" altLang="zh-CN" dirty="0"/>
              <a:t>q</a:t>
            </a:r>
            <a:r>
              <a:rPr lang="zh-CN" altLang="en-US" dirty="0"/>
              <a:t>，</a:t>
            </a:r>
            <a:r>
              <a:rPr lang="en-US" altLang="zh-CN" dirty="0"/>
              <a:t>p</a:t>
            </a:r>
            <a:r>
              <a:rPr lang="en-US" altLang="zh-CN" baseline="-25000" dirty="0"/>
              <a:t>5j</a:t>
            </a:r>
            <a:r>
              <a:rPr lang="zh-CN" altLang="en-US" dirty="0"/>
              <a:t>＝</a:t>
            </a:r>
            <a:r>
              <a:rPr lang="en-US" altLang="zh-CN" dirty="0"/>
              <a:t>0</a:t>
            </a:r>
            <a:r>
              <a:rPr lang="zh-CN" altLang="en-US" dirty="0"/>
              <a:t>，</a:t>
            </a:r>
            <a:r>
              <a:rPr lang="en-US" altLang="zh-CN" dirty="0"/>
              <a:t>j</a:t>
            </a:r>
            <a:r>
              <a:rPr lang="en-US" altLang="zh-CN" dirty="0">
                <a:sym typeface="Symbol" panose="05050102010706020507" pitchFamily="18" charset="2"/>
              </a:rPr>
              <a:t>=1,2,3</a:t>
            </a:r>
            <a:r>
              <a:rPr lang="zh-CN" altLang="en-US" dirty="0">
                <a:sym typeface="Symbol" panose="05050102010706020507" pitchFamily="18" charset="2"/>
              </a:rPr>
              <a:t>；</a:t>
            </a:r>
          </a:p>
          <a:p>
            <a:pPr algn="ctr" eaLnBrk="1" hangingPunct="1">
              <a:lnSpc>
                <a:spcPct val="160000"/>
              </a:lnSpc>
              <a:buFont typeface="Wingdings" panose="05000000000000000000" pitchFamily="2" charset="2"/>
              <a:buNone/>
            </a:pPr>
            <a:r>
              <a:rPr lang="en-US" altLang="zh-CN" dirty="0"/>
              <a:t>p</a:t>
            </a:r>
            <a:r>
              <a:rPr lang="en-US" altLang="zh-CN" baseline="-25000" dirty="0"/>
              <a:t>i,i-1</a:t>
            </a:r>
            <a:r>
              <a:rPr lang="zh-CN" altLang="en-US" dirty="0"/>
              <a:t>＝</a:t>
            </a:r>
            <a:r>
              <a:rPr lang="en-US" altLang="zh-CN" dirty="0"/>
              <a:t>q</a:t>
            </a:r>
            <a:r>
              <a:rPr lang="zh-CN" altLang="en-US" dirty="0"/>
              <a:t>，</a:t>
            </a:r>
            <a:r>
              <a:rPr lang="en-US" altLang="zh-CN" dirty="0"/>
              <a:t>p</a:t>
            </a:r>
            <a:r>
              <a:rPr lang="en-US" altLang="zh-CN" baseline="-25000" dirty="0"/>
              <a:t>i,i+1</a:t>
            </a:r>
            <a:r>
              <a:rPr lang="zh-CN" altLang="en-US" dirty="0"/>
              <a:t>＝</a:t>
            </a:r>
            <a:r>
              <a:rPr lang="en-US" altLang="zh-CN" dirty="0"/>
              <a:t>p</a:t>
            </a:r>
            <a:r>
              <a:rPr lang="zh-CN" altLang="en-US" dirty="0"/>
              <a:t>，</a:t>
            </a:r>
            <a:r>
              <a:rPr lang="en-US" altLang="zh-CN" dirty="0" err="1"/>
              <a:t>i</a:t>
            </a:r>
            <a:r>
              <a:rPr lang="en-US" altLang="zh-CN" dirty="0"/>
              <a:t>=2,3,4</a:t>
            </a:r>
            <a:r>
              <a:rPr lang="zh-CN" altLang="en-US" dirty="0"/>
              <a:t>；</a:t>
            </a:r>
          </a:p>
          <a:p>
            <a:pPr algn="ctr" eaLnBrk="1" hangingPunct="1">
              <a:lnSpc>
                <a:spcPct val="160000"/>
              </a:lnSpc>
              <a:buFont typeface="Wingdings" panose="05000000000000000000" pitchFamily="2" charset="2"/>
              <a:buNone/>
            </a:pPr>
            <a:r>
              <a:rPr lang="en-US" altLang="zh-CN" dirty="0" err="1"/>
              <a:t>p</a:t>
            </a:r>
            <a:r>
              <a:rPr lang="en-US" altLang="zh-CN" baseline="-25000" dirty="0" err="1"/>
              <a:t>ij</a:t>
            </a:r>
            <a:r>
              <a:rPr lang="zh-CN" altLang="en-US" dirty="0"/>
              <a:t>＝</a:t>
            </a:r>
            <a:r>
              <a:rPr lang="en-US" altLang="zh-CN" dirty="0"/>
              <a:t>0</a:t>
            </a:r>
            <a:r>
              <a:rPr lang="zh-CN" altLang="en-US" dirty="0"/>
              <a:t>，</a:t>
            </a:r>
            <a:r>
              <a:rPr lang="en-US" altLang="zh-CN" dirty="0"/>
              <a:t>j</a:t>
            </a:r>
            <a:r>
              <a:rPr lang="en-US" altLang="zh-CN" dirty="0">
                <a:sym typeface="Symbol" panose="05050102010706020507" pitchFamily="18" charset="2"/>
              </a:rPr>
              <a:t>i-1,i+1</a:t>
            </a:r>
            <a:r>
              <a:rPr lang="zh-CN" altLang="en-US" dirty="0">
                <a:sym typeface="Symbol" panose="05050102010706020507" pitchFamily="18" charset="2"/>
              </a:rPr>
              <a:t>，</a:t>
            </a:r>
            <a:r>
              <a:rPr lang="en-US" altLang="zh-CN" dirty="0" err="1">
                <a:sym typeface="Symbol" panose="05050102010706020507" pitchFamily="18" charset="2"/>
              </a:rPr>
              <a:t>i</a:t>
            </a:r>
            <a:r>
              <a:rPr lang="en-US" altLang="zh-CN" dirty="0">
                <a:sym typeface="Symbol" panose="05050102010706020507" pitchFamily="18" charset="2"/>
              </a:rPr>
              <a:t>=2,3,4</a:t>
            </a:r>
            <a:r>
              <a:rPr lang="zh-CN" altLang="en-US" dirty="0">
                <a:sym typeface="Symbol" panose="05050102010706020507" pitchFamily="18" charset="2"/>
              </a:rPr>
              <a:t>。</a:t>
            </a:r>
          </a:p>
          <a:p>
            <a:pPr eaLnBrk="1" hangingPunct="1">
              <a:lnSpc>
                <a:spcPct val="160000"/>
              </a:lnSpc>
              <a:buFont typeface="Wingdings" panose="05000000000000000000" pitchFamily="2" charset="2"/>
              <a:buNone/>
            </a:pPr>
            <a:r>
              <a:rPr lang="zh-CN" altLang="en-US" dirty="0">
                <a:sym typeface="Symbol" panose="05050102010706020507" pitchFamily="18" charset="2"/>
              </a:rPr>
              <a:t>状态</a:t>
            </a:r>
            <a:r>
              <a:rPr lang="en-US" altLang="zh-CN" dirty="0">
                <a:sym typeface="Symbol" panose="05050102010706020507" pitchFamily="18" charset="2"/>
              </a:rPr>
              <a:t>1</a:t>
            </a:r>
            <a:r>
              <a:rPr lang="zh-CN" altLang="en-US" dirty="0">
                <a:sym typeface="Symbol" panose="05050102010706020507" pitchFamily="18" charset="2"/>
              </a:rPr>
              <a:t>和</a:t>
            </a:r>
            <a:r>
              <a:rPr lang="en-US" altLang="zh-CN" dirty="0">
                <a:sym typeface="Symbol" panose="05050102010706020507" pitchFamily="18" charset="2"/>
              </a:rPr>
              <a:t>5</a:t>
            </a:r>
            <a:r>
              <a:rPr lang="zh-CN" altLang="en-US" dirty="0">
                <a:sym typeface="Symbol" panose="05050102010706020507" pitchFamily="18" charset="2"/>
              </a:rPr>
              <a:t>称为</a:t>
            </a:r>
            <a:r>
              <a:rPr lang="zh-CN" altLang="en-US" dirty="0">
                <a:solidFill>
                  <a:srgbClr val="0000FF"/>
                </a:solidFill>
                <a:sym typeface="Symbol" panose="05050102010706020507" pitchFamily="18" charset="2"/>
              </a:rPr>
              <a:t>弹性壁</a:t>
            </a:r>
            <a:r>
              <a:rPr lang="zh-CN" altLang="en-US" dirty="0">
                <a:sym typeface="Symbol" panose="05050102010706020507" pitchFamily="18" charset="2"/>
              </a:rPr>
              <a:t>。</a:t>
            </a:r>
          </a:p>
        </p:txBody>
      </p:sp>
      <p:graphicFrame>
        <p:nvGraphicFramePr>
          <p:cNvPr id="276484" name="Object 4">
            <a:extLst>
              <a:ext uri="{FF2B5EF4-FFF2-40B4-BE49-F238E27FC236}">
                <a16:creationId xmlns:a16="http://schemas.microsoft.com/office/drawing/2014/main" id="{D28E52D4-05C2-E785-E7EA-60738E7ECBC9}"/>
              </a:ext>
            </a:extLst>
          </p:cNvPr>
          <p:cNvGraphicFramePr>
            <a:graphicFrameLocks noChangeAspect="1"/>
          </p:cNvGraphicFramePr>
          <p:nvPr/>
        </p:nvGraphicFramePr>
        <p:xfrm>
          <a:off x="3660775" y="4512077"/>
          <a:ext cx="2820053" cy="2251596"/>
        </p:xfrm>
        <a:graphic>
          <a:graphicData uri="http://schemas.openxmlformats.org/presentationml/2006/ole">
            <mc:AlternateContent xmlns:mc="http://schemas.openxmlformats.org/markup-compatibility/2006">
              <mc:Choice xmlns:v="urn:schemas-microsoft-com:vml" Requires="v">
                <p:oleObj name="Equation" r:id="rId3" imgW="1447800" imgH="1155700" progId="Equation.3">
                  <p:embed/>
                </p:oleObj>
              </mc:Choice>
              <mc:Fallback>
                <p:oleObj name="Equation" r:id="rId3" imgW="1447800" imgH="1155700" progId="Equation.3">
                  <p:embed/>
                  <p:pic>
                    <p:nvPicPr>
                      <p:cNvPr id="276484" name="Object 4">
                        <a:extLst>
                          <a:ext uri="{FF2B5EF4-FFF2-40B4-BE49-F238E27FC236}">
                            <a16:creationId xmlns:a16="http://schemas.microsoft.com/office/drawing/2014/main" id="{D28E52D4-05C2-E785-E7EA-60738E7ECB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0775" y="4512077"/>
                        <a:ext cx="2820053" cy="2251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485" name="Rectangle 5">
            <a:extLst>
              <a:ext uri="{FF2B5EF4-FFF2-40B4-BE49-F238E27FC236}">
                <a16:creationId xmlns:a16="http://schemas.microsoft.com/office/drawing/2014/main" id="{D93C8FF5-C7F6-BB91-430C-0A34570884A9}"/>
              </a:ext>
            </a:extLst>
          </p:cNvPr>
          <p:cNvSpPr>
            <a:spLocks noChangeArrowheads="1"/>
          </p:cNvSpPr>
          <p:nvPr/>
        </p:nvSpPr>
        <p:spPr bwMode="auto">
          <a:xfrm>
            <a:off x="1264859" y="5362229"/>
            <a:ext cx="2210312" cy="45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buClr>
                <a:srgbClr val="00FF00"/>
              </a:buClr>
              <a:buFont typeface="Wingdings" panose="05000000000000000000" pitchFamily="2" charset="2"/>
              <a:buNone/>
            </a:pPr>
            <a:r>
              <a:rPr lang="zh-CN" altLang="en-US" sz="2400" dirty="0">
                <a:solidFill>
                  <a:srgbClr val="000000"/>
                </a:solidFill>
                <a:sym typeface="Symbol" panose="05050102010706020507" pitchFamily="18" charset="2"/>
              </a:rPr>
              <a:t>转移矩阵：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6483">
                                            <p:txEl>
                                              <p:pRg st="0" end="0"/>
                                            </p:txEl>
                                          </p:spTgt>
                                        </p:tgtEl>
                                        <p:attrNameLst>
                                          <p:attrName>style.visibility</p:attrName>
                                        </p:attrNameLst>
                                      </p:cBhvr>
                                      <p:to>
                                        <p:strVal val="visible"/>
                                      </p:to>
                                    </p:set>
                                    <p:anim calcmode="lin" valueType="num">
                                      <p:cBhvr additive="base">
                                        <p:cTn id="7" dur="500" fill="hold"/>
                                        <p:tgtEl>
                                          <p:spTgt spid="276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48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76483">
                                            <p:txEl>
                                              <p:pRg st="1" end="1"/>
                                            </p:txEl>
                                          </p:spTgt>
                                        </p:tgtEl>
                                        <p:attrNameLst>
                                          <p:attrName>style.visibility</p:attrName>
                                        </p:attrNameLst>
                                      </p:cBhvr>
                                      <p:to>
                                        <p:strVal val="visible"/>
                                      </p:to>
                                    </p:set>
                                    <p:anim calcmode="lin" valueType="num">
                                      <p:cBhvr additive="base">
                                        <p:cTn id="12" dur="500" fill="hold"/>
                                        <p:tgtEl>
                                          <p:spTgt spid="27648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76483">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76483">
                                            <p:txEl>
                                              <p:pRg st="2" end="2"/>
                                            </p:txEl>
                                          </p:spTgt>
                                        </p:tgtEl>
                                        <p:attrNameLst>
                                          <p:attrName>style.visibility</p:attrName>
                                        </p:attrNameLst>
                                      </p:cBhvr>
                                      <p:to>
                                        <p:strVal val="visible"/>
                                      </p:to>
                                    </p:set>
                                    <p:anim calcmode="lin" valueType="num">
                                      <p:cBhvr additive="base">
                                        <p:cTn id="17" dur="500" fill="hold"/>
                                        <p:tgtEl>
                                          <p:spTgt spid="27648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6483">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76483">
                                            <p:txEl>
                                              <p:pRg st="3" end="3"/>
                                            </p:txEl>
                                          </p:spTgt>
                                        </p:tgtEl>
                                        <p:attrNameLst>
                                          <p:attrName>style.visibility</p:attrName>
                                        </p:attrNameLst>
                                      </p:cBhvr>
                                      <p:to>
                                        <p:strVal val="visible"/>
                                      </p:to>
                                    </p:set>
                                    <p:anim calcmode="lin" valueType="num">
                                      <p:cBhvr additive="base">
                                        <p:cTn id="22" dur="500" fill="hold"/>
                                        <p:tgtEl>
                                          <p:spTgt spid="27648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76483">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76483">
                                            <p:txEl>
                                              <p:pRg st="4" end="4"/>
                                            </p:txEl>
                                          </p:spTgt>
                                        </p:tgtEl>
                                        <p:attrNameLst>
                                          <p:attrName>style.visibility</p:attrName>
                                        </p:attrNameLst>
                                      </p:cBhvr>
                                      <p:to>
                                        <p:strVal val="visible"/>
                                      </p:to>
                                    </p:set>
                                    <p:anim calcmode="lin" valueType="num">
                                      <p:cBhvr additive="base">
                                        <p:cTn id="27" dur="500" fill="hold"/>
                                        <p:tgtEl>
                                          <p:spTgt spid="27648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6483">
                                            <p:txEl>
                                              <p:pRg st="4" end="4"/>
                                            </p:txEl>
                                          </p:spTgt>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276483">
                                            <p:txEl>
                                              <p:pRg st="5" end="5"/>
                                            </p:txEl>
                                          </p:spTgt>
                                        </p:tgtEl>
                                        <p:attrNameLst>
                                          <p:attrName>style.visibility</p:attrName>
                                        </p:attrNameLst>
                                      </p:cBhvr>
                                      <p:to>
                                        <p:strVal val="visible"/>
                                      </p:to>
                                    </p:set>
                                    <p:anim calcmode="lin" valueType="num">
                                      <p:cBhvr additive="base">
                                        <p:cTn id="32" dur="500" fill="hold"/>
                                        <p:tgtEl>
                                          <p:spTgt spid="27648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764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76485"/>
                                        </p:tgtEl>
                                        <p:attrNameLst>
                                          <p:attrName>style.visibility</p:attrName>
                                        </p:attrNameLst>
                                      </p:cBhvr>
                                      <p:to>
                                        <p:strVal val="visible"/>
                                      </p:to>
                                    </p:set>
                                    <p:anim calcmode="lin" valueType="num">
                                      <p:cBhvr additive="base">
                                        <p:cTn id="38" dur="500" fill="hold"/>
                                        <p:tgtEl>
                                          <p:spTgt spid="276485"/>
                                        </p:tgtEl>
                                        <p:attrNameLst>
                                          <p:attrName>ppt_x</p:attrName>
                                        </p:attrNameLst>
                                      </p:cBhvr>
                                      <p:tavLst>
                                        <p:tav tm="0">
                                          <p:val>
                                            <p:strVal val="#ppt_x"/>
                                          </p:val>
                                        </p:tav>
                                        <p:tav tm="100000">
                                          <p:val>
                                            <p:strVal val="#ppt_x"/>
                                          </p:val>
                                        </p:tav>
                                      </p:tavLst>
                                    </p:anim>
                                    <p:anim calcmode="lin" valueType="num">
                                      <p:cBhvr additive="base">
                                        <p:cTn id="39" dur="500" fill="hold"/>
                                        <p:tgtEl>
                                          <p:spTgt spid="276485"/>
                                        </p:tgtEl>
                                        <p:attrNameLst>
                                          <p:attrName>ppt_y</p:attrName>
                                        </p:attrNameLst>
                                      </p:cBhvr>
                                      <p:tavLst>
                                        <p:tav tm="0">
                                          <p:val>
                                            <p:strVal val="1+#ppt_h/2"/>
                                          </p:val>
                                        </p:tav>
                                        <p:tav tm="100000">
                                          <p:val>
                                            <p:strVal val="#ppt_y"/>
                                          </p:val>
                                        </p:tav>
                                      </p:tavLst>
                                    </p:anim>
                                  </p:childTnLst>
                                </p:cTn>
                              </p:par>
                            </p:childTnLst>
                          </p:cTn>
                        </p:par>
                        <p:par>
                          <p:cTn id="40" fill="hold" nodeType="afterGroup">
                            <p:stCondLst>
                              <p:cond delay="500"/>
                            </p:stCondLst>
                            <p:childTnLst>
                              <p:par>
                                <p:cTn id="41" presetID="6" presetClass="entr" presetSubtype="16" fill="hold" nodeType="afterEffect">
                                  <p:stCondLst>
                                    <p:cond delay="0"/>
                                  </p:stCondLst>
                                  <p:childTnLst>
                                    <p:set>
                                      <p:cBhvr>
                                        <p:cTn id="42" dur="1" fill="hold">
                                          <p:stCondLst>
                                            <p:cond delay="0"/>
                                          </p:stCondLst>
                                        </p:cTn>
                                        <p:tgtEl>
                                          <p:spTgt spid="276484"/>
                                        </p:tgtEl>
                                        <p:attrNameLst>
                                          <p:attrName>style.visibility</p:attrName>
                                        </p:attrNameLst>
                                      </p:cBhvr>
                                      <p:to>
                                        <p:strVal val="visible"/>
                                      </p:to>
                                    </p:set>
                                    <p:animEffect transition="in" filter="circle(in)">
                                      <p:cBhvr>
                                        <p:cTn id="43" dur="2000"/>
                                        <p:tgtEl>
                                          <p:spTgt spid="276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3" grpId="0" build="p"/>
      <p:bldP spid="27648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4E009-82D1-5AA5-BD74-E3A23A9C9A62}"/>
            </a:ext>
          </a:extLst>
        </p:cNvPr>
        <p:cNvGrpSpPr/>
        <p:nvPr/>
      </p:nvGrpSpPr>
      <p:grpSpPr>
        <a:xfrm>
          <a:off x="0" y="0"/>
          <a:ext cx="0" cy="0"/>
          <a:chOff x="0" y="0"/>
          <a:chExt cx="0" cy="0"/>
        </a:xfrm>
      </p:grpSpPr>
      <p:sp>
        <p:nvSpPr>
          <p:cNvPr id="10244" name="Rectangle 2">
            <a:extLst>
              <a:ext uri="{FF2B5EF4-FFF2-40B4-BE49-F238E27FC236}">
                <a16:creationId xmlns:a16="http://schemas.microsoft.com/office/drawing/2014/main" id="{E7D8C04E-F026-644D-201C-3D579D143E12}"/>
              </a:ext>
            </a:extLst>
          </p:cNvPr>
          <p:cNvSpPr>
            <a:spLocks noGrp="1" noChangeArrowheads="1"/>
          </p:cNvSpPr>
          <p:nvPr>
            <p:ph type="title"/>
          </p:nvPr>
        </p:nvSpPr>
        <p:spPr/>
        <p:txBody>
          <a:bodyPr/>
          <a:lstStyle/>
          <a:p>
            <a:pPr eaLnBrk="1" hangingPunct="1"/>
            <a:r>
              <a:rPr lang="zh-CN" altLang="en-US" dirty="0"/>
              <a:t>本讲主要内容</a:t>
            </a:r>
          </a:p>
        </p:txBody>
      </p:sp>
      <p:sp>
        <p:nvSpPr>
          <p:cNvPr id="344067" name="Rectangle 3">
            <a:extLst>
              <a:ext uri="{FF2B5EF4-FFF2-40B4-BE49-F238E27FC236}">
                <a16:creationId xmlns:a16="http://schemas.microsoft.com/office/drawing/2014/main" id="{7B07183E-47C0-2747-6EDF-C70F1F5CC0FA}"/>
              </a:ext>
            </a:extLst>
          </p:cNvPr>
          <p:cNvSpPr>
            <a:spLocks noGrp="1" noChangeArrowheads="1"/>
          </p:cNvSpPr>
          <p:nvPr>
            <p:ph type="body" idx="1"/>
          </p:nvPr>
        </p:nvSpPr>
        <p:spPr>
          <a:xfrm>
            <a:off x="609917" y="1067142"/>
            <a:ext cx="7110471" cy="5757607"/>
          </a:xfrm>
        </p:spPr>
        <p:txBody>
          <a:bodyPr>
            <a:normAutofit/>
          </a:bodyPr>
          <a:lstStyle/>
          <a:p>
            <a:pPr eaLnBrk="1" hangingPunct="1">
              <a:buClr>
                <a:srgbClr val="00FF00"/>
              </a:buClr>
              <a:buFont typeface="Wingdings" panose="05000000000000000000" pitchFamily="2" charset="2"/>
              <a:buChar char="Ø"/>
            </a:pPr>
            <a:r>
              <a:rPr lang="zh-CN" altLang="en-US" dirty="0">
                <a:solidFill>
                  <a:srgbClr val="0000FF"/>
                </a:solidFill>
                <a:latin typeface="黑体" panose="02010609060101010101" pitchFamily="49" charset="-122"/>
              </a:rPr>
              <a:t>泊松过程</a:t>
            </a:r>
          </a:p>
          <a:p>
            <a:pPr lvl="1" eaLnBrk="1" hangingPunct="1">
              <a:buClr>
                <a:srgbClr val="FF0000"/>
              </a:buClr>
              <a:buFontTx/>
              <a:buChar char="•"/>
            </a:pPr>
            <a:r>
              <a:rPr lang="zh-CN" altLang="en-US" dirty="0">
                <a:solidFill>
                  <a:srgbClr val="CC00CC"/>
                </a:solidFill>
                <a:latin typeface="黑体" panose="02010609060101010101" pitchFamily="49" charset="-122"/>
              </a:rPr>
              <a:t>泊松过程的两个定义及其等价性</a:t>
            </a:r>
          </a:p>
          <a:p>
            <a:pPr lvl="1" eaLnBrk="1" hangingPunct="1">
              <a:buClr>
                <a:srgbClr val="FF0000"/>
              </a:buClr>
              <a:buFontTx/>
              <a:buChar char="•"/>
            </a:pPr>
            <a:r>
              <a:rPr lang="zh-CN" altLang="en-US" dirty="0">
                <a:solidFill>
                  <a:srgbClr val="CC00CC"/>
                </a:solidFill>
                <a:latin typeface="黑体" panose="02010609060101010101" pitchFamily="49" charset="-122"/>
              </a:rPr>
              <a:t>泊松过程的概率分布</a:t>
            </a:r>
          </a:p>
          <a:p>
            <a:pPr lvl="1" eaLnBrk="1" hangingPunct="1">
              <a:buClr>
                <a:srgbClr val="FF0000"/>
              </a:buClr>
              <a:buFontTx/>
              <a:buChar char="•"/>
            </a:pPr>
            <a:r>
              <a:rPr lang="zh-CN" altLang="en-US" dirty="0">
                <a:solidFill>
                  <a:srgbClr val="CC00CC"/>
                </a:solidFill>
                <a:latin typeface="黑体" panose="02010609060101010101" pitchFamily="49" charset="-122"/>
              </a:rPr>
              <a:t>泊松过程的数字特征</a:t>
            </a:r>
          </a:p>
          <a:p>
            <a:pPr lvl="1" eaLnBrk="1" hangingPunct="1">
              <a:buClr>
                <a:srgbClr val="FF0000"/>
              </a:buClr>
              <a:buFontTx/>
              <a:buChar char="•"/>
            </a:pPr>
            <a:r>
              <a:rPr lang="zh-CN" altLang="en-US" dirty="0">
                <a:solidFill>
                  <a:srgbClr val="CC00CC"/>
                </a:solidFill>
                <a:latin typeface="黑体" panose="02010609060101010101" pitchFamily="49" charset="-122"/>
              </a:rPr>
              <a:t>泊松过程的性质</a:t>
            </a:r>
            <a:endParaRPr lang="en-US" altLang="zh-CN" dirty="0">
              <a:solidFill>
                <a:srgbClr val="CC00CC"/>
              </a:solidFill>
              <a:latin typeface="黑体" panose="02010609060101010101" pitchFamily="49" charset="-122"/>
            </a:endParaRPr>
          </a:p>
          <a:p>
            <a:pPr lvl="1" eaLnBrk="1" hangingPunct="1">
              <a:buClr>
                <a:srgbClr val="FF0000"/>
              </a:buClr>
              <a:buFontTx/>
              <a:buChar char="•"/>
            </a:pPr>
            <a:r>
              <a:rPr lang="zh-CN" altLang="en-US" dirty="0">
                <a:solidFill>
                  <a:srgbClr val="CC00CC"/>
                </a:solidFill>
                <a:latin typeface="黑体" panose="02010609060101010101" pitchFamily="49" charset="-122"/>
              </a:rPr>
              <a:t>非齐次泊松过程</a:t>
            </a:r>
            <a:endParaRPr lang="en-US" altLang="zh-CN" dirty="0">
              <a:solidFill>
                <a:srgbClr val="CC00CC"/>
              </a:solidFill>
              <a:latin typeface="黑体" panose="02010609060101010101" pitchFamily="49" charset="-122"/>
            </a:endParaRPr>
          </a:p>
          <a:p>
            <a:pPr lvl="1" eaLnBrk="1" hangingPunct="1">
              <a:buClr>
                <a:srgbClr val="FF0000"/>
              </a:buClr>
              <a:buFontTx/>
              <a:buChar char="•"/>
            </a:pPr>
            <a:r>
              <a:rPr lang="zh-CN" altLang="en-US" dirty="0">
                <a:solidFill>
                  <a:srgbClr val="CC00CC"/>
                </a:solidFill>
                <a:latin typeface="黑体" panose="02010609060101010101" pitchFamily="49" charset="-122"/>
              </a:rPr>
              <a:t>复合泊松过程</a:t>
            </a:r>
          </a:p>
          <a:p>
            <a:pPr eaLnBrk="1" hangingPunct="1">
              <a:buFont typeface="Wingdings" panose="05000000000000000000" pitchFamily="2" charset="2"/>
              <a:buChar char="Ø"/>
            </a:pPr>
            <a:r>
              <a:rPr lang="zh-CN" altLang="en-US" dirty="0">
                <a:solidFill>
                  <a:srgbClr val="0000FF"/>
                </a:solidFill>
                <a:latin typeface="黑体" panose="02010609060101010101" pitchFamily="49" charset="-122"/>
              </a:rPr>
              <a:t>更新计数过程</a:t>
            </a:r>
            <a:endParaRPr lang="en-US" altLang="zh-CN" dirty="0">
              <a:solidFill>
                <a:srgbClr val="0000FF"/>
              </a:solidFill>
              <a:latin typeface="黑体" panose="02010609060101010101" pitchFamily="49" charset="-122"/>
            </a:endParaRPr>
          </a:p>
          <a:p>
            <a:pPr lvl="1" eaLnBrk="1" hangingPunct="1">
              <a:buClr>
                <a:srgbClr val="FF0000"/>
              </a:buClr>
              <a:buFontTx/>
              <a:buChar char="•"/>
            </a:pPr>
            <a:endParaRPr lang="zh-CN" altLang="en-US" dirty="0">
              <a:solidFill>
                <a:srgbClr val="CC00CC"/>
              </a:solidFill>
              <a:latin typeface="黑体" panose="02010609060101010101" pitchFamily="49" charset="-122"/>
            </a:endParaRPr>
          </a:p>
        </p:txBody>
      </p:sp>
      <p:sp>
        <p:nvSpPr>
          <p:cNvPr id="2" name="Rectangle 3">
            <a:extLst>
              <a:ext uri="{FF2B5EF4-FFF2-40B4-BE49-F238E27FC236}">
                <a16:creationId xmlns:a16="http://schemas.microsoft.com/office/drawing/2014/main" id="{D73610DF-082B-A0D1-A0A7-58685D58C0A0}"/>
              </a:ext>
            </a:extLst>
          </p:cNvPr>
          <p:cNvSpPr txBox="1">
            <a:spLocks noChangeArrowheads="1"/>
          </p:cNvSpPr>
          <p:nvPr/>
        </p:nvSpPr>
        <p:spPr>
          <a:xfrm>
            <a:off x="6480176" y="1067142"/>
            <a:ext cx="5181600" cy="4749460"/>
          </a:xfrm>
          <a:prstGeom prst="rect">
            <a:avLst/>
          </a:prstGeom>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60000"/>
              </a:lnSpc>
              <a:buFont typeface="Wingdings" panose="05000000000000000000" pitchFamily="2" charset="2"/>
              <a:buChar char="Ø"/>
            </a:pPr>
            <a:r>
              <a:rPr lang="zh-CN" altLang="en-US" dirty="0">
                <a:solidFill>
                  <a:srgbClr val="0000FF"/>
                </a:solidFill>
                <a:latin typeface="黑体" panose="02010609060101010101" pitchFamily="49" charset="-122"/>
              </a:rPr>
              <a:t>马尔可夫过程</a:t>
            </a:r>
          </a:p>
          <a:p>
            <a:pPr lvl="1">
              <a:lnSpc>
                <a:spcPct val="160000"/>
              </a:lnSpc>
              <a:buClr>
                <a:srgbClr val="FF0000"/>
              </a:buClr>
              <a:buFontTx/>
              <a:buChar char="•"/>
            </a:pPr>
            <a:r>
              <a:rPr lang="zh-CN" altLang="en-US" dirty="0">
                <a:solidFill>
                  <a:srgbClr val="CC00CC"/>
                </a:solidFill>
                <a:latin typeface="黑体" panose="02010609060101010101" pitchFamily="49" charset="-122"/>
              </a:rPr>
              <a:t>马尔可夫过程的概念</a:t>
            </a:r>
          </a:p>
          <a:p>
            <a:pPr lvl="1">
              <a:buClr>
                <a:srgbClr val="FF0000"/>
              </a:buClr>
              <a:buFontTx/>
              <a:buChar char="•"/>
            </a:pPr>
            <a:r>
              <a:rPr lang="zh-CN" altLang="en-US" dirty="0">
                <a:solidFill>
                  <a:srgbClr val="CC00CC"/>
                </a:solidFill>
                <a:latin typeface="黑体" panose="02010609060101010101" pitchFamily="49" charset="-122"/>
              </a:rPr>
              <a:t>马尔可夫过程的分类</a:t>
            </a:r>
          </a:p>
          <a:p>
            <a:pPr lvl="1">
              <a:lnSpc>
                <a:spcPct val="160000"/>
              </a:lnSpc>
              <a:buClr>
                <a:srgbClr val="FF0000"/>
              </a:buClr>
              <a:buFontTx/>
              <a:buChar char="•"/>
            </a:pPr>
            <a:r>
              <a:rPr lang="zh-CN" altLang="en-US" dirty="0">
                <a:solidFill>
                  <a:srgbClr val="CC00CC"/>
                </a:solidFill>
                <a:latin typeface="黑体" panose="02010609060101010101" pitchFamily="49" charset="-122"/>
              </a:rPr>
              <a:t>离散参数马氏链</a:t>
            </a:r>
            <a:endParaRPr lang="en-US" altLang="zh-CN" dirty="0">
              <a:solidFill>
                <a:srgbClr val="CC00CC"/>
              </a:solidFill>
              <a:latin typeface="黑体" panose="02010609060101010101" pitchFamily="49" charset="-122"/>
            </a:endParaRPr>
          </a:p>
          <a:p>
            <a:pPr lvl="1">
              <a:lnSpc>
                <a:spcPct val="160000"/>
              </a:lnSpc>
              <a:buClr>
                <a:srgbClr val="FF0000"/>
              </a:buClr>
              <a:buFontTx/>
              <a:buChar char="•"/>
            </a:pPr>
            <a:r>
              <a:rPr lang="en-US" altLang="zh-CN" dirty="0">
                <a:solidFill>
                  <a:srgbClr val="CC00CC"/>
                </a:solidFill>
                <a:latin typeface="黑体" panose="02010609060101010101" pitchFamily="49" charset="-122"/>
              </a:rPr>
              <a:t>k</a:t>
            </a:r>
            <a:r>
              <a:rPr lang="zh-CN" altLang="en-US" dirty="0">
                <a:solidFill>
                  <a:srgbClr val="CC00CC"/>
                </a:solidFill>
                <a:latin typeface="黑体" panose="02010609060101010101" pitchFamily="49" charset="-122"/>
              </a:rPr>
              <a:t>步转移概率、 </a:t>
            </a:r>
            <a:r>
              <a:rPr lang="en-US" altLang="zh-CN" dirty="0">
                <a:solidFill>
                  <a:srgbClr val="CC00CC"/>
                </a:solidFill>
                <a:latin typeface="黑体" panose="02010609060101010101" pitchFamily="49" charset="-122"/>
              </a:rPr>
              <a:t>k</a:t>
            </a:r>
            <a:r>
              <a:rPr lang="zh-CN" altLang="en-US" dirty="0">
                <a:solidFill>
                  <a:srgbClr val="CC00CC"/>
                </a:solidFill>
                <a:latin typeface="黑体" panose="02010609060101010101" pitchFamily="49" charset="-122"/>
              </a:rPr>
              <a:t>步转移矩阵</a:t>
            </a:r>
          </a:p>
          <a:p>
            <a:pPr lvl="1">
              <a:lnSpc>
                <a:spcPct val="160000"/>
              </a:lnSpc>
              <a:buClr>
                <a:srgbClr val="FF0000"/>
              </a:buClr>
              <a:buFontTx/>
              <a:buChar char="•"/>
            </a:pPr>
            <a:r>
              <a:rPr lang="zh-CN" altLang="en-US" dirty="0">
                <a:solidFill>
                  <a:srgbClr val="CC00CC"/>
                </a:solidFill>
                <a:latin typeface="黑体" panose="02010609060101010101" pitchFamily="49" charset="-122"/>
              </a:rPr>
              <a:t>齐次马尔可夫链</a:t>
            </a:r>
          </a:p>
        </p:txBody>
      </p:sp>
    </p:spTree>
    <p:extLst>
      <p:ext uri="{BB962C8B-B14F-4D97-AF65-F5344CB8AC3E}">
        <p14:creationId xmlns:p14="http://schemas.microsoft.com/office/powerpoint/2010/main" val="1117423922"/>
      </p:ext>
    </p:extLst>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 calcmode="lin" valueType="num">
                                      <p:cBhvr additive="base">
                                        <p:cTn id="7" dur="500" fill="hold"/>
                                        <p:tgtEl>
                                          <p:spTgt spid="3440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406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44067">
                                            <p:txEl>
                                              <p:pRg st="1" end="1"/>
                                            </p:txEl>
                                          </p:spTgt>
                                        </p:tgtEl>
                                        <p:attrNameLst>
                                          <p:attrName>style.visibility</p:attrName>
                                        </p:attrNameLst>
                                      </p:cBhvr>
                                      <p:to>
                                        <p:strVal val="visible"/>
                                      </p:to>
                                    </p:set>
                                    <p:anim calcmode="lin" valueType="num">
                                      <p:cBhvr additive="base">
                                        <p:cTn id="11" dur="500" fill="hold"/>
                                        <p:tgtEl>
                                          <p:spTgt spid="34406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406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44067">
                                            <p:txEl>
                                              <p:pRg st="2" end="2"/>
                                            </p:txEl>
                                          </p:spTgt>
                                        </p:tgtEl>
                                        <p:attrNameLst>
                                          <p:attrName>style.visibility</p:attrName>
                                        </p:attrNameLst>
                                      </p:cBhvr>
                                      <p:to>
                                        <p:strVal val="visible"/>
                                      </p:to>
                                    </p:set>
                                    <p:anim calcmode="lin" valueType="num">
                                      <p:cBhvr additive="base">
                                        <p:cTn id="15" dur="500" fill="hold"/>
                                        <p:tgtEl>
                                          <p:spTgt spid="34406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4406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44067">
                                            <p:txEl>
                                              <p:pRg st="3" end="3"/>
                                            </p:txEl>
                                          </p:spTgt>
                                        </p:tgtEl>
                                        <p:attrNameLst>
                                          <p:attrName>style.visibility</p:attrName>
                                        </p:attrNameLst>
                                      </p:cBhvr>
                                      <p:to>
                                        <p:strVal val="visible"/>
                                      </p:to>
                                    </p:set>
                                    <p:anim calcmode="lin" valueType="num">
                                      <p:cBhvr additive="base">
                                        <p:cTn id="19" dur="500" fill="hold"/>
                                        <p:tgtEl>
                                          <p:spTgt spid="34406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406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44067">
                                            <p:txEl>
                                              <p:pRg st="4" end="4"/>
                                            </p:txEl>
                                          </p:spTgt>
                                        </p:tgtEl>
                                        <p:attrNameLst>
                                          <p:attrName>style.visibility</p:attrName>
                                        </p:attrNameLst>
                                      </p:cBhvr>
                                      <p:to>
                                        <p:strVal val="visible"/>
                                      </p:to>
                                    </p:set>
                                    <p:anim calcmode="lin" valueType="num">
                                      <p:cBhvr additive="base">
                                        <p:cTn id="23" dur="500" fill="hold"/>
                                        <p:tgtEl>
                                          <p:spTgt spid="34406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406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44067">
                                            <p:txEl>
                                              <p:pRg st="5" end="5"/>
                                            </p:txEl>
                                          </p:spTgt>
                                        </p:tgtEl>
                                        <p:attrNameLst>
                                          <p:attrName>style.visibility</p:attrName>
                                        </p:attrNameLst>
                                      </p:cBhvr>
                                      <p:to>
                                        <p:strVal val="visible"/>
                                      </p:to>
                                    </p:set>
                                    <p:anim calcmode="lin" valueType="num">
                                      <p:cBhvr additive="base">
                                        <p:cTn id="27" dur="500" fill="hold"/>
                                        <p:tgtEl>
                                          <p:spTgt spid="34406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4406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44067">
                                            <p:txEl>
                                              <p:pRg st="6" end="6"/>
                                            </p:txEl>
                                          </p:spTgt>
                                        </p:tgtEl>
                                        <p:attrNameLst>
                                          <p:attrName>style.visibility</p:attrName>
                                        </p:attrNameLst>
                                      </p:cBhvr>
                                      <p:to>
                                        <p:strVal val="visible"/>
                                      </p:to>
                                    </p:set>
                                    <p:anim calcmode="lin" valueType="num">
                                      <p:cBhvr additive="base">
                                        <p:cTn id="31" dur="500" fill="hold"/>
                                        <p:tgtEl>
                                          <p:spTgt spid="34406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440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44067">
                                            <p:txEl>
                                              <p:pRg st="7" end="7"/>
                                            </p:txEl>
                                          </p:spTgt>
                                        </p:tgtEl>
                                        <p:attrNameLst>
                                          <p:attrName>style.visibility</p:attrName>
                                        </p:attrNameLst>
                                      </p:cBhvr>
                                      <p:to>
                                        <p:strVal val="visible"/>
                                      </p:to>
                                    </p:set>
                                    <p:anim calcmode="lin" valueType="num">
                                      <p:cBhvr additive="base">
                                        <p:cTn id="37" dur="500" fill="hold"/>
                                        <p:tgtEl>
                                          <p:spTgt spid="34406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440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0" end="0"/>
                                            </p:txEl>
                                          </p:spTgt>
                                        </p:tgtEl>
                                        <p:attrNameLst>
                                          <p:attrName>style.visibility</p:attrName>
                                        </p:attrNameLst>
                                      </p:cBhvr>
                                      <p:to>
                                        <p:strVal val="visible"/>
                                      </p:to>
                                    </p:set>
                                    <p:anim calcmode="lin" valueType="num">
                                      <p:cBhvr additive="base">
                                        <p:cTn id="4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xEl>
                                              <p:pRg st="1" end="1"/>
                                            </p:txEl>
                                          </p:spTgt>
                                        </p:tgtEl>
                                        <p:attrNameLst>
                                          <p:attrName>style.visibility</p:attrName>
                                        </p:attrNameLst>
                                      </p:cBhvr>
                                      <p:to>
                                        <p:strVal val="visible"/>
                                      </p:to>
                                    </p:set>
                                    <p:anim calcmode="lin" valueType="num">
                                      <p:cBhvr additive="base">
                                        <p:cTn id="4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
                                            <p:txEl>
                                              <p:pRg st="2" end="2"/>
                                            </p:txEl>
                                          </p:spTgt>
                                        </p:tgtEl>
                                        <p:attrNameLst>
                                          <p:attrName>style.visibility</p:attrName>
                                        </p:attrNameLst>
                                      </p:cBhvr>
                                      <p:to>
                                        <p:strVal val="visible"/>
                                      </p:to>
                                    </p:set>
                                    <p:anim calcmode="lin" valueType="num">
                                      <p:cBhvr additive="base">
                                        <p:cTn id="5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
                                            <p:txEl>
                                              <p:pRg st="3" end="3"/>
                                            </p:txEl>
                                          </p:spTgt>
                                        </p:tgtEl>
                                        <p:attrNameLst>
                                          <p:attrName>style.visibility</p:attrName>
                                        </p:attrNameLst>
                                      </p:cBhvr>
                                      <p:to>
                                        <p:strVal val="visible"/>
                                      </p:to>
                                    </p:set>
                                    <p:anim calcmode="lin" valueType="num">
                                      <p:cBhvr additive="base">
                                        <p:cTn id="5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
                                            <p:txEl>
                                              <p:pRg st="4" end="4"/>
                                            </p:txEl>
                                          </p:spTgt>
                                        </p:tgtEl>
                                        <p:attrNameLst>
                                          <p:attrName>style.visibility</p:attrName>
                                        </p:attrNameLst>
                                      </p:cBhvr>
                                      <p:to>
                                        <p:strVal val="visible"/>
                                      </p:to>
                                    </p:set>
                                    <p:anim calcmode="lin" valueType="num">
                                      <p:cBhvr additive="base">
                                        <p:cTn id="5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
                                            <p:txEl>
                                              <p:pRg st="5" end="5"/>
                                            </p:txEl>
                                          </p:spTgt>
                                        </p:tgtEl>
                                        <p:attrNameLst>
                                          <p:attrName>style.visibility</p:attrName>
                                        </p:attrNameLst>
                                      </p:cBhvr>
                                      <p:to>
                                        <p:strVal val="visible"/>
                                      </p:to>
                                    </p:set>
                                    <p:anim calcmode="lin" valueType="num">
                                      <p:cBhvr additive="base">
                                        <p:cTn id="6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build="p"/>
      <p:bldP spid="2"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a:extLst>
              <a:ext uri="{FF2B5EF4-FFF2-40B4-BE49-F238E27FC236}">
                <a16:creationId xmlns:a16="http://schemas.microsoft.com/office/drawing/2014/main" id="{BC98DBDF-FEAF-004A-17EA-8DBE6AC3E8F9}"/>
              </a:ext>
            </a:extLst>
          </p:cNvPr>
          <p:cNvSpPr>
            <a:spLocks noGrp="1" noChangeArrowheads="1"/>
          </p:cNvSpPr>
          <p:nvPr>
            <p:ph type="title"/>
          </p:nvPr>
        </p:nvSpPr>
        <p:spPr/>
        <p:txBody>
          <a:bodyPr/>
          <a:lstStyle/>
          <a:p>
            <a:pPr eaLnBrk="1" hangingPunct="1"/>
            <a:r>
              <a:rPr lang="zh-CN" altLang="en-US"/>
              <a:t>下一讲内容预告</a:t>
            </a:r>
          </a:p>
        </p:txBody>
      </p:sp>
      <p:sp>
        <p:nvSpPr>
          <p:cNvPr id="340995" name="Rectangle 3">
            <a:extLst>
              <a:ext uri="{FF2B5EF4-FFF2-40B4-BE49-F238E27FC236}">
                <a16:creationId xmlns:a16="http://schemas.microsoft.com/office/drawing/2014/main" id="{7F0CFFA4-2920-2289-B98B-BC2C57C1140E}"/>
              </a:ext>
            </a:extLst>
          </p:cNvPr>
          <p:cNvSpPr>
            <a:spLocks noGrp="1" noChangeArrowheads="1"/>
          </p:cNvSpPr>
          <p:nvPr>
            <p:ph type="body" idx="1"/>
          </p:nvPr>
        </p:nvSpPr>
        <p:spPr>
          <a:xfrm>
            <a:off x="771938" y="1067594"/>
            <a:ext cx="5784438" cy="4211025"/>
          </a:xfrm>
        </p:spPr>
        <p:txBody>
          <a:bodyPr>
            <a:normAutofit/>
          </a:bodyPr>
          <a:lstStyle/>
          <a:p>
            <a:pPr eaLnBrk="1" hangingPunct="1">
              <a:buFont typeface="Wingdings" panose="05000000000000000000" pitchFamily="2" charset="2"/>
              <a:buChar char="Ø"/>
            </a:pPr>
            <a:r>
              <a:rPr lang="zh-CN" altLang="en-US" dirty="0">
                <a:solidFill>
                  <a:srgbClr val="0000FF"/>
                </a:solidFill>
                <a:latin typeface="黑体" panose="02010609060101010101" pitchFamily="49" charset="-122"/>
              </a:rPr>
              <a:t>马尔可夫过程</a:t>
            </a:r>
          </a:p>
          <a:p>
            <a:pPr lvl="1" eaLnBrk="1" hangingPunct="1">
              <a:buClr>
                <a:srgbClr val="FF0000"/>
              </a:buClr>
              <a:buFontTx/>
              <a:buChar char="•"/>
            </a:pPr>
            <a:r>
              <a:rPr lang="zh-CN" altLang="en-US" dirty="0">
                <a:solidFill>
                  <a:srgbClr val="CC00CC"/>
                </a:solidFill>
                <a:latin typeface="黑体" panose="02010609060101010101" pitchFamily="49" charset="-122"/>
              </a:rPr>
              <a:t>齐次马氏链的性质</a:t>
            </a:r>
          </a:p>
          <a:p>
            <a:pPr lvl="1" eaLnBrk="1" hangingPunct="1">
              <a:buClr>
                <a:srgbClr val="FF0000"/>
              </a:buClr>
              <a:buFontTx/>
              <a:buChar char="•"/>
            </a:pPr>
            <a:r>
              <a:rPr lang="zh-CN" altLang="en-US" dirty="0">
                <a:solidFill>
                  <a:srgbClr val="CC00CC"/>
                </a:solidFill>
                <a:latin typeface="黑体" panose="02010609060101010101" pitchFamily="49" charset="-122"/>
              </a:rPr>
              <a:t>初始分布、绝对分布、极限分布</a:t>
            </a:r>
          </a:p>
          <a:p>
            <a:pPr lvl="1" eaLnBrk="1" hangingPunct="1">
              <a:buClr>
                <a:srgbClr val="FF0000"/>
              </a:buClr>
              <a:buFontTx/>
              <a:buChar char="•"/>
            </a:pPr>
            <a:r>
              <a:rPr lang="zh-CN" altLang="en-US" dirty="0">
                <a:solidFill>
                  <a:srgbClr val="CC00CC"/>
                </a:solidFill>
                <a:latin typeface="黑体" panose="02010609060101010101" pitchFamily="49" charset="-122"/>
              </a:rPr>
              <a:t>遍历性</a:t>
            </a:r>
          </a:p>
          <a:p>
            <a:pPr lvl="1" eaLnBrk="1" hangingPunct="1">
              <a:buClr>
                <a:srgbClr val="FF0000"/>
              </a:buClr>
              <a:buFontTx/>
              <a:buChar char="•"/>
            </a:pPr>
            <a:r>
              <a:rPr lang="zh-CN" altLang="en-US" dirty="0">
                <a:solidFill>
                  <a:srgbClr val="CC00CC"/>
                </a:solidFill>
                <a:latin typeface="黑体" panose="02010609060101010101" pitchFamily="49" charset="-122"/>
              </a:rPr>
              <a:t>平稳性</a:t>
            </a:r>
          </a:p>
        </p:txBody>
      </p:sp>
      <p:sp>
        <p:nvSpPr>
          <p:cNvPr id="2" name="Rectangle 3">
            <a:extLst>
              <a:ext uri="{FF2B5EF4-FFF2-40B4-BE49-F238E27FC236}">
                <a16:creationId xmlns:a16="http://schemas.microsoft.com/office/drawing/2014/main" id="{523A8C79-2162-917E-4B53-732B6A2C211C}"/>
              </a:ext>
            </a:extLst>
          </p:cNvPr>
          <p:cNvSpPr txBox="1">
            <a:spLocks noChangeArrowheads="1"/>
          </p:cNvSpPr>
          <p:nvPr/>
        </p:nvSpPr>
        <p:spPr>
          <a:xfrm>
            <a:off x="6403975" y="1033752"/>
            <a:ext cx="4800601" cy="5270132"/>
          </a:xfrm>
          <a:prstGeom prst="rect">
            <a:avLst/>
          </a:prstGeom>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buFont typeface="Wingdings" panose="05000000000000000000" pitchFamily="2" charset="2"/>
              <a:buChar char="Ø"/>
            </a:pPr>
            <a:r>
              <a:rPr lang="zh-CN" altLang="en-US">
                <a:solidFill>
                  <a:srgbClr val="0000FF"/>
                </a:solidFill>
              </a:rPr>
              <a:t>齐次马氏链状态的分类</a:t>
            </a:r>
          </a:p>
          <a:p>
            <a:pPr lvl="1">
              <a:buClr>
                <a:srgbClr val="FF0000"/>
              </a:buClr>
              <a:buFontTx/>
              <a:buChar char="•"/>
            </a:pPr>
            <a:r>
              <a:rPr lang="zh-CN" altLang="en-US">
                <a:solidFill>
                  <a:srgbClr val="CC00CC"/>
                </a:solidFill>
                <a:sym typeface="Symbol" panose="05050102010706020507" pitchFamily="18" charset="2"/>
              </a:rPr>
              <a:t>互通  首达</a:t>
            </a:r>
            <a:endParaRPr lang="zh-CN" altLang="en-US">
              <a:solidFill>
                <a:srgbClr val="CC00CC"/>
              </a:solidFill>
            </a:endParaRPr>
          </a:p>
          <a:p>
            <a:pPr lvl="1">
              <a:buClr>
                <a:srgbClr val="FF0000"/>
              </a:buClr>
              <a:buFontTx/>
              <a:buChar char="•"/>
            </a:pPr>
            <a:r>
              <a:rPr lang="zh-CN" altLang="en-US">
                <a:solidFill>
                  <a:srgbClr val="CC00CC"/>
                </a:solidFill>
              </a:rPr>
              <a:t>常返与非常返</a:t>
            </a:r>
          </a:p>
          <a:p>
            <a:pPr lvl="1">
              <a:buClr>
                <a:srgbClr val="FF0000"/>
              </a:buClr>
              <a:buFontTx/>
              <a:buChar char="•"/>
            </a:pPr>
            <a:r>
              <a:rPr lang="zh-CN" altLang="en-US">
                <a:solidFill>
                  <a:srgbClr val="CC00CC"/>
                </a:solidFill>
              </a:rPr>
              <a:t>正常返与零常返</a:t>
            </a:r>
          </a:p>
          <a:p>
            <a:pPr lvl="1">
              <a:buClr>
                <a:srgbClr val="FF0000"/>
              </a:buClr>
              <a:buFontTx/>
              <a:buChar char="•"/>
            </a:pPr>
            <a:r>
              <a:rPr lang="zh-CN" altLang="en-US">
                <a:solidFill>
                  <a:srgbClr val="CC00CC"/>
                </a:solidFill>
              </a:rPr>
              <a:t>状态空间分解</a:t>
            </a:r>
          </a:p>
          <a:p>
            <a:pPr lvl="1">
              <a:buClr>
                <a:srgbClr val="FF0000"/>
              </a:buClr>
              <a:buFontTx/>
              <a:buChar char="•"/>
            </a:pPr>
            <a:r>
              <a:rPr lang="zh-CN" altLang="en-US">
                <a:solidFill>
                  <a:srgbClr val="CC00CC"/>
                </a:solidFill>
              </a:rPr>
              <a:t>不可约马氏链</a:t>
            </a:r>
          </a:p>
          <a:p>
            <a:pPr lvl="1">
              <a:buClr>
                <a:srgbClr val="FF0000"/>
              </a:buClr>
              <a:buFontTx/>
              <a:buChar char="•"/>
            </a:pPr>
            <a:r>
              <a:rPr lang="zh-CN" altLang="en-US">
                <a:solidFill>
                  <a:srgbClr val="CC00CC"/>
                </a:solidFill>
              </a:rPr>
              <a:t>状态的周期性</a:t>
            </a:r>
            <a:endParaRPr lang="zh-CN" altLang="en-US" dirty="0">
              <a:solidFill>
                <a:srgbClr val="CC00CC"/>
              </a:solidFill>
            </a:endParaRPr>
          </a:p>
        </p:txBody>
      </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anim calcmode="lin" valueType="num">
                                      <p:cBhvr additive="base">
                                        <p:cTn id="7" dur="500" fill="hold"/>
                                        <p:tgtEl>
                                          <p:spTgt spid="3409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099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 calcmode="lin" valueType="num">
                                      <p:cBhvr additive="base">
                                        <p:cTn id="12"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 calcmode="lin" valueType="num">
                                      <p:cBhvr additive="base">
                                        <p:cTn id="1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 calcmode="lin" valueType="num">
                                      <p:cBhvr additive="base">
                                        <p:cTn id="22"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 calcmode="lin" valueType="num">
                                      <p:cBhvr additive="base">
                                        <p:cTn id="2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 calcmode="lin" valueType="num">
                                      <p:cBhvr additive="base">
                                        <p:cTn id="32"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 calcmode="lin" valueType="num">
                                      <p:cBhvr additive="base">
                                        <p:cTn id="42"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P spid="2" grpId="0" build="p"/>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03CBB7CB-EB0B-AC98-CFCF-B396B9233F39}"/>
              </a:ext>
            </a:extLst>
          </p:cNvPr>
          <p:cNvSpPr>
            <a:spLocks noGrp="1" noChangeArrowheads="1"/>
          </p:cNvSpPr>
          <p:nvPr>
            <p:ph type="body" idx="1"/>
          </p:nvPr>
        </p:nvSpPr>
        <p:spPr>
          <a:xfrm>
            <a:off x="536576" y="1154380"/>
            <a:ext cx="9524330" cy="690722"/>
          </a:xfrm>
        </p:spPr>
        <p:txBody>
          <a:bodyPr>
            <a:normAutofit fontScale="92500" lnSpcReduction="20000"/>
          </a:bodyPr>
          <a:lstStyle/>
          <a:p>
            <a:pPr eaLnBrk="1" hangingPunct="1">
              <a:lnSpc>
                <a:spcPct val="110000"/>
              </a:lnSpc>
              <a:buFont typeface="Wingdings" panose="05000000000000000000" pitchFamily="2" charset="2"/>
              <a:buNone/>
            </a:pPr>
            <a:r>
              <a:rPr lang="en-US" altLang="zh-CN" sz="4401" dirty="0">
                <a:solidFill>
                  <a:srgbClr val="6600CC"/>
                </a:solidFill>
              </a:rPr>
              <a:t>P98			</a:t>
            </a:r>
            <a:r>
              <a:rPr lang="en-US" altLang="en-US" sz="4401" dirty="0">
                <a:solidFill>
                  <a:srgbClr val="0000FF"/>
                </a:solidFill>
              </a:rPr>
              <a:t>12.		15</a:t>
            </a:r>
            <a:r>
              <a:rPr lang="en-US" altLang="zh-CN" sz="4401" dirty="0">
                <a:solidFill>
                  <a:srgbClr val="0000FF"/>
                </a:solidFill>
              </a:rPr>
              <a:t>.		19.</a:t>
            </a:r>
          </a:p>
        </p:txBody>
      </p:sp>
      <p:sp>
        <p:nvSpPr>
          <p:cNvPr id="45061" name="Rectangle 3">
            <a:extLst>
              <a:ext uri="{FF2B5EF4-FFF2-40B4-BE49-F238E27FC236}">
                <a16:creationId xmlns:a16="http://schemas.microsoft.com/office/drawing/2014/main" id="{9BE3A860-6626-140E-50CD-AB8742D920BB}"/>
              </a:ext>
            </a:extLst>
          </p:cNvPr>
          <p:cNvSpPr>
            <a:spLocks noGrp="1" noChangeArrowheads="1"/>
          </p:cNvSpPr>
          <p:nvPr>
            <p:ph type="title"/>
          </p:nvPr>
        </p:nvSpPr>
        <p:spPr>
          <a:xfrm>
            <a:off x="765175" y="312812"/>
            <a:ext cx="7469329" cy="516056"/>
          </a:xfrm>
        </p:spPr>
        <p:txBody>
          <a:bodyPr/>
          <a:lstStyle/>
          <a:p>
            <a:pPr eaLnBrk="1" hangingPunct="1"/>
            <a:r>
              <a:rPr lang="zh-CN" altLang="en-US" dirty="0"/>
              <a:t>习  题  三</a:t>
            </a:r>
          </a:p>
        </p:txBody>
      </p:sp>
      <p:pic>
        <p:nvPicPr>
          <p:cNvPr id="45062" name="Picture 8">
            <a:extLst>
              <a:ext uri="{FF2B5EF4-FFF2-40B4-BE49-F238E27FC236}">
                <a16:creationId xmlns:a16="http://schemas.microsoft.com/office/drawing/2014/main" id="{03B8E17A-DC1A-BD92-9DAB-DED5A6B0C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3904" y="1916557"/>
            <a:ext cx="8048901" cy="1338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9">
            <a:extLst>
              <a:ext uri="{FF2B5EF4-FFF2-40B4-BE49-F238E27FC236}">
                <a16:creationId xmlns:a16="http://schemas.microsoft.com/office/drawing/2014/main" id="{FC682144-5192-00FD-F6DF-2FC0AB8461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3904" y="3405188"/>
            <a:ext cx="8048901" cy="1635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4" name="Picture 10">
            <a:extLst>
              <a:ext uri="{FF2B5EF4-FFF2-40B4-BE49-F238E27FC236}">
                <a16:creationId xmlns:a16="http://schemas.microsoft.com/office/drawing/2014/main" id="{E935D451-5D60-13C0-1C4D-E50265DC13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3904" y="5158983"/>
            <a:ext cx="8048901" cy="1348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autoUpdateAnimBg="0" advAuto="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3">
            <a:extLst>
              <a:ext uri="{FF2B5EF4-FFF2-40B4-BE49-F238E27FC236}">
                <a16:creationId xmlns:a16="http://schemas.microsoft.com/office/drawing/2014/main" id="{9F7BE056-9151-B249-A5FB-9C4D6DDEB180}"/>
              </a:ext>
            </a:extLst>
          </p:cNvPr>
          <p:cNvSpPr>
            <a:spLocks noGrp="1" noChangeArrowheads="1"/>
          </p:cNvSpPr>
          <p:nvPr>
            <p:ph type="title"/>
          </p:nvPr>
        </p:nvSpPr>
        <p:spPr>
          <a:xfrm>
            <a:off x="993775" y="305594"/>
            <a:ext cx="7469329" cy="516056"/>
          </a:xfrm>
        </p:spPr>
        <p:txBody>
          <a:bodyPr/>
          <a:lstStyle/>
          <a:p>
            <a:pPr eaLnBrk="1" hangingPunct="1"/>
            <a:r>
              <a:rPr lang="zh-CN" altLang="en-US" dirty="0"/>
              <a:t>习　题　四</a:t>
            </a:r>
          </a:p>
        </p:txBody>
      </p:sp>
      <p:sp>
        <p:nvSpPr>
          <p:cNvPr id="9218" name="Rectangle 2">
            <a:extLst>
              <a:ext uri="{FF2B5EF4-FFF2-40B4-BE49-F238E27FC236}">
                <a16:creationId xmlns:a16="http://schemas.microsoft.com/office/drawing/2014/main" id="{7EDF364E-615C-499A-A6DC-56146B4A2F5E}"/>
              </a:ext>
            </a:extLst>
          </p:cNvPr>
          <p:cNvSpPr>
            <a:spLocks noGrp="1" noChangeArrowheads="1"/>
          </p:cNvSpPr>
          <p:nvPr>
            <p:ph idx="1"/>
          </p:nvPr>
        </p:nvSpPr>
        <p:spPr>
          <a:xfrm>
            <a:off x="866543" y="1219994"/>
            <a:ext cx="11481032" cy="4724400"/>
          </a:xfrm>
        </p:spPr>
        <p:txBody>
          <a:bodyPr>
            <a:normAutofit/>
          </a:bodyPr>
          <a:lstStyle/>
          <a:p>
            <a:pPr marL="0" indent="0">
              <a:lnSpc>
                <a:spcPct val="110000"/>
              </a:lnSpc>
              <a:buNone/>
              <a:defRPr/>
            </a:pPr>
            <a:r>
              <a:rPr lang="en-US" altLang="zh-CN" dirty="0">
                <a:solidFill>
                  <a:srgbClr val="0000FF"/>
                </a:solidFill>
              </a:rPr>
              <a:t>P152  </a:t>
            </a:r>
            <a:r>
              <a:rPr lang="en-US" altLang="en-US" dirty="0">
                <a:solidFill>
                  <a:srgbClr val="CC00CC"/>
                </a:solidFill>
              </a:rPr>
              <a:t>4</a:t>
            </a:r>
            <a:r>
              <a:rPr lang="en-US" altLang="zh-CN" dirty="0">
                <a:solidFill>
                  <a:srgbClr val="CC00CC"/>
                </a:solidFill>
              </a:rPr>
              <a:t>.</a:t>
            </a:r>
          </a:p>
          <a:p>
            <a:pPr marL="0" indent="0">
              <a:lnSpc>
                <a:spcPct val="110000"/>
              </a:lnSpc>
              <a:buNone/>
              <a:defRPr/>
            </a:pPr>
            <a:endParaRPr lang="en-US" altLang="zh-CN" dirty="0">
              <a:solidFill>
                <a:srgbClr val="CC00CC"/>
              </a:solidFill>
            </a:endParaRPr>
          </a:p>
          <a:p>
            <a:pPr eaLnBrk="1" hangingPunct="1">
              <a:lnSpc>
                <a:spcPct val="100000"/>
              </a:lnSpc>
              <a:buFont typeface="Wingdings" panose="05000000000000000000" pitchFamily="2" charset="2"/>
              <a:buNone/>
              <a:defRPr/>
            </a:pPr>
            <a:r>
              <a:rPr lang="en-US" altLang="en-US" dirty="0">
                <a:solidFill>
                  <a:srgbClr val="CC00CC"/>
                </a:solidFill>
              </a:rPr>
              <a:t>4.</a:t>
            </a:r>
            <a:r>
              <a:rPr lang="zh-CN" altLang="en-US" dirty="0"/>
              <a:t>设</a:t>
            </a:r>
            <a:r>
              <a:rPr lang="en-US" altLang="zh-CN" dirty="0">
                <a:sym typeface="Symbol" pitchFamily="18" charset="2"/>
              </a:rPr>
              <a:t>{X(n),n=0,1,2,…}</a:t>
            </a:r>
            <a:r>
              <a:rPr lang="zh-CN" altLang="en-US" dirty="0">
                <a:sym typeface="Symbol" pitchFamily="18" charset="2"/>
              </a:rPr>
              <a:t>是马氏链，证明 </a:t>
            </a:r>
            <a:endParaRPr lang="en-US" altLang="zh-CN" dirty="0">
              <a:sym typeface="Symbol" pitchFamily="18" charset="2"/>
            </a:endParaRPr>
          </a:p>
          <a:p>
            <a:pPr algn="ctr" eaLnBrk="1" hangingPunct="1">
              <a:lnSpc>
                <a:spcPct val="150000"/>
              </a:lnSpc>
              <a:buFont typeface="Wingdings" panose="05000000000000000000" pitchFamily="2" charset="2"/>
              <a:buNone/>
              <a:defRPr/>
            </a:pPr>
            <a:r>
              <a:rPr lang="en-US" altLang="zh-CN" dirty="0">
                <a:sym typeface="Symbol" pitchFamily="18" charset="2"/>
              </a:rPr>
              <a:t>P{X(1)=x</a:t>
            </a:r>
            <a:r>
              <a:rPr lang="en-US" altLang="zh-CN" baseline="-25000" dirty="0">
                <a:sym typeface="Symbol" pitchFamily="18" charset="2"/>
              </a:rPr>
              <a:t>1</a:t>
            </a:r>
            <a:r>
              <a:rPr lang="en-US" altLang="zh-CN" dirty="0">
                <a:sym typeface="Symbol" pitchFamily="18" charset="2"/>
              </a:rPr>
              <a:t>|X(2)=x</a:t>
            </a:r>
            <a:r>
              <a:rPr lang="en-US" altLang="zh-CN" baseline="-25000" dirty="0">
                <a:sym typeface="Symbol" pitchFamily="18" charset="2"/>
              </a:rPr>
              <a:t>2</a:t>
            </a:r>
            <a:r>
              <a:rPr lang="en-US" altLang="zh-CN" dirty="0">
                <a:sym typeface="Symbol" pitchFamily="18" charset="2"/>
              </a:rPr>
              <a:t>,X(3)=x</a:t>
            </a:r>
            <a:r>
              <a:rPr lang="en-US" altLang="zh-CN" baseline="-25000" dirty="0">
                <a:sym typeface="Symbol" pitchFamily="18" charset="2"/>
              </a:rPr>
              <a:t>3</a:t>
            </a:r>
            <a:r>
              <a:rPr lang="en-US" altLang="zh-CN" dirty="0">
                <a:sym typeface="Symbol" pitchFamily="18" charset="2"/>
              </a:rPr>
              <a:t>,…,X(n)=</a:t>
            </a:r>
            <a:r>
              <a:rPr lang="en-US" altLang="zh-CN" dirty="0" err="1">
                <a:sym typeface="Symbol" pitchFamily="18" charset="2"/>
              </a:rPr>
              <a:t>x</a:t>
            </a:r>
            <a:r>
              <a:rPr lang="en-US" altLang="zh-CN" baseline="-25000" dirty="0" err="1">
                <a:sym typeface="Symbol" pitchFamily="18" charset="2"/>
              </a:rPr>
              <a:t>n</a:t>
            </a:r>
            <a:r>
              <a:rPr lang="en-US" altLang="zh-CN" dirty="0">
                <a:sym typeface="Symbol" pitchFamily="18" charset="2"/>
              </a:rPr>
              <a:t>}</a:t>
            </a:r>
          </a:p>
          <a:p>
            <a:pPr eaLnBrk="1" hangingPunct="1">
              <a:lnSpc>
                <a:spcPct val="150000"/>
              </a:lnSpc>
              <a:buFont typeface="Wingdings" panose="05000000000000000000" pitchFamily="2" charset="2"/>
              <a:buNone/>
              <a:defRPr/>
            </a:pPr>
            <a:r>
              <a:rPr lang="en-US" altLang="zh-CN" dirty="0">
                <a:sym typeface="Symbol" pitchFamily="18" charset="2"/>
              </a:rPr>
              <a:t>     </a:t>
            </a:r>
            <a:r>
              <a:rPr lang="zh-CN" altLang="en-US" dirty="0">
                <a:sym typeface="Symbol" pitchFamily="18" charset="2"/>
              </a:rPr>
              <a:t>＝</a:t>
            </a:r>
            <a:r>
              <a:rPr lang="en-US" altLang="zh-CN" dirty="0">
                <a:sym typeface="Symbol" pitchFamily="18" charset="2"/>
              </a:rPr>
              <a:t>P{X(1)=x</a:t>
            </a:r>
            <a:r>
              <a:rPr lang="en-US" altLang="zh-CN" baseline="-25000" dirty="0">
                <a:sym typeface="Symbol" pitchFamily="18" charset="2"/>
              </a:rPr>
              <a:t>1</a:t>
            </a:r>
            <a:r>
              <a:rPr lang="en-US" altLang="zh-CN" dirty="0">
                <a:sym typeface="Symbol" pitchFamily="18" charset="2"/>
              </a:rPr>
              <a:t>|X(2)=x</a:t>
            </a:r>
            <a:r>
              <a:rPr lang="en-US" altLang="zh-CN" baseline="-25000" dirty="0">
                <a:sym typeface="Symbol" pitchFamily="18" charset="2"/>
              </a:rPr>
              <a:t>2</a:t>
            </a:r>
            <a:r>
              <a:rPr lang="en-US" altLang="zh-CN" dirty="0">
                <a:sym typeface="Symbol" pitchFamily="18" charset="2"/>
              </a:rPr>
              <a:t>}</a:t>
            </a:r>
          </a:p>
          <a:p>
            <a:pPr eaLnBrk="1" hangingPunct="1">
              <a:lnSpc>
                <a:spcPct val="150000"/>
              </a:lnSpc>
              <a:buFont typeface="Wingdings" panose="05000000000000000000" pitchFamily="2" charset="2"/>
              <a:buNone/>
              <a:defRPr/>
            </a:pPr>
            <a:r>
              <a:rPr lang="zh-CN" altLang="en-US" dirty="0">
                <a:sym typeface="Symbol" pitchFamily="18" charset="2"/>
              </a:rPr>
              <a:t>即马氏链的逆序也构成马氏链。</a:t>
            </a:r>
            <a:endParaRPr lang="en-US" altLang="zh-CN" dirty="0">
              <a:solidFill>
                <a:srgbClr val="CC00CC"/>
              </a:solidFill>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218">
                                            <p:txEl>
                                              <p:pRg st="2" end="2"/>
                                            </p:txEl>
                                          </p:spTgt>
                                        </p:tgtEl>
                                        <p:attrNameLst>
                                          <p:attrName>style.visibility</p:attrName>
                                        </p:attrNameLst>
                                      </p:cBhvr>
                                      <p:to>
                                        <p:strVal val="visible"/>
                                      </p:to>
                                    </p:set>
                                    <p:anim calcmode="lin" valueType="num">
                                      <p:cBhvr additive="base">
                                        <p:cTn id="12" dur="500" fill="hold"/>
                                        <p:tgtEl>
                                          <p:spTgt spid="9218">
                                            <p:txEl>
                                              <p:pRg st="2" end="2"/>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9218">
                                            <p:txEl>
                                              <p:pRg st="2" end="2"/>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9218">
                                            <p:txEl>
                                              <p:pRg st="3" end="3"/>
                                            </p:txEl>
                                          </p:spTgt>
                                        </p:tgtEl>
                                        <p:attrNameLst>
                                          <p:attrName>style.visibility</p:attrName>
                                        </p:attrNameLst>
                                      </p:cBhvr>
                                      <p:to>
                                        <p:strVal val="visible"/>
                                      </p:to>
                                    </p:set>
                                    <p:anim calcmode="lin" valueType="num">
                                      <p:cBhvr additive="base">
                                        <p:cTn id="17" dur="500" fill="hold"/>
                                        <p:tgtEl>
                                          <p:spTgt spid="9218">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9218">
                                            <p:txEl>
                                              <p:pRg st="3" end="3"/>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9218">
                                            <p:txEl>
                                              <p:pRg st="4" end="4"/>
                                            </p:txEl>
                                          </p:spTgt>
                                        </p:tgtEl>
                                        <p:attrNameLst>
                                          <p:attrName>style.visibility</p:attrName>
                                        </p:attrNameLst>
                                      </p:cBhvr>
                                      <p:to>
                                        <p:strVal val="visible"/>
                                      </p:to>
                                    </p:set>
                                    <p:anim calcmode="lin" valueType="num">
                                      <p:cBhvr additive="base">
                                        <p:cTn id="22" dur="500" fill="hold"/>
                                        <p:tgtEl>
                                          <p:spTgt spid="9218">
                                            <p:txEl>
                                              <p:pRg st="4" end="4"/>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9218">
                                            <p:txEl>
                                              <p:pRg st="4" end="4"/>
                                            </p:txEl>
                                          </p:spTgt>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9218">
                                            <p:txEl>
                                              <p:pRg st="5" end="5"/>
                                            </p:txEl>
                                          </p:spTgt>
                                        </p:tgtEl>
                                        <p:attrNameLst>
                                          <p:attrName>style.visibility</p:attrName>
                                        </p:attrNameLst>
                                      </p:cBhvr>
                                      <p:to>
                                        <p:strVal val="visible"/>
                                      </p:to>
                                    </p:set>
                                    <p:anim calcmode="lin" valueType="num">
                                      <p:cBhvr additive="base">
                                        <p:cTn id="27" dur="500" fill="hold"/>
                                        <p:tgtEl>
                                          <p:spTgt spid="9218">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9218">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autoUpdateAnimBg="0" advAuto="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8AFE1D73-257F-7CB7-6DAD-A61F48E7F794}"/>
              </a:ext>
            </a:extLst>
          </p:cNvPr>
          <p:cNvSpPr>
            <a:spLocks noGrp="1" noChangeArrowheads="1"/>
          </p:cNvSpPr>
          <p:nvPr>
            <p:ph type="title"/>
          </p:nvPr>
        </p:nvSpPr>
        <p:spPr/>
        <p:txBody>
          <a:bodyPr/>
          <a:lstStyle/>
          <a:p>
            <a:r>
              <a:rPr lang="zh-CN" altLang="en-US"/>
              <a:t>课堂练习</a:t>
            </a:r>
            <a:r>
              <a:rPr lang="en-US" altLang="zh-CN"/>
              <a:t>—</a:t>
            </a:r>
            <a:r>
              <a:rPr lang="zh-CN" altLang="en-US"/>
              <a:t>下课交</a:t>
            </a:r>
          </a:p>
        </p:txBody>
      </p:sp>
      <p:sp>
        <p:nvSpPr>
          <p:cNvPr id="46083" name="内容占位符 2">
            <a:extLst>
              <a:ext uri="{FF2B5EF4-FFF2-40B4-BE49-F238E27FC236}">
                <a16:creationId xmlns:a16="http://schemas.microsoft.com/office/drawing/2014/main" id="{58CD5ED3-9478-9E8C-90E3-569D2FFC8CF4}"/>
              </a:ext>
            </a:extLst>
          </p:cNvPr>
          <p:cNvSpPr>
            <a:spLocks noGrp="1" noChangeArrowheads="1"/>
          </p:cNvSpPr>
          <p:nvPr>
            <p:ph idx="1"/>
          </p:nvPr>
        </p:nvSpPr>
        <p:spPr>
          <a:xfrm>
            <a:off x="2740836" y="1143265"/>
            <a:ext cx="7462977" cy="3232898"/>
          </a:xfrm>
        </p:spPr>
        <p:txBody>
          <a:bodyPr/>
          <a:lstStyle/>
          <a:p>
            <a:pPr>
              <a:lnSpc>
                <a:spcPct val="150000"/>
              </a:lnSpc>
              <a:buFont typeface="Wingdings" panose="05000000000000000000" pitchFamily="2" charset="2"/>
              <a:buNone/>
            </a:pPr>
            <a:r>
              <a:rPr lang="en-US" altLang="zh-CN"/>
              <a:t>13. </a:t>
            </a:r>
            <a:r>
              <a:rPr lang="zh-CN" altLang="en-US"/>
              <a:t>设</a:t>
            </a:r>
            <a:r>
              <a:rPr lang="en-US" altLang="zh-CN">
                <a:sym typeface="Symbol" panose="05050102010706020507" pitchFamily="18" charset="2"/>
              </a:rPr>
              <a:t>{ N(t), t  0}</a:t>
            </a:r>
            <a:r>
              <a:rPr lang="zh-CN" altLang="en-US"/>
              <a:t>是平均率为</a:t>
            </a:r>
            <a:r>
              <a:rPr lang="el-GR" altLang="zh-CN"/>
              <a:t>λ</a:t>
            </a:r>
            <a:r>
              <a:rPr lang="en-US" altLang="zh-CN"/>
              <a:t> = 2</a:t>
            </a:r>
            <a:r>
              <a:rPr lang="zh-CN" altLang="en-US"/>
              <a:t>的泊松过程，分别求：</a:t>
            </a:r>
            <a:endParaRPr lang="en-US" altLang="zh-CN"/>
          </a:p>
          <a:p>
            <a:pPr>
              <a:lnSpc>
                <a:spcPct val="150000"/>
              </a:lnSpc>
              <a:buFont typeface="黑体" panose="02010609060101010101" pitchFamily="49" charset="-122"/>
              <a:buAutoNum type="circleNumDbPlain"/>
            </a:pPr>
            <a:r>
              <a:rPr lang="en-US" altLang="zh-CN"/>
              <a:t>E(N(2)N(3))</a:t>
            </a:r>
          </a:p>
          <a:p>
            <a:pPr>
              <a:lnSpc>
                <a:spcPct val="150000"/>
              </a:lnSpc>
              <a:buFont typeface="黑体" panose="02010609060101010101" pitchFamily="49" charset="-122"/>
              <a:buAutoNum type="circleNumDbPlain"/>
            </a:pPr>
            <a:r>
              <a:rPr lang="en-US" altLang="zh-CN"/>
              <a:t>P( N(2)=1,  N(3)=2 )</a:t>
            </a:r>
          </a:p>
          <a:p>
            <a:pPr>
              <a:lnSpc>
                <a:spcPct val="150000"/>
              </a:lnSpc>
              <a:buFont typeface="黑体" panose="02010609060101010101" pitchFamily="49" charset="-122"/>
              <a:buAutoNum type="circleNumDbPlain"/>
            </a:pPr>
            <a:r>
              <a:rPr lang="en-US" altLang="zh-CN"/>
              <a:t>P( N(3)=2 | N(2)=1 )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69722718-A2A4-4074-A962-B5600899FD43}"/>
              </a:ext>
            </a:extLst>
          </p:cNvPr>
          <p:cNvSpPr>
            <a:spLocks noGrp="1"/>
          </p:cNvSpPr>
          <p:nvPr>
            <p:ph type="title"/>
          </p:nvPr>
        </p:nvSpPr>
        <p:spPr/>
        <p:txBody>
          <a:bodyPr/>
          <a:lstStyle/>
          <a:p>
            <a:pPr>
              <a:defRPr/>
            </a:pPr>
            <a:r>
              <a:rPr lang="zh-CN" altLang="en-US" dirty="0">
                <a:latin typeface="+mn-lt"/>
              </a:rPr>
              <a:t>课堂练习</a:t>
            </a:r>
          </a:p>
        </p:txBody>
      </p:sp>
      <p:sp>
        <p:nvSpPr>
          <p:cNvPr id="48131" name="内容占位符 2">
            <a:extLst>
              <a:ext uri="{FF2B5EF4-FFF2-40B4-BE49-F238E27FC236}">
                <a16:creationId xmlns:a16="http://schemas.microsoft.com/office/drawing/2014/main" id="{21AE2ABE-3CD9-6BB3-95BA-C871A051BCA5}"/>
              </a:ext>
            </a:extLst>
          </p:cNvPr>
          <p:cNvSpPr>
            <a:spLocks noGrp="1" noChangeArrowheads="1"/>
          </p:cNvSpPr>
          <p:nvPr>
            <p:ph idx="1"/>
          </p:nvPr>
        </p:nvSpPr>
        <p:spPr>
          <a:xfrm>
            <a:off x="2740836" y="1143265"/>
            <a:ext cx="7462977" cy="2386565"/>
          </a:xfrm>
        </p:spPr>
        <p:txBody>
          <a:bodyPr/>
          <a:lstStyle/>
          <a:p>
            <a:pPr>
              <a:lnSpc>
                <a:spcPct val="100000"/>
              </a:lnSpc>
              <a:spcBef>
                <a:spcPts val="600"/>
              </a:spcBef>
              <a:buNone/>
            </a:pPr>
            <a:r>
              <a:rPr lang="en-US" altLang="zh-CN"/>
              <a:t>14. </a:t>
            </a:r>
            <a:r>
              <a:rPr lang="zh-CN" altLang="en-US"/>
              <a:t>设</a:t>
            </a:r>
            <a:r>
              <a:rPr lang="en-US" altLang="zh-CN">
                <a:sym typeface="Symbol" panose="05050102010706020507" pitchFamily="18" charset="2"/>
              </a:rPr>
              <a:t>{ N(t), t  0}</a:t>
            </a:r>
            <a:r>
              <a:rPr lang="zh-CN" altLang="en-US"/>
              <a:t>是平均率为</a:t>
            </a:r>
            <a:r>
              <a:rPr lang="el-GR" altLang="zh-CN"/>
              <a:t>λ</a:t>
            </a:r>
            <a:r>
              <a:rPr lang="en-US" altLang="zh-CN"/>
              <a:t> = 2</a:t>
            </a:r>
            <a:r>
              <a:rPr lang="zh-CN" altLang="en-US"/>
              <a:t>的泊松过程，分别求：</a:t>
            </a:r>
            <a:endParaRPr lang="en-US" altLang="zh-CN"/>
          </a:p>
          <a:p>
            <a:pPr>
              <a:lnSpc>
                <a:spcPct val="100000"/>
              </a:lnSpc>
              <a:spcBef>
                <a:spcPts val="600"/>
              </a:spcBef>
              <a:buFont typeface="黑体" panose="02010609060101010101" pitchFamily="49" charset="-122"/>
              <a:buAutoNum type="circleNumDbPlain"/>
            </a:pPr>
            <a:r>
              <a:rPr lang="en-US" altLang="zh-CN"/>
              <a:t>E(N(2)N(3))</a:t>
            </a:r>
          </a:p>
          <a:p>
            <a:pPr>
              <a:lnSpc>
                <a:spcPct val="100000"/>
              </a:lnSpc>
              <a:spcBef>
                <a:spcPts val="600"/>
              </a:spcBef>
              <a:buFont typeface="黑体" panose="02010609060101010101" pitchFamily="49" charset="-122"/>
              <a:buAutoNum type="circleNumDbPlain"/>
            </a:pPr>
            <a:r>
              <a:rPr lang="en-US" altLang="zh-CN"/>
              <a:t>P{N(2)=1,  N(3)=2}</a:t>
            </a:r>
          </a:p>
          <a:p>
            <a:pPr>
              <a:lnSpc>
                <a:spcPct val="100000"/>
              </a:lnSpc>
              <a:spcBef>
                <a:spcPts val="600"/>
              </a:spcBef>
              <a:buFont typeface="黑体" panose="02010609060101010101" pitchFamily="49" charset="-122"/>
              <a:buAutoNum type="circleNumDbPlain"/>
            </a:pPr>
            <a:r>
              <a:rPr lang="en-US" altLang="zh-CN"/>
              <a:t>P{N(3)=2 | N(2)=1}</a:t>
            </a:r>
          </a:p>
        </p:txBody>
      </p:sp>
      <p:sp>
        <p:nvSpPr>
          <p:cNvPr id="2" name="矩形 1">
            <a:extLst>
              <a:ext uri="{FF2B5EF4-FFF2-40B4-BE49-F238E27FC236}">
                <a16:creationId xmlns:a16="http://schemas.microsoft.com/office/drawing/2014/main" id="{FED50ACC-7695-5222-4D30-09B61108AA50}"/>
              </a:ext>
            </a:extLst>
          </p:cNvPr>
          <p:cNvSpPr>
            <a:spLocks noChangeArrowheads="1"/>
          </p:cNvSpPr>
          <p:nvPr/>
        </p:nvSpPr>
        <p:spPr bwMode="auto">
          <a:xfrm>
            <a:off x="2569346" y="3717198"/>
            <a:ext cx="7975858" cy="286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ts val="2400"/>
              </a:spcBef>
              <a:buClr>
                <a:srgbClr val="6600CC"/>
              </a:buClr>
              <a:buFont typeface="黑体" panose="02010609060101010101" pitchFamily="49" charset="-122"/>
              <a:buAutoNum type="circleNumDbPlain"/>
            </a:pPr>
            <a:r>
              <a:rPr lang="en-US" altLang="zh-CN" sz="2801" b="1">
                <a:solidFill>
                  <a:srgbClr val="000000"/>
                </a:solidFill>
                <a:ea typeface="黑体" panose="02010609060101010101" pitchFamily="49" charset="-122"/>
              </a:rPr>
              <a:t> E(N(2)N(3)) = R(2, 3)</a:t>
            </a:r>
            <a:r>
              <a:rPr lang="zh-CN" altLang="en-US" sz="2801" b="1">
                <a:solidFill>
                  <a:srgbClr val="000000"/>
                </a:solidFill>
                <a:ea typeface="黑体" panose="02010609060101010101" pitchFamily="49" charset="-122"/>
              </a:rPr>
              <a:t>＝</a:t>
            </a:r>
            <a:r>
              <a:rPr lang="zh-CN" altLang="en-US" sz="2801" b="1">
                <a:solidFill>
                  <a:srgbClr val="000000"/>
                </a:solidFill>
                <a:ea typeface="黑体" panose="02010609060101010101" pitchFamily="49" charset="-122"/>
                <a:sym typeface="Symbol" panose="05050102010706020507" pitchFamily="18" charset="2"/>
              </a:rPr>
              <a:t></a:t>
            </a:r>
            <a:r>
              <a:rPr lang="en-US" altLang="zh-CN" sz="2801" b="1">
                <a:solidFill>
                  <a:srgbClr val="000000"/>
                </a:solidFill>
                <a:ea typeface="黑体" panose="02010609060101010101" pitchFamily="49" charset="-122"/>
                <a:sym typeface="Symbol" panose="05050102010706020507" pitchFamily="18" charset="2"/>
              </a:rPr>
              <a:t>min(2, 3)</a:t>
            </a:r>
            <a:r>
              <a:rPr lang="zh-CN" altLang="en-US" sz="2801" b="1">
                <a:solidFill>
                  <a:srgbClr val="000000"/>
                </a:solidFill>
                <a:ea typeface="黑体" panose="02010609060101010101" pitchFamily="49" charset="-122"/>
                <a:sym typeface="Symbol" panose="05050102010706020507" pitchFamily="18" charset="2"/>
              </a:rPr>
              <a:t>＋</a:t>
            </a:r>
            <a:r>
              <a:rPr lang="en-US" altLang="zh-CN" sz="2801" b="1" baseline="30000">
                <a:solidFill>
                  <a:srgbClr val="000000"/>
                </a:solidFill>
                <a:ea typeface="黑体" panose="02010609060101010101" pitchFamily="49" charset="-122"/>
                <a:sym typeface="Symbol" panose="05050102010706020507" pitchFamily="18" charset="2"/>
              </a:rPr>
              <a:t>2</a:t>
            </a:r>
            <a:r>
              <a:rPr lang="zh-CN" altLang="en-US" sz="2801" b="1">
                <a:solidFill>
                  <a:srgbClr val="000000"/>
                </a:solidFill>
                <a:ea typeface="黑体" panose="02010609060101010101" pitchFamily="49" charset="-122"/>
                <a:sym typeface="Symbol" panose="05050102010706020507" pitchFamily="18" charset="2"/>
              </a:rPr>
              <a:t>*</a:t>
            </a:r>
            <a:r>
              <a:rPr lang="en-US" altLang="zh-CN" sz="2801" b="1">
                <a:solidFill>
                  <a:srgbClr val="000000"/>
                </a:solidFill>
                <a:ea typeface="黑体" panose="02010609060101010101" pitchFamily="49" charset="-122"/>
                <a:sym typeface="Symbol" panose="05050102010706020507" pitchFamily="18" charset="2"/>
              </a:rPr>
              <a:t>2</a:t>
            </a:r>
            <a:r>
              <a:rPr lang="zh-CN" altLang="en-US" sz="2801" b="1">
                <a:solidFill>
                  <a:srgbClr val="000000"/>
                </a:solidFill>
                <a:ea typeface="黑体" panose="02010609060101010101" pitchFamily="49" charset="-122"/>
                <a:sym typeface="Symbol" panose="05050102010706020507" pitchFamily="18" charset="2"/>
              </a:rPr>
              <a:t>*</a:t>
            </a:r>
            <a:r>
              <a:rPr lang="en-US" altLang="zh-CN" sz="2801" b="1">
                <a:solidFill>
                  <a:srgbClr val="000000"/>
                </a:solidFill>
                <a:ea typeface="黑体" panose="02010609060101010101" pitchFamily="49" charset="-122"/>
                <a:sym typeface="Symbol" panose="05050102010706020507" pitchFamily="18" charset="2"/>
              </a:rPr>
              <a:t>3 = 28</a:t>
            </a:r>
          </a:p>
          <a:p>
            <a:pPr>
              <a:spcBef>
                <a:spcPts val="2400"/>
              </a:spcBef>
              <a:buClr>
                <a:srgbClr val="6600CC"/>
              </a:buClr>
              <a:buFont typeface="黑体" panose="02010609060101010101" pitchFamily="49" charset="-122"/>
              <a:buAutoNum type="circleNumDbPlain"/>
            </a:pPr>
            <a:r>
              <a:rPr lang="en-US" altLang="zh-CN" sz="2801" b="1">
                <a:solidFill>
                  <a:srgbClr val="000000"/>
                </a:solidFill>
                <a:ea typeface="黑体" panose="02010609060101010101" pitchFamily="49" charset="-122"/>
              </a:rPr>
              <a:t> P{N(2)=1,  N(3)=2} </a:t>
            </a:r>
          </a:p>
          <a:p>
            <a:pPr>
              <a:spcBef>
                <a:spcPts val="1200"/>
              </a:spcBef>
              <a:buClr>
                <a:srgbClr val="6600CC"/>
              </a:buClr>
              <a:buFont typeface="黑体" panose="02010609060101010101" pitchFamily="49" charset="-122"/>
              <a:buAutoNum type="circleNumDbPlain"/>
            </a:pPr>
            <a:r>
              <a:rPr lang="en-US" altLang="zh-CN" sz="2801" b="1">
                <a:solidFill>
                  <a:srgbClr val="000000"/>
                </a:solidFill>
                <a:ea typeface="黑体" panose="02010609060101010101" pitchFamily="49" charset="-122"/>
              </a:rPr>
              <a:t> P{N(3)=2 | N(2)=1} </a:t>
            </a:r>
          </a:p>
          <a:p>
            <a:pPr>
              <a:spcBef>
                <a:spcPts val="600"/>
              </a:spcBef>
              <a:buClr>
                <a:srgbClr val="6600CC"/>
              </a:buClr>
            </a:pPr>
            <a:r>
              <a:rPr lang="en-US" altLang="zh-CN" sz="2801" b="1">
                <a:solidFill>
                  <a:srgbClr val="000000"/>
                </a:solidFill>
                <a:ea typeface="黑体" panose="02010609060101010101" pitchFamily="49" charset="-122"/>
              </a:rPr>
              <a:t>     = P{N(3)- N(2)=1 | N(2) )- N(0)= 1} </a:t>
            </a:r>
          </a:p>
          <a:p>
            <a:pPr>
              <a:spcBef>
                <a:spcPts val="600"/>
              </a:spcBef>
              <a:buClr>
                <a:srgbClr val="6600CC"/>
              </a:buClr>
            </a:pPr>
            <a:r>
              <a:rPr lang="en-US" altLang="zh-CN" sz="2801" b="1">
                <a:solidFill>
                  <a:srgbClr val="000000"/>
                </a:solidFill>
                <a:ea typeface="黑体" panose="02010609060101010101" pitchFamily="49" charset="-122"/>
              </a:rPr>
              <a:t>     = P{N(3)- N(2)=1} = P{N(1)=1}  = 2e</a:t>
            </a:r>
            <a:r>
              <a:rPr lang="en-US" altLang="zh-CN" sz="2801" b="1" baseline="30000">
                <a:solidFill>
                  <a:srgbClr val="000000"/>
                </a:solidFill>
                <a:ea typeface="黑体" panose="02010609060101010101" pitchFamily="49" charset="-122"/>
              </a:rPr>
              <a:t>-2</a:t>
            </a:r>
            <a:endParaRPr lang="zh-CN" altLang="en-US" sz="2801" b="1">
              <a:solidFill>
                <a:srgbClr val="000000"/>
              </a:solidFill>
            </a:endParaRPr>
          </a:p>
        </p:txBody>
      </p:sp>
      <p:sp>
        <p:nvSpPr>
          <p:cNvPr id="8" name="矩形标注 7">
            <a:extLst>
              <a:ext uri="{FF2B5EF4-FFF2-40B4-BE49-F238E27FC236}">
                <a16:creationId xmlns:a16="http://schemas.microsoft.com/office/drawing/2014/main" id="{641B98AD-FCBF-4F0B-83DF-C252BA813B09}"/>
              </a:ext>
            </a:extLst>
          </p:cNvPr>
          <p:cNvSpPr/>
          <p:nvPr/>
        </p:nvSpPr>
        <p:spPr bwMode="auto">
          <a:xfrm>
            <a:off x="5235375" y="1700607"/>
            <a:ext cx="5149455" cy="649437"/>
          </a:xfrm>
          <a:prstGeom prst="wedgeRectCallout">
            <a:avLst>
              <a:gd name="adj1" fmla="val -52210"/>
              <a:gd name="adj2" fmla="val 17514"/>
            </a:avLst>
          </a:prstGeom>
          <a:solidFill>
            <a:schemeClr val="accent1"/>
          </a:solidFill>
          <a:ln w="9525" cap="flat" cmpd="sng" algn="ctr">
            <a:solidFill>
              <a:srgbClr val="0000FF"/>
            </a:solidFill>
            <a:prstDash val="solid"/>
            <a:round/>
            <a:headEnd type="none" w="med" len="med"/>
            <a:tailEnd type="none" w="med" len="med"/>
          </a:ln>
          <a:effectLst/>
        </p:spPr>
        <p:txBody>
          <a:bodyPr/>
          <a:lstStyle/>
          <a:p>
            <a:pPr marL="720144" indent="-468094">
              <a:lnSpc>
                <a:spcPct val="150000"/>
              </a:lnSpc>
              <a:defRPr/>
            </a:pPr>
            <a:r>
              <a:rPr lang="zh-CN" altLang="en-US" b="1" dirty="0">
                <a:solidFill>
                  <a:srgbClr val="000000"/>
                </a:solidFill>
                <a:ea typeface="黑体" pitchFamily="2" charset="-122"/>
                <a:cs typeface="Times New Roman" pitchFamily="18" charset="0"/>
              </a:rPr>
              <a:t>相关函数	</a:t>
            </a:r>
            <a:r>
              <a:rPr lang="en-US" altLang="zh-CN" b="1" dirty="0">
                <a:solidFill>
                  <a:srgbClr val="000000"/>
                </a:solidFill>
                <a:ea typeface="黑体" pitchFamily="2" charset="-122"/>
                <a:cs typeface="Times New Roman" pitchFamily="18" charset="0"/>
              </a:rPr>
              <a:t>R(</a:t>
            </a:r>
            <a:r>
              <a:rPr lang="en-US" altLang="zh-CN" b="1" dirty="0" err="1">
                <a:solidFill>
                  <a:srgbClr val="000000"/>
                </a:solidFill>
                <a:ea typeface="黑体" pitchFamily="2" charset="-122"/>
                <a:cs typeface="Times New Roman" pitchFamily="18" charset="0"/>
              </a:rPr>
              <a:t>s,t</a:t>
            </a:r>
            <a:r>
              <a:rPr lang="en-US" altLang="zh-CN" b="1" dirty="0">
                <a:solidFill>
                  <a:srgbClr val="000000"/>
                </a:solidFill>
                <a:ea typeface="黑体" pitchFamily="2" charset="-122"/>
                <a:cs typeface="Times New Roman" pitchFamily="18" charset="0"/>
              </a:rPr>
              <a:t>)</a:t>
            </a:r>
            <a:r>
              <a:rPr lang="zh-CN" altLang="en-US" b="1" dirty="0">
                <a:solidFill>
                  <a:srgbClr val="000000"/>
                </a:solidFill>
                <a:ea typeface="黑体" pitchFamily="2" charset="-122"/>
                <a:cs typeface="Times New Roman" pitchFamily="18" charset="0"/>
              </a:rPr>
              <a:t>＝</a:t>
            </a:r>
            <a:r>
              <a:rPr lang="zh-CN" altLang="en-US" b="1" dirty="0">
                <a:solidFill>
                  <a:srgbClr val="000000"/>
                </a:solidFill>
                <a:ea typeface="黑体" pitchFamily="2" charset="-122"/>
                <a:cs typeface="Times New Roman" pitchFamily="18" charset="0"/>
                <a:sym typeface="Symbol" pitchFamily="18" charset="2"/>
              </a:rPr>
              <a:t></a:t>
            </a:r>
            <a:r>
              <a:rPr lang="en-US" altLang="zh-CN" b="1" dirty="0">
                <a:solidFill>
                  <a:srgbClr val="000000"/>
                </a:solidFill>
                <a:ea typeface="黑体" pitchFamily="2" charset="-122"/>
                <a:cs typeface="Times New Roman" pitchFamily="18" charset="0"/>
                <a:sym typeface="Symbol" pitchFamily="18" charset="2"/>
              </a:rPr>
              <a:t>min(</a:t>
            </a:r>
            <a:r>
              <a:rPr lang="en-US" altLang="zh-CN" b="1" dirty="0" err="1">
                <a:solidFill>
                  <a:srgbClr val="000000"/>
                </a:solidFill>
                <a:ea typeface="黑体" pitchFamily="2" charset="-122"/>
                <a:cs typeface="Times New Roman" pitchFamily="18" charset="0"/>
                <a:sym typeface="Symbol" pitchFamily="18" charset="2"/>
              </a:rPr>
              <a:t>s,t</a:t>
            </a:r>
            <a:r>
              <a:rPr lang="en-US" altLang="zh-CN" b="1" dirty="0">
                <a:solidFill>
                  <a:srgbClr val="000000"/>
                </a:solidFill>
                <a:ea typeface="黑体" pitchFamily="2" charset="-122"/>
                <a:cs typeface="Times New Roman" pitchFamily="18" charset="0"/>
                <a:sym typeface="Symbol" pitchFamily="18" charset="2"/>
              </a:rPr>
              <a:t>)</a:t>
            </a:r>
            <a:r>
              <a:rPr lang="zh-CN" altLang="en-US" b="1" dirty="0">
                <a:solidFill>
                  <a:srgbClr val="000000"/>
                </a:solidFill>
                <a:ea typeface="黑体" pitchFamily="2" charset="-122"/>
                <a:cs typeface="Times New Roman" pitchFamily="18" charset="0"/>
                <a:sym typeface="Symbol" pitchFamily="18" charset="2"/>
              </a:rPr>
              <a:t>＋</a:t>
            </a:r>
            <a:r>
              <a:rPr lang="en-US" altLang="zh-CN" b="1" baseline="30000" dirty="0">
                <a:solidFill>
                  <a:srgbClr val="000000"/>
                </a:solidFill>
                <a:ea typeface="黑体" pitchFamily="2" charset="-122"/>
                <a:cs typeface="Times New Roman" pitchFamily="18" charset="0"/>
                <a:sym typeface="Symbol" pitchFamily="18" charset="2"/>
              </a:rPr>
              <a:t>2</a:t>
            </a:r>
            <a:r>
              <a:rPr lang="en-US" altLang="zh-CN" b="1" dirty="0">
                <a:solidFill>
                  <a:srgbClr val="000000"/>
                </a:solidFill>
                <a:ea typeface="黑体" pitchFamily="2" charset="-122"/>
                <a:cs typeface="Times New Roman" pitchFamily="18" charset="0"/>
                <a:sym typeface="Symbol" pitchFamily="18" charset="2"/>
              </a:rPr>
              <a:t>st</a:t>
            </a:r>
          </a:p>
          <a:p>
            <a:pPr marL="720144" indent="-720144">
              <a:lnSpc>
                <a:spcPct val="150000"/>
              </a:lnSpc>
              <a:defRPr/>
            </a:pPr>
            <a:endParaRPr lang="zh-CN" altLang="en-US" dirty="0">
              <a:solidFill>
                <a:srgbClr val="000000"/>
              </a:solidFill>
            </a:endParaRPr>
          </a:p>
        </p:txBody>
      </p:sp>
      <p:grpSp>
        <p:nvGrpSpPr>
          <p:cNvPr id="10" name="组合 14">
            <a:extLst>
              <a:ext uri="{FF2B5EF4-FFF2-40B4-BE49-F238E27FC236}">
                <a16:creationId xmlns:a16="http://schemas.microsoft.com/office/drawing/2014/main" id="{CCD095D1-CA64-4F4D-05C2-0A4C1557AD24}"/>
              </a:ext>
            </a:extLst>
          </p:cNvPr>
          <p:cNvGrpSpPr>
            <a:grpSpLocks/>
          </p:cNvGrpSpPr>
          <p:nvPr/>
        </p:nvGrpSpPr>
        <p:grpSpPr bwMode="auto">
          <a:xfrm>
            <a:off x="5613288" y="522410"/>
            <a:ext cx="4771542" cy="1729187"/>
            <a:chOff x="4211960" y="1772816"/>
            <a:chExt cx="4769988" cy="1728192"/>
          </a:xfrm>
        </p:grpSpPr>
        <p:sp>
          <p:nvSpPr>
            <p:cNvPr id="48142" name="矩形标注 10">
              <a:extLst>
                <a:ext uri="{FF2B5EF4-FFF2-40B4-BE49-F238E27FC236}">
                  <a16:creationId xmlns:a16="http://schemas.microsoft.com/office/drawing/2014/main" id="{ABC27267-E9BE-A5CF-B550-F82D19EE723C}"/>
                </a:ext>
              </a:extLst>
            </p:cNvPr>
            <p:cNvSpPr>
              <a:spLocks noChangeArrowheads="1"/>
            </p:cNvSpPr>
            <p:nvPr/>
          </p:nvSpPr>
          <p:spPr bwMode="auto">
            <a:xfrm>
              <a:off x="4211960" y="1772816"/>
              <a:ext cx="4752528" cy="1728192"/>
            </a:xfrm>
            <a:prstGeom prst="wedgeRectCallout">
              <a:avLst>
                <a:gd name="adj1" fmla="val -37648"/>
                <a:gd name="adj2" fmla="val 78472"/>
              </a:avLst>
            </a:prstGeom>
            <a:solidFill>
              <a:schemeClr val="accent1"/>
            </a:solidFill>
            <a:ln w="9525" algn="ctr">
              <a:solidFill>
                <a:srgbClr val="0000FF"/>
              </a:solidFill>
              <a:round/>
              <a:headEnd/>
              <a:tailEnd/>
            </a:ln>
          </p:spPr>
          <p:txBody>
            <a:bodyPr/>
            <a:lstStyle>
              <a:lvl1pPr>
                <a:lnSpc>
                  <a:spcPct val="120000"/>
                </a:lnSpc>
                <a:buClr>
                  <a:srgbClr val="0000FF"/>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lnSpc>
                  <a:spcPct val="110000"/>
                </a:lnSpc>
                <a:buClrTx/>
                <a:buFontTx/>
                <a:buNone/>
              </a:pPr>
              <a:r>
                <a:rPr lang="zh-CN" altLang="en-US" sz="2601">
                  <a:solidFill>
                    <a:srgbClr val="000000"/>
                  </a:solidFill>
                </a:rPr>
                <a:t>二维概率分布</a:t>
              </a:r>
              <a:r>
                <a:rPr lang="en-US" altLang="zh-CN" sz="2601">
                  <a:solidFill>
                    <a:srgbClr val="000000"/>
                  </a:solidFill>
                  <a:sym typeface="Symbol" panose="05050102010706020507" pitchFamily="18" charset="2"/>
                </a:rPr>
                <a:t>P{N(s)=j, N(t)=k}</a:t>
              </a:r>
            </a:p>
          </p:txBody>
        </p:sp>
        <p:graphicFrame>
          <p:nvGraphicFramePr>
            <p:cNvPr id="48143" name="Object 10">
              <a:extLst>
                <a:ext uri="{FF2B5EF4-FFF2-40B4-BE49-F238E27FC236}">
                  <a16:creationId xmlns:a16="http://schemas.microsoft.com/office/drawing/2014/main" id="{C5280751-0732-9082-C1A2-D04C57EAB7C9}"/>
                </a:ext>
              </a:extLst>
            </p:cNvPr>
            <p:cNvGraphicFramePr>
              <a:graphicFrameLocks noChangeAspect="1"/>
            </p:cNvGraphicFramePr>
            <p:nvPr/>
          </p:nvGraphicFramePr>
          <p:xfrm>
            <a:off x="4219896" y="2277467"/>
            <a:ext cx="4762052" cy="1112454"/>
          </p:xfrm>
          <a:graphic>
            <a:graphicData uri="http://schemas.openxmlformats.org/presentationml/2006/ole">
              <mc:AlternateContent xmlns:mc="http://schemas.openxmlformats.org/markup-compatibility/2006">
                <mc:Choice xmlns:v="urn:schemas-microsoft-com:vml" Requires="v">
                  <p:oleObj name="公式" r:id="rId2" imgW="1905000" imgH="444500" progId="Equation.3">
                    <p:embed/>
                  </p:oleObj>
                </mc:Choice>
                <mc:Fallback>
                  <p:oleObj name="公式" r:id="rId2" imgW="1905000" imgH="444500" progId="Equation.3">
                    <p:embed/>
                    <p:pic>
                      <p:nvPicPr>
                        <p:cNvPr id="48143" name="Object 10">
                          <a:extLst>
                            <a:ext uri="{FF2B5EF4-FFF2-40B4-BE49-F238E27FC236}">
                              <a16:creationId xmlns:a16="http://schemas.microsoft.com/office/drawing/2014/main" id="{C5280751-0732-9082-C1A2-D04C57EAB7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9896" y="2277467"/>
                          <a:ext cx="4762052" cy="11124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3" name="Object 10">
            <a:extLst>
              <a:ext uri="{FF2B5EF4-FFF2-40B4-BE49-F238E27FC236}">
                <a16:creationId xmlns:a16="http://schemas.microsoft.com/office/drawing/2014/main" id="{C3F0F03D-1542-609B-2E01-E753D1B1B0B3}"/>
              </a:ext>
            </a:extLst>
          </p:cNvPr>
          <p:cNvGraphicFramePr>
            <a:graphicFrameLocks noChangeAspect="1"/>
          </p:cNvGraphicFramePr>
          <p:nvPr/>
        </p:nvGraphicFramePr>
        <p:xfrm>
          <a:off x="5997551" y="4180856"/>
          <a:ext cx="4350757" cy="1113095"/>
        </p:xfrm>
        <a:graphic>
          <a:graphicData uri="http://schemas.openxmlformats.org/presentationml/2006/ole">
            <mc:AlternateContent xmlns:mc="http://schemas.openxmlformats.org/markup-compatibility/2006">
              <mc:Choice xmlns:v="urn:schemas-microsoft-com:vml" Requires="v">
                <p:oleObj name="公式" r:id="rId4" imgW="1739900" imgH="444500" progId="Equation.3">
                  <p:embed/>
                </p:oleObj>
              </mc:Choice>
              <mc:Fallback>
                <p:oleObj name="公式" r:id="rId4" imgW="1739900" imgH="444500" progId="Equation.3">
                  <p:embed/>
                  <p:pic>
                    <p:nvPicPr>
                      <p:cNvPr id="13" name="Object 10">
                        <a:extLst>
                          <a:ext uri="{FF2B5EF4-FFF2-40B4-BE49-F238E27FC236}">
                            <a16:creationId xmlns:a16="http://schemas.microsoft.com/office/drawing/2014/main" id="{C3F0F03D-1542-609B-2E01-E753D1B1B0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7551" y="4180856"/>
                        <a:ext cx="4350757" cy="1113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 name="组合 12">
            <a:extLst>
              <a:ext uri="{FF2B5EF4-FFF2-40B4-BE49-F238E27FC236}">
                <a16:creationId xmlns:a16="http://schemas.microsoft.com/office/drawing/2014/main" id="{2D24B9A6-8FA5-3360-8EAB-CBF1BFC0C775}"/>
              </a:ext>
            </a:extLst>
          </p:cNvPr>
          <p:cNvGrpSpPr>
            <a:grpSpLocks/>
          </p:cNvGrpSpPr>
          <p:nvPr/>
        </p:nvGrpSpPr>
        <p:grpSpPr bwMode="auto">
          <a:xfrm>
            <a:off x="6459622" y="2323051"/>
            <a:ext cx="3817233" cy="1322693"/>
            <a:chOff x="4644007" y="1844824"/>
            <a:chExt cx="3816424" cy="1322648"/>
          </a:xfrm>
        </p:grpSpPr>
        <p:sp>
          <p:nvSpPr>
            <p:cNvPr id="15" name="矩形标注 14">
              <a:extLst>
                <a:ext uri="{FF2B5EF4-FFF2-40B4-BE49-F238E27FC236}">
                  <a16:creationId xmlns:a16="http://schemas.microsoft.com/office/drawing/2014/main" id="{9A582453-24D6-43F4-9726-45AE90B7924A}"/>
                </a:ext>
              </a:extLst>
            </p:cNvPr>
            <p:cNvSpPr/>
            <p:nvPr/>
          </p:nvSpPr>
          <p:spPr bwMode="auto">
            <a:xfrm>
              <a:off x="4644007" y="1844824"/>
              <a:ext cx="3816424" cy="1295656"/>
            </a:xfrm>
            <a:prstGeom prst="wedgeRectCallout">
              <a:avLst>
                <a:gd name="adj1" fmla="val -28889"/>
                <a:gd name="adj2" fmla="val 238539"/>
              </a:avLst>
            </a:prstGeom>
            <a:solidFill>
              <a:schemeClr val="accent1"/>
            </a:solidFill>
            <a:ln w="9525" cap="flat" cmpd="sng" algn="ctr">
              <a:solidFill>
                <a:srgbClr val="0000FF"/>
              </a:solidFill>
              <a:prstDash val="solid"/>
              <a:round/>
              <a:headEnd type="none" w="med" len="med"/>
              <a:tailEnd type="none" w="med" len="med"/>
            </a:ln>
            <a:effectLst/>
          </p:spPr>
          <p:txBody>
            <a:bodyPr/>
            <a:lstStyle/>
            <a:p>
              <a:pPr marL="533507" indent="-533507">
                <a:lnSpc>
                  <a:spcPct val="125000"/>
                </a:lnSpc>
                <a:buClr>
                  <a:srgbClr val="0000FF"/>
                </a:buClr>
                <a:defRPr/>
              </a:pPr>
              <a:r>
                <a:rPr lang="zh-CN" altLang="en-US" b="1" kern="0" dirty="0">
                  <a:solidFill>
                    <a:srgbClr val="000000"/>
                  </a:solidFill>
                  <a:ea typeface="黑体" pitchFamily="2" charset="-122"/>
                  <a:cs typeface="Times New Roman" pitchFamily="18" charset="0"/>
                </a:rPr>
                <a:t>一维概率分布</a:t>
              </a:r>
              <a:r>
                <a:rPr lang="en-US" altLang="zh-CN" b="1" dirty="0">
                  <a:solidFill>
                    <a:srgbClr val="000000"/>
                  </a:solidFill>
                  <a:ea typeface="黑体" pitchFamily="2" charset="-122"/>
                  <a:cs typeface="Times New Roman" pitchFamily="18" charset="0"/>
                </a:rPr>
                <a:t>N(t)</a:t>
              </a:r>
              <a:r>
                <a:rPr lang="zh-CN" altLang="en-US" b="1" dirty="0">
                  <a:solidFill>
                    <a:srgbClr val="000000"/>
                  </a:solidFill>
                  <a:ea typeface="黑体" pitchFamily="2" charset="-122"/>
                  <a:cs typeface="Times New Roman" pitchFamily="18" charset="0"/>
                </a:rPr>
                <a:t>～</a:t>
              </a:r>
              <a:r>
                <a:rPr lang="zh-CN" altLang="en-US" b="1" dirty="0">
                  <a:solidFill>
                    <a:srgbClr val="000000"/>
                  </a:solidFill>
                  <a:ea typeface="黑体" pitchFamily="2" charset="-122"/>
                  <a:cs typeface="Times New Roman" pitchFamily="18" charset="0"/>
                  <a:sym typeface="Symbol" pitchFamily="18" charset="2"/>
                </a:rPr>
                <a:t></a:t>
              </a:r>
              <a:r>
                <a:rPr lang="en-US" altLang="zh-CN" b="1" dirty="0">
                  <a:solidFill>
                    <a:srgbClr val="000000"/>
                  </a:solidFill>
                  <a:ea typeface="黑体" pitchFamily="2" charset="-122"/>
                  <a:cs typeface="Times New Roman" pitchFamily="18" charset="0"/>
                  <a:sym typeface="Symbol" pitchFamily="18" charset="2"/>
                </a:rPr>
                <a:t>(t)</a:t>
              </a:r>
            </a:p>
            <a:p>
              <a:pPr marL="533507" indent="-533507">
                <a:spcBef>
                  <a:spcPts val="1800"/>
                </a:spcBef>
                <a:buClr>
                  <a:srgbClr val="0000FF"/>
                </a:buClr>
                <a:defRPr/>
              </a:pPr>
              <a:r>
                <a:rPr lang="en-US" altLang="zh-CN" b="1" dirty="0">
                  <a:solidFill>
                    <a:srgbClr val="000000"/>
                  </a:solidFill>
                  <a:ea typeface="黑体" pitchFamily="2" charset="-122"/>
                  <a:cs typeface="Times New Roman" pitchFamily="18" charset="0"/>
                  <a:sym typeface="Symbol" pitchFamily="18" charset="2"/>
                </a:rPr>
                <a:t>     P{N(t)=k}</a:t>
              </a:r>
              <a:r>
                <a:rPr lang="zh-CN" altLang="en-US" b="1" dirty="0">
                  <a:solidFill>
                    <a:srgbClr val="000000"/>
                  </a:solidFill>
                  <a:ea typeface="黑体" pitchFamily="2" charset="-122"/>
                  <a:cs typeface="Times New Roman" pitchFamily="18" charset="0"/>
                  <a:sym typeface="Symbol" pitchFamily="18" charset="2"/>
                </a:rPr>
                <a:t>＝</a:t>
              </a:r>
              <a:endParaRPr lang="zh-CN" altLang="en-US" b="1" kern="0" dirty="0">
                <a:solidFill>
                  <a:srgbClr val="000000"/>
                </a:solidFill>
                <a:ea typeface="黑体" pitchFamily="2" charset="-122"/>
                <a:cs typeface="Times New Roman" pitchFamily="18" charset="0"/>
              </a:endParaRPr>
            </a:p>
          </p:txBody>
        </p:sp>
        <p:graphicFrame>
          <p:nvGraphicFramePr>
            <p:cNvPr id="48141" name="Object 4">
              <a:extLst>
                <a:ext uri="{FF2B5EF4-FFF2-40B4-BE49-F238E27FC236}">
                  <a16:creationId xmlns:a16="http://schemas.microsoft.com/office/drawing/2014/main" id="{C98E2E34-5818-1DF6-C5DF-EA78987DC3A2}"/>
                </a:ext>
              </a:extLst>
            </p:cNvPr>
            <p:cNvGraphicFramePr>
              <a:graphicFrameLocks noChangeAspect="1"/>
            </p:cNvGraphicFramePr>
            <p:nvPr/>
          </p:nvGraphicFramePr>
          <p:xfrm>
            <a:off x="6737988" y="2265772"/>
            <a:ext cx="1338263" cy="901700"/>
          </p:xfrm>
          <a:graphic>
            <a:graphicData uri="http://schemas.openxmlformats.org/presentationml/2006/ole">
              <mc:AlternateContent xmlns:mc="http://schemas.openxmlformats.org/markup-compatibility/2006">
                <mc:Choice xmlns:v="urn:schemas-microsoft-com:vml" Requires="v">
                  <p:oleObj name="Equation" r:id="rId6" imgW="622030" imgH="418918" progId="Equation.DSMT4">
                    <p:embed/>
                  </p:oleObj>
                </mc:Choice>
                <mc:Fallback>
                  <p:oleObj name="Equation" r:id="rId6" imgW="622030" imgH="418918" progId="Equation.DSMT4">
                    <p:embed/>
                    <p:pic>
                      <p:nvPicPr>
                        <p:cNvPr id="48141" name="Object 4">
                          <a:extLst>
                            <a:ext uri="{FF2B5EF4-FFF2-40B4-BE49-F238E27FC236}">
                              <a16:creationId xmlns:a16="http://schemas.microsoft.com/office/drawing/2014/main" id="{C98E2E34-5818-1DF6-C5DF-EA78987DC3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37988" y="2265772"/>
                          <a:ext cx="1338263"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xit" presetSubtype="4" fill="hold" grpId="1" nodeType="clickEffect">
                                  <p:stCondLst>
                                    <p:cond delay="0"/>
                                  </p:stCondLst>
                                  <p:childTnLst>
                                    <p:anim calcmode="lin" valueType="num">
                                      <p:cBhvr additive="base">
                                        <p:cTn id="18" dur="500"/>
                                        <p:tgtEl>
                                          <p:spTgt spid="8"/>
                                        </p:tgtEl>
                                        <p:attrNameLst>
                                          <p:attrName>ppt_x</p:attrName>
                                        </p:attrNameLst>
                                      </p:cBhvr>
                                      <p:tavLst>
                                        <p:tav tm="0">
                                          <p:val>
                                            <p:strVal val="ppt_x"/>
                                          </p:val>
                                        </p:tav>
                                        <p:tav tm="100000">
                                          <p:val>
                                            <p:strVal val="ppt_x"/>
                                          </p:val>
                                        </p:tav>
                                      </p:tavLst>
                                    </p:anim>
                                    <p:anim calcmode="lin" valueType="num">
                                      <p:cBhvr additive="base">
                                        <p:cTn id="19" dur="500"/>
                                        <p:tgtEl>
                                          <p:spTgt spid="8"/>
                                        </p:tgtEl>
                                        <p:attrNameLst>
                                          <p:attrName>ppt_y</p:attrName>
                                        </p:attrNameLst>
                                      </p:cBhvr>
                                      <p:tavLst>
                                        <p:tav tm="0">
                                          <p:val>
                                            <p:strVal val="ppt_y"/>
                                          </p:val>
                                        </p:tav>
                                        <p:tav tm="100000">
                                          <p:val>
                                            <p:strVal val="1+ppt_h/2"/>
                                          </p:val>
                                        </p:tav>
                                      </p:tavLst>
                                    </p:anim>
                                    <p:set>
                                      <p:cBhvr>
                                        <p:cTn id="20" dur="1" fill="hold">
                                          <p:stCondLst>
                                            <p:cond delay="499"/>
                                          </p:stCondLst>
                                        </p:cTn>
                                        <p:tgtEl>
                                          <p:spTgt spid="8"/>
                                        </p:tgtEl>
                                        <p:attrNameLst>
                                          <p:attrName>style.visibility</p:attrName>
                                        </p:attrNameLst>
                                      </p:cBhvr>
                                      <p:to>
                                        <p:strVal val="hidden"/>
                                      </p:to>
                                    </p:set>
                                  </p:childTnLst>
                                </p:cTn>
                              </p:par>
                            </p:childTnLst>
                          </p:cTn>
                        </p:par>
                        <p:par>
                          <p:cTn id="21" fill="hold" nodeType="afterGroup">
                            <p:stCondLst>
                              <p:cond delay="500"/>
                            </p:stCondLst>
                            <p:childTnLst>
                              <p:par>
                                <p:cTn id="22" presetID="2" presetClass="entr" presetSubtype="1"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 calcmode="lin" valueType="num">
                                      <p:cBhvr additive="base">
                                        <p:cTn id="30"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
                                            <p:txEl>
                                              <p:pRg st="1" end="1"/>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ppt_x"/>
                                          </p:val>
                                        </p:tav>
                                        <p:tav tm="100000">
                                          <p:val>
                                            <p:strVal val="#ppt_x"/>
                                          </p:val>
                                        </p:tav>
                                      </p:tavLst>
                                    </p:anim>
                                    <p:anim calcmode="lin" valueType="num">
                                      <p:cBhvr additive="base">
                                        <p:cTn id="3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5" presetClass="exit" presetSubtype="0" fill="hold" nodeType="clickEffect">
                                  <p:stCondLst>
                                    <p:cond delay="0"/>
                                  </p:stCondLst>
                                  <p:childTnLst>
                                    <p:animEffect transition="out" filter="fade">
                                      <p:cBhvr>
                                        <p:cTn id="39" dur="1000" accel="50000">
                                          <p:stCondLst>
                                            <p:cond delay="0"/>
                                          </p:stCondLst>
                                        </p:cTn>
                                        <p:tgtEl>
                                          <p:spTgt spid="10"/>
                                        </p:tgtEl>
                                      </p:cBhvr>
                                    </p:animEffect>
                                    <p:anim calcmode="lin" valueType="num">
                                      <p:cBhvr>
                                        <p:cTn id="40" dur="500" accel="50000">
                                          <p:stCondLst>
                                            <p:cond delay="0"/>
                                          </p:stCondLst>
                                        </p:cTn>
                                        <p:tgtEl>
                                          <p:spTgt spid="10"/>
                                        </p:tgtEl>
                                        <p:attrNameLst>
                                          <p:attrName>ppt_y</p:attrName>
                                        </p:attrNameLst>
                                      </p:cBhvr>
                                      <p:tavLst>
                                        <p:tav tm="0">
                                          <p:val>
                                            <p:strVal val="ppt_y"/>
                                          </p:val>
                                        </p:tav>
                                        <p:tav tm="100000">
                                          <p:val>
                                            <p:strVal val="ppt_y+.1"/>
                                          </p:val>
                                        </p:tav>
                                      </p:tavLst>
                                    </p:anim>
                                    <p:anim calcmode="lin" valueType="num">
                                      <p:cBhvr>
                                        <p:cTn id="41" dur="500" decel="50000">
                                          <p:stCondLst>
                                            <p:cond delay="500"/>
                                          </p:stCondLst>
                                        </p:cTn>
                                        <p:tgtEl>
                                          <p:spTgt spid="10"/>
                                        </p:tgtEl>
                                        <p:attrNameLst>
                                          <p:attrName>ppt_y</p:attrName>
                                        </p:attrNameLst>
                                      </p:cBhvr>
                                      <p:tavLst>
                                        <p:tav tm="0">
                                          <p:val>
                                            <p:strVal val="ppt_y"/>
                                          </p:val>
                                        </p:tav>
                                        <p:tav tm="100000">
                                          <p:val>
                                            <p:strVal val="ppt_y-.1"/>
                                          </p:val>
                                        </p:tav>
                                      </p:tavLst>
                                    </p:anim>
                                    <p:anim calcmode="lin" valueType="num">
                                      <p:cBhvr>
                                        <p:cTn id="42" dur="500" accel="50000">
                                          <p:stCondLst>
                                            <p:cond delay="500"/>
                                          </p:stCondLst>
                                        </p:cTn>
                                        <p:tgtEl>
                                          <p:spTgt spid="10"/>
                                        </p:tgtEl>
                                        <p:attrNameLst>
                                          <p:attrName>ppt_x</p:attrName>
                                        </p:attrNameLst>
                                      </p:cBhvr>
                                      <p:tavLst>
                                        <p:tav tm="0">
                                          <p:val>
                                            <p:strVal val="ppt_x"/>
                                          </p:val>
                                        </p:tav>
                                        <p:tav tm="100000">
                                          <p:val>
                                            <p:strVal val="ppt_x+.4"/>
                                          </p:val>
                                        </p:tav>
                                      </p:tavLst>
                                    </p:anim>
                                    <p:anim calcmode="lin" valueType="num">
                                      <p:cBhvr>
                                        <p:cTn id="43" dur="1000"/>
                                        <p:tgtEl>
                                          <p:spTgt spid="10"/>
                                        </p:tgtEl>
                                        <p:attrNameLst>
                                          <p:attrName>ppt_h</p:attrName>
                                        </p:attrNameLst>
                                      </p:cBhvr>
                                      <p:tavLst>
                                        <p:tav tm="0">
                                          <p:val>
                                            <p:strVal val="ppt_h"/>
                                          </p:val>
                                        </p:tav>
                                        <p:tav tm="100000">
                                          <p:val>
                                            <p:strVal val="ppt_h"/>
                                          </p:val>
                                        </p:tav>
                                      </p:tavLst>
                                    </p:anim>
                                    <p:anim calcmode="lin" valueType="num">
                                      <p:cBhvr>
                                        <p:cTn id="44" dur="500" accel="50000">
                                          <p:stCondLst>
                                            <p:cond delay="0"/>
                                          </p:stCondLst>
                                        </p:cTn>
                                        <p:tgtEl>
                                          <p:spTgt spid="10"/>
                                        </p:tgtEl>
                                        <p:attrNameLst>
                                          <p:attrName>ppt_w</p:attrName>
                                        </p:attrNameLst>
                                      </p:cBhvr>
                                      <p:tavLst>
                                        <p:tav tm="0">
                                          <p:val>
                                            <p:strVal val="ppt_w"/>
                                          </p:val>
                                        </p:tav>
                                        <p:tav tm="100000">
                                          <p:val>
                                            <p:strVal val="ppt_w*.05"/>
                                          </p:val>
                                        </p:tav>
                                      </p:tavLst>
                                    </p:anim>
                                    <p:anim calcmode="lin" valueType="num">
                                      <p:cBhvr>
                                        <p:cTn id="45" dur="500" decel="50000">
                                          <p:stCondLst>
                                            <p:cond delay="500"/>
                                          </p:stCondLst>
                                        </p:cTn>
                                        <p:tgtEl>
                                          <p:spTgt spid="10"/>
                                        </p:tgtEl>
                                        <p:attrNameLst>
                                          <p:attrName>ppt_w</p:attrName>
                                        </p:attrNameLst>
                                      </p:cBhvr>
                                      <p:tavLst>
                                        <p:tav tm="0">
                                          <p:val>
                                            <p:strVal val="ppt_w"/>
                                          </p:val>
                                        </p:tav>
                                        <p:tav tm="100000">
                                          <p:val>
                                            <p:strVal val="ppt_w/.05"/>
                                          </p:val>
                                        </p:tav>
                                      </p:tavLst>
                                    </p:anim>
                                    <p:anim calcmode="lin" valueType="num">
                                      <p:cBhvr>
                                        <p:cTn id="46" dur="500" accel="50000">
                                          <p:stCondLst>
                                            <p:cond delay="500"/>
                                          </p:stCondLst>
                                        </p:cTn>
                                        <p:tgtEl>
                                          <p:spTgt spid="10"/>
                                        </p:tgtEl>
                                        <p:attrNameLst>
                                          <p:attrName>style.rotation</p:attrName>
                                        </p:attrNameLst>
                                      </p:cBhvr>
                                      <p:tavLst>
                                        <p:tav tm="0">
                                          <p:val>
                                            <p:fltVal val="0"/>
                                          </p:val>
                                        </p:tav>
                                        <p:tav tm="100000">
                                          <p:val>
                                            <p:fltVal val="-90"/>
                                          </p:val>
                                        </p:tav>
                                      </p:tavLst>
                                    </p:anim>
                                    <p:set>
                                      <p:cBhvr>
                                        <p:cTn id="47" dur="1" fill="hold">
                                          <p:stCondLst>
                                            <p:cond delay="999"/>
                                          </p:stCondLst>
                                        </p:cTn>
                                        <p:tgtEl>
                                          <p:spTgt spid="10"/>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2">
                                            <p:txEl>
                                              <p:pRg st="2" end="2"/>
                                            </p:txEl>
                                          </p:spTgt>
                                        </p:tgtEl>
                                        <p:attrNameLst>
                                          <p:attrName>style.visibility</p:attrName>
                                        </p:attrNameLst>
                                      </p:cBhvr>
                                      <p:to>
                                        <p:strVal val="visible"/>
                                      </p:to>
                                    </p:set>
                                    <p:anim calcmode="lin" valueType="num">
                                      <p:cBhvr additive="base">
                                        <p:cTn id="52"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2">
                                            <p:txEl>
                                              <p:pRg st="3" end="3"/>
                                            </p:txEl>
                                          </p:spTgt>
                                        </p:tgtEl>
                                        <p:attrNameLst>
                                          <p:attrName>style.visibility</p:attrName>
                                        </p:attrNameLst>
                                      </p:cBhvr>
                                      <p:to>
                                        <p:strVal val="visible"/>
                                      </p:to>
                                    </p:set>
                                    <p:anim calcmode="lin" valueType="num">
                                      <p:cBhvr additive="base">
                                        <p:cTn id="58"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2">
                                            <p:txEl>
                                              <p:pRg st="4" end="4"/>
                                            </p:txEl>
                                          </p:spTgt>
                                        </p:tgtEl>
                                        <p:attrNameLst>
                                          <p:attrName>style.visibility</p:attrName>
                                        </p:attrNameLst>
                                      </p:cBhvr>
                                      <p:to>
                                        <p:strVal val="visible"/>
                                      </p:to>
                                    </p:set>
                                    <p:anim calcmode="lin" valueType="num">
                                      <p:cBhvr additive="base">
                                        <p:cTn id="64"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1" fill="hold" nodeType="clickEffect">
                                  <p:stCondLst>
                                    <p:cond delay="0"/>
                                  </p:stCondLst>
                                  <p:childTnLst>
                                    <p:set>
                                      <p:cBhvr>
                                        <p:cTn id="69" dur="1" fill="hold">
                                          <p:stCondLst>
                                            <p:cond delay="0"/>
                                          </p:stCondLst>
                                        </p:cTn>
                                        <p:tgtEl>
                                          <p:spTgt spid="14"/>
                                        </p:tgtEl>
                                        <p:attrNameLst>
                                          <p:attrName>style.visibility</p:attrName>
                                        </p:attrNameLst>
                                      </p:cBhvr>
                                      <p:to>
                                        <p:strVal val="visible"/>
                                      </p:to>
                                    </p:set>
                                    <p:anim calcmode="lin" valueType="num">
                                      <p:cBhvr additive="base">
                                        <p:cTn id="70" dur="500" fill="hold"/>
                                        <p:tgtEl>
                                          <p:spTgt spid="14"/>
                                        </p:tgtEl>
                                        <p:attrNameLst>
                                          <p:attrName>ppt_x</p:attrName>
                                        </p:attrNameLst>
                                      </p:cBhvr>
                                      <p:tavLst>
                                        <p:tav tm="0">
                                          <p:val>
                                            <p:strVal val="#ppt_x"/>
                                          </p:val>
                                        </p:tav>
                                        <p:tav tm="100000">
                                          <p:val>
                                            <p:strVal val="#ppt_x"/>
                                          </p:val>
                                        </p:tav>
                                      </p:tavLst>
                                    </p:anim>
                                    <p:anim calcmode="lin" valueType="num">
                                      <p:cBhvr additive="base">
                                        <p:cTn id="71"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15" presetClass="exit" presetSubtype="0" fill="hold" nodeType="clickEffect">
                                  <p:stCondLst>
                                    <p:cond delay="0"/>
                                  </p:stCondLst>
                                  <p:childTnLst>
                                    <p:anim calcmode="lin" valueType="num">
                                      <p:cBhvr>
                                        <p:cTn id="75" dur="1000"/>
                                        <p:tgtEl>
                                          <p:spTgt spid="14"/>
                                        </p:tgtEl>
                                        <p:attrNameLst>
                                          <p:attrName>ppt_w</p:attrName>
                                        </p:attrNameLst>
                                      </p:cBhvr>
                                      <p:tavLst>
                                        <p:tav tm="0">
                                          <p:val>
                                            <p:strVal val="ppt_w"/>
                                          </p:val>
                                        </p:tav>
                                        <p:tav tm="100000">
                                          <p:val>
                                            <p:fltVal val="0"/>
                                          </p:val>
                                        </p:tav>
                                      </p:tavLst>
                                    </p:anim>
                                    <p:anim calcmode="lin" valueType="num">
                                      <p:cBhvr>
                                        <p:cTn id="76" dur="1000"/>
                                        <p:tgtEl>
                                          <p:spTgt spid="14"/>
                                        </p:tgtEl>
                                        <p:attrNameLst>
                                          <p:attrName>ppt_h</p:attrName>
                                        </p:attrNameLst>
                                      </p:cBhvr>
                                      <p:tavLst>
                                        <p:tav tm="0">
                                          <p:val>
                                            <p:strVal val="ppt_h"/>
                                          </p:val>
                                        </p:tav>
                                        <p:tav tm="100000">
                                          <p:val>
                                            <p:fltVal val="0"/>
                                          </p:val>
                                        </p:tav>
                                      </p:tavLst>
                                    </p:anim>
                                    <p:anim calcmode="lin" valueType="num">
                                      <p:cBhvr>
                                        <p:cTn id="77" dur="1000"/>
                                        <p:tgtEl>
                                          <p:spTgt spid="14"/>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78" dur="1000"/>
                                        <p:tgtEl>
                                          <p:spTgt spid="14"/>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79" dur="1" fill="hold">
                                          <p:stCondLst>
                                            <p:cond delay="9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8" grpId="0" animBg="1"/>
      <p:bldP spid="8"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6" name="矩形 5"/>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7" name="矩形 6"/>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4" name="椭圆 13"/>
          <p:cNvSpPr/>
          <p:nvPr/>
        </p:nvSpPr>
        <p:spPr>
          <a:xfrm>
            <a:off x="10095121" y="2480346"/>
            <a:ext cx="203200" cy="203200"/>
          </a:xfrm>
          <a:prstGeom prst="ellipse">
            <a:avLst/>
          </a:prstGeom>
          <a:solidFill>
            <a:srgbClr val="3E5CC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0095121" y="2727996"/>
            <a:ext cx="203200" cy="203200"/>
          </a:xfrm>
          <a:prstGeom prst="ellipse">
            <a:avLst/>
          </a:pr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0095121" y="2975646"/>
            <a:ext cx="203200" cy="203200"/>
          </a:xfrm>
          <a:prstGeom prst="ellipse">
            <a:avLst/>
          </a:prstGeom>
          <a:solidFill>
            <a:srgbClr val="F08E3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2611437" y="2134394"/>
            <a:ext cx="7006442" cy="1938992"/>
          </a:xfrm>
          <a:prstGeom prst="rect">
            <a:avLst/>
          </a:prstGeom>
          <a:noFill/>
        </p:spPr>
        <p:txBody>
          <a:bodyPr wrap="square" rtlCol="0">
            <a:spAutoFit/>
          </a:bodyPr>
          <a:lstStyle/>
          <a:p>
            <a:r>
              <a:rPr lang="en-US" altLang="zh-CN" sz="12000" b="1" dirty="0">
                <a:solidFill>
                  <a:schemeClr val="bg1"/>
                </a:solidFill>
                <a:latin typeface="微软雅黑" panose="020B0503020204020204" pitchFamily="34" charset="-122"/>
                <a:ea typeface="微软雅黑" panose="020B0503020204020204" pitchFamily="34" charset="-122"/>
              </a:rPr>
              <a:t>THANKS</a:t>
            </a:r>
            <a:endParaRPr lang="zh-CN" altLang="en-US" sz="1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1292</TotalTime>
  <Words>6980</Words>
  <Application>Microsoft Macintosh PowerPoint</Application>
  <PresentationFormat>自定义</PresentationFormat>
  <Paragraphs>472</Paragraphs>
  <Slides>63</Slides>
  <Notes>27</Notes>
  <HiddenSlides>1</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63</vt:i4>
      </vt:variant>
    </vt:vector>
  </HeadingPairs>
  <TitlesOfParts>
    <vt:vector size="76" baseType="lpstr">
      <vt:lpstr>等线</vt:lpstr>
      <vt:lpstr>黑体</vt:lpstr>
      <vt:lpstr>华文行楷</vt:lpstr>
      <vt:lpstr>微软雅黑</vt:lpstr>
      <vt:lpstr>Arial Unicode MS</vt:lpstr>
      <vt:lpstr>Arial</vt:lpstr>
      <vt:lpstr>Cambria Math</vt:lpstr>
      <vt:lpstr>Symbol</vt:lpstr>
      <vt:lpstr>Times New Roman</vt:lpstr>
      <vt:lpstr>Wingdings</vt:lpstr>
      <vt:lpstr>Office Theme</vt:lpstr>
      <vt:lpstr>Equation</vt:lpstr>
      <vt:lpstr>公式</vt:lpstr>
      <vt:lpstr>PowerPoint 演示文稿</vt:lpstr>
      <vt:lpstr>上一讲内容回顾</vt:lpstr>
      <vt:lpstr>本讲主要内容</vt:lpstr>
      <vt:lpstr>PowerPoint 演示文稿</vt:lpstr>
      <vt:lpstr>1. 泊松过程</vt:lpstr>
      <vt:lpstr>2. 泊松过程的定义1</vt:lpstr>
      <vt:lpstr>2. 泊松过程的定义2</vt:lpstr>
      <vt:lpstr>等价定理</vt:lpstr>
      <vt:lpstr>证明</vt:lpstr>
      <vt:lpstr>证明(续1)</vt:lpstr>
      <vt:lpstr>证明(续2)</vt:lpstr>
      <vt:lpstr>3. 泊松过程的概率分布和数字特征</vt:lpstr>
      <vt:lpstr>泊松过程的概率分布和数字特征</vt:lpstr>
      <vt:lpstr>泊松过程的概率分布和数字特征</vt:lpstr>
      <vt:lpstr>4. 泊松过程的性质</vt:lpstr>
      <vt:lpstr>4. 泊松过程的性质</vt:lpstr>
      <vt:lpstr>PowerPoint 演示文稿</vt:lpstr>
      <vt:lpstr>PowerPoint 演示文稿</vt:lpstr>
      <vt:lpstr>泊松过程的性质3</vt:lpstr>
      <vt:lpstr>证明</vt:lpstr>
      <vt:lpstr>PowerPoint 演示文稿</vt:lpstr>
      <vt:lpstr>非齐次泊松过程</vt:lpstr>
      <vt:lpstr>定理</vt:lpstr>
      <vt:lpstr>证明</vt:lpstr>
      <vt:lpstr>PowerPoint 演示文稿</vt:lpstr>
      <vt:lpstr>PowerPoint 演示文稿</vt:lpstr>
      <vt:lpstr>PowerPoint 演示文稿</vt:lpstr>
      <vt:lpstr>例</vt:lpstr>
      <vt:lpstr>解</vt:lpstr>
      <vt:lpstr>复合泊松过程</vt:lpstr>
      <vt:lpstr>例</vt:lpstr>
      <vt:lpstr>复合泊松过程的数字特征</vt:lpstr>
      <vt:lpstr>更新计数过程</vt:lpstr>
      <vt:lpstr>更新过程的概率分布</vt:lpstr>
      <vt:lpstr>更新过程的均值函数</vt:lpstr>
      <vt:lpstr>PowerPoint 演示文稿</vt:lpstr>
      <vt:lpstr>4.2   马尔可夫过程</vt:lpstr>
      <vt:lpstr>1  马尔可夫过程的概念</vt:lpstr>
      <vt:lpstr>转移概率</vt:lpstr>
      <vt:lpstr>马尔可夫过程的分类</vt:lpstr>
      <vt:lpstr>例1  一维随机游动</vt:lpstr>
      <vt:lpstr>例2</vt:lpstr>
      <vt:lpstr>贝努里随机序列</vt:lpstr>
      <vt:lpstr>例3</vt:lpstr>
      <vt:lpstr>二项计数过程</vt:lpstr>
      <vt:lpstr>例4</vt:lpstr>
      <vt:lpstr>2  离散参数马氏链</vt:lpstr>
      <vt:lpstr>k步转移概率</vt:lpstr>
      <vt:lpstr>k步转移矩阵</vt:lpstr>
      <vt:lpstr>齐次马尔可夫链</vt:lpstr>
      <vt:lpstr>例1  贝努里序列</vt:lpstr>
      <vt:lpstr>例2  随机游动</vt:lpstr>
      <vt:lpstr>1.自由(无限制)随机游动</vt:lpstr>
      <vt:lpstr>2.两个吸收壁随机游动</vt:lpstr>
      <vt:lpstr>4.带有两个反射壁的随机游动</vt:lpstr>
      <vt:lpstr>4.带有两个弹性壁的随机游动</vt:lpstr>
      <vt:lpstr>本讲主要内容</vt:lpstr>
      <vt:lpstr>下一讲内容预告</vt:lpstr>
      <vt:lpstr>习  题  三</vt:lpstr>
      <vt:lpstr>习　题　四</vt:lpstr>
      <vt:lpstr>课堂练习—下课交</vt:lpstr>
      <vt:lpstr>课堂练习</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Qingxian Wang</cp:lastModifiedBy>
  <cp:revision>1274</cp:revision>
  <cp:lastPrinted>2022-01-15T12:13:00Z</cp:lastPrinted>
  <dcterms:created xsi:type="dcterms:W3CDTF">2006-08-16T00:00:00Z</dcterms:created>
  <dcterms:modified xsi:type="dcterms:W3CDTF">2026-09-20T11:27:19Z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E98F3E2A8F6D4B7EBE46F1C3936A5CEF</vt:lpwstr>
  </property>
  <property fmtid="{D5CDD505-2E9C-101B-9397-08002B2CF9AE}" pid="3" name="KSOProductBuildVer">
    <vt:lpwstr>2052-11.1.0.11579</vt:lpwstr>
  </property>
</Properties>
</file>