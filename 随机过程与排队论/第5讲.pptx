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95"/>
  </p:notesMasterIdLst>
  <p:sldIdLst>
    <p:sldId id="256" r:id="rId2"/>
    <p:sldId id="412" r:id="rId3"/>
    <p:sldId id="426" r:id="rId4"/>
    <p:sldId id="411" r:id="rId5"/>
    <p:sldId id="416" r:id="rId6"/>
    <p:sldId id="417" r:id="rId7"/>
    <p:sldId id="418" r:id="rId8"/>
    <p:sldId id="419" r:id="rId9"/>
    <p:sldId id="420" r:id="rId10"/>
    <p:sldId id="421" r:id="rId11"/>
    <p:sldId id="422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427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98" r:id="rId35"/>
    <p:sldId id="428" r:id="rId36"/>
    <p:sldId id="297" r:id="rId37"/>
    <p:sldId id="280" r:id="rId38"/>
    <p:sldId id="281" r:id="rId39"/>
    <p:sldId id="282" r:id="rId40"/>
    <p:sldId id="283" r:id="rId41"/>
    <p:sldId id="299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415" r:id="rId52"/>
    <p:sldId id="343" r:id="rId53"/>
    <p:sldId id="342" r:id="rId54"/>
    <p:sldId id="351" r:id="rId55"/>
    <p:sldId id="311" r:id="rId56"/>
    <p:sldId id="312" r:id="rId57"/>
    <p:sldId id="310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45" r:id="rId66"/>
    <p:sldId id="344" r:id="rId67"/>
    <p:sldId id="320" r:id="rId68"/>
    <p:sldId id="346" r:id="rId69"/>
    <p:sldId id="350" r:id="rId70"/>
    <p:sldId id="321" r:id="rId71"/>
    <p:sldId id="322" r:id="rId72"/>
    <p:sldId id="323" r:id="rId73"/>
    <p:sldId id="348" r:id="rId74"/>
    <p:sldId id="347" r:id="rId75"/>
    <p:sldId id="349" r:id="rId76"/>
    <p:sldId id="324" r:id="rId77"/>
    <p:sldId id="327" r:id="rId78"/>
    <p:sldId id="328" r:id="rId79"/>
    <p:sldId id="329" r:id="rId80"/>
    <p:sldId id="332" r:id="rId81"/>
    <p:sldId id="333" r:id="rId82"/>
    <p:sldId id="334" r:id="rId83"/>
    <p:sldId id="330" r:id="rId84"/>
    <p:sldId id="331" r:id="rId85"/>
    <p:sldId id="340" r:id="rId86"/>
    <p:sldId id="341" r:id="rId87"/>
    <p:sldId id="414" r:id="rId88"/>
    <p:sldId id="336" r:id="rId89"/>
    <p:sldId id="338" r:id="rId90"/>
    <p:sldId id="295" r:id="rId91"/>
    <p:sldId id="424" r:id="rId92"/>
    <p:sldId id="296" r:id="rId93"/>
    <p:sldId id="268" r:id="rId94"/>
  </p:sldIdLst>
  <p:sldSz cx="12198350" cy="6859588"/>
  <p:notesSz cx="9144000" cy="6858000"/>
  <p:defaultTextStyle>
    <a:defPPr>
      <a:defRPr lang="en-US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22">
          <p15:clr>
            <a:srgbClr val="A4A3A4"/>
          </p15:clr>
        </p15:guide>
        <p15:guide id="3" orient="horz" pos="2878">
          <p15:clr>
            <a:srgbClr val="A4A3A4"/>
          </p15:clr>
        </p15:guide>
        <p15:guide id="4" pos="38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990033"/>
    <a:srgbClr val="92D050"/>
    <a:srgbClr val="CC00CC"/>
    <a:srgbClr val="BD9B53"/>
    <a:srgbClr val="009900"/>
    <a:srgbClr val="F4FA12"/>
    <a:srgbClr val="1157AB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64" autoAdjust="0"/>
    <p:restoredTop sz="92572" autoAdjust="0"/>
  </p:normalViewPr>
  <p:slideViewPr>
    <p:cSldViewPr>
      <p:cViewPr varScale="1">
        <p:scale>
          <a:sx n="123" d="100"/>
          <a:sy n="123" d="100"/>
        </p:scale>
        <p:origin x="200" y="696"/>
      </p:cViewPr>
      <p:guideLst>
        <p:guide orient="horz" pos="2160"/>
        <p:guide pos="2822"/>
        <p:guide orient="horz" pos="2878"/>
        <p:guide pos="38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  <p:sld r:id="rId69" collapse="1"/>
      <p:sld r:id="rId70" collapse="1"/>
      <p:sld r:id="rId71" collapse="1"/>
      <p:sld r:id="rId72" collapse="1"/>
      <p:sld r:id="rId73" collapse="1"/>
      <p:sld r:id="rId74" collapse="1"/>
      <p:sld r:id="rId75" collapse="1"/>
      <p:sld r:id="rId76" collapse="1"/>
      <p:sld r:id="rId77" collapse="1"/>
      <p:sld r:id="rId78" collapse="1"/>
      <p:sld r:id="rId79" collapse="1"/>
      <p:sld r:id="rId80" collapse="1"/>
      <p:sld r:id="rId81" collapse="1"/>
      <p:sld r:id="rId8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5" d="100"/>
          <a:sy n="95" d="100"/>
        </p:scale>
        <p:origin x="404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31.xml"/><Relationship Id="rId21" Type="http://schemas.openxmlformats.org/officeDocument/2006/relationships/slide" Target="slides/slide26.xml"/><Relationship Id="rId42" Type="http://schemas.openxmlformats.org/officeDocument/2006/relationships/slide" Target="slides/slide47.xml"/><Relationship Id="rId47" Type="http://schemas.openxmlformats.org/officeDocument/2006/relationships/slide" Target="slides/slide54.xml"/><Relationship Id="rId63" Type="http://schemas.openxmlformats.org/officeDocument/2006/relationships/slide" Target="slides/slide71.xml"/><Relationship Id="rId68" Type="http://schemas.openxmlformats.org/officeDocument/2006/relationships/slide" Target="slides/slide78.xml"/><Relationship Id="rId16" Type="http://schemas.openxmlformats.org/officeDocument/2006/relationships/slide" Target="slides/slide20.xml"/><Relationship Id="rId11" Type="http://schemas.openxmlformats.org/officeDocument/2006/relationships/slide" Target="slides/slide15.xml"/><Relationship Id="rId32" Type="http://schemas.openxmlformats.org/officeDocument/2006/relationships/slide" Target="slides/slide37.xml"/><Relationship Id="rId37" Type="http://schemas.openxmlformats.org/officeDocument/2006/relationships/slide" Target="slides/slide42.xml"/><Relationship Id="rId53" Type="http://schemas.openxmlformats.org/officeDocument/2006/relationships/slide" Target="slides/slide60.xml"/><Relationship Id="rId58" Type="http://schemas.openxmlformats.org/officeDocument/2006/relationships/slide" Target="slides/slide65.xml"/><Relationship Id="rId74" Type="http://schemas.openxmlformats.org/officeDocument/2006/relationships/slide" Target="slides/slide84.xml"/><Relationship Id="rId79" Type="http://schemas.openxmlformats.org/officeDocument/2006/relationships/slide" Target="slides/slide89.xml"/><Relationship Id="rId5" Type="http://schemas.openxmlformats.org/officeDocument/2006/relationships/slide" Target="slides/slide9.xml"/><Relationship Id="rId61" Type="http://schemas.openxmlformats.org/officeDocument/2006/relationships/slide" Target="slides/slide68.xml"/><Relationship Id="rId82" Type="http://schemas.openxmlformats.org/officeDocument/2006/relationships/slide" Target="slides/slide92.xml"/><Relationship Id="rId19" Type="http://schemas.openxmlformats.org/officeDocument/2006/relationships/slide" Target="slides/slide23.xml"/><Relationship Id="rId14" Type="http://schemas.openxmlformats.org/officeDocument/2006/relationships/slide" Target="slides/slide18.xml"/><Relationship Id="rId22" Type="http://schemas.openxmlformats.org/officeDocument/2006/relationships/slide" Target="slides/slide27.xml"/><Relationship Id="rId27" Type="http://schemas.openxmlformats.org/officeDocument/2006/relationships/slide" Target="slides/slide32.xml"/><Relationship Id="rId30" Type="http://schemas.openxmlformats.org/officeDocument/2006/relationships/slide" Target="slides/slide35.xml"/><Relationship Id="rId35" Type="http://schemas.openxmlformats.org/officeDocument/2006/relationships/slide" Target="slides/slide40.xml"/><Relationship Id="rId43" Type="http://schemas.openxmlformats.org/officeDocument/2006/relationships/slide" Target="slides/slide48.xml"/><Relationship Id="rId48" Type="http://schemas.openxmlformats.org/officeDocument/2006/relationships/slide" Target="slides/slide55.xml"/><Relationship Id="rId56" Type="http://schemas.openxmlformats.org/officeDocument/2006/relationships/slide" Target="slides/slide63.xml"/><Relationship Id="rId64" Type="http://schemas.openxmlformats.org/officeDocument/2006/relationships/slide" Target="slides/slide72.xml"/><Relationship Id="rId69" Type="http://schemas.openxmlformats.org/officeDocument/2006/relationships/slide" Target="slides/slide79.xml"/><Relationship Id="rId77" Type="http://schemas.openxmlformats.org/officeDocument/2006/relationships/slide" Target="slides/slide87.xml"/><Relationship Id="rId8" Type="http://schemas.openxmlformats.org/officeDocument/2006/relationships/slide" Target="slides/slide12.xml"/><Relationship Id="rId51" Type="http://schemas.openxmlformats.org/officeDocument/2006/relationships/slide" Target="slides/slide58.xml"/><Relationship Id="rId72" Type="http://schemas.openxmlformats.org/officeDocument/2006/relationships/slide" Target="slides/slide82.xml"/><Relationship Id="rId80" Type="http://schemas.openxmlformats.org/officeDocument/2006/relationships/slide" Target="slides/slide90.xml"/><Relationship Id="rId3" Type="http://schemas.openxmlformats.org/officeDocument/2006/relationships/slide" Target="slides/slide6.xml"/><Relationship Id="rId12" Type="http://schemas.openxmlformats.org/officeDocument/2006/relationships/slide" Target="slides/slide16.xml"/><Relationship Id="rId17" Type="http://schemas.openxmlformats.org/officeDocument/2006/relationships/slide" Target="slides/slide21.xml"/><Relationship Id="rId25" Type="http://schemas.openxmlformats.org/officeDocument/2006/relationships/slide" Target="slides/slide30.xml"/><Relationship Id="rId33" Type="http://schemas.openxmlformats.org/officeDocument/2006/relationships/slide" Target="slides/slide38.xml"/><Relationship Id="rId38" Type="http://schemas.openxmlformats.org/officeDocument/2006/relationships/slide" Target="slides/slide43.xml"/><Relationship Id="rId46" Type="http://schemas.openxmlformats.org/officeDocument/2006/relationships/slide" Target="slides/slide52.xml"/><Relationship Id="rId59" Type="http://schemas.openxmlformats.org/officeDocument/2006/relationships/slide" Target="slides/slide66.xml"/><Relationship Id="rId67" Type="http://schemas.openxmlformats.org/officeDocument/2006/relationships/slide" Target="slides/slide77.xml"/><Relationship Id="rId20" Type="http://schemas.openxmlformats.org/officeDocument/2006/relationships/slide" Target="slides/slide24.xml"/><Relationship Id="rId41" Type="http://schemas.openxmlformats.org/officeDocument/2006/relationships/slide" Target="slides/slide46.xml"/><Relationship Id="rId54" Type="http://schemas.openxmlformats.org/officeDocument/2006/relationships/slide" Target="slides/slide61.xml"/><Relationship Id="rId62" Type="http://schemas.openxmlformats.org/officeDocument/2006/relationships/slide" Target="slides/slide70.xml"/><Relationship Id="rId70" Type="http://schemas.openxmlformats.org/officeDocument/2006/relationships/slide" Target="slides/slide80.xml"/><Relationship Id="rId75" Type="http://schemas.openxmlformats.org/officeDocument/2006/relationships/slide" Target="slides/slide85.xml"/><Relationship Id="rId1" Type="http://schemas.openxmlformats.org/officeDocument/2006/relationships/slide" Target="slides/slide2.xml"/><Relationship Id="rId6" Type="http://schemas.openxmlformats.org/officeDocument/2006/relationships/slide" Target="slides/slide10.xml"/><Relationship Id="rId15" Type="http://schemas.openxmlformats.org/officeDocument/2006/relationships/slide" Target="slides/slide19.xml"/><Relationship Id="rId23" Type="http://schemas.openxmlformats.org/officeDocument/2006/relationships/slide" Target="slides/slide28.xml"/><Relationship Id="rId28" Type="http://schemas.openxmlformats.org/officeDocument/2006/relationships/slide" Target="slides/slide33.xml"/><Relationship Id="rId36" Type="http://schemas.openxmlformats.org/officeDocument/2006/relationships/slide" Target="slides/slide41.xml"/><Relationship Id="rId49" Type="http://schemas.openxmlformats.org/officeDocument/2006/relationships/slide" Target="slides/slide56.xml"/><Relationship Id="rId57" Type="http://schemas.openxmlformats.org/officeDocument/2006/relationships/slide" Target="slides/slide64.xml"/><Relationship Id="rId10" Type="http://schemas.openxmlformats.org/officeDocument/2006/relationships/slide" Target="slides/slide14.xml"/><Relationship Id="rId31" Type="http://schemas.openxmlformats.org/officeDocument/2006/relationships/slide" Target="slides/slide36.xml"/><Relationship Id="rId44" Type="http://schemas.openxmlformats.org/officeDocument/2006/relationships/slide" Target="slides/slide49.xml"/><Relationship Id="rId52" Type="http://schemas.openxmlformats.org/officeDocument/2006/relationships/slide" Target="slides/slide59.xml"/><Relationship Id="rId60" Type="http://schemas.openxmlformats.org/officeDocument/2006/relationships/slide" Target="slides/slide67.xml"/><Relationship Id="rId65" Type="http://schemas.openxmlformats.org/officeDocument/2006/relationships/slide" Target="slides/slide74.xml"/><Relationship Id="rId73" Type="http://schemas.openxmlformats.org/officeDocument/2006/relationships/slide" Target="slides/slide83.xml"/><Relationship Id="rId78" Type="http://schemas.openxmlformats.org/officeDocument/2006/relationships/slide" Target="slides/slide88.xml"/><Relationship Id="rId81" Type="http://schemas.openxmlformats.org/officeDocument/2006/relationships/slide" Target="slides/slide91.xml"/><Relationship Id="rId4" Type="http://schemas.openxmlformats.org/officeDocument/2006/relationships/slide" Target="slides/slide7.xml"/><Relationship Id="rId9" Type="http://schemas.openxmlformats.org/officeDocument/2006/relationships/slide" Target="slides/slide13.xml"/><Relationship Id="rId13" Type="http://schemas.openxmlformats.org/officeDocument/2006/relationships/slide" Target="slides/slide17.xml"/><Relationship Id="rId18" Type="http://schemas.openxmlformats.org/officeDocument/2006/relationships/slide" Target="slides/slide22.xml"/><Relationship Id="rId39" Type="http://schemas.openxmlformats.org/officeDocument/2006/relationships/slide" Target="slides/slide44.xml"/><Relationship Id="rId34" Type="http://schemas.openxmlformats.org/officeDocument/2006/relationships/slide" Target="slides/slide39.xml"/><Relationship Id="rId50" Type="http://schemas.openxmlformats.org/officeDocument/2006/relationships/slide" Target="slides/slide57.xml"/><Relationship Id="rId55" Type="http://schemas.openxmlformats.org/officeDocument/2006/relationships/slide" Target="slides/slide62.xml"/><Relationship Id="rId76" Type="http://schemas.openxmlformats.org/officeDocument/2006/relationships/slide" Target="slides/slide86.xml"/><Relationship Id="rId7" Type="http://schemas.openxmlformats.org/officeDocument/2006/relationships/slide" Target="slides/slide11.xml"/><Relationship Id="rId71" Type="http://schemas.openxmlformats.org/officeDocument/2006/relationships/slide" Target="slides/slide81.xml"/><Relationship Id="rId2" Type="http://schemas.openxmlformats.org/officeDocument/2006/relationships/slide" Target="slides/slide5.xml"/><Relationship Id="rId29" Type="http://schemas.openxmlformats.org/officeDocument/2006/relationships/slide" Target="slides/slide34.xml"/><Relationship Id="rId24" Type="http://schemas.openxmlformats.org/officeDocument/2006/relationships/slide" Target="slides/slide29.xml"/><Relationship Id="rId40" Type="http://schemas.openxmlformats.org/officeDocument/2006/relationships/slide" Target="slides/slide45.xml"/><Relationship Id="rId45" Type="http://schemas.openxmlformats.org/officeDocument/2006/relationships/slide" Target="slides/slide50.xml"/><Relationship Id="rId66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81824-7EDF-4B1D-9D44-4D7461D95900}" type="datetimeFigureOut">
              <a:rPr lang="zh-CN" altLang="en-US" smtClean="0"/>
              <a:t>2026/9/22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F2A367-4377-4BC9-85D6-558F91AD7B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9C055-D5A5-190A-8569-D8A311B92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C57D4F-A5D4-8310-AFFA-93FFE103BD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43463D-99CD-00B5-D16F-C760C94C4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8F1BAE-B0C9-341A-1968-0E97E86FF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449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213C3126-9601-9A72-572E-B7CEC0D657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5CB0799-1C05-4F5C-85FB-6A14CC586BD9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D0058AD2-4EB7-4088-CD2F-309436BB91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3DDB750-4496-AC63-E906-F7B3007A1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901B6A2E-D260-CD32-41A2-BB40034162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86B3DB7-4F84-4856-AE93-DA628C5A4456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C71F08D-5AEF-9912-04D0-3803618CF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13E2ED5-F928-478D-591D-5324F02B30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8F557417-7CDF-967E-376F-45A4F4043B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A82FA3-EB16-4FAB-BB61-634CB969F0F8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2A5E82F-C1C7-881A-C445-D6D12B0CE5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58BC6A07-AC02-270C-52CC-91B71C53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1FC28A68-7F68-0D6B-16C7-4C2AFAAA05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FC0EAE-C7D5-48AA-87D9-ADC80450EF46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5A3CBBE-F584-25C9-A9DA-38CD8F45C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4D304576-AE59-61F9-6B44-757C42B93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EBD6EF47-4E70-0353-36B8-67EC813B4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43DB6B-0756-4C0A-B230-928CF9AB02B1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97EB96A4-C497-DBD6-014B-927ABFE265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F158C196-4A1F-1F17-20B8-AC7AA1ED3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8727077D-DFBB-3868-8D77-30E7D7ADF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07E0A2-4F64-4CC3-B30A-87E2A1C5BF40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A4E7DAA0-492D-7D24-121B-6C48FE96BC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70168609-2A7B-C664-BF8D-9913A7120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C2D4731-2497-902C-D786-9D40682049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8EB6270-E373-410F-896C-713CE2A5EAC8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9C56E49-3C32-628D-027E-698D9B517C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AB1F9B8-29A3-A36F-4D06-5AE6F1A23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C28EE16C-6BE6-1D84-B995-62A5ED4AC6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CFE2DD-57F7-43F9-A327-FF7CFAFDABE3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8CA983E-A29C-DFB6-CC13-FD8C40ACA0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4E41D04-ACBE-F12C-B55B-59CC1B4CD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B32C431F-92E3-1C34-E5CE-57C3322FA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229C20-574D-4C31-8525-6CCEECDB6F6F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1444C50-EC4D-507C-AAA7-7204A3807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D1F20C5-67A1-9933-F6BE-868E59929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612EA47-4D83-A7DF-44CD-ECDF1DFDCB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124F7B-454A-4606-AFB7-6D345A8F8720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222F81B-D2B0-1463-6503-A55D40CE21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2238A10-D1C4-4F43-5F75-2CB56A47D6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034EF01-636E-6E88-AF3E-7E5765F2EF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78CD886-B706-4A4A-B57A-1AA0EF4F148B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7122C8A-1A4D-BED0-B429-A263B085AA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1AA929BB-E0BC-3AF4-C38B-083ED20C6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F8A20D25-82E8-1DB1-3286-A8D791B265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790E81A-1DDF-45D4-9E5B-C5EBC124D62A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16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6A123B5D-DCE3-331B-339E-6FAE1FE43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FB04860A-2578-9A93-A88A-DA70EC4B7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6AD9249-832E-19C6-8C11-77D45FB5B2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772EF0E-8F0A-461A-AE3F-B9FDC09E11A9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8999C87-A067-FA9A-C24F-702E9CD186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565526E4-8429-BD13-5015-4D5B26F29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A79C3820-D187-02C1-3445-D0FE28167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51AA2F2-8F3C-46CC-AC0A-2E0FBF3D7DFB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6ACB923-7BCB-AB6E-E846-75A9836BE9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3B003C8-F1CB-7902-5E82-9B3F8E0E9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23A3BE2-0F63-8EA4-9BB1-8662BD6B57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F36F708-6761-4E9F-A349-0FFE602F09C1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982BAA41-DC1C-D30E-34E4-9F7A8179EF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80517C4-928C-86A2-474A-9FEA0D6EA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AAF36132-6B14-4F8E-C44F-5EA77641EE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69E1B0-2505-4EED-B49F-7AE46FFC5A5C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35F75576-806E-3CD0-4DE2-70CAE4905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160945CC-2324-6F33-63DA-4A6A50010E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ABB06677-12E8-E7BD-614C-59BC467FD0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5438D96-D603-48A0-AB54-969B421F38F5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B512488-A085-6F05-19D0-0F41115FF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4AD3240-697F-B392-65D2-2AAAA91FD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3CA1642-6CEF-3E7F-6289-EC811BA21B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D0E168-47DB-432B-B1C8-08E899473FDC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C24832C6-1B3E-2224-265A-B225B11AC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088FB2E-9009-E64D-0DEB-6B25FD8192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0790CEA7-C01E-88FB-5D81-77BDD533E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1211FE-14A1-453C-A529-B2572AED90F6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776D4262-B9F2-655D-E5F7-C20E345F4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D1C0F4E-0B44-2421-B736-38AB3CC8E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814B3A28-ECF2-503F-0658-934BAE2467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00A9E69-9338-4268-B1B2-72592AA5C0DD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8C0640BA-21A7-3C10-7D32-4DE1FB420B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B768E84-DCD0-6390-2573-3A591EC889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C7438-3DC8-1043-46DF-AE0CA10A8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8F871-196F-2D78-E260-65A8D5362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C89622-12EB-B073-4028-D16F755E98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E76615-D4C7-7F5D-2205-A03EAE0902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975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30EF00-27D8-403D-ABDF-E178B6F56116}" type="slidenum">
              <a:rPr lang="en-US" altLang="zh-CN" smtClean="0"/>
              <a:pPr>
                <a:spcBef>
                  <a:spcPct val="0"/>
                </a:spcBef>
              </a:pPr>
              <a:t>26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78372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E1F252-0420-4D8C-9E13-ED17B1543417}" type="slidenum">
              <a:rPr lang="en-US" altLang="zh-CN" smtClean="0"/>
              <a:pPr>
                <a:spcBef>
                  <a:spcPct val="0"/>
                </a:spcBef>
              </a:pPr>
              <a:t>27</a:t>
            </a:fld>
            <a:endParaRPr lang="en-US" altLang="zh-CN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92366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B1C007E-5687-48ED-8CC2-D487E6BF75AF}" type="slidenum">
              <a:rPr lang="en-US" altLang="zh-CN" smtClean="0"/>
              <a:pPr>
                <a:spcBef>
                  <a:spcPct val="0"/>
                </a:spcBef>
              </a:pPr>
              <a:t>28</a:t>
            </a:fld>
            <a:endParaRPr lang="en-US" altLang="zh-CN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7392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20730FE-7E0E-494B-BDDE-3B89A4585A91}" type="slidenum">
              <a:rPr lang="en-US" altLang="zh-CN" smtClean="0"/>
              <a:pPr>
                <a:spcBef>
                  <a:spcPct val="0"/>
                </a:spcBef>
              </a:pPr>
              <a:t>29</a:t>
            </a:fld>
            <a:endParaRPr lang="en-US" altLang="zh-CN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70919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79518D-3EA1-4674-9A33-64BBBFBCCC24}" type="slidenum">
              <a:rPr lang="en-US" altLang="zh-CN" smtClean="0"/>
              <a:pPr>
                <a:spcBef>
                  <a:spcPct val="0"/>
                </a:spcBef>
              </a:pPr>
              <a:t>30</a:t>
            </a:fld>
            <a:endParaRPr lang="en-US" altLang="zh-CN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56604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2FB4130-683A-4DB5-B430-E0CE07AD0B37}" type="slidenum">
              <a:rPr lang="en-US" altLang="zh-CN" smtClean="0"/>
              <a:pPr>
                <a:spcBef>
                  <a:spcPct val="0"/>
                </a:spcBef>
              </a:pPr>
              <a:t>31</a:t>
            </a:fld>
            <a:endParaRPr lang="en-US" altLang="zh-CN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7157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852B30-9799-4732-A0CD-3E508862C3C2}" type="slidenum">
              <a:rPr lang="en-US" altLang="zh-CN" smtClean="0"/>
              <a:pPr>
                <a:spcBef>
                  <a:spcPct val="0"/>
                </a:spcBef>
              </a:pPr>
              <a:t>32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78483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026793-B4BD-49CD-9F4D-D09E7A58D927}" type="slidenum">
              <a:rPr lang="en-US" altLang="zh-CN" smtClean="0"/>
              <a:pPr>
                <a:spcBef>
                  <a:spcPct val="0"/>
                </a:spcBef>
              </a:pPr>
              <a:t>33</a:t>
            </a:fld>
            <a:endParaRPr lang="en-US" altLang="zh-CN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25245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62F45-950F-6485-430E-2CD11FE00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0470D9C2-EAC7-67A3-48C7-F15181CBFD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026793-B4BD-49CD-9F4D-D09E7A58D927}" type="slidenum">
              <a:rPr lang="en-US" altLang="zh-CN" smtClean="0"/>
              <a:pPr>
                <a:spcBef>
                  <a:spcPct val="0"/>
                </a:spcBef>
              </a:pPr>
              <a:t>34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0046AD6-A41A-2998-EDE0-A1A23B19BB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A648F499-C1AC-4C6B-9982-209C959E81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568243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80ABF-0DEC-8202-4A2F-946E6C49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07D6E0A-2A3A-9639-2168-B64EB842C6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77B11D-7832-4D4E-A4F8-07B1CE46641F}" type="slidenum">
              <a:rPr lang="en-US" altLang="zh-CN" smtClean="0"/>
              <a:pPr>
                <a:spcBef>
                  <a:spcPct val="0"/>
                </a:spcBef>
              </a:pPr>
              <a:t>35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4D2DA93-3C36-FFD8-BACA-E8AB611EE6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56627EA2-8065-EC90-8E22-FFE30753A0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74951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77B11D-7832-4D4E-A4F8-07B1CE46641F}" type="slidenum">
              <a:rPr lang="en-US" altLang="zh-CN" smtClean="0"/>
              <a:pPr>
                <a:spcBef>
                  <a:spcPct val="0"/>
                </a:spcBef>
              </a:pPr>
              <a:t>36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52219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777B11D-7832-4D4E-A4F8-07B1CE46641F}" type="slidenum">
              <a:rPr lang="en-US" altLang="zh-CN" smtClean="0"/>
              <a:pPr>
                <a:spcBef>
                  <a:spcPct val="0"/>
                </a:spcBef>
              </a:pPr>
              <a:t>37</a:t>
            </a:fld>
            <a:endParaRPr lang="en-US" altLang="zh-CN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72584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5687B3F-7094-4EA0-BBF0-FFC43142E4D7}" type="slidenum">
              <a:rPr lang="en-US" altLang="zh-CN" smtClean="0"/>
              <a:pPr>
                <a:spcBef>
                  <a:spcPct val="0"/>
                </a:spcBef>
              </a:pPr>
              <a:t>38</a:t>
            </a:fld>
            <a:endParaRPr lang="en-US" altLang="zh-CN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67408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77E6A0D-0BEF-4227-8E55-3656D91977D4}" type="slidenum">
              <a:rPr lang="en-US" altLang="zh-CN" smtClean="0"/>
              <a:pPr>
                <a:spcBef>
                  <a:spcPct val="0"/>
                </a:spcBef>
              </a:pPr>
              <a:t>39</a:t>
            </a:fld>
            <a:endParaRPr lang="en-US" altLang="zh-C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00488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FEDB4A7-CE9E-46EF-AD1A-390CEB6E9FA7}" type="slidenum">
              <a:rPr lang="en-US" altLang="zh-CN" smtClean="0"/>
              <a:pPr>
                <a:spcBef>
                  <a:spcPct val="0"/>
                </a:spcBef>
              </a:pPr>
              <a:t>40</a:t>
            </a:fld>
            <a:endParaRPr lang="en-US" altLang="zh-C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878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C116-140D-12AF-077F-4B585AAE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3D70189-750D-0F6F-96C3-BDB682004C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FEDB4A7-CE9E-46EF-AD1A-390CEB6E9FA7}" type="slidenum">
              <a:rPr lang="en-US" altLang="zh-CN" smtClean="0"/>
              <a:pPr>
                <a:spcBef>
                  <a:spcPct val="0"/>
                </a:spcBef>
              </a:pPr>
              <a:t>41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80ACEF5-8C6F-2FD3-130D-BDF5E606A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B663F08-24AD-99DE-10A7-5145A70CAA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642374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83E369-5081-4830-A76B-4FFAD87964F5}" type="slidenum">
              <a:rPr lang="en-US" altLang="zh-CN" smtClean="0"/>
              <a:pPr>
                <a:spcBef>
                  <a:spcPct val="0"/>
                </a:spcBef>
              </a:pPr>
              <a:t>42</a:t>
            </a:fld>
            <a:endParaRPr lang="en-US" altLang="zh-C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12411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320822-346D-49AA-B905-1E51D2EDAEC1}" type="slidenum">
              <a:rPr lang="en-US" altLang="zh-CN" smtClean="0"/>
              <a:pPr>
                <a:spcBef>
                  <a:spcPct val="0"/>
                </a:spcBef>
              </a:pPr>
              <a:t>43</a:t>
            </a:fld>
            <a:endParaRPr lang="en-US" altLang="zh-C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58505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DF7E82A-45F9-4B0C-B255-010DBA0D7631}" type="slidenum">
              <a:rPr lang="en-US" altLang="zh-CN" smtClean="0"/>
              <a:pPr>
                <a:spcBef>
                  <a:spcPct val="0"/>
                </a:spcBef>
              </a:pPr>
              <a:t>44</a:t>
            </a:fld>
            <a:endParaRPr lang="en-US" altLang="zh-CN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86678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1132CE4-9D14-48E4-A234-3F8451615194}" type="slidenum">
              <a:rPr lang="en-US" altLang="zh-CN" smtClean="0"/>
              <a:pPr>
                <a:spcBef>
                  <a:spcPct val="0"/>
                </a:spcBef>
              </a:pPr>
              <a:t>45</a:t>
            </a:fld>
            <a:endParaRPr lang="en-US" altLang="zh-CN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44425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DAE7BF-07D3-49DC-B065-DCA4CB50C6BA}" type="slidenum">
              <a:rPr lang="en-US" altLang="zh-CN" smtClean="0"/>
              <a:pPr>
                <a:spcBef>
                  <a:spcPct val="0"/>
                </a:spcBef>
              </a:pPr>
              <a:t>46</a:t>
            </a:fld>
            <a:endParaRPr lang="en-US" altLang="zh-CN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96603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7E5516E-85CA-460A-8B4D-0E88108E755D}" type="slidenum">
              <a:rPr lang="en-US" altLang="zh-CN" smtClean="0"/>
              <a:pPr>
                <a:spcBef>
                  <a:spcPct val="0"/>
                </a:spcBef>
              </a:pPr>
              <a:t>47</a:t>
            </a:fld>
            <a:endParaRPr lang="en-US" altLang="zh-CN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74324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513C7E5-35D3-4AAA-B2A7-E3C46F6F48B8}" type="slidenum">
              <a:rPr lang="en-US" altLang="zh-CN" smtClean="0"/>
              <a:pPr>
                <a:spcBef>
                  <a:spcPct val="0"/>
                </a:spcBef>
              </a:pPr>
              <a:t>48</a:t>
            </a:fld>
            <a:endParaRPr lang="en-US" altLang="zh-CN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8336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D58D3D-BF29-435C-A719-C5977DB09326}" type="slidenum">
              <a:rPr lang="en-US" altLang="zh-CN" smtClean="0"/>
              <a:pPr>
                <a:spcBef>
                  <a:spcPct val="0"/>
                </a:spcBef>
              </a:pPr>
              <a:t>49</a:t>
            </a:fld>
            <a:endParaRPr lang="en-US" altLang="zh-CN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74212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184F918-9B65-4DCA-A1BD-B51F2D88EAB5}" type="slidenum">
              <a:rPr lang="en-US" altLang="zh-CN" smtClean="0"/>
              <a:pPr>
                <a:spcBef>
                  <a:spcPct val="0"/>
                </a:spcBef>
              </a:pPr>
              <a:t>50</a:t>
            </a:fld>
            <a:endParaRPr lang="en-US" altLang="zh-CN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91102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51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4B8CE59-CBD5-421B-8840-BB3F41586073}" type="slidenum">
              <a:rPr lang="en-US" altLang="zh-CN" smtClean="0"/>
              <a:pPr>
                <a:spcBef>
                  <a:spcPct val="0"/>
                </a:spcBef>
              </a:pPr>
              <a:t>52</a:t>
            </a:fld>
            <a:endParaRPr lang="en-US" altLang="zh-CN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8B983D-C3C4-4A38-9F20-0804232F459D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384781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8750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E528368-6877-4B29-A8AC-F9A68CC1831B}" type="slidenum">
              <a:rPr lang="en-US" altLang="zh-CN" sz="1200" smtClean="0"/>
              <a:pPr/>
              <a:t>70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m+n+s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，说明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是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m+n;m+n+s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的公约数；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0365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8B983D-C3C4-4A38-9F20-0804232F459D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964343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F2A367-4377-4BC9-85D6-558F91AD7B75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95602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FCEAC79-DEA9-43B7-9A34-3481BEBA5BF9}" type="slidenum">
              <a:rPr lang="en-US" altLang="zh-CN" smtClean="0"/>
              <a:pPr>
                <a:spcBef>
                  <a:spcPct val="0"/>
                </a:spcBef>
              </a:pPr>
              <a:t>88</a:t>
            </a:fld>
            <a:endParaRPr lang="en-US" altLang="zh-CN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F15346-326D-45A2-8DD8-D9D8F2CF6411}" type="slidenum">
              <a:rPr lang="en-US" altLang="zh-CN" smtClean="0"/>
              <a:pPr>
                <a:spcBef>
                  <a:spcPct val="0"/>
                </a:spcBef>
              </a:pPr>
              <a:t>89</a:t>
            </a:fld>
            <a:endParaRPr lang="en-US" altLang="zh-CN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9DE2E52-B7F5-40D6-BD1B-A2EF24CFAB39}" type="slidenum">
              <a:rPr lang="en-US" altLang="zh-CN" smtClean="0"/>
              <a:pPr>
                <a:spcBef>
                  <a:spcPct val="0"/>
                </a:spcBef>
              </a:pPr>
              <a:t>90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882079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7770F3B3-5876-F3DD-19C0-9287728505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6D65587-BEA5-4591-B8B0-33CFF006C317}" type="slidenum">
              <a:rPr lang="en-US" altLang="zh-CN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91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C5CDB419-EF67-6201-AE8E-7D040D71E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133B2B1-CC6C-40CC-6B37-7F9C543D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2897153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780A164-6F77-4534-830C-FF6AB78C9161}" type="slidenum">
              <a:rPr lang="en-US" altLang="zh-CN" smtClean="0"/>
              <a:pPr>
                <a:spcBef>
                  <a:spcPct val="0"/>
                </a:spcBef>
              </a:pPr>
              <a:t>92</a:t>
            </a:fld>
            <a:endParaRPr lang="en-US" altLang="zh-CN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3268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876" y="2841225"/>
            <a:ext cx="10368598" cy="196048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9753" y="5182800"/>
            <a:ext cx="8538845" cy="23373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9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9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9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88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8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8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一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52424"/>
            <a:ext cx="5334000" cy="429419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43795"/>
            <a:ext cx="10978515" cy="5029200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sz="2400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两级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362744"/>
            <a:ext cx="6581775" cy="400050"/>
          </a:xfrm>
          <a:prstGeom prst="rect">
            <a:avLst/>
          </a:prstGeom>
        </p:spPr>
        <p:txBody>
          <a:bodyPr/>
          <a:lstStyle>
            <a:lvl1pPr>
              <a:defRPr sz="2400" b="1">
                <a:latin typeface="+mn-ea"/>
                <a:ea typeface="+mn-e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600994"/>
            <a:ext cx="10978515" cy="4572000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130000"/>
              </a:lnSpc>
              <a:buSzPct val="80000"/>
              <a:buFont typeface="Wingdings" panose="05000000000000000000" pitchFamily="2" charset="2"/>
              <a:buChar char="l"/>
              <a:defRPr sz="2400" b="1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3pPr>
            <a:lvl4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lnSpc>
                <a:spcPct val="130000"/>
              </a:lnSpc>
              <a:defRPr sz="2400" b="1">
                <a:solidFill>
                  <a:schemeClr val="tx1"/>
                </a:solidFill>
                <a:latin typeface="+mn-ea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841375" y="984137"/>
            <a:ext cx="10747058" cy="4644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buSzPct val="80000"/>
              <a:buFont typeface="Wingdings" panose="05000000000000000000" pitchFamily="2" charset="2"/>
              <a:buNone/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/>
          <p:cNvSpPr/>
          <p:nvPr userDrawn="1"/>
        </p:nvSpPr>
        <p:spPr>
          <a:xfrm>
            <a:off x="-73026" y="0"/>
            <a:ext cx="12271375" cy="6859588"/>
          </a:xfrm>
          <a:custGeom>
            <a:avLst/>
            <a:gdLst>
              <a:gd name="connsiteX0" fmla="*/ 0 w 9144000"/>
              <a:gd name="connsiteY0" fmla="*/ 5143500 h 5143500"/>
              <a:gd name="connsiteX1" fmla="*/ 9144000 w 9144000"/>
              <a:gd name="connsiteY1" fmla="*/ 5143500 h 5143500"/>
              <a:gd name="connsiteX2" fmla="*/ 9144000 w 9144000"/>
              <a:gd name="connsiteY2" fmla="*/ 0 h 5143500"/>
              <a:gd name="connsiteX3" fmla="*/ 0 w 9144000"/>
              <a:gd name="connsiteY3" fmla="*/ 0 h 5143500"/>
              <a:gd name="connsiteX4" fmla="*/ 0 w 9144000"/>
              <a:gd name="connsiteY4" fmla="*/ 5143500 h 5143500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  <a:cxn ang="3">
                <a:pos x="connsiteX3" y="connsiteY3"/>
              </a:cxn>
              <a:cxn ang="4">
                <a:pos x="connsiteX4" y="connsiteY4"/>
              </a:cxn>
            </a:cxnLst>
            <a:rect l="l" t="t" r="r" b="b"/>
            <a:pathLst>
              <a:path w="9144000" h="5143500">
                <a:moveTo>
                  <a:pt x="0" y="5143500"/>
                </a:moveTo>
                <a:lnTo>
                  <a:pt x="9144000" y="5143500"/>
                </a:lnTo>
                <a:lnTo>
                  <a:pt x="9144000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rgbClr val="ECECF2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7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2134095"/>
            <a:ext cx="5387605" cy="603601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2047291"/>
            <a:ext cx="5389723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918" y="2900505"/>
            <a:ext cx="5389723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593" y="2047291"/>
            <a:ext cx="5391840" cy="85321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835" indent="0">
              <a:buNone/>
              <a:defRPr sz="2400" b="1"/>
            </a:lvl3pPr>
            <a:lvl4pPr marL="1829435" indent="0">
              <a:buNone/>
              <a:defRPr sz="2100" b="1"/>
            </a:lvl4pPr>
            <a:lvl5pPr marL="2439035" indent="0">
              <a:buNone/>
              <a:defRPr sz="2100" b="1"/>
            </a:lvl5pPr>
            <a:lvl6pPr marL="3049270" indent="0">
              <a:buNone/>
              <a:defRPr sz="2100" b="1"/>
            </a:lvl6pPr>
            <a:lvl7pPr marL="3658870" indent="0">
              <a:buNone/>
              <a:defRPr sz="2100" b="1"/>
            </a:lvl7pPr>
            <a:lvl8pPr marL="4268470" indent="0">
              <a:buNone/>
              <a:defRPr sz="2100" b="1"/>
            </a:lvl8pPr>
            <a:lvl9pPr marL="4878705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6593" y="2900505"/>
            <a:ext cx="5391840" cy="526960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4151"/>
            <a:ext cx="4013173" cy="1549759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9216" y="364152"/>
            <a:ext cx="6819216" cy="7805958"/>
          </a:xfrm>
          <a:prstGeom prst="rect">
            <a:avLst/>
          </a:prstGeo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918" y="1913910"/>
            <a:ext cx="4013173" cy="62561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0962" y="6402282"/>
            <a:ext cx="7319010" cy="755826"/>
          </a:xfrm>
          <a:prstGeom prst="rect">
            <a:avLst/>
          </a:prstGeo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90962" y="817223"/>
            <a:ext cx="7319010" cy="54876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90962" y="7158108"/>
            <a:ext cx="7319010" cy="10733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66269"/>
            <a:ext cx="10978515" cy="15243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2134095"/>
            <a:ext cx="10978515" cy="603601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43804" y="366269"/>
            <a:ext cx="2744629" cy="780384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918" y="366269"/>
            <a:ext cx="8030580" cy="780384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917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7770" y="8477096"/>
            <a:ext cx="3862811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151" y="8477096"/>
            <a:ext cx="2846282" cy="486946"/>
          </a:xfrm>
          <a:prstGeom prst="rect">
            <a:avLst/>
          </a:prstGeom>
        </p:spPr>
        <p:txBody>
          <a:bodyPr vert="horz" lIns="121963" tIns="60981" rIns="121963" bIns="60981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1" name="Text Placeholder 2"/>
          <p:cNvSpPr>
            <a:spLocks noGrp="1"/>
          </p:cNvSpPr>
          <p:nvPr>
            <p:ph type="body" idx="1"/>
          </p:nvPr>
        </p:nvSpPr>
        <p:spPr>
          <a:xfrm>
            <a:off x="609521" y="1143794"/>
            <a:ext cx="10971372" cy="500036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矩形 23"/>
          <p:cNvSpPr/>
          <p:nvPr userDrawn="1"/>
        </p:nvSpPr>
        <p:spPr>
          <a:xfrm>
            <a:off x="0" y="332656"/>
            <a:ext cx="12198350" cy="432048"/>
          </a:xfrm>
          <a:prstGeom prst="rect">
            <a:avLst/>
          </a:prstGeom>
          <a:solidFill>
            <a:srgbClr val="3A4187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矩形 24"/>
          <p:cNvSpPr/>
          <p:nvPr userDrawn="1"/>
        </p:nvSpPr>
        <p:spPr>
          <a:xfrm>
            <a:off x="0" y="764704"/>
            <a:ext cx="12198350" cy="7200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 userDrawn="1"/>
        </p:nvSpPr>
        <p:spPr>
          <a:xfrm>
            <a:off x="11280775" y="330107"/>
            <a:ext cx="485233" cy="485233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15"/>
          <p:cNvSpPr txBox="1"/>
          <p:nvPr userDrawn="1"/>
        </p:nvSpPr>
        <p:spPr>
          <a:xfrm>
            <a:off x="11283362" y="442092"/>
            <a:ext cx="48339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>
            <a:off x="8030581" y="332656"/>
            <a:ext cx="3173994" cy="43204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0" rtlCol="0" anchor="ctr"/>
          <a:lstStyle/>
          <a:p>
            <a:pPr marL="0" marR="0" lvl="0" indent="0" algn="ctr" defTabSz="12198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lang="zh-CN" altLang="en-US" sz="1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马尔可夫过程</a:t>
            </a:r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772942" y="362834"/>
            <a:ext cx="5305686" cy="39996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0" name="等腰三角形 39">
            <a:hlinkClick r:id="" action="ppaction://hlinkshowjump?jump=previousslide"/>
          </p:cNvPr>
          <p:cNvSpPr/>
          <p:nvPr userDrawn="1"/>
        </p:nvSpPr>
        <p:spPr>
          <a:xfrm rot="5400000" flipH="1">
            <a:off x="3854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1" name="等腰三角形 40">
            <a:hlinkClick r:id="" action="ppaction://hlinkshowjump?jump=previousslide"/>
          </p:cNvPr>
          <p:cNvSpPr/>
          <p:nvPr userDrawn="1"/>
        </p:nvSpPr>
        <p:spPr>
          <a:xfrm rot="5400000" flipH="1">
            <a:off x="52511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  <p:sp>
        <p:nvSpPr>
          <p:cNvPr id="42" name="等腰三角形 41">
            <a:hlinkClick r:id="" action="ppaction://hlinkshowjump?jump=previousslide"/>
          </p:cNvPr>
          <p:cNvSpPr/>
          <p:nvPr userDrawn="1"/>
        </p:nvSpPr>
        <p:spPr>
          <a:xfrm rot="5400000" flipH="1">
            <a:off x="658467" y="517775"/>
            <a:ext cx="98663" cy="1011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835" rtl="0" eaLnBrk="1" latinLnBrk="0" hangingPunct="1">
        <a:spcBef>
          <a:spcPct val="0"/>
        </a:spcBef>
        <a:buNone/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lnSpc>
          <a:spcPct val="150000"/>
        </a:lnSpc>
        <a:spcBef>
          <a:spcPct val="20000"/>
        </a:spcBef>
        <a:buSzPct val="80000"/>
        <a:buFont typeface="Wingdings" panose="05000000000000000000" pitchFamily="2" charset="2"/>
        <a:buChar char="l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991235" indent="-3810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2pPr>
      <a:lvl3pPr marL="15246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3pPr>
      <a:lvl4pPr marL="2134235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–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4pPr>
      <a:lvl5pPr marL="2744470" indent="-304800" algn="l" defTabSz="1219835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Char char="»"/>
        <a:defRPr sz="2400" b="1" kern="1200">
          <a:solidFill>
            <a:schemeClr val="tx1"/>
          </a:solidFill>
          <a:latin typeface="+mn-ea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wmf"/><Relationship Id="rId4" Type="http://schemas.openxmlformats.org/officeDocument/2006/relationships/image" Target="../media/image12.emf"/><Relationship Id="rId9" Type="http://schemas.openxmlformats.org/officeDocument/2006/relationships/oleObject" Target="../embeddings/oleObject14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emf"/><Relationship Id="rId17" Type="http://schemas.openxmlformats.org/officeDocument/2006/relationships/oleObject" Target="../embeddings/oleObject23.bin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1.bin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3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35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7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39.bin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35.png"/><Relationship Id="rId4" Type="http://schemas.openxmlformats.org/officeDocument/2006/relationships/image" Target="../media/image40.wmf"/><Relationship Id="rId9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40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46.wm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21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22.emf"/><Relationship Id="rId4" Type="http://schemas.openxmlformats.org/officeDocument/2006/relationships/image" Target="../media/image48.wmf"/><Relationship Id="rId9" Type="http://schemas.openxmlformats.org/officeDocument/2006/relationships/oleObject" Target="../embeddings/oleObject48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e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5" Type="http://schemas.openxmlformats.org/officeDocument/2006/relationships/image" Target="../media/image51.e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3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0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6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6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5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7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0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0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73.w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2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3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wmf"/><Relationship Id="rId5" Type="http://schemas.openxmlformats.org/officeDocument/2006/relationships/oleObject" Target="../embeddings/oleObject74.bin"/><Relationship Id="rId4" Type="http://schemas.openxmlformats.org/officeDocument/2006/relationships/image" Target="../media/image76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8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png"/><Relationship Id="rId18" Type="http://schemas.openxmlformats.org/officeDocument/2006/relationships/image" Target="../media/image94.png"/><Relationship Id="rId3" Type="http://schemas.openxmlformats.org/officeDocument/2006/relationships/image" Target="../media/image81.wmf"/><Relationship Id="rId7" Type="http://schemas.openxmlformats.org/officeDocument/2006/relationships/image" Target="../media/image83.png"/><Relationship Id="rId12" Type="http://schemas.openxmlformats.org/officeDocument/2006/relationships/image" Target="../media/image88.png"/><Relationship Id="rId17" Type="http://schemas.openxmlformats.org/officeDocument/2006/relationships/image" Target="../media/image93.png"/><Relationship Id="rId2" Type="http://schemas.openxmlformats.org/officeDocument/2006/relationships/oleObject" Target="../embeddings/oleObject78.bin"/><Relationship Id="rId16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7.png"/><Relationship Id="rId5" Type="http://schemas.openxmlformats.org/officeDocument/2006/relationships/image" Target="../media/image66.wmf"/><Relationship Id="rId15" Type="http://schemas.openxmlformats.org/officeDocument/2006/relationships/image" Target="../media/image91.png"/><Relationship Id="rId10" Type="http://schemas.openxmlformats.org/officeDocument/2006/relationships/image" Target="../media/image86.png"/><Relationship Id="rId19" Type="http://schemas.openxmlformats.org/officeDocument/2006/relationships/image" Target="../media/image95.png"/><Relationship Id="rId4" Type="http://schemas.openxmlformats.org/officeDocument/2006/relationships/oleObject" Target="../embeddings/oleObject63.bin"/><Relationship Id="rId9" Type="http://schemas.openxmlformats.org/officeDocument/2006/relationships/image" Target="../media/image85.png"/><Relationship Id="rId14" Type="http://schemas.openxmlformats.org/officeDocument/2006/relationships/image" Target="../media/image9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96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86.png"/><Relationship Id="rId5" Type="http://schemas.openxmlformats.org/officeDocument/2006/relationships/image" Target="../media/image97.wmf"/><Relationship Id="rId10" Type="http://schemas.openxmlformats.org/officeDocument/2006/relationships/image" Target="../media/image100.png"/><Relationship Id="rId4" Type="http://schemas.openxmlformats.org/officeDocument/2006/relationships/oleObject" Target="../embeddings/oleObject79.bin"/><Relationship Id="rId9" Type="http://schemas.openxmlformats.org/officeDocument/2006/relationships/image" Target="../media/image9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2" Type="http://schemas.openxmlformats.org/officeDocument/2006/relationships/oleObject" Target="../embeddings/oleObject8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2.bin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81.bin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image" Target="../media/image109.wmf"/><Relationship Id="rId3" Type="http://schemas.openxmlformats.org/officeDocument/2006/relationships/image" Target="../media/image104.emf"/><Relationship Id="rId7" Type="http://schemas.openxmlformats.org/officeDocument/2006/relationships/image" Target="../media/image106.wmf"/><Relationship Id="rId12" Type="http://schemas.openxmlformats.org/officeDocument/2006/relationships/oleObject" Target="../embeddings/oleObject88.bin"/><Relationship Id="rId17" Type="http://schemas.openxmlformats.org/officeDocument/2006/relationships/image" Target="../media/image111.wmf"/><Relationship Id="rId2" Type="http://schemas.openxmlformats.org/officeDocument/2006/relationships/oleObject" Target="../embeddings/oleObject83.bin"/><Relationship Id="rId16" Type="http://schemas.openxmlformats.org/officeDocument/2006/relationships/oleObject" Target="../embeddings/oleObject9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5" Type="http://schemas.openxmlformats.org/officeDocument/2006/relationships/image" Target="../media/image110.wmf"/><Relationship Id="rId10" Type="http://schemas.openxmlformats.org/officeDocument/2006/relationships/oleObject" Target="../embeddings/oleObject87.bin"/><Relationship Id="rId4" Type="http://schemas.openxmlformats.org/officeDocument/2006/relationships/oleObject" Target="../embeddings/oleObject84.bin"/><Relationship Id="rId9" Type="http://schemas.openxmlformats.org/officeDocument/2006/relationships/image" Target="../media/image107.wmf"/><Relationship Id="rId14" Type="http://schemas.openxmlformats.org/officeDocument/2006/relationships/oleObject" Target="../embeddings/oleObject89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image" Target="../media/image112.wmf"/><Relationship Id="rId7" Type="http://schemas.openxmlformats.org/officeDocument/2006/relationships/image" Target="../media/image114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5" Type="http://schemas.openxmlformats.org/officeDocument/2006/relationships/image" Target="../media/image113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115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7" Type="http://schemas.openxmlformats.org/officeDocument/2006/relationships/image" Target="../media/image118.e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117.emf"/><Relationship Id="rId4" Type="http://schemas.openxmlformats.org/officeDocument/2006/relationships/oleObject" Target="../embeddings/oleObject96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16.e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103.bin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17.e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104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oleObject" Target="../embeddings/oleObject10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0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0.bin"/><Relationship Id="rId3" Type="http://schemas.openxmlformats.org/officeDocument/2006/relationships/image" Target="../media/image126.emf"/><Relationship Id="rId7" Type="http://schemas.openxmlformats.org/officeDocument/2006/relationships/image" Target="../media/image128.e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130.emf"/><Relationship Id="rId5" Type="http://schemas.openxmlformats.org/officeDocument/2006/relationships/image" Target="../media/image127.emf"/><Relationship Id="rId10" Type="http://schemas.openxmlformats.org/officeDocument/2006/relationships/oleObject" Target="../embeddings/oleObject111.bin"/><Relationship Id="rId4" Type="http://schemas.openxmlformats.org/officeDocument/2006/relationships/oleObject" Target="../embeddings/oleObject108.bin"/><Relationship Id="rId9" Type="http://schemas.openxmlformats.org/officeDocument/2006/relationships/image" Target="../media/image129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18.bin"/><Relationship Id="rId18" Type="http://schemas.openxmlformats.org/officeDocument/2006/relationships/image" Target="../media/image139.wmf"/><Relationship Id="rId26" Type="http://schemas.openxmlformats.org/officeDocument/2006/relationships/image" Target="../media/image143.wmf"/><Relationship Id="rId3" Type="http://schemas.openxmlformats.org/officeDocument/2006/relationships/oleObject" Target="../embeddings/oleObject113.bin"/><Relationship Id="rId21" Type="http://schemas.openxmlformats.org/officeDocument/2006/relationships/oleObject" Target="../embeddings/oleObject122.bin"/><Relationship Id="rId7" Type="http://schemas.openxmlformats.org/officeDocument/2006/relationships/oleObject" Target="../embeddings/oleObject115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20.bin"/><Relationship Id="rId25" Type="http://schemas.openxmlformats.org/officeDocument/2006/relationships/oleObject" Target="../embeddings/oleObject124.bin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29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17.bin"/><Relationship Id="rId24" Type="http://schemas.openxmlformats.org/officeDocument/2006/relationships/image" Target="../media/image142.wmf"/><Relationship Id="rId5" Type="http://schemas.openxmlformats.org/officeDocument/2006/relationships/oleObject" Target="../embeddings/oleObject114.bin"/><Relationship Id="rId15" Type="http://schemas.openxmlformats.org/officeDocument/2006/relationships/oleObject" Target="../embeddings/oleObject119.bin"/><Relationship Id="rId23" Type="http://schemas.openxmlformats.org/officeDocument/2006/relationships/oleObject" Target="../embeddings/oleObject123.bin"/><Relationship Id="rId28" Type="http://schemas.openxmlformats.org/officeDocument/2006/relationships/image" Target="../media/image144.wmf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21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16.bin"/><Relationship Id="rId14" Type="http://schemas.openxmlformats.org/officeDocument/2006/relationships/image" Target="../media/image137.wmf"/><Relationship Id="rId22" Type="http://schemas.openxmlformats.org/officeDocument/2006/relationships/image" Target="../media/image141.wmf"/><Relationship Id="rId27" Type="http://schemas.openxmlformats.org/officeDocument/2006/relationships/oleObject" Target="../embeddings/oleObject125.bin"/><Relationship Id="rId30" Type="http://schemas.openxmlformats.org/officeDocument/2006/relationships/image" Target="../media/image145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7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6.e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7" Type="http://schemas.openxmlformats.org/officeDocument/2006/relationships/image" Target="../media/image7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48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3.bin"/><Relationship Id="rId3" Type="http://schemas.openxmlformats.org/officeDocument/2006/relationships/image" Target="../media/image150.emf"/><Relationship Id="rId7" Type="http://schemas.openxmlformats.org/officeDocument/2006/relationships/image" Target="../media/image152.emf"/><Relationship Id="rId2" Type="http://schemas.openxmlformats.org/officeDocument/2006/relationships/oleObject" Target="../embeddings/oleObject1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2.bin"/><Relationship Id="rId5" Type="http://schemas.openxmlformats.org/officeDocument/2006/relationships/image" Target="../media/image151.emf"/><Relationship Id="rId4" Type="http://schemas.openxmlformats.org/officeDocument/2006/relationships/oleObject" Target="../embeddings/oleObject131.bin"/><Relationship Id="rId9" Type="http://schemas.openxmlformats.org/officeDocument/2006/relationships/image" Target="../media/image153.e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oleObject" Target="../embeddings/oleObject140.bin"/><Relationship Id="rId3" Type="http://schemas.openxmlformats.org/officeDocument/2006/relationships/image" Target="../media/image154.wmf"/><Relationship Id="rId7" Type="http://schemas.openxmlformats.org/officeDocument/2006/relationships/image" Target="../media/image156.wmf"/><Relationship Id="rId12" Type="http://schemas.openxmlformats.org/officeDocument/2006/relationships/oleObject" Target="../embeddings/oleObject139.bin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58.wmf"/><Relationship Id="rId5" Type="http://schemas.openxmlformats.org/officeDocument/2006/relationships/image" Target="../media/image155.wmf"/><Relationship Id="rId10" Type="http://schemas.openxmlformats.org/officeDocument/2006/relationships/oleObject" Target="../embeddings/oleObject13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57.wmf"/><Relationship Id="rId14" Type="http://schemas.openxmlformats.org/officeDocument/2006/relationships/image" Target="../media/image159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image" Target="../media/image165.wmf"/><Relationship Id="rId3" Type="http://schemas.openxmlformats.org/officeDocument/2006/relationships/image" Target="../media/image160.wmf"/><Relationship Id="rId7" Type="http://schemas.openxmlformats.org/officeDocument/2006/relationships/image" Target="../media/image162.wmf"/><Relationship Id="rId12" Type="http://schemas.openxmlformats.org/officeDocument/2006/relationships/oleObject" Target="../embeddings/oleObject146.bin"/><Relationship Id="rId2" Type="http://schemas.openxmlformats.org/officeDocument/2006/relationships/oleObject" Target="../embeddings/oleObject1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3.bin"/><Relationship Id="rId11" Type="http://schemas.openxmlformats.org/officeDocument/2006/relationships/image" Target="../media/image164.wmf"/><Relationship Id="rId5" Type="http://schemas.openxmlformats.org/officeDocument/2006/relationships/image" Target="../media/image161.wmf"/><Relationship Id="rId15" Type="http://schemas.openxmlformats.org/officeDocument/2006/relationships/image" Target="../media/image166.wmf"/><Relationship Id="rId10" Type="http://schemas.openxmlformats.org/officeDocument/2006/relationships/oleObject" Target="../embeddings/oleObject145.bin"/><Relationship Id="rId4" Type="http://schemas.openxmlformats.org/officeDocument/2006/relationships/oleObject" Target="../embeddings/oleObject142.bin"/><Relationship Id="rId9" Type="http://schemas.openxmlformats.org/officeDocument/2006/relationships/image" Target="../media/image163.wmf"/><Relationship Id="rId14" Type="http://schemas.openxmlformats.org/officeDocument/2006/relationships/oleObject" Target="../embeddings/oleObject147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3" Type="http://schemas.openxmlformats.org/officeDocument/2006/relationships/image" Target="../media/image167.wmf"/><Relationship Id="rId7" Type="http://schemas.openxmlformats.org/officeDocument/2006/relationships/image" Target="../media/image158.wmf"/><Relationship Id="rId2" Type="http://schemas.openxmlformats.org/officeDocument/2006/relationships/oleObject" Target="../embeddings/oleObject14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0.bin"/><Relationship Id="rId5" Type="http://schemas.openxmlformats.org/officeDocument/2006/relationships/image" Target="../media/image155.wmf"/><Relationship Id="rId4" Type="http://schemas.openxmlformats.org/officeDocument/2006/relationships/oleObject" Target="../embeddings/oleObject149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3" Type="http://schemas.openxmlformats.org/officeDocument/2006/relationships/oleObject" Target="../embeddings/oleObject152.bin"/><Relationship Id="rId7" Type="http://schemas.openxmlformats.org/officeDocument/2006/relationships/oleObject" Target="../embeddings/oleObject154.bin"/><Relationship Id="rId12" Type="http://schemas.openxmlformats.org/officeDocument/2006/relationships/image" Target="../media/image172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56.bin"/><Relationship Id="rId5" Type="http://schemas.openxmlformats.org/officeDocument/2006/relationships/oleObject" Target="../embeddings/oleObject153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55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3" Type="http://schemas.openxmlformats.org/officeDocument/2006/relationships/image" Target="../media/image174.wmf"/><Relationship Id="rId7" Type="http://schemas.openxmlformats.org/officeDocument/2006/relationships/image" Target="../media/image156.wmf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5" Type="http://schemas.openxmlformats.org/officeDocument/2006/relationships/image" Target="../media/image175.wmf"/><Relationship Id="rId4" Type="http://schemas.openxmlformats.org/officeDocument/2006/relationships/oleObject" Target="../embeddings/oleObject159.bin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162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80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0" Type="http://schemas.openxmlformats.org/officeDocument/2006/relationships/image" Target="../media/image179.wmf"/><Relationship Id="rId4" Type="http://schemas.openxmlformats.org/officeDocument/2006/relationships/image" Target="../media/image176.wmf"/><Relationship Id="rId9" Type="http://schemas.openxmlformats.org/officeDocument/2006/relationships/oleObject" Target="../embeddings/oleObject165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0.bin"/><Relationship Id="rId13" Type="http://schemas.openxmlformats.org/officeDocument/2006/relationships/image" Target="../media/image186.wmf"/><Relationship Id="rId18" Type="http://schemas.openxmlformats.org/officeDocument/2006/relationships/oleObject" Target="../embeddings/oleObject174.bin"/><Relationship Id="rId3" Type="http://schemas.openxmlformats.org/officeDocument/2006/relationships/image" Target="../media/image181.wmf"/><Relationship Id="rId21" Type="http://schemas.openxmlformats.org/officeDocument/2006/relationships/image" Target="../media/image189.wmf"/><Relationship Id="rId7" Type="http://schemas.openxmlformats.org/officeDocument/2006/relationships/image" Target="../media/image183.wmf"/><Relationship Id="rId12" Type="http://schemas.openxmlformats.org/officeDocument/2006/relationships/oleObject" Target="../embeddings/oleObject172.bin"/><Relationship Id="rId17" Type="http://schemas.openxmlformats.org/officeDocument/2006/relationships/image" Target="../media/image187.wmf"/><Relationship Id="rId2" Type="http://schemas.openxmlformats.org/officeDocument/2006/relationships/oleObject" Target="../embeddings/oleObject167.bin"/><Relationship Id="rId16" Type="http://schemas.openxmlformats.org/officeDocument/2006/relationships/oleObject" Target="../embeddings/oleObject173.bin"/><Relationship Id="rId20" Type="http://schemas.openxmlformats.org/officeDocument/2006/relationships/oleObject" Target="../embeddings/oleObject17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9.bin"/><Relationship Id="rId11" Type="http://schemas.openxmlformats.org/officeDocument/2006/relationships/image" Target="../media/image185.wmf"/><Relationship Id="rId5" Type="http://schemas.openxmlformats.org/officeDocument/2006/relationships/image" Target="../media/image182.wmf"/><Relationship Id="rId15" Type="http://schemas.openxmlformats.org/officeDocument/2006/relationships/image" Target="../media/image156.wmf"/><Relationship Id="rId10" Type="http://schemas.openxmlformats.org/officeDocument/2006/relationships/oleObject" Target="../embeddings/oleObject171.bin"/><Relationship Id="rId19" Type="http://schemas.openxmlformats.org/officeDocument/2006/relationships/image" Target="../media/image188.wmf"/><Relationship Id="rId4" Type="http://schemas.openxmlformats.org/officeDocument/2006/relationships/oleObject" Target="../embeddings/oleObject168.bin"/><Relationship Id="rId9" Type="http://schemas.openxmlformats.org/officeDocument/2006/relationships/image" Target="../media/image184.wmf"/><Relationship Id="rId14" Type="http://schemas.openxmlformats.org/officeDocument/2006/relationships/oleObject" Target="../embeddings/oleObject161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image" Target="../media/image190.wmf"/><Relationship Id="rId7" Type="http://schemas.openxmlformats.org/officeDocument/2006/relationships/image" Target="../media/image192.wmf"/><Relationship Id="rId2" Type="http://schemas.openxmlformats.org/officeDocument/2006/relationships/oleObject" Target="../embeddings/oleObject17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78.bin"/><Relationship Id="rId11" Type="http://schemas.openxmlformats.org/officeDocument/2006/relationships/image" Target="../media/image194.wmf"/><Relationship Id="rId5" Type="http://schemas.openxmlformats.org/officeDocument/2006/relationships/image" Target="../media/image191.wmf"/><Relationship Id="rId10" Type="http://schemas.openxmlformats.org/officeDocument/2006/relationships/oleObject" Target="../embeddings/oleObject180.bin"/><Relationship Id="rId4" Type="http://schemas.openxmlformats.org/officeDocument/2006/relationships/oleObject" Target="../embeddings/oleObject177.bin"/><Relationship Id="rId9" Type="http://schemas.openxmlformats.org/officeDocument/2006/relationships/image" Target="../media/image193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7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01096" y="2310557"/>
            <a:ext cx="456027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             《</a:t>
            </a:r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随机过程与排队论</a:t>
            </a:r>
            <a:r>
              <a:rPr lang="en-US" altLang="zh-CN" sz="2000" dirty="0">
                <a:solidFill>
                  <a:schemeClr val="bg1"/>
                </a:solidFill>
              </a:rPr>
              <a:t>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143207" y="1101971"/>
            <a:ext cx="2076056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</a:rPr>
              <a:t>5</a:t>
            </a:r>
            <a:r>
              <a:rPr lang="zh-CN" altLang="en-US" sz="4800" dirty="0">
                <a:solidFill>
                  <a:schemeClr val="bg1"/>
                </a:solidFill>
              </a:rPr>
              <a:t>讲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35" y="3519164"/>
            <a:ext cx="4854640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Email</a:t>
            </a:r>
            <a:r>
              <a:rPr lang="zh-CN" altLang="en-US" sz="2000" dirty="0">
                <a:solidFill>
                  <a:schemeClr val="bg1"/>
                </a:solidFill>
                <a:ea typeface="华文行楷" panose="02010800040101010101" pitchFamily="2" charset="-122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qxwang@uestc.edu.cn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94375" y="2900778"/>
            <a:ext cx="175430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王庆先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775" y="2900930"/>
            <a:ext cx="3078481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</a:p>
        </p:txBody>
      </p:sp>
      <p:sp>
        <p:nvSpPr>
          <p:cNvPr id="2" name="矩形 1"/>
          <p:cNvSpPr/>
          <p:nvPr/>
        </p:nvSpPr>
        <p:spPr>
          <a:xfrm>
            <a:off x="5748656" y="2975515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E009-82D1-5AA5-BD74-E3A23A9C9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id="{E7D8C04E-F026-644D-201C-3D579D143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黑体" panose="02010609060101010101" pitchFamily="49" charset="-122"/>
                <a:cs typeface="Times New Roman" panose="02020603050405020304" pitchFamily="18" charset="0"/>
              </a:rPr>
              <a:t>上一讲主要内容</a:t>
            </a:r>
            <a:endParaRPr lang="zh-CN" altLang="en-US" dirty="0"/>
          </a:p>
        </p:txBody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7B07183E-47C0-2747-6EDF-C70F1F5CC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917" y="1067142"/>
            <a:ext cx="7110471" cy="5757607"/>
          </a:xfrm>
        </p:spPr>
        <p:txBody>
          <a:bodyPr>
            <a:normAutofit/>
          </a:bodyPr>
          <a:lstStyle/>
          <a:p>
            <a:pPr eaLnBrk="1" hangingPunct="1">
              <a:buClr>
                <a:srgbClr val="00FF00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泊松过程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泊松过程的两个定义及其等价性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泊松过程的概率分布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泊松过程的数字特征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泊松过程的性质</a:t>
            </a:r>
            <a:endParaRPr lang="en-US" altLang="zh-CN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非齐次泊松过程</a:t>
            </a:r>
            <a:endParaRPr lang="en-US" altLang="zh-CN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复合泊松过程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更新计数过程</a:t>
            </a:r>
            <a:endParaRPr lang="en-US" altLang="zh-CN" dirty="0">
              <a:solidFill>
                <a:srgbClr val="0000FF"/>
              </a:solidFill>
              <a:latin typeface="黑体" panose="02010609060101010101" pitchFamily="49" charset="-122"/>
            </a:endParaRP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742392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4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4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4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4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4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4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4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4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4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6CA95B-2D3F-A7E0-8D04-4D60F23699C7}"/>
              </a:ext>
            </a:extLst>
          </p:cNvPr>
          <p:cNvSpPr txBox="1">
            <a:spLocks noChangeArrowheads="1"/>
          </p:cNvSpPr>
          <p:nvPr/>
        </p:nvSpPr>
        <p:spPr>
          <a:xfrm>
            <a:off x="536575" y="1219994"/>
            <a:ext cx="5181600" cy="474946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马尔可夫过程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马尔可夫过程的概念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马尔可夫过程的分类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离散参数马氏链</a:t>
            </a:r>
            <a:endParaRPr lang="en-US" altLang="zh-CN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en-US" altLang="zh-CN" dirty="0">
                <a:solidFill>
                  <a:srgbClr val="CC00CC"/>
                </a:solidFill>
                <a:latin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步转移概率、 </a:t>
            </a:r>
            <a:r>
              <a:rPr lang="en-US" altLang="zh-CN" dirty="0">
                <a:solidFill>
                  <a:srgbClr val="CC00CC"/>
                </a:solidFill>
                <a:latin typeface="黑体" panose="02010609060101010101" pitchFamily="49" charset="-122"/>
              </a:rPr>
              <a:t>k</a:t>
            </a: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步转移矩阵</a:t>
            </a:r>
          </a:p>
          <a:p>
            <a:pPr lvl="1">
              <a:lnSpc>
                <a:spcPct val="160000"/>
              </a:lnSpc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齐次马尔可夫链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E0AE6B8-D737-5182-7793-D55767BD26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84975" y="1763705"/>
            <a:ext cx="3999806" cy="4211025"/>
          </a:xfrm>
        </p:spPr>
        <p:txBody>
          <a:bodyPr>
            <a:normAutofit/>
          </a:bodyPr>
          <a:lstStyle/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齐次马氏链的性质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初始分布、绝对分布、极限分布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遍历性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平稳性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B618AF9-A156-AC3C-11F1-62B603588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4700" y="352424"/>
            <a:ext cx="5334000" cy="429419"/>
          </a:xfrm>
        </p:spPr>
        <p:txBody>
          <a:bodyPr/>
          <a:lstStyle/>
          <a:p>
            <a:pPr eaLnBrk="1" hangingPunct="1"/>
            <a:r>
              <a:rPr lang="zh-CN" altLang="en-US" dirty="0"/>
              <a:t>本讲主要内容</a:t>
            </a:r>
          </a:p>
        </p:txBody>
      </p:sp>
    </p:spTree>
    <p:extLst>
      <p:ext uri="{BB962C8B-B14F-4D97-AF65-F5344CB8AC3E}">
        <p14:creationId xmlns:p14="http://schemas.microsoft.com/office/powerpoint/2010/main" val="116871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F304-56AA-88F4-704B-02D45B5A9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CDE02879-A9A9-931C-721B-06E864BAC1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9A42E94-F5E7-6CDF-1407-E29CFD7190B3}"/>
              </a:ext>
            </a:extLst>
          </p:cNvPr>
          <p:cNvSpPr txBox="1"/>
          <p:nvPr/>
        </p:nvSpPr>
        <p:spPr>
          <a:xfrm>
            <a:off x="2289175" y="2599608"/>
            <a:ext cx="1295400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</a:rPr>
              <a:t>5.1</a:t>
            </a:r>
            <a:r>
              <a:rPr lang="zh-CN" altLang="en-US" sz="4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9EB65A-9BE1-28FE-CDD1-CC0CD1959DAD}"/>
              </a:ext>
            </a:extLst>
          </p:cNvPr>
          <p:cNvSpPr txBox="1"/>
          <p:nvPr/>
        </p:nvSpPr>
        <p:spPr>
          <a:xfrm>
            <a:off x="3736975" y="2599608"/>
            <a:ext cx="6858000" cy="1600481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马尔可夫过程的定义</a:t>
            </a:r>
          </a:p>
          <a:p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4774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B9A5323-C501-6E6E-8564-7C1570A3D2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4.2 </a:t>
            </a:r>
            <a:r>
              <a:rPr lang="zh-CN" altLang="en-US" dirty="0"/>
              <a:t>  马尔可夫过程</a:t>
            </a:r>
          </a:p>
        </p:txBody>
      </p:sp>
      <p:sp>
        <p:nvSpPr>
          <p:cNvPr id="259075" name="Rectangle 3">
            <a:extLst>
              <a:ext uri="{FF2B5EF4-FFF2-40B4-BE49-F238E27FC236}">
                <a16:creationId xmlns:a16="http://schemas.microsoft.com/office/drawing/2014/main" id="{41C38452-9EB6-32BA-2C45-8F9892958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4175" y="1067048"/>
            <a:ext cx="11204258" cy="5478143"/>
          </a:xfrm>
        </p:spPr>
        <p:txBody>
          <a:bodyPr>
            <a:normAutofit/>
          </a:bodyPr>
          <a:lstStyle/>
          <a:p>
            <a:pPr marL="342969" indent="-342969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dirty="0"/>
              <a:t>当过程在</a:t>
            </a:r>
            <a:r>
              <a:rPr lang="en-US" altLang="zh-CN" dirty="0"/>
              <a:t>t=t</a:t>
            </a:r>
            <a:r>
              <a:rPr lang="en-US" altLang="zh-CN" baseline="-25000" dirty="0"/>
              <a:t>0</a:t>
            </a:r>
            <a:r>
              <a:rPr lang="zh-CN" altLang="en-US" dirty="0"/>
              <a:t>时刻所处的状态已知的情况下</a:t>
            </a:r>
            <a:r>
              <a:rPr lang="zh-CN" altLang="en-US" dirty="0">
                <a:solidFill>
                  <a:srgbClr val="0000FF"/>
                </a:solidFill>
              </a:rPr>
              <a:t>，过程在时刻</a:t>
            </a:r>
            <a:r>
              <a:rPr lang="en-US" altLang="zh-CN" dirty="0">
                <a:solidFill>
                  <a:srgbClr val="0000FF"/>
                </a:solidFill>
              </a:rPr>
              <a:t>t(t&gt;t</a:t>
            </a:r>
            <a:r>
              <a:rPr lang="en-US" altLang="zh-CN" baseline="-25000" dirty="0">
                <a:solidFill>
                  <a:srgbClr val="0000FF"/>
                </a:solidFill>
              </a:rPr>
              <a:t>0</a:t>
            </a:r>
            <a:r>
              <a:rPr lang="en-US" altLang="zh-CN" dirty="0">
                <a:solidFill>
                  <a:srgbClr val="0000FF"/>
                </a:solidFill>
              </a:rPr>
              <a:t>)</a:t>
            </a:r>
            <a:r>
              <a:rPr lang="zh-CN" altLang="en-US" dirty="0">
                <a:solidFill>
                  <a:srgbClr val="0000FF"/>
                </a:solidFill>
              </a:rPr>
              <a:t>所处的状态与过程在</a:t>
            </a:r>
            <a:r>
              <a:rPr lang="en-US" altLang="zh-CN" dirty="0">
                <a:solidFill>
                  <a:srgbClr val="0000FF"/>
                </a:solidFill>
              </a:rPr>
              <a:t>t=t</a:t>
            </a:r>
            <a:r>
              <a:rPr lang="en-US" altLang="zh-CN" baseline="-25000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时刻之前的状态无关。这种已知“现在”的条件下，“将来”与“过去”无关的性质，就是直观意义下的</a:t>
            </a:r>
            <a:r>
              <a:rPr lang="zh-CN" altLang="en-US" dirty="0">
                <a:solidFill>
                  <a:srgbClr val="CC00CC"/>
                </a:solidFill>
              </a:rPr>
              <a:t>马尔可夫性</a:t>
            </a:r>
            <a:r>
              <a:rPr lang="zh-CN" altLang="en-US" dirty="0">
                <a:solidFill>
                  <a:srgbClr val="0000FF"/>
                </a:solidFill>
              </a:rPr>
              <a:t>或称为</a:t>
            </a:r>
            <a:r>
              <a:rPr lang="zh-CN" altLang="en-US" dirty="0">
                <a:solidFill>
                  <a:srgbClr val="CC00CC"/>
                </a:solidFill>
              </a:rPr>
              <a:t>无后效性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r>
              <a:rPr lang="zh-CN" altLang="en-US" dirty="0"/>
              <a:t>具有无后效性的过程称为</a:t>
            </a:r>
            <a:r>
              <a:rPr lang="zh-CN" altLang="en-US" dirty="0">
                <a:solidFill>
                  <a:srgbClr val="CC00CC"/>
                </a:solidFill>
              </a:rPr>
              <a:t>马尔可夫过程</a:t>
            </a:r>
            <a:r>
              <a:rPr lang="zh-CN" altLang="en-US" dirty="0"/>
              <a:t>。</a:t>
            </a:r>
          </a:p>
          <a:p>
            <a:pPr marL="342969" indent="-342969">
              <a:buClr>
                <a:srgbClr val="FF0000"/>
              </a:buClr>
              <a:buFont typeface="Wingdings" panose="05000000000000000000" pitchFamily="2" charset="2"/>
              <a:buChar char="v"/>
            </a:pPr>
            <a:r>
              <a:rPr lang="zh-CN" altLang="en-US" dirty="0">
                <a:solidFill>
                  <a:srgbClr val="0000FF"/>
                </a:solidFill>
              </a:rPr>
              <a:t>马尔可夫过程是理论和实际应用都十分重要的一类随机过程。在工程系统中的噪声和信号分析、通信网络和输送现象的模拟、统计物理学、生物学、数字计算方法、经济管理和市场预测等领域中都有十分重要的作用和广泛应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59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59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967F440-1D22-651E-6CAC-4B9D6A652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1  </a:t>
            </a:r>
            <a:r>
              <a:rPr lang="zh-CN" altLang="en-US" dirty="0"/>
              <a:t>马尔可夫过程的概念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4093F0E8-423B-0261-339E-2D13BB28EC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1186" y="949550"/>
            <a:ext cx="11795978" cy="803461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给定随机过程</a:t>
            </a:r>
            <a:r>
              <a:rPr lang="en-US" altLang="zh-CN" dirty="0"/>
              <a:t>{X(t),</a:t>
            </a:r>
            <a:r>
              <a:rPr lang="en-US" altLang="zh-CN" dirty="0" err="1"/>
              <a:t>t</a:t>
            </a:r>
            <a:r>
              <a:rPr lang="en-US" altLang="zh-CN" dirty="0" err="1">
                <a:sym typeface="Symbol" panose="05050102010706020507" pitchFamily="18" charset="2"/>
              </a:rPr>
              <a:t>T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，如果对于参数中任意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个时刻</a:t>
            </a:r>
            <a:r>
              <a:rPr lang="en-US" altLang="zh-CN" dirty="0" err="1">
                <a:sym typeface="Symbol" panose="05050102010706020507" pitchFamily="18" charset="2"/>
              </a:rPr>
              <a:t>t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 err="1">
                <a:sym typeface="Symbol" panose="05050102010706020507" pitchFamily="18" charset="2"/>
              </a:rPr>
              <a:t>,i</a:t>
            </a:r>
            <a:r>
              <a:rPr lang="en-US" altLang="zh-CN" dirty="0">
                <a:sym typeface="Symbol" panose="05050102010706020507" pitchFamily="18" charset="2"/>
              </a:rPr>
              <a:t>=1,2,…,n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t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&lt;t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&lt;…&lt;</a:t>
            </a:r>
            <a:r>
              <a:rPr lang="en-US" altLang="zh-CN" dirty="0" err="1">
                <a:sym typeface="Symbol" panose="05050102010706020507" pitchFamily="18" charset="2"/>
              </a:rPr>
              <a:t>t</a:t>
            </a:r>
            <a:r>
              <a:rPr lang="en-US" altLang="zh-CN" baseline="-25000" dirty="0" err="1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有</a:t>
            </a:r>
          </a:p>
        </p:txBody>
      </p:sp>
      <p:sp>
        <p:nvSpPr>
          <p:cNvPr id="260100" name="Rectangle 4">
            <a:extLst>
              <a:ext uri="{FF2B5EF4-FFF2-40B4-BE49-F238E27FC236}">
                <a16:creationId xmlns:a16="http://schemas.microsoft.com/office/drawing/2014/main" id="{18793173-1571-4500-8C76-387DB3BFF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080" y="1728099"/>
            <a:ext cx="11626083" cy="1596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eaLnBrk="1" hangingPunct="1">
              <a:lnSpc>
                <a:spcPct val="150000"/>
              </a:lnSpc>
              <a:buClr>
                <a:srgbClr val="00FF00"/>
              </a:buClr>
              <a:buFont typeface="Wingdings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P{X(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t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)&lt;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x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|X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,X(t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,…,X(t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}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＝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P{X(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t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)&lt;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x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n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|X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(t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)=x</a:t>
            </a:r>
            <a:r>
              <a:rPr lang="en-US" altLang="zh-CN" b="1" baseline="-25000" dirty="0">
                <a:solidFill>
                  <a:srgbClr val="000000"/>
                </a:solidFill>
                <a:latin typeface="+mn-ea"/>
                <a:sym typeface="Symbol" pitchFamily="18" charset="2"/>
              </a:rPr>
              <a:t>n-1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}	</a:t>
            </a:r>
            <a:r>
              <a:rPr lang="en-US" altLang="zh-CN" b="1" dirty="0">
                <a:solidFill>
                  <a:srgbClr val="0000FF"/>
                </a:solidFill>
                <a:latin typeface="+mn-ea"/>
                <a:sym typeface="Symbol" pitchFamily="18" charset="2"/>
              </a:rPr>
              <a:t>(4.1)</a:t>
            </a: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则称</a:t>
            </a: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随机过程</a:t>
            </a:r>
            <a:r>
              <a:rPr lang="en-US" altLang="zh-CN" b="1" dirty="0">
                <a:solidFill>
                  <a:srgbClr val="000000"/>
                </a:solidFill>
                <a:latin typeface="+mn-ea"/>
              </a:rPr>
              <a:t>{X(t),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</a:rPr>
              <a:t>t</a:t>
            </a:r>
            <a:r>
              <a:rPr lang="en-US" altLang="zh-CN" b="1" dirty="0" err="1">
                <a:solidFill>
                  <a:srgbClr val="000000"/>
                </a:solidFill>
                <a:latin typeface="+mn-ea"/>
                <a:sym typeface="Symbol" pitchFamily="18" charset="2"/>
              </a:rPr>
              <a:t>T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}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为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itchFamily="18" charset="2"/>
              </a:rPr>
              <a:t>马尔可夫过程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，简称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itchFamily="18" charset="2"/>
              </a:rPr>
              <a:t>马氏过程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。</a:t>
            </a: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具有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(4.1)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式性质称为具有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itchFamily="18" charset="2"/>
              </a:rPr>
              <a:t>马尔可夫性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、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itchFamily="18" charset="2"/>
              </a:rPr>
              <a:t>无后效性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或</a:t>
            </a:r>
            <a:r>
              <a:rPr lang="zh-CN" altLang="en-US" b="1" dirty="0">
                <a:solidFill>
                  <a:srgbClr val="CC00CC"/>
                </a:solidFill>
                <a:latin typeface="+mn-ea"/>
                <a:sym typeface="Symbol" pitchFamily="18" charset="2"/>
              </a:rPr>
              <a:t>无记忆性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sym typeface="Symbol" pitchFamily="18" charset="2"/>
              </a:rPr>
              <a:t>。</a:t>
            </a:r>
          </a:p>
        </p:txBody>
      </p:sp>
      <p:sp>
        <p:nvSpPr>
          <p:cNvPr id="260101" name="Rectangle 5">
            <a:extLst>
              <a:ext uri="{FF2B5EF4-FFF2-40B4-BE49-F238E27FC236}">
                <a16:creationId xmlns:a16="http://schemas.microsoft.com/office/drawing/2014/main" id="{7B609E5A-EB37-800F-6BDB-8D0160221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15" y="3405038"/>
            <a:ext cx="11326842" cy="214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由条件分布函数的定义，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(4.1)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等价于</a:t>
            </a:r>
          </a:p>
          <a:p>
            <a:pPr algn="ctr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F(x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,…,x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,…,t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F(x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如果概率密度函数存在，它等价于</a:t>
            </a:r>
          </a:p>
          <a:p>
            <a:pPr algn="ctr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f(x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,…,x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,…,t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f(x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0102" name="Rectangle 6">
            <a:extLst>
              <a:ext uri="{FF2B5EF4-FFF2-40B4-BE49-F238E27FC236}">
                <a16:creationId xmlns:a16="http://schemas.microsoft.com/office/drawing/2014/main" id="{F3704C9B-E2A1-4E63-0CF0-3E96C89AA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5637641"/>
            <a:ext cx="11326842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随机过程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具有马尔可夫性质是说：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当给定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X(t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), X(t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),…,X(t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时，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的条件分布只依赖于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X(t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的已知值，而与在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n-1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以前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X(t)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的取值无关。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0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0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0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60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601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601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2601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/>
      <p:bldP spid="260100" grpId="0" build="p"/>
      <p:bldP spid="260101" grpId="0" build="p" autoUpdateAnimBg="0"/>
      <p:bldP spid="260102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9EAA0B-28A8-F0A9-6C2D-6C5490951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转移概率</a:t>
            </a:r>
          </a:p>
        </p:txBody>
      </p:sp>
      <p:sp>
        <p:nvSpPr>
          <p:cNvPr id="261123" name="Rectangle 3">
            <a:extLst>
              <a:ext uri="{FF2B5EF4-FFF2-40B4-BE49-F238E27FC236}">
                <a16:creationId xmlns:a16="http://schemas.microsoft.com/office/drawing/2014/main" id="{4DEC1444-6F19-4B37-B19B-F9A7760836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1776" y="1149800"/>
            <a:ext cx="11582400" cy="1538643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给定马氏过程</a:t>
            </a:r>
            <a:r>
              <a:rPr lang="en-US" altLang="zh-CN" dirty="0"/>
              <a:t>{X(t),</a:t>
            </a:r>
            <a:r>
              <a:rPr lang="en-US" altLang="zh-CN" dirty="0" err="1"/>
              <a:t>t</a:t>
            </a:r>
            <a:r>
              <a:rPr lang="en-US" altLang="zh-CN" dirty="0" err="1">
                <a:sym typeface="Symbol" panose="05050102010706020507" pitchFamily="18" charset="2"/>
              </a:rPr>
              <a:t>T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，条件概率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s,t;x,y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P{X(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s+t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)&lt;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y|X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(s)=x}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称为马氏过程的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转移概率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1124" name="Rectangle 4">
            <a:extLst>
              <a:ext uri="{FF2B5EF4-FFF2-40B4-BE49-F238E27FC236}">
                <a16:creationId xmlns:a16="http://schemas.microsoft.com/office/drawing/2014/main" id="{FBBFA79D-0181-1CB8-F21E-5643D420B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6" y="3056400"/>
            <a:ext cx="11039475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若转移概率与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s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无关，则此过程称为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齐次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时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马氏过程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1125" name="Rectangle 5">
            <a:extLst>
              <a:ext uri="{FF2B5EF4-FFF2-40B4-BE49-F238E27FC236}">
                <a16:creationId xmlns:a16="http://schemas.microsoft.com/office/drawing/2014/main" id="{09CC8B74-73F8-6D72-6D23-A70CC0292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76" y="3869816"/>
            <a:ext cx="11582400" cy="2238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马氏过程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中，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X(t)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的取值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状态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X(t)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表示过程在时刻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处于状态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，过程所取状态的全体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{x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X(t)=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x,tT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称为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状态空间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1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  <p:bldP spid="261124" grpId="0" autoUpdateAnimBg="0"/>
      <p:bldP spid="2611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C9C1845-D9E7-4EFB-90BC-0AB368155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马尔可夫过程的分类</a:t>
            </a:r>
          </a:p>
        </p:txBody>
      </p:sp>
      <p:graphicFrame>
        <p:nvGraphicFramePr>
          <p:cNvPr id="262186" name="Group 42">
            <a:extLst>
              <a:ext uri="{FF2B5EF4-FFF2-40B4-BE49-F238E27FC236}">
                <a16:creationId xmlns:a16="http://schemas.microsoft.com/office/drawing/2014/main" id="{C2CA6080-0605-4BE5-9897-0B9CD3F1AA6A}"/>
              </a:ext>
            </a:extLst>
          </p:cNvPr>
          <p:cNvGraphicFramePr>
            <a:graphicFrameLocks noGrp="1"/>
          </p:cNvGraphicFramePr>
          <p:nvPr/>
        </p:nvGraphicFramePr>
        <p:xfrm>
          <a:off x="1298575" y="2286794"/>
          <a:ext cx="8839200" cy="2895600"/>
        </p:xfrm>
        <a:graphic>
          <a:graphicData uri="http://schemas.openxmlformats.org/drawingml/2006/table">
            <a:tbl>
              <a:tblPr/>
              <a:tblGrid>
                <a:gridCol w="176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8111" marB="3811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8111" marB="38111" horzOverflow="overflow">
                    <a:lnL>
                      <a:noFill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参数集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T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8111" marB="3811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6600CC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8111" marB="38111" horzOverflow="overflow">
                    <a:lnL>
                      <a:noFill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离散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连续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状态空间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E</a:t>
                      </a:r>
                    </a:p>
                  </a:txBody>
                  <a:tcPr marL="0" marR="0" marT="39611" marB="39611" anchor="ctr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离散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离散参数马氏链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连续参数马氏链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连续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离散参数马氏序列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CC"/>
                          </a:solidFill>
                          <a:effectLst/>
                          <a:latin typeface="+mn-ea"/>
                          <a:ea typeface="+mn-ea"/>
                        </a:rPr>
                        <a:t>连续参数马氏过程</a:t>
                      </a:r>
                    </a:p>
                  </a:txBody>
                  <a:tcPr marL="0" marR="0" marT="38111" marB="38111" horzOverflow="overflow">
                    <a:lnL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6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4ADF6C1-509E-CBE5-29E7-4649D31E9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  </a:t>
            </a:r>
            <a:r>
              <a:rPr lang="zh-CN" altLang="en-US"/>
              <a:t>一维随机游动</a:t>
            </a:r>
          </a:p>
        </p:txBody>
      </p:sp>
      <p:sp>
        <p:nvSpPr>
          <p:cNvPr id="263171" name="Rectangle 3">
            <a:extLst>
              <a:ext uri="{FF2B5EF4-FFF2-40B4-BE49-F238E27FC236}">
                <a16:creationId xmlns:a16="http://schemas.microsoft.com/office/drawing/2014/main" id="{B3FE301C-AE96-4DB5-DED4-623E48A42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1448595"/>
            <a:ext cx="11125200" cy="21336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在直线上非负整数点作随机游动的质点，当时刻</a:t>
            </a:r>
            <a:r>
              <a:rPr lang="en-US" altLang="zh-CN" dirty="0"/>
              <a:t>n</a:t>
            </a:r>
            <a:r>
              <a:rPr lang="zh-CN" altLang="en-US" dirty="0"/>
              <a:t>时处于位置</a:t>
            </a:r>
            <a:r>
              <a:rPr lang="en-US" altLang="zh-CN" dirty="0" err="1"/>
              <a:t>i</a:t>
            </a:r>
            <a:r>
              <a:rPr lang="en-US" altLang="zh-CN" dirty="0"/>
              <a:t>(i</a:t>
            </a:r>
            <a:r>
              <a:rPr lang="en-US" altLang="zh-CN" dirty="0">
                <a:sym typeface="Symbol" panose="05050102010706020507" pitchFamily="18" charset="2"/>
              </a:rPr>
              <a:t>0)</a:t>
            </a:r>
            <a:r>
              <a:rPr lang="zh-CN" altLang="en-US" dirty="0">
                <a:sym typeface="Symbol" panose="05050102010706020507" pitchFamily="18" charset="2"/>
              </a:rPr>
              <a:t>，时刻</a:t>
            </a:r>
            <a:r>
              <a:rPr lang="en-US" altLang="zh-CN" dirty="0">
                <a:sym typeface="Symbol" panose="05050102010706020507" pitchFamily="18" charset="2"/>
              </a:rPr>
              <a:t>n+1</a:t>
            </a:r>
            <a:r>
              <a:rPr lang="zh-CN" altLang="en-US" dirty="0">
                <a:sym typeface="Symbol" panose="05050102010706020507" pitchFamily="18" charset="2"/>
              </a:rPr>
              <a:t>时处于</a:t>
            </a:r>
            <a:r>
              <a:rPr lang="en-US" altLang="zh-CN" dirty="0">
                <a:sym typeface="Symbol" panose="05050102010706020507" pitchFamily="18" charset="2"/>
              </a:rPr>
              <a:t>i+1</a:t>
            </a:r>
            <a:r>
              <a:rPr lang="zh-CN" altLang="en-US" dirty="0">
                <a:sym typeface="Symbol" panose="05050102010706020507" pitchFamily="18" charset="2"/>
              </a:rPr>
              <a:t>的概率为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，处于</a:t>
            </a:r>
            <a:r>
              <a:rPr lang="en-US" altLang="zh-CN" dirty="0">
                <a:sym typeface="Symbol" panose="05050102010706020507" pitchFamily="18" charset="2"/>
              </a:rPr>
              <a:t>i-1</a:t>
            </a:r>
            <a:r>
              <a:rPr lang="zh-CN" altLang="en-US" dirty="0">
                <a:sym typeface="Symbol" panose="05050102010706020507" pitchFamily="18" charset="2"/>
              </a:rPr>
              <a:t>的概率为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，不动的概率为</a:t>
            </a:r>
            <a:r>
              <a:rPr lang="en-US" altLang="zh-CN" dirty="0" err="1">
                <a:sym typeface="Symbol" panose="05050102010706020507" pitchFamily="18" charset="2"/>
              </a:rPr>
              <a:t>r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 err="1">
                <a:sym typeface="Symbol" panose="05050102010706020507" pitchFamily="18" charset="2"/>
              </a:rPr>
              <a:t>+q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dirty="0" err="1">
                <a:sym typeface="Symbol" panose="05050102010706020507" pitchFamily="18" charset="2"/>
              </a:rPr>
              <a:t>+r</a:t>
            </a:r>
            <a:r>
              <a:rPr lang="en-US" altLang="zh-CN" baseline="-25000" dirty="0" err="1">
                <a:sym typeface="Symbol" panose="05050102010706020507" pitchFamily="18" charset="2"/>
              </a:rPr>
              <a:t>i</a:t>
            </a:r>
            <a:r>
              <a:rPr lang="en-US" altLang="zh-CN" baseline="-25000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=1)</a:t>
            </a:r>
            <a:r>
              <a:rPr lang="zh-CN" altLang="en-US" dirty="0">
                <a:sym typeface="Symbol" panose="05050102010706020507" pitchFamily="18" charset="2"/>
              </a:rPr>
              <a:t>， 若以</a:t>
            </a:r>
            <a:r>
              <a:rPr lang="en-US" altLang="zh-CN" dirty="0">
                <a:sym typeface="Symbol" panose="05050102010706020507" pitchFamily="18" charset="2"/>
              </a:rPr>
              <a:t>X(n)</a:t>
            </a:r>
            <a:r>
              <a:rPr lang="zh-CN" altLang="en-US" dirty="0">
                <a:sym typeface="Symbol" panose="05050102010706020507" pitchFamily="18" charset="2"/>
              </a:rPr>
              <a:t>表示时刻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质点的位置，那么</a:t>
            </a:r>
            <a:r>
              <a:rPr lang="en-US" altLang="zh-CN" dirty="0">
                <a:sym typeface="Symbol" panose="05050102010706020507" pitchFamily="18" charset="2"/>
              </a:rPr>
              <a:t>{X(n),n=0,1,2,…}</a:t>
            </a:r>
            <a:r>
              <a:rPr lang="zh-CN" altLang="en-US" dirty="0">
                <a:sym typeface="Symbol" panose="05050102010706020507" pitchFamily="18" charset="2"/>
              </a:rPr>
              <a:t>离散参数马氏链。</a:t>
            </a:r>
          </a:p>
        </p:txBody>
      </p:sp>
      <p:sp>
        <p:nvSpPr>
          <p:cNvPr id="263172" name="Rectangle 4">
            <a:extLst>
              <a:ext uri="{FF2B5EF4-FFF2-40B4-BE49-F238E27FC236}">
                <a16:creationId xmlns:a16="http://schemas.microsoft.com/office/drawing/2014/main" id="{12F3B53B-0644-0381-025B-3B14BA8EA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61" y="3691226"/>
            <a:ext cx="11086706" cy="111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这是因为，当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X(n)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时，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X(n+1),X(n+2),…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等以后的行为只与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X(n)=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有关，而与质点在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以前如何到达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是无关的。它的状态空间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E={0,1,2,…}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71" grpId="0" build="p"/>
      <p:bldP spid="26317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B4EFD8B7-E076-4DD4-13B8-F1C2FB224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769F7E7E-54B6-040B-F477-B237D4218D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0668" y="1027029"/>
            <a:ext cx="9205260" cy="633718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990033"/>
                </a:solidFill>
              </a:rPr>
              <a:t>独立过程</a:t>
            </a:r>
            <a:r>
              <a:rPr lang="en-US" altLang="zh-CN" dirty="0">
                <a:solidFill>
                  <a:srgbClr val="990033"/>
                </a:solidFill>
              </a:rPr>
              <a:t>{X(t),</a:t>
            </a:r>
            <a:r>
              <a:rPr lang="en-US" altLang="zh-CN" dirty="0" err="1">
                <a:solidFill>
                  <a:srgbClr val="990033"/>
                </a:solidFill>
              </a:rPr>
              <a:t>t</a:t>
            </a:r>
            <a:r>
              <a:rPr lang="en-US" altLang="zh-CN" dirty="0" err="1">
                <a:solidFill>
                  <a:srgbClr val="990033"/>
                </a:solidFill>
                <a:sym typeface="Symbol" panose="05050102010706020507" pitchFamily="18" charset="2"/>
              </a:rPr>
              <a:t>T</a:t>
            </a:r>
            <a:r>
              <a:rPr lang="en-US" altLang="zh-CN" dirty="0">
                <a:solidFill>
                  <a:srgbClr val="990033"/>
                </a:solidFill>
              </a:rPr>
              <a:t>}</a:t>
            </a:r>
            <a:r>
              <a:rPr lang="zh-CN" altLang="en-US" dirty="0">
                <a:solidFill>
                  <a:srgbClr val="990033"/>
                </a:solidFill>
              </a:rPr>
              <a:t>是马尔可夫过程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4196" name="Rectangle 4">
            <a:extLst>
              <a:ext uri="{FF2B5EF4-FFF2-40B4-BE49-F238E27FC236}">
                <a16:creationId xmlns:a16="http://schemas.microsoft.com/office/drawing/2014/main" id="{ADE17436-812A-4ADF-04F3-DE4C4C4A3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1905934"/>
            <a:ext cx="11430000" cy="439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20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CC"/>
                </a:solidFill>
                <a:latin typeface="+mn-ea"/>
                <a:ea typeface="+mn-ea"/>
                <a:sym typeface="Symbol" panose="05050102010706020507" pitchFamily="18" charset="2"/>
              </a:rPr>
              <a:t>证明</a:t>
            </a:r>
            <a:r>
              <a:rPr lang="zh-CN" altLang="en-US" sz="2400" dirty="0">
                <a:solidFill>
                  <a:srgbClr val="FF99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是独立过程，对于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&lt;…&lt;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T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X(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),X(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),…,X(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相互独立，因此</a:t>
            </a:r>
          </a:p>
          <a:p>
            <a:pPr algn="just" eaLnBrk="1" hangingPunct="1">
              <a:lnSpc>
                <a:spcPct val="20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	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,…,X(t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algn="just" eaLnBrk="1" hangingPunct="1">
              <a:lnSpc>
                <a:spcPct val="20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algn="just" eaLnBrk="1" hangingPunct="1">
              <a:lnSpc>
                <a:spcPct val="20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algn="just" eaLnBrk="1" hangingPunct="1">
              <a:lnSpc>
                <a:spcPct val="20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马氏性成立，故独立过程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是马尔可夫过程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4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4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4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4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4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4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  <p:bldP spid="26419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F364507-9740-91B6-FDDD-F2B9EEDAD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sym typeface="Symbol" panose="05050102010706020507" pitchFamily="18" charset="2"/>
              </a:rPr>
              <a:t>贝努里随机序列</a:t>
            </a:r>
            <a:endParaRPr lang="zh-CN" altLang="en-US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E7D7A079-C3D3-F99E-467D-D30325B2F5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975" y="1327052"/>
            <a:ext cx="11277600" cy="1211543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特例</a:t>
            </a:r>
            <a:r>
              <a:rPr lang="zh-CN" altLang="en-US" dirty="0">
                <a:solidFill>
                  <a:srgbClr val="FF9900"/>
                </a:solidFill>
                <a:sym typeface="Symbol" panose="05050102010706020507" pitchFamily="18" charset="2"/>
              </a:rPr>
              <a:t>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贝努里随机序列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en-US" altLang="zh-CN" dirty="0">
                <a:sym typeface="Symbol" panose="05050102010706020507" pitchFamily="18" charset="2"/>
              </a:rPr>
              <a:t>X(n)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n=0,1,2,…</a:t>
            </a:r>
            <a:r>
              <a:rPr lang="zh-CN" altLang="en-US" dirty="0">
                <a:sym typeface="Symbol" panose="05050102010706020507" pitchFamily="18" charset="2"/>
              </a:rPr>
              <a:t>是相互独立同分布的贝努里随机变量，</a:t>
            </a:r>
          </a:p>
        </p:txBody>
      </p:sp>
      <p:graphicFrame>
        <p:nvGraphicFramePr>
          <p:cNvPr id="350214" name="Group 6">
            <a:extLst>
              <a:ext uri="{FF2B5EF4-FFF2-40B4-BE49-F238E27FC236}">
                <a16:creationId xmlns:a16="http://schemas.microsoft.com/office/drawing/2014/main" id="{41C3683A-53EE-4014-BA53-A94847BF2583}"/>
              </a:ext>
            </a:extLst>
          </p:cNvPr>
          <p:cNvGraphicFramePr>
            <a:graphicFrameLocks noGrp="1"/>
          </p:cNvGraphicFramePr>
          <p:nvPr/>
        </p:nvGraphicFramePr>
        <p:xfrm>
          <a:off x="3965575" y="2698020"/>
          <a:ext cx="2667618" cy="954308"/>
        </p:xfrm>
        <a:graphic>
          <a:graphicData uri="http://schemas.openxmlformats.org/drawingml/2006/table">
            <a:tbl>
              <a:tblPr/>
              <a:tblGrid>
                <a:gridCol w="914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15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X(n)</a:t>
                      </a:r>
                    </a:p>
                  </a:txBody>
                  <a:tcPr marL="19054" marR="19054" marT="19055" marB="1905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0</a:t>
                      </a:r>
                    </a:p>
                  </a:txBody>
                  <a:tcPr marL="19054" marR="19054" marT="19055" marB="1905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L="19054" marR="19054" marT="19055" marB="1905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154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</a:t>
                      </a:r>
                    </a:p>
                  </a:txBody>
                  <a:tcPr marL="19054" marR="19054" marT="19055" marB="1905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q</a:t>
                      </a:r>
                    </a:p>
                  </a:txBody>
                  <a:tcPr marL="19054" marR="19054" marT="19055" marB="1905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CC00CC"/>
                        </a:buClr>
                        <a:defRPr kumimoji="1" sz="20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</a:t>
                      </a:r>
                    </a:p>
                  </a:txBody>
                  <a:tcPr marL="19054" marR="19054" marT="19055" marB="1905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0228" name="Rectangle 20">
            <a:extLst>
              <a:ext uri="{FF2B5EF4-FFF2-40B4-BE49-F238E27FC236}">
                <a16:creationId xmlns:a16="http://schemas.microsoft.com/office/drawing/2014/main" id="{0659ED57-23DC-9850-AD10-809364037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2069" y="4357837"/>
            <a:ext cx="3770654" cy="576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0&lt;p&lt;1,p+q=1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</a:rPr>
              <a:t>n=1,2,…</a:t>
            </a:r>
          </a:p>
        </p:txBody>
      </p:sp>
      <p:sp>
        <p:nvSpPr>
          <p:cNvPr id="350229" name="Rectangle 21">
            <a:extLst>
              <a:ext uri="{FF2B5EF4-FFF2-40B4-BE49-F238E27FC236}">
                <a16:creationId xmlns:a16="http://schemas.microsoft.com/office/drawing/2014/main" id="{57407E47-42A2-157B-6153-92FF49FA8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5149" y="5639594"/>
            <a:ext cx="58096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{X(n)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n=0,1, 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是离散参数马氏链。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0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28" grpId="0" autoUpdateAnimBg="0"/>
      <p:bldP spid="350229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CFBF3EE-360D-6135-F894-39E7D477E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</a:t>
            </a:r>
          </a:p>
        </p:txBody>
      </p:sp>
      <p:sp>
        <p:nvSpPr>
          <p:cNvPr id="265219" name="Rectangle 3">
            <a:extLst>
              <a:ext uri="{FF2B5EF4-FFF2-40B4-BE49-F238E27FC236}">
                <a16:creationId xmlns:a16="http://schemas.microsoft.com/office/drawing/2014/main" id="{65537562-4B70-9FAB-8472-AEAE8D5D7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975" y="1086103"/>
            <a:ext cx="7697982" cy="438251"/>
          </a:xfrm>
        </p:spPr>
        <p:txBody>
          <a:bodyPr>
            <a:noAutofit/>
          </a:bodyPr>
          <a:lstStyle/>
          <a:p>
            <a:pPr algn="r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独立增量过程</a:t>
            </a:r>
            <a:r>
              <a:rPr lang="en-US" altLang="zh-CN" dirty="0"/>
              <a:t>{X(t),t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/>
              <a:t>(X(0)=0)</a:t>
            </a:r>
            <a:r>
              <a:rPr lang="zh-CN" altLang="en-US" dirty="0"/>
              <a:t>是马尔可夫过程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5220" name="Rectangle 4">
            <a:extLst>
              <a:ext uri="{FF2B5EF4-FFF2-40B4-BE49-F238E27FC236}">
                <a16:creationId xmlns:a16="http://schemas.microsoft.com/office/drawing/2014/main" id="{2CDB55F6-2342-0B04-7B91-361BB270E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1876708"/>
            <a:ext cx="11430000" cy="4631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证明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是独立增量过程，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X(0)=0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，对任意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&lt;…&lt;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有</a:t>
            </a:r>
            <a:endParaRPr lang="en-US" altLang="zh-CN" sz="24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,…,X(t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)-X(t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-x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|X(t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)-X(t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)-X(t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-x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,…,</a:t>
            </a:r>
          </a:p>
          <a:p>
            <a:pPr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  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)-X(t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-x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)-X(t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-x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x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(t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)=x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n-1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</a:p>
          <a:p>
            <a:pPr algn="just" eaLnBrk="1" hangingPunct="1">
              <a:lnSpc>
                <a:spcPct val="18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马氏性成立，故独立增量过程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{X(t),t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0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是马尔可夫过程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5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5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5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5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5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5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5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5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5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5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65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/>
      <p:bldP spid="265220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0E0B5E5-5361-06CE-5109-EA8B0DFF4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sym typeface="Symbol" panose="05050102010706020507" pitchFamily="18" charset="2"/>
              </a:rPr>
              <a:t>二项计数过程</a:t>
            </a:r>
          </a:p>
        </p:txBody>
      </p:sp>
      <p:sp>
        <p:nvSpPr>
          <p:cNvPr id="266243" name="Rectangle 3">
            <a:extLst>
              <a:ext uri="{FF2B5EF4-FFF2-40B4-BE49-F238E27FC236}">
                <a16:creationId xmlns:a16="http://schemas.microsoft.com/office/drawing/2014/main" id="{BCF9D452-A666-6C1C-AABB-8AF1B2BCBD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6013" y="1219394"/>
            <a:ext cx="11191962" cy="1538644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设</a:t>
            </a:r>
            <a:r>
              <a:rPr lang="en-US" altLang="zh-CN" dirty="0">
                <a:sym typeface="Symbol" panose="05050102010706020507" pitchFamily="18" charset="2"/>
              </a:rPr>
              <a:t>{X(n),n=1,2,…}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贝努里随机序列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X(0)=0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X(n),n=1,2,…</a:t>
            </a:r>
            <a:r>
              <a:rPr lang="zh-CN" altLang="en-US" dirty="0">
                <a:sym typeface="Symbol" panose="05050102010706020507" pitchFamily="18" charset="2"/>
              </a:rPr>
              <a:t>是相互独立同分布的贝努里随机变量，设</a:t>
            </a:r>
          </a:p>
        </p:txBody>
      </p:sp>
      <p:sp>
        <p:nvSpPr>
          <p:cNvPr id="266244" name="Rectangle 4">
            <a:extLst>
              <a:ext uri="{FF2B5EF4-FFF2-40B4-BE49-F238E27FC236}">
                <a16:creationId xmlns:a16="http://schemas.microsoft.com/office/drawing/2014/main" id="{ACF7C04E-D07C-2EFD-C3B9-351EDD623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761" y="3886994"/>
            <a:ext cx="10925213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{Y(n),n=0,1,2,…}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二项计数过程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广义随机游动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，它是平稳独立增量过程，因而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是离散参数马氏链。</a:t>
            </a:r>
          </a:p>
        </p:txBody>
      </p:sp>
      <p:graphicFrame>
        <p:nvGraphicFramePr>
          <p:cNvPr id="266245" name="Object 5">
            <a:extLst>
              <a:ext uri="{FF2B5EF4-FFF2-40B4-BE49-F238E27FC236}">
                <a16:creationId xmlns:a16="http://schemas.microsoft.com/office/drawing/2014/main" id="{5D7DCD98-5569-1CFC-E199-4FB6A0B8D5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6375" y="2551791"/>
          <a:ext cx="5640105" cy="994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51100" imgH="431800" progId="Equation.3">
                  <p:embed/>
                </p:oleObj>
              </mc:Choice>
              <mc:Fallback>
                <p:oleObj name="Equation" r:id="rId3" imgW="2451100" imgH="431800" progId="Equation.3">
                  <p:embed/>
                  <p:pic>
                    <p:nvPicPr>
                      <p:cNvPr id="266245" name="Object 5">
                        <a:extLst>
                          <a:ext uri="{FF2B5EF4-FFF2-40B4-BE49-F238E27FC236}">
                            <a16:creationId xmlns:a16="http://schemas.microsoft.com/office/drawing/2014/main" id="{5D7DCD98-5569-1CFC-E199-4FB6A0B8D5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2551791"/>
                        <a:ext cx="5640105" cy="994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 build="p"/>
      <p:bldP spid="26624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80BEDBC-5FE5-EB7B-FEEF-F1CC0DC3D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4</a:t>
            </a:r>
          </a:p>
        </p:txBody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2330E6E9-07FB-1C03-6AFC-2A88D494D2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5575" y="1143794"/>
            <a:ext cx="10820400" cy="51054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   泊松过程</a:t>
            </a:r>
            <a:r>
              <a:rPr lang="en-US" altLang="zh-CN" dirty="0">
                <a:sym typeface="Symbol" panose="05050102010706020507" pitchFamily="18" charset="2"/>
              </a:rPr>
              <a:t>{N(t),</a:t>
            </a: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 </a:t>
            </a:r>
            <a:r>
              <a:rPr lang="zh-CN" altLang="en-US" dirty="0"/>
              <a:t>是马尔可夫过程。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	</a:t>
            </a:r>
            <a:r>
              <a:rPr lang="zh-CN" altLang="en-US" dirty="0">
                <a:solidFill>
                  <a:srgbClr val="CC00CC"/>
                </a:solidFill>
              </a:rPr>
              <a:t>证明</a:t>
            </a:r>
            <a:r>
              <a:rPr lang="zh-CN" altLang="en-US" dirty="0"/>
              <a:t>  因为泊松过程</a:t>
            </a:r>
            <a:r>
              <a:rPr lang="en-US" altLang="zh-CN" dirty="0">
                <a:sym typeface="Symbol" panose="05050102010706020507" pitchFamily="18" charset="2"/>
              </a:rPr>
              <a:t>{N(t),</a:t>
            </a:r>
            <a:r>
              <a:rPr lang="en-US" altLang="zh-CN" dirty="0"/>
              <a:t>t</a:t>
            </a:r>
            <a:r>
              <a:rPr lang="en-US" altLang="zh-CN" dirty="0">
                <a:sym typeface="Symbol" panose="05050102010706020507" pitchFamily="18" charset="2"/>
              </a:rPr>
              <a:t>0</a:t>
            </a:r>
            <a:r>
              <a:rPr lang="en-US" altLang="zh-CN" dirty="0"/>
              <a:t>}</a:t>
            </a:r>
            <a:r>
              <a:rPr lang="zh-CN" altLang="en-US" dirty="0"/>
              <a:t>是平稳独立增量过程</a:t>
            </a:r>
            <a:r>
              <a:rPr lang="zh-CN" altLang="en-US" dirty="0">
                <a:sym typeface="Symbol" panose="05050102010706020507" pitchFamily="18" charset="2"/>
              </a:rPr>
              <a:t>，因而</a:t>
            </a:r>
            <a:r>
              <a:rPr lang="zh-CN" altLang="en-US" dirty="0"/>
              <a:t>是马尔可夫过程。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9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9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8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291F4D7-B312-C8D9-0E4F-A140D4058F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2  </a:t>
            </a:r>
            <a:r>
              <a:rPr lang="zh-CN" altLang="en-US" dirty="0"/>
              <a:t>离散参数马氏链</a:t>
            </a:r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284FA7A0-E7AE-B61F-2725-D3939C753C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0375" y="1089277"/>
            <a:ext cx="11201399" cy="1111507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和参数集</a:t>
            </a:r>
            <a:r>
              <a:rPr lang="en-US" altLang="zh-CN" dirty="0"/>
              <a:t>T</a:t>
            </a:r>
            <a:r>
              <a:rPr lang="zh-CN" altLang="en-US" dirty="0"/>
              <a:t>都是离散的马尔可夫过程称为</a:t>
            </a:r>
            <a:r>
              <a:rPr lang="zh-CN" altLang="en-US" dirty="0">
                <a:solidFill>
                  <a:srgbClr val="0000FF"/>
                </a:solidFill>
              </a:rPr>
              <a:t>离散参数马氏链</a:t>
            </a:r>
            <a:r>
              <a:rPr lang="zh-CN" altLang="en-US" dirty="0"/>
              <a:t>，简称</a:t>
            </a:r>
            <a:r>
              <a:rPr lang="zh-CN" altLang="en-US" dirty="0">
                <a:solidFill>
                  <a:srgbClr val="0000FF"/>
                </a:solidFill>
              </a:rPr>
              <a:t>马氏链</a:t>
            </a:r>
            <a:r>
              <a:rPr lang="zh-CN" altLang="en-US" dirty="0"/>
              <a:t>。即</a:t>
            </a:r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48C1FC2D-B14C-BD13-D1C0-C731F3D83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" y="2508218"/>
            <a:ext cx="10972800" cy="2797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{X(n),n=0,1,2,…}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为随机序列，状态空间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E={0,1,2,…}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。如果对于任意非负整数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&lt;n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&lt;…&lt;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&lt;m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及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</a:rPr>
              <a:t>n2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,…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nj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,i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m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</a:rPr>
              <a:t>,i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</a:rPr>
              <a:t>m+k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E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，马尔可夫性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m+k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m+k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(n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n1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  X(n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)=i</a:t>
            </a:r>
            <a:r>
              <a:rPr lang="en-US" altLang="zh-CN" sz="2400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n2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,…,X(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nj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,X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m+k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m+k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成立，则称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{X(n),n=0,1,2,…}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离散参数马尔可夫链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，简称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马氏链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7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72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7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72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26726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25AFAA38-DF0E-91DC-6817-EF06E849F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</a:t>
            </a:r>
            <a:r>
              <a:rPr lang="zh-CN" altLang="en-US"/>
              <a:t>步转移概率</a:t>
            </a:r>
          </a:p>
        </p:txBody>
      </p:sp>
      <p:sp>
        <p:nvSpPr>
          <p:cNvPr id="268291" name="Rectangle 3">
            <a:extLst>
              <a:ext uri="{FF2B5EF4-FFF2-40B4-BE49-F238E27FC236}">
                <a16:creationId xmlns:a16="http://schemas.microsoft.com/office/drawing/2014/main" id="{3404C85F-1EBC-4CF3-4B26-C454629E21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4175" y="1167083"/>
            <a:ext cx="11506199" cy="2051525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设</a:t>
            </a:r>
            <a:r>
              <a:rPr lang="en-US" altLang="zh-CN" dirty="0">
                <a:sym typeface="Symbol" panose="05050102010706020507" pitchFamily="18" charset="2"/>
              </a:rPr>
              <a:t>{X(n),n=0,1,2,…}</a:t>
            </a:r>
            <a:r>
              <a:rPr lang="zh-CN" altLang="en-US" dirty="0">
                <a:sym typeface="Symbol" panose="05050102010706020507" pitchFamily="18" charset="2"/>
              </a:rPr>
              <a:t>为马氏链，</a:t>
            </a:r>
            <a:r>
              <a:rPr lang="en-US" altLang="zh-CN" dirty="0">
                <a:sym typeface="Symbol" panose="05050102010706020507" pitchFamily="18" charset="2"/>
              </a:rPr>
              <a:t>E={0,1,2,…}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zh-CN" altLang="en-US" dirty="0"/>
              <a:t>称条件概率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(</a:t>
            </a:r>
            <a:r>
              <a:rPr lang="en-US" altLang="zh-CN" dirty="0" err="1"/>
              <a:t>m,k</a:t>
            </a:r>
            <a:r>
              <a:rPr lang="en-US" altLang="zh-CN" dirty="0"/>
              <a:t>)</a:t>
            </a:r>
            <a:r>
              <a:rPr lang="zh-CN" altLang="en-US" dirty="0"/>
              <a:t>＝</a:t>
            </a:r>
            <a:r>
              <a:rPr lang="en-US" altLang="zh-CN" dirty="0"/>
              <a:t>P{X(</a:t>
            </a:r>
            <a:r>
              <a:rPr lang="en-US" altLang="zh-CN" dirty="0" err="1"/>
              <a:t>m+k</a:t>
            </a:r>
            <a:r>
              <a:rPr lang="en-US" altLang="zh-CN" dirty="0"/>
              <a:t>)=</a:t>
            </a:r>
            <a:r>
              <a:rPr lang="en-US" altLang="zh-CN" dirty="0" err="1"/>
              <a:t>j|X</a:t>
            </a:r>
            <a:r>
              <a:rPr lang="en-US" altLang="zh-CN" dirty="0"/>
              <a:t>(m)=</a:t>
            </a:r>
            <a:r>
              <a:rPr lang="en-US" altLang="zh-CN" dirty="0" err="1"/>
              <a:t>i</a:t>
            </a:r>
            <a:r>
              <a:rPr lang="en-US" altLang="zh-CN" dirty="0"/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为马氏链</a:t>
            </a:r>
            <a:r>
              <a:rPr lang="en-US" altLang="zh-CN" dirty="0">
                <a:sym typeface="Symbol" panose="05050102010706020507" pitchFamily="18" charset="2"/>
              </a:rPr>
              <a:t>{X(n),n=0,1,…}</a:t>
            </a:r>
            <a:r>
              <a:rPr lang="zh-CN" altLang="en-US" dirty="0">
                <a:solidFill>
                  <a:srgbClr val="0000FF"/>
                </a:solidFill>
              </a:rPr>
              <a:t>在</a:t>
            </a:r>
            <a:r>
              <a:rPr lang="en-US" altLang="zh-CN" dirty="0">
                <a:solidFill>
                  <a:srgbClr val="0000FF"/>
                </a:solidFill>
              </a:rPr>
              <a:t>m</a:t>
            </a:r>
            <a:r>
              <a:rPr lang="zh-CN" altLang="en-US" dirty="0">
                <a:solidFill>
                  <a:srgbClr val="0000FF"/>
                </a:solidFill>
              </a:rPr>
              <a:t>时刻的</a:t>
            </a:r>
            <a:r>
              <a:rPr lang="en-US" altLang="zh-CN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步转移概率</a:t>
            </a:r>
            <a:r>
              <a:rPr lang="en-US" altLang="zh-CN" dirty="0"/>
              <a:t>.</a:t>
            </a:r>
          </a:p>
        </p:txBody>
      </p:sp>
      <p:sp>
        <p:nvSpPr>
          <p:cNvPr id="268292" name="Rectangle 4">
            <a:extLst>
              <a:ext uri="{FF2B5EF4-FFF2-40B4-BE49-F238E27FC236}">
                <a16:creationId xmlns:a16="http://schemas.microsoft.com/office/drawing/2014/main" id="{C5A9F2D9-5722-9346-2B92-049CEFA5C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3247984"/>
            <a:ext cx="11353799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步转移概率的直观意义是：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质点在时刻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m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时处于状态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，再经过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步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(k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个单位时间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处于状态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的条件概率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8293" name="Rectangle 5">
            <a:extLst>
              <a:ext uri="{FF2B5EF4-FFF2-40B4-BE49-F238E27FC236}">
                <a16:creationId xmlns:a16="http://schemas.microsoft.com/office/drawing/2014/main" id="{201490F2-BE1D-0993-112D-056F346DE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482" y="4725194"/>
            <a:ext cx="11020693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特别地，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k=1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时，</a:t>
            </a:r>
          </a:p>
          <a:p>
            <a:pPr algn="ctr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>
                <a:solidFill>
                  <a:srgbClr val="000000"/>
                </a:solidFill>
                <a:latin typeface="+mn-ea"/>
                <a:ea typeface="+mn-ea"/>
              </a:rPr>
              <a:t>ij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(m,1)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sz="2400">
                <a:solidFill>
                  <a:srgbClr val="000000"/>
                </a:solidFill>
                <a:latin typeface="+mn-ea"/>
                <a:ea typeface="+mn-ea"/>
              </a:rPr>
              <a:t>P{X(m+1)=j|X(m)=i}</a:t>
            </a:r>
          </a:p>
          <a:p>
            <a:pPr algn="just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称为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一步转移概率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，简称</a:t>
            </a:r>
            <a:r>
              <a:rPr lang="zh-CN" altLang="en-US" sz="2400">
                <a:solidFill>
                  <a:srgbClr val="0000FF"/>
                </a:solidFill>
                <a:latin typeface="+mn-ea"/>
                <a:ea typeface="+mn-ea"/>
              </a:rPr>
              <a:t>转移概率</a:t>
            </a:r>
            <a:r>
              <a:rPr lang="zh-CN" altLang="en-US" sz="240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8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  <p:bldP spid="268292" grpId="0" autoUpdateAnimBg="0"/>
      <p:bldP spid="268293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7063A56D-8A38-212A-FBBC-0A78621A9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k</a:t>
            </a:r>
            <a:r>
              <a:rPr lang="zh-CN" altLang="en-US"/>
              <a:t>步转移矩阵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A9DF17EF-B170-2508-D9F3-6755145A29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6575" y="1085276"/>
            <a:ext cx="1195665" cy="512882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称矩阵</a:t>
            </a:r>
          </a:p>
        </p:txBody>
      </p:sp>
      <p:graphicFrame>
        <p:nvGraphicFramePr>
          <p:cNvPr id="269316" name="Object 4">
            <a:extLst>
              <a:ext uri="{FF2B5EF4-FFF2-40B4-BE49-F238E27FC236}">
                <a16:creationId xmlns:a16="http://schemas.microsoft.com/office/drawing/2014/main" id="{EA5E4989-EFD9-D2FA-598E-E9DD87E97B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41575" y="1270085"/>
          <a:ext cx="6326064" cy="28724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08300" imgH="1320800" progId="Equation.3">
                  <p:embed/>
                </p:oleObj>
              </mc:Choice>
              <mc:Fallback>
                <p:oleObj name="Equation" r:id="rId3" imgW="2908300" imgH="1320800" progId="Equation.3">
                  <p:embed/>
                  <p:pic>
                    <p:nvPicPr>
                      <p:cNvPr id="269316" name="Object 4">
                        <a:extLst>
                          <a:ext uri="{FF2B5EF4-FFF2-40B4-BE49-F238E27FC236}">
                            <a16:creationId xmlns:a16="http://schemas.microsoft.com/office/drawing/2014/main" id="{EA5E4989-EFD9-D2FA-598E-E9DD87E97B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1575" y="1270085"/>
                        <a:ext cx="6326064" cy="28724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7" name="Rectangle 5">
            <a:extLst>
              <a:ext uri="{FF2B5EF4-FFF2-40B4-BE49-F238E27FC236}">
                <a16:creationId xmlns:a16="http://schemas.microsoft.com/office/drawing/2014/main" id="{A24A90F0-3E41-9372-9BA5-01B3C3F02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575" y="4123117"/>
            <a:ext cx="10972800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为马氏链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{X(n),n=0,1,…}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m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时刻的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步转移矩阵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。一步转移矩阵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P(m,1)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简称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转移矩阵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</a:t>
            </a:r>
          </a:p>
        </p:txBody>
      </p:sp>
      <p:graphicFrame>
        <p:nvGraphicFramePr>
          <p:cNvPr id="269318" name="Object 6">
            <a:extLst>
              <a:ext uri="{FF2B5EF4-FFF2-40B4-BE49-F238E27FC236}">
                <a16:creationId xmlns:a16="http://schemas.microsoft.com/office/drawing/2014/main" id="{4D53DD0C-58B0-F52F-9EEE-95A8F6473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6175" y="5390229"/>
          <a:ext cx="4954147" cy="85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100" imgH="355600" progId="Equation.3">
                  <p:embed/>
                </p:oleObj>
              </mc:Choice>
              <mc:Fallback>
                <p:oleObj name="Equation" r:id="rId5" imgW="2070100" imgH="355600" progId="Equation.3">
                  <p:embed/>
                  <p:pic>
                    <p:nvPicPr>
                      <p:cNvPr id="269318" name="Object 6">
                        <a:extLst>
                          <a:ext uri="{FF2B5EF4-FFF2-40B4-BE49-F238E27FC236}">
                            <a16:creationId xmlns:a16="http://schemas.microsoft.com/office/drawing/2014/main" id="{4D53DD0C-58B0-F52F-9EEE-95A8F6473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6175" y="5390229"/>
                        <a:ext cx="4954147" cy="851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9" name="Rectangle 7">
            <a:extLst>
              <a:ext uri="{FF2B5EF4-FFF2-40B4-BE49-F238E27FC236}">
                <a16:creationId xmlns:a16="http://schemas.microsoft.com/office/drawing/2014/main" id="{86149D18-6DD9-5383-13A0-1D3C3F12A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" y="5436213"/>
            <a:ext cx="7774199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由转移概率的定义，显然有：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20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9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5" grpId="0" build="p"/>
      <p:bldP spid="269317" grpId="0"/>
      <p:bldP spid="2693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43" name="Rectangle 7">
            <a:extLst>
              <a:ext uri="{FF2B5EF4-FFF2-40B4-BE49-F238E27FC236}">
                <a16:creationId xmlns:a16="http://schemas.microsoft.com/office/drawing/2014/main" id="{2C7A8C75-19CB-D89D-0267-3315D1E00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871" y="3636319"/>
            <a:ext cx="11341903" cy="2426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齐次马氏链的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步转移矩阵记为：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P(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</a:rPr>
              <a:t>m,k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P(k)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(k)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</a:rPr>
              <a:t>i,j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E</a:t>
            </a:r>
            <a:endParaRPr lang="en-US" altLang="zh-CN" baseline="-250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一步转移矩阵，简称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转移矩阵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，记为：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P(m,1)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P(1)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＝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</a:rPr>
              <a:t>i,j</a:t>
            </a:r>
            <a:r>
              <a:rPr lang="en-US" altLang="zh-CN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E</a:t>
            </a:r>
            <a:endParaRPr lang="en-US" altLang="zh-CN" baseline="-250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齐次马氏链的转移概率具有如下性质：</a:t>
            </a:r>
          </a:p>
          <a:p>
            <a:pPr lvl="1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p</a:t>
            </a:r>
            <a:r>
              <a:rPr lang="en-US" altLang="zh-CN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(k)1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		 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p</a:t>
            </a:r>
            <a:r>
              <a:rPr lang="en-US" altLang="zh-CN" baseline="-250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1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FB7E6CFE-4FB1-0D8D-4FD4-EF2EAC42B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齐次马尔可夫链</a:t>
            </a:r>
          </a:p>
        </p:txBody>
      </p:sp>
      <p:sp>
        <p:nvSpPr>
          <p:cNvPr id="270339" name="Rectangle 3">
            <a:extLst>
              <a:ext uri="{FF2B5EF4-FFF2-40B4-BE49-F238E27FC236}">
                <a16:creationId xmlns:a16="http://schemas.microsoft.com/office/drawing/2014/main" id="{16D972CA-7F0A-AF3D-A3D7-C356A23CC4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775" y="1143266"/>
            <a:ext cx="10439400" cy="9911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zh-CN" altLang="en-US" dirty="0"/>
              <a:t>若马氏链</a:t>
            </a:r>
            <a:r>
              <a:rPr lang="en-US" altLang="zh-CN" dirty="0">
                <a:sym typeface="Symbol" panose="05050102010706020507" pitchFamily="18" charset="2"/>
              </a:rPr>
              <a:t>{X(n),n=0,1,2,…}</a:t>
            </a:r>
            <a:r>
              <a:rPr lang="zh-CN" altLang="en-US" dirty="0">
                <a:sym typeface="Symbol" panose="05050102010706020507" pitchFamily="18" charset="2"/>
              </a:rPr>
              <a:t>的转移概率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ym typeface="Symbol" panose="05050102010706020507" pitchFamily="18" charset="2"/>
              </a:rPr>
              <a:t>m,k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与</a:t>
            </a: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zh-CN" altLang="en-US" dirty="0">
                <a:solidFill>
                  <a:srgbClr val="000000"/>
                </a:solidFill>
                <a:sym typeface="Symbol" panose="05050102010706020507" pitchFamily="18" charset="2"/>
              </a:rPr>
              <a:t>无关，即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dirty="0"/>
          </a:p>
        </p:txBody>
      </p:sp>
      <p:sp>
        <p:nvSpPr>
          <p:cNvPr id="270340" name="Rectangle 4">
            <a:extLst>
              <a:ext uri="{FF2B5EF4-FFF2-40B4-BE49-F238E27FC236}">
                <a16:creationId xmlns:a16="http://schemas.microsoft.com/office/drawing/2014/main" id="{9B440BD4-C4BC-7A6D-1982-E4FD8474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" y="1812249"/>
            <a:ext cx="102108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m,k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m+k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(k)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(m,1)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P{X(m+1)=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j|X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则称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{X(n),n=0,1,2,…}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齐次马尔可夫链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，简称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齐次马氏链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  </a:t>
            </a:r>
            <a:endParaRPr lang="zh-CN" altLang="en-US" sz="2801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270341" name="Object 5">
            <a:extLst>
              <a:ext uri="{FF2B5EF4-FFF2-40B4-BE49-F238E27FC236}">
                <a16:creationId xmlns:a16="http://schemas.microsoft.com/office/drawing/2014/main" id="{CBF7D72B-C71E-00C5-6719-1CE6D768B1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9058" y="5406899"/>
          <a:ext cx="1546583" cy="655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37836" imgH="355446" progId="Equation.3">
                  <p:embed/>
                </p:oleObj>
              </mc:Choice>
              <mc:Fallback>
                <p:oleObj name="Equation" r:id="rId3" imgW="837836" imgH="355446" progId="Equation.3">
                  <p:embed/>
                  <p:pic>
                    <p:nvPicPr>
                      <p:cNvPr id="270341" name="Object 5">
                        <a:extLst>
                          <a:ext uri="{FF2B5EF4-FFF2-40B4-BE49-F238E27FC236}">
                            <a16:creationId xmlns:a16="http://schemas.microsoft.com/office/drawing/2014/main" id="{CBF7D72B-C71E-00C5-6719-1CE6D768B1C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9058" y="5406899"/>
                        <a:ext cx="1546583" cy="655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0342" name="Object 6">
            <a:extLst>
              <a:ext uri="{FF2B5EF4-FFF2-40B4-BE49-F238E27FC236}">
                <a16:creationId xmlns:a16="http://schemas.microsoft.com/office/drawing/2014/main" id="{7689BEEF-56B1-34C7-0D08-50BFFB826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70975" y="5388427"/>
          <a:ext cx="1219482" cy="655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113" imgH="355446" progId="Equation.3">
                  <p:embed/>
                </p:oleObj>
              </mc:Choice>
              <mc:Fallback>
                <p:oleObj name="Equation" r:id="rId5" imgW="660113" imgH="355446" progId="Equation.3">
                  <p:embed/>
                  <p:pic>
                    <p:nvPicPr>
                      <p:cNvPr id="270342" name="Object 6">
                        <a:extLst>
                          <a:ext uri="{FF2B5EF4-FFF2-40B4-BE49-F238E27FC236}">
                            <a16:creationId xmlns:a16="http://schemas.microsoft.com/office/drawing/2014/main" id="{7689BEEF-56B1-34C7-0D08-50BFFB826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0975" y="5388427"/>
                        <a:ext cx="1219482" cy="655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0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0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0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0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0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0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0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3" grpId="0" build="p" autoUpdateAnimBg="0"/>
      <p:bldP spid="270339" grpId="0" build="p"/>
      <p:bldP spid="270340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977219A-411B-6A75-D51D-4E8888AB0A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375" y="206425"/>
            <a:ext cx="7469329" cy="670080"/>
          </a:xfrm>
        </p:spPr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1  </a:t>
            </a:r>
            <a:r>
              <a:rPr lang="zh-CN" altLang="en-US" dirty="0"/>
              <a:t>贝努里序列</a:t>
            </a:r>
          </a:p>
        </p:txBody>
      </p:sp>
      <p:sp>
        <p:nvSpPr>
          <p:cNvPr id="271363" name="Rectangle 3">
            <a:extLst>
              <a:ext uri="{FF2B5EF4-FFF2-40B4-BE49-F238E27FC236}">
                <a16:creationId xmlns:a16="http://schemas.microsoft.com/office/drawing/2014/main" id="{ABEDE8CB-9520-7A65-5C4F-68A440E294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904" y="969736"/>
            <a:ext cx="10972800" cy="102576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	</a:t>
            </a:r>
            <a:r>
              <a:rPr lang="zh-CN" altLang="en-US" dirty="0">
                <a:sym typeface="Symbol" panose="05050102010706020507" pitchFamily="18" charset="2"/>
              </a:rPr>
              <a:t>如上节例</a:t>
            </a:r>
            <a:r>
              <a:rPr lang="en-US" altLang="zh-CN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所述，贝努里序列是一个齐次马氏链，其转移矩阵为</a:t>
            </a:r>
          </a:p>
        </p:txBody>
      </p:sp>
      <p:graphicFrame>
        <p:nvGraphicFramePr>
          <p:cNvPr id="271364" name="Object 4">
            <a:extLst>
              <a:ext uri="{FF2B5EF4-FFF2-40B4-BE49-F238E27FC236}">
                <a16:creationId xmlns:a16="http://schemas.microsoft.com/office/drawing/2014/main" id="{4C8A4B86-488B-34ED-AB9F-52C723C79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03474" y="2070546"/>
          <a:ext cx="1981659" cy="1222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61669" imgH="469696" progId="Equation.3">
                  <p:embed/>
                </p:oleObj>
              </mc:Choice>
              <mc:Fallback>
                <p:oleObj name="Equation" r:id="rId3" imgW="761669" imgH="469696" progId="Equation.3">
                  <p:embed/>
                  <p:pic>
                    <p:nvPicPr>
                      <p:cNvPr id="271364" name="Object 4">
                        <a:extLst>
                          <a:ext uri="{FF2B5EF4-FFF2-40B4-BE49-F238E27FC236}">
                            <a16:creationId xmlns:a16="http://schemas.microsoft.com/office/drawing/2014/main" id="{4C8A4B86-488B-34ED-AB9F-52C723C790D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474" y="2070546"/>
                        <a:ext cx="1981659" cy="1222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5" name="Rectangle 5">
            <a:extLst>
              <a:ext uri="{FF2B5EF4-FFF2-40B4-BE49-F238E27FC236}">
                <a16:creationId xmlns:a16="http://schemas.microsoft.com/office/drawing/2014/main" id="{EB82028D-51E7-4403-4F50-F8230FBDC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817586"/>
            <a:ext cx="1097280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一般地，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独立同分布的离散随机变量序列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{X(n),n=0,1,2,…}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都是齐次马氏链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ea typeface="+mn-ea"/>
              </a:rPr>
              <a:t>。  </a:t>
            </a:r>
            <a:endParaRPr lang="zh-CN" altLang="en-US" sz="2400" dirty="0">
              <a:solidFill>
                <a:srgbClr val="000000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  <p:bldP spid="2713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8D8B8F7-177C-42BB-FD02-0B283D0492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5175" y="305594"/>
            <a:ext cx="5334000" cy="429419"/>
          </a:xfrm>
        </p:spPr>
        <p:txBody>
          <a:bodyPr/>
          <a:lstStyle/>
          <a:p>
            <a:pPr algn="l" eaLnBrk="1" hangingPunct="1"/>
            <a:r>
              <a:rPr lang="zh-CN" altLang="en-US" dirty="0"/>
              <a:t>例</a:t>
            </a:r>
            <a:r>
              <a:rPr lang="en-US" altLang="zh-CN" dirty="0"/>
              <a:t>2  </a:t>
            </a:r>
            <a:r>
              <a:rPr lang="zh-CN" altLang="en-US" dirty="0"/>
              <a:t>随机游动</a:t>
            </a:r>
          </a:p>
        </p:txBody>
      </p:sp>
      <p:sp>
        <p:nvSpPr>
          <p:cNvPr id="272387" name="Rectangle 3">
            <a:extLst>
              <a:ext uri="{FF2B5EF4-FFF2-40B4-BE49-F238E27FC236}">
                <a16:creationId xmlns:a16="http://schemas.microsoft.com/office/drawing/2014/main" id="{37DC8E7E-4CBA-1E2C-54F9-5880A4E0D8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975" y="1125799"/>
            <a:ext cx="11811000" cy="5335235"/>
          </a:xfrm>
        </p:spPr>
        <p:txBody>
          <a:bodyPr/>
          <a:lstStyle/>
          <a:p>
            <a:pPr marL="0" indent="0" eaLnBrk="1" hangingPunct="1"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一质点在数轴上的整数点上作随机游动的，</a:t>
            </a:r>
            <a:r>
              <a:rPr lang="zh-CN" altLang="en-US" dirty="0">
                <a:sym typeface="Symbol" panose="05050102010706020507" pitchFamily="18" charset="2"/>
              </a:rPr>
              <a:t>以</a:t>
            </a:r>
            <a:r>
              <a:rPr lang="en-US" altLang="zh-CN" dirty="0">
                <a:sym typeface="Symbol" panose="05050102010706020507" pitchFamily="18" charset="2"/>
              </a:rPr>
              <a:t>X(n)</a:t>
            </a:r>
            <a:r>
              <a:rPr lang="zh-CN" altLang="en-US" dirty="0">
                <a:sym typeface="Symbol" panose="05050102010706020507" pitchFamily="18" charset="2"/>
              </a:rPr>
              <a:t>表示时刻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质点的位置。质点在某一</a:t>
            </a:r>
            <a:r>
              <a:rPr lang="zh-CN" altLang="en-US" dirty="0"/>
              <a:t>时刻</a:t>
            </a:r>
            <a:r>
              <a:rPr lang="en-US" altLang="zh-CN" dirty="0"/>
              <a:t>m</a:t>
            </a:r>
            <a:r>
              <a:rPr lang="zh-CN" altLang="en-US" dirty="0"/>
              <a:t>时处于状态</a:t>
            </a:r>
            <a:r>
              <a:rPr lang="en-US" altLang="zh-CN" dirty="0" err="1"/>
              <a:t>i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en-US" altLang="zh-CN" dirty="0">
                <a:sym typeface="Symbol" panose="05050102010706020507" pitchFamily="18" charset="2"/>
              </a:rPr>
              <a:t>X(m)=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，则下一步以概率</a:t>
            </a:r>
            <a:r>
              <a:rPr lang="en-US" altLang="zh-CN" dirty="0">
                <a:sym typeface="Symbol" panose="05050102010706020507" pitchFamily="18" charset="2"/>
              </a:rPr>
              <a:t>q</a:t>
            </a:r>
            <a:r>
              <a:rPr lang="zh-CN" altLang="en-US" dirty="0">
                <a:sym typeface="Symbol" panose="05050102010706020507" pitchFamily="18" charset="2"/>
              </a:rPr>
              <a:t>左移到状态</a:t>
            </a:r>
            <a:r>
              <a:rPr lang="en-US" altLang="zh-CN" dirty="0">
                <a:sym typeface="Symbol" panose="05050102010706020507" pitchFamily="18" charset="2"/>
              </a:rPr>
              <a:t>i-1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sym typeface="Symbol" panose="05050102010706020507" pitchFamily="18" charset="2"/>
              </a:rPr>
              <a:t>i,i-1</a:t>
            </a:r>
            <a:r>
              <a:rPr lang="en-US" altLang="zh-CN" dirty="0">
                <a:sym typeface="Symbol" panose="05050102010706020507" pitchFamily="18" charset="2"/>
              </a:rPr>
              <a:t>(m,1)=q</a:t>
            </a:r>
            <a:r>
              <a:rPr lang="zh-CN" altLang="en-US" dirty="0">
                <a:sym typeface="Symbol" panose="05050102010706020507" pitchFamily="18" charset="2"/>
              </a:rPr>
              <a:t>；而以概率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zh-CN" altLang="en-US" dirty="0">
                <a:sym typeface="Symbol" panose="05050102010706020507" pitchFamily="18" charset="2"/>
              </a:rPr>
              <a:t>右移到状态</a:t>
            </a:r>
            <a:r>
              <a:rPr lang="en-US" altLang="zh-CN" dirty="0">
                <a:sym typeface="Symbol" panose="05050102010706020507" pitchFamily="18" charset="2"/>
              </a:rPr>
              <a:t>i+1</a:t>
            </a:r>
            <a:r>
              <a:rPr lang="zh-CN" altLang="en-US" dirty="0">
                <a:sym typeface="Symbol" panose="05050102010706020507" pitchFamily="18" charset="2"/>
              </a:rPr>
              <a:t>，即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sym typeface="Symbol" panose="05050102010706020507" pitchFamily="18" charset="2"/>
              </a:rPr>
              <a:t>i,i+1</a:t>
            </a:r>
            <a:r>
              <a:rPr lang="en-US" altLang="zh-CN" dirty="0">
                <a:sym typeface="Symbol" panose="05050102010706020507" pitchFamily="18" charset="2"/>
              </a:rPr>
              <a:t>(m,1)=p</a:t>
            </a:r>
            <a:r>
              <a:rPr lang="zh-CN" altLang="en-US" dirty="0">
                <a:sym typeface="Symbol" panose="05050102010706020507" pitchFamily="18" charset="2"/>
              </a:rPr>
              <a:t>。因而质点将来所处的状态</a:t>
            </a:r>
            <a:r>
              <a:rPr lang="en-US" altLang="zh-CN" dirty="0">
                <a:sym typeface="Symbol" panose="05050102010706020507" pitchFamily="18" charset="2"/>
              </a:rPr>
              <a:t>X(m+1), X(m+2),…,X(</a:t>
            </a:r>
            <a:r>
              <a:rPr lang="en-US" altLang="zh-CN" dirty="0" err="1">
                <a:sym typeface="Symbol" panose="05050102010706020507" pitchFamily="18" charset="2"/>
              </a:rPr>
              <a:t>m+k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等仅与现在所处的状态</a:t>
            </a:r>
            <a:r>
              <a:rPr lang="en-US" altLang="zh-CN" dirty="0">
                <a:sym typeface="Symbol" panose="05050102010706020507" pitchFamily="18" charset="2"/>
              </a:rPr>
              <a:t>X(m)=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有关，而与过去所处的状态无关。因此，随机游动</a:t>
            </a:r>
            <a:r>
              <a:rPr lang="en-US" altLang="zh-CN" dirty="0">
                <a:sym typeface="Symbol" panose="05050102010706020507" pitchFamily="18" charset="2"/>
              </a:rPr>
              <a:t>{X(n),n=0,1,2,…}</a:t>
            </a:r>
            <a:r>
              <a:rPr lang="zh-CN" altLang="en-US" dirty="0">
                <a:sym typeface="Symbol" panose="05050102010706020507" pitchFamily="18" charset="2"/>
              </a:rPr>
              <a:t>是齐次马氏链。随机游动的统计特征由它在边界的特点决定，下面给出几种特殊的情形。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ACD0B2C-C142-9537-F230-4B0D25241C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/>
              <a:t>1.</a:t>
            </a:r>
            <a:r>
              <a:rPr lang="zh-CN" altLang="en-US"/>
              <a:t>自由</a:t>
            </a:r>
            <a:r>
              <a:rPr lang="en-US" altLang="zh-CN"/>
              <a:t>(</a:t>
            </a:r>
            <a:r>
              <a:rPr lang="zh-CN" altLang="en-US"/>
              <a:t>无限制</a:t>
            </a:r>
            <a:r>
              <a:rPr lang="en-US" altLang="zh-CN"/>
              <a:t>)</a:t>
            </a:r>
            <a:r>
              <a:rPr lang="zh-CN" altLang="en-US"/>
              <a:t>随机游动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08CAC8E2-D93D-5093-AC59-CC45138B2F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975" y="1268706"/>
            <a:ext cx="11344275" cy="1667261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{…,-2,-1,0,1,2,…}</a:t>
            </a:r>
            <a:r>
              <a:rPr lang="zh-CN" altLang="en-US" dirty="0"/>
              <a:t>两端无限制。转移概率：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i,i-1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i,i+1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，其余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i,j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i-1,i+1</a:t>
            </a:r>
          </a:p>
        </p:txBody>
      </p:sp>
      <p:graphicFrame>
        <p:nvGraphicFramePr>
          <p:cNvPr id="273412" name="Object 4">
            <a:extLst>
              <a:ext uri="{FF2B5EF4-FFF2-40B4-BE49-F238E27FC236}">
                <a16:creationId xmlns:a16="http://schemas.microsoft.com/office/drawing/2014/main" id="{2BC6FA17-1414-CFD5-8379-B7471F67C1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2575" y="2927757"/>
          <a:ext cx="6021193" cy="2524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55900" imgH="1155700" progId="Equation.3">
                  <p:embed/>
                </p:oleObj>
              </mc:Choice>
              <mc:Fallback>
                <p:oleObj name="Equation" r:id="rId3" imgW="2755900" imgH="1155700" progId="Equation.3">
                  <p:embed/>
                  <p:pic>
                    <p:nvPicPr>
                      <p:cNvPr id="273412" name="Object 4">
                        <a:extLst>
                          <a:ext uri="{FF2B5EF4-FFF2-40B4-BE49-F238E27FC236}">
                            <a16:creationId xmlns:a16="http://schemas.microsoft.com/office/drawing/2014/main" id="{2BC6FA17-1414-CFD5-8379-B7471F67C1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927757"/>
                        <a:ext cx="6021193" cy="2524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3" name="Rectangle 5">
            <a:extLst>
              <a:ext uri="{FF2B5EF4-FFF2-40B4-BE49-F238E27FC236}">
                <a16:creationId xmlns:a16="http://schemas.microsoft.com/office/drawing/2014/main" id="{92E503D5-6A89-D474-62FF-831321DB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3734594"/>
            <a:ext cx="2886290" cy="657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1" dirty="0">
                <a:solidFill>
                  <a:srgbClr val="000000"/>
                </a:solidFill>
                <a:sym typeface="Symbol" panose="05050102010706020507" pitchFamily="18" charset="2"/>
              </a:rPr>
              <a:t>转移矩阵：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2000"/>
                                        <p:tgtEl>
                                          <p:spTgt spid="273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  <p:bldP spid="2734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696F4F31-E019-F87D-2A2A-545055619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/>
              <a:t>2.</a:t>
            </a:r>
            <a:r>
              <a:rPr lang="zh-CN" altLang="en-US"/>
              <a:t>两个吸收壁随机游动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2AB1294B-FE3A-83F8-A95C-E422425CCB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4700" y="1066676"/>
            <a:ext cx="11344275" cy="3299252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{1,2,3,4,5}</a:t>
            </a:r>
            <a:r>
              <a:rPr lang="zh-CN" altLang="en-US" dirty="0"/>
              <a:t>。转移概率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11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en-US" altLang="zh-CN" baseline="-25000" dirty="0"/>
              <a:t>55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；</a:t>
            </a:r>
            <a:r>
              <a:rPr lang="en-US" altLang="zh-CN" dirty="0"/>
              <a:t>p</a:t>
            </a:r>
            <a:r>
              <a:rPr lang="en-US" altLang="zh-CN" baseline="-25000" dirty="0"/>
              <a:t>1j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1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  <a:r>
              <a:rPr lang="en-US" altLang="zh-CN" dirty="0"/>
              <a:t>p</a:t>
            </a:r>
            <a:r>
              <a:rPr lang="en-US" altLang="zh-CN" baseline="-25000" dirty="0"/>
              <a:t>5j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5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i,i-1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i,i+1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=2,3,4</a:t>
            </a:r>
            <a:r>
              <a:rPr lang="zh-CN" altLang="en-US" dirty="0"/>
              <a:t>；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i,j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i-1,i+1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质点运动到</a:t>
            </a:r>
            <a:r>
              <a:rPr lang="en-US" altLang="zh-CN" dirty="0">
                <a:sym typeface="Symbol" panose="05050102010706020507" pitchFamily="18" charset="2"/>
              </a:rPr>
              <a:t>1,5</a:t>
            </a:r>
            <a:r>
              <a:rPr lang="zh-CN" altLang="en-US" dirty="0">
                <a:sym typeface="Symbol" panose="05050102010706020507" pitchFamily="18" charset="2"/>
              </a:rPr>
              <a:t>时，永远留在那里，称状态</a:t>
            </a:r>
            <a:r>
              <a:rPr lang="en-US" altLang="zh-CN" dirty="0">
                <a:sym typeface="Symbol" panose="05050102010706020507" pitchFamily="18" charset="2"/>
              </a:rPr>
              <a:t>1,5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吸收壁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状态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74436" name="Object 4">
            <a:extLst>
              <a:ext uri="{FF2B5EF4-FFF2-40B4-BE49-F238E27FC236}">
                <a16:creationId xmlns:a16="http://schemas.microsoft.com/office/drawing/2014/main" id="{6BDDCA26-FC2C-581A-805B-B6AF00364C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8953" y="4420394"/>
          <a:ext cx="2934379" cy="2342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800" imgH="1155700" progId="Equation.3">
                  <p:embed/>
                </p:oleObj>
              </mc:Choice>
              <mc:Fallback>
                <p:oleObj name="Equation" r:id="rId3" imgW="1447800" imgH="1155700" progId="Equation.3">
                  <p:embed/>
                  <p:pic>
                    <p:nvPicPr>
                      <p:cNvPr id="274436" name="Object 4">
                        <a:extLst>
                          <a:ext uri="{FF2B5EF4-FFF2-40B4-BE49-F238E27FC236}">
                            <a16:creationId xmlns:a16="http://schemas.microsoft.com/office/drawing/2014/main" id="{6BDDCA26-FC2C-581A-805B-B6AF00364C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8953" y="4420394"/>
                        <a:ext cx="2934379" cy="23421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7" name="Rectangle 5">
            <a:extLst>
              <a:ext uri="{FF2B5EF4-FFF2-40B4-BE49-F238E27FC236}">
                <a16:creationId xmlns:a16="http://schemas.microsoft.com/office/drawing/2014/main" id="{A7E9B7D8-A74E-0D33-7EC9-D3A5C0F54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9792" y="5384580"/>
            <a:ext cx="2099161" cy="359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转移矩阵：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8" dur="2000"/>
                                        <p:tgtEl>
                                          <p:spTgt spid="27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  <p:bldP spid="2744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543E1D1-F1D6-6857-8F8C-1B03ECF66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/>
              <a:t>4.</a:t>
            </a:r>
            <a:r>
              <a:rPr lang="zh-CN" altLang="en-US"/>
              <a:t>带有两个反射壁的随机游动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2C3B9935-9AD3-80A7-532E-894E290774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31775" y="915194"/>
            <a:ext cx="11269490" cy="4095750"/>
          </a:xfrm>
        </p:spPr>
        <p:txBody>
          <a:bodyPr>
            <a:normAutofit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{1,2,3,4,5}</a:t>
            </a:r>
            <a:r>
              <a:rPr lang="zh-CN" altLang="en-US" dirty="0"/>
              <a:t>。转移概率：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11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12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1j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=3,4,5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55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54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5j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=1,2,3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i,i-1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i,i+1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=2,3,4</a:t>
            </a:r>
            <a:r>
              <a:rPr lang="zh-CN" altLang="en-US" dirty="0"/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i-1,i+1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=2,3,4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状态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5</a:t>
            </a:r>
            <a:r>
              <a:rPr lang="zh-CN" altLang="en-US" dirty="0">
                <a:sym typeface="Symbol" panose="05050102010706020507" pitchFamily="18" charset="2"/>
              </a:rPr>
              <a:t>永远不能停留，称为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反射壁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75460" name="Object 4">
            <a:extLst>
              <a:ext uri="{FF2B5EF4-FFF2-40B4-BE49-F238E27FC236}">
                <a16:creationId xmlns:a16="http://schemas.microsoft.com/office/drawing/2014/main" id="{AF62405C-E8A1-402B-8F8D-3A4B8292E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4564" y="4565744"/>
          <a:ext cx="2820053" cy="2251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800" imgH="1155700" progId="Equation.3">
                  <p:embed/>
                </p:oleObj>
              </mc:Choice>
              <mc:Fallback>
                <p:oleObj name="Equation" r:id="rId3" imgW="1447800" imgH="1155700" progId="Equation.3">
                  <p:embed/>
                  <p:pic>
                    <p:nvPicPr>
                      <p:cNvPr id="275460" name="Object 4">
                        <a:extLst>
                          <a:ext uri="{FF2B5EF4-FFF2-40B4-BE49-F238E27FC236}">
                            <a16:creationId xmlns:a16="http://schemas.microsoft.com/office/drawing/2014/main" id="{AF62405C-E8A1-402B-8F8D-3A4B8292E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564" y="4565744"/>
                        <a:ext cx="2820053" cy="2251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1" name="Rectangle 5">
            <a:extLst>
              <a:ext uri="{FF2B5EF4-FFF2-40B4-BE49-F238E27FC236}">
                <a16:creationId xmlns:a16="http://schemas.microsoft.com/office/drawing/2014/main" id="{73FA2374-1E6F-182D-8230-9EDE1060D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4574" y="5435675"/>
            <a:ext cx="2210312" cy="45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转移矩阵：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5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75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  <p:bldP spid="27546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CD71DA7-A485-7545-859F-AB90B8060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zh-CN"/>
              <a:t>4.</a:t>
            </a:r>
            <a:r>
              <a:rPr lang="zh-CN" altLang="en-US"/>
              <a:t>带有两个弹性壁的随机游动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ADD8FB83-58CA-9379-FF06-5D45CE017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8793" y="994447"/>
            <a:ext cx="10501982" cy="350214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{1,2,3,4,5}</a:t>
            </a:r>
            <a:r>
              <a:rPr lang="zh-CN" altLang="en-US" dirty="0"/>
              <a:t>。转移概率：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11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12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1j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=3,4,5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55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54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5j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=1,2,3</a:t>
            </a:r>
            <a:r>
              <a:rPr lang="zh-CN" altLang="en-US" dirty="0">
                <a:sym typeface="Symbol" panose="05050102010706020507" pitchFamily="18" charset="2"/>
              </a:rPr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i,i-1</a:t>
            </a:r>
            <a:r>
              <a:rPr lang="zh-CN" altLang="en-US" dirty="0"/>
              <a:t>＝</a:t>
            </a:r>
            <a:r>
              <a:rPr lang="en-US" altLang="zh-CN" dirty="0"/>
              <a:t>q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en-US" altLang="zh-CN" baseline="-25000" dirty="0"/>
              <a:t>i,i+1</a:t>
            </a:r>
            <a:r>
              <a:rPr lang="zh-CN" altLang="en-US" dirty="0"/>
              <a:t>＝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=2,3,4</a:t>
            </a:r>
            <a:r>
              <a:rPr lang="zh-CN" altLang="en-US" dirty="0"/>
              <a:t>；</a:t>
            </a:r>
          </a:p>
          <a:p>
            <a:pPr algn="ctr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en-US" altLang="zh-CN" dirty="0">
                <a:sym typeface="Symbol" panose="05050102010706020507" pitchFamily="18" charset="2"/>
              </a:rPr>
              <a:t>i-1,i+1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=2,3,4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状态</a:t>
            </a:r>
            <a:r>
              <a:rPr lang="en-US" altLang="zh-CN" dirty="0">
                <a:sym typeface="Symbol" panose="05050102010706020507" pitchFamily="18" charset="2"/>
              </a:rPr>
              <a:t>1</a:t>
            </a:r>
            <a:r>
              <a:rPr lang="zh-CN" altLang="en-US" dirty="0">
                <a:sym typeface="Symbol" panose="05050102010706020507" pitchFamily="18" charset="2"/>
              </a:rPr>
              <a:t>和</a:t>
            </a:r>
            <a:r>
              <a:rPr lang="en-US" altLang="zh-CN" dirty="0">
                <a:sym typeface="Symbol" panose="05050102010706020507" pitchFamily="18" charset="2"/>
              </a:rPr>
              <a:t>5</a:t>
            </a: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弹性壁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276484" name="Object 4">
            <a:extLst>
              <a:ext uri="{FF2B5EF4-FFF2-40B4-BE49-F238E27FC236}">
                <a16:creationId xmlns:a16="http://schemas.microsoft.com/office/drawing/2014/main" id="{D28E52D4-05C2-E785-E7EA-60738E7ECB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0775" y="4512077"/>
          <a:ext cx="2820053" cy="2251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47800" imgH="1155700" progId="Equation.3">
                  <p:embed/>
                </p:oleObj>
              </mc:Choice>
              <mc:Fallback>
                <p:oleObj name="Equation" r:id="rId3" imgW="1447800" imgH="1155700" progId="Equation.3">
                  <p:embed/>
                  <p:pic>
                    <p:nvPicPr>
                      <p:cNvPr id="276484" name="Object 4">
                        <a:extLst>
                          <a:ext uri="{FF2B5EF4-FFF2-40B4-BE49-F238E27FC236}">
                            <a16:creationId xmlns:a16="http://schemas.microsoft.com/office/drawing/2014/main" id="{D28E52D4-05C2-E785-E7EA-60738E7ECB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4512077"/>
                        <a:ext cx="2820053" cy="22515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85" name="Rectangle 5">
            <a:extLst>
              <a:ext uri="{FF2B5EF4-FFF2-40B4-BE49-F238E27FC236}">
                <a16:creationId xmlns:a16="http://schemas.microsoft.com/office/drawing/2014/main" id="{D93C8FF5-C7F6-BB91-430C-0A3457088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859" y="5362229"/>
            <a:ext cx="2210312" cy="451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00"/>
                </a:solidFill>
                <a:sym typeface="Symbol" panose="05050102010706020507" pitchFamily="18" charset="2"/>
              </a:rPr>
              <a:t>转移矩阵：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6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27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3" grpId="0" build="p"/>
      <p:bldP spid="27648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7BE9-9621-E13D-9141-F2CBB020C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EB3A434-769B-01EA-FF00-FB4648053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E71983E-3B87-5E31-31C7-0A12164960E8}"/>
              </a:ext>
            </a:extLst>
          </p:cNvPr>
          <p:cNvSpPr txBox="1"/>
          <p:nvPr/>
        </p:nvSpPr>
        <p:spPr>
          <a:xfrm>
            <a:off x="2289175" y="2599608"/>
            <a:ext cx="1295400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</a:rPr>
              <a:t>5.2</a:t>
            </a:r>
            <a:r>
              <a:rPr lang="zh-CN" altLang="en-US" sz="4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B7A189-706C-80CF-7AF3-03A0E85CF341}"/>
              </a:ext>
            </a:extLst>
          </p:cNvPr>
          <p:cNvSpPr txBox="1"/>
          <p:nvPr/>
        </p:nvSpPr>
        <p:spPr>
          <a:xfrm>
            <a:off x="3736975" y="2599608"/>
            <a:ext cx="6858000" cy="1600481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马尔可夫过程的性质</a:t>
            </a:r>
          </a:p>
          <a:p>
            <a:endParaRPr lang="zh-CN" altLang="en-US" sz="48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811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1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50" y="952454"/>
            <a:ext cx="11268075" cy="1472660"/>
          </a:xfrm>
        </p:spPr>
        <p:txBody>
          <a:bodyPr>
            <a:normAutofit/>
          </a:bodyPr>
          <a:lstStyle/>
          <a:p>
            <a:pPr marL="0" indent="647830">
              <a:lnSpc>
                <a:spcPct val="170000"/>
              </a:lnSpc>
              <a:buNone/>
            </a:pP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的转移概率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(k)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满足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C-K(Chapman-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Kolmogrov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切普曼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-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柯尔莫哥洛夫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方程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:</a:t>
            </a:r>
            <a:endParaRPr lang="zh-CN" altLang="en-US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112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891646"/>
              </p:ext>
            </p:extLst>
          </p:nvPr>
        </p:nvGraphicFramePr>
        <p:xfrm>
          <a:off x="6045187" y="1727044"/>
          <a:ext cx="3199552" cy="665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198960" imgH="584280" progId="Equation.3">
                  <p:embed/>
                </p:oleObj>
              </mc:Choice>
              <mc:Fallback>
                <p:oleObj name="公式" r:id="rId3" imgW="3198960" imgH="584280" progId="Equation.3">
                  <p:embed/>
                  <p:pic>
                    <p:nvPicPr>
                      <p:cNvPr id="1127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187" y="1727044"/>
                        <a:ext cx="3199552" cy="6653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1663644" y="2554788"/>
            <a:ext cx="7088240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采用矩阵记号为：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k+s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P(k)P(s)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11272" name="Rectangle 6"/>
          <p:cNvSpPr>
            <a:spLocks noChangeArrowheads="1"/>
          </p:cNvSpPr>
          <p:nvPr/>
        </p:nvSpPr>
        <p:spPr bwMode="auto">
          <a:xfrm>
            <a:off x="590720" y="3339543"/>
            <a:ext cx="949545" cy="47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sym typeface="Symbol" panose="05050102010706020507" pitchFamily="18" charset="2"/>
              </a:rPr>
              <a:t>证明</a:t>
            </a:r>
            <a:r>
              <a:rPr lang="zh-CN" altLang="en-US" sz="2400" dirty="0">
                <a:sym typeface="Symbol" panose="05050102010706020507" pitchFamily="18" charset="2"/>
              </a:rPr>
              <a:t>  </a:t>
            </a:r>
          </a:p>
        </p:txBody>
      </p:sp>
      <p:sp>
        <p:nvSpPr>
          <p:cNvPr id="269319" name="Rectangle 7"/>
          <p:cNvSpPr>
            <a:spLocks noChangeArrowheads="1"/>
          </p:cNvSpPr>
          <p:nvPr/>
        </p:nvSpPr>
        <p:spPr bwMode="auto">
          <a:xfrm>
            <a:off x="1784314" y="3561242"/>
            <a:ext cx="7697982" cy="476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dirty="0" err="1"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ym typeface="Symbol" panose="05050102010706020507" pitchFamily="18" charset="2"/>
              </a:rPr>
              <a:t>k+s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ym typeface="Symbol" panose="05050102010706020507" pitchFamily="18" charset="2"/>
              </a:rPr>
              <a:t>P{X(</a:t>
            </a:r>
            <a:r>
              <a:rPr lang="en-US" altLang="zh-CN" sz="2400" dirty="0" err="1">
                <a:sym typeface="Symbol" panose="05050102010706020507" pitchFamily="18" charset="2"/>
              </a:rPr>
              <a:t>m+k+s</a:t>
            </a:r>
            <a:r>
              <a:rPr lang="en-US" altLang="zh-CN" sz="2400" dirty="0">
                <a:sym typeface="Symbol" panose="05050102010706020507" pitchFamily="18" charset="2"/>
              </a:rPr>
              <a:t>)=</a:t>
            </a:r>
            <a:r>
              <a:rPr lang="en-US" altLang="zh-CN" sz="2400" dirty="0" err="1">
                <a:sym typeface="Symbol" panose="05050102010706020507" pitchFamily="18" charset="2"/>
              </a:rPr>
              <a:t>j|X</a:t>
            </a:r>
            <a:r>
              <a:rPr lang="en-US" altLang="zh-CN" sz="2400" dirty="0"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ym typeface="Symbol" panose="05050102010706020507" pitchFamily="18" charset="2"/>
              </a:rPr>
              <a:t>}</a:t>
            </a:r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495636"/>
              </p:ext>
            </p:extLst>
          </p:nvPr>
        </p:nvGraphicFramePr>
        <p:xfrm>
          <a:off x="1784314" y="4275025"/>
          <a:ext cx="5051007" cy="56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48000" imgH="342900" progId="Equation.3">
                  <p:embed/>
                </p:oleObj>
              </mc:Choice>
              <mc:Fallback>
                <p:oleObj name="Equation" r:id="rId5" imgW="3048000" imgH="342900" progId="Equation.3">
                  <p:embed/>
                  <p:pic>
                    <p:nvPicPr>
                      <p:cNvPr id="2693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314" y="4275025"/>
                        <a:ext cx="5051007" cy="56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9160"/>
              </p:ext>
            </p:extLst>
          </p:nvPr>
        </p:nvGraphicFramePr>
        <p:xfrm>
          <a:off x="1740772" y="4937003"/>
          <a:ext cx="7913932" cy="56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775200" imgH="342900" progId="Equation.3">
                  <p:embed/>
                </p:oleObj>
              </mc:Choice>
              <mc:Fallback>
                <p:oleObj name="Equation" r:id="rId7" imgW="4775200" imgH="342900" progId="Equation.3">
                  <p:embed/>
                  <p:pic>
                    <p:nvPicPr>
                      <p:cNvPr id="2693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0772" y="4937003"/>
                        <a:ext cx="7913932" cy="56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522359"/>
              </p:ext>
            </p:extLst>
          </p:nvPr>
        </p:nvGraphicFramePr>
        <p:xfrm>
          <a:off x="1755740" y="5711289"/>
          <a:ext cx="6904048" cy="56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65600" imgH="342900" progId="Equation.3">
                  <p:embed/>
                </p:oleObj>
              </mc:Choice>
              <mc:Fallback>
                <p:oleObj name="Equation" r:id="rId9" imgW="4165600" imgH="342900" progId="Equation.3">
                  <p:embed/>
                  <p:pic>
                    <p:nvPicPr>
                      <p:cNvPr id="2693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40" y="5711289"/>
                        <a:ext cx="6904048" cy="56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705240"/>
              </p:ext>
            </p:extLst>
          </p:nvPr>
        </p:nvGraphicFramePr>
        <p:xfrm>
          <a:off x="1755740" y="6341672"/>
          <a:ext cx="1767297" cy="568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800" imgH="342900" progId="Equation.3">
                  <p:embed/>
                </p:oleObj>
              </mc:Choice>
              <mc:Fallback>
                <p:oleObj name="Equation" r:id="rId11" imgW="1066800" imgH="342900" progId="Equation.3">
                  <p:embed/>
                  <p:pic>
                    <p:nvPicPr>
                      <p:cNvPr id="2693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5740" y="6341672"/>
                        <a:ext cx="1767297" cy="5684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25" name="AutoShape 13"/>
          <p:cNvSpPr>
            <a:spLocks/>
          </p:cNvSpPr>
          <p:nvPr/>
        </p:nvSpPr>
        <p:spPr bwMode="auto">
          <a:xfrm>
            <a:off x="8080375" y="3704360"/>
            <a:ext cx="3963317" cy="949545"/>
          </a:xfrm>
          <a:prstGeom prst="borderCallout1">
            <a:avLst>
              <a:gd name="adj1" fmla="val 8569"/>
              <a:gd name="adj2" fmla="val -1921"/>
              <a:gd name="adj3" fmla="val 153974"/>
              <a:gd name="adj4" fmla="val -18872"/>
            </a:avLst>
          </a:prstGeom>
          <a:solidFill>
            <a:srgbClr val="96FFFF"/>
          </a:solidFill>
          <a:ln w="2540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带条件的乘法公式：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P(A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A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|B)=P(A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|B)</a:t>
            </a:r>
            <a:r>
              <a:rPr lang="en-US" altLang="zh-CN" sz="2801" dirty="0"/>
              <a:t>·</a:t>
            </a:r>
            <a:r>
              <a:rPr lang="en-US" altLang="zh-CN" sz="2400" dirty="0">
                <a:sym typeface="Symbol" panose="05050102010706020507" pitchFamily="18" charset="2"/>
              </a:rPr>
              <a:t>P(A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|A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B)</a:t>
            </a:r>
          </a:p>
        </p:txBody>
      </p:sp>
      <p:sp>
        <p:nvSpPr>
          <p:cNvPr id="269326" name="AutoShape 14"/>
          <p:cNvSpPr>
            <a:spLocks/>
          </p:cNvSpPr>
          <p:nvPr/>
        </p:nvSpPr>
        <p:spPr bwMode="auto">
          <a:xfrm>
            <a:off x="9299575" y="2509797"/>
            <a:ext cx="1753006" cy="480242"/>
          </a:xfrm>
          <a:prstGeom prst="borderCallout1">
            <a:avLst>
              <a:gd name="adj1" fmla="val 22787"/>
              <a:gd name="adj2" fmla="val -4347"/>
              <a:gd name="adj3" fmla="val 401809"/>
              <a:gd name="adj4" fmla="val -145559"/>
            </a:avLst>
          </a:prstGeom>
          <a:solidFill>
            <a:srgbClr val="96FFFF"/>
          </a:solidFill>
          <a:ln w="2540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全概率公式</a:t>
            </a:r>
          </a:p>
        </p:txBody>
      </p:sp>
    </p:spTree>
    <p:extLst>
      <p:ext uri="{BB962C8B-B14F-4D97-AF65-F5344CB8AC3E}">
        <p14:creationId xmlns:p14="http://schemas.microsoft.com/office/powerpoint/2010/main" val="313329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9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9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9" grpId="0" autoUpdateAnimBg="0"/>
      <p:bldP spid="269325" grpId="0" animBg="1" autoUpdateAnimBg="0"/>
      <p:bldP spid="269326" grpId="0" animBg="1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2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067594"/>
            <a:ext cx="10439400" cy="160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步转移矩阵等于一步转移矩阵的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次方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即：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P(n)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70340" name="Rectangle 4"/>
          <p:cNvSpPr>
            <a:spLocks noChangeArrowheads="1"/>
          </p:cNvSpPr>
          <p:nvPr/>
        </p:nvSpPr>
        <p:spPr bwMode="auto">
          <a:xfrm>
            <a:off x="774700" y="2286530"/>
            <a:ext cx="10887075" cy="4356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olidFill>
                  <a:srgbClr val="CC00CC"/>
                </a:solidFill>
                <a:sym typeface="Symbol" panose="05050102010706020507" pitchFamily="18" charset="2"/>
              </a:rPr>
              <a:t>证明</a:t>
            </a:r>
            <a:r>
              <a:rPr lang="zh-CN" altLang="en-US" sz="2801" dirty="0">
                <a:sym typeface="Symbol" panose="05050102010706020507" pitchFamily="18" charset="2"/>
              </a:rPr>
              <a:t>  由</a:t>
            </a:r>
            <a:r>
              <a:rPr lang="en-US" altLang="zh-CN" sz="2801" dirty="0">
                <a:sym typeface="Symbol" panose="05050102010706020507" pitchFamily="18" charset="2"/>
              </a:rPr>
              <a:t>C-K</a:t>
            </a:r>
            <a:r>
              <a:rPr lang="zh-CN" altLang="en-US" sz="2801" dirty="0">
                <a:sym typeface="Symbol" panose="05050102010706020507" pitchFamily="18" charset="2"/>
              </a:rPr>
              <a:t>方程有：</a:t>
            </a:r>
          </a:p>
          <a:p>
            <a:pPr lvl="1" algn="ctr" eaLnBrk="1" hangingPunct="1">
              <a:lnSpc>
                <a:spcPct val="150000"/>
              </a:lnSpc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en-US" altLang="zh-CN" sz="2801" dirty="0">
                <a:sym typeface="Symbol" panose="05050102010706020507" pitchFamily="18" charset="2"/>
              </a:rPr>
              <a:t>P(</a:t>
            </a:r>
            <a:r>
              <a:rPr lang="en-US" altLang="zh-CN" sz="2801" dirty="0" err="1">
                <a:sym typeface="Symbol" panose="05050102010706020507" pitchFamily="18" charset="2"/>
              </a:rPr>
              <a:t>k+s</a:t>
            </a:r>
            <a:r>
              <a:rPr lang="en-US" altLang="zh-CN" sz="2801" dirty="0">
                <a:sym typeface="Symbol" panose="05050102010706020507" pitchFamily="18" charset="2"/>
              </a:rPr>
              <a:t>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P(k)</a:t>
            </a:r>
            <a:r>
              <a:rPr lang="en-US" altLang="zh-CN" sz="2801" dirty="0"/>
              <a:t>·</a:t>
            </a:r>
            <a:r>
              <a:rPr lang="en-US" altLang="zh-CN" sz="2801" dirty="0">
                <a:sym typeface="Symbol" panose="05050102010706020507" pitchFamily="18" charset="2"/>
              </a:rPr>
              <a:t>P(s)</a:t>
            </a:r>
            <a:r>
              <a:rPr lang="zh-CN" altLang="en-US" sz="2801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ym typeface="Symbol" panose="05050102010706020507" pitchFamily="18" charset="2"/>
              </a:rPr>
              <a:t>令</a:t>
            </a:r>
            <a:r>
              <a:rPr lang="en-US" altLang="zh-CN" sz="2801" dirty="0">
                <a:sym typeface="Symbol" panose="05050102010706020507" pitchFamily="18" charset="2"/>
              </a:rPr>
              <a:t>k=s=1, </a:t>
            </a:r>
            <a:r>
              <a:rPr lang="zh-CN" altLang="en-US" sz="2801" dirty="0">
                <a:sym typeface="Symbol" panose="05050102010706020507" pitchFamily="18" charset="2"/>
              </a:rPr>
              <a:t>有：</a:t>
            </a:r>
            <a:r>
              <a:rPr lang="en-US" altLang="zh-CN" sz="2801" dirty="0">
                <a:sym typeface="Symbol" panose="05050102010706020507" pitchFamily="18" charset="2"/>
              </a:rPr>
              <a:t>P(2)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P(1)</a:t>
            </a:r>
            <a:r>
              <a:rPr lang="en-US" altLang="zh-CN" sz="2801" dirty="0"/>
              <a:t>·</a:t>
            </a:r>
            <a:r>
              <a:rPr lang="en-US" altLang="zh-CN" sz="2801" dirty="0">
                <a:sym typeface="Symbol" panose="05050102010706020507" pitchFamily="18" charset="2"/>
              </a:rPr>
              <a:t>P(1)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</a:t>
            </a:r>
            <a:r>
              <a:rPr lang="en-US" altLang="zh-CN" sz="2801" baseline="30000" dirty="0">
                <a:sym typeface="Symbol" panose="05050102010706020507" pitchFamily="18" charset="2"/>
              </a:rPr>
              <a:t>2</a:t>
            </a:r>
            <a:r>
              <a:rPr lang="zh-CN" altLang="en-US" sz="2801" dirty="0"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ym typeface="Symbol" panose="05050102010706020507" pitchFamily="18" charset="2"/>
              </a:rPr>
              <a:t>令</a:t>
            </a:r>
            <a:r>
              <a:rPr lang="en-US" altLang="zh-CN" sz="2801" dirty="0">
                <a:sym typeface="Symbol" panose="05050102010706020507" pitchFamily="18" charset="2"/>
              </a:rPr>
              <a:t>k=2, s=1, </a:t>
            </a:r>
            <a:r>
              <a:rPr lang="zh-CN" altLang="en-US" sz="2801" dirty="0">
                <a:sym typeface="Symbol" panose="05050102010706020507" pitchFamily="18" charset="2"/>
              </a:rPr>
              <a:t>有：</a:t>
            </a:r>
            <a:r>
              <a:rPr lang="en-US" altLang="zh-CN" sz="2801" dirty="0">
                <a:sym typeface="Symbol" panose="05050102010706020507" pitchFamily="18" charset="2"/>
              </a:rPr>
              <a:t>P(3)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P(2)</a:t>
            </a:r>
            <a:r>
              <a:rPr lang="en-US" altLang="zh-CN" sz="2801" dirty="0"/>
              <a:t>·</a:t>
            </a:r>
            <a:r>
              <a:rPr lang="en-US" altLang="zh-CN" sz="2801" dirty="0">
                <a:sym typeface="Symbol" panose="05050102010706020507" pitchFamily="18" charset="2"/>
              </a:rPr>
              <a:t>P(1)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</a:t>
            </a:r>
            <a:r>
              <a:rPr lang="en-US" altLang="zh-CN" sz="2801" baseline="30000" dirty="0">
                <a:sym typeface="Symbol" panose="05050102010706020507" pitchFamily="18" charset="2"/>
              </a:rPr>
              <a:t>2</a:t>
            </a:r>
            <a:r>
              <a:rPr lang="en-US" altLang="zh-CN" sz="2801" dirty="0"/>
              <a:t>·</a:t>
            </a:r>
            <a:r>
              <a:rPr lang="en-US" altLang="zh-CN" sz="2801" dirty="0">
                <a:sym typeface="Symbol" panose="05050102010706020507" pitchFamily="18" charset="2"/>
              </a:rPr>
              <a:t>P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sym typeface="Symbol" panose="05050102010706020507" pitchFamily="18" charset="2"/>
              </a:rPr>
              <a:t>P</a:t>
            </a:r>
            <a:r>
              <a:rPr lang="en-US" altLang="zh-CN" sz="2801" baseline="30000" dirty="0">
                <a:sym typeface="Symbol" panose="05050102010706020507" pitchFamily="18" charset="2"/>
              </a:rPr>
              <a:t>3</a:t>
            </a:r>
            <a:r>
              <a:rPr lang="zh-CN" altLang="en-US" sz="2801" dirty="0">
                <a:sym typeface="Symbol" panose="05050102010706020507" pitchFamily="18" charset="2"/>
              </a:rPr>
              <a:t>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1" dirty="0">
                <a:sym typeface="Symbol" panose="05050102010706020507" pitchFamily="18" charset="2"/>
              </a:rPr>
              <a:t>由数学归纳法得：</a:t>
            </a:r>
            <a:r>
              <a:rPr lang="en-US" altLang="zh-CN" sz="2801" dirty="0">
                <a:sym typeface="Symbol" panose="05050102010706020507" pitchFamily="18" charset="2"/>
              </a:rPr>
              <a:t>P(n)</a:t>
            </a:r>
            <a:r>
              <a:rPr lang="zh-CN" altLang="en-US" sz="2801" dirty="0">
                <a:sym typeface="Symbol" panose="05050102010706020507" pitchFamily="18" charset="2"/>
              </a:rPr>
              <a:t>＝</a:t>
            </a:r>
            <a:r>
              <a:rPr lang="en-US" altLang="zh-CN" sz="2801" dirty="0" err="1">
                <a:sym typeface="Symbol" panose="05050102010706020507" pitchFamily="18" charset="2"/>
              </a:rPr>
              <a:t>P</a:t>
            </a:r>
            <a:r>
              <a:rPr lang="en-US" altLang="zh-CN" sz="2801" baseline="50000" dirty="0" err="1">
                <a:sym typeface="Symbol" panose="05050102010706020507" pitchFamily="18" charset="2"/>
              </a:rPr>
              <a:t>n</a:t>
            </a:r>
            <a:r>
              <a:rPr lang="zh-CN" altLang="en-US" sz="2801" dirty="0">
                <a:sym typeface="Symbol" panose="05050102010706020507" pitchFamily="18" charset="2"/>
              </a:rPr>
              <a:t>。</a:t>
            </a:r>
            <a:r>
              <a:rPr lang="zh-CN" altLang="en-US" sz="2801" dirty="0"/>
              <a:t> </a:t>
            </a:r>
            <a:endParaRPr lang="en-US" altLang="zh-CN" sz="2801" dirty="0"/>
          </a:p>
          <a:p>
            <a:pPr>
              <a:lnSpc>
                <a:spcPct val="150000"/>
              </a:lnSpc>
              <a:spcBef>
                <a:spcPts val="3001"/>
              </a:spcBef>
              <a:buNone/>
            </a:pPr>
            <a:r>
              <a:rPr lang="zh-CN" altLang="en-US" sz="2801" dirty="0">
                <a:solidFill>
                  <a:srgbClr val="6600CC"/>
                </a:solidFill>
              </a:rPr>
              <a:t>齐次马氏链的</a:t>
            </a:r>
            <a:r>
              <a:rPr lang="en-US" altLang="zh-CN" sz="2801" dirty="0">
                <a:solidFill>
                  <a:srgbClr val="6600CC"/>
                </a:solidFill>
              </a:rPr>
              <a:t>n</a:t>
            </a:r>
            <a:r>
              <a:rPr lang="zh-CN" altLang="en-US" sz="2801" dirty="0">
                <a:solidFill>
                  <a:srgbClr val="6600CC"/>
                </a:solidFill>
              </a:rPr>
              <a:t>步转移概率由一步转移概率确定。</a:t>
            </a:r>
          </a:p>
        </p:txBody>
      </p:sp>
    </p:spTree>
    <p:extLst>
      <p:ext uri="{BB962C8B-B14F-4D97-AF65-F5344CB8AC3E}">
        <p14:creationId xmlns:p14="http://schemas.microsoft.com/office/powerpoint/2010/main" val="2868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0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0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0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0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0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03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0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0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mph" presetSubtype="0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 tmFilter="0, 0; .2, .5; .8, .5; 1, 0"/>
                                        <p:tgtEl>
                                          <p:spTgt spid="270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500" autoRev="1" fill="hold"/>
                                        <p:tgtEl>
                                          <p:spTgt spid="2703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0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3</a:t>
            </a:r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4CEA08D2-EEED-408E-A362-FB99EED437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6799" y="781843"/>
            <a:ext cx="11272944" cy="2304807"/>
          </a:xfrm>
        </p:spPr>
        <p:txBody>
          <a:bodyPr>
            <a:normAutofit/>
          </a:bodyPr>
          <a:lstStyle/>
          <a:p>
            <a:pPr marL="0" indent="720144">
              <a:lnSpc>
                <a:spcPct val="170000"/>
              </a:lnSpc>
              <a:buNone/>
              <a:defRPr/>
            </a:pPr>
            <a:r>
              <a:rPr lang="zh-CN" altLang="en-US" dirty="0"/>
              <a:t>给定齐次马氏链</a:t>
            </a:r>
            <a:r>
              <a:rPr lang="en-US" altLang="zh-CN" dirty="0">
                <a:sym typeface="Symbol" panose="05050102010706020507" pitchFamily="18" charset="2"/>
              </a:rPr>
              <a:t>{X(n), n = 0, 1, 2, …}, </a:t>
            </a:r>
            <a:r>
              <a:rPr lang="zh-CN" altLang="en-US" dirty="0">
                <a:sym typeface="Symbol" panose="05050102010706020507" pitchFamily="18" charset="2"/>
              </a:rPr>
              <a:t>称</a:t>
            </a:r>
            <a:r>
              <a:rPr lang="en-US" altLang="zh-CN" dirty="0">
                <a:sym typeface="Symbol" panose="05050102010706020507" pitchFamily="18" charset="2"/>
              </a:rPr>
              <a:t>p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(0)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P{X(0)=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} </a:t>
            </a:r>
            <a:r>
              <a:rPr lang="en-US" altLang="zh-CN" dirty="0" err="1">
                <a:sym typeface="Symbol" panose="05050102010706020507" pitchFamily="18" charset="2"/>
              </a:rPr>
              <a:t>iE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endParaRPr lang="zh-CN" altLang="en-US" dirty="0">
              <a:sym typeface="Symbol" panose="05050102010706020507" pitchFamily="18" charset="2"/>
            </a:endParaRPr>
          </a:p>
          <a:p>
            <a:pPr marL="0" indent="0">
              <a:lnSpc>
                <a:spcPct val="170000"/>
              </a:lnSpc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即</a:t>
            </a:r>
            <a:r>
              <a:rPr lang="en-US" altLang="zh-CN" dirty="0">
                <a:sym typeface="Symbol" panose="05050102010706020507" pitchFamily="18" charset="2"/>
              </a:rPr>
              <a:t>X(0)</a:t>
            </a:r>
            <a:r>
              <a:rPr lang="zh-CN" altLang="en-US" dirty="0">
                <a:sym typeface="Symbol" panose="05050102010706020507" pitchFamily="18" charset="2"/>
              </a:rPr>
              <a:t>概率分布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为齐次马氏链的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初始分布</a:t>
            </a:r>
            <a:r>
              <a:rPr lang="zh-CN" altLang="en-US" dirty="0">
                <a:sym typeface="Symbol" panose="05050102010706020507" pitchFamily="18" charset="2"/>
              </a:rPr>
              <a:t>。其中</a:t>
            </a:r>
            <a:r>
              <a:rPr lang="en-US" altLang="zh-CN" dirty="0">
                <a:sym typeface="Symbol" panose="05050102010706020507" pitchFamily="18" charset="2"/>
              </a:rPr>
              <a:t>0p</a:t>
            </a:r>
            <a:r>
              <a:rPr lang="en-US" altLang="zh-CN" baseline="-25000" dirty="0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(0)1, </a:t>
            </a:r>
            <a:r>
              <a:rPr lang="en-US" altLang="zh-CN" dirty="0" err="1">
                <a:sym typeface="Symbol" panose="05050102010706020507" pitchFamily="18" charset="2"/>
              </a:rPr>
              <a:t>iE</a:t>
            </a:r>
            <a:r>
              <a:rPr lang="zh-CN" altLang="en-US" dirty="0">
                <a:sym typeface="Symbol" panose="05050102010706020507" pitchFamily="18" charset="2"/>
              </a:rPr>
              <a:t>且        ＝</a:t>
            </a:r>
            <a:r>
              <a:rPr lang="en-US" altLang="zh-CN" dirty="0">
                <a:sym typeface="Symbol" panose="05050102010706020507" pitchFamily="18" charset="2"/>
              </a:rPr>
              <a:t>1, </a:t>
            </a:r>
          </a:p>
          <a:p>
            <a:pPr marL="0" indent="0">
              <a:lnSpc>
                <a:spcPct val="170000"/>
              </a:lnSpc>
              <a:buNone/>
              <a:defRPr/>
            </a:pPr>
            <a:r>
              <a:rPr lang="zh-CN" altLang="en-US" dirty="0">
                <a:sym typeface="Symbol" panose="05050102010706020507" pitchFamily="18" charset="2"/>
              </a:rPr>
              <a:t>记</a:t>
            </a:r>
          </a:p>
        </p:txBody>
      </p:sp>
      <p:sp>
        <p:nvSpPr>
          <p:cNvPr id="271364" name="Rectangle 4"/>
          <p:cNvSpPr>
            <a:spLocks noChangeArrowheads="1"/>
          </p:cNvSpPr>
          <p:nvPr/>
        </p:nvSpPr>
        <p:spPr bwMode="auto">
          <a:xfrm>
            <a:off x="400132" y="6132432"/>
            <a:ext cx="4427730" cy="57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sym typeface="Symbol" panose="05050102010706020507" pitchFamily="18" charset="2"/>
              </a:rPr>
              <a:t>证明</a:t>
            </a:r>
            <a:r>
              <a:rPr lang="zh-CN" altLang="en-US" sz="2400" dirty="0">
                <a:sym typeface="Symbol" panose="05050102010706020507" pitchFamily="18" charset="2"/>
              </a:rPr>
              <a:t>  </a:t>
            </a:r>
            <a:r>
              <a:rPr lang="en-US" altLang="zh-CN" sz="2400" dirty="0" err="1"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ym typeface="Symbol" panose="05050102010706020507" pitchFamily="18" charset="2"/>
              </a:rPr>
              <a:t>P{X(n)=j}</a:t>
            </a:r>
            <a:endParaRPr lang="en-US" altLang="zh-CN" sz="2400" dirty="0"/>
          </a:p>
        </p:txBody>
      </p:sp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-193049" y="5012292"/>
            <a:ext cx="838710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Ctr="1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性质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3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绝对分布由初始分布和转移概率确定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且满足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1536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667350"/>
              </p:ext>
            </p:extLst>
          </p:nvPr>
        </p:nvGraphicFramePr>
        <p:xfrm>
          <a:off x="9299575" y="1571552"/>
          <a:ext cx="829301" cy="54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140" imgH="342751" progId="Equation.3">
                  <p:embed/>
                </p:oleObj>
              </mc:Choice>
              <mc:Fallback>
                <p:oleObj name="Equation" r:id="rId3" imgW="368140" imgH="342751" progId="Equation.3">
                  <p:embed/>
                  <p:pic>
                    <p:nvPicPr>
                      <p:cNvPr id="1536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9575" y="1571552"/>
                        <a:ext cx="829301" cy="544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782664"/>
              </p:ext>
            </p:extLst>
          </p:nvPr>
        </p:nvGraphicFramePr>
        <p:xfrm>
          <a:off x="750783" y="2196306"/>
          <a:ext cx="2695229" cy="473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115" imgH="253890" progId="Equation.DSMT4">
                  <p:embed/>
                </p:oleObj>
              </mc:Choice>
              <mc:Fallback>
                <p:oleObj name="Equation" r:id="rId5" imgW="1117115" imgH="253890" progId="Equation.DSMT4">
                  <p:embed/>
                  <p:pic>
                    <p:nvPicPr>
                      <p:cNvPr id="1536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783" y="2196306"/>
                        <a:ext cx="2695229" cy="473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8" name="Rectangle 8"/>
          <p:cNvSpPr>
            <a:spLocks noChangeArrowheads="1"/>
          </p:cNvSpPr>
          <p:nvPr/>
        </p:nvSpPr>
        <p:spPr bwMode="auto">
          <a:xfrm>
            <a:off x="178320" y="2678804"/>
            <a:ext cx="1005014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给定齐次马氏链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{X(n), n=0, 1, 2, …},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称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P{X(n)=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}	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即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X(n)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概率分布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为齐次马氏链的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绝对分布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其中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0p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(n)1,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iE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且              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1,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记</a:t>
            </a:r>
          </a:p>
        </p:txBody>
      </p:sp>
      <p:graphicFrame>
        <p:nvGraphicFramePr>
          <p:cNvPr id="271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452479"/>
              </p:ext>
            </p:extLst>
          </p:nvPr>
        </p:nvGraphicFramePr>
        <p:xfrm>
          <a:off x="3373257" y="4398065"/>
          <a:ext cx="1258320" cy="5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58558" imgH="342751" progId="Equation.3">
                  <p:embed/>
                </p:oleObj>
              </mc:Choice>
              <mc:Fallback>
                <p:oleObj name="Equation" r:id="rId7" imgW="558558" imgH="342751" progId="Equation.3">
                  <p:embed/>
                  <p:pic>
                    <p:nvPicPr>
                      <p:cNvPr id="27136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3257" y="4398065"/>
                        <a:ext cx="1258320" cy="5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956643"/>
              </p:ext>
            </p:extLst>
          </p:nvPr>
        </p:nvGraphicFramePr>
        <p:xfrm>
          <a:off x="5565775" y="4468247"/>
          <a:ext cx="2847132" cy="450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80588" imgH="241195" progId="Equation.3">
                  <p:embed/>
                </p:oleObj>
              </mc:Choice>
              <mc:Fallback>
                <p:oleObj name="Equation" r:id="rId9" imgW="1180588" imgH="241195" progId="Equation.3">
                  <p:embed/>
                  <p:pic>
                    <p:nvPicPr>
                      <p:cNvPr id="27137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5775" y="4468247"/>
                        <a:ext cx="2847132" cy="450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6481100"/>
              </p:ext>
            </p:extLst>
          </p:nvPr>
        </p:nvGraphicFramePr>
        <p:xfrm>
          <a:off x="1959042" y="5580544"/>
          <a:ext cx="3834491" cy="5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87520" imgH="584280" progId="Equation.3">
                  <p:embed/>
                </p:oleObj>
              </mc:Choice>
              <mc:Fallback>
                <p:oleObj name="Equation" r:id="rId11" imgW="3287520" imgH="584280" progId="Equation.3">
                  <p:embed/>
                  <p:pic>
                    <p:nvPicPr>
                      <p:cNvPr id="27137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042" y="5580544"/>
                        <a:ext cx="3834491" cy="5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72" name="Rectangle 12"/>
          <p:cNvSpPr>
            <a:spLocks noChangeArrowheads="1"/>
          </p:cNvSpPr>
          <p:nvPr/>
        </p:nvSpPr>
        <p:spPr bwMode="auto">
          <a:xfrm>
            <a:off x="5793533" y="5621338"/>
            <a:ext cx="1438919" cy="45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Ctr="1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或记为</a:t>
            </a:r>
          </a:p>
        </p:txBody>
      </p:sp>
      <p:graphicFrame>
        <p:nvGraphicFramePr>
          <p:cNvPr id="27137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6274047"/>
              </p:ext>
            </p:extLst>
          </p:nvPr>
        </p:nvGraphicFramePr>
        <p:xfrm>
          <a:off x="7352443" y="5555932"/>
          <a:ext cx="1683235" cy="474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294920" imgH="393840" progId="Equation.3">
                  <p:embed/>
                </p:oleObj>
              </mc:Choice>
              <mc:Fallback>
                <p:oleObj name="Equation" r:id="rId13" imgW="1294920" imgH="393840" progId="Equation.3">
                  <p:embed/>
                  <p:pic>
                    <p:nvPicPr>
                      <p:cNvPr id="27137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2443" y="5555932"/>
                        <a:ext cx="1683235" cy="474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845158"/>
              </p:ext>
            </p:extLst>
          </p:nvPr>
        </p:nvGraphicFramePr>
        <p:xfrm>
          <a:off x="3446012" y="6226029"/>
          <a:ext cx="5862585" cy="63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51100" imgH="342900" progId="Equation.DSMT4">
                  <p:embed/>
                </p:oleObj>
              </mc:Choice>
              <mc:Fallback>
                <p:oleObj name="Equation" r:id="rId15" imgW="2451100" imgH="342900" progId="Equation.DSMT4">
                  <p:embed/>
                  <p:pic>
                    <p:nvPicPr>
                      <p:cNvPr id="27137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6012" y="6226029"/>
                        <a:ext cx="5862585" cy="63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7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715189"/>
              </p:ext>
            </p:extLst>
          </p:nvPr>
        </p:nvGraphicFramePr>
        <p:xfrm>
          <a:off x="9257617" y="6255498"/>
          <a:ext cx="2430427" cy="635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16000" imgH="342900" progId="Equation.DSMT4">
                  <p:embed/>
                </p:oleObj>
              </mc:Choice>
              <mc:Fallback>
                <p:oleObj name="Equation" r:id="rId17" imgW="1016000" imgH="342900" progId="Equation.DSMT4">
                  <p:embed/>
                  <p:pic>
                    <p:nvPicPr>
                      <p:cNvPr id="27137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7617" y="6255498"/>
                        <a:ext cx="2430427" cy="635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510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1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1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1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1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4" grpId="0" build="p" autoUpdateAnimBg="0"/>
      <p:bldP spid="271365" grpId="0" autoUpdateAnimBg="0"/>
      <p:bldP spid="271368" grpId="0" autoUpdateAnimBg="0"/>
      <p:bldP spid="27137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4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8314" y="1020983"/>
            <a:ext cx="8068643" cy="69389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齐次马氏链的有限维分布由初始分布和转移概率确定</a:t>
            </a:r>
            <a:r>
              <a:rPr lang="en-US" altLang="zh-CN" sz="2000" dirty="0">
                <a:solidFill>
                  <a:srgbClr val="0000FF"/>
                </a:solidFill>
              </a:rPr>
              <a:t>, </a:t>
            </a:r>
            <a:r>
              <a:rPr lang="zh-CN" altLang="en-US" sz="2000" dirty="0">
                <a:solidFill>
                  <a:srgbClr val="0000FF"/>
                </a:solidFill>
              </a:rPr>
              <a:t>且满足</a:t>
            </a:r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auto">
          <a:xfrm>
            <a:off x="688975" y="3039845"/>
            <a:ext cx="7697982" cy="492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FF9900"/>
                </a:solidFill>
                <a:sym typeface="Symbol" panose="05050102010706020507" pitchFamily="18" charset="2"/>
              </a:rPr>
              <a:t>证明</a:t>
            </a:r>
            <a:r>
              <a:rPr lang="zh-CN" altLang="en-US" sz="2000" dirty="0">
                <a:sym typeface="Symbol" panose="05050102010706020507" pitchFamily="18" charset="2"/>
              </a:rPr>
              <a:t>  </a:t>
            </a:r>
            <a:r>
              <a:rPr lang="en-US" altLang="zh-CN" sz="2000" dirty="0"/>
              <a:t>P{X(n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) = i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, X(n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) = i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, …, X(</a:t>
            </a:r>
            <a:r>
              <a:rPr lang="en-US" altLang="zh-CN" sz="2000" dirty="0" err="1"/>
              <a:t>n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) = 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k</a:t>
            </a:r>
            <a:r>
              <a:rPr lang="en-US" altLang="zh-CN" sz="2000" dirty="0"/>
              <a:t>}</a:t>
            </a:r>
          </a:p>
        </p:txBody>
      </p:sp>
      <p:sp>
        <p:nvSpPr>
          <p:cNvPr id="17415" name="Rectangle 5"/>
          <p:cNvSpPr>
            <a:spLocks noChangeArrowheads="1"/>
          </p:cNvSpPr>
          <p:nvPr/>
        </p:nvSpPr>
        <p:spPr bwMode="auto">
          <a:xfrm>
            <a:off x="736932" y="1617699"/>
            <a:ext cx="4954147" cy="461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</a:rPr>
              <a:t>P{X(n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000" dirty="0">
                <a:solidFill>
                  <a:srgbClr val="0000FF"/>
                </a:solidFill>
              </a:rPr>
              <a:t>) = i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000" dirty="0">
                <a:solidFill>
                  <a:srgbClr val="0000FF"/>
                </a:solidFill>
              </a:rPr>
              <a:t>, X(n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000" dirty="0">
                <a:solidFill>
                  <a:srgbClr val="0000FF"/>
                </a:solidFill>
              </a:rPr>
              <a:t>) = i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000" dirty="0">
                <a:solidFill>
                  <a:srgbClr val="0000FF"/>
                </a:solidFill>
              </a:rPr>
              <a:t>, …, X(</a:t>
            </a:r>
            <a:r>
              <a:rPr lang="en-US" altLang="zh-CN" sz="2000" dirty="0" err="1">
                <a:solidFill>
                  <a:srgbClr val="0000FF"/>
                </a:solidFill>
              </a:rPr>
              <a:t>n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000" dirty="0">
                <a:solidFill>
                  <a:srgbClr val="0000FF"/>
                </a:solidFill>
              </a:rPr>
              <a:t>) = </a:t>
            </a:r>
            <a:r>
              <a:rPr lang="en-US" altLang="zh-CN" sz="2000" dirty="0" err="1">
                <a:solidFill>
                  <a:srgbClr val="0000FF"/>
                </a:solidFill>
              </a:rPr>
              <a:t>i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000" dirty="0">
                <a:solidFill>
                  <a:srgbClr val="0000FF"/>
                </a:solidFill>
              </a:rPr>
              <a:t>}</a:t>
            </a:r>
          </a:p>
        </p:txBody>
      </p:sp>
      <p:graphicFrame>
        <p:nvGraphicFramePr>
          <p:cNvPr id="17416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5911006"/>
              </p:ext>
            </p:extLst>
          </p:nvPr>
        </p:nvGraphicFramePr>
        <p:xfrm>
          <a:off x="4803775" y="1645826"/>
          <a:ext cx="6086297" cy="633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89300" imgH="342900" progId="Equation.DSMT4">
                  <p:embed/>
                </p:oleObj>
              </mc:Choice>
              <mc:Fallback>
                <p:oleObj name="Equation" r:id="rId3" imgW="3289300" imgH="342900" progId="Equation.DSMT4">
                  <p:embed/>
                  <p:pic>
                    <p:nvPicPr>
                      <p:cNvPr id="17416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3775" y="1645826"/>
                        <a:ext cx="6086297" cy="633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7"/>
          <p:cNvSpPr>
            <a:spLocks noChangeArrowheads="1"/>
          </p:cNvSpPr>
          <p:nvPr/>
        </p:nvSpPr>
        <p:spPr bwMode="auto">
          <a:xfrm>
            <a:off x="2713842" y="2423086"/>
            <a:ext cx="7572540" cy="396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0000FF"/>
                </a:solidFill>
              </a:rPr>
              <a:t>其中</a:t>
            </a:r>
            <a:r>
              <a:rPr lang="en-US" altLang="zh-CN" sz="2000" dirty="0">
                <a:solidFill>
                  <a:srgbClr val="0000FF"/>
                </a:solidFill>
              </a:rPr>
              <a:t>P{X(n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000" dirty="0">
                <a:solidFill>
                  <a:srgbClr val="0000FF"/>
                </a:solidFill>
              </a:rPr>
              <a:t>)=i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1</a:t>
            </a:r>
            <a:r>
              <a:rPr lang="en-US" altLang="zh-CN" sz="2000" dirty="0">
                <a:solidFill>
                  <a:srgbClr val="0000FF"/>
                </a:solidFill>
              </a:rPr>
              <a:t>, X(n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000" dirty="0">
                <a:solidFill>
                  <a:srgbClr val="0000FF"/>
                </a:solidFill>
              </a:rPr>
              <a:t>)=i</a:t>
            </a:r>
            <a:r>
              <a:rPr lang="en-US" altLang="zh-CN" sz="2000" baseline="-25000" dirty="0">
                <a:solidFill>
                  <a:srgbClr val="0000FF"/>
                </a:solidFill>
              </a:rPr>
              <a:t>2</a:t>
            </a:r>
            <a:r>
              <a:rPr lang="en-US" altLang="zh-CN" sz="2000" dirty="0">
                <a:solidFill>
                  <a:srgbClr val="0000FF"/>
                </a:solidFill>
              </a:rPr>
              <a:t>, …, X(</a:t>
            </a:r>
            <a:r>
              <a:rPr lang="en-US" altLang="zh-CN" sz="2000" dirty="0" err="1">
                <a:solidFill>
                  <a:srgbClr val="0000FF"/>
                </a:solidFill>
              </a:rPr>
              <a:t>n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000" dirty="0">
                <a:solidFill>
                  <a:srgbClr val="0000FF"/>
                </a:solidFill>
              </a:rPr>
              <a:t>)=</a:t>
            </a:r>
            <a:r>
              <a:rPr lang="en-US" altLang="zh-CN" sz="2000" dirty="0" err="1">
                <a:solidFill>
                  <a:srgbClr val="0000FF"/>
                </a:solidFill>
              </a:rPr>
              <a:t>i</a:t>
            </a:r>
            <a:r>
              <a:rPr lang="en-US" altLang="zh-CN" sz="2000" baseline="-25000" dirty="0" err="1">
                <a:solidFill>
                  <a:srgbClr val="0000FF"/>
                </a:solidFill>
              </a:rPr>
              <a:t>k</a:t>
            </a:r>
            <a:r>
              <a:rPr lang="en-US" altLang="zh-CN" sz="2000" dirty="0">
                <a:solidFill>
                  <a:srgbClr val="0000FF"/>
                </a:solidFill>
              </a:rPr>
              <a:t>}</a:t>
            </a:r>
            <a:r>
              <a:rPr lang="zh-CN" altLang="en-US" sz="2000" dirty="0">
                <a:solidFill>
                  <a:srgbClr val="0000FF"/>
                </a:solidFill>
              </a:rPr>
              <a:t>为齐次马氏链的</a:t>
            </a:r>
            <a:r>
              <a:rPr lang="en-US" altLang="zh-CN" sz="2000" dirty="0">
                <a:solidFill>
                  <a:srgbClr val="0000FF"/>
                </a:solidFill>
              </a:rPr>
              <a:t>k</a:t>
            </a:r>
            <a:r>
              <a:rPr lang="zh-CN" altLang="en-US" sz="2000" dirty="0">
                <a:solidFill>
                  <a:srgbClr val="0000FF"/>
                </a:solidFill>
              </a:rPr>
              <a:t>维概率分布。</a:t>
            </a:r>
            <a:endParaRPr lang="zh-CN" altLang="en-US" sz="2000" dirty="0"/>
          </a:p>
        </p:txBody>
      </p:sp>
      <p:graphicFrame>
        <p:nvGraphicFramePr>
          <p:cNvPr id="2723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248963"/>
              </p:ext>
            </p:extLst>
          </p:nvPr>
        </p:nvGraphicFramePr>
        <p:xfrm>
          <a:off x="5481324" y="3116881"/>
          <a:ext cx="5651221" cy="57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65500" imgH="342900" progId="Equation.DSMT4">
                  <p:embed/>
                </p:oleObj>
              </mc:Choice>
              <mc:Fallback>
                <p:oleObj name="Equation" r:id="rId5" imgW="3365500" imgH="342900" progId="Equation.DSMT4">
                  <p:embed/>
                  <p:pic>
                    <p:nvPicPr>
                      <p:cNvPr id="2723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1324" y="3116881"/>
                        <a:ext cx="5651221" cy="576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598382"/>
              </p:ext>
            </p:extLst>
          </p:nvPr>
        </p:nvGraphicFramePr>
        <p:xfrm>
          <a:off x="1864661" y="3720866"/>
          <a:ext cx="4052238" cy="554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3000" imgH="330200" progId="Equation.3">
                  <p:embed/>
                </p:oleObj>
              </mc:Choice>
              <mc:Fallback>
                <p:oleObj name="Equation" r:id="rId7" imgW="2413000" imgH="330200" progId="Equation.3">
                  <p:embed/>
                  <p:pic>
                    <p:nvPicPr>
                      <p:cNvPr id="2723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661" y="3720866"/>
                        <a:ext cx="4052238" cy="554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434911"/>
              </p:ext>
            </p:extLst>
          </p:nvPr>
        </p:nvGraphicFramePr>
        <p:xfrm>
          <a:off x="5975201" y="3744123"/>
          <a:ext cx="4072880" cy="36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25700" imgH="215900" progId="Equation.3">
                  <p:embed/>
                </p:oleObj>
              </mc:Choice>
              <mc:Fallback>
                <p:oleObj name="Equation" r:id="rId9" imgW="2425700" imgH="215900" progId="Equation.3">
                  <p:embed/>
                  <p:pic>
                    <p:nvPicPr>
                      <p:cNvPr id="2723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5201" y="3744123"/>
                        <a:ext cx="4072880" cy="363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143225"/>
              </p:ext>
            </p:extLst>
          </p:nvPr>
        </p:nvGraphicFramePr>
        <p:xfrm>
          <a:off x="2066259" y="4415791"/>
          <a:ext cx="5501960" cy="384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276600" imgH="228600" progId="Equation.DSMT4">
                  <p:embed/>
                </p:oleObj>
              </mc:Choice>
              <mc:Fallback>
                <p:oleObj name="Equation" r:id="rId11" imgW="3276600" imgH="228600" progId="Equation.DSMT4">
                  <p:embed/>
                  <p:pic>
                    <p:nvPicPr>
                      <p:cNvPr id="2723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259" y="4415791"/>
                        <a:ext cx="5501960" cy="3842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339980"/>
              </p:ext>
            </p:extLst>
          </p:nvPr>
        </p:nvGraphicFramePr>
        <p:xfrm>
          <a:off x="1730650" y="5133542"/>
          <a:ext cx="4052238" cy="554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13000" imgH="330200" progId="Equation.3">
                  <p:embed/>
                </p:oleObj>
              </mc:Choice>
              <mc:Fallback>
                <p:oleObj name="Equation" r:id="rId13" imgW="2413000" imgH="330200" progId="Equation.3">
                  <p:embed/>
                  <p:pic>
                    <p:nvPicPr>
                      <p:cNvPr id="27239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0650" y="5133542"/>
                        <a:ext cx="4052238" cy="5541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048551"/>
              </p:ext>
            </p:extLst>
          </p:nvPr>
        </p:nvGraphicFramePr>
        <p:xfrm>
          <a:off x="5803359" y="5181143"/>
          <a:ext cx="6183156" cy="382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3000" imgH="228600" progId="Equation.DSMT4">
                  <p:embed/>
                </p:oleObj>
              </mc:Choice>
              <mc:Fallback>
                <p:oleObj name="Equation" r:id="rId15" imgW="3683000" imgH="228600" progId="Equation.DSMT4">
                  <p:embed/>
                  <p:pic>
                    <p:nvPicPr>
                      <p:cNvPr id="2723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359" y="5181143"/>
                        <a:ext cx="6183156" cy="3826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239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098689"/>
              </p:ext>
            </p:extLst>
          </p:nvPr>
        </p:nvGraphicFramePr>
        <p:xfrm>
          <a:off x="1729212" y="6071326"/>
          <a:ext cx="5492434" cy="573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289300" imgH="342900" progId="Equation.DSMT4">
                  <p:embed/>
                </p:oleObj>
              </mc:Choice>
              <mc:Fallback>
                <p:oleObj name="Equation" r:id="rId17" imgW="3289300" imgH="342900" progId="Equation.DSMT4">
                  <p:embed/>
                  <p:pic>
                    <p:nvPicPr>
                      <p:cNvPr id="2723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212" y="6071326"/>
                        <a:ext cx="5492434" cy="573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13"/>
          <p:cNvSpPr>
            <a:spLocks/>
          </p:cNvSpPr>
          <p:nvPr/>
        </p:nvSpPr>
        <p:spPr bwMode="auto">
          <a:xfrm>
            <a:off x="7811905" y="4248946"/>
            <a:ext cx="3963317" cy="717953"/>
          </a:xfrm>
          <a:prstGeom prst="borderCallout1">
            <a:avLst>
              <a:gd name="adj1" fmla="val 8569"/>
              <a:gd name="adj2" fmla="val -1921"/>
              <a:gd name="adj3" fmla="val -19859"/>
              <a:gd name="adj4" fmla="val -6595"/>
            </a:avLst>
          </a:prstGeom>
          <a:solidFill>
            <a:srgbClr val="96FFFF"/>
          </a:solidFill>
          <a:ln w="25400">
            <a:solidFill>
              <a:srgbClr val="CC00CC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带条件的乘法公式：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P(A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A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|B)=P(A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|B)</a:t>
            </a:r>
            <a:r>
              <a:rPr lang="en-US" altLang="zh-CN" sz="2000" dirty="0"/>
              <a:t>·</a:t>
            </a:r>
            <a:r>
              <a:rPr lang="en-US" altLang="zh-CN" sz="2000" dirty="0">
                <a:sym typeface="Symbol" panose="05050102010706020507" pitchFamily="18" charset="2"/>
              </a:rPr>
              <a:t>P(A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|A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B)</a:t>
            </a:r>
          </a:p>
        </p:txBody>
      </p:sp>
      <p:sp>
        <p:nvSpPr>
          <p:cNvPr id="19" name="AutoShape 14"/>
          <p:cNvSpPr>
            <a:spLocks/>
          </p:cNvSpPr>
          <p:nvPr/>
        </p:nvSpPr>
        <p:spPr bwMode="auto">
          <a:xfrm>
            <a:off x="10396314" y="2643191"/>
            <a:ext cx="1600200" cy="391710"/>
          </a:xfrm>
          <a:prstGeom prst="borderCallout1">
            <a:avLst>
              <a:gd name="adj1" fmla="val 22787"/>
              <a:gd name="adj2" fmla="val -4347"/>
              <a:gd name="adj3" fmla="val 139603"/>
              <a:gd name="adj4" fmla="val -31207"/>
            </a:avLst>
          </a:prstGeom>
          <a:solidFill>
            <a:srgbClr val="96FFFF"/>
          </a:solidFill>
          <a:ln w="25400">
            <a:solidFill>
              <a:srgbClr val="CC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sym typeface="Symbol" panose="05050102010706020507" pitchFamily="18" charset="2"/>
              </a:rPr>
              <a:t>全概率公式</a:t>
            </a:r>
          </a:p>
        </p:txBody>
      </p:sp>
    </p:spTree>
    <p:extLst>
      <p:ext uri="{BB962C8B-B14F-4D97-AF65-F5344CB8AC3E}">
        <p14:creationId xmlns:p14="http://schemas.microsoft.com/office/powerpoint/2010/main" val="336145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2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2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2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8" grpId="0" build="p" autoUpdateAnimBg="0"/>
      <p:bldP spid="18" grpId="0" animBg="1" autoUpdateAnimBg="0"/>
      <p:bldP spid="19" grpId="0" animBg="1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遍历性、极限分布</a:t>
            </a:r>
          </a:p>
        </p:txBody>
      </p:sp>
      <p:sp>
        <p:nvSpPr>
          <p:cNvPr id="194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1775" y="1156474"/>
            <a:ext cx="11469379" cy="98447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 dirty="0">
                <a:sym typeface="Symbol" panose="05050102010706020507" pitchFamily="18" charset="2"/>
              </a:rPr>
              <a:t>设</a:t>
            </a:r>
            <a:r>
              <a:rPr lang="en-US" altLang="zh-CN" dirty="0">
                <a:sym typeface="Symbol" panose="05050102010706020507" pitchFamily="18" charset="2"/>
              </a:rPr>
              <a:t>{X(n), n</a:t>
            </a:r>
            <a:r>
              <a:rPr lang="zh-CN" altLang="en-US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ym typeface="Symbol" panose="05050102010706020507" pitchFamily="18" charset="2"/>
              </a:rPr>
              <a:t>= 0, 1, 2, …}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/>
              <a:t>齐次马氏链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如果对一切状态 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和 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，存在与 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无关的极限</a:t>
            </a:r>
          </a:p>
        </p:txBody>
      </p:sp>
      <p:graphicFrame>
        <p:nvGraphicFramePr>
          <p:cNvPr id="1946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8584507"/>
              </p:ext>
            </p:extLst>
          </p:nvPr>
        </p:nvGraphicFramePr>
        <p:xfrm>
          <a:off x="2822575" y="2013415"/>
          <a:ext cx="4801711" cy="678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81200" imgH="279400" progId="Equation.3">
                  <p:embed/>
                </p:oleObj>
              </mc:Choice>
              <mc:Fallback>
                <p:oleObj name="Equation" r:id="rId3" imgW="1981200" imgH="279400" progId="Equation.3">
                  <p:embed/>
                  <p:pic>
                    <p:nvPicPr>
                      <p:cNvPr id="1946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2575" y="2013415"/>
                        <a:ext cx="4801711" cy="6780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6"/>
          <p:cNvSpPr>
            <a:spLocks noChangeArrowheads="1"/>
          </p:cNvSpPr>
          <p:nvPr/>
        </p:nvSpPr>
        <p:spPr bwMode="auto">
          <a:xfrm>
            <a:off x="307975" y="2910562"/>
            <a:ext cx="4471435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ym typeface="Symbol" panose="05050102010706020507" pitchFamily="18" charset="2"/>
              </a:rPr>
              <a:t>则称此马氏链具有</a:t>
            </a:r>
            <a:r>
              <a:rPr lang="zh-CN" altLang="en-US" sz="2801" dirty="0">
                <a:solidFill>
                  <a:srgbClr val="CC00CC"/>
                </a:solidFill>
                <a:sym typeface="Symbol" panose="05050102010706020507" pitchFamily="18" charset="2"/>
              </a:rPr>
              <a:t>遍历性</a:t>
            </a:r>
            <a:r>
              <a:rPr lang="zh-CN" altLang="en-US" sz="2801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73415" name="Rectangle 7">
            <a:extLst>
              <a:ext uri="{FF2B5EF4-FFF2-40B4-BE49-F238E27FC236}">
                <a16:creationId xmlns:a16="http://schemas.microsoft.com/office/drawing/2014/main" id="{93DE3573-4DEC-4D08-A7A8-F6DAA4F48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" y="3810794"/>
            <a:ext cx="11049000" cy="1950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indent="720144">
              <a:lnSpc>
                <a:spcPct val="150000"/>
              </a:lnSpc>
              <a:buClrTx/>
              <a:buNone/>
              <a:defRPr/>
            </a:pP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如果</a:t>
            </a:r>
            <a:r>
              <a:rPr lang="en-US" altLang="zh-CN" sz="2801" baseline="-25000" dirty="0"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zh-CN" altLang="en-US" sz="2801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＞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0, </a:t>
            </a:r>
            <a:r>
              <a:rPr lang="en-US" altLang="zh-CN" sz="2801" dirty="0" err="1">
                <a:ea typeface="黑体" panose="02010609060101010101" pitchFamily="49" charset="-122"/>
                <a:sym typeface="Symbol" panose="05050102010706020507" pitchFamily="18" charset="2"/>
              </a:rPr>
              <a:t>jE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且         ＝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1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，则称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(</a:t>
            </a:r>
            <a:r>
              <a:rPr lang="en-US" altLang="zh-CN" sz="2801" baseline="-25000" dirty="0"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801" dirty="0" err="1">
                <a:ea typeface="黑体" panose="02010609060101010101" pitchFamily="49" charset="-122"/>
                <a:sym typeface="Symbol" panose="05050102010706020507" pitchFamily="18" charset="2"/>
              </a:rPr>
              <a:t>jE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为齐次马氏链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{X(n), n=0, 1, 2, …}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1" dirty="0">
                <a:solidFill>
                  <a:srgbClr val="CC00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极限分布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或称</a:t>
            </a:r>
            <a:r>
              <a:rPr lang="zh-CN" altLang="en-US" sz="2801" dirty="0">
                <a:solidFill>
                  <a:srgbClr val="CC00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最终分布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记为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  <a:defRPr/>
            </a:pPr>
            <a:r>
              <a:rPr lang="zh-CN" altLang="en-US" sz="2801" dirty="0">
                <a:ea typeface="黑体" panose="02010609060101010101" pitchFamily="49" charset="-122"/>
                <a:sym typeface="Symbol" panose="05050102010706020507" pitchFamily="18" charset="2"/>
              </a:rPr>
              <a:t>＝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(</a:t>
            </a:r>
            <a:r>
              <a:rPr lang="en-US" altLang="zh-CN" sz="2801" baseline="-25000" dirty="0">
                <a:ea typeface="黑体" panose="02010609060101010101" pitchFamily="49" charset="-122"/>
                <a:sym typeface="Symbol" panose="05050102010706020507" pitchFamily="18" charset="2"/>
              </a:rPr>
              <a:t>j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, </a:t>
            </a:r>
            <a:r>
              <a:rPr lang="en-US" altLang="zh-CN" sz="2801" dirty="0" err="1">
                <a:ea typeface="黑体" panose="02010609060101010101" pitchFamily="49" charset="-122"/>
                <a:sym typeface="Symbol" panose="05050102010706020507" pitchFamily="18" charset="2"/>
              </a:rPr>
              <a:t>jE</a:t>
            </a:r>
            <a:r>
              <a:rPr lang="en-US" altLang="zh-CN" sz="2801" dirty="0">
                <a:ea typeface="黑体" panose="02010609060101010101" pitchFamily="49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273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2401239"/>
              </p:ext>
            </p:extLst>
          </p:nvPr>
        </p:nvGraphicFramePr>
        <p:xfrm>
          <a:off x="3965575" y="3886994"/>
          <a:ext cx="762176" cy="712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0835" imgH="355446" progId="Equation.3">
                  <p:embed/>
                </p:oleObj>
              </mc:Choice>
              <mc:Fallback>
                <p:oleObj name="Equation" r:id="rId5" imgW="380835" imgH="355446" progId="Equation.3">
                  <p:embed/>
                  <p:pic>
                    <p:nvPicPr>
                      <p:cNvPr id="2734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575" y="3886994"/>
                        <a:ext cx="762176" cy="712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7474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73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5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5</a:t>
            </a:r>
          </a:p>
        </p:txBody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143265"/>
            <a:ext cx="11582400" cy="1219729"/>
          </a:xfrm>
        </p:spPr>
        <p:txBody>
          <a:bodyPr/>
          <a:lstStyle/>
          <a:p>
            <a:pPr marL="0" indent="719282" algn="just">
              <a:buNone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的状态空间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E={1, 2, …, s}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为有限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若存在正整数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对任意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i,jE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有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(n</a:t>
            </a:r>
            <a:r>
              <a:rPr lang="en-US" altLang="zh-CN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)&gt;0,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则此马氏链是遍历的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且极限分布是方程组</a:t>
            </a:r>
          </a:p>
        </p:txBody>
      </p:sp>
      <p:graphicFrame>
        <p:nvGraphicFramePr>
          <p:cNvPr id="6349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4017358"/>
              </p:ext>
            </p:extLst>
          </p:nvPr>
        </p:nvGraphicFramePr>
        <p:xfrm>
          <a:off x="3812646" y="2485094"/>
          <a:ext cx="4573058" cy="10527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55800" imgH="762120" progId="Equation.3">
                  <p:embed/>
                </p:oleObj>
              </mc:Choice>
              <mc:Fallback>
                <p:oleObj name="Equation" r:id="rId3" imgW="3655800" imgH="762120" progId="Equation.3">
                  <p:embed/>
                  <p:pic>
                    <p:nvPicPr>
                      <p:cNvPr id="6349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2646" y="2485094"/>
                        <a:ext cx="4573058" cy="10527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6" name="Rectangle 6"/>
          <p:cNvSpPr>
            <a:spLocks noChangeArrowheads="1"/>
          </p:cNvSpPr>
          <p:nvPr/>
        </p:nvSpPr>
        <p:spPr bwMode="auto">
          <a:xfrm>
            <a:off x="1047786" y="3920811"/>
            <a:ext cx="1970544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>
                <a:solidFill>
                  <a:srgbClr val="0000FF"/>
                </a:solidFill>
                <a:sym typeface="Symbol" panose="05050102010706020507" pitchFamily="18" charset="2"/>
              </a:rPr>
              <a:t>在满足条件</a:t>
            </a:r>
          </a:p>
        </p:txBody>
      </p:sp>
      <p:graphicFrame>
        <p:nvGraphicFramePr>
          <p:cNvPr id="6349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8792320"/>
              </p:ext>
            </p:extLst>
          </p:nvPr>
        </p:nvGraphicFramePr>
        <p:xfrm>
          <a:off x="3660775" y="4429540"/>
          <a:ext cx="3217020" cy="1082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26120" imgH="774720" progId="Equation.3">
                  <p:embed/>
                </p:oleObj>
              </mc:Choice>
              <mc:Fallback>
                <p:oleObj name="Equation" r:id="rId5" imgW="2526120" imgH="774720" progId="Equation.3">
                  <p:embed/>
                  <p:pic>
                    <p:nvPicPr>
                      <p:cNvPr id="6349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4429540"/>
                        <a:ext cx="3217020" cy="10829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8" name="Rectangle 8"/>
          <p:cNvSpPr>
            <a:spLocks noChangeArrowheads="1"/>
          </p:cNvSpPr>
          <p:nvPr/>
        </p:nvSpPr>
        <p:spPr bwMode="auto">
          <a:xfrm>
            <a:off x="1047786" y="5791994"/>
            <a:ext cx="2327814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0000FF"/>
                </a:solidFill>
                <a:sym typeface="Symbol" panose="05050102010706020507" pitchFamily="18" charset="2"/>
              </a:rPr>
              <a:t>下的唯一解。</a:t>
            </a:r>
          </a:p>
        </p:txBody>
      </p:sp>
    </p:spTree>
    <p:extLst>
      <p:ext uri="{BB962C8B-B14F-4D97-AF65-F5344CB8AC3E}">
        <p14:creationId xmlns:p14="http://schemas.microsoft.com/office/powerpoint/2010/main" val="46600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37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2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2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build="p"/>
      <p:bldP spid="63496" grpId="0"/>
      <p:bldP spid="6349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推论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988983"/>
            <a:ext cx="8078188" cy="83872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zh-CN" altLang="en-US" dirty="0">
                <a:solidFill>
                  <a:srgbClr val="0000FF"/>
                </a:solidFill>
              </a:rPr>
              <a:t>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具有遍历性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</a:t>
            </a:r>
          </a:p>
        </p:txBody>
      </p:sp>
      <p:graphicFrame>
        <p:nvGraphicFramePr>
          <p:cNvPr id="23558" name="Object 4"/>
          <p:cNvGraphicFramePr>
            <a:graphicFrameLocks noChangeAspect="1"/>
          </p:cNvGraphicFramePr>
          <p:nvPr/>
        </p:nvGraphicFramePr>
        <p:xfrm>
          <a:off x="4204850" y="1676788"/>
          <a:ext cx="3799766" cy="681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021120" imgH="457200" progId="Equation.3">
                  <p:embed/>
                </p:oleObj>
              </mc:Choice>
              <mc:Fallback>
                <p:oleObj name="Equation" r:id="rId3" imgW="3021120" imgH="457200" progId="Equation.3">
                  <p:embed/>
                  <p:pic>
                    <p:nvPicPr>
                      <p:cNvPr id="2355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4850" y="1676788"/>
                        <a:ext cx="3799766" cy="6811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CC00CC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5"/>
          <p:cNvSpPr>
            <a:spLocks noChangeArrowheads="1"/>
          </p:cNvSpPr>
          <p:nvPr/>
        </p:nvSpPr>
        <p:spPr bwMode="auto">
          <a:xfrm>
            <a:off x="774700" y="2510850"/>
            <a:ext cx="9668881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即遍历的齐次马氏链的绝对分布与转移概率有相同的极限。</a:t>
            </a:r>
          </a:p>
        </p:txBody>
      </p:sp>
      <p:sp>
        <p:nvSpPr>
          <p:cNvPr id="275462" name="Rectangle 6"/>
          <p:cNvSpPr>
            <a:spLocks noChangeArrowheads="1"/>
          </p:cNvSpPr>
          <p:nvPr/>
        </p:nvSpPr>
        <p:spPr bwMode="auto">
          <a:xfrm>
            <a:off x="774700" y="3364693"/>
            <a:ext cx="3990195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证明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  由绝对分布的性质</a:t>
            </a:r>
          </a:p>
        </p:txBody>
      </p:sp>
      <p:graphicFrame>
        <p:nvGraphicFramePr>
          <p:cNvPr id="275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8066708"/>
              </p:ext>
            </p:extLst>
          </p:nvPr>
        </p:nvGraphicFramePr>
        <p:xfrm>
          <a:off x="4117975" y="3901622"/>
          <a:ext cx="3151917" cy="785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600" imgH="342900" progId="Equation.DSMT4">
                  <p:embed/>
                </p:oleObj>
              </mc:Choice>
              <mc:Fallback>
                <p:oleObj name="Equation" r:id="rId5" imgW="1371600" imgH="342900" progId="Equation.DSMT4">
                  <p:embed/>
                  <p:pic>
                    <p:nvPicPr>
                      <p:cNvPr id="2754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3901622"/>
                        <a:ext cx="3151917" cy="785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5464" name="Rectangle 8"/>
          <p:cNvSpPr>
            <a:spLocks noChangeArrowheads="1"/>
          </p:cNvSpPr>
          <p:nvPr/>
        </p:nvSpPr>
        <p:spPr bwMode="auto">
          <a:xfrm>
            <a:off x="870162" y="4520660"/>
            <a:ext cx="257153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两边对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取极限</a:t>
            </a:r>
          </a:p>
        </p:txBody>
      </p:sp>
      <p:graphicFrame>
        <p:nvGraphicFramePr>
          <p:cNvPr id="2754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875001"/>
              </p:ext>
            </p:extLst>
          </p:nvPr>
        </p:nvGraphicFramePr>
        <p:xfrm>
          <a:off x="902366" y="5471349"/>
          <a:ext cx="994251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254480" imgH="342720" progId="Equation.DSMT4">
                  <p:embed/>
                </p:oleObj>
              </mc:Choice>
              <mc:Fallback>
                <p:oleObj name="Equation" r:id="rId7" imgW="4254480" imgH="342720" progId="Equation.DSMT4">
                  <p:embed/>
                  <p:pic>
                    <p:nvPicPr>
                      <p:cNvPr id="2754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2366" y="5471349"/>
                        <a:ext cx="9942513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969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5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2" grpId="0" autoUpdateAnimBg="0"/>
      <p:bldP spid="275464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6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047990"/>
            <a:ext cx="9677400" cy="80089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设</a:t>
            </a:r>
            <a:r>
              <a:rPr lang="en-US" altLang="zh-CN" dirty="0"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/>
              <a:t>齐次马氏链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若存在一个分</a:t>
            </a:r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7775575" y="1186541"/>
            <a:ext cx="3942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V=(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满足下列条件</a:t>
            </a:r>
          </a:p>
        </p:txBody>
      </p:sp>
      <p:graphicFrame>
        <p:nvGraphicFramePr>
          <p:cNvPr id="2560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033509"/>
              </p:ext>
            </p:extLst>
          </p:nvPr>
        </p:nvGraphicFramePr>
        <p:xfrm>
          <a:off x="2050323" y="1742772"/>
          <a:ext cx="7240676" cy="6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3000" imgH="355600" progId="Equation.DSMT4">
                  <p:embed/>
                </p:oleObj>
              </mc:Choice>
              <mc:Fallback>
                <p:oleObj name="Equation" r:id="rId3" imgW="3683000" imgH="355600" progId="Equation.DSMT4">
                  <p:embed/>
                  <p:pic>
                    <p:nvPicPr>
                      <p:cNvPr id="256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323" y="1742772"/>
                        <a:ext cx="7240676" cy="6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899703" y="2502608"/>
            <a:ext cx="10533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则称此马氏链是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平稳的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V=(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为此马氏链的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平稳分布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，即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891992" y="3225454"/>
            <a:ext cx="777419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性质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6</a:t>
            </a:r>
            <a:r>
              <a:rPr lang="en-US" altLang="zh-CN" sz="2400" dirty="0">
                <a:solidFill>
                  <a:srgbClr val="339933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遍历的齐次马氏链的极限分布是平稳分布。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9F40E1E6-589A-B803-3E44-E9FEFB3AD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328621"/>
              </p:ext>
            </p:extLst>
          </p:nvPr>
        </p:nvGraphicFramePr>
        <p:xfrm>
          <a:off x="3461808" y="5703259"/>
          <a:ext cx="2854986" cy="66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200" imgH="342900" progId="Equation.3">
                  <p:embed/>
                </p:oleObj>
              </mc:Choice>
              <mc:Fallback>
                <p:oleObj name="Equation" r:id="rId5" imgW="1473200" imgH="342900" progId="Equation.3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1808" y="5703259"/>
                        <a:ext cx="2854986" cy="66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>
            <a:extLst>
              <a:ext uri="{FF2B5EF4-FFF2-40B4-BE49-F238E27FC236}">
                <a16:creationId xmlns:a16="http://schemas.microsoft.com/office/drawing/2014/main" id="{72C3370F-008D-228E-E42D-C23E2A9E6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992" y="4074837"/>
            <a:ext cx="1346641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分析：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8BAAD61-52FA-0CDC-6452-5344E90FF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7894" y="4088298"/>
            <a:ext cx="2456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马氏链的遍历性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12133C9-769B-A525-4BA2-9FE9BE7150E7}"/>
                  </a:ext>
                </a:extLst>
              </p:cNvPr>
              <p:cNvSpPr txBox="1"/>
              <p:nvPr/>
            </p:nvSpPr>
            <p:spPr>
              <a:xfrm>
                <a:off x="4226109" y="4079553"/>
                <a:ext cx="3510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12133C9-769B-A525-4BA2-9FE9BE715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6109" y="4079553"/>
                <a:ext cx="351057" cy="369332"/>
              </a:xfrm>
              <a:prstGeom prst="rect">
                <a:avLst/>
              </a:prstGeom>
              <a:blipFill>
                <a:blip r:embed="rId7"/>
                <a:stretch>
                  <a:fillRect l="-10345" r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6">
            <a:extLst>
              <a:ext uri="{FF2B5EF4-FFF2-40B4-BE49-F238E27FC236}">
                <a16:creationId xmlns:a16="http://schemas.microsoft.com/office/drawing/2014/main" id="{7E8DA45F-B8DB-0DF1-17AE-495B88042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630" y="4953794"/>
            <a:ext cx="15170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极限分布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403B8C-3E94-898D-3EF1-BC1F2E2426A1}"/>
                  </a:ext>
                </a:extLst>
              </p:cNvPr>
              <p:cNvSpPr txBox="1"/>
              <p:nvPr/>
            </p:nvSpPr>
            <p:spPr>
              <a:xfrm>
                <a:off x="3416714" y="4977640"/>
                <a:ext cx="35105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7403B8C-3E94-898D-3EF1-BC1F2E242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6714" y="4977640"/>
                <a:ext cx="351057" cy="369332"/>
              </a:xfrm>
              <a:prstGeom prst="rect">
                <a:avLst/>
              </a:prstGeom>
              <a:blipFill>
                <a:blip r:embed="rId8"/>
                <a:stretch>
                  <a:fillRect l="-10345" r="-10345" b="-3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B7456F-1FE0-F4A8-43DA-11D3382E7CD0}"/>
                  </a:ext>
                </a:extLst>
              </p:cNvPr>
              <p:cNvSpPr txBox="1"/>
              <p:nvPr/>
            </p:nvSpPr>
            <p:spPr>
              <a:xfrm>
                <a:off x="4117975" y="4765245"/>
                <a:ext cx="3393686" cy="9380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r>
                        <a:rPr kumimoji="1"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且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kumimoji="1"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kumimoji="1"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3B7456F-1FE0-F4A8-43DA-11D3382E7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975" y="4765245"/>
                <a:ext cx="3393686" cy="938014"/>
              </a:xfrm>
              <a:prstGeom prst="rect">
                <a:avLst/>
              </a:prstGeom>
              <a:blipFill>
                <a:blip r:embed="rId9"/>
                <a:stretch>
                  <a:fillRect l="-373" t="-142667" r="-1493" b="-189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6">
            <a:extLst>
              <a:ext uri="{FF2B5EF4-FFF2-40B4-BE49-F238E27FC236}">
                <a16:creationId xmlns:a16="http://schemas.microsoft.com/office/drawing/2014/main" id="{4C14302C-29B2-D821-686C-C981469F8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066" y="5775809"/>
            <a:ext cx="2456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C- K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0CC148F-B500-F8BA-FFC3-C7A28EC67C23}"/>
                  </a:ext>
                </a:extLst>
              </p:cNvPr>
              <p:cNvSpPr txBox="1"/>
              <p:nvPr/>
            </p:nvSpPr>
            <p:spPr>
              <a:xfrm>
                <a:off x="4869831" y="4078743"/>
                <a:ext cx="3560077" cy="480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CN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sSub>
                        <m:sSubPr>
                          <m:ctrlPr>
                            <a:rPr kumimoji="1"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&gt;0,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kumimoji="1"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br>
                  <a:rPr kumimoji="1" lang="en-US" altLang="zh-CN" b="0" dirty="0">
                    <a:ea typeface="Cambria Math" panose="02040503050406030204" pitchFamily="18" charset="0"/>
                  </a:rPr>
                </a:br>
                <a:endParaRPr kumimoji="1"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0CC148F-B500-F8BA-FFC3-C7A28EC6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831" y="4078743"/>
                <a:ext cx="3560077" cy="480837"/>
              </a:xfrm>
              <a:prstGeom prst="rect">
                <a:avLst/>
              </a:prstGeom>
              <a:blipFill>
                <a:blip r:embed="rId10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634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7" grpId="0" autoUpdateAnimBg="0"/>
      <p:bldP spid="2" grpId="0" autoUpdateAnimBg="0"/>
      <p:bldP spid="8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C4A82-8C0E-8FB9-9CA3-9C2AFCB21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>
            <a:extLst>
              <a:ext uri="{FF2B5EF4-FFF2-40B4-BE49-F238E27FC236}">
                <a16:creationId xmlns:a16="http://schemas.microsoft.com/office/drawing/2014/main" id="{795EDA88-D7F3-FA31-CC27-AAD1E6DF7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6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882AF364-DFF5-415B-B8EE-5608D8DE91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1047990"/>
            <a:ext cx="9677400" cy="80089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设</a:t>
            </a:r>
            <a:r>
              <a:rPr lang="en-US" altLang="zh-CN" dirty="0"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ym typeface="Symbol" panose="05050102010706020507" pitchFamily="18" charset="2"/>
              </a:rPr>
              <a:t>为</a:t>
            </a:r>
            <a:r>
              <a:rPr lang="zh-CN" altLang="en-US" dirty="0"/>
              <a:t>齐次马氏链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zh-CN" altLang="en-US" dirty="0">
                <a:sym typeface="Symbol" panose="05050102010706020507" pitchFamily="18" charset="2"/>
              </a:rPr>
              <a:t>若存在一个分</a:t>
            </a: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E026F257-3EAB-09CB-0B36-A87DAD82F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5575" y="1186541"/>
            <a:ext cx="3942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V=(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满足下列条件</a:t>
            </a:r>
          </a:p>
        </p:txBody>
      </p:sp>
      <p:graphicFrame>
        <p:nvGraphicFramePr>
          <p:cNvPr id="25607" name="Object 5">
            <a:extLst>
              <a:ext uri="{FF2B5EF4-FFF2-40B4-BE49-F238E27FC236}">
                <a16:creationId xmlns:a16="http://schemas.microsoft.com/office/drawing/2014/main" id="{F981E174-4AAA-086B-78D1-3D0E4C015F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0323" y="1742772"/>
          <a:ext cx="7240676" cy="69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3000" imgH="355600" progId="Equation.DSMT4">
                  <p:embed/>
                </p:oleObj>
              </mc:Choice>
              <mc:Fallback>
                <p:oleObj name="Equation" r:id="rId3" imgW="3683000" imgH="355600" progId="Equation.DSMT4">
                  <p:embed/>
                  <p:pic>
                    <p:nvPicPr>
                      <p:cNvPr id="2560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323" y="1742772"/>
                        <a:ext cx="7240676" cy="69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6">
            <a:extLst>
              <a:ext uri="{FF2B5EF4-FFF2-40B4-BE49-F238E27FC236}">
                <a16:creationId xmlns:a16="http://schemas.microsoft.com/office/drawing/2014/main" id="{44B8212F-BF75-1A39-90D2-87F7ABB0E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703" y="2502608"/>
            <a:ext cx="10533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则称此马氏链是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平稳的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称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V=(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为此马氏链的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平稳分布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，即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76487" name="Rectangle 7">
            <a:extLst>
              <a:ext uri="{FF2B5EF4-FFF2-40B4-BE49-F238E27FC236}">
                <a16:creationId xmlns:a16="http://schemas.microsoft.com/office/drawing/2014/main" id="{1EA7C86C-1479-41E2-9F0B-C30E225EA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992" y="3225454"/>
            <a:ext cx="777419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性质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6</a:t>
            </a:r>
            <a:r>
              <a:rPr lang="en-US" altLang="zh-CN" sz="2400" dirty="0">
                <a:solidFill>
                  <a:srgbClr val="339933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遍历的齐次马氏链的极限分布是平稳分布。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276488" name="Rectangle 8">
            <a:extLst>
              <a:ext uri="{FF2B5EF4-FFF2-40B4-BE49-F238E27FC236}">
                <a16:creationId xmlns:a16="http://schemas.microsoft.com/office/drawing/2014/main" id="{9C53EF90-7AAA-3465-6B1A-5DF8B31DC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75" y="3937546"/>
            <a:ext cx="990720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证明</a:t>
            </a:r>
            <a:r>
              <a:rPr lang="zh-CN" altLang="en-US" sz="2400" dirty="0">
                <a:solidFill>
                  <a:srgbClr val="339933"/>
                </a:solidFill>
                <a:latin typeface="+mn-ea"/>
                <a:ea typeface="+mn-ea"/>
              </a:rPr>
              <a:t> </a:t>
            </a:r>
            <a:r>
              <a:rPr lang="zh-CN" altLang="en-US" sz="2400" dirty="0">
                <a:latin typeface="+mn-ea"/>
                <a:ea typeface="+mn-ea"/>
              </a:rPr>
              <a:t>因为齐次马氏链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{X(n), n=0, 1, 2, …}</a:t>
            </a:r>
            <a:r>
              <a:rPr lang="zh-CN" altLang="en-US" sz="2400" dirty="0">
                <a:latin typeface="+mn-ea"/>
                <a:ea typeface="+mn-ea"/>
              </a:rPr>
              <a:t>具有遍历性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zh-CN" altLang="en-US" sz="2400" dirty="0">
                <a:latin typeface="+mn-ea"/>
                <a:ea typeface="+mn-ea"/>
              </a:rPr>
              <a:t>即</a:t>
            </a:r>
          </a:p>
        </p:txBody>
      </p:sp>
      <p:sp>
        <p:nvSpPr>
          <p:cNvPr id="276490" name="Rectangle 10">
            <a:extLst>
              <a:ext uri="{FF2B5EF4-FFF2-40B4-BE49-F238E27FC236}">
                <a16:creationId xmlns:a16="http://schemas.microsoft.com/office/drawing/2014/main" id="{2E3AB3B7-AE17-B3D2-FDC0-A114451EB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75" y="4587448"/>
            <a:ext cx="5006547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故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{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为极限分布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由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C-K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方程</a:t>
            </a:r>
          </a:p>
        </p:txBody>
      </p:sp>
      <p:graphicFrame>
        <p:nvGraphicFramePr>
          <p:cNvPr id="276491" name="Object 11">
            <a:extLst>
              <a:ext uri="{FF2B5EF4-FFF2-40B4-BE49-F238E27FC236}">
                <a16:creationId xmlns:a16="http://schemas.microsoft.com/office/drawing/2014/main" id="{6E8D226D-5250-9581-CE8A-0C00A4F5B9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8217" y="4586146"/>
          <a:ext cx="2854986" cy="66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73200" imgH="342900" progId="Equation.3">
                  <p:embed/>
                </p:oleObj>
              </mc:Choice>
              <mc:Fallback>
                <p:oleObj name="Equation" r:id="rId5" imgW="1473200" imgH="342900" progId="Equation.3">
                  <p:embed/>
                  <p:pic>
                    <p:nvPicPr>
                      <p:cNvPr id="27649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217" y="4586146"/>
                        <a:ext cx="2854986" cy="66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2" name="Rectangle 12">
            <a:extLst>
              <a:ext uri="{FF2B5EF4-FFF2-40B4-BE49-F238E27FC236}">
                <a16:creationId xmlns:a16="http://schemas.microsoft.com/office/drawing/2014/main" id="{14ED3144-1B6E-B594-E92C-DC1AF7AA8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1975" y="5313847"/>
            <a:ext cx="1945137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令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→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有：</a:t>
            </a:r>
          </a:p>
        </p:txBody>
      </p:sp>
      <p:graphicFrame>
        <p:nvGraphicFramePr>
          <p:cNvPr id="276493" name="Object 13">
            <a:extLst>
              <a:ext uri="{FF2B5EF4-FFF2-40B4-BE49-F238E27FC236}">
                <a16:creationId xmlns:a16="http://schemas.microsoft.com/office/drawing/2014/main" id="{6BF0A131-EF3A-013C-251A-6E5FC05EF7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3175" y="5313847"/>
          <a:ext cx="1753006" cy="71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7836" imgH="342751" progId="Equation.3">
                  <p:embed/>
                </p:oleObj>
              </mc:Choice>
              <mc:Fallback>
                <p:oleObj name="Equation" r:id="rId7" imgW="837836" imgH="342751" progId="Equation.3">
                  <p:embed/>
                  <p:pic>
                    <p:nvPicPr>
                      <p:cNvPr id="27649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5313847"/>
                        <a:ext cx="1753006" cy="719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494" name="Rectangle 14">
            <a:extLst>
              <a:ext uri="{FF2B5EF4-FFF2-40B4-BE49-F238E27FC236}">
                <a16:creationId xmlns:a16="http://schemas.microsoft.com/office/drawing/2014/main" id="{04AA3D31-FCD3-9C59-D18B-EC0A35F69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1655" y="6097410"/>
            <a:ext cx="7952040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(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为马氏链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{X(n), n=0, 1, 2, …}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的平稳分布。</a:t>
            </a:r>
            <a:endParaRPr lang="zh-CN" altLang="en-US"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68010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76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6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7" grpId="0" autoUpdateAnimBg="0"/>
      <p:bldP spid="276488" grpId="0" autoUpdateAnimBg="0"/>
      <p:bldP spid="276490" grpId="0" autoUpdateAnimBg="0"/>
      <p:bldP spid="276492" grpId="0" autoUpdateAnimBg="0"/>
      <p:bldP spid="276494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E4490-711D-29F6-92AD-EE936F09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>
            <a:extLst>
              <a:ext uri="{FF2B5EF4-FFF2-40B4-BE49-F238E27FC236}">
                <a16:creationId xmlns:a16="http://schemas.microsoft.com/office/drawing/2014/main" id="{3CED1602-C1A4-F00A-BE7C-C48007D151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7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CA4136A4-72B1-3921-D7D1-EAD023CFA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7975" y="1106745"/>
            <a:ext cx="10972800" cy="1500534"/>
          </a:xfrm>
        </p:spPr>
        <p:txBody>
          <a:bodyPr>
            <a:normAutofit/>
          </a:bodyPr>
          <a:lstStyle/>
          <a:p>
            <a:pPr marL="0" indent="720144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的平稳分布为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则有</a:t>
            </a:r>
          </a:p>
          <a:p>
            <a:pPr marL="0" indent="0" algn="ctr">
              <a:buNone/>
              <a:defRPr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n=0, 1, 2, …</a:t>
            </a:r>
          </a:p>
        </p:txBody>
      </p:sp>
      <p:sp>
        <p:nvSpPr>
          <p:cNvPr id="277508" name="Rectangle 4">
            <a:extLst>
              <a:ext uri="{FF2B5EF4-FFF2-40B4-BE49-F238E27FC236}">
                <a16:creationId xmlns:a16="http://schemas.microsoft.com/office/drawing/2014/main" id="{CAC17627-4529-37E2-DF0E-DA4FB8D0D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5" y="2476997"/>
            <a:ext cx="7774199" cy="56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1" dirty="0">
                <a:solidFill>
                  <a:srgbClr val="CC00CC"/>
                </a:solidFill>
                <a:latin typeface="+mn-ea"/>
                <a:ea typeface="+mn-ea"/>
              </a:rPr>
              <a:t>分析</a:t>
            </a:r>
            <a:endParaRPr lang="zh-CN" altLang="en-US" sz="2801" dirty="0">
              <a:latin typeface="+mn-ea"/>
              <a:ea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156A5C-EDAA-F035-7AB3-22754CE58EE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678909" y="2689497"/>
            <a:ext cx="7545546" cy="2678276"/>
          </a:xfrm>
          <a:prstGeom prst="rect">
            <a:avLst/>
          </a:prstGeom>
          <a:blipFill>
            <a:blip r:embed="rId3"/>
            <a:stretch>
              <a:fillRect l="-1212"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60F787-D968-E8E8-F7EE-D506DBC621B9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218545" y="2637142"/>
            <a:ext cx="2387755" cy="988769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3B684EB6-4A1E-3C58-C1A9-E62CCC815D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433743"/>
              </p:ext>
            </p:extLst>
          </p:nvPr>
        </p:nvGraphicFramePr>
        <p:xfrm>
          <a:off x="4498975" y="3835583"/>
          <a:ext cx="3904567" cy="724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54000" imgH="342720" progId="Equation.DSMT4">
                  <p:embed/>
                </p:oleObj>
              </mc:Choice>
              <mc:Fallback>
                <p:oleObj name="Equation" r:id="rId5" imgW="1854000" imgH="342720" progId="Equation.DSMT4">
                  <p:embed/>
                  <p:pic>
                    <p:nvPicPr>
                      <p:cNvPr id="5" name="Object 5">
                        <a:extLst>
                          <a:ext uri="{FF2B5EF4-FFF2-40B4-BE49-F238E27FC236}">
                            <a16:creationId xmlns:a16="http://schemas.microsoft.com/office/drawing/2014/main" id="{33EAF074-ADB2-40F1-A3E2-557A1BE188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3835583"/>
                        <a:ext cx="3904567" cy="724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727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7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F7A6ACF9-91E4-436F-BE44-CE6D83485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7975" y="1106745"/>
            <a:ext cx="10972800" cy="1500534"/>
          </a:xfrm>
        </p:spPr>
        <p:txBody>
          <a:bodyPr>
            <a:normAutofit/>
          </a:bodyPr>
          <a:lstStyle/>
          <a:p>
            <a:pPr marL="0" indent="720144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的平稳分布为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则有</a:t>
            </a:r>
          </a:p>
          <a:p>
            <a:pPr marL="0" indent="0" algn="ctr">
              <a:buNone/>
              <a:defRPr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n=0, 1, 2, …</a:t>
            </a:r>
          </a:p>
        </p:txBody>
      </p:sp>
      <p:sp>
        <p:nvSpPr>
          <p:cNvPr id="277508" name="Rectangle 4"/>
          <p:cNvSpPr>
            <a:spLocks noChangeArrowheads="1"/>
          </p:cNvSpPr>
          <p:nvPr/>
        </p:nvSpPr>
        <p:spPr bwMode="auto">
          <a:xfrm>
            <a:off x="917575" y="2476997"/>
            <a:ext cx="7774199" cy="565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1" dirty="0">
                <a:solidFill>
                  <a:srgbClr val="CC00CC"/>
                </a:solidFill>
                <a:latin typeface="+mn-ea"/>
                <a:ea typeface="+mn-ea"/>
              </a:rPr>
              <a:t>证明</a:t>
            </a:r>
            <a:r>
              <a:rPr lang="zh-CN" altLang="en-US" sz="2801" dirty="0">
                <a:solidFill>
                  <a:srgbClr val="339933"/>
                </a:solidFill>
                <a:latin typeface="+mn-ea"/>
                <a:ea typeface="+mn-ea"/>
              </a:rPr>
              <a:t>  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由平稳分布的定义和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C-K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方程得</a:t>
            </a:r>
            <a:endParaRPr lang="zh-CN" altLang="en-US" sz="2801" dirty="0">
              <a:latin typeface="+mn-ea"/>
              <a:ea typeface="+mn-ea"/>
            </a:endParaRPr>
          </a:p>
        </p:txBody>
      </p:sp>
      <p:graphicFrame>
        <p:nvGraphicFramePr>
          <p:cNvPr id="277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129907"/>
              </p:ext>
            </p:extLst>
          </p:nvPr>
        </p:nvGraphicFramePr>
        <p:xfrm>
          <a:off x="1679575" y="3418114"/>
          <a:ext cx="65500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11480" imgH="291960" progId="Equation.DSMT4">
                  <p:embed/>
                </p:oleObj>
              </mc:Choice>
              <mc:Fallback>
                <p:oleObj name="Equation" r:id="rId3" imgW="3111480" imgH="291960" progId="Equation.DSMT4">
                  <p:embed/>
                  <p:pic>
                    <p:nvPicPr>
                      <p:cNvPr id="27750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418114"/>
                        <a:ext cx="65500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0" name="Rectangle 6"/>
          <p:cNvSpPr>
            <a:spLocks noChangeArrowheads="1"/>
          </p:cNvSpPr>
          <p:nvPr/>
        </p:nvSpPr>
        <p:spPr bwMode="auto">
          <a:xfrm>
            <a:off x="1603375" y="4254662"/>
            <a:ext cx="2876108" cy="523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即有：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en-US" altLang="zh-CN" sz="2801" baseline="50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77511" name="Rectangle 7"/>
          <p:cNvSpPr>
            <a:spLocks noChangeArrowheads="1"/>
          </p:cNvSpPr>
          <p:nvPr/>
        </p:nvSpPr>
        <p:spPr bwMode="auto">
          <a:xfrm>
            <a:off x="1588407" y="5055092"/>
            <a:ext cx="4114165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容易由数学归纳法证得：</a:t>
            </a:r>
          </a:p>
        </p:txBody>
      </p:sp>
      <p:graphicFrame>
        <p:nvGraphicFramePr>
          <p:cNvPr id="2775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718986"/>
              </p:ext>
            </p:extLst>
          </p:nvPr>
        </p:nvGraphicFramePr>
        <p:xfrm>
          <a:off x="5665833" y="5055092"/>
          <a:ext cx="18859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8080" imgH="291960" progId="Equation.DSMT4">
                  <p:embed/>
                </p:oleObj>
              </mc:Choice>
              <mc:Fallback>
                <p:oleObj name="Equation" r:id="rId5" imgW="838080" imgH="291960" progId="Equation.DSMT4">
                  <p:embed/>
                  <p:pic>
                    <p:nvPicPr>
                      <p:cNvPr id="27751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5833" y="5055092"/>
                        <a:ext cx="18859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3" name="Rectangle 9"/>
          <p:cNvSpPr>
            <a:spLocks noChangeArrowheads="1"/>
          </p:cNvSpPr>
          <p:nvPr/>
        </p:nvSpPr>
        <p:spPr bwMode="auto">
          <a:xfrm>
            <a:off x="1588407" y="5951305"/>
            <a:ext cx="3221784" cy="523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即证得：</a:t>
            </a:r>
            <a:r>
              <a:rPr lang="en-US" altLang="zh-CN" sz="2801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801" dirty="0" err="1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en-US" altLang="zh-CN" sz="2801" baseline="50000" dirty="0" err="1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801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zh-CN" altLang="en-US" sz="280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568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  <p:bldP spid="277510" grpId="0" autoUpdateAnimBg="0"/>
      <p:bldP spid="277511" grpId="0" autoUpdateAnimBg="0"/>
      <p:bldP spid="27751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7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F7A6ACF9-91E4-436F-BE44-CE6D834851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7975" y="1106745"/>
            <a:ext cx="10972800" cy="1500534"/>
          </a:xfrm>
        </p:spPr>
        <p:txBody>
          <a:bodyPr>
            <a:normAutofit/>
          </a:bodyPr>
          <a:lstStyle/>
          <a:p>
            <a:pPr marL="0" indent="720144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的平稳分布为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则有</a:t>
            </a:r>
          </a:p>
          <a:p>
            <a:pPr marL="0" indent="0" algn="ctr">
              <a:buNone/>
              <a:defRPr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n=0, 1, 2, …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D8B2BDE3-8852-4E63-A4FB-E0810A88F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2515394"/>
            <a:ext cx="9601200" cy="2797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  <a:defRPr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证明  </a:t>
            </a:r>
            <a:r>
              <a:rPr lang="zh-CN" altLang="en-US" sz="2400" dirty="0">
                <a:latin typeface="+mn-ea"/>
                <a:ea typeface="+mn-ea"/>
              </a:rPr>
              <a:t>由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平稳分布的定义：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        即</a:t>
            </a:r>
            <a:r>
              <a:rPr lang="en-US" altLang="zh-CN" sz="2400" dirty="0">
                <a:latin typeface="+mn-ea"/>
                <a:ea typeface="+mn-ea"/>
              </a:rPr>
              <a:t>n=1</a:t>
            </a:r>
            <a:r>
              <a:rPr lang="zh-CN" altLang="en-US" sz="2400" dirty="0">
                <a:latin typeface="+mn-ea"/>
                <a:ea typeface="+mn-ea"/>
              </a:rPr>
              <a:t>时结论成立。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        假设</a:t>
            </a:r>
            <a:r>
              <a:rPr lang="en-US" altLang="zh-CN" sz="2400" dirty="0">
                <a:latin typeface="+mn-ea"/>
                <a:ea typeface="+mn-ea"/>
              </a:rPr>
              <a:t>n=k</a:t>
            </a:r>
            <a:r>
              <a:rPr lang="zh-CN" altLang="en-US" sz="2400" dirty="0">
                <a:latin typeface="+mn-ea"/>
                <a:ea typeface="+mn-ea"/>
              </a:rPr>
              <a:t>时结论成立，即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en-US" altLang="zh-CN" sz="2400" baseline="50000" dirty="0" err="1"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baseline="5000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        则</a:t>
            </a:r>
            <a:r>
              <a:rPr lang="en-US" altLang="zh-CN" sz="2400" dirty="0">
                <a:latin typeface="+mn-ea"/>
                <a:ea typeface="+mn-ea"/>
              </a:rPr>
              <a:t>n=k+1</a:t>
            </a:r>
            <a:r>
              <a:rPr lang="zh-CN" altLang="en-US" sz="2400" dirty="0">
                <a:latin typeface="+mn-ea"/>
                <a:ea typeface="+mn-ea"/>
              </a:rPr>
              <a:t>时，</a:t>
            </a:r>
            <a:endParaRPr lang="en-US" altLang="zh-CN" sz="2400" dirty="0">
              <a:latin typeface="+mn-ea"/>
              <a:ea typeface="+mn-ea"/>
            </a:endParaRPr>
          </a:p>
          <a:p>
            <a:pPr algn="ctr"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en-US" altLang="zh-CN" sz="2400" baseline="50000" dirty="0">
                <a:latin typeface="+mn-ea"/>
                <a:ea typeface="+mn-ea"/>
                <a:sym typeface="Symbol" panose="05050102010706020507" pitchFamily="18" charset="2"/>
              </a:rPr>
              <a:t>k+1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en-US" altLang="zh-CN" sz="2400" baseline="50000" dirty="0" err="1">
                <a:latin typeface="+mn-ea"/>
                <a:ea typeface="+mn-ea"/>
                <a:sym typeface="Symbol" panose="05050102010706020507" pitchFamily="18" charset="2"/>
              </a:rPr>
              <a:t>k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) P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VP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 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V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endParaRPr lang="en-US" altLang="zh-CN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28318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齐次马氏链的性质</a:t>
            </a:r>
            <a:r>
              <a:rPr lang="en-US" altLang="zh-CN"/>
              <a:t>8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3A33139D-D11A-4355-87FA-B4835BA19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1047992"/>
            <a:ext cx="11125200" cy="2610402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如果齐次马氏链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的初始分布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(0),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恰好是平稳分布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则对一切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有</a:t>
            </a:r>
          </a:p>
          <a:p>
            <a:pPr marL="0" indent="0" algn="ctr">
              <a:buNone/>
              <a:defRPr/>
            </a:pP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(n)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(0),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	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n=0, 1, 2, …,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即            。</a:t>
            </a:r>
          </a:p>
        </p:txBody>
      </p:sp>
      <p:graphicFrame>
        <p:nvGraphicFramePr>
          <p:cNvPr id="2970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241168"/>
              </p:ext>
            </p:extLst>
          </p:nvPr>
        </p:nvGraphicFramePr>
        <p:xfrm>
          <a:off x="1199016" y="2787278"/>
          <a:ext cx="1111507" cy="62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391" imgH="253890" progId="Equation.DSMT4">
                  <p:embed/>
                </p:oleObj>
              </mc:Choice>
              <mc:Fallback>
                <p:oleObj name="Equation" r:id="rId3" imgW="482391" imgH="253890" progId="Equation.DSMT4">
                  <p:embed/>
                  <p:pic>
                    <p:nvPicPr>
                      <p:cNvPr id="2970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016" y="2787278"/>
                        <a:ext cx="1111507" cy="628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3" name="Rectangle 5"/>
          <p:cNvSpPr>
            <a:spLocks noChangeArrowheads="1"/>
          </p:cNvSpPr>
          <p:nvPr/>
        </p:nvSpPr>
        <p:spPr bwMode="auto">
          <a:xfrm>
            <a:off x="953407" y="3520150"/>
            <a:ext cx="1059180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证明</a:t>
            </a:r>
            <a:r>
              <a:rPr lang="zh-CN" altLang="en-US" sz="2400" dirty="0">
                <a:solidFill>
                  <a:srgbClr val="339933"/>
                </a:solidFill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设初始分布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{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是平稳分布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由性质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和性质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7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得</a:t>
            </a:r>
          </a:p>
        </p:txBody>
      </p:sp>
      <p:graphicFrame>
        <p:nvGraphicFramePr>
          <p:cNvPr id="278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6849981"/>
              </p:ext>
            </p:extLst>
          </p:nvPr>
        </p:nvGraphicFramePr>
        <p:xfrm>
          <a:off x="2893349" y="4196764"/>
          <a:ext cx="6711916" cy="722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87700" imgH="342900" progId="Equation.DSMT4">
                  <p:embed/>
                </p:oleObj>
              </mc:Choice>
              <mc:Fallback>
                <p:oleObj name="Equation" r:id="rId5" imgW="3187700" imgH="342900" progId="Equation.DSMT4">
                  <p:embed/>
                  <p:pic>
                    <p:nvPicPr>
                      <p:cNvPr id="2785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349" y="4196764"/>
                        <a:ext cx="6711916" cy="7224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6" name="Rectangle 8"/>
          <p:cNvSpPr>
            <a:spLocks noChangeArrowheads="1"/>
          </p:cNvSpPr>
          <p:nvPr/>
        </p:nvSpPr>
        <p:spPr bwMode="auto">
          <a:xfrm>
            <a:off x="920296" y="5114388"/>
            <a:ext cx="10134600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0" rIns="36008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   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由此性质可知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如果齐次马氏链的初始分布为平稳分布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则绝对分布将始终等于初始分布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而不随时间的推移而改变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即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系统具有平稳性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814558"/>
              </p:ext>
            </p:extLst>
          </p:nvPr>
        </p:nvGraphicFramePr>
        <p:xfrm>
          <a:off x="3430407" y="6105964"/>
          <a:ext cx="6719855" cy="628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921000" imgH="254000" progId="Equation.DSMT4">
                  <p:embed/>
                </p:oleObj>
              </mc:Choice>
              <mc:Fallback>
                <p:oleObj name="Equation" r:id="rId7" imgW="2921000" imgH="254000" progId="Equation.DSMT4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407" y="6105964"/>
                        <a:ext cx="6719855" cy="6287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>
            <a:extLst>
              <a:ext uri="{FF2B5EF4-FFF2-40B4-BE49-F238E27FC236}">
                <a16:creationId xmlns:a16="http://schemas.microsoft.com/office/drawing/2014/main" id="{EA92D1F9-77E1-17BA-74A3-7FE392A3C5C5}"/>
              </a:ext>
            </a:extLst>
          </p:cNvPr>
          <p:cNvGrpSpPr/>
          <p:nvPr/>
        </p:nvGrpSpPr>
        <p:grpSpPr>
          <a:xfrm>
            <a:off x="0" y="4937089"/>
            <a:ext cx="12042775" cy="561304"/>
            <a:chOff x="-19410" y="2803171"/>
            <a:chExt cx="12217471" cy="56130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CFB5D33-E4B2-7F33-09DC-BFD8BE73C89F}"/>
                </a:ext>
              </a:extLst>
            </p:cNvPr>
            <p:cNvGrpSpPr/>
            <p:nvPr/>
          </p:nvGrpSpPr>
          <p:grpSpPr>
            <a:xfrm>
              <a:off x="-19410" y="2803171"/>
              <a:ext cx="12217471" cy="516657"/>
              <a:chOff x="2567559" y="1836536"/>
              <a:chExt cx="12217471" cy="516657"/>
            </a:xfrm>
          </p:grpSpPr>
          <p:sp>
            <p:nvSpPr>
              <p:cNvPr id="2" name="Rectangle 5">
                <a:extLst>
                  <a:ext uri="{FF2B5EF4-FFF2-40B4-BE49-F238E27FC236}">
                    <a16:creationId xmlns:a16="http://schemas.microsoft.com/office/drawing/2014/main" id="{D23DA9F6-6C3B-D524-9524-C9EA949F5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7559" y="1855236"/>
                <a:ext cx="7478676" cy="497957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wrap="square" anchorCtr="1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CC00CC"/>
                  </a:buClr>
                  <a:buAutoNum type="arabicParenR"/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性质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3 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绝对分布由初始分布和转移概率确定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,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+mn-ea"/>
                    <a:ea typeface="+mn-ea"/>
                  </a:rPr>
                  <a:t>且满足</a:t>
                </a:r>
                <a:endPara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endParaRPr>
              </a:p>
            </p:txBody>
          </p:sp>
          <p:graphicFrame>
            <p:nvGraphicFramePr>
              <p:cNvPr id="3" name="Object 13">
                <a:extLst>
                  <a:ext uri="{FF2B5EF4-FFF2-40B4-BE49-F238E27FC236}">
                    <a16:creationId xmlns:a16="http://schemas.microsoft.com/office/drawing/2014/main" id="{ED818DB8-B656-6BAA-A7C2-31B5982A830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50195772"/>
                  </p:ext>
                </p:extLst>
              </p:nvPr>
            </p:nvGraphicFramePr>
            <p:xfrm>
              <a:off x="13337230" y="1836536"/>
              <a:ext cx="1447800" cy="4979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9" imgW="1294920" imgH="393840" progId="Equation.3">
                      <p:embed/>
                    </p:oleObj>
                  </mc:Choice>
                  <mc:Fallback>
                    <p:oleObj name="Equation" r:id="rId9" imgW="1294920" imgH="393840" progId="Equation.3">
                      <p:embed/>
                      <p:pic>
                        <p:nvPicPr>
                          <p:cNvPr id="271373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37230" y="1836536"/>
                            <a:ext cx="1447800" cy="497957"/>
                          </a:xfrm>
                          <a:prstGeom prst="rect">
                            <a:avLst/>
                          </a:prstGeom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Object 11">
              <a:extLst>
                <a:ext uri="{FF2B5EF4-FFF2-40B4-BE49-F238E27FC236}">
                  <a16:creationId xmlns:a16="http://schemas.microsoft.com/office/drawing/2014/main" id="{098B8C92-AAF2-D67A-0CE7-06687110714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5631617"/>
                </p:ext>
              </p:extLst>
            </p:nvPr>
          </p:nvGraphicFramePr>
          <p:xfrm>
            <a:off x="7459265" y="2812768"/>
            <a:ext cx="2907110" cy="551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3287520" imgH="584280" progId="Equation.3">
                    <p:embed/>
                  </p:oleObj>
                </mc:Choice>
                <mc:Fallback>
                  <p:oleObj name="Equation" r:id="rId11" imgW="3287520" imgH="584280" progId="Equation.3">
                    <p:embed/>
                    <p:pic>
                      <p:nvPicPr>
                        <p:cNvPr id="27137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59265" y="2812768"/>
                          <a:ext cx="2907110" cy="551707"/>
                        </a:xfrm>
                        <a:prstGeom prst="rect">
                          <a:avLst/>
                        </a:prstGeom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D9CBF81-B327-7371-DCBD-CA07BB3DD563}"/>
                </a:ext>
              </a:extLst>
            </p:cNvPr>
            <p:cNvSpPr txBox="1"/>
            <p:nvPr/>
          </p:nvSpPr>
          <p:spPr>
            <a:xfrm>
              <a:off x="10332256" y="2849430"/>
              <a:ext cx="417044" cy="46166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或</a:t>
              </a:r>
              <a:endParaRPr lang="zh-CN" altLang="en-US" dirty="0"/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F0E05946-CABA-0423-94B2-EA22105772C7}"/>
              </a:ext>
            </a:extLst>
          </p:cNvPr>
          <p:cNvSpPr txBox="1">
            <a:spLocks noChangeArrowheads="1"/>
          </p:cNvSpPr>
          <p:nvPr/>
        </p:nvSpPr>
        <p:spPr>
          <a:xfrm>
            <a:off x="285280" y="5768286"/>
            <a:ext cx="11293037" cy="7502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121917" tIns="60958" rIns="121917" bIns="60958" rtlCol="0">
            <a:normAutofit fontScale="925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性质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7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  设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的平稳分布为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{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baseline="-25000" dirty="0" err="1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},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则有 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＝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VP</a:t>
            </a:r>
            <a:r>
              <a:rPr lang="en-US" altLang="zh-CN" baseline="50000" dirty="0" err="1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,n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=0, 1, 2, …</a:t>
            </a:r>
          </a:p>
        </p:txBody>
      </p:sp>
    </p:spTree>
    <p:extLst>
      <p:ext uri="{BB962C8B-B14F-4D97-AF65-F5344CB8AC3E}">
        <p14:creationId xmlns:p14="http://schemas.microsoft.com/office/powerpoint/2010/main" val="125100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utoUpdateAnimBg="0"/>
      <p:bldP spid="278536" grpId="0" autoUpdateAnimBg="0"/>
      <p:bldP spid="9" grpId="0" animBg="1"/>
      <p:bldP spid="9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重要推论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6932" y="1067594"/>
            <a:ext cx="9956195" cy="2019767"/>
          </a:xfrm>
          <a:solidFill>
            <a:srgbClr val="96FFFF">
              <a:alpha val="50195"/>
            </a:srgbClr>
          </a:solidFill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设</a:t>
            </a:r>
            <a:r>
              <a:rPr lang="zh-CN" altLang="en-US" dirty="0">
                <a:solidFill>
                  <a:srgbClr val="CC00CC"/>
                </a:solidFill>
              </a:rPr>
              <a:t>齐次马氏链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{X(n), n=0, 1, 2, …}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的状态空间有限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E={1, 2, …, s}, 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若存在正整数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n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对任意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i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jE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, n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0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步转移概率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olidFill>
                  <a:srgbClr val="CC00CC"/>
                </a:solidFill>
                <a:sym typeface="Symbol" panose="05050102010706020507" pitchFamily="18" charset="2"/>
              </a:rPr>
              <a:t>ij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(n</a:t>
            </a:r>
            <a:r>
              <a:rPr lang="en-US" altLang="zh-CN" baseline="-25000" dirty="0">
                <a:solidFill>
                  <a:srgbClr val="CC00CC"/>
                </a:solidFill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)&gt;0, 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则此链是遍历的</a:t>
            </a:r>
            <a:r>
              <a:rPr lang="en-US" altLang="zh-CN" dirty="0">
                <a:solidFill>
                  <a:srgbClr val="CC00CC"/>
                </a:solidFill>
                <a:sym typeface="Symbol" panose="05050102010706020507" pitchFamily="18" charset="2"/>
              </a:rPr>
              <a:t>, </a:t>
            </a:r>
            <a:r>
              <a:rPr lang="zh-CN" altLang="en-US" dirty="0">
                <a:solidFill>
                  <a:srgbClr val="CC00CC"/>
                </a:solidFill>
                <a:sym typeface="Symbol" panose="05050102010706020507" pitchFamily="18" charset="2"/>
              </a:rPr>
              <a:t>且极限分布等于平稳分布。</a:t>
            </a:r>
          </a:p>
        </p:txBody>
      </p:sp>
      <p:graphicFrame>
        <p:nvGraphicFramePr>
          <p:cNvPr id="317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298676"/>
              </p:ext>
            </p:extLst>
          </p:nvPr>
        </p:nvGraphicFramePr>
        <p:xfrm>
          <a:off x="3355975" y="3229264"/>
          <a:ext cx="4343858" cy="1582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32120" imgH="1295280" progId="Equation.DSMT4">
                  <p:embed/>
                </p:oleObj>
              </mc:Choice>
              <mc:Fallback>
                <p:oleObj name="Equation" r:id="rId3" imgW="3732120" imgH="1295280" progId="Equation.DSMT4">
                  <p:embed/>
                  <p:pic>
                    <p:nvPicPr>
                      <p:cNvPr id="317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5975" y="3229264"/>
                        <a:ext cx="4343858" cy="1582980"/>
                      </a:xfrm>
                      <a:prstGeom prst="rect">
                        <a:avLst/>
                      </a:prstGeom>
                      <a:solidFill>
                        <a:srgbClr val="96FFFF">
                          <a:alpha val="50195"/>
                        </a:srgb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612775" y="4954147"/>
            <a:ext cx="9982200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indent="719138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此结果在概率上可以具体求出平稳分布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在代数上是方程组的求解问题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即系数矩阵是转移矩阵的方程组的求解问题。</a:t>
            </a:r>
          </a:p>
        </p:txBody>
      </p:sp>
    </p:spTree>
    <p:extLst>
      <p:ext uri="{BB962C8B-B14F-4D97-AF65-F5344CB8AC3E}">
        <p14:creationId xmlns:p14="http://schemas.microsoft.com/office/powerpoint/2010/main" val="18162252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3</a:t>
            </a:r>
          </a:p>
        </p:txBody>
      </p:sp>
      <p:sp>
        <p:nvSpPr>
          <p:cNvPr id="757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4175" y="1143265"/>
            <a:ext cx="11430000" cy="2173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在传送数字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的通讯系统中</a:t>
            </a:r>
            <a:r>
              <a:rPr lang="en-US" altLang="zh-CN" dirty="0"/>
              <a:t>, </a:t>
            </a:r>
            <a:r>
              <a:rPr lang="zh-CN" altLang="en-US" dirty="0"/>
              <a:t>每一传送数字必须经过若干级。第</a:t>
            </a:r>
            <a:r>
              <a:rPr lang="en-US" altLang="zh-CN" dirty="0" err="1"/>
              <a:t>i</a:t>
            </a:r>
            <a:r>
              <a:rPr lang="zh-CN" altLang="en-US" dirty="0"/>
              <a:t>级正确传送的概率为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en-US" altLang="zh-CN" dirty="0"/>
              <a:t>, X(0)</a:t>
            </a:r>
            <a:r>
              <a:rPr lang="zh-CN" altLang="en-US" dirty="0"/>
              <a:t>表示进入系统第一级的数字</a:t>
            </a:r>
            <a:r>
              <a:rPr lang="en-US" altLang="zh-CN" dirty="0"/>
              <a:t>, X(n)</a:t>
            </a:r>
            <a:r>
              <a:rPr lang="zh-CN" altLang="en-US" dirty="0"/>
              <a:t>表示离开通讯系统第</a:t>
            </a:r>
            <a:r>
              <a:rPr lang="en-US" altLang="zh-CN" dirty="0"/>
              <a:t>n</a:t>
            </a:r>
            <a:r>
              <a:rPr lang="zh-CN" altLang="en-US" dirty="0"/>
              <a:t>级的数字。</a:t>
            </a:r>
            <a:r>
              <a:rPr lang="en-US" altLang="zh-CN" dirty="0"/>
              <a:t>{X(n), n=0, 1, 2, …}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1}</a:t>
            </a:r>
            <a:r>
              <a:rPr lang="zh-CN" altLang="en-US" dirty="0"/>
              <a:t>的齐次马氏链。若更设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p(</a:t>
            </a:r>
            <a:r>
              <a:rPr lang="zh-CN" altLang="en-US" dirty="0"/>
              <a:t>与状态无关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C00000"/>
                </a:solidFill>
              </a:rPr>
              <a:t>试讨论其遍历性，并求其极限分布和平稳分布。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185596-65CA-BDC6-5820-1C82E6CE6C17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01231" y="3456168"/>
            <a:ext cx="3532747" cy="493006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799F9A27-BCA3-AB6F-AF98-D105F3EE4C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786677"/>
              </p:ext>
            </p:extLst>
          </p:nvPr>
        </p:nvGraphicFramePr>
        <p:xfrm>
          <a:off x="2483669" y="5563394"/>
          <a:ext cx="2942319" cy="1071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32120" imgH="1295280" progId="Equation.DSMT4">
                  <p:embed/>
                </p:oleObj>
              </mc:Choice>
              <mc:Fallback>
                <p:oleObj name="Equation" r:id="rId4" imgW="3732120" imgH="1295280" progId="Equation.DSMT4">
                  <p:embed/>
                  <p:pic>
                    <p:nvPicPr>
                      <p:cNvPr id="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669" y="5563394"/>
                        <a:ext cx="2942319" cy="1071811"/>
                      </a:xfrm>
                      <a:prstGeom prst="rect">
                        <a:avLst/>
                      </a:prstGeom>
                      <a:solidFill>
                        <a:srgbClr val="96FFFF">
                          <a:alpha val="50195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3">
            <a:extLst>
              <a:ext uri="{FF2B5EF4-FFF2-40B4-BE49-F238E27FC236}">
                <a16:creationId xmlns:a16="http://schemas.microsoft.com/office/drawing/2014/main" id="{6B048534-D5DD-0504-7A89-2DDAC7E1E619}"/>
              </a:ext>
            </a:extLst>
          </p:cNvPr>
          <p:cNvSpPr txBox="1">
            <a:spLocks noChangeArrowheads="1"/>
          </p:cNvSpPr>
          <p:nvPr/>
        </p:nvSpPr>
        <p:spPr>
          <a:xfrm>
            <a:off x="2136775" y="3369078"/>
            <a:ext cx="3095495" cy="667186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齐次马氏链的遍历性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4CA6A3-6943-9129-61F4-C645AF3BB691}"/>
                  </a:ext>
                </a:extLst>
              </p:cNvPr>
              <p:cNvSpPr txBox="1"/>
              <p:nvPr/>
            </p:nvSpPr>
            <p:spPr>
              <a:xfrm>
                <a:off x="5203129" y="3518005"/>
                <a:ext cx="47438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4CA6A3-6943-9129-61F4-C645AF3BB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129" y="3518005"/>
                <a:ext cx="474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74EDD7-9D8D-9CDF-9AF1-B5864C7A7442}"/>
                  </a:ext>
                </a:extLst>
              </p:cNvPr>
              <p:cNvSpPr txBox="1"/>
              <p:nvPr/>
            </p:nvSpPr>
            <p:spPr>
              <a:xfrm>
                <a:off x="5041551" y="4125685"/>
                <a:ext cx="7975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474EDD7-9D8D-9CDF-9AF1-B5864C7A7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1" y="4125685"/>
                <a:ext cx="797537" cy="369332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4F85211-F439-8303-D389-463AB9CEA0DA}"/>
                  </a:ext>
                </a:extLst>
              </p:cNvPr>
              <p:cNvSpPr txBox="1"/>
              <p:nvPr/>
            </p:nvSpPr>
            <p:spPr>
              <a:xfrm>
                <a:off x="5041550" y="4694734"/>
                <a:ext cx="7975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zh-CN" altLang="en-US" i="1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74F85211-F439-8303-D389-463AB9CE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550" y="4694734"/>
                <a:ext cx="797537" cy="369332"/>
              </a:xfrm>
              <a:prstGeom prst="rect">
                <a:avLst/>
              </a:prstGeom>
              <a:blipFill>
                <a:blip r:embed="rId8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B5192AC-470A-B575-A141-814D53BB60F0}"/>
                  </a:ext>
                </a:extLst>
              </p:cNvPr>
              <p:cNvSpPr txBox="1"/>
              <p:nvPr/>
            </p:nvSpPr>
            <p:spPr>
              <a:xfrm>
                <a:off x="5700406" y="4148891"/>
                <a:ext cx="79753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p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B5192AC-470A-B575-A141-814D53BB6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406" y="4148891"/>
                <a:ext cx="797537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77C0CCF9-6E6D-754D-9AF6-9C192AB650E9}"/>
              </a:ext>
            </a:extLst>
          </p:cNvPr>
          <p:cNvSpPr txBox="1"/>
          <p:nvPr/>
        </p:nvSpPr>
        <p:spPr>
          <a:xfrm>
            <a:off x="5960496" y="4717940"/>
            <a:ext cx="79753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build="p"/>
      <p:bldP spid="3" grpId="0" animBg="1"/>
      <p:bldP spid="11" grpId="1"/>
      <p:bldP spid="12" grpId="0"/>
      <p:bldP spid="13" grpId="0"/>
      <p:bldP spid="14" grpId="0"/>
      <p:bldP spid="15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3D8A-236E-5C44-A185-A2F23BD0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>
            <a:extLst>
              <a:ext uri="{FF2B5EF4-FFF2-40B4-BE49-F238E27FC236}">
                <a16:creationId xmlns:a16="http://schemas.microsoft.com/office/drawing/2014/main" id="{CE4FC116-FDC3-C414-9837-F9154BA113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3</a:t>
            </a:r>
          </a:p>
        </p:txBody>
      </p:sp>
      <p:sp>
        <p:nvSpPr>
          <p:cNvPr id="75781" name="Rectangle 3">
            <a:extLst>
              <a:ext uri="{FF2B5EF4-FFF2-40B4-BE49-F238E27FC236}">
                <a16:creationId xmlns:a16="http://schemas.microsoft.com/office/drawing/2014/main" id="{3AA777F3-C1EA-33A9-0630-9E7573EF7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4175" y="1143265"/>
            <a:ext cx="11430000" cy="21737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在传送数字</a:t>
            </a:r>
            <a:r>
              <a:rPr lang="en-US" altLang="zh-CN" dirty="0"/>
              <a:t>0</a:t>
            </a:r>
            <a:r>
              <a:rPr lang="zh-CN" altLang="en-US" dirty="0"/>
              <a:t>和</a:t>
            </a:r>
            <a:r>
              <a:rPr lang="en-US" altLang="zh-CN" dirty="0"/>
              <a:t>1</a:t>
            </a:r>
            <a:r>
              <a:rPr lang="zh-CN" altLang="en-US" dirty="0"/>
              <a:t>的通讯系统中</a:t>
            </a:r>
            <a:r>
              <a:rPr lang="en-US" altLang="zh-CN" dirty="0"/>
              <a:t>, </a:t>
            </a:r>
            <a:r>
              <a:rPr lang="zh-CN" altLang="en-US" dirty="0"/>
              <a:t>每一传送数字必须经过若干级。第</a:t>
            </a:r>
            <a:r>
              <a:rPr lang="en-US" altLang="zh-CN" dirty="0" err="1"/>
              <a:t>i</a:t>
            </a:r>
            <a:r>
              <a:rPr lang="zh-CN" altLang="en-US" dirty="0"/>
              <a:t>级正确传送的概率为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en-US" altLang="zh-CN" dirty="0"/>
              <a:t>, X(0)</a:t>
            </a:r>
            <a:r>
              <a:rPr lang="zh-CN" altLang="en-US" dirty="0"/>
              <a:t>表示进入系统第一级的数字</a:t>
            </a:r>
            <a:r>
              <a:rPr lang="en-US" altLang="zh-CN" dirty="0"/>
              <a:t>, X(n)</a:t>
            </a:r>
            <a:r>
              <a:rPr lang="zh-CN" altLang="en-US" dirty="0"/>
              <a:t>表示离开通讯系统第</a:t>
            </a:r>
            <a:r>
              <a:rPr lang="en-US" altLang="zh-CN" dirty="0"/>
              <a:t>n</a:t>
            </a:r>
            <a:r>
              <a:rPr lang="zh-CN" altLang="en-US" dirty="0"/>
              <a:t>级的数字。</a:t>
            </a:r>
            <a:r>
              <a:rPr lang="en-US" altLang="zh-CN" dirty="0"/>
              <a:t>{X(n), n=0, 1, 2, …}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1}</a:t>
            </a:r>
            <a:r>
              <a:rPr lang="zh-CN" altLang="en-US" dirty="0"/>
              <a:t>的齐次马氏链。若更设</a:t>
            </a:r>
            <a:r>
              <a:rPr lang="en-US" altLang="zh-CN" dirty="0"/>
              <a:t>p</a:t>
            </a:r>
            <a:r>
              <a:rPr lang="en-US" altLang="zh-CN" baseline="-25000" dirty="0"/>
              <a:t>i</a:t>
            </a:r>
            <a:r>
              <a:rPr lang="zh-CN" altLang="en-US" dirty="0"/>
              <a:t>＝</a:t>
            </a:r>
            <a:r>
              <a:rPr lang="en-US" altLang="zh-CN" dirty="0"/>
              <a:t>p(</a:t>
            </a:r>
            <a:r>
              <a:rPr lang="zh-CN" altLang="en-US" dirty="0"/>
              <a:t>与状态无关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C00000"/>
                </a:solidFill>
              </a:rPr>
              <a:t>试讨论其遍历性，并求其极限分布和平稳分布。</a:t>
            </a:r>
          </a:p>
        </p:txBody>
      </p:sp>
      <p:sp>
        <p:nvSpPr>
          <p:cNvPr id="75782" name="Rectangle 4">
            <a:extLst>
              <a:ext uri="{FF2B5EF4-FFF2-40B4-BE49-F238E27FC236}">
                <a16:creationId xmlns:a16="http://schemas.microsoft.com/office/drawing/2014/main" id="{3D817CC6-2E13-BB3E-EE18-E81278EA2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3445673"/>
            <a:ext cx="2743835" cy="5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801" dirty="0">
                <a:solidFill>
                  <a:srgbClr val="CC00CC"/>
                </a:solidFill>
              </a:rPr>
              <a:t>(1)</a:t>
            </a:r>
            <a:r>
              <a:rPr lang="zh-CN" altLang="en-US" sz="2801" dirty="0">
                <a:solidFill>
                  <a:srgbClr val="0000FF"/>
                </a:solidFill>
              </a:rPr>
              <a:t>转移概率矩阵</a:t>
            </a:r>
          </a:p>
        </p:txBody>
      </p:sp>
      <p:graphicFrame>
        <p:nvGraphicFramePr>
          <p:cNvPr id="75783" name="Object 5">
            <a:extLst>
              <a:ext uri="{FF2B5EF4-FFF2-40B4-BE49-F238E27FC236}">
                <a16:creationId xmlns:a16="http://schemas.microsoft.com/office/drawing/2014/main" id="{774B5FAE-52C2-999D-93ED-6F79EEBE84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31842" y="3360598"/>
          <a:ext cx="3124923" cy="909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900" imgH="469900" progId="Equation.3">
                  <p:embed/>
                </p:oleObj>
              </mc:Choice>
              <mc:Fallback>
                <p:oleObj name="Equation" r:id="rId3" imgW="1612900" imgH="469900" progId="Equation.3">
                  <p:embed/>
                  <p:pic>
                    <p:nvPicPr>
                      <p:cNvPr id="7578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842" y="3360598"/>
                        <a:ext cx="3124923" cy="9098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4" name="Rectangle 6">
            <a:extLst>
              <a:ext uri="{FF2B5EF4-FFF2-40B4-BE49-F238E27FC236}">
                <a16:creationId xmlns:a16="http://schemas.microsoft.com/office/drawing/2014/main" id="{A35870F6-B68E-4BE8-A7F3-4A9C1A885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175" y="4479375"/>
            <a:ext cx="2585048" cy="519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801" dirty="0">
                <a:solidFill>
                  <a:srgbClr val="CC00CC"/>
                </a:solidFill>
              </a:rPr>
              <a:t>(2)</a:t>
            </a:r>
            <a:r>
              <a:rPr lang="en-US" altLang="zh-CN" sz="2801" dirty="0">
                <a:solidFill>
                  <a:srgbClr val="0000FF"/>
                </a:solidFill>
              </a:rPr>
              <a:t>n</a:t>
            </a:r>
            <a:r>
              <a:rPr lang="zh-CN" altLang="en-US" sz="2801" dirty="0">
                <a:solidFill>
                  <a:srgbClr val="0000FF"/>
                </a:solidFill>
              </a:rPr>
              <a:t>步转移矩阵</a:t>
            </a:r>
          </a:p>
        </p:txBody>
      </p:sp>
      <p:sp>
        <p:nvSpPr>
          <p:cNvPr id="75785" name="Rectangle 7">
            <a:extLst>
              <a:ext uri="{FF2B5EF4-FFF2-40B4-BE49-F238E27FC236}">
                <a16:creationId xmlns:a16="http://schemas.microsoft.com/office/drawing/2014/main" id="{F82B132C-C67C-60B5-777D-4D40DE356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516" y="4522247"/>
            <a:ext cx="4958911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为求</a:t>
            </a:r>
            <a:r>
              <a:rPr lang="en-US" altLang="zh-CN" sz="2400" dirty="0" err="1"/>
              <a:t>P</a:t>
            </a:r>
            <a:r>
              <a:rPr lang="en-US" altLang="zh-CN" sz="2400" baseline="50000" dirty="0" err="1"/>
              <a:t>n</a:t>
            </a:r>
            <a:r>
              <a:rPr lang="en-US" altLang="zh-CN" sz="2400" dirty="0"/>
              <a:t>, </a:t>
            </a:r>
            <a:r>
              <a:rPr lang="zh-CN" altLang="en-US" sz="2400" dirty="0"/>
              <a:t>先求</a:t>
            </a:r>
            <a:r>
              <a:rPr lang="en-US" altLang="zh-CN" sz="2400" dirty="0"/>
              <a:t>P</a:t>
            </a:r>
            <a:r>
              <a:rPr lang="zh-CN" altLang="en-US" sz="2400" dirty="0"/>
              <a:t>的特征值和特征向量</a:t>
            </a:r>
          </a:p>
        </p:txBody>
      </p:sp>
      <p:graphicFrame>
        <p:nvGraphicFramePr>
          <p:cNvPr id="75786" name="Object 8">
            <a:extLst>
              <a:ext uri="{FF2B5EF4-FFF2-40B4-BE49-F238E27FC236}">
                <a16:creationId xmlns:a16="http://schemas.microsoft.com/office/drawing/2014/main" id="{2259F70D-AE9D-AE86-7DBD-6D6B30E9BD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516" y="5030364"/>
          <a:ext cx="3353576" cy="941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76400" imgH="469900" progId="Equation.DSMT4">
                  <p:embed/>
                </p:oleObj>
              </mc:Choice>
              <mc:Fallback>
                <p:oleObj name="Equation" r:id="rId5" imgW="1676400" imgH="469900" progId="Equation.DSMT4">
                  <p:embed/>
                  <p:pic>
                    <p:nvPicPr>
                      <p:cNvPr id="7578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516" y="5030364"/>
                        <a:ext cx="3353576" cy="9416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7" name="Rectangle 9">
            <a:extLst>
              <a:ext uri="{FF2B5EF4-FFF2-40B4-BE49-F238E27FC236}">
                <a16:creationId xmlns:a16="http://schemas.microsoft.com/office/drawing/2014/main" id="{F17D203E-B90F-75C6-1D27-61D45351C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3404" y="6223770"/>
            <a:ext cx="503195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求得特征值</a:t>
            </a:r>
            <a:r>
              <a:rPr lang="zh-CN" altLang="en-US" sz="2400" dirty="0">
                <a:sym typeface="Symbol" panose="05050102010706020507" pitchFamily="18" charset="2"/>
              </a:rPr>
              <a:t>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=1</a:t>
            </a:r>
            <a:r>
              <a:rPr lang="zh-CN" altLang="en-US" sz="2400" dirty="0"/>
              <a:t>和</a:t>
            </a:r>
            <a:r>
              <a:rPr lang="zh-CN" altLang="en-US" sz="2400" dirty="0">
                <a:sym typeface="Symbol" panose="05050102010706020507" pitchFamily="18" charset="2"/>
              </a:rPr>
              <a:t>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=p-q, </a:t>
            </a:r>
            <a:r>
              <a:rPr lang="zh-CN" altLang="en-US" sz="2400" dirty="0"/>
              <a:t>特征向量</a:t>
            </a:r>
          </a:p>
        </p:txBody>
      </p:sp>
      <p:graphicFrame>
        <p:nvGraphicFramePr>
          <p:cNvPr id="75788" name="Object 10">
            <a:extLst>
              <a:ext uri="{FF2B5EF4-FFF2-40B4-BE49-F238E27FC236}">
                <a16:creationId xmlns:a16="http://schemas.microsoft.com/office/drawing/2014/main" id="{89E197E2-116A-9400-E191-2F186F19A9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67051" y="5914995"/>
          <a:ext cx="2694611" cy="949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33500" imgH="469900" progId="Equation.3">
                  <p:embed/>
                </p:oleObj>
              </mc:Choice>
              <mc:Fallback>
                <p:oleObj name="Equation" r:id="rId7" imgW="1333500" imgH="469900" progId="Equation.3">
                  <p:embed/>
                  <p:pic>
                    <p:nvPicPr>
                      <p:cNvPr id="7578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051" y="5914995"/>
                        <a:ext cx="2694611" cy="949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57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5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1" grpId="0" build="p"/>
      <p:bldP spid="75782" grpId="0"/>
      <p:bldP spid="75784" grpId="0"/>
      <p:bldP spid="75785" grpId="0"/>
      <p:bldP spid="75787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243912"/>
            <a:ext cx="3095495" cy="667186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正交</a:t>
            </a:r>
            <a:r>
              <a:rPr lang="en-US" altLang="zh-CN" dirty="0"/>
              <a:t>, </a:t>
            </a:r>
            <a:r>
              <a:rPr lang="zh-CN" altLang="en-US" dirty="0"/>
              <a:t>将其单位化得</a:t>
            </a:r>
          </a:p>
        </p:txBody>
      </p:sp>
      <p:graphicFrame>
        <p:nvGraphicFramePr>
          <p:cNvPr id="281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8726783"/>
              </p:ext>
            </p:extLst>
          </p:nvPr>
        </p:nvGraphicFramePr>
        <p:xfrm>
          <a:off x="3784470" y="924139"/>
          <a:ext cx="2816877" cy="141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63700" imgH="838200" progId="Equation.3">
                  <p:embed/>
                </p:oleObj>
              </mc:Choice>
              <mc:Fallback>
                <p:oleObj name="Equation" r:id="rId3" imgW="1663700" imgH="838200" progId="Equation.3">
                  <p:embed/>
                  <p:pic>
                    <p:nvPicPr>
                      <p:cNvPr id="2816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470" y="924139"/>
                        <a:ext cx="2816877" cy="1419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5" name="Rectangle 5"/>
          <p:cNvSpPr>
            <a:spLocks noChangeArrowheads="1"/>
          </p:cNvSpPr>
          <p:nvPr/>
        </p:nvSpPr>
        <p:spPr bwMode="auto">
          <a:xfrm>
            <a:off x="741589" y="2860537"/>
            <a:ext cx="1716485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得正交矩阵</a:t>
            </a:r>
          </a:p>
        </p:txBody>
      </p:sp>
      <p:graphicFrame>
        <p:nvGraphicFramePr>
          <p:cNvPr id="281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146556"/>
              </p:ext>
            </p:extLst>
          </p:nvPr>
        </p:nvGraphicFramePr>
        <p:xfrm>
          <a:off x="3660775" y="2393529"/>
          <a:ext cx="4627046" cy="1419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30500" imgH="838200" progId="Equation.3">
                  <p:embed/>
                </p:oleObj>
              </mc:Choice>
              <mc:Fallback>
                <p:oleObj name="Equation" r:id="rId5" imgW="2730500" imgH="838200" progId="Equation.3">
                  <p:embed/>
                  <p:pic>
                    <p:nvPicPr>
                      <p:cNvPr id="281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2393529"/>
                        <a:ext cx="4627046" cy="14195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310055"/>
              </p:ext>
            </p:extLst>
          </p:nvPr>
        </p:nvGraphicFramePr>
        <p:xfrm>
          <a:off x="1794872" y="4124735"/>
          <a:ext cx="3979196" cy="795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49500" imgH="469900" progId="Equation.DSMT4">
                  <p:embed/>
                </p:oleObj>
              </mc:Choice>
              <mc:Fallback>
                <p:oleObj name="Equation" r:id="rId7" imgW="2349500" imgH="469900" progId="Equation.DSMT4">
                  <p:embed/>
                  <p:pic>
                    <p:nvPicPr>
                      <p:cNvPr id="281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872" y="4124735"/>
                        <a:ext cx="3979196" cy="7955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5914658"/>
              </p:ext>
            </p:extLst>
          </p:nvPr>
        </p:nvGraphicFramePr>
        <p:xfrm>
          <a:off x="1003819" y="5600522"/>
          <a:ext cx="1676788" cy="3858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25500" imgH="190500" progId="Equation.3">
                  <p:embed/>
                </p:oleObj>
              </mc:Choice>
              <mc:Fallback>
                <p:oleObj name="Equation" r:id="rId9" imgW="825500" imgH="190500" progId="Equation.3">
                  <p:embed/>
                  <p:pic>
                    <p:nvPicPr>
                      <p:cNvPr id="281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819" y="5600522"/>
                        <a:ext cx="1676788" cy="3858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2602691" y="5187564"/>
          <a:ext cx="7917107" cy="1367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851400" imgH="838200" progId="Equation.3">
                  <p:embed/>
                </p:oleObj>
              </mc:Choice>
              <mc:Fallback>
                <p:oleObj name="Equation" r:id="rId11" imgW="4851400" imgH="838200" progId="Equation.3">
                  <p:embed/>
                  <p:pic>
                    <p:nvPicPr>
                      <p:cNvPr id="281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2691" y="5187564"/>
                        <a:ext cx="7917107" cy="1367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209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28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5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13682" y="1040847"/>
            <a:ext cx="7774199" cy="687797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CC"/>
                </a:solidFill>
              </a:rPr>
              <a:t>(3)</a:t>
            </a:r>
            <a:r>
              <a:rPr lang="zh-CN" altLang="en-US" dirty="0">
                <a:solidFill>
                  <a:srgbClr val="0000FF"/>
                </a:solidFill>
              </a:rPr>
              <a:t>讨论遍历性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求极限分布和平稳分布</a:t>
            </a:r>
          </a:p>
        </p:txBody>
      </p:sp>
      <p:sp>
        <p:nvSpPr>
          <p:cNvPr id="282628" name="Rectangle 4"/>
          <p:cNvSpPr>
            <a:spLocks noChangeArrowheads="1"/>
          </p:cNvSpPr>
          <p:nvPr/>
        </p:nvSpPr>
        <p:spPr bwMode="auto">
          <a:xfrm>
            <a:off x="1476893" y="1803025"/>
            <a:ext cx="7774199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令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→,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由于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|p-q|&lt;1,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所以</a:t>
            </a:r>
          </a:p>
        </p:txBody>
      </p:sp>
      <p:graphicFrame>
        <p:nvGraphicFramePr>
          <p:cNvPr id="282629" name="Object 5"/>
          <p:cNvGraphicFramePr>
            <a:graphicFrameLocks noChangeAspect="1"/>
          </p:cNvGraphicFramePr>
          <p:nvPr/>
        </p:nvGraphicFramePr>
        <p:xfrm>
          <a:off x="3107633" y="2122980"/>
          <a:ext cx="6327652" cy="752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416300" imgH="406400" progId="Equation.3">
                  <p:embed/>
                </p:oleObj>
              </mc:Choice>
              <mc:Fallback>
                <p:oleObj name="公式" r:id="rId3" imgW="3416300" imgH="406400" progId="Equation.3">
                  <p:embed/>
                  <p:pic>
                    <p:nvPicPr>
                      <p:cNvPr id="282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633" y="2122980"/>
                        <a:ext cx="6327652" cy="752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2630" name="Object 6"/>
          <p:cNvGraphicFramePr>
            <a:graphicFrameLocks noChangeAspect="1"/>
          </p:cNvGraphicFramePr>
          <p:nvPr/>
        </p:nvGraphicFramePr>
        <p:xfrm>
          <a:off x="3155269" y="2842284"/>
          <a:ext cx="6303834" cy="752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403600" imgH="406400" progId="Equation.3">
                  <p:embed/>
                </p:oleObj>
              </mc:Choice>
              <mc:Fallback>
                <p:oleObj name="公式" r:id="rId5" imgW="3403600" imgH="406400" progId="Equation.3">
                  <p:embed/>
                  <p:pic>
                    <p:nvPicPr>
                      <p:cNvPr id="28263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269" y="2842284"/>
                        <a:ext cx="6303834" cy="7526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1" name="Rectangle 7"/>
          <p:cNvSpPr>
            <a:spLocks noChangeArrowheads="1"/>
          </p:cNvSpPr>
          <p:nvPr/>
        </p:nvSpPr>
        <p:spPr bwMode="auto">
          <a:xfrm>
            <a:off x="1013683" y="3582229"/>
            <a:ext cx="10114692" cy="1133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由遍历性的定义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zh-CN" altLang="en-US" sz="2400" dirty="0">
                <a:latin typeface="+mn-ea"/>
                <a:ea typeface="+mn-ea"/>
              </a:rPr>
              <a:t>此马氏链遍历。（也可利用性质</a:t>
            </a:r>
            <a:r>
              <a:rPr lang="en-US" altLang="zh-CN" sz="2400" dirty="0">
                <a:latin typeface="+mn-ea"/>
                <a:ea typeface="+mn-ea"/>
              </a:rPr>
              <a:t>5, </a:t>
            </a:r>
            <a:r>
              <a:rPr lang="zh-CN" altLang="en-US" sz="2400" dirty="0">
                <a:latin typeface="+mn-ea"/>
                <a:ea typeface="+mn-ea"/>
              </a:rPr>
              <a:t>状态有限</a:t>
            </a:r>
            <a:r>
              <a:rPr lang="en-US" altLang="zh-CN" sz="2400" dirty="0">
                <a:latin typeface="+mn-ea"/>
                <a:ea typeface="+mn-ea"/>
              </a:rPr>
              <a:t>, n</a:t>
            </a:r>
            <a:r>
              <a:rPr lang="en-US" altLang="zh-CN" sz="2400" baseline="-250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1, 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&gt;0, 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en-US" altLang="zh-CN" sz="2400" dirty="0" err="1">
                <a:latin typeface="+mn-ea"/>
                <a:ea typeface="+mn-ea"/>
              </a:rPr>
              <a:t>j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知其遍历）</a:t>
            </a:r>
          </a:p>
        </p:txBody>
      </p:sp>
      <p:sp>
        <p:nvSpPr>
          <p:cNvPr id="282632" name="Rectangle 8"/>
          <p:cNvSpPr>
            <a:spLocks noChangeArrowheads="1"/>
          </p:cNvSpPr>
          <p:nvPr/>
        </p:nvSpPr>
        <p:spPr bwMode="auto">
          <a:xfrm>
            <a:off x="917575" y="5304819"/>
            <a:ext cx="7774199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平稳分布等于极限分布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282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450363"/>
              </p:ext>
            </p:extLst>
          </p:nvPr>
        </p:nvGraphicFramePr>
        <p:xfrm>
          <a:off x="4187729" y="4942292"/>
          <a:ext cx="2057876" cy="140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040948" imgH="710891" progId="Equation.3">
                  <p:embed/>
                </p:oleObj>
              </mc:Choice>
              <mc:Fallback>
                <p:oleObj name="公式" r:id="rId7" imgW="1040948" imgH="710891" progId="Equation.3">
                  <p:embed/>
                  <p:pic>
                    <p:nvPicPr>
                      <p:cNvPr id="28263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729" y="4942292"/>
                        <a:ext cx="2057876" cy="140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2634" name="Rectangle 10"/>
          <p:cNvSpPr>
            <a:spLocks noChangeArrowheads="1"/>
          </p:cNvSpPr>
          <p:nvPr/>
        </p:nvSpPr>
        <p:spPr bwMode="auto">
          <a:xfrm>
            <a:off x="6420182" y="5285571"/>
            <a:ext cx="18101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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</a:p>
        </p:txBody>
      </p:sp>
      <p:graphicFrame>
        <p:nvGraphicFramePr>
          <p:cNvPr id="282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608006"/>
              </p:ext>
            </p:extLst>
          </p:nvPr>
        </p:nvGraphicFramePr>
        <p:xfrm>
          <a:off x="8267067" y="5050567"/>
          <a:ext cx="990829" cy="932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31613" imgH="406224" progId="Equation.3">
                  <p:embed/>
                </p:oleObj>
              </mc:Choice>
              <mc:Fallback>
                <p:oleObj name="公式" r:id="rId9" imgW="431613" imgH="406224" progId="Equation.3">
                  <p:embed/>
                  <p:pic>
                    <p:nvPicPr>
                      <p:cNvPr id="2826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067" y="5050567"/>
                        <a:ext cx="990829" cy="932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0930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8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82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8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28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282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2" dur="500"/>
                                        <p:tgtEl>
                                          <p:spTgt spid="28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6" dur="500"/>
                                        <p:tgtEl>
                                          <p:spTgt spid="28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" grpId="0" build="p"/>
      <p:bldP spid="282628" grpId="0" autoUpdateAnimBg="0"/>
      <p:bldP spid="282631" grpId="0" autoUpdateAnimBg="0"/>
      <p:bldP spid="282632" grpId="0" autoUpdateAnimBg="0"/>
      <p:bldP spid="282634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4</a:t>
            </a:r>
          </a:p>
        </p:txBody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5" y="1097217"/>
            <a:ext cx="11125200" cy="2616806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zh-CN" altLang="en-US" dirty="0"/>
              <a:t>设有</a:t>
            </a:r>
            <a:r>
              <a:rPr lang="en-US" altLang="zh-CN" dirty="0"/>
              <a:t>6</a:t>
            </a:r>
            <a:r>
              <a:rPr lang="zh-CN" altLang="en-US" dirty="0"/>
              <a:t>个球</a:t>
            </a:r>
            <a:r>
              <a:rPr lang="en-US" altLang="zh-CN" dirty="0"/>
              <a:t>(</a:t>
            </a:r>
            <a:r>
              <a:rPr lang="zh-CN" altLang="en-US" dirty="0"/>
              <a:t>其中</a:t>
            </a:r>
            <a:r>
              <a:rPr lang="en-US" altLang="zh-CN" dirty="0"/>
              <a:t>2</a:t>
            </a:r>
            <a:r>
              <a:rPr lang="zh-CN" altLang="en-US" dirty="0"/>
              <a:t>个红球</a:t>
            </a:r>
            <a:r>
              <a:rPr lang="en-US" altLang="zh-CN" dirty="0"/>
              <a:t>4</a:t>
            </a:r>
            <a:r>
              <a:rPr lang="zh-CN" altLang="en-US" dirty="0"/>
              <a:t>个白球</a:t>
            </a:r>
            <a:r>
              <a:rPr lang="en-US" altLang="zh-CN" dirty="0"/>
              <a:t>)</a:t>
            </a:r>
            <a:r>
              <a:rPr lang="zh-CN" altLang="en-US" dirty="0"/>
              <a:t>分别放于甲、乙两个盒子中</a:t>
            </a:r>
            <a:r>
              <a:rPr lang="en-US" altLang="zh-CN" dirty="0"/>
              <a:t>, </a:t>
            </a:r>
            <a:r>
              <a:rPr lang="zh-CN" altLang="en-US" dirty="0"/>
              <a:t>每盒</a:t>
            </a:r>
            <a:r>
              <a:rPr lang="en-US" altLang="zh-CN" dirty="0"/>
              <a:t>3</a:t>
            </a:r>
            <a:r>
              <a:rPr lang="zh-CN" altLang="en-US" dirty="0"/>
              <a:t>个。令每次从两个盒子中各取一个球进行交换</a:t>
            </a:r>
            <a:r>
              <a:rPr lang="en-US" altLang="zh-CN" dirty="0"/>
              <a:t>, X(0)</a:t>
            </a:r>
            <a:r>
              <a:rPr lang="zh-CN" altLang="en-US" dirty="0"/>
              <a:t>表示开始时甲盒中红球的个数</a:t>
            </a:r>
            <a:r>
              <a:rPr lang="en-US" altLang="zh-CN" dirty="0"/>
              <a:t>, X(n), n=1, 2, …</a:t>
            </a:r>
            <a:r>
              <a:rPr lang="zh-CN" altLang="en-US" dirty="0"/>
              <a:t>表示经过</a:t>
            </a:r>
            <a:r>
              <a:rPr lang="en-US" altLang="zh-CN" dirty="0"/>
              <a:t>n</a:t>
            </a:r>
            <a:r>
              <a:rPr lang="zh-CN" altLang="en-US" dirty="0"/>
              <a:t>次交换后甲盒中的红球数。</a:t>
            </a:r>
            <a:r>
              <a:rPr lang="en-US" altLang="zh-CN" dirty="0"/>
              <a:t>{X(n), n=0, 1, 2, …}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1, 2}</a:t>
            </a:r>
            <a:r>
              <a:rPr lang="zh-CN" altLang="en-US" dirty="0"/>
              <a:t>的齐次马氏链。</a:t>
            </a:r>
            <a:r>
              <a:rPr lang="zh-CN" altLang="en-US" dirty="0">
                <a:solidFill>
                  <a:srgbClr val="C00000"/>
                </a:solidFill>
              </a:rPr>
              <a:t>试讨论其遍历性，并求其极限分布，平稳分布，绝对分布和有限维分布。</a:t>
            </a:r>
            <a:endParaRPr lang="zh-CN" altLang="en-US" dirty="0"/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2197785" y="3383559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初始分布</a:t>
            </a: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>
            <a:off x="6929780" y="3367471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283654" name="Group 6">
            <a:extLst>
              <a:ext uri="{FF2B5EF4-FFF2-40B4-BE49-F238E27FC236}">
                <a16:creationId xmlns:a16="http://schemas.microsoft.com/office/drawing/2014/main" id="{546030D1-25B3-4F89-AC0F-88537AA7D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235173"/>
              </p:ext>
            </p:extLst>
          </p:nvPr>
        </p:nvGraphicFramePr>
        <p:xfrm>
          <a:off x="1908175" y="4301275"/>
          <a:ext cx="2820053" cy="1060766"/>
        </p:xfrm>
        <a:graphic>
          <a:graphicData uri="http://schemas.openxmlformats.org/drawingml/2006/table">
            <a:tbl>
              <a:tblPr/>
              <a:tblGrid>
                <a:gridCol w="76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83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X(0)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0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83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3/5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532208" y="5292105"/>
            <a:ext cx="2653326" cy="1219482"/>
            <a:chOff x="1248" y="3408"/>
            <a:chExt cx="1671" cy="768"/>
          </a:xfrm>
        </p:grpSpPr>
        <p:graphicFrame>
          <p:nvGraphicFramePr>
            <p:cNvPr id="39964" name="Object 24"/>
            <p:cNvGraphicFramePr>
              <a:graphicFrameLocks noChangeAspect="1"/>
            </p:cNvGraphicFramePr>
            <p:nvPr/>
          </p:nvGraphicFramePr>
          <p:xfrm>
            <a:off x="1248" y="3562"/>
            <a:ext cx="1671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44600" imgH="457200" progId="Equation.3">
                    <p:embed/>
                  </p:oleObj>
                </mc:Choice>
                <mc:Fallback>
                  <p:oleObj name="Equation" r:id="rId3" imgW="1244600" imgH="457200" progId="Equation.3">
                    <p:embed/>
                    <p:pic>
                      <p:nvPicPr>
                        <p:cNvPr id="39964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562"/>
                          <a:ext cx="1671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5" name="Line 25"/>
            <p:cNvSpPr>
              <a:spLocks noChangeShapeType="1"/>
            </p:cNvSpPr>
            <p:nvPr/>
          </p:nvSpPr>
          <p:spPr bwMode="auto">
            <a:xfrm flipV="1">
              <a:off x="1440" y="340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66" name="Line 26"/>
            <p:cNvSpPr>
              <a:spLocks noChangeShapeType="1"/>
            </p:cNvSpPr>
            <p:nvPr/>
          </p:nvSpPr>
          <p:spPr bwMode="auto">
            <a:xfrm flipV="1">
              <a:off x="1968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9967" name="Line 27"/>
            <p:cNvSpPr>
              <a:spLocks noChangeShapeType="1"/>
            </p:cNvSpPr>
            <p:nvPr/>
          </p:nvSpPr>
          <p:spPr bwMode="auto">
            <a:xfrm flipH="1" flipV="1">
              <a:off x="2448" y="340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83676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276096"/>
              </p:ext>
            </p:extLst>
          </p:nvPr>
        </p:nvGraphicFramePr>
        <p:xfrm>
          <a:off x="6945566" y="4115594"/>
          <a:ext cx="231120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0948" imgH="1167893" progId="Equation.3">
                  <p:embed/>
                </p:oleObj>
              </mc:Choice>
              <mc:Fallback>
                <p:oleObj name="Equation" r:id="rId5" imgW="1040948" imgH="1167893" progId="Equation.3">
                  <p:embed/>
                  <p:pic>
                    <p:nvPicPr>
                      <p:cNvPr id="2836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5566" y="4115594"/>
                        <a:ext cx="2311200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92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/>
      <p:bldP spid="283652" grpId="0" autoUpdateAnimBg="0"/>
      <p:bldP spid="283653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4(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32113"/>
            <a:ext cx="8230606" cy="75636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CC"/>
                </a:solidFill>
              </a:rPr>
              <a:t>(3)</a:t>
            </a:r>
            <a:r>
              <a:rPr lang="zh-CN" altLang="en-US" dirty="0">
                <a:solidFill>
                  <a:srgbClr val="0000FF"/>
                </a:solidFill>
              </a:rPr>
              <a:t>遍历性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极限分布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平稳分布</a:t>
            </a:r>
            <a:endParaRPr lang="zh-CN" altLang="en-US" dirty="0"/>
          </a:p>
        </p:txBody>
      </p:sp>
      <p:graphicFrame>
        <p:nvGraphicFramePr>
          <p:cNvPr id="2846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0015324"/>
              </p:ext>
            </p:extLst>
          </p:nvPr>
        </p:nvGraphicFramePr>
        <p:xfrm>
          <a:off x="1613614" y="1800162"/>
          <a:ext cx="2666999" cy="2484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30040" imgH="1054080" progId="Equation.DSMT4">
                  <p:embed/>
                </p:oleObj>
              </mc:Choice>
              <mc:Fallback>
                <p:oleObj name="Equation" r:id="rId3" imgW="1130040" imgH="1054080" progId="Equation.DSMT4">
                  <p:embed/>
                  <p:pic>
                    <p:nvPicPr>
                      <p:cNvPr id="284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3614" y="1800162"/>
                        <a:ext cx="2666999" cy="24843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77" name="Rectangle 5"/>
          <p:cNvSpPr>
            <a:spLocks noChangeArrowheads="1"/>
          </p:cNvSpPr>
          <p:nvPr/>
        </p:nvSpPr>
        <p:spPr bwMode="auto">
          <a:xfrm>
            <a:off x="964966" y="4615273"/>
            <a:ext cx="4800650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(2)&gt;0, 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en-US" altLang="zh-CN" sz="2400" dirty="0" err="1">
                <a:latin typeface="+mn-ea"/>
                <a:ea typeface="+mn-ea"/>
              </a:rPr>
              <a:t>j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故此马氏链为遍历的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其极限分布等于平稳分布。</a:t>
            </a:r>
          </a:p>
        </p:txBody>
      </p:sp>
      <p:sp>
        <p:nvSpPr>
          <p:cNvPr id="284678" name="Line 6"/>
          <p:cNvSpPr>
            <a:spLocks noChangeShapeType="1"/>
          </p:cNvSpPr>
          <p:nvPr/>
        </p:nvSpPr>
        <p:spPr bwMode="auto">
          <a:xfrm>
            <a:off x="6327828" y="1587868"/>
            <a:ext cx="0" cy="4966849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4679" name="Rectangle 7"/>
          <p:cNvSpPr>
            <a:spLocks noChangeArrowheads="1"/>
          </p:cNvSpPr>
          <p:nvPr/>
        </p:nvSpPr>
        <p:spPr bwMode="auto">
          <a:xfrm>
            <a:off x="6526045" y="1322535"/>
            <a:ext cx="3645744" cy="44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0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＝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0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)P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graphicFrame>
        <p:nvGraphicFramePr>
          <p:cNvPr id="284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443039"/>
              </p:ext>
            </p:extLst>
          </p:nvPr>
        </p:nvGraphicFramePr>
        <p:xfrm>
          <a:off x="6613655" y="1907186"/>
          <a:ext cx="3148742" cy="3093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600" imgH="1473200" progId="Equation.DSMT4">
                  <p:embed/>
                </p:oleObj>
              </mc:Choice>
              <mc:Fallback>
                <p:oleObj name="Equation" r:id="rId5" imgW="1498600" imgH="1473200" progId="Equation.DSMT4">
                  <p:embed/>
                  <p:pic>
                    <p:nvPicPr>
                      <p:cNvPr id="284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3655" y="1907186"/>
                        <a:ext cx="3148742" cy="3093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4681" name="Rectangle 9"/>
          <p:cNvSpPr>
            <a:spLocks noChangeArrowheads="1"/>
          </p:cNvSpPr>
          <p:nvPr/>
        </p:nvSpPr>
        <p:spPr bwMode="auto">
          <a:xfrm>
            <a:off x="6569407" y="5292677"/>
            <a:ext cx="364574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解得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平稳分布</a:t>
            </a:r>
          </a:p>
        </p:txBody>
      </p:sp>
      <p:sp>
        <p:nvSpPr>
          <p:cNvPr id="284682" name="Rectangle 10"/>
          <p:cNvSpPr>
            <a:spLocks noChangeArrowheads="1"/>
          </p:cNvSpPr>
          <p:nvPr/>
        </p:nvSpPr>
        <p:spPr bwMode="auto">
          <a:xfrm>
            <a:off x="6650394" y="5932269"/>
            <a:ext cx="3874397" cy="44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0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/>
              <a:t>, </a:t>
            </a:r>
            <a:r>
              <a:rPr lang="en-US" altLang="zh-CN" sz="2400" dirty="0"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ym typeface="Symbol" panose="05050102010706020507" pitchFamily="18" charset="2"/>
              </a:rPr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＝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  <p:graphicFrame>
        <p:nvGraphicFramePr>
          <p:cNvPr id="284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651178"/>
              </p:ext>
            </p:extLst>
          </p:nvPr>
        </p:nvGraphicFramePr>
        <p:xfrm>
          <a:off x="8271209" y="5728228"/>
          <a:ext cx="1776823" cy="851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1309" imgH="431613" progId="Equation.DSMT4">
                  <p:embed/>
                </p:oleObj>
              </mc:Choice>
              <mc:Fallback>
                <p:oleObj name="Equation" r:id="rId7" imgW="901309" imgH="431613" progId="Equation.DSMT4">
                  <p:embed/>
                  <p:pic>
                    <p:nvPicPr>
                      <p:cNvPr id="28468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1209" y="5728228"/>
                        <a:ext cx="1776823" cy="8510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626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4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4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4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4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4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4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4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 build="p"/>
      <p:bldP spid="284677" grpId="0" autoUpdateAnimBg="0"/>
      <p:bldP spid="284679" grpId="0" autoUpdateAnimBg="0"/>
      <p:bldP spid="284681" grpId="0" autoUpdateAnimBg="0"/>
      <p:bldP spid="28468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4(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9" y="1050384"/>
            <a:ext cx="8026400" cy="663537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CC"/>
                </a:solidFill>
              </a:rPr>
              <a:t>(4)</a:t>
            </a:r>
            <a:r>
              <a:rPr lang="zh-CN" altLang="en-US" dirty="0">
                <a:solidFill>
                  <a:srgbClr val="0000FF"/>
                </a:solidFill>
              </a:rPr>
              <a:t>绝对分布</a:t>
            </a:r>
            <a:endParaRPr lang="zh-CN" altLang="en-US" dirty="0"/>
          </a:p>
        </p:txBody>
      </p:sp>
      <p:graphicFrame>
        <p:nvGraphicFramePr>
          <p:cNvPr id="86022" name="Object 4"/>
          <p:cNvGraphicFramePr>
            <a:graphicFrameLocks noChangeAspect="1"/>
          </p:cNvGraphicFramePr>
          <p:nvPr/>
        </p:nvGraphicFramePr>
        <p:xfrm>
          <a:off x="6480263" y="1827637"/>
          <a:ext cx="3995075" cy="3939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92300" imgH="1866900" progId="Equation.3">
                  <p:embed/>
                </p:oleObj>
              </mc:Choice>
              <mc:Fallback>
                <p:oleObj name="Equation" r:id="rId3" imgW="1892300" imgH="1866900" progId="Equation.3">
                  <p:embed/>
                  <p:pic>
                    <p:nvPicPr>
                      <p:cNvPr id="860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0263" y="1827637"/>
                        <a:ext cx="3995075" cy="3939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3" name="Rectangle 5"/>
          <p:cNvSpPr>
            <a:spLocks noChangeArrowheads="1"/>
          </p:cNvSpPr>
          <p:nvPr/>
        </p:nvSpPr>
        <p:spPr bwMode="auto">
          <a:xfrm>
            <a:off x="660051" y="1808897"/>
            <a:ext cx="364574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因初始分布为平稳分布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sp>
        <p:nvSpPr>
          <p:cNvPr id="86024" name="Line 6"/>
          <p:cNvSpPr>
            <a:spLocks noChangeShapeType="1"/>
          </p:cNvSpPr>
          <p:nvPr/>
        </p:nvSpPr>
        <p:spPr bwMode="auto">
          <a:xfrm>
            <a:off x="6327828" y="1067047"/>
            <a:ext cx="0" cy="5508313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8602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4554056"/>
              </p:ext>
            </p:extLst>
          </p:nvPr>
        </p:nvGraphicFramePr>
        <p:xfrm>
          <a:off x="1918773" y="2320451"/>
          <a:ext cx="2623157" cy="874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18671" imgH="406224" progId="Equation.3">
                  <p:embed/>
                </p:oleObj>
              </mc:Choice>
              <mc:Fallback>
                <p:oleObj name="Equation" r:id="rId5" imgW="1218671" imgH="406224" progId="Equation.3">
                  <p:embed/>
                  <p:pic>
                    <p:nvPicPr>
                      <p:cNvPr id="8602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773" y="2320451"/>
                        <a:ext cx="2623157" cy="874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6" name="Rectangle 8"/>
          <p:cNvSpPr>
            <a:spLocks noChangeArrowheads="1"/>
          </p:cNvSpPr>
          <p:nvPr/>
        </p:nvSpPr>
        <p:spPr bwMode="auto">
          <a:xfrm>
            <a:off x="733429" y="3384309"/>
            <a:ext cx="5473750" cy="493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故绝对分布永远等于初始分布。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8602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975746"/>
              </p:ext>
            </p:extLst>
          </p:nvPr>
        </p:nvGraphicFramePr>
        <p:xfrm>
          <a:off x="1928339" y="4071732"/>
          <a:ext cx="3197965" cy="874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85255" imgH="406224" progId="Equation.3">
                  <p:embed/>
                </p:oleObj>
              </mc:Choice>
              <mc:Fallback>
                <p:oleObj name="Equation" r:id="rId7" imgW="1485255" imgH="406224" progId="Equation.3">
                  <p:embed/>
                  <p:pic>
                    <p:nvPicPr>
                      <p:cNvPr id="8602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339" y="4071732"/>
                        <a:ext cx="3197965" cy="874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8" name="Rectangle 10"/>
          <p:cNvSpPr>
            <a:spLocks noChangeArrowheads="1"/>
          </p:cNvSpPr>
          <p:nvPr/>
        </p:nvSpPr>
        <p:spPr bwMode="auto">
          <a:xfrm>
            <a:off x="915473" y="4973865"/>
            <a:ext cx="3645744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比如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zh-CN" altLang="en-US" sz="2400" dirty="0">
                <a:latin typeface="+mn-ea"/>
                <a:ea typeface="+mn-ea"/>
              </a:rPr>
              <a:t>可以验证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8603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6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6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6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 build="p"/>
      <p:bldP spid="86023" grpId="0"/>
      <p:bldP spid="86026" grpId="0"/>
      <p:bldP spid="8602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4(</a:t>
            </a:r>
            <a:r>
              <a:rPr lang="zh-CN" altLang="en-US"/>
              <a:t>续</a:t>
            </a:r>
            <a:r>
              <a:rPr lang="en-US" altLang="zh-CN"/>
              <a:t>3)</a:t>
            </a:r>
          </a:p>
        </p:txBody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1" y="1155333"/>
            <a:ext cx="8069492" cy="770114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C00CC"/>
                </a:solidFill>
              </a:rPr>
              <a:t>(4)</a:t>
            </a:r>
            <a:r>
              <a:rPr lang="zh-CN" altLang="en-US" dirty="0">
                <a:solidFill>
                  <a:srgbClr val="0000FF"/>
                </a:solidFill>
              </a:rPr>
              <a:t>有限维分布</a:t>
            </a:r>
            <a:endParaRPr lang="zh-CN" altLang="en-US" dirty="0"/>
          </a:p>
        </p:txBody>
      </p:sp>
      <p:sp>
        <p:nvSpPr>
          <p:cNvPr id="286724" name="Rectangle 4"/>
          <p:cNvSpPr>
            <a:spLocks noChangeArrowheads="1"/>
          </p:cNvSpPr>
          <p:nvPr/>
        </p:nvSpPr>
        <p:spPr bwMode="auto">
          <a:xfrm>
            <a:off x="1374775" y="1924235"/>
            <a:ext cx="7774199" cy="159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P{X(1)=1, X(2)=2, X(4)=1}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＝</a:t>
            </a:r>
            <a:r>
              <a:rPr lang="en-US" altLang="zh-CN" sz="2400" dirty="0"/>
              <a:t>P{X(1)=1}·P{X(2)=2|X(1)=1}·P{X(4)=1|X(1)=1, X(2)=2}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=P{X(1)=1}·p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·p</a:t>
            </a:r>
            <a:r>
              <a:rPr lang="en-US" altLang="zh-CN" sz="2400" baseline="-25000" dirty="0"/>
              <a:t>21</a:t>
            </a:r>
            <a:r>
              <a:rPr lang="en-US" altLang="zh-CN" sz="2400" dirty="0"/>
              <a:t>(2)</a:t>
            </a:r>
          </a:p>
        </p:txBody>
      </p:sp>
      <p:graphicFrame>
        <p:nvGraphicFramePr>
          <p:cNvPr id="286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0146933"/>
              </p:ext>
            </p:extLst>
          </p:nvPr>
        </p:nvGraphicFramePr>
        <p:xfrm>
          <a:off x="4270375" y="2966712"/>
          <a:ext cx="2115039" cy="770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115" imgH="406224" progId="Equation.3">
                  <p:embed/>
                </p:oleObj>
              </mc:Choice>
              <mc:Fallback>
                <p:oleObj name="Equation" r:id="rId3" imgW="1117115" imgH="406224" progId="Equation.3">
                  <p:embed/>
                  <p:pic>
                    <p:nvPicPr>
                      <p:cNvPr id="28672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75" y="2966712"/>
                        <a:ext cx="2115039" cy="7701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1374775" y="3985883"/>
            <a:ext cx="7774199" cy="1595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P{X(2)=2, X(4)=2|X(1)=1}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＝</a:t>
            </a:r>
            <a:r>
              <a:rPr lang="en-US" altLang="zh-CN" sz="2400" dirty="0"/>
              <a:t>P{X(2)=2|X(1)=1}·P{X(4)=2|X(1)=1, X(2)=2}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=p</a:t>
            </a:r>
            <a:r>
              <a:rPr lang="en-US" altLang="zh-CN" sz="2400" baseline="-25000" dirty="0"/>
              <a:t>12</a:t>
            </a:r>
            <a:r>
              <a:rPr lang="en-US" altLang="zh-CN" sz="2400" dirty="0"/>
              <a:t>·p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(2)</a:t>
            </a:r>
          </a:p>
        </p:txBody>
      </p:sp>
      <p:graphicFrame>
        <p:nvGraphicFramePr>
          <p:cNvPr id="286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356557"/>
              </p:ext>
            </p:extLst>
          </p:nvPr>
        </p:nvGraphicFramePr>
        <p:xfrm>
          <a:off x="2746375" y="5031425"/>
          <a:ext cx="1778412" cy="77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392" imgH="406224" progId="Equation.3">
                  <p:embed/>
                </p:oleObj>
              </mc:Choice>
              <mc:Fallback>
                <p:oleObj name="Equation" r:id="rId5" imgW="939392" imgH="406224" progId="Equation.3">
                  <p:embed/>
                  <p:pic>
                    <p:nvPicPr>
                      <p:cNvPr id="2867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75" y="5031425"/>
                        <a:ext cx="1778412" cy="7701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64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80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6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6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6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67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6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67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86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867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build="p"/>
      <p:bldP spid="286724" grpId="0" build="p" autoUpdateAnimBg="0"/>
      <p:bldP spid="286726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5</a:t>
            </a:r>
          </a:p>
        </p:txBody>
      </p:sp>
      <p:sp>
        <p:nvSpPr>
          <p:cNvPr id="90117" name="Rectangle 3">
            <a:extLst>
              <a:ext uri="{FF2B5EF4-FFF2-40B4-BE49-F238E27FC236}">
                <a16:creationId xmlns:a16="http://schemas.microsoft.com/office/drawing/2014/main" id="{A90968D6-1228-4215-89AB-015FEE3F4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575" y="1143266"/>
            <a:ext cx="11734800" cy="4063353"/>
          </a:xfrm>
        </p:spPr>
        <p:txBody>
          <a:bodyPr>
            <a:normAutofit fontScale="92500"/>
          </a:bodyPr>
          <a:lstStyle/>
          <a:p>
            <a:pPr marL="0" indent="720144" algn="just">
              <a:buNone/>
              <a:defRPr/>
            </a:pPr>
            <a:r>
              <a:rPr lang="zh-CN" altLang="en-US" dirty="0"/>
              <a:t>若顾客的购买是无记忆的</a:t>
            </a:r>
            <a:r>
              <a:rPr lang="en-US" altLang="zh-CN" dirty="0"/>
              <a:t>, </a:t>
            </a:r>
            <a:r>
              <a:rPr lang="zh-CN" altLang="en-US" dirty="0"/>
              <a:t>即已知顾客现在的购买情况</a:t>
            </a:r>
            <a:r>
              <a:rPr lang="en-US" altLang="zh-CN" dirty="0"/>
              <a:t>, </a:t>
            </a:r>
            <a:r>
              <a:rPr lang="zh-CN" altLang="en-US" dirty="0"/>
              <a:t>顾客将来购买的情况不受过去历史购买的影响</a:t>
            </a:r>
            <a:r>
              <a:rPr lang="en-US" altLang="zh-CN" dirty="0"/>
              <a:t>, </a:t>
            </a:r>
            <a:r>
              <a:rPr lang="zh-CN" altLang="en-US" dirty="0"/>
              <a:t>而只与现在的购买情况有关。现在市场上供应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三个不同厂生产的</a:t>
            </a:r>
            <a:r>
              <a:rPr lang="en-US" altLang="zh-CN" dirty="0"/>
              <a:t>50</a:t>
            </a:r>
            <a:r>
              <a:rPr lang="zh-CN" altLang="en-US" dirty="0"/>
              <a:t>克袋装味精。</a:t>
            </a:r>
            <a:r>
              <a:rPr lang="en-US" altLang="zh-CN" dirty="0"/>
              <a:t>X(n)=1</a:t>
            </a:r>
            <a:r>
              <a:rPr lang="zh-CN" altLang="en-US" dirty="0"/>
              <a:t>、</a:t>
            </a:r>
            <a:r>
              <a:rPr lang="en-US" altLang="zh-CN" dirty="0"/>
              <a:t>X(n)=2</a:t>
            </a:r>
            <a:r>
              <a:rPr lang="zh-CN" altLang="en-US" dirty="0"/>
              <a:t>、</a:t>
            </a:r>
            <a:r>
              <a:rPr lang="en-US" altLang="zh-CN" dirty="0"/>
              <a:t>X(n)= 3</a:t>
            </a:r>
            <a:r>
              <a:rPr lang="zh-CN" altLang="en-US" dirty="0"/>
              <a:t>分别表示顾客第</a:t>
            </a:r>
            <a:r>
              <a:rPr lang="en-US" altLang="zh-CN" dirty="0"/>
              <a:t>n</a:t>
            </a:r>
            <a:r>
              <a:rPr lang="zh-CN" altLang="en-US" dirty="0"/>
              <a:t>次购买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厂的味精。</a:t>
            </a:r>
          </a:p>
          <a:p>
            <a:pPr marL="0" indent="720144" algn="just">
              <a:buNone/>
              <a:defRPr/>
            </a:pPr>
            <a:r>
              <a:rPr lang="en-US" altLang="zh-CN" dirty="0"/>
              <a:t>{X(n), n=1, 2, 3, …}</a:t>
            </a:r>
            <a:r>
              <a:rPr lang="zh-CN" altLang="en-US" dirty="0"/>
              <a:t>是一个齐次马氏链</a:t>
            </a:r>
            <a:r>
              <a:rPr lang="en-US" altLang="zh-CN" dirty="0"/>
              <a:t>, </a:t>
            </a: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3}</a:t>
            </a:r>
            <a:r>
              <a:rPr lang="zh-CN" altLang="en-US" dirty="0"/>
              <a:t>。</a:t>
            </a:r>
          </a:p>
          <a:p>
            <a:pPr marL="0" indent="720144" algn="just">
              <a:buNone/>
              <a:defRPr/>
            </a:pPr>
            <a:r>
              <a:rPr lang="zh-CN" altLang="en-US" dirty="0"/>
              <a:t>若已知第一次顾客购买三个厂味精的概率分布</a:t>
            </a:r>
            <a:r>
              <a:rPr lang="en-US" altLang="zh-CN" dirty="0"/>
              <a:t>, </a:t>
            </a:r>
            <a:r>
              <a:rPr lang="zh-CN" altLang="en-US" dirty="0"/>
              <a:t>即初始分布</a:t>
            </a:r>
          </a:p>
          <a:p>
            <a:pPr marL="0" indent="0" algn="ctr">
              <a:buNone/>
              <a:defRPr/>
            </a:pPr>
            <a:r>
              <a:rPr lang="en-US" altLang="zh-CN" dirty="0"/>
              <a:t>P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(P{X(1)=1}, P{X(1)=2}, P{X(1)=3})</a:t>
            </a:r>
            <a:r>
              <a:rPr lang="zh-CN" altLang="en-US" dirty="0"/>
              <a:t>＝</a:t>
            </a:r>
            <a:r>
              <a:rPr lang="en-US" altLang="zh-CN" dirty="0"/>
              <a:t>(0.2, 0.4, 0.4)</a:t>
            </a:r>
          </a:p>
          <a:p>
            <a:pPr marL="0" indent="720144" algn="just">
              <a:buNone/>
              <a:defRPr/>
            </a:pPr>
            <a:r>
              <a:rPr lang="zh-CN" altLang="en-US" dirty="0"/>
              <a:t>又知道一般顾客的购买倾向</a:t>
            </a:r>
            <a:r>
              <a:rPr lang="en-US" altLang="zh-CN" dirty="0"/>
              <a:t>——</a:t>
            </a:r>
            <a:r>
              <a:rPr lang="zh-CN" altLang="en-US" dirty="0"/>
              <a:t>转移矩阵</a:t>
            </a:r>
          </a:p>
        </p:txBody>
      </p:sp>
      <p:graphicFrame>
        <p:nvGraphicFramePr>
          <p:cNvPr id="901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51063"/>
              </p:ext>
            </p:extLst>
          </p:nvPr>
        </p:nvGraphicFramePr>
        <p:xfrm>
          <a:off x="3660775" y="4881929"/>
          <a:ext cx="3124535" cy="1668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8100" imgH="698500" progId="Equation.3">
                  <p:embed/>
                </p:oleObj>
              </mc:Choice>
              <mc:Fallback>
                <p:oleObj name="Equation" r:id="rId3" imgW="1308100" imgH="698500" progId="Equation.3">
                  <p:embed/>
                  <p:pic>
                    <p:nvPicPr>
                      <p:cNvPr id="901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4881929"/>
                        <a:ext cx="3124535" cy="1668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2785296" y="4252310"/>
            <a:ext cx="439839" cy="396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000"/>
              <a:t>～</a:t>
            </a:r>
          </a:p>
        </p:txBody>
      </p:sp>
    </p:spTree>
    <p:extLst>
      <p:ext uri="{BB962C8B-B14F-4D97-AF65-F5344CB8AC3E}">
        <p14:creationId xmlns:p14="http://schemas.microsoft.com/office/powerpoint/2010/main" val="1234181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0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0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7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5(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6" y="1063870"/>
            <a:ext cx="8347826" cy="841923"/>
          </a:xfrm>
        </p:spPr>
        <p:txBody>
          <a:bodyPr>
            <a:normAutofit/>
          </a:bodyPr>
          <a:lstStyle/>
          <a:p>
            <a:pPr eaLnBrk="1" hangingPunct="1"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>
                <a:solidFill>
                  <a:srgbClr val="0000FF"/>
                </a:solidFill>
              </a:rPr>
              <a:t>顾客第二次购买各厂味精的概率</a:t>
            </a:r>
            <a:endParaRPr lang="zh-CN" altLang="en-US" dirty="0"/>
          </a:p>
        </p:txBody>
      </p:sp>
      <p:graphicFrame>
        <p:nvGraphicFramePr>
          <p:cNvPr id="288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642453"/>
              </p:ext>
            </p:extLst>
          </p:nvPr>
        </p:nvGraphicFramePr>
        <p:xfrm>
          <a:off x="2060575" y="1599318"/>
          <a:ext cx="5139928" cy="177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79700" imgH="927100" progId="Equation.3">
                  <p:embed/>
                </p:oleObj>
              </mc:Choice>
              <mc:Fallback>
                <p:oleObj name="Equation" r:id="rId3" imgW="2679700" imgH="927100" progId="Equation.3">
                  <p:embed/>
                  <p:pic>
                    <p:nvPicPr>
                      <p:cNvPr id="288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1599318"/>
                        <a:ext cx="5139928" cy="1776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8773" name="Rectangle 5"/>
          <p:cNvSpPr>
            <a:spLocks noChangeArrowheads="1"/>
          </p:cNvSpPr>
          <p:nvPr/>
        </p:nvSpPr>
        <p:spPr bwMode="auto">
          <a:xfrm>
            <a:off x="1242480" y="3658394"/>
            <a:ext cx="10266895" cy="40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求第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次购买各厂味精的顾客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经过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次购买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第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次购买各厂味精的概率</a:t>
            </a:r>
          </a:p>
        </p:txBody>
      </p:sp>
      <p:graphicFrame>
        <p:nvGraphicFramePr>
          <p:cNvPr id="288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8454414"/>
              </p:ext>
            </p:extLst>
          </p:nvPr>
        </p:nvGraphicFramePr>
        <p:xfrm>
          <a:off x="2212975" y="4371858"/>
          <a:ext cx="6138696" cy="1776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00400" imgH="927100" progId="Equation.3">
                  <p:embed/>
                </p:oleObj>
              </mc:Choice>
              <mc:Fallback>
                <p:oleObj name="Equation" r:id="rId5" imgW="3200400" imgH="927100" progId="Equation.3">
                  <p:embed/>
                  <p:pic>
                    <p:nvPicPr>
                      <p:cNvPr id="2887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2975" y="4371858"/>
                        <a:ext cx="6138696" cy="1776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939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28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2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5" grpId="0" build="p"/>
      <p:bldP spid="288773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齐次马氏链例</a:t>
            </a:r>
            <a:r>
              <a:rPr lang="en-US" altLang="zh-CN"/>
              <a:t>5(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700" y="1143265"/>
            <a:ext cx="9668881" cy="854273"/>
          </a:xfrm>
        </p:spPr>
        <p:txBody>
          <a:bodyPr/>
          <a:lstStyle/>
          <a:p>
            <a:pPr eaLnBrk="1" hangingPunct="1">
              <a:lnSpc>
                <a:spcPct val="10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dirty="0">
                <a:solidFill>
                  <a:srgbClr val="0000FF"/>
                </a:solidFill>
              </a:rPr>
              <a:t>预测经过长期多次购买之后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zh-CN" altLang="en-US" dirty="0">
                <a:solidFill>
                  <a:srgbClr val="0000FF"/>
                </a:solidFill>
              </a:rPr>
              <a:t>顾客购买倾向</a:t>
            </a:r>
            <a:r>
              <a:rPr lang="en-US" altLang="zh-CN" dirty="0">
                <a:solidFill>
                  <a:srgbClr val="0000FF"/>
                </a:solidFill>
              </a:rPr>
              <a:t>—</a:t>
            </a:r>
            <a:r>
              <a:rPr lang="zh-CN" altLang="en-US" dirty="0">
                <a:solidFill>
                  <a:srgbClr val="0000FF"/>
                </a:solidFill>
              </a:rPr>
              <a:t>各厂味精市场占有率</a:t>
            </a:r>
          </a:p>
        </p:txBody>
      </p:sp>
      <p:sp>
        <p:nvSpPr>
          <p:cNvPr id="289796" name="Rectangle 4"/>
          <p:cNvSpPr>
            <a:spLocks noChangeArrowheads="1"/>
          </p:cNvSpPr>
          <p:nvPr/>
        </p:nvSpPr>
        <p:spPr bwMode="auto">
          <a:xfrm>
            <a:off x="1298575" y="1957841"/>
            <a:ext cx="8916352" cy="44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因</a:t>
            </a:r>
            <a:r>
              <a:rPr lang="en-US" altLang="zh-CN" sz="2400" dirty="0" err="1"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&gt;0, 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, </a:t>
            </a:r>
            <a:r>
              <a:rPr lang="en-US" altLang="zh-CN" sz="2400" dirty="0" err="1">
                <a:latin typeface="+mn-ea"/>
                <a:ea typeface="+mn-ea"/>
              </a:rPr>
              <a:t>j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E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故为遍历的马氏链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其极限分布等于平稳分布</a:t>
            </a:r>
          </a:p>
        </p:txBody>
      </p:sp>
      <p:graphicFrame>
        <p:nvGraphicFramePr>
          <p:cNvPr id="2897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4725618"/>
              </p:ext>
            </p:extLst>
          </p:nvPr>
        </p:nvGraphicFramePr>
        <p:xfrm>
          <a:off x="3127375" y="2540900"/>
          <a:ext cx="3766422" cy="104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39900" imgH="482600" progId="Equation.3">
                  <p:embed/>
                </p:oleObj>
              </mc:Choice>
              <mc:Fallback>
                <p:oleObj name="Equation" r:id="rId3" imgW="1739900" imgH="482600" progId="Equation.3">
                  <p:embed/>
                  <p:pic>
                    <p:nvPicPr>
                      <p:cNvPr id="289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540900"/>
                        <a:ext cx="3766422" cy="1043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114185"/>
              </p:ext>
            </p:extLst>
          </p:nvPr>
        </p:nvGraphicFramePr>
        <p:xfrm>
          <a:off x="3155772" y="3691845"/>
          <a:ext cx="3793416" cy="2030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600" imgH="939800" progId="Equation.3">
                  <p:embed/>
                </p:oleObj>
              </mc:Choice>
              <mc:Fallback>
                <p:oleObj name="Equation" r:id="rId5" imgW="1752600" imgH="939800" progId="Equation.3">
                  <p:embed/>
                  <p:pic>
                    <p:nvPicPr>
                      <p:cNvPr id="289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772" y="3691845"/>
                        <a:ext cx="3793416" cy="20308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9799" name="Rectangle 7"/>
          <p:cNvSpPr>
            <a:spLocks noChangeArrowheads="1"/>
          </p:cNvSpPr>
          <p:nvPr/>
        </p:nvSpPr>
        <p:spPr bwMode="auto">
          <a:xfrm>
            <a:off x="1418757" y="5960918"/>
            <a:ext cx="202294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CC00CC"/>
              </a:buClr>
              <a:buAutoNum type="arabicParenR"/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解得平稳分布</a:t>
            </a:r>
          </a:p>
        </p:txBody>
      </p:sp>
      <p:graphicFrame>
        <p:nvGraphicFramePr>
          <p:cNvPr id="2898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313052"/>
              </p:ext>
            </p:extLst>
          </p:nvPr>
        </p:nvGraphicFramePr>
        <p:xfrm>
          <a:off x="3412218" y="5722728"/>
          <a:ext cx="3506011" cy="908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500" imgH="444500" progId="Equation.3">
                  <p:embed/>
                </p:oleObj>
              </mc:Choice>
              <mc:Fallback>
                <p:oleObj name="Equation" r:id="rId7" imgW="1714500" imgH="444500" progId="Equation.3">
                  <p:embed/>
                  <p:pic>
                    <p:nvPicPr>
                      <p:cNvPr id="2898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2218" y="5722728"/>
                        <a:ext cx="3506011" cy="908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639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9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28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89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289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6" grpId="0" autoUpdateAnimBg="0"/>
      <p:bldP spid="289799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01096" y="2310557"/>
            <a:ext cx="456027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             《</a:t>
            </a:r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随机过程与排队论</a:t>
            </a:r>
            <a:r>
              <a:rPr lang="en-US" altLang="zh-CN" sz="2000" dirty="0">
                <a:solidFill>
                  <a:schemeClr val="bg1"/>
                </a:solidFill>
              </a:rPr>
              <a:t>》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7975" y="1116654"/>
            <a:ext cx="2076056" cy="861817"/>
          </a:xfrm>
          <a:prstGeom prst="rect">
            <a:avLst/>
          </a:prstGeom>
          <a:solidFill>
            <a:srgbClr val="28A7E1"/>
          </a:solidFill>
        </p:spPr>
        <p:txBody>
          <a:bodyPr wrap="square" lIns="121963" tIns="60981" rIns="121963" bIns="60981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</a:rPr>
              <a:t>第</a:t>
            </a:r>
            <a:r>
              <a:rPr lang="en-US" altLang="zh-CN" sz="4800" dirty="0">
                <a:solidFill>
                  <a:schemeClr val="bg1"/>
                </a:solidFill>
              </a:rPr>
              <a:t>7</a:t>
            </a:r>
            <a:r>
              <a:rPr lang="zh-CN" altLang="en-US" sz="4800" dirty="0">
                <a:solidFill>
                  <a:schemeClr val="bg1"/>
                </a:solidFill>
              </a:rPr>
              <a:t>章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536" y="1368889"/>
            <a:ext cx="4057469" cy="1108038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bg1"/>
                </a:solidFill>
              </a:rPr>
              <a:t>齐次马氏链状态的分类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35" y="3519164"/>
            <a:ext cx="4854640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Email</a:t>
            </a:r>
            <a:r>
              <a:rPr lang="zh-CN" altLang="en-US" sz="2000" dirty="0">
                <a:solidFill>
                  <a:schemeClr val="bg1"/>
                </a:solidFill>
                <a:ea typeface="华文行楷" panose="02010800040101010101" pitchFamily="2" charset="-122"/>
              </a:rPr>
              <a:t>：</a:t>
            </a:r>
            <a:r>
              <a:rPr lang="en-US" altLang="zh-CN" sz="2000" dirty="0">
                <a:solidFill>
                  <a:schemeClr val="bg1"/>
                </a:solidFill>
                <a:ea typeface="华文行楷" panose="02010800040101010101" pitchFamily="2" charset="-122"/>
              </a:rPr>
              <a:t>qxwang@uestc.edu.cn</a:t>
            </a:r>
          </a:p>
        </p:txBody>
      </p:sp>
      <p:sp>
        <p:nvSpPr>
          <p:cNvPr id="22" name="矩形 21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794375" y="2900778"/>
            <a:ext cx="1754309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王庆先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98775" y="2900930"/>
            <a:ext cx="3078481" cy="430930"/>
          </a:xfrm>
          <a:prstGeom prst="rect">
            <a:avLst/>
          </a:prstGeom>
          <a:noFill/>
        </p:spPr>
        <p:txBody>
          <a:bodyPr wrap="square" lIns="121963" tIns="60981" rIns="121963" bIns="60981" rtlCol="0">
            <a:spAutoFit/>
          </a:bodyPr>
          <a:lstStyle/>
          <a:p>
            <a:pPr eaLnBrk="1" hangingPunct="1"/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信息与软件工程学院</a:t>
            </a:r>
          </a:p>
        </p:txBody>
      </p:sp>
      <p:sp>
        <p:nvSpPr>
          <p:cNvPr id="2" name="矩形 1"/>
          <p:cNvSpPr/>
          <p:nvPr/>
        </p:nvSpPr>
        <p:spPr>
          <a:xfrm>
            <a:off x="5748656" y="2975515"/>
            <a:ext cx="45719" cy="3217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5287" y="997635"/>
            <a:ext cx="11355088" cy="2350044"/>
          </a:xfrm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/>
              <a:t>设有</a:t>
            </a:r>
            <a:r>
              <a:rPr lang="en-US" altLang="zh-CN" dirty="0"/>
              <a:t>6</a:t>
            </a:r>
            <a:r>
              <a:rPr lang="zh-CN" altLang="en-US" dirty="0"/>
              <a:t>个球</a:t>
            </a:r>
            <a:r>
              <a:rPr lang="en-US" altLang="zh-CN" dirty="0"/>
              <a:t>(</a:t>
            </a:r>
            <a:r>
              <a:rPr lang="zh-CN" altLang="en-US" dirty="0"/>
              <a:t>其中</a:t>
            </a:r>
            <a:r>
              <a:rPr lang="en-US" altLang="zh-CN" dirty="0"/>
              <a:t>2</a:t>
            </a:r>
            <a:r>
              <a:rPr lang="zh-CN" altLang="en-US" dirty="0"/>
              <a:t>个红球</a:t>
            </a:r>
            <a:r>
              <a:rPr lang="en-US" altLang="zh-CN" dirty="0"/>
              <a:t>4</a:t>
            </a:r>
            <a:r>
              <a:rPr lang="zh-CN" altLang="en-US" dirty="0"/>
              <a:t>个白球</a:t>
            </a:r>
            <a:r>
              <a:rPr lang="en-US" altLang="zh-CN" dirty="0"/>
              <a:t>)</a:t>
            </a:r>
            <a:r>
              <a:rPr lang="zh-CN" altLang="en-US" dirty="0"/>
              <a:t>分别放于甲、乙两个盒子中</a:t>
            </a:r>
            <a:r>
              <a:rPr lang="en-US" altLang="zh-CN" dirty="0"/>
              <a:t>, </a:t>
            </a:r>
            <a:r>
              <a:rPr lang="zh-CN" altLang="en-US" dirty="0"/>
              <a:t>每盒</a:t>
            </a:r>
            <a:r>
              <a:rPr lang="en-US" altLang="zh-CN" dirty="0"/>
              <a:t>3</a:t>
            </a:r>
            <a:r>
              <a:rPr lang="zh-CN" altLang="en-US" dirty="0"/>
              <a:t>个。令每次从两个盒子中各取一个球进行交换</a:t>
            </a:r>
            <a:r>
              <a:rPr lang="en-US" altLang="zh-CN" dirty="0"/>
              <a:t>, X(0)</a:t>
            </a:r>
            <a:r>
              <a:rPr lang="zh-CN" altLang="en-US" dirty="0"/>
              <a:t>表示开始时甲盒中红球的个数</a:t>
            </a:r>
            <a:r>
              <a:rPr lang="en-US" altLang="zh-CN" dirty="0"/>
              <a:t>, X(n), n=1, 2, …</a:t>
            </a:r>
            <a:r>
              <a:rPr lang="zh-CN" altLang="en-US" dirty="0"/>
              <a:t>表示经过</a:t>
            </a:r>
            <a:r>
              <a:rPr lang="en-US" altLang="zh-CN" dirty="0"/>
              <a:t>n</a:t>
            </a:r>
            <a:r>
              <a:rPr lang="zh-CN" altLang="en-US" dirty="0"/>
              <a:t>次交换后甲盒中的红球数。</a:t>
            </a:r>
            <a:r>
              <a:rPr lang="en-US" altLang="zh-CN" dirty="0"/>
              <a:t>{X(n), n=0, 1, 2, …}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1, 2}</a:t>
            </a:r>
            <a:r>
              <a:rPr lang="zh-CN" altLang="en-US" dirty="0"/>
              <a:t>的齐次马氏链。</a:t>
            </a:r>
          </a:p>
        </p:txBody>
      </p:sp>
      <p:sp>
        <p:nvSpPr>
          <p:cNvPr id="283652" name="Rectangle 4"/>
          <p:cNvSpPr>
            <a:spLocks noChangeArrowheads="1"/>
          </p:cNvSpPr>
          <p:nvPr/>
        </p:nvSpPr>
        <p:spPr bwMode="auto">
          <a:xfrm>
            <a:off x="1426904" y="3500958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初始分布</a:t>
            </a:r>
          </a:p>
        </p:txBody>
      </p:sp>
      <p:sp>
        <p:nvSpPr>
          <p:cNvPr id="283653" name="Rectangle 5"/>
          <p:cNvSpPr>
            <a:spLocks noChangeArrowheads="1"/>
          </p:cNvSpPr>
          <p:nvPr/>
        </p:nvSpPr>
        <p:spPr bwMode="auto">
          <a:xfrm>
            <a:off x="6556375" y="3594567"/>
            <a:ext cx="18453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(2)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283654" name="Group 6">
            <a:extLst>
              <a:ext uri="{FF2B5EF4-FFF2-40B4-BE49-F238E27FC236}">
                <a16:creationId xmlns:a16="http://schemas.microsoft.com/office/drawing/2014/main" id="{546030D1-25B3-4F89-AC0F-88537AA7D47A}"/>
              </a:ext>
            </a:extLst>
          </p:cNvPr>
          <p:cNvGraphicFramePr>
            <a:graphicFrameLocks noGrp="1"/>
          </p:cNvGraphicFramePr>
          <p:nvPr/>
        </p:nvGraphicFramePr>
        <p:xfrm>
          <a:off x="1426904" y="4499759"/>
          <a:ext cx="2820053" cy="1060696"/>
        </p:xfrm>
        <a:graphic>
          <a:graphicData uri="http://schemas.openxmlformats.org/drawingml/2006/table">
            <a:tbl>
              <a:tblPr/>
              <a:tblGrid>
                <a:gridCol w="762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4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X(0)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0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2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48"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P</a:t>
                      </a:r>
                    </a:p>
                  </a:txBody>
                  <a:tcPr marL="91461" marR="91461" marT="45685" marB="45685" horzOverflow="overflow">
                    <a:lnL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3/5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buFont typeface="Wingdings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1pPr>
                      <a:lvl2pPr marL="742950" indent="-285750" eaLnBrk="0" hangingPunct="0">
                        <a:lnSpc>
                          <a:spcPct val="120000"/>
                        </a:lnSpc>
                        <a:buClr>
                          <a:srgbClr val="00FF00"/>
                        </a:buClr>
                        <a:defRPr kumimoji="1" sz="2400" b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FF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1/5</a:t>
                      </a:r>
                    </a:p>
                  </a:txBody>
                  <a:tcPr marL="91461" marR="91461" marT="45685" marB="45685" horzOverflow="overflow">
                    <a:lnL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99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2050937" y="5490589"/>
            <a:ext cx="2653326" cy="1219482"/>
            <a:chOff x="1248" y="3408"/>
            <a:chExt cx="1671" cy="768"/>
          </a:xfrm>
        </p:grpSpPr>
        <p:graphicFrame>
          <p:nvGraphicFramePr>
            <p:cNvPr id="11292" name="Object 24"/>
            <p:cNvGraphicFramePr>
              <a:graphicFrameLocks noChangeAspect="1"/>
            </p:cNvGraphicFramePr>
            <p:nvPr/>
          </p:nvGraphicFramePr>
          <p:xfrm>
            <a:off x="1248" y="3562"/>
            <a:ext cx="1671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44600" imgH="457200" progId="Equation.3">
                    <p:embed/>
                  </p:oleObj>
                </mc:Choice>
                <mc:Fallback>
                  <p:oleObj name="Equation" r:id="rId3" imgW="1244600" imgH="457200" progId="Equation.3">
                    <p:embed/>
                    <p:pic>
                      <p:nvPicPr>
                        <p:cNvPr id="11292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3562"/>
                          <a:ext cx="1671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3" name="Line 25"/>
            <p:cNvSpPr>
              <a:spLocks noChangeShapeType="1"/>
            </p:cNvSpPr>
            <p:nvPr/>
          </p:nvSpPr>
          <p:spPr bwMode="auto">
            <a:xfrm flipV="1">
              <a:off x="1440" y="3408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4" name="Line 26"/>
            <p:cNvSpPr>
              <a:spLocks noChangeShapeType="1"/>
            </p:cNvSpPr>
            <p:nvPr/>
          </p:nvSpPr>
          <p:spPr bwMode="auto">
            <a:xfrm flipV="1">
              <a:off x="1968" y="34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95" name="Line 27"/>
            <p:cNvSpPr>
              <a:spLocks noChangeShapeType="1"/>
            </p:cNvSpPr>
            <p:nvPr/>
          </p:nvSpPr>
          <p:spPr bwMode="auto">
            <a:xfrm flipH="1" flipV="1">
              <a:off x="2448" y="3408"/>
              <a:ext cx="14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283676" name="Object 28"/>
          <p:cNvGraphicFramePr>
            <a:graphicFrameLocks noChangeAspect="1"/>
          </p:cNvGraphicFramePr>
          <p:nvPr/>
        </p:nvGraphicFramePr>
        <p:xfrm>
          <a:off x="6728275" y="4388218"/>
          <a:ext cx="2038822" cy="228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40948" imgH="1167893" progId="Equation.3">
                  <p:embed/>
                </p:oleObj>
              </mc:Choice>
              <mc:Fallback>
                <p:oleObj name="Equation" r:id="rId5" imgW="1040948" imgH="1167893" progId="Equation.3">
                  <p:embed/>
                  <p:pic>
                    <p:nvPicPr>
                      <p:cNvPr id="283676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8275" y="4388218"/>
                        <a:ext cx="2038822" cy="2286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">
            <a:extLst>
              <a:ext uri="{FF2B5EF4-FFF2-40B4-BE49-F238E27FC236}">
                <a16:creationId xmlns:a16="http://schemas.microsoft.com/office/drawing/2014/main" id="{B79038CD-393A-49E1-B758-7E7F0D801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8092" y="369027"/>
            <a:ext cx="60728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CC00CC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kern="0" dirty="0">
                <a:solidFill>
                  <a:schemeClr val="bg1"/>
                </a:solidFill>
                <a:latin typeface="+mn-ea"/>
                <a:ea typeface="+mn-ea"/>
              </a:rPr>
              <a:t>§7.3  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</a:rPr>
              <a:t>齐次马氏链状态的分类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83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8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28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0" dur="500"/>
                                        <p:tgtEl>
                                          <p:spTgt spid="28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5" grpId="0" build="p"/>
      <p:bldP spid="283652" grpId="0" autoUpdateAnimBg="0"/>
      <p:bldP spid="28365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问题引入</a:t>
            </a:r>
          </a:p>
        </p:txBody>
      </p:sp>
      <p:graphicFrame>
        <p:nvGraphicFramePr>
          <p:cNvPr id="13318" name="Object 4"/>
          <p:cNvGraphicFramePr>
            <a:graphicFrameLocks noChangeAspect="1"/>
          </p:cNvGraphicFramePr>
          <p:nvPr/>
        </p:nvGraphicFramePr>
        <p:xfrm>
          <a:off x="5707769" y="943788"/>
          <a:ext cx="2896270" cy="248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6200" imgH="1155700" progId="Equation.3">
                  <p:embed/>
                </p:oleObj>
              </mc:Choice>
              <mc:Fallback>
                <p:oleObj name="Equation" r:id="rId2" imgW="1346200" imgH="1155700" progId="Equation.3">
                  <p:embed/>
                  <p:pic>
                    <p:nvPicPr>
                      <p:cNvPr id="1331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769" y="943788"/>
                        <a:ext cx="2896270" cy="248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28"/>
          <p:cNvGraphicFramePr>
            <a:graphicFrameLocks noChangeAspect="1"/>
          </p:cNvGraphicFramePr>
          <p:nvPr/>
        </p:nvGraphicFramePr>
        <p:xfrm>
          <a:off x="2003222" y="1100370"/>
          <a:ext cx="2038822" cy="2286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40948" imgH="1167893" progId="Equation.3">
                  <p:embed/>
                </p:oleObj>
              </mc:Choice>
              <mc:Fallback>
                <p:oleObj name="Equation" r:id="rId4" imgW="1040948" imgH="1167893" progId="Equation.3">
                  <p:embed/>
                  <p:pic>
                    <p:nvPicPr>
                      <p:cNvPr id="1331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222" y="1100370"/>
                        <a:ext cx="2038822" cy="22865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AutoShape 54"/>
          <p:cNvSpPr>
            <a:spLocks noChangeArrowheads="1"/>
          </p:cNvSpPr>
          <p:nvPr/>
        </p:nvSpPr>
        <p:spPr bwMode="auto">
          <a:xfrm>
            <a:off x="3390463" y="3268622"/>
            <a:ext cx="2970409" cy="1464231"/>
          </a:xfrm>
          <a:prstGeom prst="wedgeRoundRectCallout">
            <a:avLst>
              <a:gd name="adj1" fmla="val -37440"/>
              <a:gd name="adj2" fmla="val 69683"/>
              <a:gd name="adj3" fmla="val 16667"/>
            </a:avLst>
          </a:prstGeom>
          <a:solidFill>
            <a:schemeClr val="tx2">
              <a:lumMod val="75000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000" dirty="0">
                <a:solidFill>
                  <a:srgbClr val="FFFF00"/>
                </a:solidFill>
                <a:latin typeface="+mn-ea"/>
                <a:ea typeface="+mn-ea"/>
              </a:rPr>
              <a:t>以状态为结点，以状态转移概率为有向边的权值得到的赋权有向图</a:t>
            </a:r>
            <a:r>
              <a:rPr lang="en-US" altLang="zh-CN" sz="2000" dirty="0">
                <a:solidFill>
                  <a:srgbClr val="FFFF00"/>
                </a:solidFill>
                <a:latin typeface="+mn-ea"/>
                <a:ea typeface="+mn-ea"/>
              </a:rPr>
              <a:t>—</a:t>
            </a:r>
            <a:r>
              <a:rPr lang="zh-CN" altLang="en-US" sz="2000" dirty="0">
                <a:solidFill>
                  <a:schemeClr val="bg1"/>
                </a:solidFill>
                <a:latin typeface="+mn-ea"/>
                <a:ea typeface="+mn-ea"/>
              </a:rPr>
              <a:t>状态转移图</a:t>
            </a:r>
          </a:p>
        </p:txBody>
      </p:sp>
      <p:sp>
        <p:nvSpPr>
          <p:cNvPr id="2" name="Arc 25">
            <a:extLst>
              <a:ext uri="{FF2B5EF4-FFF2-40B4-BE49-F238E27FC236}">
                <a16:creationId xmlns:a16="http://schemas.microsoft.com/office/drawing/2014/main" id="{C4426949-D0A1-5A58-BFC0-4EB487A4FABE}"/>
              </a:ext>
            </a:extLst>
          </p:cNvPr>
          <p:cNvSpPr>
            <a:spLocks/>
          </p:cNvSpPr>
          <p:nvPr/>
        </p:nvSpPr>
        <p:spPr bwMode="auto">
          <a:xfrm rot="4163643" flipH="1">
            <a:off x="1894682" y="5390356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" name="Freeform 27">
            <a:extLst>
              <a:ext uri="{FF2B5EF4-FFF2-40B4-BE49-F238E27FC236}">
                <a16:creationId xmlns:a16="http://schemas.microsoft.com/office/drawing/2014/main" id="{63CD7BB5-5034-ABE5-DF43-CC074509CCD6}"/>
              </a:ext>
            </a:extLst>
          </p:cNvPr>
          <p:cNvSpPr>
            <a:spLocks/>
          </p:cNvSpPr>
          <p:nvPr/>
        </p:nvSpPr>
        <p:spPr bwMode="auto">
          <a:xfrm>
            <a:off x="2289175" y="4295775"/>
            <a:ext cx="698500" cy="1263650"/>
          </a:xfrm>
          <a:custGeom>
            <a:avLst/>
            <a:gdLst>
              <a:gd name="T0" fmla="*/ 1297 w 10227"/>
              <a:gd name="T1" fmla="*/ 0 h 10448"/>
              <a:gd name="T2" fmla="*/ 956 w 10227"/>
              <a:gd name="T3" fmla="*/ 3265 h 10448"/>
              <a:gd name="T4" fmla="*/ 0 w 10227"/>
              <a:gd name="T5" fmla="*/ 7377 h 104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227" h="10448">
                <a:moveTo>
                  <a:pt x="10227" y="0"/>
                </a:moveTo>
                <a:cubicBezTo>
                  <a:pt x="10227" y="0"/>
                  <a:pt x="9379" y="2931"/>
                  <a:pt x="7580" y="4626"/>
                </a:cubicBezTo>
                <a:cubicBezTo>
                  <a:pt x="5781" y="6322"/>
                  <a:pt x="1533" y="9327"/>
                  <a:pt x="0" y="1044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" name="Freeform 28">
            <a:extLst>
              <a:ext uri="{FF2B5EF4-FFF2-40B4-BE49-F238E27FC236}">
                <a16:creationId xmlns:a16="http://schemas.microsoft.com/office/drawing/2014/main" id="{57326573-53B3-57B0-600F-2A27E475C0C2}"/>
              </a:ext>
            </a:extLst>
          </p:cNvPr>
          <p:cNvSpPr>
            <a:spLocks/>
          </p:cNvSpPr>
          <p:nvPr/>
        </p:nvSpPr>
        <p:spPr bwMode="auto">
          <a:xfrm>
            <a:off x="2259013" y="4287838"/>
            <a:ext cx="703262" cy="1203325"/>
          </a:xfrm>
          <a:custGeom>
            <a:avLst/>
            <a:gdLst>
              <a:gd name="T0" fmla="*/ 0 w 10000"/>
              <a:gd name="T1" fmla="*/ 6858 h 10000"/>
              <a:gd name="T2" fmla="*/ 492 w 10000"/>
              <a:gd name="T3" fmla="*/ 2888 h 10000"/>
              <a:gd name="T4" fmla="*/ 1406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10000"/>
                </a:moveTo>
                <a:cubicBezTo>
                  <a:pt x="600" y="9018"/>
                  <a:pt x="1900" y="5789"/>
                  <a:pt x="3571" y="4128"/>
                </a:cubicBezTo>
                <a:cubicBezTo>
                  <a:pt x="5243" y="2468"/>
                  <a:pt x="8657" y="862"/>
                  <a:pt x="1000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" name="Arc 29">
            <a:extLst>
              <a:ext uri="{FF2B5EF4-FFF2-40B4-BE49-F238E27FC236}">
                <a16:creationId xmlns:a16="http://schemas.microsoft.com/office/drawing/2014/main" id="{2E5DB343-99CC-AE56-7EFD-0C70EC94042A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2854325" y="3870325"/>
            <a:ext cx="366713" cy="381000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6" name="Text Box 30">
            <a:extLst>
              <a:ext uri="{FF2B5EF4-FFF2-40B4-BE49-F238E27FC236}">
                <a16:creationId xmlns:a16="http://schemas.microsoft.com/office/drawing/2014/main" id="{BA4A6B01-E40C-188D-D77D-66DD0F8196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25" y="3987800"/>
            <a:ext cx="21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</a:p>
        </p:txBody>
      </p:sp>
      <p:sp>
        <p:nvSpPr>
          <p:cNvPr id="7" name="Text Box 31">
            <a:extLst>
              <a:ext uri="{FF2B5EF4-FFF2-40B4-BE49-F238E27FC236}">
                <a16:creationId xmlns:a16="http://schemas.microsoft.com/office/drawing/2014/main" id="{B540D0E2-FFC8-EBBE-4E12-BE789F95B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0" y="5402263"/>
            <a:ext cx="201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</a:p>
        </p:txBody>
      </p:sp>
      <p:sp>
        <p:nvSpPr>
          <p:cNvPr id="8" name="Arc 32">
            <a:extLst>
              <a:ext uri="{FF2B5EF4-FFF2-40B4-BE49-F238E27FC236}">
                <a16:creationId xmlns:a16="http://schemas.microsoft.com/office/drawing/2014/main" id="{E8283167-D21B-F757-66ED-CF134F6F0ED0}"/>
              </a:ext>
            </a:extLst>
          </p:cNvPr>
          <p:cNvSpPr>
            <a:spLocks/>
          </p:cNvSpPr>
          <p:nvPr/>
        </p:nvSpPr>
        <p:spPr bwMode="auto">
          <a:xfrm rot="16179309" flipH="1">
            <a:off x="3736182" y="5423694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9" name="Freeform 36">
            <a:extLst>
              <a:ext uri="{FF2B5EF4-FFF2-40B4-BE49-F238E27FC236}">
                <a16:creationId xmlns:a16="http://schemas.microsoft.com/office/drawing/2014/main" id="{AC64570F-6830-86E2-92EC-36C0EF1F6273}"/>
              </a:ext>
            </a:extLst>
          </p:cNvPr>
          <p:cNvSpPr>
            <a:spLocks/>
          </p:cNvSpPr>
          <p:nvPr/>
        </p:nvSpPr>
        <p:spPr bwMode="auto">
          <a:xfrm>
            <a:off x="2290763" y="5591175"/>
            <a:ext cx="1419225" cy="117475"/>
          </a:xfrm>
          <a:custGeom>
            <a:avLst/>
            <a:gdLst>
              <a:gd name="T0" fmla="*/ 0 w 9683"/>
              <a:gd name="T1" fmla="*/ 0 h 12747"/>
              <a:gd name="T2" fmla="*/ 5422 w 9683"/>
              <a:gd name="T3" fmla="*/ 0 h 12747"/>
              <a:gd name="T4" fmla="*/ 12162 w 9683"/>
              <a:gd name="T5" fmla="*/ 0 h 127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83" h="12747">
                <a:moveTo>
                  <a:pt x="0" y="0"/>
                </a:moveTo>
                <a:cubicBezTo>
                  <a:pt x="788" y="1463"/>
                  <a:pt x="2690" y="12988"/>
                  <a:pt x="4355" y="12744"/>
                </a:cubicBezTo>
                <a:cubicBezTo>
                  <a:pt x="6019" y="12500"/>
                  <a:pt x="8574" y="5061"/>
                  <a:pt x="9683" y="298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0" name="Freeform 37">
            <a:extLst>
              <a:ext uri="{FF2B5EF4-FFF2-40B4-BE49-F238E27FC236}">
                <a16:creationId xmlns:a16="http://schemas.microsoft.com/office/drawing/2014/main" id="{01012329-D3FB-080C-42E4-46DDD5136C0A}"/>
              </a:ext>
            </a:extLst>
          </p:cNvPr>
          <p:cNvSpPr>
            <a:spLocks/>
          </p:cNvSpPr>
          <p:nvPr/>
        </p:nvSpPr>
        <p:spPr bwMode="auto">
          <a:xfrm>
            <a:off x="2292350" y="5414963"/>
            <a:ext cx="1473200" cy="158750"/>
          </a:xfrm>
          <a:custGeom>
            <a:avLst/>
            <a:gdLst>
              <a:gd name="T0" fmla="*/ 8557 w 1377"/>
              <a:gd name="T1" fmla="*/ 1118 h 142"/>
              <a:gd name="T2" fmla="*/ 5348 w 1377"/>
              <a:gd name="T3" fmla="*/ 1118 h 142"/>
              <a:gd name="T4" fmla="*/ 0 w 1377"/>
              <a:gd name="T5" fmla="*/ 1118 h 142"/>
              <a:gd name="T6" fmla="*/ 0 60000 65536"/>
              <a:gd name="T7" fmla="*/ 0 60000 65536"/>
              <a:gd name="T8" fmla="*/ 0 60000 65536"/>
              <a:gd name="T9" fmla="*/ 0 w 1377"/>
              <a:gd name="T10" fmla="*/ 0 h 142"/>
              <a:gd name="T11" fmla="*/ 1377 w 1377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77" h="142">
                <a:moveTo>
                  <a:pt x="1377" y="132"/>
                </a:moveTo>
                <a:cubicBezTo>
                  <a:pt x="1279" y="110"/>
                  <a:pt x="1016" y="0"/>
                  <a:pt x="787" y="2"/>
                </a:cubicBezTo>
                <a:cubicBezTo>
                  <a:pt x="560" y="0"/>
                  <a:pt x="164" y="113"/>
                  <a:pt x="0" y="142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1" name="Text Box 38">
            <a:extLst>
              <a:ext uri="{FF2B5EF4-FFF2-40B4-BE49-F238E27FC236}">
                <a16:creationId xmlns:a16="http://schemas.microsoft.com/office/drawing/2014/main" id="{D0A6E93F-7E18-52A7-D8D5-705EE0428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13" y="5438775"/>
            <a:ext cx="16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2</a:t>
            </a:r>
          </a:p>
        </p:txBody>
      </p:sp>
      <p:sp>
        <p:nvSpPr>
          <p:cNvPr id="19" name="Oval 26">
            <a:extLst>
              <a:ext uri="{FF2B5EF4-FFF2-40B4-BE49-F238E27FC236}">
                <a16:creationId xmlns:a16="http://schemas.microsoft.com/office/drawing/2014/main" id="{63986B0A-2C20-BB9D-6D7E-2FA8B6BBD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163" y="4214813"/>
            <a:ext cx="71437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0" name="Oval 33">
            <a:extLst>
              <a:ext uri="{FF2B5EF4-FFF2-40B4-BE49-F238E27FC236}">
                <a16:creationId xmlns:a16="http://schemas.microsoft.com/office/drawing/2014/main" id="{1808AE8A-A8E8-705A-3787-7125E4382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763" y="5548313"/>
            <a:ext cx="71437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1" name="Oval 39">
            <a:extLst>
              <a:ext uri="{FF2B5EF4-FFF2-40B4-BE49-F238E27FC236}">
                <a16:creationId xmlns:a16="http://schemas.microsoft.com/office/drawing/2014/main" id="{B84D25E7-C661-365A-55C4-8CAA372A6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4725" y="5508625"/>
            <a:ext cx="71438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22" name="Text Box 30">
            <a:extLst>
              <a:ext uri="{FF2B5EF4-FFF2-40B4-BE49-F238E27FC236}">
                <a16:creationId xmlns:a16="http://schemas.microsoft.com/office/drawing/2014/main" id="{4D654048-DE04-46C5-7135-CB8CC5C86F1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29735" y="3489325"/>
            <a:ext cx="215844" cy="346863"/>
          </a:xfrm>
          <a:prstGeom prst="rect">
            <a:avLst/>
          </a:prstGeom>
          <a:blipFill>
            <a:blip r:embed="rId6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B2FAD979-831E-4BCC-F136-FF908CD0BB8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318262" y="4453956"/>
            <a:ext cx="215844" cy="346863"/>
          </a:xfrm>
          <a:prstGeom prst="rect">
            <a:avLst/>
          </a:prstGeom>
          <a:blipFill>
            <a:blip r:embed="rId7"/>
            <a:stretch>
              <a:fillRect t="-3571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019F0888-E92B-636C-9637-376914851B7D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755047" y="4775601"/>
            <a:ext cx="215844" cy="346863"/>
          </a:xfrm>
          <a:prstGeom prst="rect">
            <a:avLst/>
          </a:prstGeom>
          <a:blipFill>
            <a:blip r:embed="rId8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5" name="Text Box 30">
            <a:extLst>
              <a:ext uri="{FF2B5EF4-FFF2-40B4-BE49-F238E27FC236}">
                <a16:creationId xmlns:a16="http://schemas.microsoft.com/office/drawing/2014/main" id="{500B5B93-9D21-AD51-1737-5D66AAFA528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695450" y="5431479"/>
            <a:ext cx="215844" cy="350646"/>
          </a:xfrm>
          <a:prstGeom prst="rect">
            <a:avLst/>
          </a:prstGeom>
          <a:blipFill>
            <a:blip r:embed="rId9"/>
            <a:stretch>
              <a:fillRect t="-3509" b="-15789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6" name="Text Box 30">
            <a:extLst>
              <a:ext uri="{FF2B5EF4-FFF2-40B4-BE49-F238E27FC236}">
                <a16:creationId xmlns:a16="http://schemas.microsoft.com/office/drawing/2014/main" id="{BA412621-8A41-F40D-FBA7-D8442C06CEF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888564" y="5566575"/>
            <a:ext cx="215844" cy="346863"/>
          </a:xfrm>
          <a:prstGeom prst="rect">
            <a:avLst/>
          </a:prstGeom>
          <a:blipFill>
            <a:blip r:embed="rId10"/>
            <a:stretch>
              <a:fillRect t="-3509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F212CA18-CDFD-C494-7923-1C44DD1B807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951904" y="5256957"/>
            <a:ext cx="414193" cy="346863"/>
          </a:xfrm>
          <a:prstGeom prst="rect">
            <a:avLst/>
          </a:prstGeom>
          <a:blipFill>
            <a:blip r:embed="rId11"/>
            <a:stretch>
              <a:fillRect t="-1754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8" name="Text Box 30">
            <a:extLst>
              <a:ext uri="{FF2B5EF4-FFF2-40B4-BE49-F238E27FC236}">
                <a16:creationId xmlns:a16="http://schemas.microsoft.com/office/drawing/2014/main" id="{DDD64A45-77F9-C434-DC15-DEF30029387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084694" y="5362021"/>
            <a:ext cx="215844" cy="346863"/>
          </a:xfrm>
          <a:prstGeom prst="rect">
            <a:avLst/>
          </a:prstGeom>
          <a:blipFill>
            <a:blip r:embed="rId12"/>
            <a:stretch>
              <a:fillRect t="-3571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29" name="Arc 25">
            <a:extLst>
              <a:ext uri="{FF2B5EF4-FFF2-40B4-BE49-F238E27FC236}">
                <a16:creationId xmlns:a16="http://schemas.microsoft.com/office/drawing/2014/main" id="{D17E56C7-C235-0154-B9CB-30F831A79ED7}"/>
              </a:ext>
            </a:extLst>
          </p:cNvPr>
          <p:cNvSpPr>
            <a:spLocks/>
          </p:cNvSpPr>
          <p:nvPr/>
        </p:nvSpPr>
        <p:spPr bwMode="auto">
          <a:xfrm rot="4163643" flipH="1">
            <a:off x="5898357" y="5461794"/>
            <a:ext cx="381000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14E0A6EE-DAAC-7D61-2AE9-0721472D9801}"/>
              </a:ext>
            </a:extLst>
          </p:cNvPr>
          <p:cNvSpPr>
            <a:spLocks/>
          </p:cNvSpPr>
          <p:nvPr/>
        </p:nvSpPr>
        <p:spPr bwMode="auto">
          <a:xfrm>
            <a:off x="6292850" y="4367213"/>
            <a:ext cx="698500" cy="1263650"/>
          </a:xfrm>
          <a:custGeom>
            <a:avLst/>
            <a:gdLst>
              <a:gd name="T0" fmla="*/ 1297 w 10227"/>
              <a:gd name="T1" fmla="*/ 0 h 10448"/>
              <a:gd name="T2" fmla="*/ 956 w 10227"/>
              <a:gd name="T3" fmla="*/ 3265 h 10448"/>
              <a:gd name="T4" fmla="*/ 0 w 10227"/>
              <a:gd name="T5" fmla="*/ 7376 h 104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227" h="10448">
                <a:moveTo>
                  <a:pt x="10227" y="0"/>
                </a:moveTo>
                <a:cubicBezTo>
                  <a:pt x="10227" y="0"/>
                  <a:pt x="9379" y="2931"/>
                  <a:pt x="7580" y="4626"/>
                </a:cubicBezTo>
                <a:cubicBezTo>
                  <a:pt x="5781" y="6322"/>
                  <a:pt x="1533" y="9327"/>
                  <a:pt x="0" y="1044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06DB7F30-A3E2-F4EA-6B23-932CC48C5431}"/>
              </a:ext>
            </a:extLst>
          </p:cNvPr>
          <p:cNvSpPr>
            <a:spLocks/>
          </p:cNvSpPr>
          <p:nvPr/>
        </p:nvSpPr>
        <p:spPr bwMode="auto">
          <a:xfrm>
            <a:off x="6262688" y="4359275"/>
            <a:ext cx="703262" cy="1203325"/>
          </a:xfrm>
          <a:custGeom>
            <a:avLst/>
            <a:gdLst>
              <a:gd name="T0" fmla="*/ 0 w 10000"/>
              <a:gd name="T1" fmla="*/ 6858 h 10000"/>
              <a:gd name="T2" fmla="*/ 492 w 10000"/>
              <a:gd name="T3" fmla="*/ 2887 h 10000"/>
              <a:gd name="T4" fmla="*/ 1406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10000"/>
                </a:moveTo>
                <a:cubicBezTo>
                  <a:pt x="600" y="9018"/>
                  <a:pt x="1900" y="5789"/>
                  <a:pt x="3571" y="4128"/>
                </a:cubicBezTo>
                <a:cubicBezTo>
                  <a:pt x="5243" y="2468"/>
                  <a:pt x="8657" y="862"/>
                  <a:pt x="1000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2" name="Arc 29">
            <a:extLst>
              <a:ext uri="{FF2B5EF4-FFF2-40B4-BE49-F238E27FC236}">
                <a16:creationId xmlns:a16="http://schemas.microsoft.com/office/drawing/2014/main" id="{8B0FCFD5-4FCF-6B3E-08EC-9856604853A9}"/>
              </a:ext>
            </a:extLst>
          </p:cNvPr>
          <p:cNvSpPr>
            <a:spLocks/>
          </p:cNvSpPr>
          <p:nvPr/>
        </p:nvSpPr>
        <p:spPr bwMode="auto">
          <a:xfrm rot="10800000" flipH="1">
            <a:off x="6858000" y="3941763"/>
            <a:ext cx="366713" cy="381000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33" name="Text Box 30">
            <a:extLst>
              <a:ext uri="{FF2B5EF4-FFF2-40B4-BE49-F238E27FC236}">
                <a16:creationId xmlns:a16="http://schemas.microsoft.com/office/drawing/2014/main" id="{B8751D2F-FF54-EF56-1302-DF43D66F0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2300" y="4059238"/>
            <a:ext cx="2159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0</a:t>
            </a:r>
          </a:p>
        </p:txBody>
      </p:sp>
      <p:sp>
        <p:nvSpPr>
          <p:cNvPr id="38" name="Text Box 31">
            <a:extLst>
              <a:ext uri="{FF2B5EF4-FFF2-40B4-BE49-F238E27FC236}">
                <a16:creationId xmlns:a16="http://schemas.microsoft.com/office/drawing/2014/main" id="{1030A10D-FA64-A9FD-EF6E-86C2CA9C4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175" y="5473700"/>
            <a:ext cx="201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1</a:t>
            </a:r>
          </a:p>
        </p:txBody>
      </p:sp>
      <p:sp>
        <p:nvSpPr>
          <p:cNvPr id="39" name="Arc 32">
            <a:extLst>
              <a:ext uri="{FF2B5EF4-FFF2-40B4-BE49-F238E27FC236}">
                <a16:creationId xmlns:a16="http://schemas.microsoft.com/office/drawing/2014/main" id="{00BF1E02-3AEB-CDD1-8EA9-51C40F0AC0D8}"/>
              </a:ext>
            </a:extLst>
          </p:cNvPr>
          <p:cNvSpPr>
            <a:spLocks/>
          </p:cNvSpPr>
          <p:nvPr/>
        </p:nvSpPr>
        <p:spPr bwMode="auto">
          <a:xfrm rot="16179309" flipH="1">
            <a:off x="7740650" y="5494338"/>
            <a:ext cx="379413" cy="363537"/>
          </a:xfrm>
          <a:custGeom>
            <a:avLst/>
            <a:gdLst>
              <a:gd name="T0" fmla="*/ 0 w 43200"/>
              <a:gd name="T1" fmla="*/ 0 h 43200"/>
              <a:gd name="T2" fmla="*/ 0 w 43200"/>
              <a:gd name="T3" fmla="*/ 0 h 43200"/>
              <a:gd name="T4" fmla="*/ 0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</a:path>
              <a:path w="43200" h="43200" stroke="0" extrusionOk="0">
                <a:moveTo>
                  <a:pt x="21599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2006"/>
                  <a:pt x="6327" y="3562"/>
                  <a:pt x="15535" y="868"/>
                </a:cubicBezTo>
                <a:lnTo>
                  <a:pt x="21600" y="21600"/>
                </a:lnTo>
                <a:lnTo>
                  <a:pt x="21599" y="0"/>
                </a:lnTo>
                <a:close/>
              </a:path>
            </a:pathLst>
          </a:custGeom>
          <a:noFill/>
          <a:ln w="28575">
            <a:solidFill>
              <a:srgbClr val="000000"/>
            </a:solidFill>
            <a:round/>
            <a:headEnd type="triangle" w="lg" len="lg"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1" name="Freeform 36">
            <a:extLst>
              <a:ext uri="{FF2B5EF4-FFF2-40B4-BE49-F238E27FC236}">
                <a16:creationId xmlns:a16="http://schemas.microsoft.com/office/drawing/2014/main" id="{938FFF30-1011-B799-A4E7-ED9BCF9414C2}"/>
              </a:ext>
            </a:extLst>
          </p:cNvPr>
          <p:cNvSpPr>
            <a:spLocks/>
          </p:cNvSpPr>
          <p:nvPr/>
        </p:nvSpPr>
        <p:spPr bwMode="auto">
          <a:xfrm>
            <a:off x="6294438" y="5662613"/>
            <a:ext cx="1419225" cy="117475"/>
          </a:xfrm>
          <a:custGeom>
            <a:avLst/>
            <a:gdLst>
              <a:gd name="T0" fmla="*/ 0 w 9683"/>
              <a:gd name="T1" fmla="*/ 0 h 12747"/>
              <a:gd name="T2" fmla="*/ 5422 w 9683"/>
              <a:gd name="T3" fmla="*/ 0 h 12747"/>
              <a:gd name="T4" fmla="*/ 12162 w 9683"/>
              <a:gd name="T5" fmla="*/ 0 h 127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83" h="12747">
                <a:moveTo>
                  <a:pt x="0" y="0"/>
                </a:moveTo>
                <a:cubicBezTo>
                  <a:pt x="788" y="1463"/>
                  <a:pt x="2690" y="12988"/>
                  <a:pt x="4355" y="12744"/>
                </a:cubicBezTo>
                <a:cubicBezTo>
                  <a:pt x="6019" y="12500"/>
                  <a:pt x="8574" y="5061"/>
                  <a:pt x="9683" y="2988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2" name="Freeform 37">
            <a:extLst>
              <a:ext uri="{FF2B5EF4-FFF2-40B4-BE49-F238E27FC236}">
                <a16:creationId xmlns:a16="http://schemas.microsoft.com/office/drawing/2014/main" id="{EF41C432-CD8C-5841-1746-6CCF4FFCA320}"/>
              </a:ext>
            </a:extLst>
          </p:cNvPr>
          <p:cNvSpPr>
            <a:spLocks/>
          </p:cNvSpPr>
          <p:nvPr/>
        </p:nvSpPr>
        <p:spPr bwMode="auto">
          <a:xfrm>
            <a:off x="6296025" y="5486400"/>
            <a:ext cx="1473200" cy="158750"/>
          </a:xfrm>
          <a:custGeom>
            <a:avLst/>
            <a:gdLst>
              <a:gd name="T0" fmla="*/ 8557 w 1377"/>
              <a:gd name="T1" fmla="*/ 1118 h 142"/>
              <a:gd name="T2" fmla="*/ 5348 w 1377"/>
              <a:gd name="T3" fmla="*/ 1118 h 142"/>
              <a:gd name="T4" fmla="*/ 0 w 1377"/>
              <a:gd name="T5" fmla="*/ 1118 h 142"/>
              <a:gd name="T6" fmla="*/ 0 60000 65536"/>
              <a:gd name="T7" fmla="*/ 0 60000 65536"/>
              <a:gd name="T8" fmla="*/ 0 60000 65536"/>
              <a:gd name="T9" fmla="*/ 0 w 1377"/>
              <a:gd name="T10" fmla="*/ 0 h 142"/>
              <a:gd name="T11" fmla="*/ 1377 w 1377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77" h="142">
                <a:moveTo>
                  <a:pt x="1377" y="132"/>
                </a:moveTo>
                <a:cubicBezTo>
                  <a:pt x="1279" y="110"/>
                  <a:pt x="1016" y="0"/>
                  <a:pt x="787" y="2"/>
                </a:cubicBezTo>
                <a:cubicBezTo>
                  <a:pt x="560" y="0"/>
                  <a:pt x="164" y="113"/>
                  <a:pt x="0" y="142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3" name="Text Box 38">
            <a:extLst>
              <a:ext uri="{FF2B5EF4-FFF2-40B4-BE49-F238E27FC236}">
                <a16:creationId xmlns:a16="http://schemas.microsoft.com/office/drawing/2014/main" id="{B1D3657A-EA31-CAFE-51C3-43BBBA89B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5510213"/>
            <a:ext cx="160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1800">
                <a:solidFill>
                  <a:srgbClr val="FF0000"/>
                </a:solidFill>
                <a:latin typeface="黑体" panose="02010609060101010101" pitchFamily="49" charset="-122"/>
              </a:rPr>
              <a:t>2</a:t>
            </a:r>
          </a:p>
        </p:txBody>
      </p:sp>
      <p:sp>
        <p:nvSpPr>
          <p:cNvPr id="44" name="Oval 26">
            <a:extLst>
              <a:ext uri="{FF2B5EF4-FFF2-40B4-BE49-F238E27FC236}">
                <a16:creationId xmlns:a16="http://schemas.microsoft.com/office/drawing/2014/main" id="{B5512420-3144-8BC6-158E-BEB243CD1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4838" y="4286250"/>
            <a:ext cx="71437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5" name="Oval 33">
            <a:extLst>
              <a:ext uri="{FF2B5EF4-FFF2-40B4-BE49-F238E27FC236}">
                <a16:creationId xmlns:a16="http://schemas.microsoft.com/office/drawing/2014/main" id="{83C49206-A0CA-D792-777C-3ADACD146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438" y="5619750"/>
            <a:ext cx="71437" cy="71438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6" name="Oval 39">
            <a:extLst>
              <a:ext uri="{FF2B5EF4-FFF2-40B4-BE49-F238E27FC236}">
                <a16:creationId xmlns:a16="http://schemas.microsoft.com/office/drawing/2014/main" id="{E8B86EC9-C7AB-43CF-9EC4-3303BD2B0F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580063"/>
            <a:ext cx="71438" cy="71437"/>
          </a:xfrm>
          <a:prstGeom prst="ellipse">
            <a:avLst/>
          </a:prstGeom>
          <a:solidFill>
            <a:srgbClr val="FFFFFF"/>
          </a:solidFill>
          <a:ln w="28575" algn="ctr">
            <a:solidFill>
              <a:srgbClr val="0000FF"/>
            </a:solidFill>
            <a:round/>
            <a:headEnd/>
            <a:tailEnd type="none" w="sm" len="med"/>
          </a:ln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endParaRPr lang="zh-CN" altLang="en-US" sz="3200" b="0">
              <a:solidFill>
                <a:srgbClr val="FF0000"/>
              </a:solidFill>
              <a:latin typeface="黑体" panose="02010609060101010101" pitchFamily="49" charset="-122"/>
            </a:endParaRPr>
          </a:p>
        </p:txBody>
      </p:sp>
      <p:sp>
        <p:nvSpPr>
          <p:cNvPr id="47" name="Text Box 30">
            <a:extLst>
              <a:ext uri="{FF2B5EF4-FFF2-40B4-BE49-F238E27FC236}">
                <a16:creationId xmlns:a16="http://schemas.microsoft.com/office/drawing/2014/main" id="{09DF79C2-C665-7118-3DC5-C6CB6951CCA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933410" y="3560763"/>
            <a:ext cx="215844" cy="346829"/>
          </a:xfrm>
          <a:prstGeom prst="rect">
            <a:avLst/>
          </a:prstGeom>
          <a:blipFill>
            <a:blip r:embed="rId13"/>
            <a:stretch>
              <a:fillRect l="-16667" t="-3509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8" name="Text Box 30">
            <a:extLst>
              <a:ext uri="{FF2B5EF4-FFF2-40B4-BE49-F238E27FC236}">
                <a16:creationId xmlns:a16="http://schemas.microsoft.com/office/drawing/2014/main" id="{08795997-57A1-467A-E626-6316504319D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321937" y="4525298"/>
            <a:ext cx="215844" cy="346893"/>
          </a:xfrm>
          <a:prstGeom prst="rect">
            <a:avLst/>
          </a:prstGeom>
          <a:blipFill>
            <a:blip r:embed="rId14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9" name="Text Box 30">
            <a:extLst>
              <a:ext uri="{FF2B5EF4-FFF2-40B4-BE49-F238E27FC236}">
                <a16:creationId xmlns:a16="http://schemas.microsoft.com/office/drawing/2014/main" id="{2CCDDC23-ECCC-A1A8-638C-8D1CE805F44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758722" y="4846912"/>
            <a:ext cx="215844" cy="345803"/>
          </a:xfrm>
          <a:prstGeom prst="rect">
            <a:avLst/>
          </a:prstGeom>
          <a:blipFill>
            <a:blip r:embed="rId15"/>
            <a:stretch>
              <a:fillRect l="-17143" t="-3509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0" name="Text Box 30">
            <a:extLst>
              <a:ext uri="{FF2B5EF4-FFF2-40B4-BE49-F238E27FC236}">
                <a16:creationId xmlns:a16="http://schemas.microsoft.com/office/drawing/2014/main" id="{B72C9BDB-63C1-AECA-6563-08C8D2D2AA8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699125" y="5502725"/>
            <a:ext cx="215844" cy="346252"/>
          </a:xfrm>
          <a:prstGeom prst="rect">
            <a:avLst/>
          </a:prstGeom>
          <a:blipFill>
            <a:blip r:embed="rId16"/>
            <a:stretch>
              <a:fillRect l="-17143" t="-3509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51" name="Text Box 30">
            <a:extLst>
              <a:ext uri="{FF2B5EF4-FFF2-40B4-BE49-F238E27FC236}">
                <a16:creationId xmlns:a16="http://schemas.microsoft.com/office/drawing/2014/main" id="{434336E3-3958-BE0C-DDF2-BF113DCAC97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088369" y="5433274"/>
            <a:ext cx="215844" cy="346829"/>
          </a:xfrm>
          <a:prstGeom prst="rect">
            <a:avLst/>
          </a:prstGeom>
          <a:blipFill>
            <a:blip r:embed="rId17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53" name="Freeform 27">
            <a:extLst>
              <a:ext uri="{FF2B5EF4-FFF2-40B4-BE49-F238E27FC236}">
                <a16:creationId xmlns:a16="http://schemas.microsoft.com/office/drawing/2014/main" id="{31CE20AC-6E9D-1EE9-B24C-D01B4A549136}"/>
              </a:ext>
            </a:extLst>
          </p:cNvPr>
          <p:cNvSpPr>
            <a:spLocks/>
          </p:cNvSpPr>
          <p:nvPr/>
        </p:nvSpPr>
        <p:spPr bwMode="auto">
          <a:xfrm>
            <a:off x="7019925" y="4318000"/>
            <a:ext cx="711200" cy="1331913"/>
          </a:xfrm>
          <a:custGeom>
            <a:avLst/>
            <a:gdLst>
              <a:gd name="T0" fmla="*/ 0 w 10000"/>
              <a:gd name="T1" fmla="*/ 0 h 10000"/>
              <a:gd name="T2" fmla="*/ 2147483646 w 10000"/>
              <a:gd name="T3" fmla="*/ 2147483646 h 10000"/>
              <a:gd name="T4" fmla="*/ 2147483646 w 10000"/>
              <a:gd name="T5" fmla="*/ 2147483646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0" y="0"/>
                </a:moveTo>
                <a:cubicBezTo>
                  <a:pt x="1528" y="1489"/>
                  <a:pt x="8731" y="4639"/>
                  <a:pt x="9048" y="5979"/>
                </a:cubicBezTo>
                <a:lnTo>
                  <a:pt x="10000" y="10000"/>
                </a:ln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4" name="Freeform 28">
            <a:extLst>
              <a:ext uri="{FF2B5EF4-FFF2-40B4-BE49-F238E27FC236}">
                <a16:creationId xmlns:a16="http://schemas.microsoft.com/office/drawing/2014/main" id="{4B5D3CA3-A547-45D1-CB45-DAA7F7C4B17D}"/>
              </a:ext>
            </a:extLst>
          </p:cNvPr>
          <p:cNvSpPr>
            <a:spLocks/>
          </p:cNvSpPr>
          <p:nvPr/>
        </p:nvSpPr>
        <p:spPr bwMode="auto">
          <a:xfrm>
            <a:off x="7040563" y="4302125"/>
            <a:ext cx="738187" cy="1335088"/>
          </a:xfrm>
          <a:custGeom>
            <a:avLst/>
            <a:gdLst>
              <a:gd name="T0" fmla="*/ 2147483646 w 10000"/>
              <a:gd name="T1" fmla="*/ 2147483646 h 10000"/>
              <a:gd name="T2" fmla="*/ 1454707695 w 10000"/>
              <a:gd name="T3" fmla="*/ 2147483646 h 10000"/>
              <a:gd name="T4" fmla="*/ 0 w 10000"/>
              <a:gd name="T5" fmla="*/ 0 h 10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0" h="10000">
                <a:moveTo>
                  <a:pt x="10000" y="10000"/>
                </a:moveTo>
                <a:lnTo>
                  <a:pt x="3617" y="6143"/>
                </a:lnTo>
                <a:cubicBezTo>
                  <a:pt x="1489" y="4857"/>
                  <a:pt x="491" y="1062"/>
                  <a:pt x="0" y="0"/>
                </a:cubicBezTo>
              </a:path>
            </a:pathLst>
          </a:cu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5" name="Text Box 30">
            <a:extLst>
              <a:ext uri="{FF2B5EF4-FFF2-40B4-BE49-F238E27FC236}">
                <a16:creationId xmlns:a16="http://schemas.microsoft.com/office/drawing/2014/main" id="{7257E1B4-C59F-414A-1C78-2A86A03A7DF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828639" y="5787115"/>
            <a:ext cx="215900" cy="346954"/>
          </a:xfrm>
          <a:prstGeom prst="rect">
            <a:avLst/>
          </a:prstGeom>
          <a:blipFill>
            <a:blip r:embed="rId14"/>
            <a:stretch>
              <a:fillRect l="-16667" t="-1754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0" name="Text Box 30">
            <a:extLst>
              <a:ext uri="{FF2B5EF4-FFF2-40B4-BE49-F238E27FC236}">
                <a16:creationId xmlns:a16="http://schemas.microsoft.com/office/drawing/2014/main" id="{D9192C85-E03E-AC20-2257-C2E678D8CCFF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121606" y="5343851"/>
            <a:ext cx="215900" cy="345864"/>
          </a:xfrm>
          <a:prstGeom prst="rect">
            <a:avLst/>
          </a:prstGeom>
          <a:blipFill>
            <a:blip r:embed="rId15"/>
            <a:stretch>
              <a:fillRect l="-16667" t="-3571" r="-16667" b="-16071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61" name="Text Box 30">
            <a:extLst>
              <a:ext uri="{FF2B5EF4-FFF2-40B4-BE49-F238E27FC236}">
                <a16:creationId xmlns:a16="http://schemas.microsoft.com/office/drawing/2014/main" id="{A559B6D7-4D65-E676-076D-953A78B827EA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590003" y="4653581"/>
            <a:ext cx="215900" cy="345864"/>
          </a:xfrm>
          <a:prstGeom prst="rect">
            <a:avLst/>
          </a:prstGeom>
          <a:blipFill>
            <a:blip r:embed="rId18"/>
            <a:stretch>
              <a:fillRect l="-17143" t="-1754" r="-20000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62" name="Text Box 30">
            <a:extLst>
              <a:ext uri="{FF2B5EF4-FFF2-40B4-BE49-F238E27FC236}">
                <a16:creationId xmlns:a16="http://schemas.microsoft.com/office/drawing/2014/main" id="{62B01A3A-4364-3F8E-4FB5-8D07F156C43C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303647" y="4847139"/>
            <a:ext cx="215900" cy="346954"/>
          </a:xfrm>
          <a:prstGeom prst="rect">
            <a:avLst/>
          </a:prstGeom>
          <a:blipFill>
            <a:blip r:embed="rId19"/>
            <a:stretch>
              <a:fillRect l="-16667" t="-3509" r="-16667" b="-14035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首达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146441"/>
            <a:ext cx="11049000" cy="2704138"/>
          </a:xfrm>
        </p:spPr>
        <p:txBody>
          <a:bodyPr>
            <a:normAutofit lnSpcReduction="10000"/>
          </a:bodyPr>
          <a:lstStyle/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　　从状态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出发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经过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n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步</a:t>
            </a:r>
            <a:r>
              <a:rPr lang="zh-CN" altLang="en-US" dirty="0">
                <a:solidFill>
                  <a:srgbClr val="000099"/>
                </a:solidFill>
                <a:sym typeface="Symbol" panose="05050102010706020507" pitchFamily="18" charset="2"/>
              </a:rPr>
              <a:t>首次到达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状态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的时刻</a:t>
            </a:r>
          </a:p>
          <a:p>
            <a:pPr algn="ctr" eaLnBrk="1" hangingPunct="1">
              <a:buClrTx/>
              <a:buFontTx/>
              <a:buNone/>
            </a:pPr>
            <a:r>
              <a:rPr lang="en-US" altLang="zh-CN" dirty="0" err="1">
                <a:sym typeface="Symbol" panose="05050102010706020507" pitchFamily="18" charset="2"/>
              </a:rPr>
              <a:t>T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min{n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r>
              <a:rPr lang="en-US" altLang="zh-CN" dirty="0">
                <a:sym typeface="Symbol" panose="05050102010706020507" pitchFamily="18" charset="2"/>
              </a:rPr>
              <a:t>X(m)=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X(</a:t>
            </a:r>
            <a:r>
              <a:rPr lang="en-US" altLang="zh-CN" dirty="0" err="1">
                <a:sym typeface="Symbol" panose="05050102010706020507" pitchFamily="18" charset="2"/>
              </a:rPr>
              <a:t>m+n</a:t>
            </a:r>
            <a:r>
              <a:rPr lang="en-US" altLang="zh-CN" dirty="0">
                <a:sym typeface="Symbol" panose="05050102010706020507" pitchFamily="18" charset="2"/>
              </a:rPr>
              <a:t>)=j, </a:t>
            </a:r>
            <a:r>
              <a:rPr lang="en-US" altLang="zh-CN" dirty="0" err="1">
                <a:sym typeface="Symbol" panose="05050102010706020507" pitchFamily="18" charset="2"/>
              </a:rPr>
              <a:t>nN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称为</a:t>
            </a:r>
            <a:r>
              <a:rPr lang="zh-CN" altLang="en-US" dirty="0">
                <a:solidFill>
                  <a:srgbClr val="6600CC"/>
                </a:solidFill>
                <a:sym typeface="Symbol" panose="05050102010706020507" pitchFamily="18" charset="2"/>
              </a:rPr>
              <a:t>首达时刻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　  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首达时刻是一个随机变量</a:t>
            </a:r>
            <a:r>
              <a:rPr lang="zh-CN" altLang="en-US" dirty="0">
                <a:sym typeface="Symbol" panose="05050102010706020507" pitchFamily="18" charset="2"/>
              </a:rPr>
              <a:t>，它的取值是从状</a:t>
            </a:r>
          </a:p>
          <a:p>
            <a:pPr eaLnBrk="1" hangingPunct="1">
              <a:buClrTx/>
              <a:buFontTx/>
              <a:buNone/>
            </a:pPr>
            <a:r>
              <a:rPr lang="zh-CN" altLang="en-US" dirty="0">
                <a:sym typeface="Symbol" panose="05050102010706020507" pitchFamily="18" charset="2"/>
              </a:rPr>
              <a:t>态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zh-CN" altLang="en-US" dirty="0">
                <a:sym typeface="Symbol" panose="05050102010706020507" pitchFamily="18" charset="2"/>
              </a:rPr>
              <a:t>出发，使得</a:t>
            </a:r>
            <a:r>
              <a:rPr lang="en-US" altLang="zh-CN" dirty="0">
                <a:sym typeface="Symbol" panose="05050102010706020507" pitchFamily="18" charset="2"/>
              </a:rPr>
              <a:t>X(n)</a:t>
            </a:r>
            <a:r>
              <a:rPr lang="zh-CN" altLang="en-US" dirty="0">
                <a:sym typeface="Symbol" panose="05050102010706020507" pitchFamily="18" charset="2"/>
              </a:rPr>
              <a:t>＝</a:t>
            </a:r>
            <a:r>
              <a:rPr lang="en-US" altLang="zh-CN" dirty="0">
                <a:sym typeface="Symbol" panose="05050102010706020507" pitchFamily="18" charset="2"/>
              </a:rPr>
              <a:t>j</a:t>
            </a:r>
            <a:r>
              <a:rPr lang="zh-CN" altLang="en-US" dirty="0">
                <a:sym typeface="Symbol" panose="05050102010706020507" pitchFamily="18" charset="2"/>
              </a:rPr>
              <a:t>的最小正整数</a:t>
            </a:r>
            <a:r>
              <a:rPr lang="en-US" altLang="zh-CN" dirty="0">
                <a:sym typeface="Symbol" panose="05050102010706020507" pitchFamily="18" charset="2"/>
              </a:rPr>
              <a:t>n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endParaRPr lang="zh-CN" altLang="en-US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A38A175B-ACE2-4E21-AE63-11D17E3CD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3886994"/>
            <a:ext cx="6134100" cy="2704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533400" indent="-5334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90600" indent="-533400" algn="l" rtl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371600" indent="-4572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3pPr>
            <a:lvl4pPr marL="1752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4pPr>
            <a:lvl5pPr marL="22098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5pPr>
            <a:lvl6pPr marL="26670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1242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814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4038600" indent="-3810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例如：当按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=2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0-0-0-0-1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=4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当按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0-0-0-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-1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转移时，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T</a:t>
            </a:r>
            <a:r>
              <a:rPr lang="en-US" altLang="zh-CN" sz="2400" kern="0" baseline="-25000" dirty="0">
                <a:latin typeface="+mn-ea"/>
                <a:ea typeface="+mn-ea"/>
                <a:sym typeface="Symbol" panose="05050102010706020507" pitchFamily="18" charset="2"/>
              </a:rPr>
              <a:t>01</a:t>
            </a: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=3</a:t>
            </a:r>
            <a:r>
              <a:rPr lang="zh-CN" altLang="en-US" sz="2400" kern="0" dirty="0">
                <a:latin typeface="+mn-ea"/>
                <a:ea typeface="+mn-ea"/>
                <a:sym typeface="Symbol" panose="05050102010706020507" pitchFamily="18" charset="2"/>
              </a:rPr>
              <a:t>；</a:t>
            </a:r>
            <a:endParaRPr lang="en-US" altLang="zh-CN" sz="2400" kern="0" dirty="0">
              <a:latin typeface="+mn-ea"/>
              <a:ea typeface="+mn-ea"/>
              <a:sym typeface="Symbol" panose="05050102010706020507" pitchFamily="18" charset="2"/>
            </a:endParaRPr>
          </a:p>
          <a:p>
            <a:pPr algn="ctr"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latin typeface="+mn-ea"/>
                <a:ea typeface="+mn-ea"/>
                <a:sym typeface="Symbol" panose="05050102010706020507" pitchFamily="18" charset="2"/>
              </a:rPr>
              <a:t>……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F8A69F6-F43B-BCD6-1023-6C6BE4A8A67F}"/>
              </a:ext>
            </a:extLst>
          </p:cNvPr>
          <p:cNvGrpSpPr>
            <a:grpSpLocks/>
          </p:cNvGrpSpPr>
          <p:nvPr/>
        </p:nvGrpSpPr>
        <p:grpSpPr bwMode="auto">
          <a:xfrm>
            <a:off x="1984375" y="3844116"/>
            <a:ext cx="2605088" cy="2424113"/>
            <a:chOff x="1695127" y="3488688"/>
            <a:chExt cx="2605761" cy="2424302"/>
          </a:xfrm>
        </p:grpSpPr>
        <p:grpSp>
          <p:nvGrpSpPr>
            <p:cNvPr id="3" name="Group 56">
              <a:extLst>
                <a:ext uri="{FF2B5EF4-FFF2-40B4-BE49-F238E27FC236}">
                  <a16:creationId xmlns:a16="http://schemas.microsoft.com/office/drawing/2014/main" id="{AA743358-2D9E-92DE-50CB-A372530132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1825" y="3870095"/>
              <a:ext cx="2206625" cy="1925638"/>
              <a:chOff x="1020" y="2791"/>
              <a:chExt cx="1390" cy="1213"/>
            </a:xfrm>
          </p:grpSpPr>
          <p:sp>
            <p:nvSpPr>
              <p:cNvPr id="11" name="Arc 25">
                <a:extLst>
                  <a:ext uri="{FF2B5EF4-FFF2-40B4-BE49-F238E27FC236}">
                    <a16:creationId xmlns:a16="http://schemas.microsoft.com/office/drawing/2014/main" id="{2AF5428F-FF0C-7B26-E0DD-ABA606B78E88}"/>
                  </a:ext>
                </a:extLst>
              </p:cNvPr>
              <p:cNvSpPr>
                <a:spLocks/>
              </p:cNvSpPr>
              <p:nvPr/>
            </p:nvSpPr>
            <p:spPr bwMode="auto">
              <a:xfrm rot="4163643" flipH="1">
                <a:off x="1015" y="3748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2" name="Freeform 27">
                <a:extLst>
                  <a:ext uri="{FF2B5EF4-FFF2-40B4-BE49-F238E27FC236}">
                    <a16:creationId xmlns:a16="http://schemas.microsoft.com/office/drawing/2014/main" id="{CCE50723-1B29-CC0A-4458-AA3469F5CE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3059"/>
                <a:ext cx="440" cy="796"/>
              </a:xfrm>
              <a:custGeom>
                <a:avLst/>
                <a:gdLst>
                  <a:gd name="T0" fmla="*/ 1 w 10227"/>
                  <a:gd name="T1" fmla="*/ 0 h 10448"/>
                  <a:gd name="T2" fmla="*/ 1 w 10227"/>
                  <a:gd name="T3" fmla="*/ 2 h 10448"/>
                  <a:gd name="T4" fmla="*/ 0 w 10227"/>
                  <a:gd name="T5" fmla="*/ 5 h 104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27" h="10448">
                    <a:moveTo>
                      <a:pt x="10227" y="0"/>
                    </a:moveTo>
                    <a:cubicBezTo>
                      <a:pt x="10227" y="0"/>
                      <a:pt x="9379" y="2931"/>
                      <a:pt x="7580" y="4626"/>
                    </a:cubicBezTo>
                    <a:cubicBezTo>
                      <a:pt x="5781" y="6322"/>
                      <a:pt x="1533" y="9327"/>
                      <a:pt x="0" y="1044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" name="Freeform 28">
                <a:extLst>
                  <a:ext uri="{FF2B5EF4-FFF2-40B4-BE49-F238E27FC236}">
                    <a16:creationId xmlns:a16="http://schemas.microsoft.com/office/drawing/2014/main" id="{9C8A8C2F-7290-9043-BD1B-2B3F77CDB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054"/>
                <a:ext cx="443" cy="758"/>
              </a:xfrm>
              <a:custGeom>
                <a:avLst/>
                <a:gdLst>
                  <a:gd name="T0" fmla="*/ 0 w 10000"/>
                  <a:gd name="T1" fmla="*/ 4 h 10000"/>
                  <a:gd name="T2" fmla="*/ 0 w 10000"/>
                  <a:gd name="T3" fmla="*/ 2 h 10000"/>
                  <a:gd name="T4" fmla="*/ 1 w 10000"/>
                  <a:gd name="T5" fmla="*/ 0 h 10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00" h="10000">
                    <a:moveTo>
                      <a:pt x="0" y="10000"/>
                    </a:moveTo>
                    <a:cubicBezTo>
                      <a:pt x="600" y="9018"/>
                      <a:pt x="1900" y="5789"/>
                      <a:pt x="3571" y="4128"/>
                    </a:cubicBezTo>
                    <a:cubicBezTo>
                      <a:pt x="5243" y="2468"/>
                      <a:pt x="8657" y="862"/>
                      <a:pt x="1000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4" name="Arc 29">
                <a:extLst>
                  <a:ext uri="{FF2B5EF4-FFF2-40B4-BE49-F238E27FC236}">
                    <a16:creationId xmlns:a16="http://schemas.microsoft.com/office/drawing/2014/main" id="{0C146B8E-ED4F-887A-443E-249B46F26175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620" y="2791"/>
                <a:ext cx="231" cy="24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5" name="Text Box 30">
                <a:extLst>
                  <a:ext uri="{FF2B5EF4-FFF2-40B4-BE49-F238E27FC236}">
                    <a16:creationId xmlns:a16="http://schemas.microsoft.com/office/drawing/2014/main" id="{B25A72D9-6B85-2ED0-72CF-F9F518A31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" y="2865"/>
                <a:ext cx="1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16" name="Text Box 31">
                <a:extLst>
                  <a:ext uri="{FF2B5EF4-FFF2-40B4-BE49-F238E27FC236}">
                    <a16:creationId xmlns:a16="http://schemas.microsoft.com/office/drawing/2014/main" id="{06D91F9B-EE17-8489-EDFF-C01EE9B37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3756"/>
                <a:ext cx="12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17" name="Arc 32">
                <a:extLst>
                  <a:ext uri="{FF2B5EF4-FFF2-40B4-BE49-F238E27FC236}">
                    <a16:creationId xmlns:a16="http://schemas.microsoft.com/office/drawing/2014/main" id="{058E0E78-6027-29F3-E97B-0D950785955E}"/>
                  </a:ext>
                </a:extLst>
              </p:cNvPr>
              <p:cNvSpPr>
                <a:spLocks/>
              </p:cNvSpPr>
              <p:nvPr/>
            </p:nvSpPr>
            <p:spPr bwMode="auto">
              <a:xfrm rot="16179309" flipH="1">
                <a:off x="2176" y="3769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8" name="Freeform 36">
                <a:extLst>
                  <a:ext uri="{FF2B5EF4-FFF2-40B4-BE49-F238E27FC236}">
                    <a16:creationId xmlns:a16="http://schemas.microsoft.com/office/drawing/2014/main" id="{FE7A21BE-510B-B8CA-985A-8D5FF849A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3875"/>
                <a:ext cx="894" cy="74"/>
              </a:xfrm>
              <a:custGeom>
                <a:avLst/>
                <a:gdLst>
                  <a:gd name="T0" fmla="*/ 0 w 9683"/>
                  <a:gd name="T1" fmla="*/ 0 h 12747"/>
                  <a:gd name="T2" fmla="*/ 3 w 9683"/>
                  <a:gd name="T3" fmla="*/ 0 h 12747"/>
                  <a:gd name="T4" fmla="*/ 8 w 9683"/>
                  <a:gd name="T5" fmla="*/ 0 h 127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83" h="12747">
                    <a:moveTo>
                      <a:pt x="0" y="0"/>
                    </a:moveTo>
                    <a:cubicBezTo>
                      <a:pt x="788" y="1463"/>
                      <a:pt x="2690" y="12988"/>
                      <a:pt x="4355" y="12744"/>
                    </a:cubicBezTo>
                    <a:cubicBezTo>
                      <a:pt x="6019" y="12500"/>
                      <a:pt x="8574" y="5061"/>
                      <a:pt x="9683" y="298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9" name="Freeform 37">
                <a:extLst>
                  <a:ext uri="{FF2B5EF4-FFF2-40B4-BE49-F238E27FC236}">
                    <a16:creationId xmlns:a16="http://schemas.microsoft.com/office/drawing/2014/main" id="{F9239AC6-E7E6-57C0-EE4C-BCC10AD05A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3764"/>
                <a:ext cx="928" cy="100"/>
              </a:xfrm>
              <a:custGeom>
                <a:avLst/>
                <a:gdLst>
                  <a:gd name="T0" fmla="*/ 5 w 1377"/>
                  <a:gd name="T1" fmla="*/ 1 h 142"/>
                  <a:gd name="T2" fmla="*/ 3 w 1377"/>
                  <a:gd name="T3" fmla="*/ 1 h 142"/>
                  <a:gd name="T4" fmla="*/ 0 w 1377"/>
                  <a:gd name="T5" fmla="*/ 1 h 142"/>
                  <a:gd name="T6" fmla="*/ 0 60000 65536"/>
                  <a:gd name="T7" fmla="*/ 0 60000 65536"/>
                  <a:gd name="T8" fmla="*/ 0 60000 65536"/>
                  <a:gd name="T9" fmla="*/ 0 w 1377"/>
                  <a:gd name="T10" fmla="*/ 0 h 142"/>
                  <a:gd name="T11" fmla="*/ 1377 w 1377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7" h="142">
                    <a:moveTo>
                      <a:pt x="1377" y="132"/>
                    </a:moveTo>
                    <a:cubicBezTo>
                      <a:pt x="1279" y="110"/>
                      <a:pt x="1016" y="0"/>
                      <a:pt x="787" y="2"/>
                    </a:cubicBezTo>
                    <a:cubicBezTo>
                      <a:pt x="560" y="0"/>
                      <a:pt x="164" y="113"/>
                      <a:pt x="0" y="142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0" name="Text Box 38">
                <a:extLst>
                  <a:ext uri="{FF2B5EF4-FFF2-40B4-BE49-F238E27FC236}">
                    <a16:creationId xmlns:a16="http://schemas.microsoft.com/office/drawing/2014/main" id="{C02ECB8C-9FD9-E98E-D2C1-3AD7593D93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3779"/>
                <a:ext cx="10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21" name="Oval 26">
                <a:extLst>
                  <a:ext uri="{FF2B5EF4-FFF2-40B4-BE49-F238E27FC236}">
                    <a16:creationId xmlns:a16="http://schemas.microsoft.com/office/drawing/2014/main" id="{656E893A-5058-222B-9193-7558B0647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" y="300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2" name="Oval 33">
                <a:extLst>
                  <a:ext uri="{FF2B5EF4-FFF2-40B4-BE49-F238E27FC236}">
                    <a16:creationId xmlns:a16="http://schemas.microsoft.com/office/drawing/2014/main" id="{2B47B1DA-C6AB-D995-3D45-AB3BC2CA74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5" y="384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3" name="Oval 39">
                <a:extLst>
                  <a:ext uri="{FF2B5EF4-FFF2-40B4-BE49-F238E27FC236}">
                    <a16:creationId xmlns:a16="http://schemas.microsoft.com/office/drawing/2014/main" id="{E85C2757-7CD1-8ED5-D3CA-FC87D9CE2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6" y="3823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4" name="Text Box 30">
              <a:extLst>
                <a:ext uri="{FF2B5EF4-FFF2-40B4-BE49-F238E27FC236}">
                  <a16:creationId xmlns:a16="http://schemas.microsoft.com/office/drawing/2014/main" id="{C5075E1B-DC52-DFB3-FB6D-5722C7AFD96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29731" y="3488688"/>
              <a:ext cx="215900" cy="346890"/>
            </a:xfrm>
            <a:prstGeom prst="rect">
              <a:avLst/>
            </a:prstGeom>
            <a:blipFill>
              <a:blip r:embed="rId2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5" name="Text Box 30">
              <a:extLst>
                <a:ext uri="{FF2B5EF4-FFF2-40B4-BE49-F238E27FC236}">
                  <a16:creationId xmlns:a16="http://schemas.microsoft.com/office/drawing/2014/main" id="{53C8F941-4C34-3F56-4986-C26671CFE33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318100" y="4453394"/>
              <a:ext cx="215900" cy="346890"/>
            </a:xfrm>
            <a:prstGeom prst="rect">
              <a:avLst/>
            </a:prstGeom>
            <a:blipFill>
              <a:blip r:embed="rId3"/>
              <a:stretch>
                <a:fillRect t="-3571" b="-1607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6" name="Text Box 30">
              <a:extLst>
                <a:ext uri="{FF2B5EF4-FFF2-40B4-BE49-F238E27FC236}">
                  <a16:creationId xmlns:a16="http://schemas.microsoft.com/office/drawing/2014/main" id="{19D58DA2-6570-557C-63A2-B7B201DB3717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754998" y="4775064"/>
              <a:ext cx="215900" cy="346890"/>
            </a:xfrm>
            <a:prstGeom prst="rect">
              <a:avLst/>
            </a:prstGeom>
            <a:blipFill>
              <a:blip r:embed="rId4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7" name="Text Box 30">
              <a:extLst>
                <a:ext uri="{FF2B5EF4-FFF2-40B4-BE49-F238E27FC236}">
                  <a16:creationId xmlns:a16="http://schemas.microsoft.com/office/drawing/2014/main" id="{E0FED2E2-6281-72F1-3FA9-41CB02E6363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1695127" y="5430993"/>
              <a:ext cx="215900" cy="350673"/>
            </a:xfrm>
            <a:prstGeom prst="rect">
              <a:avLst/>
            </a:prstGeom>
            <a:blipFill>
              <a:blip r:embed="rId5"/>
              <a:stretch>
                <a:fillRect t="-3509" b="-15789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B0DC94D1-49C2-C098-9D6C-66435F989116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888549" y="5566100"/>
              <a:ext cx="215900" cy="346890"/>
            </a:xfrm>
            <a:prstGeom prst="rect">
              <a:avLst/>
            </a:prstGeom>
            <a:blipFill>
              <a:blip r:embed="rId6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E66A959D-AD40-66FA-AD7D-2AD6F2AC9B39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51906" y="5256458"/>
              <a:ext cx="414300" cy="346890"/>
            </a:xfrm>
            <a:prstGeom prst="rect">
              <a:avLst/>
            </a:prstGeom>
            <a:blipFill>
              <a:blip r:embed="rId7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2AC1F683-B9B8-8F91-F8BA-42E9C20F6DA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084988" y="5361530"/>
              <a:ext cx="215900" cy="346890"/>
            </a:xfrm>
            <a:prstGeom prst="rect">
              <a:avLst/>
            </a:prstGeom>
            <a:blipFill>
              <a:blip r:embed="rId8"/>
              <a:stretch>
                <a:fillRect t="-3571" b="-16071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0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0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0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0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0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099" grpId="0" build="p" autoUpdateAnimBg="0" advAuto="0"/>
      <p:bldP spid="56" grpId="0" build="p" autoUpdateAnimBg="0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">
            <a:extLst>
              <a:ext uri="{FF2B5EF4-FFF2-40B4-BE49-F238E27FC236}">
                <a16:creationId xmlns:a16="http://schemas.microsoft.com/office/drawing/2014/main" id="{164608FA-33A8-41A5-9392-41C48ECBFBF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03069" y="3857303"/>
            <a:ext cx="4418685" cy="2253511"/>
          </a:xfrm>
          <a:prstGeom prst="rect">
            <a:avLst/>
          </a:prstGeom>
          <a:blipFill>
            <a:blip r:embed="rId3"/>
            <a:stretch>
              <a:fillRect l="-3448" b="-5962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首达</a:t>
            </a:r>
          </a:p>
        </p:txBody>
      </p:sp>
      <p:sp>
        <p:nvSpPr>
          <p:cNvPr id="15365" name="Rectangle 4"/>
          <p:cNvSpPr>
            <a:spLocks noChangeArrowheads="1"/>
          </p:cNvSpPr>
          <p:nvPr/>
        </p:nvSpPr>
        <p:spPr bwMode="auto">
          <a:xfrm>
            <a:off x="774700" y="1107340"/>
            <a:ext cx="10125075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出发经过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步首次到达状态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的概率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	</a:t>
            </a: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</a:t>
            </a: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>
                <a:latin typeface="+mn-ea"/>
                <a:ea typeface="+mn-ea"/>
              </a:rPr>
              <a:t>=</a:t>
            </a:r>
            <a:r>
              <a:rPr lang="en-US" altLang="zh-CN" sz="2400" dirty="0" err="1">
                <a:latin typeface="+mn-ea"/>
                <a:ea typeface="+mn-ea"/>
              </a:rPr>
              <a:t>n|X</a:t>
            </a:r>
            <a:r>
              <a:rPr lang="en-US" altLang="zh-CN" sz="2400" dirty="0">
                <a:latin typeface="+mn-ea"/>
                <a:ea typeface="+mn-ea"/>
              </a:rPr>
              <a:t>(m)=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</a:p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P{X(</a:t>
            </a:r>
            <a:r>
              <a:rPr lang="en-US" altLang="zh-CN" sz="2400" dirty="0" err="1">
                <a:latin typeface="+mn-ea"/>
                <a:ea typeface="+mn-ea"/>
              </a:rPr>
              <a:t>m+n</a:t>
            </a:r>
            <a:r>
              <a:rPr lang="en-US" altLang="zh-CN" sz="2400" dirty="0">
                <a:latin typeface="+mn-ea"/>
                <a:ea typeface="+mn-ea"/>
              </a:rPr>
              <a:t>)=j, X(</a:t>
            </a:r>
            <a:r>
              <a:rPr lang="en-US" altLang="zh-CN" sz="2400" dirty="0" err="1">
                <a:latin typeface="+mn-ea"/>
                <a:ea typeface="+mn-ea"/>
              </a:rPr>
              <a:t>m+k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j, 1k&lt;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n|X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(m)=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}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首达概率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60101" name="Rectangle 5"/>
          <p:cNvSpPr>
            <a:spLocks noChangeArrowheads="1"/>
          </p:cNvSpPr>
          <p:nvPr/>
        </p:nvSpPr>
        <p:spPr bwMode="auto">
          <a:xfrm>
            <a:off x="2907613" y="2855470"/>
            <a:ext cx="7774199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迟早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最终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solidFill>
                  <a:srgbClr val="6600CC"/>
                </a:solidFill>
                <a:latin typeface="+mn-ea"/>
                <a:ea typeface="+mn-ea"/>
              </a:rPr>
              <a:t>到达</a:t>
            </a: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的概率定义为</a:t>
            </a:r>
          </a:p>
        </p:txBody>
      </p:sp>
      <p:graphicFrame>
        <p:nvGraphicFramePr>
          <p:cNvPr id="260102" name="Object 6"/>
          <p:cNvGraphicFramePr>
            <a:graphicFrameLocks noChangeAspect="1"/>
          </p:cNvGraphicFramePr>
          <p:nvPr/>
        </p:nvGraphicFramePr>
        <p:xfrm>
          <a:off x="1904863" y="3327520"/>
          <a:ext cx="5741729" cy="75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76600" imgH="431800" progId="Equation.DSMT4">
                  <p:embed/>
                </p:oleObj>
              </mc:Choice>
              <mc:Fallback>
                <p:oleObj name="Equation" r:id="rId4" imgW="3276600" imgH="431800" progId="Equation.DSMT4">
                  <p:embed/>
                  <p:pic>
                    <p:nvPicPr>
                      <p:cNvPr id="2601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863" y="3327520"/>
                        <a:ext cx="5741729" cy="75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695C561-BA1D-D061-A944-0DB677BE815F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892130" y="6059000"/>
            <a:ext cx="4571182" cy="415050"/>
          </a:xfrm>
          <a:prstGeom prst="rect">
            <a:avLst/>
          </a:prstGeom>
          <a:blipFill>
            <a:blip r:embed="rId6"/>
            <a:stretch>
              <a:fillRect t="-108824" b="-173529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grpSp>
        <p:nvGrpSpPr>
          <p:cNvPr id="3" name="组合 11">
            <a:extLst>
              <a:ext uri="{FF2B5EF4-FFF2-40B4-BE49-F238E27FC236}">
                <a16:creationId xmlns:a16="http://schemas.microsoft.com/office/drawing/2014/main" id="{B59BDDE4-2BB0-BF77-7381-BA8076787D09}"/>
              </a:ext>
            </a:extLst>
          </p:cNvPr>
          <p:cNvGrpSpPr>
            <a:grpSpLocks/>
          </p:cNvGrpSpPr>
          <p:nvPr/>
        </p:nvGrpSpPr>
        <p:grpSpPr bwMode="auto">
          <a:xfrm>
            <a:off x="1214438" y="4038600"/>
            <a:ext cx="2605087" cy="2424113"/>
            <a:chOff x="1695127" y="3488688"/>
            <a:chExt cx="2605761" cy="2424302"/>
          </a:xfrm>
        </p:grpSpPr>
        <p:grpSp>
          <p:nvGrpSpPr>
            <p:cNvPr id="5" name="Group 56">
              <a:extLst>
                <a:ext uri="{FF2B5EF4-FFF2-40B4-BE49-F238E27FC236}">
                  <a16:creationId xmlns:a16="http://schemas.microsoft.com/office/drawing/2014/main" id="{D5E35B2B-93E2-A6F6-CA1F-20E640C56D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1825" y="3870095"/>
              <a:ext cx="2206625" cy="1925638"/>
              <a:chOff x="1020" y="2791"/>
              <a:chExt cx="1390" cy="1213"/>
            </a:xfrm>
          </p:grpSpPr>
          <p:sp>
            <p:nvSpPr>
              <p:cNvPr id="13" name="Arc 25">
                <a:extLst>
                  <a:ext uri="{FF2B5EF4-FFF2-40B4-BE49-F238E27FC236}">
                    <a16:creationId xmlns:a16="http://schemas.microsoft.com/office/drawing/2014/main" id="{97D60176-A960-C25B-BE4C-5FF0BFC68B4C}"/>
                  </a:ext>
                </a:extLst>
              </p:cNvPr>
              <p:cNvSpPr>
                <a:spLocks/>
              </p:cNvSpPr>
              <p:nvPr/>
            </p:nvSpPr>
            <p:spPr bwMode="auto">
              <a:xfrm rot="4163643" flipH="1">
                <a:off x="1015" y="3748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1" name="Freeform 27">
                <a:extLst>
                  <a:ext uri="{FF2B5EF4-FFF2-40B4-BE49-F238E27FC236}">
                    <a16:creationId xmlns:a16="http://schemas.microsoft.com/office/drawing/2014/main" id="{E9F21EDD-48F0-D5DB-9E1E-8D1AB01AB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4" y="3059"/>
                <a:ext cx="440" cy="796"/>
              </a:xfrm>
              <a:custGeom>
                <a:avLst/>
                <a:gdLst>
                  <a:gd name="T0" fmla="*/ 1 w 10227"/>
                  <a:gd name="T1" fmla="*/ 0 h 10448"/>
                  <a:gd name="T2" fmla="*/ 1 w 10227"/>
                  <a:gd name="T3" fmla="*/ 2 h 10448"/>
                  <a:gd name="T4" fmla="*/ 0 w 10227"/>
                  <a:gd name="T5" fmla="*/ 5 h 1044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27" h="10448">
                    <a:moveTo>
                      <a:pt x="10227" y="0"/>
                    </a:moveTo>
                    <a:cubicBezTo>
                      <a:pt x="10227" y="0"/>
                      <a:pt x="9379" y="2931"/>
                      <a:pt x="7580" y="4626"/>
                    </a:cubicBezTo>
                    <a:cubicBezTo>
                      <a:pt x="5781" y="6322"/>
                      <a:pt x="1533" y="9327"/>
                      <a:pt x="0" y="1044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" name="Freeform 28">
                <a:extLst>
                  <a:ext uri="{FF2B5EF4-FFF2-40B4-BE49-F238E27FC236}">
                    <a16:creationId xmlns:a16="http://schemas.microsoft.com/office/drawing/2014/main" id="{74321641-5047-7571-BD30-564AF85C2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5" y="3054"/>
                <a:ext cx="443" cy="758"/>
              </a:xfrm>
              <a:custGeom>
                <a:avLst/>
                <a:gdLst>
                  <a:gd name="T0" fmla="*/ 0 w 10000"/>
                  <a:gd name="T1" fmla="*/ 4 h 10000"/>
                  <a:gd name="T2" fmla="*/ 0 w 10000"/>
                  <a:gd name="T3" fmla="*/ 2 h 10000"/>
                  <a:gd name="T4" fmla="*/ 1 w 10000"/>
                  <a:gd name="T5" fmla="*/ 0 h 100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00" h="10000">
                    <a:moveTo>
                      <a:pt x="0" y="10000"/>
                    </a:moveTo>
                    <a:cubicBezTo>
                      <a:pt x="600" y="9018"/>
                      <a:pt x="1900" y="5789"/>
                      <a:pt x="3571" y="4128"/>
                    </a:cubicBezTo>
                    <a:cubicBezTo>
                      <a:pt x="5243" y="2468"/>
                      <a:pt x="8657" y="862"/>
                      <a:pt x="10000" y="0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3" name="Arc 29">
                <a:extLst>
                  <a:ext uri="{FF2B5EF4-FFF2-40B4-BE49-F238E27FC236}">
                    <a16:creationId xmlns:a16="http://schemas.microsoft.com/office/drawing/2014/main" id="{B678620E-3D12-5798-3A4E-9A0B3BEAFE17}"/>
                  </a:ext>
                </a:extLst>
              </p:cNvPr>
              <p:cNvSpPr>
                <a:spLocks/>
              </p:cNvSpPr>
              <p:nvPr/>
            </p:nvSpPr>
            <p:spPr bwMode="auto">
              <a:xfrm rot="10800000" flipH="1">
                <a:off x="1620" y="2791"/>
                <a:ext cx="231" cy="240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" name="Text Box 30">
                <a:extLst>
                  <a:ext uri="{FF2B5EF4-FFF2-40B4-BE49-F238E27FC236}">
                    <a16:creationId xmlns:a16="http://schemas.microsoft.com/office/drawing/2014/main" id="{3C7F79AD-CFB9-254F-1934-3F7AA9922E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" y="2865"/>
                <a:ext cx="13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0</a:t>
                </a:r>
              </a:p>
            </p:txBody>
          </p:sp>
          <p:sp>
            <p:nvSpPr>
              <p:cNvPr id="25" name="Text Box 31">
                <a:extLst>
                  <a:ext uri="{FF2B5EF4-FFF2-40B4-BE49-F238E27FC236}">
                    <a16:creationId xmlns:a16="http://schemas.microsoft.com/office/drawing/2014/main" id="{58EB316B-13DF-D445-FA6C-B88980AF4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42" y="3756"/>
                <a:ext cx="12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1</a:t>
                </a:r>
              </a:p>
            </p:txBody>
          </p:sp>
          <p:sp>
            <p:nvSpPr>
              <p:cNvPr id="26" name="Arc 32">
                <a:extLst>
                  <a:ext uri="{FF2B5EF4-FFF2-40B4-BE49-F238E27FC236}">
                    <a16:creationId xmlns:a16="http://schemas.microsoft.com/office/drawing/2014/main" id="{2DC64F2E-1976-C6D6-AE3A-0C72D486877A}"/>
                  </a:ext>
                </a:extLst>
              </p:cNvPr>
              <p:cNvSpPr>
                <a:spLocks/>
              </p:cNvSpPr>
              <p:nvPr/>
            </p:nvSpPr>
            <p:spPr bwMode="auto">
              <a:xfrm rot="16179309" flipH="1">
                <a:off x="2176" y="3769"/>
                <a:ext cx="240" cy="229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</a:path>
                  <a:path w="43200" h="43200" stroke="0" extrusionOk="0">
                    <a:moveTo>
                      <a:pt x="21599" y="0"/>
                    </a:move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2006"/>
                      <a:pt x="6327" y="3562"/>
                      <a:pt x="15535" y="868"/>
                    </a:cubicBezTo>
                    <a:lnTo>
                      <a:pt x="21600" y="21600"/>
                    </a:lnTo>
                    <a:lnTo>
                      <a:pt x="21599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triangl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Freeform 36">
                <a:extLst>
                  <a:ext uri="{FF2B5EF4-FFF2-40B4-BE49-F238E27FC236}">
                    <a16:creationId xmlns:a16="http://schemas.microsoft.com/office/drawing/2014/main" id="{5F3C7839-402D-0B66-66E5-5B5E96314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3875"/>
                <a:ext cx="894" cy="74"/>
              </a:xfrm>
              <a:custGeom>
                <a:avLst/>
                <a:gdLst>
                  <a:gd name="T0" fmla="*/ 0 w 9683"/>
                  <a:gd name="T1" fmla="*/ 0 h 12747"/>
                  <a:gd name="T2" fmla="*/ 3 w 9683"/>
                  <a:gd name="T3" fmla="*/ 0 h 12747"/>
                  <a:gd name="T4" fmla="*/ 8 w 9683"/>
                  <a:gd name="T5" fmla="*/ 0 h 1274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83" h="12747">
                    <a:moveTo>
                      <a:pt x="0" y="0"/>
                    </a:moveTo>
                    <a:cubicBezTo>
                      <a:pt x="788" y="1463"/>
                      <a:pt x="2690" y="12988"/>
                      <a:pt x="4355" y="12744"/>
                    </a:cubicBezTo>
                    <a:cubicBezTo>
                      <a:pt x="6019" y="12500"/>
                      <a:pt x="8574" y="5061"/>
                      <a:pt x="9683" y="2988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8" name="Freeform 37">
                <a:extLst>
                  <a:ext uri="{FF2B5EF4-FFF2-40B4-BE49-F238E27FC236}">
                    <a16:creationId xmlns:a16="http://schemas.microsoft.com/office/drawing/2014/main" id="{8C196A4B-534D-B0BC-9E5D-D6FD3B3B34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6" y="3764"/>
                <a:ext cx="928" cy="100"/>
              </a:xfrm>
              <a:custGeom>
                <a:avLst/>
                <a:gdLst>
                  <a:gd name="T0" fmla="*/ 5 w 1377"/>
                  <a:gd name="T1" fmla="*/ 1 h 142"/>
                  <a:gd name="T2" fmla="*/ 3 w 1377"/>
                  <a:gd name="T3" fmla="*/ 1 h 142"/>
                  <a:gd name="T4" fmla="*/ 0 w 1377"/>
                  <a:gd name="T5" fmla="*/ 1 h 142"/>
                  <a:gd name="T6" fmla="*/ 0 60000 65536"/>
                  <a:gd name="T7" fmla="*/ 0 60000 65536"/>
                  <a:gd name="T8" fmla="*/ 0 60000 65536"/>
                  <a:gd name="T9" fmla="*/ 0 w 1377"/>
                  <a:gd name="T10" fmla="*/ 0 h 142"/>
                  <a:gd name="T11" fmla="*/ 1377 w 1377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77" h="142">
                    <a:moveTo>
                      <a:pt x="1377" y="132"/>
                    </a:moveTo>
                    <a:cubicBezTo>
                      <a:pt x="1279" y="110"/>
                      <a:pt x="1016" y="0"/>
                      <a:pt x="787" y="2"/>
                    </a:cubicBezTo>
                    <a:cubicBezTo>
                      <a:pt x="560" y="0"/>
                      <a:pt x="164" y="113"/>
                      <a:pt x="0" y="142"/>
                    </a:cubicBezTo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 type="none" w="lg" len="lg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Text Box 38">
                <a:extLst>
                  <a:ext uri="{FF2B5EF4-FFF2-40B4-BE49-F238E27FC236}">
                    <a16:creationId xmlns:a16="http://schemas.microsoft.com/office/drawing/2014/main" id="{64872631-DC54-AAFA-C919-7577E2261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" y="3779"/>
                <a:ext cx="101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 algn="ctr">
                    <a:solidFill>
                      <a:srgbClr val="000000"/>
                    </a:solidFill>
                    <a:miter lim="800000"/>
                    <a:headEnd/>
                    <a:tailEnd type="none" w="sm" len="med"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just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30" name="Oval 26">
                <a:extLst>
                  <a:ext uri="{FF2B5EF4-FFF2-40B4-BE49-F238E27FC236}">
                    <a16:creationId xmlns:a16="http://schemas.microsoft.com/office/drawing/2014/main" id="{D5C43841-31F7-495F-9E04-3C6D26B19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1" y="300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71355D36-8896-F359-D822-B8F9ADEAB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5" y="3848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  <p:sp>
            <p:nvSpPr>
              <p:cNvPr id="260096" name="Oval 39">
                <a:extLst>
                  <a:ext uri="{FF2B5EF4-FFF2-40B4-BE49-F238E27FC236}">
                    <a16:creationId xmlns:a16="http://schemas.microsoft.com/office/drawing/2014/main" id="{EA6DC538-E04D-1456-B4C9-951FBBECC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6" y="3823"/>
                <a:ext cx="45" cy="45"/>
              </a:xfrm>
              <a:prstGeom prst="ellipse">
                <a:avLst/>
              </a:prstGeom>
              <a:solidFill>
                <a:srgbClr val="FFFFFF"/>
              </a:solidFill>
              <a:ln w="28575" algn="ctr">
                <a:solidFill>
                  <a:srgbClr val="0000FF"/>
                </a:solidFill>
                <a:round/>
                <a:headEnd/>
                <a:tailEnd type="none" w="sm" len="med"/>
              </a:ln>
            </p:spPr>
            <p:txBody>
              <a:bodyPr lIns="0" tIns="0" rIns="0" bIns="0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3200" b="0">
                  <a:solidFill>
                    <a:srgbClr val="FF0000"/>
                  </a:solidFill>
                  <a:latin typeface="黑体" panose="02010609060101010101" pitchFamily="49" charset="-122"/>
                </a:endParaRPr>
              </a:p>
            </p:txBody>
          </p:sp>
        </p:grpSp>
        <p:sp>
          <p:nvSpPr>
            <p:cNvPr id="6" name="Text Box 30">
              <a:extLst>
                <a:ext uri="{FF2B5EF4-FFF2-40B4-BE49-F238E27FC236}">
                  <a16:creationId xmlns:a16="http://schemas.microsoft.com/office/drawing/2014/main" id="{451690FC-C524-BFC0-379C-804C66EA0EE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29731" y="3488688"/>
              <a:ext cx="215900" cy="346890"/>
            </a:xfrm>
            <a:prstGeom prst="rect">
              <a:avLst/>
            </a:prstGeom>
            <a:blipFill>
              <a:blip r:embed="rId7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7" name="Text Box 30">
              <a:extLst>
                <a:ext uri="{FF2B5EF4-FFF2-40B4-BE49-F238E27FC236}">
                  <a16:creationId xmlns:a16="http://schemas.microsoft.com/office/drawing/2014/main" id="{B9550324-9330-60C2-5B39-1BFEE9C83802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318100" y="4453394"/>
              <a:ext cx="215900" cy="346890"/>
            </a:xfrm>
            <a:prstGeom prst="rect">
              <a:avLst/>
            </a:prstGeom>
            <a:blipFill>
              <a:blip r:embed="rId8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8" name="Text Box 30">
              <a:extLst>
                <a:ext uri="{FF2B5EF4-FFF2-40B4-BE49-F238E27FC236}">
                  <a16:creationId xmlns:a16="http://schemas.microsoft.com/office/drawing/2014/main" id="{67B13BFD-6619-8C32-D481-96538B3F6F78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754998" y="4775064"/>
              <a:ext cx="215900" cy="346890"/>
            </a:xfrm>
            <a:prstGeom prst="rect">
              <a:avLst/>
            </a:prstGeom>
            <a:blipFill>
              <a:blip r:embed="rId9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9" name="Text Box 30">
              <a:extLst>
                <a:ext uri="{FF2B5EF4-FFF2-40B4-BE49-F238E27FC236}">
                  <a16:creationId xmlns:a16="http://schemas.microsoft.com/office/drawing/2014/main" id="{F5CC8B60-75E1-55AF-6589-A9CA392C5F9F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1695127" y="5430993"/>
              <a:ext cx="215900" cy="350673"/>
            </a:xfrm>
            <a:prstGeom prst="rect">
              <a:avLst/>
            </a:prstGeom>
            <a:blipFill>
              <a:blip r:embed="rId10"/>
              <a:stretch>
                <a:fillRect t="-3448" b="-13793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0" name="Text Box 30">
              <a:extLst>
                <a:ext uri="{FF2B5EF4-FFF2-40B4-BE49-F238E27FC236}">
                  <a16:creationId xmlns:a16="http://schemas.microsoft.com/office/drawing/2014/main" id="{8833E10D-119A-E601-734D-E18BAAB5F57E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888549" y="5566100"/>
              <a:ext cx="215900" cy="346890"/>
            </a:xfrm>
            <a:prstGeom prst="rect">
              <a:avLst/>
            </a:prstGeom>
            <a:blipFill>
              <a:blip r:embed="rId11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1" name="Text Box 30">
              <a:extLst>
                <a:ext uri="{FF2B5EF4-FFF2-40B4-BE49-F238E27FC236}">
                  <a16:creationId xmlns:a16="http://schemas.microsoft.com/office/drawing/2014/main" id="{64E4CE8F-096B-432B-F275-820160312DF5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951906" y="5256458"/>
              <a:ext cx="414300" cy="346890"/>
            </a:xfrm>
            <a:prstGeom prst="rect">
              <a:avLst/>
            </a:prstGeom>
            <a:blipFill>
              <a:blip r:embed="rId12"/>
              <a:stretch>
                <a:fillRect t="-1754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  <p:sp>
          <p:nvSpPr>
            <p:cNvPr id="12" name="Text Box 30">
              <a:extLst>
                <a:ext uri="{FF2B5EF4-FFF2-40B4-BE49-F238E27FC236}">
                  <a16:creationId xmlns:a16="http://schemas.microsoft.com/office/drawing/2014/main" id="{039CC6E7-3A10-F86D-FDF9-12E756CCC911}"/>
                </a:ext>
              </a:extLst>
            </p:cNvPr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4084988" y="5361530"/>
              <a:ext cx="215900" cy="346890"/>
            </a:xfrm>
            <a:prstGeom prst="rect">
              <a:avLst/>
            </a:prstGeom>
            <a:blipFill>
              <a:blip r:embed="rId13"/>
              <a:stretch>
                <a:fillRect t="-3509" b="-14035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2857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zh-CN" altLang="en-US">
                  <a:noFill/>
                </a:rPr>
                <a:t>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01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返回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6375" y="1064483"/>
            <a:ext cx="7164458" cy="427137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当</a:t>
            </a:r>
            <a:r>
              <a:rPr lang="en-US" altLang="zh-CN" dirty="0"/>
              <a:t>j</a:t>
            </a:r>
            <a:r>
              <a:rPr lang="zh-CN" altLang="en-US" dirty="0"/>
              <a:t>＝</a:t>
            </a:r>
            <a:r>
              <a:rPr lang="en-US" altLang="zh-CN" dirty="0" err="1"/>
              <a:t>i</a:t>
            </a:r>
            <a:r>
              <a:rPr lang="zh-CN" altLang="en-US" dirty="0"/>
              <a:t>时</a:t>
            </a:r>
          </a:p>
        </p:txBody>
      </p:sp>
      <p:sp>
        <p:nvSpPr>
          <p:cNvPr id="281607" name="Rectangle 7"/>
          <p:cNvSpPr>
            <a:spLocks noChangeArrowheads="1"/>
          </p:cNvSpPr>
          <p:nvPr/>
        </p:nvSpPr>
        <p:spPr bwMode="auto">
          <a:xfrm>
            <a:off x="897779" y="1488932"/>
            <a:ext cx="9849596" cy="1689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首次返回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的时刻；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出发经过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首次返回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的概率；</a:t>
            </a:r>
          </a:p>
          <a:p>
            <a:pPr eaLnBrk="1" hangingPunct="1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latin typeface="+mn-ea"/>
                <a:ea typeface="+mn-ea"/>
              </a:rPr>
              <a:t>f</a:t>
            </a:r>
            <a:r>
              <a:rPr lang="en-US" altLang="zh-CN" sz="2400" baseline="-25000" dirty="0" err="1">
                <a:latin typeface="+mn-ea"/>
                <a:ea typeface="+mn-ea"/>
              </a:rPr>
              <a:t>ii</a:t>
            </a:r>
            <a:r>
              <a:rPr lang="zh-CN" altLang="en-US" sz="2400" dirty="0">
                <a:latin typeface="+mn-ea"/>
                <a:ea typeface="+mn-ea"/>
              </a:rPr>
              <a:t>：表示从状态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迟早返回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的概率。</a:t>
            </a:r>
          </a:p>
        </p:txBody>
      </p:sp>
      <p:graphicFrame>
        <p:nvGraphicFramePr>
          <p:cNvPr id="281609" name="Object 9"/>
          <p:cNvGraphicFramePr>
            <a:graphicFrameLocks noChangeAspect="1"/>
          </p:cNvGraphicFramePr>
          <p:nvPr/>
        </p:nvGraphicFramePr>
        <p:xfrm>
          <a:off x="438560" y="4316982"/>
          <a:ext cx="2590800" cy="765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59866" imgH="431613" progId="Equation.3">
                  <p:embed/>
                </p:oleObj>
              </mc:Choice>
              <mc:Fallback>
                <p:oleObj name="Equation" r:id="rId2" imgW="1459866" imgH="431613" progId="Equation.3">
                  <p:embed/>
                  <p:pic>
                    <p:nvPicPr>
                      <p:cNvPr id="281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60" y="4316982"/>
                        <a:ext cx="2590800" cy="765931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0" name="Rectangle 10"/>
          <p:cNvSpPr>
            <a:spLocks noChangeArrowheads="1"/>
          </p:cNvSpPr>
          <p:nvPr/>
        </p:nvSpPr>
        <p:spPr bwMode="auto">
          <a:xfrm>
            <a:off x="3098755" y="4343176"/>
            <a:ext cx="7572419" cy="49795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出发首次到达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平均时间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平均步数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</p:txBody>
      </p:sp>
      <p:graphicFrame>
        <p:nvGraphicFramePr>
          <p:cNvPr id="281612" name="Object 12"/>
          <p:cNvGraphicFramePr>
            <a:graphicFrameLocks noChangeAspect="1"/>
          </p:cNvGraphicFramePr>
          <p:nvPr/>
        </p:nvGraphicFramePr>
        <p:xfrm>
          <a:off x="430849" y="5405400"/>
          <a:ext cx="3047894" cy="7460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5300" imgH="431800" progId="Equation.3">
                  <p:embed/>
                </p:oleObj>
              </mc:Choice>
              <mc:Fallback>
                <p:oleObj name="Equation" r:id="rId4" imgW="1765300" imgH="431800" progId="Equation.3">
                  <p:embed/>
                  <p:pic>
                    <p:nvPicPr>
                      <p:cNvPr id="28161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849" y="5405400"/>
                        <a:ext cx="3047894" cy="746099"/>
                      </a:xfrm>
                      <a:prstGeom prst="rect">
                        <a:avLst/>
                      </a:prstGeom>
                      <a:solidFill>
                        <a:srgbClr val="CC99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3" name="Rectangle 13"/>
          <p:cNvSpPr>
            <a:spLocks noChangeArrowheads="1"/>
          </p:cNvSpPr>
          <p:nvPr/>
        </p:nvSpPr>
        <p:spPr bwMode="auto">
          <a:xfrm>
            <a:off x="3660775" y="5370656"/>
            <a:ext cx="8382000" cy="802338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称为自状态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出发首次到达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的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平均返回时间</a:t>
            </a:r>
            <a:r>
              <a:rPr lang="en-US" altLang="zh-CN" sz="2400" dirty="0">
                <a:latin typeface="+mn-ea"/>
                <a:ea typeface="+mn-ea"/>
              </a:rPr>
              <a:t>(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平均返回步数</a:t>
            </a:r>
            <a:r>
              <a:rPr lang="en-US" altLang="zh-CN" sz="2400" dirty="0">
                <a:latin typeface="+mn-ea"/>
                <a:ea typeface="+mn-ea"/>
              </a:rPr>
              <a:t>)</a:t>
            </a:r>
            <a:r>
              <a:rPr lang="zh-CN" altLang="en-US" sz="2400" dirty="0">
                <a:latin typeface="+mn-ea"/>
                <a:ea typeface="+mn-ea"/>
              </a:rPr>
              <a:t>；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/>
        </p:nvGraphicFramePr>
        <p:xfrm>
          <a:off x="2060575" y="3206776"/>
          <a:ext cx="6353058" cy="765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98900" imgH="469900" progId="Equation.DSMT4">
                  <p:embed/>
                </p:oleObj>
              </mc:Choice>
              <mc:Fallback>
                <p:oleObj name="Equation" r:id="rId6" imgW="3898900" imgH="469900" progId="Equation.DSMT4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3206776"/>
                        <a:ext cx="6353058" cy="76535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1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16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16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28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8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7" grpId="0" build="p" autoUpdateAnimBg="0"/>
      <p:bldP spid="281610" grpId="0" animBg="1" autoUpdateAnimBg="0"/>
      <p:bldP spid="281613" grpId="0" animBg="1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917575" y="249297"/>
            <a:ext cx="7469329" cy="616093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可达与互通</a:t>
            </a:r>
          </a:p>
        </p:txBody>
      </p:sp>
      <p:sp>
        <p:nvSpPr>
          <p:cNvPr id="259076" name="Rectangle 4"/>
          <p:cNvSpPr>
            <a:spLocks noChangeArrowheads="1"/>
          </p:cNvSpPr>
          <p:nvPr/>
        </p:nvSpPr>
        <p:spPr bwMode="auto">
          <a:xfrm>
            <a:off x="765139" y="1067594"/>
            <a:ext cx="10820436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  </a:t>
            </a:r>
            <a:r>
              <a:rPr lang="zh-CN" altLang="en-US" sz="2400" dirty="0">
                <a:latin typeface="+mn-ea"/>
                <a:ea typeface="+mn-ea"/>
              </a:rPr>
              <a:t>如果存在某一个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≥0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，使得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，则称从状态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可到达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，记为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；否则称状态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不能到达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，记为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，此时对一切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n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，均有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sz="2400" baseline="-25000" dirty="0" err="1">
                <a:latin typeface="+mn-ea"/>
                <a:ea typeface="+mn-ea"/>
                <a:sym typeface="Symbol" panose="05050102010706020507" pitchFamily="18" charset="2"/>
              </a:rPr>
              <a:t>ij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(n)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59077" name="Line 5"/>
          <p:cNvSpPr>
            <a:spLocks noChangeShapeType="1"/>
          </p:cNvSpPr>
          <p:nvPr/>
        </p:nvSpPr>
        <p:spPr bwMode="auto">
          <a:xfrm>
            <a:off x="6861175" y="1829594"/>
            <a:ext cx="179429" cy="252470"/>
          </a:xfrm>
          <a:prstGeom prst="line">
            <a:avLst/>
          </a:prstGeom>
          <a:noFill/>
          <a:ln w="3175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dirty="0"/>
          </a:p>
        </p:txBody>
      </p:sp>
      <p:sp>
        <p:nvSpPr>
          <p:cNvPr id="259078" name="Rectangle 6"/>
          <p:cNvSpPr>
            <a:spLocks noChangeArrowheads="1"/>
          </p:cNvSpPr>
          <p:nvPr/>
        </p:nvSpPr>
        <p:spPr bwMode="auto">
          <a:xfrm>
            <a:off x="765139" y="2591594"/>
            <a:ext cx="10450739" cy="2796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如果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且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j→i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，则称状态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互通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，或称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相通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，记为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i↔j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。</a:t>
            </a:r>
          </a:p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    容易证明，互通关系具有以下三个性质：</a:t>
            </a:r>
          </a:p>
          <a:p>
            <a:pPr lvl="1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(1)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自反性：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i↔i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lvl="1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(2)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对称性：若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i↔j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则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j↔i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</a:p>
          <a:p>
            <a:pPr lvl="1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FF00"/>
                </a:solidFill>
                <a:latin typeface="+mn-ea"/>
                <a:ea typeface="+mn-ea"/>
                <a:sym typeface="Symbol" panose="05050102010706020507" pitchFamily="18" charset="2"/>
              </a:rPr>
              <a:t>	</a:t>
            </a:r>
            <a:r>
              <a:rPr lang="en-US" altLang="zh-CN" sz="2400" dirty="0">
                <a:solidFill>
                  <a:srgbClr val="6600CC"/>
                </a:solidFill>
                <a:latin typeface="+mn-ea"/>
                <a:ea typeface="+mn-ea"/>
                <a:sym typeface="Symbol" panose="05050102010706020507" pitchFamily="18" charset="2"/>
              </a:rPr>
              <a:t>(3)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传递性：若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i↔j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且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j↔k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，则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i↔k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。</a:t>
            </a:r>
            <a:endParaRPr lang="zh-CN" altLang="en-US" sz="2400" dirty="0">
              <a:latin typeface="+mn-ea"/>
              <a:ea typeface="+mn-ea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9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259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59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259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2590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59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6" grpId="0" build="p" autoUpdateAnimBg="0"/>
      <p:bldP spid="259078" grpId="0" build="p" bldLvl="2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  <a:r>
              <a:rPr lang="en-US" altLang="zh-CN"/>
              <a:t>1  </a:t>
            </a:r>
            <a:r>
              <a:rPr lang="zh-CN" altLang="en-US"/>
              <a:t>首达分解定理</a:t>
            </a:r>
            <a:endParaRPr lang="en-US" altLang="zh-CN"/>
          </a:p>
        </p:txBody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6175" y="955780"/>
            <a:ext cx="7886884" cy="704402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00FF"/>
                </a:solidFill>
              </a:rPr>
              <a:t>对任意</a:t>
            </a:r>
            <a:r>
              <a:rPr lang="en-US" altLang="zh-CN" dirty="0" err="1">
                <a:solidFill>
                  <a:srgbClr val="0000FF"/>
                </a:solidFill>
              </a:rPr>
              <a:t>i</a:t>
            </a:r>
            <a:r>
              <a:rPr lang="en-US" altLang="zh-CN" dirty="0">
                <a:solidFill>
                  <a:srgbClr val="0000FF"/>
                </a:solidFill>
              </a:rPr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j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E</a:t>
            </a:r>
            <a:r>
              <a:rPr lang="zh-CN" altLang="en-US" dirty="0">
                <a:solidFill>
                  <a:srgbClr val="0000FF"/>
                </a:solidFill>
              </a:rPr>
              <a:t>及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n1</a:t>
            </a:r>
            <a:r>
              <a:rPr lang="zh-CN" altLang="en-US" dirty="0">
                <a:solidFill>
                  <a:srgbClr val="0000FF"/>
                </a:solidFill>
              </a:rPr>
              <a:t>，有</a:t>
            </a:r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4522633" y="877115"/>
          <a:ext cx="3391264" cy="852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51240" imgH="787320" progId="Equation.3">
                  <p:embed/>
                </p:oleObj>
              </mc:Choice>
              <mc:Fallback>
                <p:oleObj name="Equation" r:id="rId2" imgW="3351240" imgH="787320" progId="Equation.3">
                  <p:embed/>
                  <p:pic>
                    <p:nvPicPr>
                      <p:cNvPr id="261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2633" y="877115"/>
                        <a:ext cx="3391264" cy="8529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125" name="Rectangle 5"/>
          <p:cNvSpPr>
            <a:spLocks noChangeArrowheads="1"/>
          </p:cNvSpPr>
          <p:nvPr/>
        </p:nvSpPr>
        <p:spPr bwMode="auto">
          <a:xfrm>
            <a:off x="1326734" y="1858242"/>
            <a:ext cx="72811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证明</a:t>
            </a:r>
            <a:r>
              <a:rPr lang="zh-CN" altLang="en-US" sz="2400" dirty="0">
                <a:latin typeface="+mn-ea"/>
                <a:ea typeface="+mn-ea"/>
              </a:rPr>
              <a:t>  设系统从状态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出发经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步到达状态</a:t>
            </a:r>
            <a:r>
              <a:rPr lang="en-US" altLang="zh-CN" sz="2400" dirty="0">
                <a:latin typeface="+mn-ea"/>
                <a:ea typeface="+mn-ea"/>
              </a:rPr>
              <a:t>j</a:t>
            </a:r>
            <a:r>
              <a:rPr lang="zh-CN" altLang="en-US" sz="2400" dirty="0">
                <a:latin typeface="+mn-ea"/>
                <a:ea typeface="+mn-ea"/>
              </a:rPr>
              <a:t>，则</a:t>
            </a:r>
            <a:r>
              <a:rPr lang="en-US" altLang="zh-CN" sz="2400" dirty="0" err="1">
                <a:latin typeface="+mn-ea"/>
                <a:ea typeface="+mn-ea"/>
              </a:rPr>
              <a:t>T</a:t>
            </a:r>
            <a:r>
              <a:rPr lang="en-US" altLang="zh-CN" sz="2400" baseline="-25000" dirty="0" err="1">
                <a:latin typeface="+mn-ea"/>
                <a:ea typeface="+mn-ea"/>
              </a:rPr>
              <a:t>ij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</a:t>
            </a:r>
            <a:r>
              <a:rPr lang="en-US" altLang="zh-CN" sz="2400" dirty="0" err="1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sp>
        <p:nvSpPr>
          <p:cNvPr id="261126" name="Rectangle 6"/>
          <p:cNvSpPr>
            <a:spLocks noChangeArrowheads="1"/>
          </p:cNvSpPr>
          <p:nvPr/>
        </p:nvSpPr>
        <p:spPr bwMode="auto">
          <a:xfrm>
            <a:off x="1409866" y="2582672"/>
            <a:ext cx="3488545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ij</a:t>
            </a:r>
            <a:r>
              <a:rPr lang="en-US" altLang="zh-CN" sz="2400" dirty="0">
                <a:sym typeface="Symbol" panose="05050102010706020507" pitchFamily="18" charset="2"/>
              </a:rPr>
              <a:t>(</a:t>
            </a:r>
            <a:r>
              <a:rPr lang="en-US" altLang="zh-CN" sz="2400" dirty="0"/>
              <a:t>n)</a:t>
            </a:r>
            <a:r>
              <a:rPr lang="zh-CN" altLang="en-US" sz="2400" dirty="0"/>
              <a:t>＝</a:t>
            </a:r>
            <a:r>
              <a:rPr lang="en-US" altLang="zh-CN" sz="2400" dirty="0"/>
              <a:t>P{X(n)</a:t>
            </a:r>
            <a:r>
              <a:rPr lang="zh-CN" altLang="en-US" sz="2400" dirty="0"/>
              <a:t>＝</a:t>
            </a:r>
            <a:r>
              <a:rPr lang="en-US" altLang="zh-CN" sz="2400" dirty="0" err="1"/>
              <a:t>j|X</a:t>
            </a:r>
            <a:r>
              <a:rPr lang="en-US" altLang="zh-CN" sz="2400" dirty="0"/>
              <a:t>(0)=</a:t>
            </a:r>
            <a:r>
              <a:rPr lang="en-US" altLang="zh-CN" sz="2400" dirty="0" err="1"/>
              <a:t>i</a:t>
            </a:r>
            <a:r>
              <a:rPr lang="en-US" altLang="zh-CN" sz="2400" dirty="0"/>
              <a:t>}</a:t>
            </a:r>
          </a:p>
        </p:txBody>
      </p:sp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4858715" y="2487400"/>
          <a:ext cx="3737840" cy="64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100" imgH="381000" progId="Equation.3">
                  <p:embed/>
                </p:oleObj>
              </mc:Choice>
              <mc:Fallback>
                <p:oleObj name="Equation" r:id="rId4" imgW="2197100" imgH="381000" progId="Equation.3">
                  <p:embed/>
                  <p:pic>
                    <p:nvPicPr>
                      <p:cNvPr id="261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8715" y="2487400"/>
                        <a:ext cx="3737840" cy="64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2270490" y="2960585"/>
          <a:ext cx="3563175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431800" progId="Equation.3">
                  <p:embed/>
                </p:oleObj>
              </mc:Choice>
              <mc:Fallback>
                <p:oleObj name="Equation" r:id="rId6" imgW="2095500" imgH="431800" progId="Equation.3">
                  <p:embed/>
                  <p:pic>
                    <p:nvPicPr>
                      <p:cNvPr id="26112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2960585"/>
                        <a:ext cx="3563175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2270491" y="3613198"/>
          <a:ext cx="5702033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52800" imgH="431800" progId="Equation.3">
                  <p:embed/>
                </p:oleObj>
              </mc:Choice>
              <mc:Fallback>
                <p:oleObj name="Equation" r:id="rId8" imgW="3352800" imgH="431800" progId="Equation.3">
                  <p:embed/>
                  <p:pic>
                    <p:nvPicPr>
                      <p:cNvPr id="26112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1" y="3613198"/>
                        <a:ext cx="5702033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2270490" y="4264223"/>
          <a:ext cx="4816003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32100" imgH="431800" progId="Equation.3">
                  <p:embed/>
                </p:oleObj>
              </mc:Choice>
              <mc:Fallback>
                <p:oleObj name="Equation" r:id="rId10" imgW="2832100" imgH="431800" progId="Equation.3">
                  <p:embed/>
                  <p:pic>
                    <p:nvPicPr>
                      <p:cNvPr id="26113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4264223"/>
                        <a:ext cx="4816003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7107811" y="4465424"/>
          <a:ext cx="4752487" cy="346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4000" imgH="203200" progId="Equation.3">
                  <p:embed/>
                </p:oleObj>
              </mc:Choice>
              <mc:Fallback>
                <p:oleObj name="Equation" r:id="rId12" imgW="2794000" imgH="203200" progId="Equation.3">
                  <p:embed/>
                  <p:pic>
                    <p:nvPicPr>
                      <p:cNvPr id="261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7811" y="4465424"/>
                        <a:ext cx="4752487" cy="346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2" name="Object 12"/>
          <p:cNvGraphicFramePr>
            <a:graphicFrameLocks noChangeAspect="1"/>
          </p:cNvGraphicFramePr>
          <p:nvPr/>
        </p:nvGraphicFramePr>
        <p:xfrm>
          <a:off x="2270490" y="5048630"/>
          <a:ext cx="4946208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08300" imgH="431800" progId="Equation.3">
                  <p:embed/>
                </p:oleObj>
              </mc:Choice>
              <mc:Fallback>
                <p:oleObj name="Equation" r:id="rId14" imgW="2908300" imgH="431800" progId="Equation.3">
                  <p:embed/>
                  <p:pic>
                    <p:nvPicPr>
                      <p:cNvPr id="26113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5048630"/>
                        <a:ext cx="4946208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133" name="Object 13"/>
          <p:cNvGraphicFramePr>
            <a:graphicFrameLocks noChangeAspect="1"/>
          </p:cNvGraphicFramePr>
          <p:nvPr/>
        </p:nvGraphicFramePr>
        <p:xfrm>
          <a:off x="2270490" y="5833037"/>
          <a:ext cx="2267475" cy="7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33500" imgH="431800" progId="Equation.3">
                  <p:embed/>
                </p:oleObj>
              </mc:Choice>
              <mc:Fallback>
                <p:oleObj name="Equation" r:id="rId16" imgW="1333500" imgH="431800" progId="Equation.3">
                  <p:embed/>
                  <p:pic>
                    <p:nvPicPr>
                      <p:cNvPr id="26113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490" y="5833037"/>
                        <a:ext cx="2267475" cy="7335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1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1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3" grpId="0" build="p"/>
      <p:bldP spid="261125" grpId="0" autoUpdateAnimBg="0"/>
      <p:bldP spid="261126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定理</a:t>
            </a:r>
            <a:r>
              <a:rPr lang="en-US" altLang="zh-CN"/>
              <a:t>2</a:t>
            </a:r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4775" y="883604"/>
            <a:ext cx="7088240" cy="584335"/>
          </a:xfrm>
        </p:spPr>
        <p:txBody>
          <a:bodyPr>
            <a:no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 err="1">
                <a:solidFill>
                  <a:srgbClr val="CC00CC"/>
                </a:solidFill>
              </a:rPr>
              <a:t>f</a:t>
            </a:r>
            <a:r>
              <a:rPr lang="en-US" altLang="zh-CN" baseline="-25000" dirty="0" err="1">
                <a:solidFill>
                  <a:srgbClr val="CC00CC"/>
                </a:solidFill>
              </a:rPr>
              <a:t>ij</a:t>
            </a:r>
            <a:r>
              <a:rPr lang="zh-CN" altLang="en-US" dirty="0">
                <a:solidFill>
                  <a:srgbClr val="CC00CC"/>
                </a:solidFill>
              </a:rPr>
              <a:t>＞</a:t>
            </a:r>
            <a:r>
              <a:rPr lang="en-US" altLang="zh-CN" dirty="0">
                <a:solidFill>
                  <a:srgbClr val="CC00CC"/>
                </a:solidFill>
              </a:rPr>
              <a:t>0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rgbClr val="FF0000"/>
                </a:solidFill>
              </a:rPr>
              <a:t>  </a:t>
            </a:r>
            <a:r>
              <a:rPr lang="en-US" altLang="zh-CN" dirty="0" err="1">
                <a:solidFill>
                  <a:srgbClr val="CC00CC"/>
                </a:solidFill>
                <a:sym typeface="Symbol" panose="05050102010706020507" pitchFamily="18" charset="2"/>
              </a:rPr>
              <a:t>i→j</a:t>
            </a:r>
            <a:endParaRPr lang="en-US" altLang="zh-CN" dirty="0">
              <a:solidFill>
                <a:srgbClr val="CC00CC"/>
              </a:solidFill>
              <a:sym typeface="Symbol" panose="05050102010706020507" pitchFamily="18" charset="2"/>
            </a:endParaRPr>
          </a:p>
        </p:txBody>
      </p:sp>
      <p:sp>
        <p:nvSpPr>
          <p:cNvPr id="262148" name="Rectangle 4"/>
          <p:cNvSpPr>
            <a:spLocks noChangeArrowheads="1"/>
          </p:cNvSpPr>
          <p:nvPr/>
        </p:nvSpPr>
        <p:spPr bwMode="auto">
          <a:xfrm>
            <a:off x="1450975" y="1731481"/>
            <a:ext cx="9448800" cy="1033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8" tIns="36008" rIns="36008" bIns="36008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Aft>
                <a:spcPct val="60000"/>
              </a:spcAft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</a:rPr>
              <a:t>证明</a:t>
            </a:r>
            <a:r>
              <a:rPr lang="zh-CN" altLang="en-US" sz="2400" dirty="0"/>
              <a:t>  </a:t>
            </a: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dirty="0">
                <a:solidFill>
                  <a:srgbClr val="0000FF"/>
                </a:solidFill>
                <a:sym typeface="Symbol" panose="05050102010706020507" pitchFamily="18" charset="2"/>
              </a:rPr>
              <a:t>)  </a:t>
            </a:r>
            <a:r>
              <a:rPr lang="zh-CN" altLang="en-US" sz="2400" dirty="0"/>
              <a:t>设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，因为                        ，所以至少有</a:t>
            </a:r>
          </a:p>
          <a:p>
            <a:pPr eaLnBrk="1" hangingPunct="1">
              <a:lnSpc>
                <a:spcPct val="100000"/>
              </a:lnSpc>
              <a:spcAft>
                <a:spcPct val="60000"/>
              </a:spcAft>
              <a:buClrTx/>
              <a:buFontTx/>
              <a:buNone/>
            </a:pPr>
            <a:r>
              <a:rPr lang="zh-CN" altLang="en-US" sz="2400" dirty="0"/>
              <a:t>一个</a:t>
            </a:r>
            <a:r>
              <a:rPr lang="en-US" altLang="zh-CN" sz="2400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≥</a:t>
            </a:r>
            <a:r>
              <a:rPr lang="en-US" altLang="zh-CN" sz="2400" dirty="0"/>
              <a:t>1</a:t>
            </a:r>
            <a:r>
              <a:rPr lang="zh-CN" altLang="en-US" sz="2400" dirty="0"/>
              <a:t>，使得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，由定理</a:t>
            </a:r>
            <a:r>
              <a:rPr lang="en-US" altLang="zh-CN" sz="2400" dirty="0"/>
              <a:t>1</a:t>
            </a:r>
            <a:r>
              <a:rPr lang="zh-CN" altLang="en-US" sz="2400" dirty="0"/>
              <a:t>得</a:t>
            </a:r>
          </a:p>
        </p:txBody>
      </p:sp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4745264" y="1519570"/>
          <a:ext cx="1753006" cy="91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431800" progId="Equation.3">
                  <p:embed/>
                </p:oleObj>
              </mc:Choice>
              <mc:Fallback>
                <p:oleObj name="Equation" r:id="rId2" imgW="825500" imgH="431800" progId="Equation.3">
                  <p:embed/>
                  <p:pic>
                    <p:nvPicPr>
                      <p:cNvPr id="2621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5264" y="1519570"/>
                        <a:ext cx="1753006" cy="916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2150" name="Object 6"/>
          <p:cNvGraphicFramePr>
            <a:graphicFrameLocks noChangeAspect="1"/>
          </p:cNvGraphicFramePr>
          <p:nvPr/>
        </p:nvGraphicFramePr>
        <p:xfrm>
          <a:off x="2781449" y="2752346"/>
          <a:ext cx="6295894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25800" imgH="431800" progId="Equation.3">
                  <p:embed/>
                </p:oleObj>
              </mc:Choice>
              <mc:Fallback>
                <p:oleObj name="Equation" r:id="rId4" imgW="3225800" imgH="431800" progId="Equation.3">
                  <p:embed/>
                  <p:pic>
                    <p:nvPicPr>
                      <p:cNvPr id="2621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449" y="2752346"/>
                        <a:ext cx="6295894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1" name="Rectangle 7"/>
          <p:cNvSpPr>
            <a:spLocks noChangeArrowheads="1"/>
          </p:cNvSpPr>
          <p:nvPr/>
        </p:nvSpPr>
        <p:spPr bwMode="auto">
          <a:xfrm>
            <a:off x="1527175" y="3429794"/>
            <a:ext cx="25085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故</a:t>
            </a:r>
            <a:r>
              <a:rPr lang="en-US" altLang="zh-CN" sz="2400" dirty="0" err="1"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262152" name="Rectangle 8"/>
          <p:cNvSpPr>
            <a:spLocks noChangeArrowheads="1"/>
          </p:cNvSpPr>
          <p:nvPr/>
        </p:nvSpPr>
        <p:spPr bwMode="auto">
          <a:xfrm>
            <a:off x="1472293" y="4090160"/>
            <a:ext cx="7124762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 dirty="0">
                <a:solidFill>
                  <a:srgbClr val="0000FF"/>
                </a:solidFill>
                <a:sym typeface="Symbol" panose="05050102010706020507" pitchFamily="18" charset="2"/>
              </a:rPr>
              <a:t>)</a:t>
            </a:r>
            <a:r>
              <a:rPr lang="en-US" altLang="zh-CN" sz="2400" dirty="0"/>
              <a:t>  </a:t>
            </a:r>
            <a:r>
              <a:rPr lang="zh-CN" altLang="en-US" sz="2400" dirty="0"/>
              <a:t>设</a:t>
            </a:r>
            <a:r>
              <a:rPr lang="en-US" altLang="zh-CN" sz="2400" dirty="0" err="1">
                <a:sym typeface="Symbol" panose="05050102010706020507" pitchFamily="18" charset="2"/>
              </a:rPr>
              <a:t>i→j</a:t>
            </a:r>
            <a:r>
              <a:rPr lang="zh-CN" altLang="en-US" sz="2400" dirty="0">
                <a:sym typeface="Symbol" panose="05050102010706020507" pitchFamily="18" charset="2"/>
              </a:rPr>
              <a:t>，则存在</a:t>
            </a:r>
            <a:r>
              <a:rPr lang="en-US" altLang="zh-CN" sz="2400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≥</a:t>
            </a:r>
            <a:r>
              <a:rPr lang="en-US" altLang="zh-CN" sz="2400" dirty="0"/>
              <a:t>1</a:t>
            </a:r>
            <a:r>
              <a:rPr lang="zh-CN" altLang="en-US" sz="2400" dirty="0"/>
              <a:t>，使得</a:t>
            </a:r>
            <a:r>
              <a:rPr lang="en-US" altLang="zh-CN" sz="2400" dirty="0" err="1"/>
              <a:t>p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＞</a:t>
            </a:r>
            <a:r>
              <a:rPr lang="en-US" altLang="zh-CN" sz="2400" dirty="0"/>
              <a:t>0</a:t>
            </a:r>
            <a:r>
              <a:rPr lang="zh-CN" altLang="en-US" sz="2400" dirty="0"/>
              <a:t>，由定理</a:t>
            </a:r>
            <a:r>
              <a:rPr lang="en-US" altLang="zh-CN" sz="2400" dirty="0"/>
              <a:t>1</a:t>
            </a:r>
            <a:r>
              <a:rPr lang="zh-CN" altLang="en-US" sz="2400" dirty="0"/>
              <a:t>得</a:t>
            </a:r>
          </a:p>
        </p:txBody>
      </p:sp>
      <p:graphicFrame>
        <p:nvGraphicFramePr>
          <p:cNvPr id="262153" name="Object 9"/>
          <p:cNvGraphicFramePr>
            <a:graphicFrameLocks noChangeAspect="1"/>
          </p:cNvGraphicFramePr>
          <p:nvPr/>
        </p:nvGraphicFramePr>
        <p:xfrm>
          <a:off x="3584575" y="4548014"/>
          <a:ext cx="3866457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81200" imgH="431800" progId="Equation.DSMT4">
                  <p:embed/>
                </p:oleObj>
              </mc:Choice>
              <mc:Fallback>
                <p:oleObj name="Equation" r:id="rId6" imgW="1981200" imgH="431800" progId="Equation.DSMT4">
                  <p:embed/>
                  <p:pic>
                    <p:nvPicPr>
                      <p:cNvPr id="26215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4575" y="4548014"/>
                        <a:ext cx="3866457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2154" name="Rectangle 10"/>
          <p:cNvSpPr>
            <a:spLocks noChangeArrowheads="1"/>
          </p:cNvSpPr>
          <p:nvPr/>
        </p:nvSpPr>
        <p:spPr bwMode="auto">
          <a:xfrm>
            <a:off x="1975228" y="5456349"/>
            <a:ext cx="6913575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从而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(1), 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(2), …, </a:t>
            </a:r>
            <a:r>
              <a:rPr lang="en-US" altLang="zh-CN" sz="2400" dirty="0" err="1"/>
              <a:t>f</a:t>
            </a:r>
            <a:r>
              <a:rPr lang="en-US" altLang="zh-CN" sz="2400" baseline="-25000" dirty="0" err="1"/>
              <a:t>ij</a:t>
            </a:r>
            <a:r>
              <a:rPr lang="en-US" altLang="zh-CN" sz="2400" dirty="0"/>
              <a:t>(n)</a:t>
            </a:r>
            <a:r>
              <a:rPr lang="zh-CN" altLang="en-US" sz="2400" dirty="0"/>
              <a:t>中至少有一个大于</a:t>
            </a:r>
            <a:r>
              <a:rPr lang="en-US" altLang="zh-CN" sz="2400" dirty="0"/>
              <a:t>0</a:t>
            </a:r>
            <a:r>
              <a:rPr lang="zh-CN" altLang="en-US" sz="2400" dirty="0"/>
              <a:t>，所以</a:t>
            </a:r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/>
        </p:nvGraphicFramePr>
        <p:xfrm>
          <a:off x="4365763" y="5958635"/>
          <a:ext cx="2132507" cy="841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91726" imgH="431613" progId="Equation.3">
                  <p:embed/>
                </p:oleObj>
              </mc:Choice>
              <mc:Fallback>
                <p:oleObj name="Equation" r:id="rId8" imgW="1091726" imgH="431613" progId="Equation.3">
                  <p:embed/>
                  <p:pic>
                    <p:nvPicPr>
                      <p:cNvPr id="26215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763" y="5958635"/>
                        <a:ext cx="2132507" cy="841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96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2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2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7" grpId="0" build="p"/>
      <p:bldP spid="262148" grpId="0" autoUpdateAnimBg="0"/>
      <p:bldP spid="262151" grpId="0" autoUpdateAnimBg="0"/>
      <p:bldP spid="262152" grpId="0" autoUpdateAnimBg="0"/>
      <p:bldP spid="262154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dirty="0"/>
              <a:t>推论</a:t>
            </a:r>
            <a:endParaRPr lang="en-US" altLang="zh-CN" dirty="0"/>
          </a:p>
        </p:txBody>
      </p:sp>
      <p:sp>
        <p:nvSpPr>
          <p:cNvPr id="17" name="内容占位符 16"/>
          <p:cNvSpPr>
            <a:spLocks noGrp="1" noChangeArrowheads="1"/>
          </p:cNvSpPr>
          <p:nvPr>
            <p:ph idx="1"/>
          </p:nvPr>
        </p:nvSpPr>
        <p:spPr>
          <a:xfrm>
            <a:off x="3722139" y="1341749"/>
            <a:ext cx="5286010" cy="989241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C00CC"/>
                </a:solidFill>
                <a:sym typeface="Symbol" panose="05050102010706020507" pitchFamily="18" charset="2"/>
              </a:rPr>
              <a:t>i↔j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r>
              <a:rPr lang="en-US" altLang="zh-CN">
                <a:solidFill>
                  <a:srgbClr val="0000FF"/>
                </a:solidFill>
                <a:sym typeface="Symbol" panose="05050102010706020507" pitchFamily="18" charset="2"/>
              </a:rPr>
              <a:t>  </a:t>
            </a:r>
            <a:r>
              <a:rPr lang="en-US" altLang="zh-CN">
                <a:solidFill>
                  <a:srgbClr val="CC00CC"/>
                </a:solidFill>
              </a:rPr>
              <a:t>f</a:t>
            </a:r>
            <a:r>
              <a:rPr lang="en-US" altLang="zh-CN" baseline="-25000">
                <a:solidFill>
                  <a:srgbClr val="CC00CC"/>
                </a:solidFill>
              </a:rPr>
              <a:t>ij</a:t>
            </a:r>
            <a:r>
              <a:rPr lang="zh-CN" altLang="en-US">
                <a:solidFill>
                  <a:srgbClr val="CC00CC"/>
                </a:solidFill>
              </a:rPr>
              <a:t>＞</a:t>
            </a:r>
            <a:r>
              <a:rPr lang="en-US" altLang="zh-CN">
                <a:solidFill>
                  <a:srgbClr val="CC00CC"/>
                </a:solidFill>
              </a:rPr>
              <a:t>0</a:t>
            </a:r>
            <a:r>
              <a:rPr lang="zh-CN" altLang="en-US">
                <a:solidFill>
                  <a:srgbClr val="CC00CC"/>
                </a:solidFill>
              </a:rPr>
              <a:t>且</a:t>
            </a:r>
            <a:r>
              <a:rPr lang="en-US" altLang="zh-CN">
                <a:solidFill>
                  <a:srgbClr val="CC00CC"/>
                </a:solidFill>
              </a:rPr>
              <a:t>f</a:t>
            </a:r>
            <a:r>
              <a:rPr lang="en-US" altLang="zh-CN" baseline="-25000">
                <a:solidFill>
                  <a:srgbClr val="CC00CC"/>
                </a:solidFill>
              </a:rPr>
              <a:t>ji</a:t>
            </a:r>
            <a:r>
              <a:rPr lang="zh-CN" altLang="en-US">
                <a:solidFill>
                  <a:srgbClr val="CC00CC"/>
                </a:solidFill>
              </a:rPr>
              <a:t>＞</a:t>
            </a:r>
            <a:r>
              <a:rPr lang="en-US" altLang="zh-CN">
                <a:solidFill>
                  <a:srgbClr val="CC00CC"/>
                </a:solidFill>
              </a:rPr>
              <a:t>0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 tmFilter="0,0; .5, 1; 1, 1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80" name="Rectangle 12"/>
          <p:cNvSpPr>
            <a:spLocks noChangeArrowheads="1"/>
          </p:cNvSpPr>
          <p:nvPr/>
        </p:nvSpPr>
        <p:spPr bwMode="auto">
          <a:xfrm>
            <a:off x="1778852" y="3915021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非常返的充分必要条件是                       ；</a:t>
            </a:r>
          </a:p>
        </p:txBody>
      </p:sp>
      <p:sp>
        <p:nvSpPr>
          <p:cNvPr id="263179" name="Rectangle 11"/>
          <p:cNvSpPr>
            <a:spLocks noChangeArrowheads="1"/>
          </p:cNvSpPr>
          <p:nvPr/>
        </p:nvSpPr>
        <p:spPr bwMode="auto">
          <a:xfrm>
            <a:off x="1778852" y="3098857"/>
            <a:ext cx="7347062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常返的充分必要条件是                       ；</a:t>
            </a:r>
          </a:p>
        </p:txBody>
      </p:sp>
      <p:sp>
        <p:nvSpPr>
          <p:cNvPr id="215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二、常返</a:t>
            </a:r>
          </a:p>
        </p:txBody>
      </p:sp>
      <p:sp>
        <p:nvSpPr>
          <p:cNvPr id="263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7175" y="1151204"/>
            <a:ext cx="7850417" cy="1211543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，则称状态</a:t>
            </a:r>
            <a:r>
              <a:rPr lang="en-US" altLang="zh-CN" dirty="0" err="1"/>
              <a:t>i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C00CC"/>
                </a:solidFill>
              </a:rPr>
              <a:t>常返状态</a:t>
            </a:r>
            <a:r>
              <a:rPr lang="zh-CN" altLang="en-US" dirty="0"/>
              <a:t>；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如果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＜</a:t>
            </a:r>
            <a:r>
              <a:rPr lang="en-US" altLang="zh-CN" dirty="0"/>
              <a:t>1</a:t>
            </a:r>
            <a:r>
              <a:rPr lang="zh-CN" altLang="en-US" dirty="0"/>
              <a:t>，则称状态</a:t>
            </a:r>
            <a:r>
              <a:rPr lang="en-US" altLang="zh-CN" dirty="0" err="1"/>
              <a:t>i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C00CC"/>
                </a:solidFill>
              </a:rPr>
              <a:t>非常返状态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CC00CC"/>
                </a:solidFill>
              </a:rPr>
              <a:t>瞬时状态</a:t>
            </a:r>
            <a:r>
              <a:rPr lang="zh-CN" altLang="en-US" dirty="0"/>
              <a:t>。</a:t>
            </a:r>
          </a:p>
        </p:txBody>
      </p:sp>
      <p:sp>
        <p:nvSpPr>
          <p:cNvPr id="263172" name="Rectangle 4"/>
          <p:cNvSpPr>
            <a:spLocks noChangeArrowheads="1"/>
          </p:cNvSpPr>
          <p:nvPr/>
        </p:nvSpPr>
        <p:spPr bwMode="auto">
          <a:xfrm>
            <a:off x="1679575" y="2384149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判别常返状态的准则：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6133646" y="3010458"/>
          <a:ext cx="1924495" cy="88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89920" imgH="787320" progId="Equation.DSMT4">
                  <p:embed/>
                </p:oleObj>
              </mc:Choice>
              <mc:Fallback>
                <p:oleObj name="Equation" r:id="rId2" imgW="1789920" imgH="787320" progId="Equation.DSMT4">
                  <p:embed/>
                  <p:pic>
                    <p:nvPicPr>
                      <p:cNvPr id="2631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3646" y="3010458"/>
                        <a:ext cx="1924495" cy="88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6403975" y="3872455"/>
          <a:ext cx="1927671" cy="88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89920" imgH="787320" progId="Equation.DSMT4">
                  <p:embed/>
                </p:oleObj>
              </mc:Choice>
              <mc:Fallback>
                <p:oleObj name="Equation" r:id="rId4" imgW="1789920" imgH="787320" progId="Equation.DSMT4">
                  <p:embed/>
                  <p:pic>
                    <p:nvPicPr>
                      <p:cNvPr id="2631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3975" y="3872455"/>
                        <a:ext cx="1927671" cy="88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5433787" y="4860345"/>
          <a:ext cx="2057876" cy="668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7640" imgH="482760" progId="Equation.3">
                  <p:embed/>
                </p:oleObj>
              </mc:Choice>
              <mc:Fallback>
                <p:oleObj name="Equation" r:id="rId6" imgW="1637640" imgH="482760" progId="Equation.3">
                  <p:embed/>
                  <p:pic>
                    <p:nvPicPr>
                      <p:cNvPr id="26317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3787" y="4860345"/>
                        <a:ext cx="2057876" cy="668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81" name="Rectangle 13"/>
          <p:cNvSpPr>
            <a:spLocks noChangeArrowheads="1"/>
          </p:cNvSpPr>
          <p:nvPr/>
        </p:nvSpPr>
        <p:spPr bwMode="auto">
          <a:xfrm>
            <a:off x="1778852" y="4751826"/>
            <a:ext cx="7850417" cy="567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8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若状态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是非常返的，则                        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3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3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63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63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3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180" grpId="0" autoUpdateAnimBg="0"/>
      <p:bldP spid="263179" grpId="0" autoUpdateAnimBg="0"/>
      <p:bldP spid="263171" grpId="0" build="p"/>
      <p:bldP spid="263172" grpId="0" autoUpdateAnimBg="0"/>
      <p:bldP spid="263181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anose="02010609060101010101" pitchFamily="49" charset="-122"/>
              </a:rPr>
              <a:t>返回的次数</a:t>
            </a: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2389" y="842900"/>
            <a:ext cx="8306788" cy="868563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定义随机变量</a:t>
            </a:r>
          </a:p>
        </p:txBody>
      </p:sp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3203575" y="1311997"/>
          <a:ext cx="2519946" cy="86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469900" progId="Equation.3">
                  <p:embed/>
                </p:oleObj>
              </mc:Choice>
              <mc:Fallback>
                <p:oleObj name="Equation" r:id="rId2" imgW="1358900" imgH="469900" progId="Equation.3">
                  <p:embed/>
                  <p:pic>
                    <p:nvPicPr>
                      <p:cNvPr id="264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1311997"/>
                        <a:ext cx="2519946" cy="868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7" name="Rectangle 5"/>
          <p:cNvSpPr>
            <a:spLocks noChangeArrowheads="1"/>
          </p:cNvSpPr>
          <p:nvPr/>
        </p:nvSpPr>
        <p:spPr bwMode="auto">
          <a:xfrm>
            <a:off x="986241" y="2465443"/>
            <a:ext cx="16767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则随机变量</a:t>
            </a:r>
          </a:p>
        </p:txBody>
      </p:sp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2510595" y="2316184"/>
          <a:ext cx="1440196" cy="765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12447" imgH="431613" progId="Equation.3">
                  <p:embed/>
                </p:oleObj>
              </mc:Choice>
              <mc:Fallback>
                <p:oleObj name="Equation" r:id="rId4" imgW="812447" imgH="431613" progId="Equation.3">
                  <p:embed/>
                  <p:pic>
                    <p:nvPicPr>
                      <p:cNvPr id="2641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0595" y="2316184"/>
                        <a:ext cx="1440196" cy="7653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199" name="Rectangle 7"/>
          <p:cNvSpPr>
            <a:spLocks noChangeArrowheads="1"/>
          </p:cNvSpPr>
          <p:nvPr/>
        </p:nvSpPr>
        <p:spPr bwMode="auto">
          <a:xfrm>
            <a:off x="3965081" y="2459091"/>
            <a:ext cx="42681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表示质点到达状态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的次数，有</a:t>
            </a:r>
          </a:p>
        </p:txBody>
      </p:sp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3396625" y="3069349"/>
          <a:ext cx="4074468" cy="74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362200" imgH="431800" progId="Equation.3">
                  <p:embed/>
                </p:oleObj>
              </mc:Choice>
              <mc:Fallback>
                <p:oleObj name="Equation" r:id="rId6" imgW="2362200" imgH="431800" progId="Equation.3">
                  <p:embed/>
                  <p:pic>
                    <p:nvPicPr>
                      <p:cNvPr id="264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6625" y="3069349"/>
                        <a:ext cx="4074468" cy="74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1" name="Object 9"/>
          <p:cNvGraphicFramePr>
            <a:graphicFrameLocks noChangeAspect="1"/>
          </p:cNvGraphicFramePr>
          <p:nvPr/>
        </p:nvGraphicFramePr>
        <p:xfrm>
          <a:off x="3126687" y="3860107"/>
          <a:ext cx="6554717" cy="74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97300" imgH="431800" progId="Equation.3">
                  <p:embed/>
                </p:oleObj>
              </mc:Choice>
              <mc:Fallback>
                <p:oleObj name="Equation" r:id="rId8" imgW="3797300" imgH="431800" progId="Equation.3">
                  <p:embed/>
                  <p:pic>
                    <p:nvPicPr>
                      <p:cNvPr id="264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6687" y="3860107"/>
                        <a:ext cx="6554717" cy="74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2" name="Rectangle 10"/>
          <p:cNvSpPr>
            <a:spLocks noChangeArrowheads="1"/>
          </p:cNvSpPr>
          <p:nvPr/>
        </p:nvSpPr>
        <p:spPr bwMode="auto">
          <a:xfrm>
            <a:off x="2669381" y="4825530"/>
            <a:ext cx="1676788" cy="369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由此可知，</a:t>
            </a:r>
          </a:p>
        </p:txBody>
      </p:sp>
      <p:graphicFrame>
        <p:nvGraphicFramePr>
          <p:cNvPr id="264203" name="Object 11"/>
          <p:cNvGraphicFramePr>
            <a:graphicFrameLocks noChangeAspect="1"/>
          </p:cNvGraphicFramePr>
          <p:nvPr/>
        </p:nvGraphicFramePr>
        <p:xfrm>
          <a:off x="4161977" y="4582586"/>
          <a:ext cx="1152792" cy="852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583947" imgH="431613" progId="Equation.3">
                  <p:embed/>
                </p:oleObj>
              </mc:Choice>
              <mc:Fallback>
                <p:oleObj name="Equation" r:id="rId10" imgW="583947" imgH="431613" progId="Equation.3">
                  <p:embed/>
                  <p:pic>
                    <p:nvPicPr>
                      <p:cNvPr id="26420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1977" y="4582586"/>
                        <a:ext cx="1152792" cy="8526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204" name="Rectangle 12"/>
          <p:cNvSpPr>
            <a:spLocks noChangeArrowheads="1"/>
          </p:cNvSpPr>
          <p:nvPr/>
        </p:nvSpPr>
        <p:spPr bwMode="auto">
          <a:xfrm>
            <a:off x="5324296" y="4823941"/>
            <a:ext cx="4808063" cy="36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表示由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出发再返回</a:t>
            </a:r>
            <a:r>
              <a:rPr lang="en-US" altLang="zh-CN" sz="2400">
                <a:latin typeface="+mn-ea"/>
                <a:ea typeface="+mn-ea"/>
              </a:rPr>
              <a:t>j</a:t>
            </a:r>
            <a:r>
              <a:rPr lang="zh-CN" altLang="en-US" sz="2400">
                <a:latin typeface="+mn-ea"/>
                <a:ea typeface="+mn-ea"/>
              </a:rPr>
              <a:t>的平均次数。</a:t>
            </a:r>
            <a:endParaRPr lang="en-US" altLang="zh-CN" sz="240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64205" name="Rectangle 13"/>
          <p:cNvSpPr>
            <a:spLocks noChangeArrowheads="1"/>
          </p:cNvSpPr>
          <p:nvPr/>
        </p:nvSpPr>
        <p:spPr bwMode="auto">
          <a:xfrm>
            <a:off x="2587606" y="5620328"/>
            <a:ext cx="7774199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是常返状态时，返回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的次数是无穷多次；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>
                <a:srgbClr val="CC00CC"/>
              </a:buClr>
              <a:buSzPct val="90000"/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当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是非常返状态时，返回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的次数只能是有限多次。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2556644" y="3398774"/>
            <a:ext cx="7836125" cy="1225954"/>
            <a:chOff x="1116013" y="3603999"/>
            <a:chExt cx="7345362" cy="1225272"/>
          </a:xfrm>
        </p:grpSpPr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id="{B2BD8389-8C6C-4F9C-AD96-F71C59B1D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3704076"/>
              <a:ext cx="7345362" cy="112519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状态</a:t>
              </a:r>
              <a:r>
                <a:rPr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j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常返的充分必要条件是                       ；</a:t>
              </a:r>
              <a:endParaRPr lang="en-US" altLang="zh-CN" sz="2400" dirty="0">
                <a:solidFill>
                  <a:srgbClr val="0000FF"/>
                </a:solidFill>
                <a:latin typeface="+mn-ea"/>
                <a:ea typeface="+mn-ea"/>
              </a:endParaRPr>
            </a:p>
            <a:p>
              <a:pPr algn="just" eaLnBrk="1" hangingPunct="1">
                <a:lnSpc>
                  <a:spcPct val="18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/>
                <a:defRPr/>
              </a:pPr>
              <a:endParaRPr lang="zh-CN" altLang="en-US" sz="240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2550" name="Object 6"/>
            <p:cNvGraphicFramePr>
              <a:graphicFrameLocks noChangeAspect="1"/>
            </p:cNvGraphicFramePr>
            <p:nvPr/>
          </p:nvGraphicFramePr>
          <p:xfrm>
            <a:off x="5127648" y="3603999"/>
            <a:ext cx="1924050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789920" imgH="787320" progId="Equation.DSMT4">
                    <p:embed/>
                  </p:oleObj>
                </mc:Choice>
                <mc:Fallback>
                  <p:oleObj name="Equation" r:id="rId12" imgW="1789920" imgH="787320" progId="Equation.DSMT4">
                    <p:embed/>
                    <p:pic>
                      <p:nvPicPr>
                        <p:cNvPr id="2255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7648" y="3603999"/>
                          <a:ext cx="1924050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2556644" y="4542911"/>
            <a:ext cx="7850417" cy="1000247"/>
            <a:chOff x="1116013" y="4423610"/>
            <a:chExt cx="7848600" cy="1000016"/>
          </a:xfrm>
        </p:grpSpPr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11C1A2EA-C9AC-402F-B2D4-0E0FAA2E2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013" y="4519613"/>
              <a:ext cx="7848600" cy="9040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300000"/>
                </a:lnSpc>
                <a:buClr>
                  <a:srgbClr val="CC00CC"/>
                </a:buClr>
                <a:buFont typeface="Wingdings" panose="05000000000000000000" pitchFamily="2" charset="2"/>
                <a:buAutoNum type="arabicParenR" startAt="2"/>
                <a:defRPr/>
              </a:pP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状态</a:t>
              </a:r>
              <a:r>
                <a:rPr lang="en-US" altLang="zh-CN" sz="2400" dirty="0">
                  <a:solidFill>
                    <a:srgbClr val="0000FF"/>
                  </a:solidFill>
                  <a:latin typeface="+mn-ea"/>
                  <a:ea typeface="+mn-ea"/>
                </a:rPr>
                <a:t>j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</a:rPr>
                <a:t>非常返的充分必要条件是                            ；</a:t>
              </a:r>
            </a:p>
          </p:txBody>
        </p:sp>
        <p:graphicFrame>
          <p:nvGraphicFramePr>
            <p:cNvPr id="22548" name="Object 7"/>
            <p:cNvGraphicFramePr>
              <a:graphicFrameLocks noChangeAspect="1"/>
            </p:cNvGraphicFramePr>
            <p:nvPr/>
          </p:nvGraphicFramePr>
          <p:xfrm>
            <a:off x="5827711" y="4423610"/>
            <a:ext cx="1927225" cy="885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789920" imgH="787320" progId="Equation.DSMT4">
                    <p:embed/>
                  </p:oleObj>
                </mc:Choice>
                <mc:Fallback>
                  <p:oleObj name="Equation" r:id="rId14" imgW="1789920" imgH="787320" progId="Equation.DSMT4">
                    <p:embed/>
                    <p:pic>
                      <p:nvPicPr>
                        <p:cNvPr id="22548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27711" y="4423610"/>
                          <a:ext cx="1927225" cy="8858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build="p"/>
      <p:bldP spid="264197" grpId="0"/>
      <p:bldP spid="264199" grpId="0"/>
      <p:bldP spid="264202" grpId="0"/>
      <p:bldP spid="264204" grpId="0"/>
      <p:bldP spid="26420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正常返与零常返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9975" y="1296194"/>
            <a:ext cx="10744200" cy="3863281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1800"/>
              </a:spcAft>
              <a:buFont typeface="Wingdings" panose="05000000000000000000" pitchFamily="2" charset="2"/>
              <a:buNone/>
            </a:pPr>
            <a:r>
              <a:rPr lang="zh-CN" altLang="en-US" dirty="0"/>
              <a:t>设</a:t>
            </a:r>
            <a:r>
              <a:rPr lang="en-US" altLang="zh-CN" dirty="0" err="1"/>
              <a:t>i</a:t>
            </a:r>
            <a:r>
              <a:rPr lang="zh-CN" altLang="en-US" dirty="0"/>
              <a:t>是常返状态，</a:t>
            </a:r>
            <a:r>
              <a:rPr lang="en-US" altLang="zh-CN" dirty="0" err="1"/>
              <a:t>f</a:t>
            </a:r>
            <a:r>
              <a:rPr lang="en-US" altLang="zh-CN" baseline="-25000" dirty="0" err="1"/>
              <a:t>ii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如果                                ，称状态</a:t>
            </a:r>
            <a:r>
              <a:rPr lang="en-US" altLang="zh-CN" dirty="0" err="1"/>
              <a:t>i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C00CC"/>
                </a:solidFill>
              </a:rPr>
              <a:t>正常返状态</a:t>
            </a:r>
            <a:r>
              <a:rPr lang="zh-CN" altLang="en-US" dirty="0"/>
              <a:t>；</a:t>
            </a:r>
            <a:endParaRPr lang="en-US" altLang="zh-CN" dirty="0"/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endParaRPr lang="zh-CN" altLang="en-US" dirty="0"/>
          </a:p>
          <a:p>
            <a:pPr eaLnBrk="1" hangingPunct="1">
              <a:lnSpc>
                <a:spcPct val="130000"/>
              </a:lnSpc>
              <a:spcBef>
                <a:spcPct val="20000"/>
              </a:spcBef>
              <a:buFont typeface="Wingdings" panose="05000000000000000000" pitchFamily="2" charset="2"/>
              <a:buAutoNum type="arabicParenR"/>
            </a:pPr>
            <a:r>
              <a:rPr lang="zh-CN" altLang="en-US" dirty="0"/>
              <a:t>如果                                ，称状态</a:t>
            </a:r>
            <a:r>
              <a:rPr lang="en-US" altLang="zh-CN" dirty="0" err="1"/>
              <a:t>i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C00CC"/>
                </a:solidFill>
              </a:rPr>
              <a:t>零常返状态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CC00CC"/>
                </a:solidFill>
              </a:rPr>
              <a:t>消极常返状态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265220" name="Object 4"/>
          <p:cNvGraphicFramePr>
            <a:graphicFrameLocks noChangeAspect="1"/>
          </p:cNvGraphicFramePr>
          <p:nvPr/>
        </p:nvGraphicFramePr>
        <p:xfrm>
          <a:off x="2365675" y="1979330"/>
          <a:ext cx="2667617" cy="8971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431800" progId="Equation.3">
                  <p:embed/>
                </p:oleObj>
              </mc:Choice>
              <mc:Fallback>
                <p:oleObj name="Equation" r:id="rId2" imgW="1282700" imgH="431800" progId="Equation.3">
                  <p:embed/>
                  <p:pic>
                    <p:nvPicPr>
                      <p:cNvPr id="2652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5675" y="1979330"/>
                        <a:ext cx="2667617" cy="8971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/>
        </p:nvGraphicFramePr>
        <p:xfrm>
          <a:off x="2289986" y="3111039"/>
          <a:ext cx="2667617" cy="897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2700" imgH="431800" progId="Equation.3">
                  <p:embed/>
                </p:oleObj>
              </mc:Choice>
              <mc:Fallback>
                <p:oleObj name="Equation" r:id="rId4" imgW="1282700" imgH="431800" progId="Equation.3">
                  <p:embed/>
                  <p:pic>
                    <p:nvPicPr>
                      <p:cNvPr id="265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986" y="3111039"/>
                        <a:ext cx="2667617" cy="8971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5296878" y="1270789"/>
            <a:ext cx="3167796" cy="576396"/>
          </a:xfrm>
          <a:prstGeom prst="wedgeRoundRectCallout">
            <a:avLst>
              <a:gd name="adj1" fmla="val -79000"/>
              <a:gd name="adj2" fmla="val 77153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平均返回时间有限</a:t>
            </a:r>
            <a:endParaRPr lang="zh-CN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5512828" y="4295677"/>
            <a:ext cx="3167796" cy="576395"/>
          </a:xfrm>
          <a:prstGeom prst="wedgeRoundRectCallout">
            <a:avLst>
              <a:gd name="adj1" fmla="val -68787"/>
              <a:gd name="adj2" fmla="val -176819"/>
              <a:gd name="adj3" fmla="val 16667"/>
            </a:avLst>
          </a:prstGeom>
          <a:solidFill>
            <a:schemeClr val="accent1"/>
          </a:solidFill>
          <a:ln w="9525" algn="ctr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平均返回时间无限</a:t>
            </a:r>
            <a:endParaRPr lang="zh-CN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5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65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65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19" grpId="0" build="p"/>
      <p:bldP spid="9" grpId="0" animBg="1"/>
      <p:bldP spid="1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定理</a:t>
            </a:r>
            <a:r>
              <a:rPr lang="en-US" altLang="zh-CN" dirty="0"/>
              <a:t>5</a:t>
            </a:r>
            <a:r>
              <a:rPr lang="zh-CN" altLang="en-US" dirty="0"/>
              <a:t>和定理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83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125799"/>
            <a:ext cx="9373552" cy="1282997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Clr>
                <a:srgbClr val="6600CC"/>
              </a:buClr>
              <a:buFontTx/>
              <a:buAutoNum type="arabicParenR"/>
            </a:pPr>
            <a:r>
              <a:rPr lang="zh-CN" altLang="en-US" dirty="0">
                <a:solidFill>
                  <a:srgbClr val="CC00CC"/>
                </a:solidFill>
              </a:rPr>
              <a:t>设</a:t>
            </a:r>
            <a:r>
              <a:rPr lang="en-US" altLang="zh-CN" dirty="0" err="1">
                <a:solidFill>
                  <a:srgbClr val="CC00CC"/>
                </a:solidFill>
              </a:rPr>
              <a:t>i</a:t>
            </a:r>
            <a:r>
              <a:rPr lang="zh-CN" altLang="en-US" dirty="0">
                <a:solidFill>
                  <a:srgbClr val="CC00CC"/>
                </a:solidFill>
              </a:rPr>
              <a:t>是常返状态，则</a:t>
            </a:r>
            <a:r>
              <a:rPr lang="en-US" altLang="zh-CN" dirty="0" err="1">
                <a:solidFill>
                  <a:srgbClr val="CC00CC"/>
                </a:solidFill>
              </a:rPr>
              <a:t>i</a:t>
            </a:r>
            <a:r>
              <a:rPr lang="zh-CN" altLang="en-US" dirty="0">
                <a:solidFill>
                  <a:srgbClr val="CC00CC"/>
                </a:solidFill>
              </a:rPr>
              <a:t>是零常返的充分必要条件是                         </a:t>
            </a:r>
            <a:r>
              <a:rPr lang="en-US" altLang="zh-CN" dirty="0">
                <a:solidFill>
                  <a:srgbClr val="CC00CC"/>
                </a:solidFill>
              </a:rPr>
              <a:t>;</a:t>
            </a:r>
            <a:endParaRPr lang="zh-CN" altLang="en-US" dirty="0">
              <a:solidFill>
                <a:srgbClr val="CC00CC"/>
              </a:solidFill>
            </a:endParaRPr>
          </a:p>
        </p:txBody>
      </p:sp>
      <p:graphicFrame>
        <p:nvGraphicFramePr>
          <p:cNvPr id="283656" name="Object 8"/>
          <p:cNvGraphicFramePr>
            <a:graphicFrameLocks noChangeAspect="1"/>
          </p:cNvGraphicFramePr>
          <p:nvPr/>
        </p:nvGraphicFramePr>
        <p:xfrm>
          <a:off x="7775575" y="1200921"/>
          <a:ext cx="2134094" cy="690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37640" imgH="482760" progId="Equation.3">
                  <p:embed/>
                </p:oleObj>
              </mc:Choice>
              <mc:Fallback>
                <p:oleObj name="Equation" r:id="rId2" imgW="1637640" imgH="482760" progId="Equation.3">
                  <p:embed/>
                  <p:pic>
                    <p:nvPicPr>
                      <p:cNvPr id="2836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5575" y="1200921"/>
                        <a:ext cx="2134094" cy="690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7" name="Rectangle 9"/>
          <p:cNvSpPr>
            <a:spLocks noChangeArrowheads="1"/>
          </p:cNvSpPr>
          <p:nvPr/>
        </p:nvSpPr>
        <p:spPr bwMode="auto">
          <a:xfrm>
            <a:off x="1503887" y="2086928"/>
            <a:ext cx="45730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如果</a:t>
            </a:r>
            <a:r>
              <a:rPr lang="en-US" altLang="zh-CN" sz="2400" dirty="0">
                <a:solidFill>
                  <a:srgbClr val="CC00CC"/>
                </a:solidFill>
                <a:latin typeface="+mn-ea"/>
                <a:ea typeface="+mn-ea"/>
              </a:rPr>
              <a:t>j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也是零常返状态，则</a:t>
            </a:r>
          </a:p>
        </p:txBody>
      </p:sp>
      <p:graphicFrame>
        <p:nvGraphicFramePr>
          <p:cNvPr id="283658" name="Object 10"/>
          <p:cNvGraphicFramePr>
            <a:graphicFrameLocks noChangeAspect="1"/>
          </p:cNvGraphicFramePr>
          <p:nvPr/>
        </p:nvGraphicFramePr>
        <p:xfrm>
          <a:off x="4986077" y="1970544"/>
          <a:ext cx="2245245" cy="693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3600" imgH="482760" progId="Equation.3">
                  <p:embed/>
                </p:oleObj>
              </mc:Choice>
              <mc:Fallback>
                <p:oleObj name="Equation" r:id="rId4" imgW="1713600" imgH="482760" progId="Equation.3">
                  <p:embed/>
                  <p:pic>
                    <p:nvPicPr>
                      <p:cNvPr id="283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6077" y="1970544"/>
                        <a:ext cx="2245245" cy="693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3659" name="Rectangle 11"/>
          <p:cNvSpPr>
            <a:spLocks noChangeArrowheads="1"/>
          </p:cNvSpPr>
          <p:nvPr/>
        </p:nvSpPr>
        <p:spPr bwMode="auto">
          <a:xfrm>
            <a:off x="1022763" y="2850968"/>
            <a:ext cx="10258012" cy="103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6600CC"/>
              </a:buClr>
              <a:buFontTx/>
              <a:buAutoNum type="arabicParenR" startAt="2"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如果</a:t>
            </a:r>
            <a:r>
              <a:rPr lang="en-US" altLang="zh-CN" sz="2400" dirty="0" err="1">
                <a:solidFill>
                  <a:srgbClr val="CC00CC"/>
                </a:solidFill>
                <a:latin typeface="+mn-ea"/>
                <a:ea typeface="+mn-ea"/>
                <a:sym typeface="Symbol" panose="05050102010706020507" pitchFamily="18" charset="2"/>
              </a:rPr>
              <a:t>i↔j</a:t>
            </a: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，则它们同为常返或非常返；如果它们均为常返时，则它们同为正常返或零常返。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374775" y="4255354"/>
            <a:ext cx="7323245" cy="2161088"/>
            <a:chOff x="672" y="2999"/>
            <a:chExt cx="4612" cy="1361"/>
          </a:xfrm>
        </p:grpSpPr>
        <p:sp>
          <p:nvSpPr>
            <p:cNvPr id="24588" name="Rectangle 13"/>
            <p:cNvSpPr>
              <a:spLocks noChangeArrowheads="1"/>
            </p:cNvSpPr>
            <p:nvPr/>
          </p:nvSpPr>
          <p:spPr bwMode="auto">
            <a:xfrm>
              <a:off x="672" y="3386"/>
              <a:ext cx="336" cy="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FontTx/>
                <a:buNone/>
              </a:pPr>
              <a:r>
                <a:rPr lang="zh-CN" altLang="en-US" sz="2400" dirty="0">
                  <a:solidFill>
                    <a:srgbClr val="CC00CC"/>
                  </a:solidFill>
                  <a:latin typeface="+mn-ea"/>
                  <a:ea typeface="+mn-ea"/>
                </a:rPr>
                <a:t>归</a:t>
              </a:r>
            </a:p>
            <a:p>
              <a:pPr algn="ctr" eaLnBrk="1" hangingPunct="1">
                <a:lnSpc>
                  <a:spcPct val="100000"/>
                </a:lnSpc>
                <a:buFontTx/>
                <a:buNone/>
              </a:pPr>
              <a:r>
                <a:rPr lang="zh-CN" altLang="en-US" sz="2400" dirty="0">
                  <a:solidFill>
                    <a:srgbClr val="CC00CC"/>
                  </a:solidFill>
                  <a:latin typeface="+mn-ea"/>
                  <a:ea typeface="+mn-ea"/>
                </a:rPr>
                <a:t>纳</a:t>
              </a:r>
            </a:p>
          </p:txBody>
        </p:sp>
        <p:sp>
          <p:nvSpPr>
            <p:cNvPr id="24589" name="AutoShape 14"/>
            <p:cNvSpPr>
              <a:spLocks/>
            </p:cNvSpPr>
            <p:nvPr/>
          </p:nvSpPr>
          <p:spPr bwMode="auto">
            <a:xfrm>
              <a:off x="960" y="3168"/>
              <a:ext cx="192" cy="998"/>
            </a:xfrm>
            <a:prstGeom prst="leftBrace">
              <a:avLst>
                <a:gd name="adj1" fmla="val 31260"/>
                <a:gd name="adj2" fmla="val 50000"/>
              </a:avLst>
            </a:prstGeom>
            <a:noFill/>
            <a:ln w="222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latin typeface="+mn-ea"/>
                <a:ea typeface="+mn-ea"/>
              </a:endParaRPr>
            </a:p>
          </p:txBody>
        </p:sp>
        <p:sp>
          <p:nvSpPr>
            <p:cNvPr id="24590" name="Rectangle 15"/>
            <p:cNvSpPr>
              <a:spLocks noChangeArrowheads="1"/>
            </p:cNvSpPr>
            <p:nvPr/>
          </p:nvSpPr>
          <p:spPr bwMode="auto">
            <a:xfrm>
              <a:off x="1200" y="3072"/>
              <a:ext cx="163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457200" indent="-457200"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是非常返 </a:t>
              </a:r>
            </a:p>
            <a:p>
              <a:pPr>
                <a:lnSpc>
                  <a:spcPct val="160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是零常返 </a:t>
              </a:r>
            </a:p>
            <a:p>
              <a:pPr eaLnBrk="1" hangingPunct="1">
                <a:lnSpc>
                  <a:spcPct val="160000"/>
                </a:lnSpc>
                <a:buClr>
                  <a:srgbClr val="6600CC"/>
                </a:buClr>
                <a:buFontTx/>
                <a:buAutoNum type="arabicParenR"/>
              </a:pPr>
              <a:r>
                <a:rPr lang="en-US" altLang="zh-CN" sz="2400" dirty="0" err="1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i</a:t>
              </a:r>
              <a:r>
                <a:rPr lang="zh-CN" altLang="en-US" sz="2400" dirty="0">
                  <a:solidFill>
                    <a:srgbClr val="0000FF"/>
                  </a:solidFill>
                  <a:latin typeface="+mn-ea"/>
                  <a:ea typeface="+mn-ea"/>
                  <a:sym typeface="Symbol" panose="05050102010706020507" pitchFamily="18" charset="2"/>
                </a:rPr>
                <a:t>是正常返 </a:t>
              </a:r>
              <a:endParaRPr lang="zh-CN" altLang="en-US" sz="2400" dirty="0">
                <a:solidFill>
                  <a:srgbClr val="0000FF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24591" name="Object 16"/>
            <p:cNvGraphicFramePr>
              <a:graphicFrameLocks noChangeAspect="1"/>
            </p:cNvGraphicFramePr>
            <p:nvPr/>
          </p:nvGraphicFramePr>
          <p:xfrm>
            <a:off x="2775" y="2999"/>
            <a:ext cx="2509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455360" imgH="787320" progId="Equation.3">
                    <p:embed/>
                  </p:oleObj>
                </mc:Choice>
                <mc:Fallback>
                  <p:oleObj name="Equation" r:id="rId6" imgW="4455360" imgH="787320" progId="Equation.3">
                    <p:embed/>
                    <p:pic>
                      <p:nvPicPr>
                        <p:cNvPr id="24591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2999"/>
                          <a:ext cx="2509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2" name="Object 17"/>
            <p:cNvGraphicFramePr>
              <a:graphicFrameLocks noChangeAspect="1"/>
            </p:cNvGraphicFramePr>
            <p:nvPr/>
          </p:nvGraphicFramePr>
          <p:xfrm>
            <a:off x="2775" y="3418"/>
            <a:ext cx="2343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4150800" imgH="787320" progId="Equation.3">
                    <p:embed/>
                  </p:oleObj>
                </mc:Choice>
                <mc:Fallback>
                  <p:oleObj name="Equation" r:id="rId8" imgW="4150800" imgH="787320" progId="Equation.3">
                    <p:embed/>
                    <p:pic>
                      <p:nvPicPr>
                        <p:cNvPr id="24592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3418"/>
                          <a:ext cx="2343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93" name="Object 18"/>
            <p:cNvGraphicFramePr>
              <a:graphicFrameLocks noChangeAspect="1"/>
            </p:cNvGraphicFramePr>
            <p:nvPr/>
          </p:nvGraphicFramePr>
          <p:xfrm>
            <a:off x="2775" y="3884"/>
            <a:ext cx="2340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150800" imgH="787320" progId="Equation.3">
                    <p:embed/>
                  </p:oleObj>
                </mc:Choice>
                <mc:Fallback>
                  <p:oleObj name="Equation" r:id="rId10" imgW="4150800" imgH="787320" progId="Equation.3">
                    <p:embed/>
                    <p:pic>
                      <p:nvPicPr>
                        <p:cNvPr id="24593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5" y="3884"/>
                          <a:ext cx="2340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3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83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3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83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1" grpId="0" build="p"/>
      <p:bldP spid="283657" grpId="0"/>
      <p:bldP spid="283659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  </a:t>
            </a:r>
            <a:r>
              <a:rPr lang="zh-CN" altLang="en-US"/>
              <a:t>两个吸收壁的随机游动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8975" y="1167084"/>
            <a:ext cx="9754607" cy="104351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状态空间  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状态转移矩阵</a:t>
            </a:r>
          </a:p>
        </p:txBody>
      </p:sp>
      <p:graphicFrame>
        <p:nvGraphicFramePr>
          <p:cNvPr id="271364" name="Object 4"/>
          <p:cNvGraphicFramePr>
            <a:graphicFrameLocks noChangeAspect="1"/>
          </p:cNvGraphicFramePr>
          <p:nvPr/>
        </p:nvGraphicFramePr>
        <p:xfrm>
          <a:off x="3007597" y="2320466"/>
          <a:ext cx="3839464" cy="1714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44700" imgH="914400" progId="Equation.3">
                  <p:embed/>
                </p:oleObj>
              </mc:Choice>
              <mc:Fallback>
                <p:oleObj name="公式" r:id="rId2" imgW="2044700" imgH="914400" progId="Equation.3">
                  <p:embed/>
                  <p:pic>
                    <p:nvPicPr>
                      <p:cNvPr id="271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97" y="2320466"/>
                        <a:ext cx="3839464" cy="1714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1365" name="Rectangle 5"/>
          <p:cNvSpPr>
            <a:spLocks noChangeArrowheads="1"/>
          </p:cNvSpPr>
          <p:nvPr/>
        </p:nvSpPr>
        <p:spPr bwMode="auto">
          <a:xfrm>
            <a:off x="917575" y="4194055"/>
            <a:ext cx="1984834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/>
              <a:t>状态转移图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4238195" y="5135164"/>
            <a:ext cx="360446" cy="457306"/>
            <a:chOff x="1708" y="3234"/>
            <a:chExt cx="227" cy="288"/>
          </a:xfrm>
        </p:grpSpPr>
        <p:sp>
          <p:nvSpPr>
            <p:cNvPr id="25638" name="Oval 7"/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9" name="Rectangle 8"/>
            <p:cNvSpPr>
              <a:spLocks noChangeArrowheads="1"/>
            </p:cNvSpPr>
            <p:nvPr/>
          </p:nvSpPr>
          <p:spPr bwMode="auto">
            <a:xfrm>
              <a:off x="1723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51"/>
          <p:cNvGrpSpPr>
            <a:grpSpLocks/>
          </p:cNvGrpSpPr>
          <p:nvPr/>
        </p:nvGrpSpPr>
        <p:grpSpPr bwMode="auto">
          <a:xfrm>
            <a:off x="5362405" y="5135164"/>
            <a:ext cx="360446" cy="457306"/>
            <a:chOff x="2416" y="3234"/>
            <a:chExt cx="227" cy="288"/>
          </a:xfrm>
        </p:grpSpPr>
        <p:sp>
          <p:nvSpPr>
            <p:cNvPr id="25636" name="Oval 9"/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7" name="Rectangle 10"/>
            <p:cNvSpPr>
              <a:spLocks noChangeArrowheads="1"/>
            </p:cNvSpPr>
            <p:nvPr/>
          </p:nvSpPr>
          <p:spPr bwMode="auto">
            <a:xfrm>
              <a:off x="2431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6486615" y="5135164"/>
            <a:ext cx="360446" cy="457306"/>
            <a:chOff x="3124" y="3234"/>
            <a:chExt cx="227" cy="288"/>
          </a:xfrm>
        </p:grpSpPr>
        <p:sp>
          <p:nvSpPr>
            <p:cNvPr id="25634" name="Oval 11"/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5" name="Rectangle 12"/>
            <p:cNvSpPr>
              <a:spLocks noChangeArrowheads="1"/>
            </p:cNvSpPr>
            <p:nvPr/>
          </p:nvSpPr>
          <p:spPr bwMode="auto">
            <a:xfrm>
              <a:off x="3139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5" name="Group 53"/>
          <p:cNvGrpSpPr>
            <a:grpSpLocks/>
          </p:cNvGrpSpPr>
          <p:nvPr/>
        </p:nvGrpSpPr>
        <p:grpSpPr bwMode="auto">
          <a:xfrm>
            <a:off x="7612413" y="5135164"/>
            <a:ext cx="360445" cy="457306"/>
            <a:chOff x="3833" y="3234"/>
            <a:chExt cx="227" cy="288"/>
          </a:xfrm>
        </p:grpSpPr>
        <p:sp>
          <p:nvSpPr>
            <p:cNvPr id="25632" name="Oval 13"/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5633" name="Rectangle 14"/>
            <p:cNvSpPr>
              <a:spLocks noChangeArrowheads="1"/>
            </p:cNvSpPr>
            <p:nvPr/>
          </p:nvSpPr>
          <p:spPr bwMode="auto">
            <a:xfrm>
              <a:off x="3848" y="32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46"/>
          <p:cNvGrpSpPr>
            <a:grpSpLocks/>
          </p:cNvGrpSpPr>
          <p:nvPr/>
        </p:nvGrpSpPr>
        <p:grpSpPr bwMode="auto">
          <a:xfrm>
            <a:off x="3704671" y="4801712"/>
            <a:ext cx="582748" cy="609741"/>
            <a:chOff x="1372" y="3024"/>
            <a:chExt cx="367" cy="384"/>
          </a:xfrm>
        </p:grpSpPr>
        <p:sp>
          <p:nvSpPr>
            <p:cNvPr id="25630" name="Rectangle 30"/>
            <p:cNvSpPr>
              <a:spLocks noChangeArrowheads="1"/>
            </p:cNvSpPr>
            <p:nvPr/>
          </p:nvSpPr>
          <p:spPr bwMode="auto">
            <a:xfrm>
              <a:off x="1372" y="302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631" name="Arc 33"/>
            <p:cNvSpPr>
              <a:spLocks/>
            </p:cNvSpPr>
            <p:nvPr/>
          </p:nvSpPr>
          <p:spPr bwMode="auto">
            <a:xfrm flipH="1">
              <a:off x="1512" y="3181"/>
              <a:ext cx="227" cy="227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95" y="23626"/>
                  </a:moveTo>
                  <a:cubicBezTo>
                    <a:pt x="31" y="22953"/>
                    <a:pt x="0" y="2227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5135" y="43200"/>
                    <a:pt x="9009" y="40304"/>
                    <a:pt x="4907" y="35307"/>
                  </a:cubicBezTo>
                </a:path>
                <a:path w="43200" h="43200" stroke="0" extrusionOk="0">
                  <a:moveTo>
                    <a:pt x="95" y="23626"/>
                  </a:moveTo>
                  <a:cubicBezTo>
                    <a:pt x="31" y="22953"/>
                    <a:pt x="0" y="2227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15135" y="43200"/>
                    <a:pt x="9009" y="40304"/>
                    <a:pt x="4907" y="35307"/>
                  </a:cubicBezTo>
                  <a:lnTo>
                    <a:pt x="21600" y="21600"/>
                  </a:lnTo>
                  <a:lnTo>
                    <a:pt x="95" y="23626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42"/>
          <p:cNvGrpSpPr>
            <a:grpSpLocks/>
          </p:cNvGrpSpPr>
          <p:nvPr/>
        </p:nvGrpSpPr>
        <p:grpSpPr bwMode="auto">
          <a:xfrm>
            <a:off x="4404921" y="5548010"/>
            <a:ext cx="1067047" cy="549402"/>
            <a:chOff x="1813" y="3494"/>
            <a:chExt cx="672" cy="346"/>
          </a:xfrm>
        </p:grpSpPr>
        <p:sp>
          <p:nvSpPr>
            <p:cNvPr id="25628" name="Rectangle 17"/>
            <p:cNvSpPr>
              <a:spLocks noChangeArrowheads="1"/>
            </p:cNvSpPr>
            <p:nvPr/>
          </p:nvSpPr>
          <p:spPr bwMode="auto">
            <a:xfrm>
              <a:off x="2052" y="3552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q</a:t>
              </a:r>
            </a:p>
          </p:txBody>
        </p:sp>
        <p:sp>
          <p:nvSpPr>
            <p:cNvPr id="25629" name="Arc 35"/>
            <p:cNvSpPr>
              <a:spLocks/>
            </p:cNvSpPr>
            <p:nvPr/>
          </p:nvSpPr>
          <p:spPr bwMode="auto">
            <a:xfrm flipV="1">
              <a:off x="1813" y="3494"/>
              <a:ext cx="672" cy="153"/>
            </a:xfrm>
            <a:custGeom>
              <a:avLst/>
              <a:gdLst>
                <a:gd name="T0" fmla="*/ 0 w 43200"/>
                <a:gd name="T1" fmla="*/ 0 h 22995"/>
                <a:gd name="T2" fmla="*/ 0 w 43200"/>
                <a:gd name="T3" fmla="*/ 0 h 22995"/>
                <a:gd name="T4" fmla="*/ 0 w 43200"/>
                <a:gd name="T5" fmla="*/ 0 h 2299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995"/>
                <a:gd name="T11" fmla="*/ 43200 w 43200"/>
                <a:gd name="T12" fmla="*/ 22995 h 22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995" fill="none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995" stroke="0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5" y="22994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5527543" y="4511133"/>
            <a:ext cx="1065460" cy="681195"/>
            <a:chOff x="2520" y="2841"/>
            <a:chExt cx="671" cy="429"/>
          </a:xfrm>
        </p:grpSpPr>
        <p:sp>
          <p:nvSpPr>
            <p:cNvPr id="25626" name="Rectangle 26"/>
            <p:cNvSpPr>
              <a:spLocks noChangeArrowheads="1"/>
            </p:cNvSpPr>
            <p:nvPr/>
          </p:nvSpPr>
          <p:spPr bwMode="auto">
            <a:xfrm>
              <a:off x="2778" y="2841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25627" name="Arc 36"/>
            <p:cNvSpPr>
              <a:spLocks/>
            </p:cNvSpPr>
            <p:nvPr/>
          </p:nvSpPr>
          <p:spPr bwMode="auto">
            <a:xfrm flipH="1">
              <a:off x="2520" y="3107"/>
              <a:ext cx="671" cy="163"/>
            </a:xfrm>
            <a:custGeom>
              <a:avLst/>
              <a:gdLst>
                <a:gd name="T0" fmla="*/ 0 w 43200"/>
                <a:gd name="T1" fmla="*/ 0 h 23101"/>
                <a:gd name="T2" fmla="*/ 0 w 43200"/>
                <a:gd name="T3" fmla="*/ 0 h 23101"/>
                <a:gd name="T4" fmla="*/ 0 w 43200"/>
                <a:gd name="T5" fmla="*/ 0 h 231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101"/>
                <a:gd name="T11" fmla="*/ 43200 w 43200"/>
                <a:gd name="T12" fmla="*/ 23101 h 23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101" fill="none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1" stroke="0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43"/>
          <p:cNvGrpSpPr>
            <a:grpSpLocks/>
          </p:cNvGrpSpPr>
          <p:nvPr/>
        </p:nvGrpSpPr>
        <p:grpSpPr bwMode="auto">
          <a:xfrm>
            <a:off x="5603760" y="5525780"/>
            <a:ext cx="1067047" cy="549402"/>
            <a:chOff x="2568" y="3480"/>
            <a:chExt cx="672" cy="346"/>
          </a:xfrm>
        </p:grpSpPr>
        <p:sp>
          <p:nvSpPr>
            <p:cNvPr id="25624" name="Rectangle 37"/>
            <p:cNvSpPr>
              <a:spLocks noChangeArrowheads="1"/>
            </p:cNvSpPr>
            <p:nvPr/>
          </p:nvSpPr>
          <p:spPr bwMode="auto">
            <a:xfrm>
              <a:off x="2807" y="3538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q</a:t>
              </a:r>
            </a:p>
          </p:txBody>
        </p:sp>
        <p:sp>
          <p:nvSpPr>
            <p:cNvPr id="25625" name="Arc 38"/>
            <p:cNvSpPr>
              <a:spLocks/>
            </p:cNvSpPr>
            <p:nvPr/>
          </p:nvSpPr>
          <p:spPr bwMode="auto">
            <a:xfrm flipV="1">
              <a:off x="2568" y="3480"/>
              <a:ext cx="672" cy="153"/>
            </a:xfrm>
            <a:custGeom>
              <a:avLst/>
              <a:gdLst>
                <a:gd name="T0" fmla="*/ 0 w 43200"/>
                <a:gd name="T1" fmla="*/ 0 h 22995"/>
                <a:gd name="T2" fmla="*/ 0 w 43200"/>
                <a:gd name="T3" fmla="*/ 0 h 22995"/>
                <a:gd name="T4" fmla="*/ 0 w 43200"/>
                <a:gd name="T5" fmla="*/ 0 h 22995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995"/>
                <a:gd name="T11" fmla="*/ 43200 w 43200"/>
                <a:gd name="T12" fmla="*/ 22995 h 22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995" fill="none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995" stroke="0" extrusionOk="0">
                  <a:moveTo>
                    <a:pt x="45" y="22994"/>
                  </a:moveTo>
                  <a:cubicBezTo>
                    <a:pt x="15" y="22530"/>
                    <a:pt x="0" y="22065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45" y="22994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6718444" y="4515895"/>
            <a:ext cx="1065460" cy="681196"/>
            <a:chOff x="3270" y="2844"/>
            <a:chExt cx="671" cy="429"/>
          </a:xfrm>
        </p:grpSpPr>
        <p:sp>
          <p:nvSpPr>
            <p:cNvPr id="25622" name="Rectangle 39"/>
            <p:cNvSpPr>
              <a:spLocks noChangeArrowheads="1"/>
            </p:cNvSpPr>
            <p:nvPr/>
          </p:nvSpPr>
          <p:spPr bwMode="auto">
            <a:xfrm>
              <a:off x="3528" y="2844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p</a:t>
              </a:r>
            </a:p>
          </p:txBody>
        </p:sp>
        <p:sp>
          <p:nvSpPr>
            <p:cNvPr id="25623" name="Arc 40"/>
            <p:cNvSpPr>
              <a:spLocks/>
            </p:cNvSpPr>
            <p:nvPr/>
          </p:nvSpPr>
          <p:spPr bwMode="auto">
            <a:xfrm flipH="1">
              <a:off x="3270" y="3110"/>
              <a:ext cx="671" cy="163"/>
            </a:xfrm>
            <a:custGeom>
              <a:avLst/>
              <a:gdLst>
                <a:gd name="T0" fmla="*/ 0 w 43200"/>
                <a:gd name="T1" fmla="*/ 0 h 23101"/>
                <a:gd name="T2" fmla="*/ 0 w 43200"/>
                <a:gd name="T3" fmla="*/ 0 h 23101"/>
                <a:gd name="T4" fmla="*/ 0 w 43200"/>
                <a:gd name="T5" fmla="*/ 0 h 231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3101"/>
                <a:gd name="T11" fmla="*/ 43200 w 43200"/>
                <a:gd name="T12" fmla="*/ 23101 h 231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3101" fill="none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1" stroke="0" extrusionOk="0">
                  <a:moveTo>
                    <a:pt x="52" y="23100"/>
                  </a:moveTo>
                  <a:cubicBezTo>
                    <a:pt x="17" y="22601"/>
                    <a:pt x="0" y="221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899817" y="5182800"/>
            <a:ext cx="593862" cy="457306"/>
            <a:chOff x="4014" y="3264"/>
            <a:chExt cx="374" cy="288"/>
          </a:xfrm>
        </p:grpSpPr>
        <p:sp>
          <p:nvSpPr>
            <p:cNvPr id="25620" name="Rectangle 28"/>
            <p:cNvSpPr>
              <a:spLocks noChangeArrowheads="1"/>
            </p:cNvSpPr>
            <p:nvPr/>
          </p:nvSpPr>
          <p:spPr bwMode="auto">
            <a:xfrm>
              <a:off x="4176" y="32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621" name="Arc 41"/>
            <p:cNvSpPr>
              <a:spLocks/>
            </p:cNvSpPr>
            <p:nvPr/>
          </p:nvSpPr>
          <p:spPr bwMode="auto">
            <a:xfrm flipH="1">
              <a:off x="4014" y="3301"/>
              <a:ext cx="186" cy="227"/>
            </a:xfrm>
            <a:custGeom>
              <a:avLst/>
              <a:gdLst>
                <a:gd name="T0" fmla="*/ 0 w 35385"/>
                <a:gd name="T1" fmla="*/ 0 h 43200"/>
                <a:gd name="T2" fmla="*/ 0 w 35385"/>
                <a:gd name="T3" fmla="*/ 0 h 43200"/>
                <a:gd name="T4" fmla="*/ 0 w 35385"/>
                <a:gd name="T5" fmla="*/ 0 h 43200"/>
                <a:gd name="T6" fmla="*/ 0 60000 65536"/>
                <a:gd name="T7" fmla="*/ 0 60000 65536"/>
                <a:gd name="T8" fmla="*/ 0 60000 65536"/>
                <a:gd name="T9" fmla="*/ 0 w 35385"/>
                <a:gd name="T10" fmla="*/ 0 h 43200"/>
                <a:gd name="T11" fmla="*/ 35385 w 3538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385" h="43200" fill="none" extrusionOk="0">
                  <a:moveTo>
                    <a:pt x="35385" y="38229"/>
                  </a:moveTo>
                  <a:cubicBezTo>
                    <a:pt x="31509" y="41441"/>
                    <a:pt x="2663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251" y="-1"/>
                    <a:pt x="28844" y="925"/>
                    <a:pt x="32040" y="2691"/>
                  </a:cubicBezTo>
                </a:path>
                <a:path w="35385" h="43200" stroke="0" extrusionOk="0">
                  <a:moveTo>
                    <a:pt x="35385" y="38229"/>
                  </a:moveTo>
                  <a:cubicBezTo>
                    <a:pt x="31509" y="41441"/>
                    <a:pt x="26633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5251" y="-1"/>
                    <a:pt x="28844" y="925"/>
                    <a:pt x="32040" y="2691"/>
                  </a:cubicBezTo>
                  <a:lnTo>
                    <a:pt x="21600" y="21600"/>
                  </a:lnTo>
                  <a:lnTo>
                    <a:pt x="35385" y="38229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lg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1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1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71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1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1363" grpId="0" build="p"/>
      <p:bldP spid="271365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0412" y="1425135"/>
            <a:ext cx="1674698" cy="582519"/>
          </a:xfrm>
        </p:spPr>
        <p:txBody>
          <a:bodyPr>
            <a:normAutofit fontScale="92500" lnSpcReduction="20000"/>
          </a:bodyPr>
          <a:lstStyle/>
          <a:p>
            <a:pPr marL="342969" indent="-342969">
              <a:lnSpc>
                <a:spcPct val="170000"/>
              </a:lnSpc>
              <a:buNone/>
            </a:pPr>
            <a:r>
              <a:rPr lang="en-US" altLang="zh-CN" dirty="0"/>
              <a:t>p</a:t>
            </a:r>
            <a:r>
              <a:rPr lang="en-US" altLang="zh-CN" baseline="-25000" dirty="0"/>
              <a:t>11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</a:p>
        </p:txBody>
      </p:sp>
      <p:sp>
        <p:nvSpPr>
          <p:cNvPr id="272388" name="Rectangle 4"/>
          <p:cNvSpPr>
            <a:spLocks noChangeArrowheads="1"/>
          </p:cNvSpPr>
          <p:nvPr/>
        </p:nvSpPr>
        <p:spPr bwMode="auto">
          <a:xfrm>
            <a:off x="1971461" y="1439507"/>
            <a:ext cx="1513237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11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</a:p>
        </p:txBody>
      </p:sp>
      <p:sp>
        <p:nvSpPr>
          <p:cNvPr id="272389" name="Rectangle 5"/>
          <p:cNvSpPr>
            <a:spLocks noChangeArrowheads="1"/>
          </p:cNvSpPr>
          <p:nvPr/>
        </p:nvSpPr>
        <p:spPr bwMode="auto">
          <a:xfrm>
            <a:off x="3465644" y="1439507"/>
            <a:ext cx="2450080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11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(n&gt;1)</a:t>
            </a:r>
            <a:r>
              <a:rPr lang="zh-CN" altLang="en-US" sz="2400"/>
              <a:t>，</a:t>
            </a:r>
          </a:p>
        </p:txBody>
      </p:sp>
      <p:sp>
        <p:nvSpPr>
          <p:cNvPr id="272390" name="Rectangle 6"/>
          <p:cNvSpPr>
            <a:spLocks noChangeArrowheads="1"/>
          </p:cNvSpPr>
          <p:nvPr/>
        </p:nvSpPr>
        <p:spPr bwMode="auto">
          <a:xfrm>
            <a:off x="5688659" y="1439507"/>
            <a:ext cx="140843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11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1" name="Rectangle 7"/>
          <p:cNvSpPr>
            <a:spLocks noChangeArrowheads="1"/>
          </p:cNvSpPr>
          <p:nvPr/>
        </p:nvSpPr>
        <p:spPr bwMode="auto">
          <a:xfrm>
            <a:off x="6870032" y="1439507"/>
            <a:ext cx="1224246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</a:t>
            </a:r>
            <a:r>
              <a:rPr lang="en-US" altLang="zh-CN" sz="2400" baseline="-25000"/>
              <a:t>1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2" name="Rectangle 8"/>
          <p:cNvSpPr>
            <a:spLocks noChangeArrowheads="1"/>
          </p:cNvSpPr>
          <p:nvPr/>
        </p:nvSpPr>
        <p:spPr bwMode="auto">
          <a:xfrm>
            <a:off x="760412" y="2145578"/>
            <a:ext cx="777896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故状态</a:t>
            </a:r>
            <a:r>
              <a:rPr lang="en-US" altLang="zh-CN" sz="2400" dirty="0"/>
              <a:t>1</a:t>
            </a:r>
            <a:r>
              <a:rPr lang="zh-CN" altLang="en-US" sz="2400" dirty="0"/>
              <a:t>为正常返状态；</a:t>
            </a: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810821" y="2753046"/>
            <a:ext cx="15846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p</a:t>
            </a:r>
            <a:r>
              <a:rPr lang="en-US" altLang="zh-CN" sz="2400" baseline="-25000"/>
              <a:t>44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4" name="Rectangle 10"/>
          <p:cNvSpPr>
            <a:spLocks noChangeArrowheads="1"/>
          </p:cNvSpPr>
          <p:nvPr/>
        </p:nvSpPr>
        <p:spPr bwMode="auto">
          <a:xfrm>
            <a:off x="1938207" y="2753046"/>
            <a:ext cx="1657734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44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1</a:t>
            </a:r>
            <a:r>
              <a:rPr lang="zh-CN" altLang="en-US" sz="2400" dirty="0"/>
              <a:t>，</a:t>
            </a:r>
          </a:p>
        </p:txBody>
      </p:sp>
      <p:sp>
        <p:nvSpPr>
          <p:cNvPr id="272395" name="Rectangle 11"/>
          <p:cNvSpPr>
            <a:spLocks noChangeArrowheads="1"/>
          </p:cNvSpPr>
          <p:nvPr/>
        </p:nvSpPr>
        <p:spPr bwMode="auto">
          <a:xfrm>
            <a:off x="3432390" y="2753046"/>
            <a:ext cx="24484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44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(n&gt;1)</a:t>
            </a:r>
            <a:r>
              <a:rPr lang="zh-CN" altLang="en-US" sz="2400"/>
              <a:t>，</a:t>
            </a:r>
          </a:p>
        </p:txBody>
      </p:sp>
      <p:sp>
        <p:nvSpPr>
          <p:cNvPr id="272396" name="Rectangle 12"/>
          <p:cNvSpPr>
            <a:spLocks noChangeArrowheads="1"/>
          </p:cNvSpPr>
          <p:nvPr/>
        </p:nvSpPr>
        <p:spPr bwMode="auto">
          <a:xfrm>
            <a:off x="5655405" y="2753046"/>
            <a:ext cx="1224246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44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7" name="Rectangle 13"/>
          <p:cNvSpPr>
            <a:spLocks noChangeArrowheads="1"/>
          </p:cNvSpPr>
          <p:nvPr/>
        </p:nvSpPr>
        <p:spPr bwMode="auto">
          <a:xfrm>
            <a:off x="6836778" y="2753046"/>
            <a:ext cx="125917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</a:t>
            </a:r>
            <a:r>
              <a:rPr lang="en-US" altLang="zh-CN" sz="2400" baseline="-25000"/>
              <a:t>4</a:t>
            </a:r>
            <a:r>
              <a:rPr lang="zh-CN" altLang="en-US" sz="2400"/>
              <a:t>＝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</a:p>
        </p:txBody>
      </p:sp>
      <p:sp>
        <p:nvSpPr>
          <p:cNvPr id="272398" name="Rectangle 14"/>
          <p:cNvSpPr>
            <a:spLocks noChangeArrowheads="1"/>
          </p:cNvSpPr>
          <p:nvPr/>
        </p:nvSpPr>
        <p:spPr bwMode="auto">
          <a:xfrm>
            <a:off x="730250" y="3438413"/>
            <a:ext cx="777896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故状态</a:t>
            </a:r>
            <a:r>
              <a:rPr lang="en-US" altLang="zh-CN" sz="2400"/>
              <a:t>4</a:t>
            </a:r>
            <a:r>
              <a:rPr lang="zh-CN" altLang="en-US" sz="2400"/>
              <a:t>为正常返状态；</a:t>
            </a:r>
          </a:p>
        </p:txBody>
      </p:sp>
      <p:sp>
        <p:nvSpPr>
          <p:cNvPr id="272399" name="Rectangle 15"/>
          <p:cNvSpPr>
            <a:spLocks noChangeArrowheads="1"/>
          </p:cNvSpPr>
          <p:nvPr/>
        </p:nvSpPr>
        <p:spPr bwMode="auto">
          <a:xfrm>
            <a:off x="837598" y="4153628"/>
            <a:ext cx="122900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p</a:t>
            </a:r>
            <a:r>
              <a:rPr lang="en-US" altLang="zh-CN" sz="2400" baseline="-25000" dirty="0"/>
              <a:t>22</a:t>
            </a:r>
            <a:r>
              <a:rPr lang="zh-CN" altLang="en-US" sz="2400" dirty="0"/>
              <a:t>＝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</a:p>
        </p:txBody>
      </p:sp>
      <p:sp>
        <p:nvSpPr>
          <p:cNvPr id="272400" name="Rectangle 16"/>
          <p:cNvSpPr>
            <a:spLocks noChangeArrowheads="1"/>
          </p:cNvSpPr>
          <p:nvPr/>
        </p:nvSpPr>
        <p:spPr bwMode="auto">
          <a:xfrm>
            <a:off x="1857008" y="4153628"/>
            <a:ext cx="1584692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(1)</a:t>
            </a:r>
            <a:r>
              <a:rPr lang="zh-CN" altLang="en-US" sz="2400" dirty="0"/>
              <a:t>＝</a:t>
            </a:r>
            <a:r>
              <a:rPr lang="en-US" altLang="zh-CN" sz="2400" dirty="0"/>
              <a:t>0</a:t>
            </a:r>
            <a:r>
              <a:rPr lang="zh-CN" altLang="en-US" sz="2400" dirty="0"/>
              <a:t>，</a:t>
            </a:r>
          </a:p>
        </p:txBody>
      </p:sp>
      <p:sp>
        <p:nvSpPr>
          <p:cNvPr id="272401" name="Rectangle 17"/>
          <p:cNvSpPr>
            <a:spLocks noChangeArrowheads="1"/>
          </p:cNvSpPr>
          <p:nvPr/>
        </p:nvSpPr>
        <p:spPr bwMode="auto">
          <a:xfrm>
            <a:off x="3171762" y="4157438"/>
            <a:ext cx="1873684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f</a:t>
            </a:r>
            <a:r>
              <a:rPr lang="en-US" altLang="zh-CN" sz="2400" baseline="-25000" dirty="0"/>
              <a:t>22</a:t>
            </a:r>
            <a:r>
              <a:rPr lang="en-US" altLang="zh-CN" sz="2400" dirty="0"/>
              <a:t>(2)</a:t>
            </a:r>
            <a:r>
              <a:rPr lang="zh-CN" altLang="en-US" sz="2400" dirty="0"/>
              <a:t>＝</a:t>
            </a:r>
            <a:r>
              <a:rPr lang="en-US" altLang="zh-CN" sz="2400" dirty="0" err="1"/>
              <a:t>pq</a:t>
            </a:r>
            <a:r>
              <a:rPr lang="zh-CN" altLang="en-US" sz="2400" dirty="0"/>
              <a:t>，</a:t>
            </a:r>
          </a:p>
        </p:txBody>
      </p:sp>
      <p:sp>
        <p:nvSpPr>
          <p:cNvPr id="272402" name="Rectangle 18"/>
          <p:cNvSpPr>
            <a:spLocks noChangeArrowheads="1"/>
          </p:cNvSpPr>
          <p:nvPr/>
        </p:nvSpPr>
        <p:spPr bwMode="auto">
          <a:xfrm>
            <a:off x="4665945" y="4153628"/>
            <a:ext cx="2377038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22</a:t>
            </a:r>
            <a:r>
              <a:rPr lang="en-US" altLang="zh-CN" sz="2400"/>
              <a:t>(n)</a:t>
            </a:r>
            <a:r>
              <a:rPr lang="zh-CN" altLang="en-US" sz="2400"/>
              <a:t>＝</a:t>
            </a:r>
            <a:r>
              <a:rPr lang="en-US" altLang="zh-CN" sz="2400"/>
              <a:t>0 (n&gt;2)</a:t>
            </a:r>
            <a:r>
              <a:rPr lang="zh-CN" altLang="en-US" sz="2400"/>
              <a:t>，</a:t>
            </a:r>
          </a:p>
        </p:txBody>
      </p:sp>
      <p:sp>
        <p:nvSpPr>
          <p:cNvPr id="272403" name="Rectangle 19"/>
          <p:cNvSpPr>
            <a:spLocks noChangeArrowheads="1"/>
          </p:cNvSpPr>
          <p:nvPr/>
        </p:nvSpPr>
        <p:spPr bwMode="auto">
          <a:xfrm>
            <a:off x="6755578" y="4153628"/>
            <a:ext cx="1403675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f</a:t>
            </a:r>
            <a:r>
              <a:rPr lang="en-US" altLang="zh-CN" sz="2400" baseline="-25000"/>
              <a:t>22</a:t>
            </a:r>
            <a:r>
              <a:rPr lang="zh-CN" altLang="en-US" sz="2400"/>
              <a:t>＝</a:t>
            </a:r>
            <a:r>
              <a:rPr lang="en-US" altLang="zh-CN" sz="2400"/>
              <a:t>pq</a:t>
            </a:r>
            <a:r>
              <a:rPr lang="zh-CN" altLang="en-US" sz="2400"/>
              <a:t>，</a:t>
            </a:r>
          </a:p>
        </p:txBody>
      </p:sp>
      <p:sp>
        <p:nvSpPr>
          <p:cNvPr id="272404" name="Rectangle 20"/>
          <p:cNvSpPr>
            <a:spLocks noChangeArrowheads="1"/>
          </p:cNvSpPr>
          <p:nvPr/>
        </p:nvSpPr>
        <p:spPr bwMode="auto">
          <a:xfrm>
            <a:off x="785875" y="4877029"/>
            <a:ext cx="5257429" cy="483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故状态</a:t>
            </a:r>
            <a:r>
              <a:rPr lang="en-US" altLang="zh-CN" sz="2400" dirty="0"/>
              <a:t>2</a:t>
            </a:r>
            <a:r>
              <a:rPr lang="zh-CN" altLang="en-US" sz="2400" dirty="0"/>
              <a:t>为非常返状态。</a:t>
            </a:r>
          </a:p>
        </p:txBody>
      </p:sp>
      <p:sp>
        <p:nvSpPr>
          <p:cNvPr id="272405" name="Rectangle 21"/>
          <p:cNvSpPr>
            <a:spLocks noChangeArrowheads="1"/>
          </p:cNvSpPr>
          <p:nvPr/>
        </p:nvSpPr>
        <p:spPr bwMode="auto">
          <a:xfrm>
            <a:off x="598824" y="4901124"/>
            <a:ext cx="11000702" cy="103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                                           </a:t>
            </a:r>
            <a:r>
              <a:rPr lang="zh-CN" altLang="en-US" sz="2400" dirty="0"/>
              <a:t>状态</a:t>
            </a:r>
            <a:r>
              <a:rPr lang="en-US" altLang="zh-CN" sz="2400" dirty="0"/>
              <a:t>2</a:t>
            </a:r>
            <a:r>
              <a:rPr lang="zh-CN" altLang="en-US" sz="2400" dirty="0"/>
              <a:t>和</a:t>
            </a:r>
            <a:r>
              <a:rPr lang="en-US" altLang="zh-CN" sz="2400" dirty="0"/>
              <a:t>3</a:t>
            </a:r>
            <a:r>
              <a:rPr lang="zh-CN" altLang="en-US" sz="2400" dirty="0"/>
              <a:t>互通，</a:t>
            </a:r>
            <a:r>
              <a:rPr lang="en-US" altLang="zh-CN" sz="2400" dirty="0"/>
              <a:t>2</a:t>
            </a:r>
            <a:r>
              <a:rPr lang="en-US" altLang="zh-CN" sz="2400" dirty="0">
                <a:sym typeface="Symbol" panose="05050102010706020507" pitchFamily="18" charset="2"/>
              </a:rPr>
              <a:t>↔</a:t>
            </a:r>
            <a:r>
              <a:rPr lang="en-US" altLang="zh-CN" sz="2400" dirty="0"/>
              <a:t>3</a:t>
            </a:r>
            <a:r>
              <a:rPr lang="zh-CN" altLang="en-US" sz="2400" dirty="0"/>
              <a:t>，具有相同的状态性质，</a:t>
            </a:r>
            <a:endParaRPr lang="en-US" altLang="zh-CN" sz="240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即状态</a:t>
            </a:r>
            <a:r>
              <a:rPr lang="en-US" altLang="zh-CN" sz="2400" dirty="0"/>
              <a:t>3</a:t>
            </a:r>
            <a:r>
              <a:rPr lang="zh-CN" altLang="en-US" sz="2400" dirty="0"/>
              <a:t>也为非常返状态。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2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2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2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2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2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2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2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7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72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2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724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72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72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7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724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24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87" grpId="0" build="p" autoUpdateAnimBg="0" advAuto="0"/>
      <p:bldP spid="272388" grpId="0" build="p" autoUpdateAnimBg="0" advAuto="0"/>
      <p:bldP spid="272389" grpId="0" build="p" autoUpdateAnimBg="0" advAuto="0"/>
      <p:bldP spid="272390" grpId="0" build="p" autoUpdateAnimBg="0" advAuto="0"/>
      <p:bldP spid="272391" grpId="0" build="p" autoUpdateAnimBg="0" advAuto="0"/>
      <p:bldP spid="272392" grpId="0" build="p" autoUpdateAnimBg="0" advAuto="0"/>
      <p:bldP spid="272393" grpId="0" build="p" autoUpdateAnimBg="0" advAuto="0"/>
      <p:bldP spid="272394" grpId="0" build="p" autoUpdateAnimBg="0" advAuto="0"/>
      <p:bldP spid="272395" grpId="0" build="p" autoUpdateAnimBg="0" advAuto="0"/>
      <p:bldP spid="272396" grpId="0" build="p" autoUpdateAnimBg="0" advAuto="0"/>
      <p:bldP spid="272397" grpId="0" build="p" autoUpdateAnimBg="0" advAuto="0"/>
      <p:bldP spid="272398" grpId="0" build="p" autoUpdateAnimBg="0" advAuto="0"/>
      <p:bldP spid="272399" grpId="0" build="p" autoUpdateAnimBg="0" advAuto="0"/>
      <p:bldP spid="272400" grpId="0" build="p" autoUpdateAnimBg="0" advAuto="0"/>
      <p:bldP spid="272401" grpId="0" build="p" autoUpdateAnimBg="0" advAuto="0"/>
      <p:bldP spid="272402" grpId="0" build="p" autoUpdateAnimBg="0" advAuto="0"/>
      <p:bldP spid="272403" grpId="0" build="p" autoUpdateAnimBg="0" advAuto="0"/>
      <p:bldP spid="272404" grpId="0" build="p" autoUpdateAnimBg="0" advAuto="0"/>
      <p:bldP spid="272405" grpId="0" build="p" autoUpdateAnimBg="0" advAuto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三、状态空间分解</a:t>
            </a:r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6576" y="1143265"/>
            <a:ext cx="10887074" cy="1330633"/>
          </a:xfrm>
        </p:spPr>
        <p:txBody>
          <a:bodyPr>
            <a:normAutofit/>
          </a:bodyPr>
          <a:lstStyle/>
          <a:p>
            <a:pPr marL="0" indent="719282" algn="just">
              <a:buNone/>
            </a:pPr>
            <a:r>
              <a:rPr lang="zh-CN" altLang="en-US" dirty="0"/>
              <a:t>设</a:t>
            </a:r>
            <a:r>
              <a:rPr lang="en-US" altLang="zh-CN" dirty="0"/>
              <a:t>C</a:t>
            </a:r>
            <a:r>
              <a:rPr lang="zh-CN" altLang="en-US" dirty="0"/>
              <a:t>是状态空间</a:t>
            </a:r>
            <a:r>
              <a:rPr lang="en-US" altLang="zh-CN" dirty="0"/>
              <a:t>E</a:t>
            </a:r>
            <a:r>
              <a:rPr lang="zh-CN" altLang="en-US" dirty="0"/>
              <a:t>的一个子集，若</a:t>
            </a:r>
            <a:r>
              <a:rPr lang="en-US" altLang="zh-CN" dirty="0"/>
              <a:t>C</a:t>
            </a:r>
            <a:r>
              <a:rPr lang="zh-CN" altLang="en-US" dirty="0"/>
              <a:t>外的任一状态不可能从</a:t>
            </a:r>
            <a:r>
              <a:rPr lang="en-US" altLang="zh-CN" dirty="0"/>
              <a:t>C</a:t>
            </a:r>
            <a:r>
              <a:rPr lang="zh-CN" altLang="en-US" dirty="0"/>
              <a:t>内的任一状态到达，即对任意的</a:t>
            </a:r>
            <a:r>
              <a:rPr lang="en-US" altLang="zh-CN" dirty="0" err="1"/>
              <a:t>i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dirty="0" err="1"/>
              <a:t>C</a:t>
            </a:r>
            <a:r>
              <a:rPr lang="en-US" altLang="zh-CN" dirty="0"/>
              <a:t>, </a:t>
            </a:r>
            <a:r>
              <a:rPr lang="en-US" altLang="zh-CN" dirty="0" err="1"/>
              <a:t>j</a:t>
            </a:r>
            <a:r>
              <a:rPr lang="en-US" altLang="zh-CN" dirty="0" err="1">
                <a:sym typeface="Symbol" panose="05050102010706020507" pitchFamily="18" charset="2"/>
              </a:rPr>
              <a:t></a:t>
            </a:r>
            <a:r>
              <a:rPr lang="en-US" altLang="zh-CN" dirty="0" err="1"/>
              <a:t>C</a:t>
            </a:r>
            <a:r>
              <a:rPr lang="zh-CN" altLang="en-US" dirty="0"/>
              <a:t>，总有</a:t>
            </a:r>
            <a:r>
              <a:rPr lang="en-US" altLang="zh-CN" dirty="0" err="1"/>
              <a:t>p</a:t>
            </a:r>
            <a:r>
              <a:rPr lang="en-US" altLang="zh-CN" baseline="-25000" dirty="0" err="1"/>
              <a:t>ij</a:t>
            </a:r>
            <a:r>
              <a:rPr lang="en-US" altLang="zh-CN" dirty="0"/>
              <a:t>(n)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，则称</a:t>
            </a:r>
            <a:r>
              <a:rPr lang="en-US" altLang="zh-CN" dirty="0"/>
              <a:t>C</a:t>
            </a:r>
            <a:r>
              <a:rPr lang="zh-CN" altLang="en-US" dirty="0"/>
              <a:t>为一个</a:t>
            </a:r>
            <a:r>
              <a:rPr lang="zh-CN" altLang="en-US" dirty="0">
                <a:solidFill>
                  <a:srgbClr val="CC00CC"/>
                </a:solidFill>
              </a:rPr>
              <a:t>闭集</a:t>
            </a:r>
            <a:r>
              <a:rPr lang="zh-CN" altLang="en-US" dirty="0"/>
              <a:t>。</a:t>
            </a:r>
          </a:p>
        </p:txBody>
      </p:sp>
      <p:sp>
        <p:nvSpPr>
          <p:cNvPr id="266245" name="Rectangle 5">
            <a:extLst>
              <a:ext uri="{FF2B5EF4-FFF2-40B4-BE49-F238E27FC236}">
                <a16:creationId xmlns:a16="http://schemas.microsoft.com/office/drawing/2014/main" id="{5F39A273-5105-468B-A5DB-FFB18DA25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2286794"/>
            <a:ext cx="10059299" cy="436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重要结论：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整个状态空间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是最大的闭集；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p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ii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的状态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称为</a:t>
            </a:r>
            <a:r>
              <a:rPr lang="zh-CN" altLang="en-US" sz="2400" dirty="0">
                <a:solidFill>
                  <a:srgbClr val="C00000"/>
                </a:solidFill>
                <a:latin typeface="+mn-ea"/>
                <a:ea typeface="+mn-ea"/>
              </a:rPr>
              <a:t>吸收状态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。任何一个吸收状态构成最小的单点闭集。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所有常返状态构成一个闭集；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必可分解为</a:t>
            </a:r>
          </a:p>
          <a:p>
            <a:pPr lvl="1"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</a:p>
          <a:p>
            <a:pPr marL="540108" lvl="1" indent="0" algn="just">
              <a:lnSpc>
                <a:spcPct val="150000"/>
              </a:lnSpc>
              <a:buNone/>
              <a:defRPr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其中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为非常返状态集合，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…,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 err="1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是互不相交且不可细分的常返闭集。</a:t>
            </a:r>
          </a:p>
        </p:txBody>
      </p:sp>
      <p:sp>
        <p:nvSpPr>
          <p:cNvPr id="266247" name="AutoShape 7"/>
          <p:cNvSpPr>
            <a:spLocks noChangeArrowheads="1"/>
          </p:cNvSpPr>
          <p:nvPr/>
        </p:nvSpPr>
        <p:spPr bwMode="auto">
          <a:xfrm>
            <a:off x="7699375" y="3951577"/>
            <a:ext cx="4193858" cy="1224246"/>
          </a:xfrm>
          <a:prstGeom prst="wedgeRoundRectCallout">
            <a:avLst>
              <a:gd name="adj1" fmla="val -35288"/>
              <a:gd name="adj2" fmla="val 70145"/>
              <a:gd name="adj3" fmla="val 16667"/>
            </a:avLst>
          </a:prstGeom>
          <a:solidFill>
            <a:schemeClr val="bg2">
              <a:lumMod val="90000"/>
            </a:schemeClr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 anchorCtr="1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这里的“＋”即为集合的并“∪”且两两互不相容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266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2662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662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2662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662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2662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662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66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66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5" grpId="0" build="p" autoUpdateAnimBg="0"/>
      <p:bldP spid="26624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1(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2392" name="Rectangle 8"/>
          <p:cNvSpPr>
            <a:spLocks noChangeArrowheads="1"/>
          </p:cNvSpPr>
          <p:nvPr/>
        </p:nvSpPr>
        <p:spPr bwMode="auto">
          <a:xfrm>
            <a:off x="780603" y="1536003"/>
            <a:ext cx="7778963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为吸收状态、正常返状态；</a:t>
            </a:r>
          </a:p>
        </p:txBody>
      </p:sp>
      <p:sp>
        <p:nvSpPr>
          <p:cNvPr id="272404" name="Rectangle 20"/>
          <p:cNvSpPr>
            <a:spLocks noChangeArrowheads="1"/>
          </p:cNvSpPr>
          <p:nvPr/>
        </p:nvSpPr>
        <p:spPr bwMode="auto">
          <a:xfrm>
            <a:off x="748846" y="2895217"/>
            <a:ext cx="6464209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+mn-ea"/>
                <a:ea typeface="+mn-ea"/>
              </a:rPr>
              <a:t>状态</a:t>
            </a:r>
            <a:r>
              <a:rPr lang="en-US" altLang="zh-CN" sz="2400">
                <a:latin typeface="+mn-ea"/>
                <a:ea typeface="+mn-ea"/>
              </a:rPr>
              <a:t>2,3</a:t>
            </a:r>
            <a:r>
              <a:rPr lang="zh-CN" altLang="en-US" sz="2400">
                <a:latin typeface="+mn-ea"/>
                <a:ea typeface="+mn-ea"/>
              </a:rPr>
              <a:t>为非常返状态</a:t>
            </a:r>
            <a:r>
              <a:rPr lang="en-US" altLang="zh-CN" sz="2400">
                <a:latin typeface="+mn-ea"/>
                <a:ea typeface="+mn-ea"/>
              </a:rPr>
              <a:t>, </a:t>
            </a:r>
            <a:r>
              <a:rPr lang="zh-CN" altLang="en-US" sz="2400">
                <a:latin typeface="+mn-ea"/>
                <a:ea typeface="+mn-ea"/>
              </a:rPr>
              <a:t>且状态</a:t>
            </a:r>
            <a:r>
              <a:rPr lang="en-US" altLang="zh-CN" sz="2400">
                <a:latin typeface="+mn-ea"/>
                <a:ea typeface="+mn-ea"/>
              </a:rPr>
              <a:t>2</a:t>
            </a:r>
            <a:r>
              <a:rPr lang="zh-CN" altLang="en-US" sz="2400">
                <a:latin typeface="+mn-ea"/>
                <a:ea typeface="+mn-ea"/>
              </a:rPr>
              <a:t>和</a:t>
            </a:r>
            <a:r>
              <a:rPr lang="en-US" altLang="zh-CN" sz="2400">
                <a:latin typeface="+mn-ea"/>
                <a:ea typeface="+mn-ea"/>
              </a:rPr>
              <a:t>3</a:t>
            </a:r>
            <a:r>
              <a:rPr lang="zh-CN" altLang="en-US" sz="2400">
                <a:latin typeface="+mn-ea"/>
                <a:ea typeface="+mn-ea"/>
              </a:rPr>
              <a:t>互通。</a:t>
            </a:r>
          </a:p>
        </p:txBody>
      </p:sp>
      <p:sp>
        <p:nvSpPr>
          <p:cNvPr id="272406" name="Rectangle 22">
            <a:extLst>
              <a:ext uri="{FF2B5EF4-FFF2-40B4-BE49-F238E27FC236}">
                <a16:creationId xmlns:a16="http://schemas.microsoft.com/office/drawing/2014/main" id="{115C85D5-E988-4ED2-B3AE-745D6BE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519886"/>
            <a:ext cx="9874301" cy="2145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3}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{1}</a:t>
            </a:r>
            <a:r>
              <a:rPr lang="zh-CN" altLang="en-US" sz="2400" dirty="0">
                <a:latin typeface="+mn-ea"/>
                <a:ea typeface="+mn-ea"/>
              </a:rPr>
              <a:t>、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  <a:r>
              <a:rPr lang="zh-CN" altLang="en-US" sz="2400" dirty="0">
                <a:latin typeface="+mn-ea"/>
                <a:ea typeface="+mn-ea"/>
              </a:rPr>
              <a:t>都为正常返集。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n>
                  <a:solidFill>
                    <a:srgbClr val="C00000"/>
                  </a:solidFill>
                </a:ln>
                <a:latin typeface="+mn-ea"/>
                <a:ea typeface="+mn-ea"/>
              </a:rPr>
              <a:t>状态空间分解</a:t>
            </a:r>
            <a:r>
              <a:rPr lang="zh-CN" altLang="en-US" sz="2400" dirty="0">
                <a:latin typeface="+mn-ea"/>
                <a:ea typeface="+mn-ea"/>
              </a:rPr>
              <a:t>为</a:t>
            </a:r>
          </a:p>
          <a:p>
            <a:pPr lvl="1" algn="ctr" eaLnBrk="1" hangingPunct="1">
              <a:lnSpc>
                <a:spcPct val="150000"/>
              </a:lnSpc>
              <a:buFontTx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endParaRPr lang="en-US" altLang="zh-CN" sz="2400" dirty="0">
              <a:latin typeface="+mn-ea"/>
              <a:ea typeface="+mn-ea"/>
            </a:endParaRPr>
          </a:p>
          <a:p>
            <a:pPr lvl="1"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即		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2, 3, 4}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3}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{1}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</a:p>
        </p:txBody>
      </p:sp>
      <p:sp>
        <p:nvSpPr>
          <p:cNvPr id="28" name="Rectangle 8"/>
          <p:cNvSpPr>
            <a:spLocks noChangeArrowheads="1"/>
          </p:cNvSpPr>
          <p:nvPr/>
        </p:nvSpPr>
        <p:spPr bwMode="auto">
          <a:xfrm>
            <a:off x="780603" y="2183853"/>
            <a:ext cx="7778963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为吸收状态、正常返状态；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2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392" grpId="0" build="p" autoUpdateAnimBg="0" advAuto="0"/>
      <p:bldP spid="272404" grpId="0" build="p" autoUpdateAnimBg="0" advAuto="0"/>
      <p:bldP spid="28" grpId="0" build="p" autoUpdateAnimBg="0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</a:t>
            </a:r>
          </a:p>
        </p:txBody>
      </p:sp>
      <p:sp>
        <p:nvSpPr>
          <p:cNvPr id="29704" name="矩形 10"/>
          <p:cNvSpPr>
            <a:spLocks noChangeArrowheads="1"/>
          </p:cNvSpPr>
          <p:nvPr/>
        </p:nvSpPr>
        <p:spPr bwMode="auto">
          <a:xfrm>
            <a:off x="676272" y="5695617"/>
            <a:ext cx="5759843" cy="1135054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又因为状态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是互通的，所以状态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也是正常返状态，显然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{4}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是吸收态。</a:t>
            </a:r>
          </a:p>
        </p:txBody>
      </p:sp>
      <p:sp>
        <p:nvSpPr>
          <p:cNvPr id="29707" name="矩形 10"/>
          <p:cNvSpPr>
            <a:spLocks noChangeArrowheads="1"/>
          </p:cNvSpPr>
          <p:nvPr/>
        </p:nvSpPr>
        <p:spPr bwMode="auto">
          <a:xfrm>
            <a:off x="688975" y="5204656"/>
            <a:ext cx="3886200" cy="46207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{1}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是正常返状态。</a:t>
            </a:r>
          </a:p>
        </p:txBody>
      </p:sp>
      <p:graphicFrame>
        <p:nvGraphicFramePr>
          <p:cNvPr id="2" name="Object 12">
            <a:extLst>
              <a:ext uri="{FF2B5EF4-FFF2-40B4-BE49-F238E27FC236}">
                <a16:creationId xmlns:a16="http://schemas.microsoft.com/office/drawing/2014/main" id="{C5933E8A-01BE-6C44-C684-CC793D8E88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09" y="4311490"/>
          <a:ext cx="64071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360" imgH="431640" progId="Equation.DSMT4">
                  <p:embed/>
                </p:oleObj>
              </mc:Choice>
              <mc:Fallback>
                <p:oleObj name="Equation" r:id="rId3" imgW="3276360" imgH="431640" progId="Equation.DSMT4">
                  <p:embed/>
                  <p:pic>
                    <p:nvPicPr>
                      <p:cNvPr id="2" name="Object 12">
                        <a:extLst>
                          <a:ext uri="{FF2B5EF4-FFF2-40B4-BE49-F238E27FC236}">
                            <a16:creationId xmlns:a16="http://schemas.microsoft.com/office/drawing/2014/main" id="{C5933E8A-01BE-6C44-C684-CC793D8E88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09" y="4311490"/>
                        <a:ext cx="6407150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1">
            <a:extLst>
              <a:ext uri="{FF2B5EF4-FFF2-40B4-BE49-F238E27FC236}">
                <a16:creationId xmlns:a16="http://schemas.microsoft.com/office/drawing/2014/main" id="{12AD686D-73F0-086A-24C1-A24E8E3EE5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09" y="3483196"/>
          <a:ext cx="4522788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09680" imgH="431640" progId="Equation.DSMT4">
                  <p:embed/>
                </p:oleObj>
              </mc:Choice>
              <mc:Fallback>
                <p:oleObj name="Equation" r:id="rId5" imgW="2209680" imgH="431640" progId="Equation.DSMT4">
                  <p:embed/>
                  <p:pic>
                    <p:nvPicPr>
                      <p:cNvPr id="3" name="Object 11">
                        <a:extLst>
                          <a:ext uri="{FF2B5EF4-FFF2-40B4-BE49-F238E27FC236}">
                            <a16:creationId xmlns:a16="http://schemas.microsoft.com/office/drawing/2014/main" id="{12AD686D-73F0-086A-24C1-A24E8E3EE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09" y="3483196"/>
                        <a:ext cx="4522788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7E33B2C-F479-8EA7-B8C9-19CD9C898E8B}"/>
              </a:ext>
            </a:extLst>
          </p:cNvPr>
          <p:cNvSpPr txBox="1">
            <a:spLocks noChangeArrowheads="1"/>
          </p:cNvSpPr>
          <p:nvPr/>
        </p:nvSpPr>
        <p:spPr>
          <a:xfrm>
            <a:off x="307976" y="1057558"/>
            <a:ext cx="2057399" cy="1838836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60000"/>
              </a:lnSpc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5" name="Object 0">
            <a:extLst>
              <a:ext uri="{FF2B5EF4-FFF2-40B4-BE49-F238E27FC236}">
                <a16:creationId xmlns:a16="http://schemas.microsoft.com/office/drawing/2014/main" id="{863F7B64-ACA3-C329-5BA7-206C1FFC97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4327" y="912551"/>
          <a:ext cx="2319094" cy="2662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82680" imgH="1473120" progId="Equation.DSMT4">
                  <p:embed/>
                </p:oleObj>
              </mc:Choice>
              <mc:Fallback>
                <p:oleObj name="Equation" r:id="rId7" imgW="1282680" imgH="1473120" progId="Equation.DSMT4">
                  <p:embed/>
                  <p:pic>
                    <p:nvPicPr>
                      <p:cNvPr id="5" name="Object 0">
                        <a:extLst>
                          <a:ext uri="{FF2B5EF4-FFF2-40B4-BE49-F238E27FC236}">
                            <a16:creationId xmlns:a16="http://schemas.microsoft.com/office/drawing/2014/main" id="{863F7B64-ACA3-C329-5BA7-206C1FFC97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4327" y="912551"/>
                        <a:ext cx="2319094" cy="2662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8A0B791E-4465-075B-F7D7-041FFD9437C0}"/>
              </a:ext>
            </a:extLst>
          </p:cNvPr>
          <p:cNvSpPr txBox="1">
            <a:spLocks noChangeArrowheads="1"/>
          </p:cNvSpPr>
          <p:nvPr/>
        </p:nvSpPr>
        <p:spPr>
          <a:xfrm>
            <a:off x="522430" y="3766437"/>
            <a:ext cx="1356413" cy="427137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>
                <a:solidFill>
                  <a:srgbClr val="C00000"/>
                </a:solidFill>
              </a:rPr>
              <a:t>解  因为</a:t>
            </a: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24330D9-8BD1-D228-B8A5-B3B4DCEE8F78}"/>
              </a:ext>
            </a:extLst>
          </p:cNvPr>
          <p:cNvGrpSpPr>
            <a:grpSpLocks/>
          </p:cNvGrpSpPr>
          <p:nvPr/>
        </p:nvGrpSpPr>
        <p:grpSpPr bwMode="auto">
          <a:xfrm>
            <a:off x="6980141" y="1546071"/>
            <a:ext cx="395380" cy="435288"/>
            <a:chOff x="1708" y="3234"/>
            <a:chExt cx="227" cy="257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DD04944D-F858-60AF-09D8-82BABE2A8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F45E8C75-08D6-B2E8-8AE3-104529EE0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9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1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3B4CFE6-0141-C107-C242-E6977524685F}"/>
              </a:ext>
            </a:extLst>
          </p:cNvPr>
          <p:cNvGrpSpPr>
            <a:grpSpLocks/>
          </p:cNvGrpSpPr>
          <p:nvPr/>
        </p:nvGrpSpPr>
        <p:grpSpPr bwMode="auto">
          <a:xfrm>
            <a:off x="6980141" y="2763966"/>
            <a:ext cx="395380" cy="435288"/>
            <a:chOff x="2416" y="3234"/>
            <a:chExt cx="227" cy="257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B90E4C8-4FC3-295A-82B8-4C5258CD1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91C9D08C-467A-DAA9-FA07-3D1A2FB77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7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4</a:t>
              </a: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B7B40732-38FC-2800-9FEC-06FC1B0E417D}"/>
              </a:ext>
            </a:extLst>
          </p:cNvPr>
          <p:cNvGrpSpPr>
            <a:grpSpLocks/>
          </p:cNvGrpSpPr>
          <p:nvPr/>
        </p:nvGrpSpPr>
        <p:grpSpPr bwMode="auto">
          <a:xfrm>
            <a:off x="8817304" y="2763966"/>
            <a:ext cx="393791" cy="435288"/>
            <a:chOff x="3124" y="3234"/>
            <a:chExt cx="227" cy="257"/>
          </a:xfrm>
        </p:grpSpPr>
        <p:sp>
          <p:nvSpPr>
            <p:cNvPr id="16" name="Oval 14">
              <a:extLst>
                <a:ext uri="{FF2B5EF4-FFF2-40B4-BE49-F238E27FC236}">
                  <a16:creationId xmlns:a16="http://schemas.microsoft.com/office/drawing/2014/main" id="{76AE1E0E-8F96-23C9-C08A-3661F0EC1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0B04066E-A6D6-B9BE-B516-B6BF2C505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3</a:t>
              </a:r>
            </a:p>
          </p:txBody>
        </p:sp>
      </p:grpSp>
      <p:grpSp>
        <p:nvGrpSpPr>
          <p:cNvPr id="18" name="Group 16">
            <a:extLst>
              <a:ext uri="{FF2B5EF4-FFF2-40B4-BE49-F238E27FC236}">
                <a16:creationId xmlns:a16="http://schemas.microsoft.com/office/drawing/2014/main" id="{B9BA842C-E279-FFAF-C9B4-BF1187F70ACF}"/>
              </a:ext>
            </a:extLst>
          </p:cNvPr>
          <p:cNvGrpSpPr>
            <a:grpSpLocks/>
          </p:cNvGrpSpPr>
          <p:nvPr/>
        </p:nvGrpSpPr>
        <p:grpSpPr bwMode="auto">
          <a:xfrm>
            <a:off x="8817304" y="1546071"/>
            <a:ext cx="393791" cy="435288"/>
            <a:chOff x="3833" y="3234"/>
            <a:chExt cx="227" cy="257"/>
          </a:xfrm>
        </p:grpSpPr>
        <p:sp>
          <p:nvSpPr>
            <p:cNvPr id="19" name="Oval 17">
              <a:extLst>
                <a:ext uri="{FF2B5EF4-FFF2-40B4-BE49-F238E27FC236}">
                  <a16:creationId xmlns:a16="http://schemas.microsoft.com/office/drawing/2014/main" id="{E3AA16FA-5236-F766-16A1-83FB47B6E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A74ACC88-3968-1A4C-FF3D-C3533D5D8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4" y="3234"/>
              <a:ext cx="180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000" dirty="0"/>
                <a:t>2</a:t>
              </a:r>
            </a:p>
          </p:txBody>
        </p:sp>
      </p:grpSp>
      <p:grpSp>
        <p:nvGrpSpPr>
          <p:cNvPr id="27" name="Group 43">
            <a:extLst>
              <a:ext uri="{FF2B5EF4-FFF2-40B4-BE49-F238E27FC236}">
                <a16:creationId xmlns:a16="http://schemas.microsoft.com/office/drawing/2014/main" id="{0B13378A-76B1-D102-2D1B-D6D390CE7085}"/>
              </a:ext>
            </a:extLst>
          </p:cNvPr>
          <p:cNvGrpSpPr>
            <a:grpSpLocks/>
          </p:cNvGrpSpPr>
          <p:nvPr/>
        </p:nvGrpSpPr>
        <p:grpSpPr bwMode="auto">
          <a:xfrm>
            <a:off x="7375521" y="1042126"/>
            <a:ext cx="1419554" cy="729869"/>
            <a:chOff x="3943" y="1818"/>
            <a:chExt cx="894" cy="460"/>
          </a:xfrm>
        </p:grpSpPr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E3815552-EFDF-3A3C-4E23-D941883C90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3" y="2239"/>
              <a:ext cx="894" cy="0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10000 h 10000"/>
                <a:gd name="connsiteX0" fmla="*/ 0 w 10000"/>
                <a:gd name="connsiteY0" fmla="*/ 0 h 0"/>
                <a:gd name="connsiteX1" fmla="*/ 10000 w 10000"/>
                <a:gd name="connsiteY1" fmla="*/ 1000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000">
                  <a:moveTo>
                    <a:pt x="0" y="0"/>
                  </a:moveTo>
                  <a:cubicBezTo>
                    <a:pt x="3333" y="3333"/>
                    <a:pt x="6667" y="-254833"/>
                    <a:pt x="10000" y="1000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" name="Object 5">
              <a:extLst>
                <a:ext uri="{FF2B5EF4-FFF2-40B4-BE49-F238E27FC236}">
                  <a16:creationId xmlns:a16="http://schemas.microsoft.com/office/drawing/2014/main" id="{43D5111C-6676-0323-CD40-35C353270C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9" y="1818"/>
            <a:ext cx="174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26720" imgH="342720" progId="Equation.DSMT4">
                    <p:embed/>
                  </p:oleObj>
                </mc:Choice>
                <mc:Fallback>
                  <p:oleObj name="Equation" r:id="rId9" imgW="126720" imgH="342720" progId="Equation.DSMT4">
                    <p:embed/>
                    <p:pic>
                      <p:nvPicPr>
                        <p:cNvPr id="29" name="Object 5">
                          <a:extLst>
                            <a:ext uri="{FF2B5EF4-FFF2-40B4-BE49-F238E27FC236}">
                              <a16:creationId xmlns:a16="http://schemas.microsoft.com/office/drawing/2014/main" id="{43D5111C-6676-0323-CD40-35C353270C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9" y="1818"/>
                          <a:ext cx="174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Group 44">
            <a:extLst>
              <a:ext uri="{FF2B5EF4-FFF2-40B4-BE49-F238E27FC236}">
                <a16:creationId xmlns:a16="http://schemas.microsoft.com/office/drawing/2014/main" id="{5768FB5C-7523-5D3C-5A31-399541AF31AF}"/>
              </a:ext>
            </a:extLst>
          </p:cNvPr>
          <p:cNvGrpSpPr>
            <a:grpSpLocks/>
          </p:cNvGrpSpPr>
          <p:nvPr/>
        </p:nvGrpSpPr>
        <p:grpSpPr bwMode="auto">
          <a:xfrm>
            <a:off x="9001488" y="1997020"/>
            <a:ext cx="330276" cy="811400"/>
            <a:chOff x="4952" y="2409"/>
            <a:chExt cx="208" cy="511"/>
          </a:xfrm>
        </p:grpSpPr>
        <p:sp>
          <p:nvSpPr>
            <p:cNvPr id="31" name="Line 26">
              <a:extLst>
                <a:ext uri="{FF2B5EF4-FFF2-40B4-BE49-F238E27FC236}">
                  <a16:creationId xmlns:a16="http://schemas.microsoft.com/office/drawing/2014/main" id="{80E3EFE6-2A22-4891-CF4D-21C4E866D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2" y="2409"/>
              <a:ext cx="0" cy="5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696" name="Object 4">
              <a:extLst>
                <a:ext uri="{FF2B5EF4-FFF2-40B4-BE49-F238E27FC236}">
                  <a16:creationId xmlns:a16="http://schemas.microsoft.com/office/drawing/2014/main" id="{9F3F214F-FA46-0C7F-1388-E69BD7E9B4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85" y="2430"/>
            <a:ext cx="17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126720" imgH="342720" progId="Equation.DSMT4">
                    <p:embed/>
                  </p:oleObj>
                </mc:Choice>
                <mc:Fallback>
                  <p:oleObj name="Equation" r:id="rId11" imgW="126720" imgH="342720" progId="Equation.DSMT4">
                    <p:embed/>
                    <p:pic>
                      <p:nvPicPr>
                        <p:cNvPr id="29696" name="Object 4">
                          <a:extLst>
                            <a:ext uri="{FF2B5EF4-FFF2-40B4-BE49-F238E27FC236}">
                              <a16:creationId xmlns:a16="http://schemas.microsoft.com/office/drawing/2014/main" id="{9F3F214F-FA46-0C7F-1388-E69BD7E9B4C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5" y="2430"/>
                          <a:ext cx="17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697" name="Group 41">
            <a:extLst>
              <a:ext uri="{FF2B5EF4-FFF2-40B4-BE49-F238E27FC236}">
                <a16:creationId xmlns:a16="http://schemas.microsoft.com/office/drawing/2014/main" id="{92D7BD3D-6C0C-2F12-4F79-A4E2FDC6B44D}"/>
              </a:ext>
            </a:extLst>
          </p:cNvPr>
          <p:cNvGrpSpPr>
            <a:grpSpLocks/>
          </p:cNvGrpSpPr>
          <p:nvPr/>
        </p:nvGrpSpPr>
        <p:grpSpPr bwMode="auto">
          <a:xfrm>
            <a:off x="7375521" y="2552775"/>
            <a:ext cx="1419554" cy="730418"/>
            <a:chOff x="3943" y="2768"/>
            <a:chExt cx="894" cy="460"/>
          </a:xfrm>
        </p:grpSpPr>
        <p:sp>
          <p:nvSpPr>
            <p:cNvPr id="29699" name="Line 27">
              <a:extLst>
                <a:ext uri="{FF2B5EF4-FFF2-40B4-BE49-F238E27FC236}">
                  <a16:creationId xmlns:a16="http://schemas.microsoft.com/office/drawing/2014/main" id="{F305F1CD-7CB1-4876-C44E-9874CFEE46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3" y="3055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00" name="Object 3">
              <a:extLst>
                <a:ext uri="{FF2B5EF4-FFF2-40B4-BE49-F238E27FC236}">
                  <a16:creationId xmlns:a16="http://schemas.microsoft.com/office/drawing/2014/main" id="{478F75A0-8EB3-9FCD-6179-E8AF8E2F07B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22" y="2768"/>
            <a:ext cx="176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26720" imgH="342720" progId="Equation.DSMT4">
                    <p:embed/>
                  </p:oleObj>
                </mc:Choice>
                <mc:Fallback>
                  <p:oleObj name="Equation" r:id="rId13" imgW="126720" imgH="342720" progId="Equation.DSMT4">
                    <p:embed/>
                    <p:pic>
                      <p:nvPicPr>
                        <p:cNvPr id="29700" name="Object 3">
                          <a:extLst>
                            <a:ext uri="{FF2B5EF4-FFF2-40B4-BE49-F238E27FC236}">
                              <a16:creationId xmlns:a16="http://schemas.microsoft.com/office/drawing/2014/main" id="{478F75A0-8EB3-9FCD-6179-E8AF8E2F07B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2" y="2768"/>
                          <a:ext cx="176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01" name="Group 38">
            <a:extLst>
              <a:ext uri="{FF2B5EF4-FFF2-40B4-BE49-F238E27FC236}">
                <a16:creationId xmlns:a16="http://schemas.microsoft.com/office/drawing/2014/main" id="{827A5ED7-4610-CA7C-3815-160E85686E64}"/>
              </a:ext>
            </a:extLst>
          </p:cNvPr>
          <p:cNvGrpSpPr>
            <a:grpSpLocks/>
          </p:cNvGrpSpPr>
          <p:nvPr/>
        </p:nvGrpSpPr>
        <p:grpSpPr bwMode="auto">
          <a:xfrm>
            <a:off x="6400568" y="1045887"/>
            <a:ext cx="836806" cy="730419"/>
            <a:chOff x="3329" y="1819"/>
            <a:chExt cx="527" cy="460"/>
          </a:xfrm>
        </p:grpSpPr>
        <p:graphicFrame>
          <p:nvGraphicFramePr>
            <p:cNvPr id="29705" name="Object 2">
              <a:extLst>
                <a:ext uri="{FF2B5EF4-FFF2-40B4-BE49-F238E27FC236}">
                  <a16:creationId xmlns:a16="http://schemas.microsoft.com/office/drawing/2014/main" id="{1C59425D-A815-D781-D279-F7FD61FD639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29" y="1819"/>
            <a:ext cx="175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26720" imgH="342720" progId="Equation.DSMT4">
                    <p:embed/>
                  </p:oleObj>
                </mc:Choice>
                <mc:Fallback>
                  <p:oleObj name="Equation" r:id="rId15" imgW="126720" imgH="342720" progId="Equation.DSMT4">
                    <p:embed/>
                    <p:pic>
                      <p:nvPicPr>
                        <p:cNvPr id="29705" name="Object 2">
                          <a:extLst>
                            <a:ext uri="{FF2B5EF4-FFF2-40B4-BE49-F238E27FC236}">
                              <a16:creationId xmlns:a16="http://schemas.microsoft.com/office/drawing/2014/main" id="{1C59425D-A815-D781-D279-F7FD61FD639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9" y="1819"/>
                          <a:ext cx="175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Arc 36">
              <a:extLst>
                <a:ext uri="{FF2B5EF4-FFF2-40B4-BE49-F238E27FC236}">
                  <a16:creationId xmlns:a16="http://schemas.microsoft.com/office/drawing/2014/main" id="{71720F48-E1DE-466C-09EF-6C8E0AC127A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556" y="2017"/>
              <a:ext cx="300" cy="256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8" name="Group 42">
            <a:extLst>
              <a:ext uri="{FF2B5EF4-FFF2-40B4-BE49-F238E27FC236}">
                <a16:creationId xmlns:a16="http://schemas.microsoft.com/office/drawing/2014/main" id="{23677360-978C-CECB-F93E-7DB899A53EF4}"/>
              </a:ext>
            </a:extLst>
          </p:cNvPr>
          <p:cNvGrpSpPr>
            <a:grpSpLocks/>
          </p:cNvGrpSpPr>
          <p:nvPr/>
        </p:nvGrpSpPr>
        <p:grpSpPr bwMode="auto">
          <a:xfrm>
            <a:off x="9011024" y="2886226"/>
            <a:ext cx="752999" cy="714257"/>
            <a:chOff x="4973" y="2978"/>
            <a:chExt cx="547" cy="529"/>
          </a:xfrm>
        </p:grpSpPr>
        <p:graphicFrame>
          <p:nvGraphicFramePr>
            <p:cNvPr id="29709" name="Object 1">
              <a:extLst>
                <a:ext uri="{FF2B5EF4-FFF2-40B4-BE49-F238E27FC236}">
                  <a16:creationId xmlns:a16="http://schemas.microsoft.com/office/drawing/2014/main" id="{071F3765-018D-1E2E-3122-220574776D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0" y="2978"/>
            <a:ext cx="210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280" imgH="393480" progId="Equation.DSMT4">
                    <p:embed/>
                  </p:oleObj>
                </mc:Choice>
                <mc:Fallback>
                  <p:oleObj name="Equation" r:id="rId17" imgW="152280" imgH="393480" progId="Equation.DSMT4">
                    <p:embed/>
                    <p:pic>
                      <p:nvPicPr>
                        <p:cNvPr id="29709" name="Object 1">
                          <a:extLst>
                            <a:ext uri="{FF2B5EF4-FFF2-40B4-BE49-F238E27FC236}">
                              <a16:creationId xmlns:a16="http://schemas.microsoft.com/office/drawing/2014/main" id="{071F3765-018D-1E2E-3122-220574776DB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2978"/>
                          <a:ext cx="210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0" name="Arc 37">
              <a:extLst>
                <a:ext uri="{FF2B5EF4-FFF2-40B4-BE49-F238E27FC236}">
                  <a16:creationId xmlns:a16="http://schemas.microsoft.com/office/drawing/2014/main" id="{5AF56E83-3970-E4CE-8815-0D3385CCA2F2}"/>
                </a:ext>
              </a:extLst>
            </p:cNvPr>
            <p:cNvSpPr>
              <a:spLocks/>
            </p:cNvSpPr>
            <p:nvPr/>
          </p:nvSpPr>
          <p:spPr bwMode="auto">
            <a:xfrm rot="313316">
              <a:off x="4973" y="3029"/>
              <a:ext cx="340" cy="340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</a:path>
                <a:path w="43200" h="43200" stroke="0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  <a:lnTo>
                    <a:pt x="21600" y="21600"/>
                  </a:lnTo>
                  <a:lnTo>
                    <a:pt x="15729" y="812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2" name="组合 29731">
            <a:extLst>
              <a:ext uri="{FF2B5EF4-FFF2-40B4-BE49-F238E27FC236}">
                <a16:creationId xmlns:a16="http://schemas.microsoft.com/office/drawing/2014/main" id="{1B9BA04C-6614-7943-527E-113B0ABB0FA1}"/>
              </a:ext>
            </a:extLst>
          </p:cNvPr>
          <p:cNvGrpSpPr/>
          <p:nvPr/>
        </p:nvGrpSpPr>
        <p:grpSpPr>
          <a:xfrm>
            <a:off x="7347653" y="1616075"/>
            <a:ext cx="1487371" cy="728663"/>
            <a:chOff x="7347653" y="1616075"/>
            <a:chExt cx="1487371" cy="728663"/>
          </a:xfrm>
        </p:grpSpPr>
        <p:cxnSp>
          <p:nvCxnSpPr>
            <p:cNvPr id="29716" name="直接箭头连接符 29715">
              <a:extLst>
                <a:ext uri="{FF2B5EF4-FFF2-40B4-BE49-F238E27FC236}">
                  <a16:creationId xmlns:a16="http://schemas.microsoft.com/office/drawing/2014/main" id="{A501C73F-2CBF-3C3C-598C-EBD3E81E6E7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7347653" y="1745931"/>
              <a:ext cx="1487371" cy="117704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9719" name="Object 5">
              <a:extLst>
                <a:ext uri="{FF2B5EF4-FFF2-40B4-BE49-F238E27FC236}">
                  <a16:creationId xmlns:a16="http://schemas.microsoft.com/office/drawing/2014/main" id="{8912007F-A5E5-8EDD-59D8-5B9F9EB8D3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72450" y="1616075"/>
            <a:ext cx="276225" cy="728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26720" imgH="342720" progId="Equation.DSMT4">
                    <p:embed/>
                  </p:oleObj>
                </mc:Choice>
                <mc:Fallback>
                  <p:oleObj name="Equation" r:id="rId19" imgW="126720" imgH="342720" progId="Equation.DSMT4">
                    <p:embed/>
                    <p:pic>
                      <p:nvPicPr>
                        <p:cNvPr id="29719" name="Object 5">
                          <a:extLst>
                            <a:ext uri="{FF2B5EF4-FFF2-40B4-BE49-F238E27FC236}">
                              <a16:creationId xmlns:a16="http://schemas.microsoft.com/office/drawing/2014/main" id="{8912007F-A5E5-8EDD-59D8-5B9F9EB8D32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72450" y="1616075"/>
                          <a:ext cx="276225" cy="728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20" name="Group 38">
            <a:extLst>
              <a:ext uri="{FF2B5EF4-FFF2-40B4-BE49-F238E27FC236}">
                <a16:creationId xmlns:a16="http://schemas.microsoft.com/office/drawing/2014/main" id="{F7DE44C6-1488-87F8-3F97-1328E245080F}"/>
              </a:ext>
            </a:extLst>
          </p:cNvPr>
          <p:cNvGrpSpPr>
            <a:grpSpLocks/>
          </p:cNvGrpSpPr>
          <p:nvPr/>
        </p:nvGrpSpPr>
        <p:grpSpPr bwMode="auto">
          <a:xfrm>
            <a:off x="8928616" y="1012554"/>
            <a:ext cx="727246" cy="789173"/>
            <a:chOff x="3465" y="1858"/>
            <a:chExt cx="458" cy="497"/>
          </a:xfrm>
        </p:grpSpPr>
        <p:graphicFrame>
          <p:nvGraphicFramePr>
            <p:cNvPr id="29721" name="Object 2">
              <a:extLst>
                <a:ext uri="{FF2B5EF4-FFF2-40B4-BE49-F238E27FC236}">
                  <a16:creationId xmlns:a16="http://schemas.microsoft.com/office/drawing/2014/main" id="{F8058824-1234-9C12-187D-B2A740D524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48" y="1858"/>
            <a:ext cx="175" cy="4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26720" imgH="342720" progId="Equation.DSMT4">
                    <p:embed/>
                  </p:oleObj>
                </mc:Choice>
                <mc:Fallback>
                  <p:oleObj name="Equation" r:id="rId21" imgW="126720" imgH="342720" progId="Equation.DSMT4">
                    <p:embed/>
                    <p:pic>
                      <p:nvPicPr>
                        <p:cNvPr id="29721" name="Object 2">
                          <a:extLst>
                            <a:ext uri="{FF2B5EF4-FFF2-40B4-BE49-F238E27FC236}">
                              <a16:creationId xmlns:a16="http://schemas.microsoft.com/office/drawing/2014/main" id="{F8058824-1234-9C12-187D-B2A740D5249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8" y="1858"/>
                          <a:ext cx="175" cy="4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2" name="Arc 36">
              <a:extLst>
                <a:ext uri="{FF2B5EF4-FFF2-40B4-BE49-F238E27FC236}">
                  <a16:creationId xmlns:a16="http://schemas.microsoft.com/office/drawing/2014/main" id="{2FF44BC3-3104-DA7A-D412-DD5A4B078210}"/>
                </a:ext>
              </a:extLst>
            </p:cNvPr>
            <p:cNvSpPr>
              <a:spLocks/>
            </p:cNvSpPr>
            <p:nvPr/>
          </p:nvSpPr>
          <p:spPr bwMode="auto">
            <a:xfrm rot="4551101" flipH="1">
              <a:off x="3451" y="2049"/>
              <a:ext cx="320" cy="292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33" name="组合 29732">
            <a:extLst>
              <a:ext uri="{FF2B5EF4-FFF2-40B4-BE49-F238E27FC236}">
                <a16:creationId xmlns:a16="http://schemas.microsoft.com/office/drawing/2014/main" id="{245D1210-2CEB-9D42-78B0-C9D769C0F679}"/>
              </a:ext>
            </a:extLst>
          </p:cNvPr>
          <p:cNvGrpSpPr/>
          <p:nvPr/>
        </p:nvGrpSpPr>
        <p:grpSpPr>
          <a:xfrm>
            <a:off x="7358102" y="1892300"/>
            <a:ext cx="1459201" cy="1027555"/>
            <a:chOff x="7358102" y="1892300"/>
            <a:chExt cx="1459201" cy="1027555"/>
          </a:xfrm>
        </p:grpSpPr>
        <p:sp>
          <p:nvSpPr>
            <p:cNvPr id="29723" name="Line 27">
              <a:extLst>
                <a:ext uri="{FF2B5EF4-FFF2-40B4-BE49-F238E27FC236}">
                  <a16:creationId xmlns:a16="http://schemas.microsoft.com/office/drawing/2014/main" id="{411BBA31-13F5-50E8-C2D4-54EA0A605D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58102" y="1925286"/>
              <a:ext cx="1459201" cy="99456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24" name="Object 1">
              <a:extLst>
                <a:ext uri="{FF2B5EF4-FFF2-40B4-BE49-F238E27FC236}">
                  <a16:creationId xmlns:a16="http://schemas.microsoft.com/office/drawing/2014/main" id="{F75ECC65-14C5-A5FF-B1FE-FCDE00A3F3C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07300" y="1892300"/>
            <a:ext cx="277813" cy="7318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26720" imgH="342720" progId="Equation.DSMT4">
                    <p:embed/>
                  </p:oleObj>
                </mc:Choice>
                <mc:Fallback>
                  <p:oleObj name="Equation" r:id="rId23" imgW="126720" imgH="342720" progId="Equation.DSMT4">
                    <p:embed/>
                    <p:pic>
                      <p:nvPicPr>
                        <p:cNvPr id="29724" name="Object 1">
                          <a:extLst>
                            <a:ext uri="{FF2B5EF4-FFF2-40B4-BE49-F238E27FC236}">
                              <a16:creationId xmlns:a16="http://schemas.microsoft.com/office/drawing/2014/main" id="{F75ECC65-14C5-A5FF-B1FE-FCDE00A3F3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7300" y="1892300"/>
                          <a:ext cx="277813" cy="7318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725" name="Group 38">
            <a:extLst>
              <a:ext uri="{FF2B5EF4-FFF2-40B4-BE49-F238E27FC236}">
                <a16:creationId xmlns:a16="http://schemas.microsoft.com/office/drawing/2014/main" id="{87048115-005B-1A6D-0D8D-40C9D30FBDDE}"/>
              </a:ext>
            </a:extLst>
          </p:cNvPr>
          <p:cNvGrpSpPr>
            <a:grpSpLocks/>
          </p:cNvGrpSpPr>
          <p:nvPr/>
        </p:nvGrpSpPr>
        <p:grpSpPr bwMode="auto">
          <a:xfrm>
            <a:off x="6572669" y="2486655"/>
            <a:ext cx="658965" cy="527172"/>
            <a:chOff x="3441" y="1941"/>
            <a:chExt cx="415" cy="332"/>
          </a:xfrm>
        </p:grpSpPr>
        <p:graphicFrame>
          <p:nvGraphicFramePr>
            <p:cNvPr id="29726" name="Object 2">
              <a:extLst>
                <a:ext uri="{FF2B5EF4-FFF2-40B4-BE49-F238E27FC236}">
                  <a16:creationId xmlns:a16="http://schemas.microsoft.com/office/drawing/2014/main" id="{15326E01-D27D-204D-70D3-78D0E73339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41" y="1941"/>
            <a:ext cx="123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88560" imgH="139680" progId="Equation.DSMT4">
                    <p:embed/>
                  </p:oleObj>
                </mc:Choice>
                <mc:Fallback>
                  <p:oleObj name="Equation" r:id="rId25" imgW="88560" imgH="139680" progId="Equation.DSMT4">
                    <p:embed/>
                    <p:pic>
                      <p:nvPicPr>
                        <p:cNvPr id="29726" name="Object 2">
                          <a:extLst>
                            <a:ext uri="{FF2B5EF4-FFF2-40B4-BE49-F238E27FC236}">
                              <a16:creationId xmlns:a16="http://schemas.microsoft.com/office/drawing/2014/main" id="{15326E01-D27D-204D-70D3-78D0E73339A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41" y="1941"/>
                          <a:ext cx="123" cy="1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27" name="Arc 36">
              <a:extLst>
                <a:ext uri="{FF2B5EF4-FFF2-40B4-BE49-F238E27FC236}">
                  <a16:creationId xmlns:a16="http://schemas.microsoft.com/office/drawing/2014/main" id="{723047A5-3284-88C1-8F85-D3645908C0CF}"/>
                </a:ext>
              </a:extLst>
            </p:cNvPr>
            <p:cNvSpPr>
              <a:spLocks/>
            </p:cNvSpPr>
            <p:nvPr/>
          </p:nvSpPr>
          <p:spPr bwMode="auto">
            <a:xfrm rot="224262" flipH="1">
              <a:off x="3594" y="1980"/>
              <a:ext cx="262" cy="293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28" name="Rectangle 3">
            <a:extLst>
              <a:ext uri="{FF2B5EF4-FFF2-40B4-BE49-F238E27FC236}">
                <a16:creationId xmlns:a16="http://schemas.microsoft.com/office/drawing/2014/main" id="{0979E4E7-8086-549C-FCAD-475F5B921FFB}"/>
              </a:ext>
            </a:extLst>
          </p:cNvPr>
          <p:cNvSpPr txBox="1">
            <a:spLocks noChangeArrowheads="1"/>
          </p:cNvSpPr>
          <p:nvPr/>
        </p:nvSpPr>
        <p:spPr>
          <a:xfrm>
            <a:off x="6691762" y="5187123"/>
            <a:ext cx="3790551" cy="427137"/>
          </a:xfrm>
          <a:prstGeom prst="rect">
            <a:avLst/>
          </a:prstGeom>
        </p:spPr>
        <p:txBody>
          <a:bodyPr vert="horz" lIns="121917" tIns="60958" rIns="121917" bIns="60958" rtlCol="0">
            <a:normAutofit fontScale="92500"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/>
              <a:t>因为                  </a:t>
            </a:r>
            <a:r>
              <a:rPr lang="en-US" altLang="zh-CN" dirty="0"/>
              <a:t>,</a:t>
            </a:r>
            <a:endParaRPr lang="zh-CN" altLang="en-US" dirty="0"/>
          </a:p>
        </p:txBody>
      </p:sp>
      <p:graphicFrame>
        <p:nvGraphicFramePr>
          <p:cNvPr id="29729" name="Object 11">
            <a:extLst>
              <a:ext uri="{FF2B5EF4-FFF2-40B4-BE49-F238E27FC236}">
                <a16:creationId xmlns:a16="http://schemas.microsoft.com/office/drawing/2014/main" id="{B70C2417-451B-9661-08B7-2D08C687BC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17141" y="4983534"/>
          <a:ext cx="1300162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634680" imgH="393480" progId="Equation.DSMT4">
                  <p:embed/>
                </p:oleObj>
              </mc:Choice>
              <mc:Fallback>
                <p:oleObj name="Equation" r:id="rId27" imgW="634680" imgH="393480" progId="Equation.DSMT4">
                  <p:embed/>
                  <p:pic>
                    <p:nvPicPr>
                      <p:cNvPr id="29729" name="Object 11">
                        <a:extLst>
                          <a:ext uri="{FF2B5EF4-FFF2-40B4-BE49-F238E27FC236}">
                            <a16:creationId xmlns:a16="http://schemas.microsoft.com/office/drawing/2014/main" id="{B70C2417-451B-9661-08B7-2D08C687B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7141" y="4983534"/>
                        <a:ext cx="1300162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0" name="Object 11">
            <a:extLst>
              <a:ext uri="{FF2B5EF4-FFF2-40B4-BE49-F238E27FC236}">
                <a16:creationId xmlns:a16="http://schemas.microsoft.com/office/drawing/2014/main" id="{5D87FB3A-C136-D162-A8F9-A003E33D93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47507" y="5147535"/>
          <a:ext cx="21082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028520" imgH="228600" progId="Equation.DSMT4">
                  <p:embed/>
                </p:oleObj>
              </mc:Choice>
              <mc:Fallback>
                <p:oleObj name="Equation" r:id="rId29" imgW="1028520" imgH="228600" progId="Equation.DSMT4">
                  <p:embed/>
                  <p:pic>
                    <p:nvPicPr>
                      <p:cNvPr id="29730" name="Object 11">
                        <a:extLst>
                          <a:ext uri="{FF2B5EF4-FFF2-40B4-BE49-F238E27FC236}">
                            <a16:creationId xmlns:a16="http://schemas.microsoft.com/office/drawing/2014/main" id="{5D87FB3A-C136-D162-A8F9-A003E33D93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7507" y="5147535"/>
                        <a:ext cx="21082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Rectangle 3">
            <a:extLst>
              <a:ext uri="{FF2B5EF4-FFF2-40B4-BE49-F238E27FC236}">
                <a16:creationId xmlns:a16="http://schemas.microsoft.com/office/drawing/2014/main" id="{0D8789B4-6D2F-34B3-5A45-1CBF3FE51407}"/>
              </a:ext>
            </a:extLst>
          </p:cNvPr>
          <p:cNvSpPr txBox="1">
            <a:spLocks noChangeArrowheads="1"/>
          </p:cNvSpPr>
          <p:nvPr/>
        </p:nvSpPr>
        <p:spPr>
          <a:xfrm>
            <a:off x="6641222" y="5993476"/>
            <a:ext cx="3513274" cy="466725"/>
          </a:xfrm>
          <a:prstGeom prst="rect">
            <a:avLst/>
          </a:prstGeom>
        </p:spPr>
        <p:txBody>
          <a:bodyPr vert="horz" lIns="121917" tIns="60958" rIns="121917" bIns="60958" rtlCol="0">
            <a:normAutofit lnSpcReduction="10000"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zh-CN" altLang="en-US" dirty="0"/>
              <a:t>所以</a:t>
            </a:r>
            <a:r>
              <a:rPr lang="en-US" altLang="zh-CN" dirty="0"/>
              <a:t>{3}</a:t>
            </a:r>
            <a:r>
              <a:rPr lang="zh-CN" altLang="en-US" dirty="0"/>
              <a:t>是非常返态。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9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97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9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4" grpId="0" animBg="1"/>
      <p:bldP spid="29707" grpId="0" animBg="1"/>
      <p:bldP spid="4" grpId="0" build="p"/>
      <p:bldP spid="6" grpId="0" build="p"/>
      <p:bldP spid="29728" grpId="0" build="p"/>
      <p:bldP spid="2973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不可约马氏链</a:t>
            </a:r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975" y="1063872"/>
            <a:ext cx="9935535" cy="1502123"/>
          </a:xfrm>
        </p:spPr>
        <p:txBody>
          <a:bodyPr>
            <a:normAutofit/>
          </a:bodyPr>
          <a:lstStyle/>
          <a:p>
            <a:pPr marL="0" indent="719282">
              <a:buNone/>
            </a:pPr>
            <a:r>
              <a:rPr lang="zh-CN" altLang="en-US" dirty="0"/>
              <a:t>一个马氏链，如果除了整个状态空间</a:t>
            </a:r>
            <a:r>
              <a:rPr lang="en-US" altLang="zh-CN" dirty="0"/>
              <a:t>E</a:t>
            </a:r>
            <a:r>
              <a:rPr lang="zh-CN" altLang="en-US" dirty="0"/>
              <a:t>构成闭集外，不可能再分解出较小的闭集来，则称此马氏链为</a:t>
            </a:r>
            <a:r>
              <a:rPr lang="zh-CN" altLang="en-US" dirty="0">
                <a:solidFill>
                  <a:srgbClr val="CC00CC"/>
                </a:solidFill>
              </a:rPr>
              <a:t>不可约马氏链</a:t>
            </a:r>
            <a:r>
              <a:rPr lang="zh-CN" altLang="en-US" dirty="0"/>
              <a:t>。</a:t>
            </a:r>
          </a:p>
        </p:txBody>
      </p:sp>
      <p:sp>
        <p:nvSpPr>
          <p:cNvPr id="267269" name="Rectangle 5"/>
          <p:cNvSpPr>
            <a:spLocks noChangeArrowheads="1"/>
          </p:cNvSpPr>
          <p:nvPr/>
        </p:nvSpPr>
        <p:spPr bwMode="auto">
          <a:xfrm>
            <a:off x="1069975" y="2515394"/>
            <a:ext cx="9525000" cy="2150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结论：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马氏链为不可约马氏链的充分必要条件是任何两个状态都相通；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一个不可约马氏链，或者没有非常返状态，或者没有常返状态。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不可约马氏链是常返的充分必要条件是方程</a:t>
            </a:r>
          </a:p>
        </p:txBody>
      </p:sp>
      <p:graphicFrame>
        <p:nvGraphicFramePr>
          <p:cNvPr id="267270" name="Object 6"/>
          <p:cNvGraphicFramePr>
            <a:graphicFrameLocks noChangeAspect="1"/>
          </p:cNvGraphicFramePr>
          <p:nvPr/>
        </p:nvGraphicFramePr>
        <p:xfrm>
          <a:off x="4117975" y="4813765"/>
          <a:ext cx="3429794" cy="1043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43280" imgH="800280" progId="Equation.3">
                  <p:embed/>
                </p:oleObj>
              </mc:Choice>
              <mc:Fallback>
                <p:oleObj name="Equation" r:id="rId3" imgW="2843280" imgH="800280" progId="Equation.3">
                  <p:embed/>
                  <p:pic>
                    <p:nvPicPr>
                      <p:cNvPr id="2672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4813765"/>
                        <a:ext cx="3429794" cy="1043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Rectangle 7"/>
          <p:cNvSpPr>
            <a:spLocks noChangeArrowheads="1"/>
          </p:cNvSpPr>
          <p:nvPr/>
        </p:nvSpPr>
        <p:spPr bwMode="auto">
          <a:xfrm>
            <a:off x="1069975" y="5856993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没有非零的有界解。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" dur="500"/>
                                        <p:tgtEl>
                                          <p:spTgt spid="267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267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67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67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2" dur="500"/>
                                        <p:tgtEl>
                                          <p:spTgt spid="26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500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7" grpId="0" build="p"/>
      <p:bldP spid="267269" grpId="0" build="p" autoUpdateAnimBg="0"/>
      <p:bldP spid="267271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四、有限马尔可夫链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1375" y="1111018"/>
            <a:ext cx="7859909" cy="842059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状态空间</a:t>
            </a:r>
            <a:r>
              <a:rPr lang="en-US" altLang="zh-CN" dirty="0"/>
              <a:t>E</a:t>
            </a:r>
            <a:r>
              <a:rPr lang="zh-CN" altLang="en-US" dirty="0"/>
              <a:t>是有限集合的马氏链称为</a:t>
            </a:r>
            <a:r>
              <a:rPr lang="zh-CN" altLang="en-US" dirty="0">
                <a:solidFill>
                  <a:srgbClr val="CC00CC"/>
                </a:solidFill>
              </a:rPr>
              <a:t>有限马氏链</a:t>
            </a:r>
            <a:r>
              <a:rPr lang="zh-CN" altLang="en-US" dirty="0"/>
              <a:t>。</a:t>
            </a:r>
          </a:p>
        </p:txBody>
      </p:sp>
      <p:sp>
        <p:nvSpPr>
          <p:cNvPr id="268292" name="Rectangle 4"/>
          <p:cNvSpPr>
            <a:spLocks noChangeArrowheads="1"/>
          </p:cNvSpPr>
          <p:nvPr/>
        </p:nvSpPr>
        <p:spPr bwMode="auto">
          <a:xfrm>
            <a:off x="993775" y="1953078"/>
            <a:ext cx="11125200" cy="381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914400" indent="-45720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有限马氏链具有如下特点：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所有非常返状态所组成的集合不可能是闭集；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没有零常返状态；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必有正常返状态；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必可分解为</a:t>
            </a:r>
            <a:endParaRPr lang="en-US" altLang="zh-CN" sz="2400" dirty="0">
              <a:solidFill>
                <a:srgbClr val="0000FF"/>
              </a:solidFill>
              <a:latin typeface="+mn-ea"/>
              <a:ea typeface="+mn-ea"/>
            </a:endParaRPr>
          </a:p>
          <a:p>
            <a:pPr marL="0" indent="0" algn="ctr" eaLnBrk="1" hangingPunct="1">
              <a:lnSpc>
                <a:spcPct val="150000"/>
              </a:lnSpc>
              <a:buClr>
                <a:srgbClr val="CC00CC"/>
              </a:buClr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…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＋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其中，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N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为非常返状态集合，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1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2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, …, C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</a:rPr>
              <a:t>k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是互不相交且不可细分的常返闭集。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8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" dur="500"/>
                                        <p:tgtEl>
                                          <p:spTgt spid="268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268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2682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500"/>
                                        <p:tgtEl>
                                          <p:spTgt spid="268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268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8" dur="500"/>
                                        <p:tgtEl>
                                          <p:spTgt spid="2682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1" dur="500"/>
                                        <p:tgtEl>
                                          <p:spTgt spid="2682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 build="p"/>
      <p:bldP spid="268292" grpId="0" build="p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五、状态的周期性</a:t>
            </a:r>
          </a:p>
        </p:txBody>
      </p:sp>
      <p:sp>
        <p:nvSpPr>
          <p:cNvPr id="269315" name="Rectangle 3">
            <a:extLst>
              <a:ext uri="{FF2B5EF4-FFF2-40B4-BE49-F238E27FC236}">
                <a16:creationId xmlns:a16="http://schemas.microsoft.com/office/drawing/2014/main" id="{D8BC1AD4-4280-42CC-A267-2C3FC8CE267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2645564" y="1143265"/>
            <a:ext cx="7393111" cy="2146405"/>
          </a:xfrm>
          <a:blipFill>
            <a:blip r:embed="rId2"/>
            <a:stretch>
              <a:fillRect l="-2558" r="-83" b="-7955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2623334" y="3718786"/>
            <a:ext cx="7847241" cy="1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</a:t>
            </a:r>
            <a:r>
              <a:rPr lang="zh-CN" altLang="en-US" sz="2400" dirty="0">
                <a:latin typeface="+mn-ea"/>
                <a:ea typeface="+mn-ea"/>
              </a:rPr>
              <a:t>如果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d(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) </a:t>
            </a:r>
            <a:r>
              <a:rPr lang="zh-CN" altLang="en-US" sz="2400" dirty="0">
                <a:latin typeface="+mn-ea"/>
                <a:ea typeface="+mn-ea"/>
              </a:rPr>
              <a:t>＞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，则称状态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是有周期的。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buClr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  如果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d(</a:t>
            </a:r>
            <a:r>
              <a:rPr lang="en-US" altLang="zh-CN" sz="2400" dirty="0" err="1">
                <a:solidFill>
                  <a:srgbClr val="C00000"/>
                </a:solidFill>
                <a:latin typeface="+mn-ea"/>
                <a:ea typeface="+mn-ea"/>
              </a:rPr>
              <a:t>i</a:t>
            </a:r>
            <a:r>
              <a:rPr lang="en-US" altLang="zh-CN" sz="2400" dirty="0">
                <a:solidFill>
                  <a:srgbClr val="C00000"/>
                </a:solidFill>
                <a:latin typeface="+mn-ea"/>
                <a:ea typeface="+mn-ea"/>
              </a:rPr>
              <a:t>)=1</a:t>
            </a:r>
            <a:r>
              <a:rPr lang="zh-CN" altLang="en-US" sz="2400" dirty="0">
                <a:latin typeface="+mn-ea"/>
                <a:ea typeface="+mn-ea"/>
              </a:rPr>
              <a:t>，则称状态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是非周期的。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9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69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2749180" y="3546587"/>
            <a:ext cx="5883049" cy="58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状态</a:t>
            </a:r>
            <a:r>
              <a:rPr lang="en-US" altLang="zh-CN" sz="2400" dirty="0"/>
              <a:t>1</a:t>
            </a:r>
            <a:r>
              <a:rPr lang="zh-CN" altLang="en-US" sz="2400" dirty="0"/>
              <a:t>：</a:t>
            </a:r>
            <a:r>
              <a:rPr lang="en-US" altLang="zh-CN" sz="2400" dirty="0"/>
              <a:t>D={4,8,12,…,6,12,18,…,10,14,16,…}</a:t>
            </a:r>
            <a:endParaRPr lang="zh-CN" altLang="en-US" sz="2400" dirty="0"/>
          </a:p>
        </p:txBody>
      </p:sp>
      <p:sp>
        <p:nvSpPr>
          <p:cNvPr id="34818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周期性示例</a:t>
            </a:r>
          </a:p>
        </p:txBody>
      </p:sp>
      <p:grpSp>
        <p:nvGrpSpPr>
          <p:cNvPr id="34822" name="组合 88"/>
          <p:cNvGrpSpPr>
            <a:grpSpLocks/>
          </p:cNvGrpSpPr>
          <p:nvPr/>
        </p:nvGrpSpPr>
        <p:grpSpPr bwMode="auto">
          <a:xfrm>
            <a:off x="3569703" y="1233774"/>
            <a:ext cx="5058946" cy="2118215"/>
            <a:chOff x="2556972" y="991280"/>
            <a:chExt cx="5056229" cy="2117750"/>
          </a:xfrm>
        </p:grpSpPr>
        <p:grpSp>
          <p:nvGrpSpPr>
            <p:cNvPr id="34829" name="Group 50"/>
            <p:cNvGrpSpPr>
              <a:grpSpLocks/>
            </p:cNvGrpSpPr>
            <p:nvPr/>
          </p:nvGrpSpPr>
          <p:grpSpPr bwMode="auto">
            <a:xfrm>
              <a:off x="2556972" y="1914472"/>
              <a:ext cx="360363" cy="461963"/>
              <a:chOff x="1708" y="3234"/>
              <a:chExt cx="227" cy="291"/>
            </a:xfrm>
          </p:grpSpPr>
          <p:sp>
            <p:nvSpPr>
              <p:cNvPr id="34874" name="Oval 7"/>
              <p:cNvSpPr>
                <a:spLocks noChangeArrowheads="1"/>
              </p:cNvSpPr>
              <p:nvPr/>
            </p:nvSpPr>
            <p:spPr bwMode="auto">
              <a:xfrm>
                <a:off x="1708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5" name="Rectangle 8"/>
              <p:cNvSpPr>
                <a:spLocks noChangeArrowheads="1"/>
              </p:cNvSpPr>
              <p:nvPr/>
            </p:nvSpPr>
            <p:spPr bwMode="auto">
              <a:xfrm>
                <a:off x="1722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7</a:t>
                </a:r>
              </a:p>
            </p:txBody>
          </p:sp>
        </p:grpSp>
        <p:grpSp>
          <p:nvGrpSpPr>
            <p:cNvPr id="34830" name="Group 51"/>
            <p:cNvGrpSpPr>
              <a:grpSpLocks/>
            </p:cNvGrpSpPr>
            <p:nvPr/>
          </p:nvGrpSpPr>
          <p:grpSpPr bwMode="auto">
            <a:xfrm>
              <a:off x="3365010" y="1142965"/>
              <a:ext cx="360363" cy="461963"/>
              <a:chOff x="2416" y="3234"/>
              <a:chExt cx="227" cy="291"/>
            </a:xfrm>
          </p:grpSpPr>
          <p:sp>
            <p:nvSpPr>
              <p:cNvPr id="34872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3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8</a:t>
                </a:r>
              </a:p>
            </p:txBody>
          </p:sp>
        </p:grpSp>
        <p:grpSp>
          <p:nvGrpSpPr>
            <p:cNvPr id="34831" name="Group 52"/>
            <p:cNvGrpSpPr>
              <a:grpSpLocks/>
            </p:cNvGrpSpPr>
            <p:nvPr/>
          </p:nvGrpSpPr>
          <p:grpSpPr bwMode="auto">
            <a:xfrm>
              <a:off x="7252838" y="1870380"/>
              <a:ext cx="360363" cy="461963"/>
              <a:chOff x="3124" y="3234"/>
              <a:chExt cx="227" cy="291"/>
            </a:xfrm>
          </p:grpSpPr>
          <p:sp>
            <p:nvSpPr>
              <p:cNvPr id="34870" name="Oval 11"/>
              <p:cNvSpPr>
                <a:spLocks noChangeArrowheads="1"/>
              </p:cNvSpPr>
              <p:nvPr/>
            </p:nvSpPr>
            <p:spPr bwMode="auto">
              <a:xfrm>
                <a:off x="3124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71" name="Rectangle 12"/>
              <p:cNvSpPr>
                <a:spLocks noChangeArrowheads="1"/>
              </p:cNvSpPr>
              <p:nvPr/>
            </p:nvSpPr>
            <p:spPr bwMode="auto">
              <a:xfrm>
                <a:off x="3138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</p:grpSp>
        <p:grpSp>
          <p:nvGrpSpPr>
            <p:cNvPr id="34832" name="Group 53"/>
            <p:cNvGrpSpPr>
              <a:grpSpLocks/>
            </p:cNvGrpSpPr>
            <p:nvPr/>
          </p:nvGrpSpPr>
          <p:grpSpPr bwMode="auto">
            <a:xfrm>
              <a:off x="6389063" y="2437705"/>
              <a:ext cx="360362" cy="461963"/>
              <a:chOff x="3833" y="3234"/>
              <a:chExt cx="227" cy="291"/>
            </a:xfrm>
          </p:grpSpPr>
          <p:sp>
            <p:nvSpPr>
              <p:cNvPr id="34868" name="Oval 13"/>
              <p:cNvSpPr>
                <a:spLocks noChangeArrowheads="1"/>
              </p:cNvSpPr>
              <p:nvPr/>
            </p:nvSpPr>
            <p:spPr bwMode="auto">
              <a:xfrm>
                <a:off x="3833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9" name="Rectangle 14"/>
              <p:cNvSpPr>
                <a:spLocks noChangeArrowheads="1"/>
              </p:cNvSpPr>
              <p:nvPr/>
            </p:nvSpPr>
            <p:spPr bwMode="auto">
              <a:xfrm>
                <a:off x="3847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4</a:t>
                </a:r>
              </a:p>
            </p:txBody>
          </p:sp>
        </p:grpSp>
        <p:sp>
          <p:nvSpPr>
            <p:cNvPr id="34833" name="Rectangle 26"/>
            <p:cNvSpPr>
              <a:spLocks noChangeArrowheads="1"/>
            </p:cNvSpPr>
            <p:nvPr/>
          </p:nvSpPr>
          <p:spPr bwMode="auto">
            <a:xfrm>
              <a:off x="2911956" y="1329859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grpSp>
          <p:nvGrpSpPr>
            <p:cNvPr id="34834" name="Group 51"/>
            <p:cNvGrpSpPr>
              <a:grpSpLocks/>
            </p:cNvGrpSpPr>
            <p:nvPr/>
          </p:nvGrpSpPr>
          <p:grpSpPr bwMode="auto">
            <a:xfrm>
              <a:off x="6452000" y="1220344"/>
              <a:ext cx="360363" cy="461963"/>
              <a:chOff x="2416" y="3234"/>
              <a:chExt cx="227" cy="291"/>
            </a:xfrm>
          </p:grpSpPr>
          <p:sp>
            <p:nvSpPr>
              <p:cNvPr id="34866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7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2</a:t>
                </a:r>
              </a:p>
            </p:txBody>
          </p:sp>
        </p:grpSp>
        <p:grpSp>
          <p:nvGrpSpPr>
            <p:cNvPr id="34835" name="Group 51"/>
            <p:cNvGrpSpPr>
              <a:grpSpLocks/>
            </p:cNvGrpSpPr>
            <p:nvPr/>
          </p:nvGrpSpPr>
          <p:grpSpPr bwMode="auto">
            <a:xfrm>
              <a:off x="5430347" y="1821168"/>
              <a:ext cx="360363" cy="461963"/>
              <a:chOff x="2416" y="3234"/>
              <a:chExt cx="227" cy="291"/>
            </a:xfrm>
          </p:grpSpPr>
          <p:sp>
            <p:nvSpPr>
              <p:cNvPr id="34864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5" name="Rectangle 10"/>
              <p:cNvSpPr>
                <a:spLocks noChangeArrowheads="1"/>
              </p:cNvSpPr>
              <p:nvPr/>
            </p:nvSpPr>
            <p:spPr bwMode="auto">
              <a:xfrm>
                <a:off x="2431" y="3234"/>
                <a:ext cx="21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</p:grpSp>
        <p:grpSp>
          <p:nvGrpSpPr>
            <p:cNvPr id="34836" name="Group 51"/>
            <p:cNvGrpSpPr>
              <a:grpSpLocks/>
            </p:cNvGrpSpPr>
            <p:nvPr/>
          </p:nvGrpSpPr>
          <p:grpSpPr bwMode="auto">
            <a:xfrm>
              <a:off x="4454701" y="2460107"/>
              <a:ext cx="360363" cy="461963"/>
              <a:chOff x="459" y="2892"/>
              <a:chExt cx="227" cy="291"/>
            </a:xfrm>
          </p:grpSpPr>
          <p:sp>
            <p:nvSpPr>
              <p:cNvPr id="34862" name="Oval 9"/>
              <p:cNvSpPr>
                <a:spLocks noChangeArrowheads="1"/>
              </p:cNvSpPr>
              <p:nvPr/>
            </p:nvSpPr>
            <p:spPr bwMode="auto">
              <a:xfrm>
                <a:off x="459" y="2929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3" name="Rectangle 10"/>
              <p:cNvSpPr>
                <a:spLocks noChangeArrowheads="1"/>
              </p:cNvSpPr>
              <p:nvPr/>
            </p:nvSpPr>
            <p:spPr bwMode="auto">
              <a:xfrm>
                <a:off x="463" y="289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</p:grpSp>
        <p:grpSp>
          <p:nvGrpSpPr>
            <p:cNvPr id="34837" name="Group 51"/>
            <p:cNvGrpSpPr>
              <a:grpSpLocks/>
            </p:cNvGrpSpPr>
            <p:nvPr/>
          </p:nvGrpSpPr>
          <p:grpSpPr bwMode="auto">
            <a:xfrm>
              <a:off x="4425571" y="1145424"/>
              <a:ext cx="360363" cy="461963"/>
              <a:chOff x="2416" y="3234"/>
              <a:chExt cx="227" cy="291"/>
            </a:xfrm>
          </p:grpSpPr>
          <p:sp>
            <p:nvSpPr>
              <p:cNvPr id="34860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61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9</a:t>
                </a:r>
              </a:p>
            </p:txBody>
          </p:sp>
        </p:grpSp>
        <p:grpSp>
          <p:nvGrpSpPr>
            <p:cNvPr id="34838" name="Group 51"/>
            <p:cNvGrpSpPr>
              <a:grpSpLocks/>
            </p:cNvGrpSpPr>
            <p:nvPr/>
          </p:nvGrpSpPr>
          <p:grpSpPr bwMode="auto">
            <a:xfrm>
              <a:off x="3415017" y="2455081"/>
              <a:ext cx="360363" cy="461963"/>
              <a:chOff x="2416" y="3234"/>
              <a:chExt cx="227" cy="291"/>
            </a:xfrm>
          </p:grpSpPr>
          <p:sp>
            <p:nvSpPr>
              <p:cNvPr id="34858" name="Oval 9"/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4859" name="Rectangle 10"/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6</a:t>
                </a:r>
              </a:p>
            </p:txBody>
          </p:sp>
        </p:grpSp>
        <p:cxnSp>
          <p:nvCxnSpPr>
            <p:cNvPr id="34839" name="直接箭头连接符 2"/>
            <p:cNvCxnSpPr>
              <a:cxnSpLocks noChangeShapeType="1"/>
              <a:stCxn id="34874" idx="7"/>
              <a:endCxn id="34872" idx="3"/>
            </p:cNvCxnSpPr>
            <p:nvPr/>
          </p:nvCxnSpPr>
          <p:spPr bwMode="auto">
            <a:xfrm flipV="1">
              <a:off x="2864561" y="1498173"/>
              <a:ext cx="553223" cy="51669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0" name="直接箭头连接符 58"/>
            <p:cNvCxnSpPr>
              <a:cxnSpLocks/>
              <a:stCxn id="34866" idx="5"/>
              <a:endCxn id="34870" idx="1"/>
            </p:cNvCxnSpPr>
            <p:nvPr/>
          </p:nvCxnSpPr>
          <p:spPr bwMode="auto">
            <a:xfrm>
              <a:off x="6759589" y="1575552"/>
              <a:ext cx="546023" cy="39522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1" name="直接箭头连接符 7"/>
            <p:cNvCxnSpPr>
              <a:cxnSpLocks noChangeShapeType="1"/>
              <a:stCxn id="34872" idx="6"/>
              <a:endCxn id="34860" idx="2"/>
            </p:cNvCxnSpPr>
            <p:nvPr/>
          </p:nvCxnSpPr>
          <p:spPr bwMode="auto">
            <a:xfrm>
              <a:off x="3725373" y="1370766"/>
              <a:ext cx="700198" cy="245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2" name="直接箭头连接符 57"/>
            <p:cNvCxnSpPr>
              <a:cxnSpLocks/>
              <a:endCxn id="34866" idx="3"/>
            </p:cNvCxnSpPr>
            <p:nvPr/>
          </p:nvCxnSpPr>
          <p:spPr bwMode="auto">
            <a:xfrm flipV="1">
              <a:off x="5766897" y="1575552"/>
              <a:ext cx="737877" cy="357985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3" name="直接箭头连接符 66"/>
            <p:cNvCxnSpPr>
              <a:cxnSpLocks/>
              <a:stCxn id="34860" idx="5"/>
              <a:endCxn id="34864" idx="1"/>
            </p:cNvCxnSpPr>
            <p:nvPr/>
          </p:nvCxnSpPr>
          <p:spPr bwMode="auto">
            <a:xfrm>
              <a:off x="4733160" y="1500632"/>
              <a:ext cx="749961" cy="42092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4" name="直接箭头连接符 65"/>
            <p:cNvCxnSpPr>
              <a:cxnSpLocks noChangeShapeType="1"/>
              <a:stCxn id="34864" idx="3"/>
              <a:endCxn id="34862" idx="6"/>
            </p:cNvCxnSpPr>
            <p:nvPr/>
          </p:nvCxnSpPr>
          <p:spPr bwMode="auto">
            <a:xfrm flipH="1">
              <a:off x="4815064" y="2176376"/>
              <a:ext cx="668057" cy="52264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5" name="直接箭头连接符 77"/>
            <p:cNvCxnSpPr>
              <a:cxnSpLocks/>
              <a:stCxn id="34858" idx="2"/>
              <a:endCxn id="34874" idx="5"/>
            </p:cNvCxnSpPr>
            <p:nvPr/>
          </p:nvCxnSpPr>
          <p:spPr bwMode="auto">
            <a:xfrm flipH="1" flipV="1">
              <a:off x="2864561" y="2269680"/>
              <a:ext cx="550456" cy="41320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6" name="直接箭头连接符 80"/>
            <p:cNvCxnSpPr>
              <a:cxnSpLocks/>
              <a:stCxn id="34863" idx="1"/>
              <a:endCxn id="34859" idx="3"/>
            </p:cNvCxnSpPr>
            <p:nvPr/>
          </p:nvCxnSpPr>
          <p:spPr bwMode="auto">
            <a:xfrm flipH="1" flipV="1">
              <a:off x="3775379" y="2686063"/>
              <a:ext cx="685671" cy="502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7" name="直接箭头连接符 85"/>
            <p:cNvCxnSpPr>
              <a:cxnSpLocks/>
              <a:stCxn id="34870" idx="3"/>
              <a:endCxn id="34869" idx="3"/>
            </p:cNvCxnSpPr>
            <p:nvPr/>
          </p:nvCxnSpPr>
          <p:spPr bwMode="auto">
            <a:xfrm flipH="1">
              <a:off x="6749425" y="2225596"/>
              <a:ext cx="556187" cy="44309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848" name="直接箭头连接符 90"/>
            <p:cNvCxnSpPr>
              <a:cxnSpLocks/>
              <a:stCxn id="34869" idx="1"/>
              <a:endCxn id="34864" idx="5"/>
            </p:cNvCxnSpPr>
            <p:nvPr/>
          </p:nvCxnSpPr>
          <p:spPr bwMode="auto">
            <a:xfrm flipH="1" flipV="1">
              <a:off x="5737936" y="2176376"/>
              <a:ext cx="673352" cy="49231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849" name="Rectangle 26"/>
            <p:cNvSpPr>
              <a:spLocks noChangeArrowheads="1"/>
            </p:cNvSpPr>
            <p:nvPr/>
          </p:nvSpPr>
          <p:spPr bwMode="auto">
            <a:xfrm>
              <a:off x="5530640" y="142127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1/3</a:t>
              </a:r>
            </a:p>
          </p:txBody>
        </p:sp>
        <p:sp>
          <p:nvSpPr>
            <p:cNvPr id="34850" name="Rectangle 26"/>
            <p:cNvSpPr>
              <a:spLocks noChangeArrowheads="1"/>
            </p:cNvSpPr>
            <p:nvPr/>
          </p:nvSpPr>
          <p:spPr bwMode="auto">
            <a:xfrm>
              <a:off x="3937171" y="264736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1" name="Rectangle 26"/>
            <p:cNvSpPr>
              <a:spLocks noChangeArrowheads="1"/>
            </p:cNvSpPr>
            <p:nvPr/>
          </p:nvSpPr>
          <p:spPr bwMode="auto">
            <a:xfrm>
              <a:off x="2879700" y="241653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2" name="Rectangle 26"/>
            <p:cNvSpPr>
              <a:spLocks noChangeArrowheads="1"/>
            </p:cNvSpPr>
            <p:nvPr/>
          </p:nvSpPr>
          <p:spPr bwMode="auto">
            <a:xfrm>
              <a:off x="3855523" y="991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3" name="Rectangle 26"/>
            <p:cNvSpPr>
              <a:spLocks noChangeArrowheads="1"/>
            </p:cNvSpPr>
            <p:nvPr/>
          </p:nvSpPr>
          <p:spPr bwMode="auto">
            <a:xfrm>
              <a:off x="4918852" y="1308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4" name="Rectangle 26"/>
            <p:cNvSpPr>
              <a:spLocks noChangeArrowheads="1"/>
            </p:cNvSpPr>
            <p:nvPr/>
          </p:nvSpPr>
          <p:spPr bwMode="auto">
            <a:xfrm>
              <a:off x="5755490" y="22696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5" name="Rectangle 26"/>
            <p:cNvSpPr>
              <a:spLocks noChangeArrowheads="1"/>
            </p:cNvSpPr>
            <p:nvPr/>
          </p:nvSpPr>
          <p:spPr bwMode="auto">
            <a:xfrm>
              <a:off x="6914318" y="232550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6" name="Rectangle 26"/>
            <p:cNvSpPr>
              <a:spLocks noChangeArrowheads="1"/>
            </p:cNvSpPr>
            <p:nvPr/>
          </p:nvSpPr>
          <p:spPr bwMode="auto">
            <a:xfrm>
              <a:off x="6749425" y="133017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4857" name="Rectangle 26"/>
            <p:cNvSpPr>
              <a:spLocks noChangeArrowheads="1"/>
            </p:cNvSpPr>
            <p:nvPr/>
          </p:nvSpPr>
          <p:spPr bwMode="auto">
            <a:xfrm>
              <a:off x="4791454" y="201486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2/3</a:t>
              </a:r>
            </a:p>
          </p:txBody>
        </p:sp>
      </p:grpSp>
      <p:sp>
        <p:nvSpPr>
          <p:cNvPr id="110" name="Rectangle 4"/>
          <p:cNvSpPr>
            <a:spLocks noChangeArrowheads="1"/>
          </p:cNvSpPr>
          <p:nvPr/>
        </p:nvSpPr>
        <p:spPr bwMode="auto">
          <a:xfrm>
            <a:off x="9604375" y="3565557"/>
            <a:ext cx="1030525" cy="48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d(1)=2</a:t>
            </a:r>
            <a:endParaRPr lang="zh-CN" altLang="en-US" sz="2400" dirty="0"/>
          </a:p>
        </p:txBody>
      </p:sp>
      <p:sp>
        <p:nvSpPr>
          <p:cNvPr id="111" name="Rectangle 4"/>
          <p:cNvSpPr>
            <a:spLocks noChangeArrowheads="1"/>
          </p:cNvSpPr>
          <p:nvPr/>
        </p:nvSpPr>
        <p:spPr bwMode="auto">
          <a:xfrm>
            <a:off x="2749180" y="4518043"/>
            <a:ext cx="5883049" cy="589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/>
              <a:t>状态</a:t>
            </a:r>
            <a:r>
              <a:rPr lang="en-US" altLang="zh-CN" sz="2400" dirty="0"/>
              <a:t>2</a:t>
            </a:r>
            <a:r>
              <a:rPr lang="zh-CN" altLang="en-US" sz="2400" dirty="0"/>
              <a:t>：</a:t>
            </a:r>
            <a:r>
              <a:rPr lang="en-US" altLang="zh-CN" sz="2400" dirty="0"/>
              <a:t>D={4k+6l|k=1,2,…,l=0,1,2…}</a:t>
            </a:r>
            <a:endParaRPr lang="zh-CN" altLang="en-US" sz="2400" dirty="0"/>
          </a:p>
        </p:txBody>
      </p:sp>
      <p:sp>
        <p:nvSpPr>
          <p:cNvPr id="113" name="Rectangle 4"/>
          <p:cNvSpPr>
            <a:spLocks noChangeArrowheads="1"/>
          </p:cNvSpPr>
          <p:nvPr/>
        </p:nvSpPr>
        <p:spPr bwMode="auto">
          <a:xfrm>
            <a:off x="9449170" y="4559472"/>
            <a:ext cx="1032114" cy="481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/>
              <a:t>d(2)=2</a:t>
            </a:r>
            <a:endParaRPr lang="zh-CN" altLang="en-US" sz="2400" dirty="0"/>
          </a:p>
        </p:txBody>
      </p:sp>
      <p:sp>
        <p:nvSpPr>
          <p:cNvPr id="2" name="箭头: 右 91">
            <a:extLst>
              <a:ext uri="{FF2B5EF4-FFF2-40B4-BE49-F238E27FC236}">
                <a16:creationId xmlns:a16="http://schemas.microsoft.com/office/drawing/2014/main" id="{C4FC6B13-3D3B-8883-C9D7-56BAB408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5134" y="3787775"/>
            <a:ext cx="360363" cy="234950"/>
          </a:xfrm>
          <a:prstGeom prst="rightArrow">
            <a:avLst>
              <a:gd name="adj1" fmla="val 50000"/>
              <a:gd name="adj2" fmla="val 50047"/>
            </a:avLst>
          </a:pr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" name="箭头: 右 111">
            <a:extLst>
              <a:ext uri="{FF2B5EF4-FFF2-40B4-BE49-F238E27FC236}">
                <a16:creationId xmlns:a16="http://schemas.microsoft.com/office/drawing/2014/main" id="{C8FA300A-3234-D23C-5FD3-BC20A61D5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198" y="4719179"/>
            <a:ext cx="360363" cy="234950"/>
          </a:xfrm>
          <a:prstGeom prst="rightArrow">
            <a:avLst>
              <a:gd name="adj1" fmla="val 50000"/>
              <a:gd name="adj2" fmla="val 50047"/>
            </a:avLst>
          </a:prstGeom>
          <a:noFill/>
          <a:ln w="28575">
            <a:solidFill>
              <a:srgbClr val="000000"/>
            </a:solidFill>
            <a:round/>
            <a:headEnd type="none" w="lg" len="lg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build="p"/>
      <p:bldP spid="110" grpId="0" build="p"/>
      <p:bldP spid="111" grpId="0" build="p"/>
      <p:bldP spid="113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五、状态的周期性</a:t>
            </a:r>
          </a:p>
        </p:txBody>
      </p:sp>
      <p:sp>
        <p:nvSpPr>
          <p:cNvPr id="269317" name="Rectangle 5"/>
          <p:cNvSpPr>
            <a:spLocks noChangeArrowheads="1"/>
          </p:cNvSpPr>
          <p:nvPr/>
        </p:nvSpPr>
        <p:spPr bwMode="auto">
          <a:xfrm>
            <a:off x="841375" y="1219994"/>
            <a:ext cx="9982200" cy="325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结论：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如果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i↔j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，则状态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或者有相同的周期，或者都是非周期的；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如果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是一个常返闭集，则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C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中的每一个状态或者都是非周期的，或者都是同周期的；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如果马氏链是不可约常返链，那么只要有一个是周期为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d(d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＞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1)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的状态，则状态空间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E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都是周期为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</a:rPr>
              <a:t>d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的状态。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69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69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69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69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7" grpId="0" build="p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结论</a:t>
            </a:r>
            <a:r>
              <a:rPr lang="en-US" altLang="zh-CN"/>
              <a:t>1</a:t>
            </a:r>
            <a:r>
              <a:rPr lang="zh-CN" altLang="en-US"/>
              <a:t>的证明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504F8DD5-9F31-4F38-B0EB-3C71D3D69B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4700" y="979714"/>
            <a:ext cx="9592663" cy="171013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如果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i↔j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，则状态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和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j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或者有相同的周期，或者都是非周期的；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证明：因为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i↔j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，所以有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i→j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和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j→i</a:t>
            </a:r>
            <a:endParaRPr lang="en-US" altLang="zh-CN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indent="0">
              <a:buNone/>
              <a:defRPr/>
            </a:pP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          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从而存在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m≥1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n ≥1</a:t>
            </a:r>
            <a:r>
              <a:rPr lang="zh-CN" altLang="en-US" dirty="0">
                <a:solidFill>
                  <a:srgbClr val="0000FF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s.t.</a:t>
            </a:r>
            <a:r>
              <a:rPr lang="zh-CN" altLang="en-US" dirty="0"/>
              <a:t> 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ij</a:t>
            </a:r>
            <a:r>
              <a:rPr lang="en-US" altLang="zh-CN" dirty="0">
                <a:sym typeface="Symbol" panose="05050102010706020507" pitchFamily="18" charset="2"/>
              </a:rPr>
              <a:t>(m)</a:t>
            </a:r>
            <a:r>
              <a:rPr lang="zh-CN" altLang="en-US" dirty="0">
                <a:sym typeface="Symbol" panose="05050102010706020507" pitchFamily="18" charset="2"/>
              </a:rPr>
              <a:t>＞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sym typeface="Symbol" panose="05050102010706020507" pitchFamily="18" charset="2"/>
              </a:rPr>
              <a:t>ji</a:t>
            </a:r>
            <a:r>
              <a:rPr lang="en-US" altLang="zh-CN" dirty="0">
                <a:sym typeface="Symbol" panose="05050102010706020507" pitchFamily="18" charset="2"/>
              </a:rPr>
              <a:t>(n)</a:t>
            </a:r>
            <a:r>
              <a:rPr lang="zh-CN" altLang="en-US" dirty="0">
                <a:sym typeface="Symbol" panose="05050102010706020507" pitchFamily="18" charset="2"/>
              </a:rPr>
              <a:t>＞</a:t>
            </a:r>
            <a:r>
              <a:rPr lang="en-US" altLang="zh-CN" dirty="0">
                <a:sym typeface="Symbol" panose="05050102010706020507" pitchFamily="18" charset="2"/>
              </a:rPr>
              <a:t>0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 err="1">
                <a:sym typeface="Symbol" panose="05050102010706020507" pitchFamily="18" charset="2"/>
              </a:rPr>
              <a:t>jE</a:t>
            </a:r>
            <a:endParaRPr lang="zh-CN" altLang="en-US" dirty="0">
              <a:solidFill>
                <a:srgbClr val="0000FF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graphicFrame>
        <p:nvGraphicFramePr>
          <p:cNvPr id="36871" name="Object 4"/>
          <p:cNvGraphicFramePr>
            <a:graphicFrameLocks noChangeAspect="1"/>
          </p:cNvGraphicFramePr>
          <p:nvPr/>
        </p:nvGraphicFramePr>
        <p:xfrm>
          <a:off x="1834162" y="2638367"/>
          <a:ext cx="4625827" cy="733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52700" imgH="355600" progId="Equation.DSMT4">
                  <p:embed/>
                </p:oleObj>
              </mc:Choice>
              <mc:Fallback>
                <p:oleObj name="Equation" r:id="rId3" imgW="2552700" imgH="355600" progId="Equation.DSMT4">
                  <p:embed/>
                  <p:pic>
                    <p:nvPicPr>
                      <p:cNvPr id="368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162" y="2638367"/>
                        <a:ext cx="4625827" cy="7339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矩形 1"/>
          <p:cNvSpPr>
            <a:spLocks noChangeArrowheads="1"/>
          </p:cNvSpPr>
          <p:nvPr/>
        </p:nvSpPr>
        <p:spPr bwMode="auto">
          <a:xfrm>
            <a:off x="1728940" y="3432994"/>
            <a:ext cx="5540069" cy="46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若存在</a:t>
            </a:r>
            <a:r>
              <a:rPr lang="en-US" altLang="zh-CN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s≥1</a:t>
            </a:r>
            <a:r>
              <a:rPr lang="zh-CN" altLang="en-US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s.t.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latin typeface="+mn-ea"/>
                <a:ea typeface="+mn-ea"/>
                <a:sym typeface="Symbol" panose="05050102010706020507" pitchFamily="18" charset="2"/>
              </a:rPr>
              <a:t>ii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(s)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iE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，则有</a:t>
            </a:r>
            <a:endParaRPr lang="zh-CN" altLang="en-US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36873" name="Object 4"/>
          <p:cNvGraphicFramePr>
            <a:graphicFrameLocks noChangeAspect="1"/>
          </p:cNvGraphicFramePr>
          <p:nvPr/>
        </p:nvGraphicFramePr>
        <p:xfrm>
          <a:off x="1831974" y="4006190"/>
          <a:ext cx="5716517" cy="809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14700" imgH="355600" progId="Equation.DSMT4">
                  <p:embed/>
                </p:oleObj>
              </mc:Choice>
              <mc:Fallback>
                <p:oleObj name="Equation" r:id="rId5" imgW="3314700" imgH="355600" progId="Equation.DSMT4">
                  <p:embed/>
                  <p:pic>
                    <p:nvPicPr>
                      <p:cNvPr id="3687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4" y="4006190"/>
                        <a:ext cx="5716517" cy="8098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4" name="矩形 10"/>
          <p:cNvSpPr>
            <a:spLocks noChangeArrowheads="1"/>
          </p:cNvSpPr>
          <p:nvPr/>
        </p:nvSpPr>
        <p:spPr bwMode="auto">
          <a:xfrm>
            <a:off x="993775" y="4801394"/>
            <a:ext cx="6554717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即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且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m+n+s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, 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从而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d(j)|s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。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5" name="矩形 11"/>
          <p:cNvSpPr>
            <a:spLocks noChangeArrowheads="1"/>
          </p:cNvSpPr>
          <p:nvPr/>
        </p:nvSpPr>
        <p:spPr bwMode="auto">
          <a:xfrm>
            <a:off x="965193" y="5344445"/>
            <a:ext cx="3485369" cy="462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于是有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d(j) ≤ d(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6" name="矩形 12"/>
          <p:cNvSpPr>
            <a:spLocks noChangeArrowheads="1"/>
          </p:cNvSpPr>
          <p:nvPr/>
        </p:nvSpPr>
        <p:spPr bwMode="auto">
          <a:xfrm>
            <a:off x="966781" y="5863678"/>
            <a:ext cx="3483781" cy="460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同理有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</a:t>
            </a:r>
            <a:r>
              <a:rPr lang="en-US" altLang="zh-CN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i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) ≤ d(j) </a:t>
            </a:r>
            <a:endParaRPr lang="zh-CN" altLang="en-US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877" name="矩形 13"/>
          <p:cNvSpPr>
            <a:spLocks noChangeArrowheads="1"/>
          </p:cNvSpPr>
          <p:nvPr/>
        </p:nvSpPr>
        <p:spPr bwMode="auto">
          <a:xfrm>
            <a:off x="965193" y="6416255"/>
            <a:ext cx="3485369" cy="462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即得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d(i)= d(j) </a:t>
            </a:r>
            <a:endParaRPr lang="zh-CN" altLang="en-US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88">
            <a:extLst>
              <a:ext uri="{FF2B5EF4-FFF2-40B4-BE49-F238E27FC236}">
                <a16:creationId xmlns:a16="http://schemas.microsoft.com/office/drawing/2014/main" id="{51DEE9DC-FED4-F30C-96B4-FBD89F1FD0CD}"/>
              </a:ext>
            </a:extLst>
          </p:cNvPr>
          <p:cNvGrpSpPr>
            <a:grpSpLocks/>
          </p:cNvGrpSpPr>
          <p:nvPr/>
        </p:nvGrpSpPr>
        <p:grpSpPr bwMode="auto">
          <a:xfrm>
            <a:off x="6937375" y="4907733"/>
            <a:ext cx="5058946" cy="2118215"/>
            <a:chOff x="2556972" y="991280"/>
            <a:chExt cx="5056229" cy="2117750"/>
          </a:xfrm>
        </p:grpSpPr>
        <p:grpSp>
          <p:nvGrpSpPr>
            <p:cNvPr id="3" name="Group 50">
              <a:extLst>
                <a:ext uri="{FF2B5EF4-FFF2-40B4-BE49-F238E27FC236}">
                  <a16:creationId xmlns:a16="http://schemas.microsoft.com/office/drawing/2014/main" id="{D20F8B02-B0D9-55D5-20DF-C6F7B156D3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56972" y="1914472"/>
              <a:ext cx="360363" cy="461963"/>
              <a:chOff x="1708" y="3234"/>
              <a:chExt cx="227" cy="291"/>
            </a:xfrm>
          </p:grpSpPr>
          <p:sp>
            <p:nvSpPr>
              <p:cNvPr id="35857" name="Oval 7">
                <a:extLst>
                  <a:ext uri="{FF2B5EF4-FFF2-40B4-BE49-F238E27FC236}">
                    <a16:creationId xmlns:a16="http://schemas.microsoft.com/office/drawing/2014/main" id="{6B30AB34-E182-69E8-02F6-D348DA4EED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8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8" name="Rectangle 8">
                <a:extLst>
                  <a:ext uri="{FF2B5EF4-FFF2-40B4-BE49-F238E27FC236}">
                    <a16:creationId xmlns:a16="http://schemas.microsoft.com/office/drawing/2014/main" id="{815EAF75-22A7-9C6D-4589-062A828AA9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3234"/>
                <a:ext cx="17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i</a:t>
                </a:r>
              </a:p>
            </p:txBody>
          </p:sp>
        </p:grpSp>
        <p:grpSp>
          <p:nvGrpSpPr>
            <p:cNvPr id="4" name="Group 51">
              <a:extLst>
                <a:ext uri="{FF2B5EF4-FFF2-40B4-BE49-F238E27FC236}">
                  <a16:creationId xmlns:a16="http://schemas.microsoft.com/office/drawing/2014/main" id="{CA92289F-3E22-E297-61BD-8C3FB303D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5010" y="1142965"/>
              <a:ext cx="360363" cy="461963"/>
              <a:chOff x="2416" y="3234"/>
              <a:chExt cx="227" cy="291"/>
            </a:xfrm>
          </p:grpSpPr>
          <p:sp>
            <p:nvSpPr>
              <p:cNvPr id="35855" name="Oval 9">
                <a:extLst>
                  <a:ext uri="{FF2B5EF4-FFF2-40B4-BE49-F238E27FC236}">
                    <a16:creationId xmlns:a16="http://schemas.microsoft.com/office/drawing/2014/main" id="{8448B99E-8FED-73B4-AD68-15321EBDC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6" name="Rectangle 10">
                <a:extLst>
                  <a:ext uri="{FF2B5EF4-FFF2-40B4-BE49-F238E27FC236}">
                    <a16:creationId xmlns:a16="http://schemas.microsoft.com/office/drawing/2014/main" id="{80B02B0A-A50F-A331-E5F6-206C5D4DA9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8</a:t>
                </a:r>
              </a:p>
            </p:txBody>
          </p:sp>
        </p:grpSp>
        <p:grpSp>
          <p:nvGrpSpPr>
            <p:cNvPr id="5" name="Group 52">
              <a:extLst>
                <a:ext uri="{FF2B5EF4-FFF2-40B4-BE49-F238E27FC236}">
                  <a16:creationId xmlns:a16="http://schemas.microsoft.com/office/drawing/2014/main" id="{E4D123C9-3892-1D6F-C90E-E660B99C2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2838" y="1870380"/>
              <a:ext cx="360363" cy="461963"/>
              <a:chOff x="3124" y="3234"/>
              <a:chExt cx="227" cy="291"/>
            </a:xfrm>
          </p:grpSpPr>
          <p:sp>
            <p:nvSpPr>
              <p:cNvPr id="35853" name="Oval 11">
                <a:extLst>
                  <a:ext uri="{FF2B5EF4-FFF2-40B4-BE49-F238E27FC236}">
                    <a16:creationId xmlns:a16="http://schemas.microsoft.com/office/drawing/2014/main" id="{7FEA7732-57DE-30AA-B24C-2834C4A6E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4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4" name="Rectangle 12">
                <a:extLst>
                  <a:ext uri="{FF2B5EF4-FFF2-40B4-BE49-F238E27FC236}">
                    <a16:creationId xmlns:a16="http://schemas.microsoft.com/office/drawing/2014/main" id="{2CE8612D-3226-E234-D440-66B04BC80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8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3</a:t>
                </a:r>
              </a:p>
            </p:txBody>
          </p:sp>
        </p:grpSp>
        <p:grpSp>
          <p:nvGrpSpPr>
            <p:cNvPr id="6" name="Group 53">
              <a:extLst>
                <a:ext uri="{FF2B5EF4-FFF2-40B4-BE49-F238E27FC236}">
                  <a16:creationId xmlns:a16="http://schemas.microsoft.com/office/drawing/2014/main" id="{BE40528C-EA79-3A86-6F26-6601B4C63B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9063" y="2437705"/>
              <a:ext cx="360362" cy="461963"/>
              <a:chOff x="3833" y="3234"/>
              <a:chExt cx="227" cy="291"/>
            </a:xfrm>
          </p:grpSpPr>
          <p:sp>
            <p:nvSpPr>
              <p:cNvPr id="35851" name="Oval 13">
                <a:extLst>
                  <a:ext uri="{FF2B5EF4-FFF2-40B4-BE49-F238E27FC236}">
                    <a16:creationId xmlns:a16="http://schemas.microsoft.com/office/drawing/2014/main" id="{DFB10E21-994B-961C-F364-C246D7E34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3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2" name="Rectangle 14">
                <a:extLst>
                  <a:ext uri="{FF2B5EF4-FFF2-40B4-BE49-F238E27FC236}">
                    <a16:creationId xmlns:a16="http://schemas.microsoft.com/office/drawing/2014/main" id="{CCD8062C-D7C0-05A2-D164-5EB357808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7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4</a:t>
                </a:r>
              </a:p>
            </p:txBody>
          </p:sp>
        </p:grpSp>
        <p:sp>
          <p:nvSpPr>
            <p:cNvPr id="7" name="Rectangle 26">
              <a:extLst>
                <a:ext uri="{FF2B5EF4-FFF2-40B4-BE49-F238E27FC236}">
                  <a16:creationId xmlns:a16="http://schemas.microsoft.com/office/drawing/2014/main" id="{3A639F4A-3C34-019E-B296-9F69D0F58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1956" y="1329859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grpSp>
          <p:nvGrpSpPr>
            <p:cNvPr id="8" name="Group 51">
              <a:extLst>
                <a:ext uri="{FF2B5EF4-FFF2-40B4-BE49-F238E27FC236}">
                  <a16:creationId xmlns:a16="http://schemas.microsoft.com/office/drawing/2014/main" id="{E8BFAF1D-C2B1-F774-7D97-02252241FA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52000" y="1220344"/>
              <a:ext cx="360363" cy="461963"/>
              <a:chOff x="2416" y="3234"/>
              <a:chExt cx="227" cy="291"/>
            </a:xfrm>
          </p:grpSpPr>
          <p:sp>
            <p:nvSpPr>
              <p:cNvPr id="35849" name="Oval 9">
                <a:extLst>
                  <a:ext uri="{FF2B5EF4-FFF2-40B4-BE49-F238E27FC236}">
                    <a16:creationId xmlns:a16="http://schemas.microsoft.com/office/drawing/2014/main" id="{031C3FF7-77D0-B4A5-23ED-145FF38F6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50" name="Rectangle 10">
                <a:extLst>
                  <a:ext uri="{FF2B5EF4-FFF2-40B4-BE49-F238E27FC236}">
                    <a16:creationId xmlns:a16="http://schemas.microsoft.com/office/drawing/2014/main" id="{D35D62EA-43C1-E65A-EB09-B1E2E24639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7" y="3234"/>
                <a:ext cx="181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j</a:t>
                </a:r>
              </a:p>
            </p:txBody>
          </p:sp>
        </p:grpSp>
        <p:grpSp>
          <p:nvGrpSpPr>
            <p:cNvPr id="9" name="Group 51">
              <a:extLst>
                <a:ext uri="{FF2B5EF4-FFF2-40B4-BE49-F238E27FC236}">
                  <a16:creationId xmlns:a16="http://schemas.microsoft.com/office/drawing/2014/main" id="{4983B543-E7CD-C17D-D5BD-B035E7A0E2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0347" y="1821168"/>
              <a:ext cx="360363" cy="461963"/>
              <a:chOff x="2416" y="3234"/>
              <a:chExt cx="227" cy="291"/>
            </a:xfrm>
          </p:grpSpPr>
          <p:sp>
            <p:nvSpPr>
              <p:cNvPr id="35847" name="Oval 9">
                <a:extLst>
                  <a:ext uri="{FF2B5EF4-FFF2-40B4-BE49-F238E27FC236}">
                    <a16:creationId xmlns:a16="http://schemas.microsoft.com/office/drawing/2014/main" id="{C0E5743A-D2AE-09F7-9BFB-64C83BF7EA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solidFill>
                <a:srgbClr val="FFC000"/>
              </a:solidFill>
              <a:ln w="9525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8" name="Rectangle 10">
                <a:extLst>
                  <a:ext uri="{FF2B5EF4-FFF2-40B4-BE49-F238E27FC236}">
                    <a16:creationId xmlns:a16="http://schemas.microsoft.com/office/drawing/2014/main" id="{7296A9BE-4407-F342-02E5-AC604B1C1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1" y="3234"/>
                <a:ext cx="21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s</a:t>
                </a:r>
              </a:p>
            </p:txBody>
          </p:sp>
        </p:grpSp>
        <p:grpSp>
          <p:nvGrpSpPr>
            <p:cNvPr id="10" name="Group 51">
              <a:extLst>
                <a:ext uri="{FF2B5EF4-FFF2-40B4-BE49-F238E27FC236}">
                  <a16:creationId xmlns:a16="http://schemas.microsoft.com/office/drawing/2014/main" id="{E85C3F95-70E1-ADDC-BF32-43F7FC524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54701" y="2460107"/>
              <a:ext cx="360363" cy="461963"/>
              <a:chOff x="459" y="2892"/>
              <a:chExt cx="227" cy="291"/>
            </a:xfrm>
          </p:grpSpPr>
          <p:sp>
            <p:nvSpPr>
              <p:cNvPr id="35845" name="Oval 9">
                <a:extLst>
                  <a:ext uri="{FF2B5EF4-FFF2-40B4-BE49-F238E27FC236}">
                    <a16:creationId xmlns:a16="http://schemas.microsoft.com/office/drawing/2014/main" id="{FA6DCD90-8A23-64A8-FB1E-DDAF8C06B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" y="2929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6" name="Rectangle 10">
                <a:extLst>
                  <a:ext uri="{FF2B5EF4-FFF2-40B4-BE49-F238E27FC236}">
                    <a16:creationId xmlns:a16="http://schemas.microsoft.com/office/drawing/2014/main" id="{76430C3D-18EC-209D-AA61-E009A7FC4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3" y="2892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5</a:t>
                </a:r>
              </a:p>
            </p:txBody>
          </p:sp>
        </p:grpSp>
        <p:grpSp>
          <p:nvGrpSpPr>
            <p:cNvPr id="11" name="Group 51">
              <a:extLst>
                <a:ext uri="{FF2B5EF4-FFF2-40B4-BE49-F238E27FC236}">
                  <a16:creationId xmlns:a16="http://schemas.microsoft.com/office/drawing/2014/main" id="{5296773F-2947-0AD2-ACC0-FE4B42EAB4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571" y="1145424"/>
              <a:ext cx="360363" cy="461963"/>
              <a:chOff x="2416" y="3234"/>
              <a:chExt cx="227" cy="291"/>
            </a:xfrm>
          </p:grpSpPr>
          <p:sp>
            <p:nvSpPr>
              <p:cNvPr id="35842" name="Oval 9">
                <a:extLst>
                  <a:ext uri="{FF2B5EF4-FFF2-40B4-BE49-F238E27FC236}">
                    <a16:creationId xmlns:a16="http://schemas.microsoft.com/office/drawing/2014/main" id="{418509B4-3E1A-0C9A-75ED-67EEE5E99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4" name="Rectangle 10">
                <a:extLst>
                  <a:ext uri="{FF2B5EF4-FFF2-40B4-BE49-F238E27FC236}">
                    <a16:creationId xmlns:a16="http://schemas.microsoft.com/office/drawing/2014/main" id="{515D5906-E134-41B6-5406-95E5126C6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/>
                  <a:t>9</a:t>
                </a:r>
              </a:p>
            </p:txBody>
          </p:sp>
        </p:grpSp>
        <p:grpSp>
          <p:nvGrpSpPr>
            <p:cNvPr id="12" name="Group 51">
              <a:extLst>
                <a:ext uri="{FF2B5EF4-FFF2-40B4-BE49-F238E27FC236}">
                  <a16:creationId xmlns:a16="http://schemas.microsoft.com/office/drawing/2014/main" id="{45AB13EC-0E59-3055-F656-930A57305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5017" y="2455081"/>
              <a:ext cx="360363" cy="461963"/>
              <a:chOff x="2416" y="3234"/>
              <a:chExt cx="227" cy="291"/>
            </a:xfrm>
          </p:grpSpPr>
          <p:sp>
            <p:nvSpPr>
              <p:cNvPr id="35840" name="Oval 9">
                <a:extLst>
                  <a:ext uri="{FF2B5EF4-FFF2-40B4-BE49-F238E27FC236}">
                    <a16:creationId xmlns:a16="http://schemas.microsoft.com/office/drawing/2014/main" id="{3471E46B-EC29-E71C-C910-08C5CE019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6" y="3264"/>
                <a:ext cx="227" cy="227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buClrTx/>
                  <a:buFontTx/>
                  <a:buNone/>
                </a:pPr>
                <a:endParaRPr lang="zh-CN" altLang="en-US" sz="2400" b="0">
                  <a:ea typeface="宋体" panose="02010600030101010101" pitchFamily="2" charset="-122"/>
                </a:endParaRPr>
              </a:p>
            </p:txBody>
          </p:sp>
          <p:sp>
            <p:nvSpPr>
              <p:cNvPr id="35841" name="Rectangle 10">
                <a:extLst>
                  <a:ext uri="{FF2B5EF4-FFF2-40B4-BE49-F238E27FC236}">
                    <a16:creationId xmlns:a16="http://schemas.microsoft.com/office/drawing/2014/main" id="{73510968-6EA9-F981-15CC-83B06D7C7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3234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lnSpc>
                    <a:spcPct val="120000"/>
                  </a:lnSpc>
                  <a:buClr>
                    <a:srgbClr val="00FF00"/>
                  </a:buClr>
                  <a:buFont typeface="Wingdings" panose="05000000000000000000" pitchFamily="2" charset="2"/>
                  <a:buAutoNum type="arabicPeriod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1pPr>
                <a:lvl2pPr marL="742950" indent="-285750">
                  <a:lnSpc>
                    <a:spcPct val="120000"/>
                  </a:lnSpc>
                  <a:buClr>
                    <a:srgbClr val="00FF00"/>
                  </a:buClr>
                  <a:buAutoNum type="arabicParenR"/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altLang="zh-CN" sz="2400" dirty="0"/>
                  <a:t>6</a:t>
                </a:r>
              </a:p>
            </p:txBody>
          </p:sp>
        </p:grpSp>
        <p:cxnSp>
          <p:nvCxnSpPr>
            <p:cNvPr id="13" name="直接箭头连接符 2">
              <a:extLst>
                <a:ext uri="{FF2B5EF4-FFF2-40B4-BE49-F238E27FC236}">
                  <a16:creationId xmlns:a16="http://schemas.microsoft.com/office/drawing/2014/main" id="{5208B58F-5325-A0F5-7DAD-7B22EC73C082}"/>
                </a:ext>
              </a:extLst>
            </p:cNvPr>
            <p:cNvCxnSpPr>
              <a:cxnSpLocks noChangeShapeType="1"/>
              <a:stCxn id="35857" idx="7"/>
              <a:endCxn id="35855" idx="3"/>
            </p:cNvCxnSpPr>
            <p:nvPr/>
          </p:nvCxnSpPr>
          <p:spPr bwMode="auto">
            <a:xfrm flipV="1">
              <a:off x="2864561" y="1498173"/>
              <a:ext cx="553223" cy="51669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箭头连接符 58">
              <a:extLst>
                <a:ext uri="{FF2B5EF4-FFF2-40B4-BE49-F238E27FC236}">
                  <a16:creationId xmlns:a16="http://schemas.microsoft.com/office/drawing/2014/main" id="{DBFA579C-DA58-4116-3D4B-B376051DC180}"/>
                </a:ext>
              </a:extLst>
            </p:cNvPr>
            <p:cNvCxnSpPr>
              <a:cxnSpLocks/>
              <a:stCxn id="35849" idx="5"/>
              <a:endCxn id="35853" idx="1"/>
            </p:cNvCxnSpPr>
            <p:nvPr/>
          </p:nvCxnSpPr>
          <p:spPr bwMode="auto">
            <a:xfrm>
              <a:off x="6759589" y="1575552"/>
              <a:ext cx="546023" cy="39522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箭头连接符 7">
              <a:extLst>
                <a:ext uri="{FF2B5EF4-FFF2-40B4-BE49-F238E27FC236}">
                  <a16:creationId xmlns:a16="http://schemas.microsoft.com/office/drawing/2014/main" id="{D41D1AA9-963F-EB46-9FD8-9FDB621E5E8C}"/>
                </a:ext>
              </a:extLst>
            </p:cNvPr>
            <p:cNvCxnSpPr>
              <a:cxnSpLocks noChangeShapeType="1"/>
              <a:stCxn id="35855" idx="6"/>
              <a:endCxn id="35842" idx="2"/>
            </p:cNvCxnSpPr>
            <p:nvPr/>
          </p:nvCxnSpPr>
          <p:spPr bwMode="auto">
            <a:xfrm>
              <a:off x="3725373" y="1370766"/>
              <a:ext cx="700198" cy="245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箭头连接符 57">
              <a:extLst>
                <a:ext uri="{FF2B5EF4-FFF2-40B4-BE49-F238E27FC236}">
                  <a16:creationId xmlns:a16="http://schemas.microsoft.com/office/drawing/2014/main" id="{01884137-B48D-8F5F-A8D4-AA80652451CD}"/>
                </a:ext>
              </a:extLst>
            </p:cNvPr>
            <p:cNvCxnSpPr>
              <a:cxnSpLocks/>
              <a:endCxn id="35849" idx="3"/>
            </p:cNvCxnSpPr>
            <p:nvPr/>
          </p:nvCxnSpPr>
          <p:spPr bwMode="auto">
            <a:xfrm flipV="1">
              <a:off x="5766897" y="1575552"/>
              <a:ext cx="737877" cy="357985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" name="直接箭头连接符 66">
              <a:extLst>
                <a:ext uri="{FF2B5EF4-FFF2-40B4-BE49-F238E27FC236}">
                  <a16:creationId xmlns:a16="http://schemas.microsoft.com/office/drawing/2014/main" id="{2E0E54B3-7BDA-4281-AEF5-CEF7740C2435}"/>
                </a:ext>
              </a:extLst>
            </p:cNvPr>
            <p:cNvCxnSpPr>
              <a:cxnSpLocks/>
              <a:stCxn id="35842" idx="5"/>
              <a:endCxn id="35847" idx="1"/>
            </p:cNvCxnSpPr>
            <p:nvPr/>
          </p:nvCxnSpPr>
          <p:spPr bwMode="auto">
            <a:xfrm>
              <a:off x="4733160" y="1500632"/>
              <a:ext cx="749961" cy="420929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" name="直接箭头连接符 65">
              <a:extLst>
                <a:ext uri="{FF2B5EF4-FFF2-40B4-BE49-F238E27FC236}">
                  <a16:creationId xmlns:a16="http://schemas.microsoft.com/office/drawing/2014/main" id="{5488078A-7E51-7B72-0A25-28E6A9399DB3}"/>
                </a:ext>
              </a:extLst>
            </p:cNvPr>
            <p:cNvCxnSpPr>
              <a:cxnSpLocks noChangeShapeType="1"/>
              <a:stCxn id="35847" idx="3"/>
              <a:endCxn id="35845" idx="6"/>
            </p:cNvCxnSpPr>
            <p:nvPr/>
          </p:nvCxnSpPr>
          <p:spPr bwMode="auto">
            <a:xfrm flipH="1">
              <a:off x="4815064" y="2176376"/>
              <a:ext cx="668057" cy="52264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" name="直接箭头连接符 77">
              <a:extLst>
                <a:ext uri="{FF2B5EF4-FFF2-40B4-BE49-F238E27FC236}">
                  <a16:creationId xmlns:a16="http://schemas.microsoft.com/office/drawing/2014/main" id="{5A208643-434D-A1E7-1C5F-C8789DA8DE4E}"/>
                </a:ext>
              </a:extLst>
            </p:cNvPr>
            <p:cNvCxnSpPr>
              <a:cxnSpLocks/>
              <a:stCxn id="35840" idx="2"/>
              <a:endCxn id="35857" idx="5"/>
            </p:cNvCxnSpPr>
            <p:nvPr/>
          </p:nvCxnSpPr>
          <p:spPr bwMode="auto">
            <a:xfrm flipH="1" flipV="1">
              <a:off x="2864561" y="2269680"/>
              <a:ext cx="550456" cy="413202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直接箭头连接符 80">
              <a:extLst>
                <a:ext uri="{FF2B5EF4-FFF2-40B4-BE49-F238E27FC236}">
                  <a16:creationId xmlns:a16="http://schemas.microsoft.com/office/drawing/2014/main" id="{7EE4A27B-E940-B4C4-6EC8-8F1BAD565FFB}"/>
                </a:ext>
              </a:extLst>
            </p:cNvPr>
            <p:cNvCxnSpPr>
              <a:cxnSpLocks/>
              <a:stCxn id="35846" idx="1"/>
              <a:endCxn id="35841" idx="3"/>
            </p:cNvCxnSpPr>
            <p:nvPr/>
          </p:nvCxnSpPr>
          <p:spPr bwMode="auto">
            <a:xfrm flipH="1" flipV="1">
              <a:off x="3775379" y="2686063"/>
              <a:ext cx="685671" cy="5026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直接箭头连接符 85">
              <a:extLst>
                <a:ext uri="{FF2B5EF4-FFF2-40B4-BE49-F238E27FC236}">
                  <a16:creationId xmlns:a16="http://schemas.microsoft.com/office/drawing/2014/main" id="{302623BE-43A8-D505-C1AC-BCC28E47BF1F}"/>
                </a:ext>
              </a:extLst>
            </p:cNvPr>
            <p:cNvCxnSpPr>
              <a:cxnSpLocks/>
              <a:stCxn id="35853" idx="3"/>
              <a:endCxn id="35852" idx="3"/>
            </p:cNvCxnSpPr>
            <p:nvPr/>
          </p:nvCxnSpPr>
          <p:spPr bwMode="auto">
            <a:xfrm flipH="1">
              <a:off x="6749425" y="2225596"/>
              <a:ext cx="556187" cy="44309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箭头连接符 90">
              <a:extLst>
                <a:ext uri="{FF2B5EF4-FFF2-40B4-BE49-F238E27FC236}">
                  <a16:creationId xmlns:a16="http://schemas.microsoft.com/office/drawing/2014/main" id="{A7CC2163-786C-B0B5-1B7E-FDDB9EC39B6B}"/>
                </a:ext>
              </a:extLst>
            </p:cNvPr>
            <p:cNvCxnSpPr>
              <a:cxnSpLocks/>
              <a:stCxn id="35852" idx="1"/>
              <a:endCxn id="35847" idx="5"/>
            </p:cNvCxnSpPr>
            <p:nvPr/>
          </p:nvCxnSpPr>
          <p:spPr bwMode="auto">
            <a:xfrm flipH="1" flipV="1">
              <a:off x="5737936" y="2176376"/>
              <a:ext cx="673352" cy="492311"/>
            </a:xfrm>
            <a:prstGeom prst="straightConnector1">
              <a:avLst/>
            </a:prstGeom>
            <a:noFill/>
            <a:ln w="28575" algn="ctr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Rectangle 26">
              <a:extLst>
                <a:ext uri="{FF2B5EF4-FFF2-40B4-BE49-F238E27FC236}">
                  <a16:creationId xmlns:a16="http://schemas.microsoft.com/office/drawing/2014/main" id="{05A8EB43-131B-E638-D1F2-DC5343211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0640" y="142127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1/3</a:t>
              </a:r>
            </a:p>
          </p:txBody>
        </p:sp>
        <p:sp>
          <p:nvSpPr>
            <p:cNvPr id="24" name="Rectangle 26">
              <a:extLst>
                <a:ext uri="{FF2B5EF4-FFF2-40B4-BE49-F238E27FC236}">
                  <a16:creationId xmlns:a16="http://schemas.microsoft.com/office/drawing/2014/main" id="{EFCDC04D-12F4-E040-00AC-2CE3B7F8C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7171" y="2647365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5" name="Rectangle 26">
              <a:extLst>
                <a:ext uri="{FF2B5EF4-FFF2-40B4-BE49-F238E27FC236}">
                  <a16:creationId xmlns:a16="http://schemas.microsoft.com/office/drawing/2014/main" id="{2F3CE7BE-4127-491B-D130-87D69DDC6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9700" y="241653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6" name="Rectangle 26">
              <a:extLst>
                <a:ext uri="{FF2B5EF4-FFF2-40B4-BE49-F238E27FC236}">
                  <a16:creationId xmlns:a16="http://schemas.microsoft.com/office/drawing/2014/main" id="{F2D0C104-14A5-6715-7362-C8A83212E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5523" y="9912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4130538-44E0-4E09-CBCF-98BBDD11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8852" y="130876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8" name="Rectangle 26">
              <a:extLst>
                <a:ext uri="{FF2B5EF4-FFF2-40B4-BE49-F238E27FC236}">
                  <a16:creationId xmlns:a16="http://schemas.microsoft.com/office/drawing/2014/main" id="{51A12D82-7C4D-2D5D-AA8A-46D80B54B3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5490" y="2269680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29" name="Rectangle 26">
              <a:extLst>
                <a:ext uri="{FF2B5EF4-FFF2-40B4-BE49-F238E27FC236}">
                  <a16:creationId xmlns:a16="http://schemas.microsoft.com/office/drawing/2014/main" id="{E08467FE-4DA9-6FB2-BC5C-8CACDFA68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4318" y="2325504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0" name="Rectangle 26">
              <a:extLst>
                <a:ext uri="{FF2B5EF4-FFF2-40B4-BE49-F238E27FC236}">
                  <a16:creationId xmlns:a16="http://schemas.microsoft.com/office/drawing/2014/main" id="{04522294-A3A6-E6B0-E988-A6DBD123A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9425" y="1330173"/>
              <a:ext cx="33855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  <p:sp>
          <p:nvSpPr>
            <p:cNvPr id="31" name="Rectangle 26">
              <a:extLst>
                <a:ext uri="{FF2B5EF4-FFF2-40B4-BE49-F238E27FC236}">
                  <a16:creationId xmlns:a16="http://schemas.microsoft.com/office/drawing/2014/main" id="{C73B6FF0-98C4-3C75-3CCD-6267FFA78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1454" y="2014865"/>
              <a:ext cx="633371" cy="4585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2/3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862" name="文本框 35861">
                <a:extLst>
                  <a:ext uri="{FF2B5EF4-FFF2-40B4-BE49-F238E27FC236}">
                    <a16:creationId xmlns:a16="http://schemas.microsoft.com/office/drawing/2014/main" id="{C8AB40BD-BA46-42B4-79D3-B5401ED5FA53}"/>
                  </a:ext>
                </a:extLst>
              </p:cNvPr>
              <p:cNvSpPr txBox="1"/>
              <p:nvPr/>
            </p:nvSpPr>
            <p:spPr>
              <a:xfrm>
                <a:off x="6987901" y="2735278"/>
                <a:ext cx="4839260" cy="30861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sty m:val="p"/>
                      </m:rPr>
                      <a:rPr lang="en-US" altLang="zh-CN" sz="1800" b="0" i="0" baseline="-25000" smtClean="0">
                        <a:latin typeface="Cambria Math" panose="02040503050406030204" pitchFamily="18" charset="0"/>
                      </a:rPr>
                      <m:t>ii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US" altLang="zh-CN" sz="1800" i="1"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en-US" altLang="zh-CN" sz="1800" b="0" i="1" baseline="-25000" smtClean="0">
                            <a:latin typeface="Cambria Math" panose="02040503050406030204" pitchFamily="18" charset="0"/>
                          </a:rPr>
                          <m:t>𝑖𝑗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nary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</a:rPr>
                      <m:t>Pji</m:t>
                    </m:r>
                    <m:d>
                      <m:dPr>
                        <m:ctrlPr>
                          <a:rPr lang="en-US" altLang="zh-CN" sz="1800" b="0" i="1" baseline="-2500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zh-CN" sz="1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altLang="zh-CN" sz="1800" i="1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altLang="zh-CN" sz="1800" i="1" baseline="-25000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US" altLang="zh-CN" sz="1800">
                        <a:latin typeface="Cambria Math" panose="02040503050406030204" pitchFamily="18" charset="0"/>
                      </a:rPr>
                      <m:t>Pji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sz="180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&gt;0</a:t>
                </a:r>
              </a:p>
            </p:txBody>
          </p:sp>
        </mc:Choice>
        <mc:Fallback xmlns="">
          <p:sp>
            <p:nvSpPr>
              <p:cNvPr id="35862" name="文本框 35861">
                <a:extLst>
                  <a:ext uri="{FF2B5EF4-FFF2-40B4-BE49-F238E27FC236}">
                    <a16:creationId xmlns:a16="http://schemas.microsoft.com/office/drawing/2014/main" id="{C8AB40BD-BA46-42B4-79D3-B5401ED5F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901" y="2735278"/>
                <a:ext cx="4839260" cy="308611"/>
              </a:xfrm>
              <a:prstGeom prst="rect">
                <a:avLst/>
              </a:prstGeom>
              <a:blipFill>
                <a:blip r:embed="rId7"/>
                <a:stretch>
                  <a:fillRect l="-1637" t="-160000" b="-2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63" name="矩形 1">
            <a:extLst>
              <a:ext uri="{FF2B5EF4-FFF2-40B4-BE49-F238E27FC236}">
                <a16:creationId xmlns:a16="http://schemas.microsoft.com/office/drawing/2014/main" id="{DABDA598-F242-B9AE-907A-4537C6A7A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6404" y="3422977"/>
            <a:ext cx="2292003" cy="4604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p</a:t>
            </a:r>
            <a:r>
              <a:rPr lang="en-US" altLang="zh-CN" baseline="-25000" dirty="0" err="1">
                <a:latin typeface="+mn-ea"/>
                <a:ea typeface="+mn-ea"/>
                <a:sym typeface="Symbol" panose="05050102010706020507" pitchFamily="18" charset="2"/>
              </a:rPr>
              <a:t>jj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(s)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＞</a:t>
            </a:r>
            <a:r>
              <a:rPr lang="en-US" altLang="zh-CN" dirty="0">
                <a:latin typeface="+mn-ea"/>
                <a:ea typeface="+mn-ea"/>
                <a:sym typeface="Symbol" panose="05050102010706020507" pitchFamily="18" charset="2"/>
              </a:rPr>
              <a:t>0</a:t>
            </a:r>
            <a:r>
              <a:rPr lang="zh-CN" altLang="en-US" dirty="0">
                <a:latin typeface="+mn-ea"/>
                <a:ea typeface="+mn-ea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latin typeface="+mn-ea"/>
                <a:ea typeface="+mn-ea"/>
                <a:sym typeface="Symbol" panose="05050102010706020507" pitchFamily="18" charset="2"/>
              </a:rPr>
              <a:t>jE</a:t>
            </a:r>
            <a:endParaRPr lang="zh-CN" altLang="en-US" dirty="0">
              <a:solidFill>
                <a:srgbClr val="0000FF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3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62" grpId="0" animBg="1"/>
      <p:bldP spid="3586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六、极限定理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3679" y="1081610"/>
            <a:ext cx="7493148" cy="599885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dirty="0">
                <a:solidFill>
                  <a:srgbClr val="0000FF"/>
                </a:solidFill>
              </a:rPr>
              <a:t>如果</a:t>
            </a:r>
            <a:r>
              <a:rPr lang="en-US" altLang="zh-CN" dirty="0">
                <a:solidFill>
                  <a:srgbClr val="0000FF"/>
                </a:solidFill>
              </a:rPr>
              <a:t>j</a:t>
            </a:r>
            <a:r>
              <a:rPr lang="zh-CN" altLang="en-US" dirty="0">
                <a:solidFill>
                  <a:srgbClr val="0000FF"/>
                </a:solidFill>
              </a:rPr>
              <a:t>是一个非周期常返状态，则</a:t>
            </a:r>
          </a:p>
        </p:txBody>
      </p:sp>
      <p:graphicFrame>
        <p:nvGraphicFramePr>
          <p:cNvPr id="270340" name="Object 4"/>
          <p:cNvGraphicFramePr>
            <a:graphicFrameLocks noChangeAspect="1"/>
          </p:cNvGraphicFramePr>
          <p:nvPr/>
        </p:nvGraphicFramePr>
        <p:xfrm>
          <a:off x="5524905" y="887820"/>
          <a:ext cx="2140445" cy="90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81880" imgH="838080" progId="Equation.3">
                  <p:embed/>
                </p:oleObj>
              </mc:Choice>
              <mc:Fallback>
                <p:oleObj name="公式" r:id="rId2" imgW="2081880" imgH="838080" progId="Equation.3">
                  <p:embed/>
                  <p:pic>
                    <p:nvPicPr>
                      <p:cNvPr id="270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905" y="887820"/>
                        <a:ext cx="2140445" cy="906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1" name="Rectangle 5"/>
          <p:cNvSpPr>
            <a:spLocks noChangeArrowheads="1"/>
          </p:cNvSpPr>
          <p:nvPr/>
        </p:nvSpPr>
        <p:spPr bwMode="auto">
          <a:xfrm>
            <a:off x="608832" y="2024592"/>
            <a:ext cx="7393111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</a:rPr>
              <a:t>如果马氏链是不可约非周期常返链，则</a:t>
            </a:r>
          </a:p>
        </p:txBody>
      </p:sp>
      <p:graphicFrame>
        <p:nvGraphicFramePr>
          <p:cNvPr id="270342" name="Object 6"/>
          <p:cNvGraphicFramePr>
            <a:graphicFrameLocks noChangeAspect="1"/>
          </p:cNvGraphicFramePr>
          <p:nvPr/>
        </p:nvGraphicFramePr>
        <p:xfrm>
          <a:off x="6325154" y="1794492"/>
          <a:ext cx="1889562" cy="906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080" imgH="838080" progId="Equation.3">
                  <p:embed/>
                </p:oleObj>
              </mc:Choice>
              <mc:Fallback>
                <p:oleObj name="Equation" r:id="rId4" imgW="1828080" imgH="838080" progId="Equation.3">
                  <p:embed/>
                  <p:pic>
                    <p:nvPicPr>
                      <p:cNvPr id="270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154" y="1794492"/>
                        <a:ext cx="1889562" cy="9066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3" name="Rectangle 7"/>
          <p:cNvSpPr>
            <a:spLocks noChangeArrowheads="1"/>
          </p:cNvSpPr>
          <p:nvPr/>
        </p:nvSpPr>
        <p:spPr bwMode="auto">
          <a:xfrm>
            <a:off x="8496705" y="2024592"/>
            <a:ext cx="2591506" cy="37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其中</a:t>
            </a:r>
            <a:r>
              <a:rPr lang="zh-CN" altLang="en-US" sz="2400" dirty="0">
                <a:solidFill>
                  <a:srgbClr val="0000FF"/>
                </a:solidFill>
                <a:sym typeface="Symbol" panose="05050102010706020507" pitchFamily="18" charset="2"/>
              </a:rPr>
              <a:t>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j</a:t>
            </a:r>
            <a:r>
              <a:rPr lang="zh-CN" altLang="en-US" sz="2400" dirty="0">
                <a:solidFill>
                  <a:srgbClr val="0000FF"/>
                </a:solidFill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</a:rPr>
              <a:t>E(</a:t>
            </a:r>
            <a:r>
              <a:rPr lang="en-US" altLang="zh-CN" sz="2400" dirty="0" err="1">
                <a:solidFill>
                  <a:srgbClr val="0000FF"/>
                </a:solidFill>
              </a:rPr>
              <a:t>T</a:t>
            </a:r>
            <a:r>
              <a:rPr lang="en-US" altLang="zh-CN" sz="2400" baseline="-25000" dirty="0" err="1">
                <a:solidFill>
                  <a:srgbClr val="0000FF"/>
                </a:solidFill>
              </a:rPr>
              <a:t>jj</a:t>
            </a:r>
            <a:r>
              <a:rPr lang="en-US" altLang="zh-CN" sz="2400" dirty="0">
                <a:solidFill>
                  <a:srgbClr val="0000FF"/>
                </a:solidFill>
              </a:rPr>
              <a:t>)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</a:p>
        </p:txBody>
      </p:sp>
      <p:sp>
        <p:nvSpPr>
          <p:cNvPr id="270344" name="Rectangle 8"/>
          <p:cNvSpPr>
            <a:spLocks noChangeArrowheads="1"/>
          </p:cNvSpPr>
          <p:nvPr/>
        </p:nvSpPr>
        <p:spPr bwMode="auto">
          <a:xfrm>
            <a:off x="471368" y="2701165"/>
            <a:ext cx="2213487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CC00CC"/>
                </a:solidFill>
                <a:latin typeface="+mn-ea"/>
                <a:ea typeface="+mn-ea"/>
              </a:rPr>
              <a:t>由此定理知：</a:t>
            </a:r>
          </a:p>
        </p:txBody>
      </p:sp>
      <p:sp>
        <p:nvSpPr>
          <p:cNvPr id="270346" name="Rectangle 10"/>
          <p:cNvSpPr>
            <a:spLocks noChangeArrowheads="1"/>
          </p:cNvSpPr>
          <p:nvPr/>
        </p:nvSpPr>
        <p:spPr bwMode="auto">
          <a:xfrm>
            <a:off x="471368" y="3314016"/>
            <a:ext cx="8865611" cy="377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buClr>
                <a:srgbClr val="CC00CC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不可约非周期正常返状态的齐次马氏链是遍历马氏链。即</a:t>
            </a:r>
            <a:endParaRPr lang="zh-CN" altLang="en-US" sz="2400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graphicFrame>
        <p:nvGraphicFramePr>
          <p:cNvPr id="270347" name="Object 11"/>
          <p:cNvGraphicFramePr>
            <a:graphicFrameLocks noChangeAspect="1"/>
          </p:cNvGraphicFramePr>
          <p:nvPr/>
        </p:nvGraphicFramePr>
        <p:xfrm>
          <a:off x="2529262" y="3754047"/>
          <a:ext cx="3506011" cy="511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57320" imgH="482760" progId="Equation.3">
                  <p:embed/>
                </p:oleObj>
              </mc:Choice>
              <mc:Fallback>
                <p:oleObj name="Equation" r:id="rId6" imgW="3757320" imgH="482760" progId="Equation.3">
                  <p:embed/>
                  <p:pic>
                    <p:nvPicPr>
                      <p:cNvPr id="27034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9262" y="3754047"/>
                        <a:ext cx="3506011" cy="5112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48" name="Rectangle 12"/>
          <p:cNvSpPr>
            <a:spLocks noChangeArrowheads="1"/>
          </p:cNvSpPr>
          <p:nvPr/>
        </p:nvSpPr>
        <p:spPr bwMode="auto">
          <a:xfrm>
            <a:off x="953974" y="4164533"/>
            <a:ext cx="9677293" cy="579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CC00CC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且满足：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)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＝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1/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ii)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极限分布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{</a:t>
            </a:r>
            <a:r>
              <a:rPr lang="en-US" altLang="zh-CN" sz="24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是马氏链唯一的平稳分布，且</a:t>
            </a:r>
          </a:p>
        </p:txBody>
      </p:sp>
      <p:graphicFrame>
        <p:nvGraphicFramePr>
          <p:cNvPr id="270349" name="Object 13"/>
          <p:cNvGraphicFramePr>
            <a:graphicFrameLocks noChangeAspect="1"/>
          </p:cNvGraphicFramePr>
          <p:nvPr/>
        </p:nvGraphicFramePr>
        <p:xfrm>
          <a:off x="1868374" y="4936816"/>
          <a:ext cx="2515182" cy="517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27640" imgH="482760" progId="Equation.3">
                  <p:embed/>
                </p:oleObj>
              </mc:Choice>
              <mc:Fallback>
                <p:oleObj name="Equation" r:id="rId8" imgW="2627640" imgH="482760" progId="Equation.3">
                  <p:embed/>
                  <p:pic>
                    <p:nvPicPr>
                      <p:cNvPr id="27034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8374" y="4936816"/>
                        <a:ext cx="2515182" cy="517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0350" name="Rectangle 14"/>
          <p:cNvSpPr>
            <a:spLocks noChangeArrowheads="1"/>
          </p:cNvSpPr>
          <p:nvPr/>
        </p:nvSpPr>
        <p:spPr bwMode="auto">
          <a:xfrm>
            <a:off x="4535374" y="4929360"/>
            <a:ext cx="53330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>
                <a:srgbClr val="CC00CC"/>
              </a:buClr>
              <a:buFontTx/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。即绝对分布的极限是平稳分布</a:t>
            </a:r>
            <a:r>
              <a:rPr lang="en-US" altLang="zh-CN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70351" name="Rectangle 15"/>
          <p:cNvSpPr>
            <a:spLocks noChangeArrowheads="1"/>
          </p:cNvSpPr>
          <p:nvPr/>
        </p:nvSpPr>
        <p:spPr bwMode="auto">
          <a:xfrm>
            <a:off x="461390" y="5515308"/>
            <a:ext cx="11506199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457200" indent="-4572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不可约非周期常返链是遍历链的充分必要条件是存在平稳分布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{1/</a:t>
            </a:r>
            <a:r>
              <a:rPr lang="en-US" altLang="zh-CN" sz="2400" spc="-100" baseline="-250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, </a:t>
            </a:r>
            <a:r>
              <a:rPr lang="en-US" altLang="zh-CN" sz="2400" spc="-100" dirty="0" err="1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jE</a:t>
            </a:r>
            <a:r>
              <a:rPr lang="en-US" altLang="zh-CN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}</a:t>
            </a:r>
            <a:r>
              <a:rPr lang="zh-CN" altLang="en-US" sz="2400" spc="-1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，即极限分布。</a:t>
            </a:r>
          </a:p>
          <a:p>
            <a:pPr algn="just" eaLnBrk="1" hangingPunct="1">
              <a:lnSpc>
                <a:spcPct val="150000"/>
              </a:lnSpc>
              <a:buClr>
                <a:srgbClr val="CC00CC"/>
              </a:buClr>
              <a:buFont typeface="Wingdings" panose="05000000000000000000" pitchFamily="2" charset="2"/>
              <a:buAutoNum type="arabicParenR" startAt="2"/>
            </a:pPr>
            <a:r>
              <a:rPr lang="zh-CN" altLang="en-US" sz="2400" dirty="0">
                <a:solidFill>
                  <a:srgbClr val="0000FF"/>
                </a:solidFill>
                <a:latin typeface="+mn-ea"/>
                <a:ea typeface="+mn-ea"/>
                <a:sym typeface="Symbol" panose="05050102010706020507" pitchFamily="18" charset="2"/>
              </a:rPr>
              <a:t>不可约非周期有限马氏链必存在平稳分布，且平稳分布就是极限分布。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0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0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0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0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0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0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70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2703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9" grpId="0" build="p"/>
      <p:bldP spid="270341" grpId="0"/>
      <p:bldP spid="270343" grpId="0"/>
      <p:bldP spid="270344" grpId="0" autoUpdateAnimBg="0"/>
      <p:bldP spid="270346" grpId="0"/>
      <p:bldP spid="270348" grpId="0"/>
      <p:bldP spid="270350" grpId="0"/>
      <p:bldP spid="270351" grpId="0" build="p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2995" y="1260767"/>
            <a:ext cx="6865939" cy="4271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294912" name="Object 0"/>
          <p:cNvGraphicFramePr>
            <a:graphicFrameLocks noChangeAspect="1"/>
          </p:cNvGraphicFramePr>
          <p:nvPr/>
        </p:nvGraphicFramePr>
        <p:xfrm>
          <a:off x="995995" y="2815728"/>
          <a:ext cx="2593033" cy="264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300" imgH="1282700" progId="Equation.3">
                  <p:embed/>
                </p:oleObj>
              </mc:Choice>
              <mc:Fallback>
                <p:oleObj name="Equation" r:id="rId2" imgW="1257300" imgH="1282700" progId="Equation.3">
                  <p:embed/>
                  <p:pic>
                    <p:nvPicPr>
                      <p:cNvPr id="294912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5995" y="2815728"/>
                        <a:ext cx="2593033" cy="264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3413" name="Rectangle 5"/>
          <p:cNvSpPr>
            <a:spLocks noChangeArrowheads="1"/>
          </p:cNvSpPr>
          <p:nvPr/>
        </p:nvSpPr>
        <p:spPr bwMode="auto">
          <a:xfrm>
            <a:off x="5226218" y="1963601"/>
            <a:ext cx="223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84795" y="3464850"/>
            <a:ext cx="395380" cy="457306"/>
            <a:chOff x="1708" y="3234"/>
            <a:chExt cx="227" cy="270"/>
          </a:xfrm>
        </p:grpSpPr>
        <p:sp>
          <p:nvSpPr>
            <p:cNvPr id="38953" name="Oval 8"/>
            <p:cNvSpPr>
              <a:spLocks noChangeArrowheads="1"/>
            </p:cNvSpPr>
            <p:nvPr/>
          </p:nvSpPr>
          <p:spPr bwMode="auto">
            <a:xfrm>
              <a:off x="1708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4" name="Rectangle 9"/>
            <p:cNvSpPr>
              <a:spLocks noChangeArrowheads="1"/>
            </p:cNvSpPr>
            <p:nvPr/>
          </p:nvSpPr>
          <p:spPr bwMode="auto">
            <a:xfrm>
              <a:off x="1732" y="3234"/>
              <a:ext cx="19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6084795" y="4682745"/>
            <a:ext cx="395380" cy="457306"/>
            <a:chOff x="2416" y="3234"/>
            <a:chExt cx="227" cy="270"/>
          </a:xfrm>
        </p:grpSpPr>
        <p:sp>
          <p:nvSpPr>
            <p:cNvPr id="38951" name="Oval 11"/>
            <p:cNvSpPr>
              <a:spLocks noChangeArrowheads="1"/>
            </p:cNvSpPr>
            <p:nvPr/>
          </p:nvSpPr>
          <p:spPr bwMode="auto">
            <a:xfrm>
              <a:off x="2416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2" name="Rectangle 12"/>
            <p:cNvSpPr>
              <a:spLocks noChangeArrowheads="1"/>
            </p:cNvSpPr>
            <p:nvPr/>
          </p:nvSpPr>
          <p:spPr bwMode="auto">
            <a:xfrm>
              <a:off x="2440" y="3234"/>
              <a:ext cx="193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921958" y="4682745"/>
            <a:ext cx="393791" cy="457306"/>
            <a:chOff x="3124" y="3234"/>
            <a:chExt cx="227" cy="270"/>
          </a:xfrm>
        </p:grpSpPr>
        <p:sp>
          <p:nvSpPr>
            <p:cNvPr id="38949" name="Oval 14"/>
            <p:cNvSpPr>
              <a:spLocks noChangeArrowheads="1"/>
            </p:cNvSpPr>
            <p:nvPr/>
          </p:nvSpPr>
          <p:spPr bwMode="auto">
            <a:xfrm>
              <a:off x="3124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50" name="Rectangle 15"/>
            <p:cNvSpPr>
              <a:spLocks noChangeArrowheads="1"/>
            </p:cNvSpPr>
            <p:nvPr/>
          </p:nvSpPr>
          <p:spPr bwMode="auto">
            <a:xfrm>
              <a:off x="3148" y="3234"/>
              <a:ext cx="19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7921958" y="3464850"/>
            <a:ext cx="393791" cy="457306"/>
            <a:chOff x="3833" y="3234"/>
            <a:chExt cx="227" cy="270"/>
          </a:xfrm>
        </p:grpSpPr>
        <p:sp>
          <p:nvSpPr>
            <p:cNvPr id="38947" name="Oval 17"/>
            <p:cNvSpPr>
              <a:spLocks noChangeArrowheads="1"/>
            </p:cNvSpPr>
            <p:nvPr/>
          </p:nvSpPr>
          <p:spPr bwMode="auto">
            <a:xfrm>
              <a:off x="3833" y="326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38948" name="Rectangle 18"/>
            <p:cNvSpPr>
              <a:spLocks noChangeArrowheads="1"/>
            </p:cNvSpPr>
            <p:nvPr/>
          </p:nvSpPr>
          <p:spPr bwMode="auto">
            <a:xfrm>
              <a:off x="3857" y="3234"/>
              <a:ext cx="194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40"/>
          <p:cNvGrpSpPr>
            <a:grpSpLocks/>
          </p:cNvGrpSpPr>
          <p:nvPr/>
        </p:nvGrpSpPr>
        <p:grpSpPr bwMode="auto">
          <a:xfrm>
            <a:off x="6480175" y="3790364"/>
            <a:ext cx="604977" cy="1049580"/>
            <a:chOff x="3943" y="2339"/>
            <a:chExt cx="381" cy="661"/>
          </a:xfrm>
        </p:grpSpPr>
        <p:sp>
          <p:nvSpPr>
            <p:cNvPr id="38945" name="Arc 19"/>
            <p:cNvSpPr>
              <a:spLocks/>
            </p:cNvSpPr>
            <p:nvPr/>
          </p:nvSpPr>
          <p:spPr bwMode="auto">
            <a:xfrm flipV="1">
              <a:off x="3943" y="2339"/>
              <a:ext cx="158" cy="66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</a:path>
                <a:path w="21600" h="430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946" name="Rectangle 21"/>
            <p:cNvSpPr>
              <a:spLocks noChangeArrowheads="1"/>
            </p:cNvSpPr>
            <p:nvPr/>
          </p:nvSpPr>
          <p:spPr bwMode="auto">
            <a:xfrm>
              <a:off x="4112" y="249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5478230" y="3864993"/>
            <a:ext cx="600214" cy="1055932"/>
            <a:chOff x="3312" y="2386"/>
            <a:chExt cx="378" cy="665"/>
          </a:xfrm>
        </p:grpSpPr>
        <p:sp>
          <p:nvSpPr>
            <p:cNvPr id="38943" name="Arc 20"/>
            <p:cNvSpPr>
              <a:spLocks/>
            </p:cNvSpPr>
            <p:nvPr/>
          </p:nvSpPr>
          <p:spPr bwMode="auto">
            <a:xfrm flipH="1">
              <a:off x="3531" y="2386"/>
              <a:ext cx="159" cy="665"/>
            </a:xfrm>
            <a:custGeom>
              <a:avLst/>
              <a:gdLst>
                <a:gd name="T0" fmla="*/ 0 w 21600"/>
                <a:gd name="T1" fmla="*/ 0 h 43175"/>
                <a:gd name="T2" fmla="*/ 0 w 21600"/>
                <a:gd name="T3" fmla="*/ 0 h 43175"/>
                <a:gd name="T4" fmla="*/ 0 w 21600"/>
                <a:gd name="T5" fmla="*/ 0 h 431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5"/>
                <a:gd name="T11" fmla="*/ 21600 w 21600"/>
                <a:gd name="T12" fmla="*/ 43175 h 43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</a:path>
                <a:path w="21600" h="4317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8944" name="Object 6"/>
            <p:cNvGraphicFramePr>
              <a:graphicFrameLocks noChangeAspect="1"/>
            </p:cNvGraphicFramePr>
            <p:nvPr/>
          </p:nvGraphicFramePr>
          <p:xfrm>
            <a:off x="3312" y="2441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68" imgH="406048" progId="Equation.3">
                    <p:embed/>
                  </p:oleObj>
                </mc:Choice>
                <mc:Fallback>
                  <p:oleObj name="Equation" r:id="rId4" imgW="152268" imgH="406048" progId="Equation.3">
                    <p:embed/>
                    <p:pic>
                      <p:nvPicPr>
                        <p:cNvPr id="3894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441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3"/>
          <p:cNvGrpSpPr>
            <a:grpSpLocks/>
          </p:cNvGrpSpPr>
          <p:nvPr/>
        </p:nvGrpSpPr>
        <p:grpSpPr bwMode="auto">
          <a:xfrm>
            <a:off x="6480175" y="2896394"/>
            <a:ext cx="1419554" cy="865388"/>
            <a:chOff x="3943" y="1776"/>
            <a:chExt cx="894" cy="545"/>
          </a:xfrm>
        </p:grpSpPr>
        <p:sp>
          <p:nvSpPr>
            <p:cNvPr id="38941" name="Line 25"/>
            <p:cNvSpPr>
              <a:spLocks noChangeShapeType="1"/>
            </p:cNvSpPr>
            <p:nvPr/>
          </p:nvSpPr>
          <p:spPr bwMode="auto">
            <a:xfrm flipH="1">
              <a:off x="3943" y="2287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2" name="Object 5"/>
            <p:cNvGraphicFramePr>
              <a:graphicFrameLocks noChangeAspect="1"/>
            </p:cNvGraphicFramePr>
            <p:nvPr/>
          </p:nvGraphicFramePr>
          <p:xfrm>
            <a:off x="4311" y="1776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38942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1" y="1776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8106151" y="3895163"/>
            <a:ext cx="358858" cy="838394"/>
            <a:chOff x="4952" y="2396"/>
            <a:chExt cx="226" cy="528"/>
          </a:xfrm>
        </p:grpSpPr>
        <p:sp>
          <p:nvSpPr>
            <p:cNvPr id="38939" name="Line 26"/>
            <p:cNvSpPr>
              <a:spLocks noChangeShapeType="1"/>
            </p:cNvSpPr>
            <p:nvPr/>
          </p:nvSpPr>
          <p:spPr bwMode="auto">
            <a:xfrm>
              <a:off x="4952" y="2409"/>
              <a:ext cx="0" cy="5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40" name="Object 4"/>
            <p:cNvGraphicFramePr>
              <a:graphicFrameLocks noChangeAspect="1"/>
            </p:cNvGraphicFramePr>
            <p:nvPr/>
          </p:nvGraphicFramePr>
          <p:xfrm>
            <a:off x="4968" y="2396"/>
            <a:ext cx="21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334" imgH="393529" progId="Equation.3">
                    <p:embed/>
                  </p:oleObj>
                </mc:Choice>
                <mc:Fallback>
                  <p:oleObj name="公式" r:id="rId8" imgW="152334" imgH="393529" progId="Equation.3">
                    <p:embed/>
                    <p:pic>
                      <p:nvPicPr>
                        <p:cNvPr id="3894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8" y="2396"/>
                          <a:ext cx="21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1"/>
          <p:cNvGrpSpPr>
            <a:grpSpLocks/>
          </p:cNvGrpSpPr>
          <p:nvPr/>
        </p:nvGrpSpPr>
        <p:grpSpPr bwMode="auto">
          <a:xfrm>
            <a:off x="6480175" y="4927278"/>
            <a:ext cx="1419554" cy="865387"/>
            <a:chOff x="3943" y="3055"/>
            <a:chExt cx="894" cy="545"/>
          </a:xfrm>
        </p:grpSpPr>
        <p:sp>
          <p:nvSpPr>
            <p:cNvPr id="38937" name="Line 27"/>
            <p:cNvSpPr>
              <a:spLocks noChangeShapeType="1"/>
            </p:cNvSpPr>
            <p:nvPr/>
          </p:nvSpPr>
          <p:spPr bwMode="auto">
            <a:xfrm flipH="1">
              <a:off x="3943" y="3055"/>
              <a:ext cx="89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8938" name="Object 3"/>
            <p:cNvGraphicFramePr>
              <a:graphicFrameLocks noChangeAspect="1"/>
            </p:cNvGraphicFramePr>
            <p:nvPr/>
          </p:nvGraphicFramePr>
          <p:xfrm>
            <a:off x="4363" y="3055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52268" imgH="406048" progId="Equation.3">
                    <p:embed/>
                  </p:oleObj>
                </mc:Choice>
                <mc:Fallback>
                  <p:oleObj name="Equation" r:id="rId10" imgW="152268" imgH="406048" progId="Equation.3">
                    <p:embed/>
                    <p:pic>
                      <p:nvPicPr>
                        <p:cNvPr id="3893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3" y="3055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3441" name="Rectangle 33"/>
          <p:cNvSpPr>
            <a:spLocks noChangeArrowheads="1"/>
          </p:cNvSpPr>
          <p:nvPr/>
        </p:nvSpPr>
        <p:spPr bwMode="auto">
          <a:xfrm>
            <a:off x="1475851" y="1963601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转移矩阵</a:t>
            </a:r>
          </a:p>
        </p:txBody>
      </p:sp>
      <p:grpSp>
        <p:nvGrpSpPr>
          <p:cNvPr id="11" name="Group 38"/>
          <p:cNvGrpSpPr>
            <a:grpSpLocks/>
          </p:cNvGrpSpPr>
          <p:nvPr/>
        </p:nvGrpSpPr>
        <p:grpSpPr bwMode="auto">
          <a:xfrm>
            <a:off x="5478230" y="2896394"/>
            <a:ext cx="863800" cy="866976"/>
            <a:chOff x="3312" y="1776"/>
            <a:chExt cx="544" cy="546"/>
          </a:xfrm>
        </p:grpSpPr>
        <p:graphicFrame>
          <p:nvGraphicFramePr>
            <p:cNvPr id="38935" name="Object 2"/>
            <p:cNvGraphicFramePr>
              <a:graphicFrameLocks noChangeAspect="1"/>
            </p:cNvGraphicFramePr>
            <p:nvPr/>
          </p:nvGraphicFramePr>
          <p:xfrm>
            <a:off x="3312" y="1776"/>
            <a:ext cx="21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52268" imgH="406048" progId="Equation.3">
                    <p:embed/>
                  </p:oleObj>
                </mc:Choice>
                <mc:Fallback>
                  <p:oleObj name="Equation" r:id="rId12" imgW="152268" imgH="406048" progId="Equation.3">
                    <p:embed/>
                    <p:pic>
                      <p:nvPicPr>
                        <p:cNvPr id="38935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776"/>
                          <a:ext cx="21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6" name="Arc 36"/>
            <p:cNvSpPr>
              <a:spLocks/>
            </p:cNvSpPr>
            <p:nvPr/>
          </p:nvSpPr>
          <p:spPr bwMode="auto">
            <a:xfrm flipH="1">
              <a:off x="3516" y="1932"/>
              <a:ext cx="340" cy="34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</a:path>
                <a:path w="43200" h="43200" stroke="0" extrusionOk="0">
                  <a:moveTo>
                    <a:pt x="1639" y="29853"/>
                  </a:moveTo>
                  <a:cubicBezTo>
                    <a:pt x="556" y="27236"/>
                    <a:pt x="0" y="2443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21215" y="43200"/>
                    <a:pt x="20830" y="43189"/>
                    <a:pt x="20446" y="43169"/>
                  </a:cubicBezTo>
                  <a:lnTo>
                    <a:pt x="21600" y="21600"/>
                  </a:lnTo>
                  <a:lnTo>
                    <a:pt x="1639" y="29853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2"/>
          <p:cNvGrpSpPr>
            <a:grpSpLocks/>
          </p:cNvGrpSpPr>
          <p:nvPr/>
        </p:nvGrpSpPr>
        <p:grpSpPr bwMode="auto">
          <a:xfrm>
            <a:off x="8115678" y="4792308"/>
            <a:ext cx="868563" cy="866976"/>
            <a:chOff x="4973" y="2970"/>
            <a:chExt cx="547" cy="546"/>
          </a:xfrm>
        </p:grpSpPr>
        <p:graphicFrame>
          <p:nvGraphicFramePr>
            <p:cNvPr id="38933" name="Object 1"/>
            <p:cNvGraphicFramePr>
              <a:graphicFrameLocks noChangeAspect="1"/>
            </p:cNvGraphicFramePr>
            <p:nvPr/>
          </p:nvGraphicFramePr>
          <p:xfrm>
            <a:off x="5310" y="2970"/>
            <a:ext cx="210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68" imgH="406048" progId="Equation.3">
                    <p:embed/>
                  </p:oleObj>
                </mc:Choice>
                <mc:Fallback>
                  <p:oleObj name="Equation" r:id="rId13" imgW="152268" imgH="406048" progId="Equation.3">
                    <p:embed/>
                    <p:pic>
                      <p:nvPicPr>
                        <p:cNvPr id="38933" name="Object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0" y="2970"/>
                          <a:ext cx="210" cy="5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4" name="Arc 37"/>
            <p:cNvSpPr>
              <a:spLocks/>
            </p:cNvSpPr>
            <p:nvPr/>
          </p:nvSpPr>
          <p:spPr bwMode="auto">
            <a:xfrm>
              <a:off x="4973" y="3029"/>
              <a:ext cx="340" cy="340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</a:path>
                <a:path w="43200" h="43200" stroke="0" extrusionOk="0">
                  <a:moveTo>
                    <a:pt x="15729" y="812"/>
                  </a:moveTo>
                  <a:cubicBezTo>
                    <a:pt x="17640" y="273"/>
                    <a:pt x="19615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-1" y="21463"/>
                    <a:pt x="1" y="21326"/>
                    <a:pt x="3" y="21189"/>
                  </a:cubicBezTo>
                  <a:lnTo>
                    <a:pt x="21600" y="21600"/>
                  </a:lnTo>
                  <a:lnTo>
                    <a:pt x="15729" y="812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3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73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94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1" grpId="0" build="p"/>
      <p:bldP spid="273413" grpId="0" autoUpdateAnimBg="0"/>
      <p:bldP spid="27344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22" y="1003532"/>
            <a:ext cx="8155234" cy="636265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</a:t>
            </a:r>
            <a:r>
              <a:rPr lang="zh-CN" altLang="en-US" dirty="0"/>
              <a:t>由图可知，对一切</a:t>
            </a:r>
            <a:r>
              <a:rPr lang="en-US" altLang="zh-CN" dirty="0"/>
              <a:t>n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en-US" altLang="zh-CN" baseline="-25000" dirty="0"/>
              <a:t>44</a:t>
            </a:r>
            <a:r>
              <a:rPr lang="en-US" altLang="zh-CN" dirty="0"/>
              <a:t>(n)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，从而</a:t>
            </a:r>
          </a:p>
        </p:txBody>
      </p:sp>
      <p:graphicFrame>
        <p:nvGraphicFramePr>
          <p:cNvPr id="274436" name="Object 4"/>
          <p:cNvGraphicFramePr>
            <a:graphicFrameLocks noChangeAspect="1"/>
          </p:cNvGraphicFramePr>
          <p:nvPr/>
        </p:nvGraphicFramePr>
        <p:xfrm>
          <a:off x="2596339" y="1448135"/>
          <a:ext cx="2286529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600" imgH="431800" progId="Equation.3">
                  <p:embed/>
                </p:oleObj>
              </mc:Choice>
              <mc:Fallback>
                <p:oleObj name="Equation" r:id="rId2" imgW="1117600" imgH="431800" progId="Equation.3">
                  <p:embed/>
                  <p:pic>
                    <p:nvPicPr>
                      <p:cNvPr id="27443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339" y="1448135"/>
                        <a:ext cx="2286529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4803476" y="1600570"/>
            <a:ext cx="3960141" cy="52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，故状态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为非常返状态；</a:t>
            </a:r>
          </a:p>
        </p:txBody>
      </p:sp>
      <p:sp>
        <p:nvSpPr>
          <p:cNvPr id="274438" name="Rectangle 6"/>
          <p:cNvSpPr>
            <a:spLocks noChangeArrowheads="1"/>
          </p:cNvSpPr>
          <p:nvPr/>
        </p:nvSpPr>
        <p:spPr bwMode="auto">
          <a:xfrm>
            <a:off x="1226575" y="2294539"/>
            <a:ext cx="9281544" cy="1190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41</a:t>
            </a:r>
            <a:r>
              <a:rPr lang="en-US" altLang="zh-CN" sz="2400" dirty="0">
                <a:latin typeface="+mn-ea"/>
                <a:ea typeface="+mn-ea"/>
              </a:rPr>
              <a:t>(1)</a:t>
            </a:r>
            <a:r>
              <a:rPr lang="zh-CN" altLang="en-US" sz="2400" dirty="0">
                <a:latin typeface="+mn-ea"/>
                <a:ea typeface="+mn-ea"/>
              </a:rPr>
              <a:t>＝     ，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41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0 (n&gt;1)</a:t>
            </a:r>
            <a:r>
              <a:rPr lang="zh-CN" altLang="en-US" sz="2400" dirty="0">
                <a:latin typeface="+mn-ea"/>
                <a:ea typeface="+mn-ea"/>
              </a:rPr>
              <a:t>，从而                                       ，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非常返状态；</a:t>
            </a:r>
          </a:p>
        </p:txBody>
      </p:sp>
      <p:graphicFrame>
        <p:nvGraphicFramePr>
          <p:cNvPr id="274439" name="Object 7"/>
          <p:cNvGraphicFramePr>
            <a:graphicFrameLocks noChangeAspect="1"/>
          </p:cNvGraphicFramePr>
          <p:nvPr/>
        </p:nvGraphicFramePr>
        <p:xfrm>
          <a:off x="2551474" y="2192845"/>
          <a:ext cx="276289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268" imgH="406048" progId="Equation.DSMT4">
                  <p:embed/>
                </p:oleObj>
              </mc:Choice>
              <mc:Fallback>
                <p:oleObj name="Equation" r:id="rId4" imgW="152268" imgH="406048" progId="Equation.DSMT4">
                  <p:embed/>
                  <p:pic>
                    <p:nvPicPr>
                      <p:cNvPr id="27443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474" y="2192845"/>
                        <a:ext cx="276289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0" name="Object 8"/>
          <p:cNvGraphicFramePr>
            <a:graphicFrameLocks noChangeAspect="1"/>
          </p:cNvGraphicFramePr>
          <p:nvPr/>
        </p:nvGraphicFramePr>
        <p:xfrm>
          <a:off x="6553305" y="2180784"/>
          <a:ext cx="2885155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1600" imgH="431800" progId="Equation.3">
                  <p:embed/>
                </p:oleObj>
              </mc:Choice>
              <mc:Fallback>
                <p:oleObj name="Equation" r:id="rId6" imgW="1371600" imgH="431800" progId="Equation.3">
                  <p:embed/>
                  <p:pic>
                    <p:nvPicPr>
                      <p:cNvPr id="27444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305" y="2180784"/>
                        <a:ext cx="2885155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1" name="Object 9"/>
          <p:cNvGraphicFramePr>
            <a:graphicFrameLocks noChangeAspect="1"/>
          </p:cNvGraphicFramePr>
          <p:nvPr/>
        </p:nvGraphicFramePr>
        <p:xfrm>
          <a:off x="1958987" y="3618275"/>
          <a:ext cx="3274183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431800" progId="Equation.3">
                  <p:embed/>
                </p:oleObj>
              </mc:Choice>
              <mc:Fallback>
                <p:oleObj name="Equation" r:id="rId8" imgW="1600200" imgH="431800" progId="Equation.3">
                  <p:embed/>
                  <p:pic>
                    <p:nvPicPr>
                      <p:cNvPr id="27444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7" y="3618275"/>
                        <a:ext cx="3274183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2" name="Object 10"/>
          <p:cNvGraphicFramePr>
            <a:graphicFrameLocks noChangeAspect="1"/>
          </p:cNvGraphicFramePr>
          <p:nvPr/>
        </p:nvGraphicFramePr>
        <p:xfrm>
          <a:off x="1958986" y="4380452"/>
          <a:ext cx="5119285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01900" imgH="431800" progId="Equation.3">
                  <p:embed/>
                </p:oleObj>
              </mc:Choice>
              <mc:Fallback>
                <p:oleObj name="Equation" r:id="rId10" imgW="2501900" imgH="431800" progId="Equation.3">
                  <p:embed/>
                  <p:pic>
                    <p:nvPicPr>
                      <p:cNvPr id="27444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6" y="4380452"/>
                        <a:ext cx="5119285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3" name="Object 11"/>
          <p:cNvGraphicFramePr>
            <a:graphicFrameLocks noChangeAspect="1"/>
          </p:cNvGraphicFramePr>
          <p:nvPr/>
        </p:nvGraphicFramePr>
        <p:xfrm>
          <a:off x="1958987" y="5142628"/>
          <a:ext cx="4444442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171700" imgH="431800" progId="Equation.3">
                  <p:embed/>
                </p:oleObj>
              </mc:Choice>
              <mc:Fallback>
                <p:oleObj name="Equation" r:id="rId12" imgW="2171700" imgH="431800" progId="Equation.3">
                  <p:embed/>
                  <p:pic>
                    <p:nvPicPr>
                      <p:cNvPr id="27444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8987" y="5142628"/>
                        <a:ext cx="4444442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4444" name="Object 12"/>
          <p:cNvGraphicFramePr>
            <a:graphicFrameLocks noChangeAspect="1"/>
          </p:cNvGraphicFramePr>
          <p:nvPr/>
        </p:nvGraphicFramePr>
        <p:xfrm>
          <a:off x="1908175" y="5974671"/>
          <a:ext cx="8021906" cy="844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02100" imgH="431800" progId="Equation.DSMT4">
                  <p:embed/>
                </p:oleObj>
              </mc:Choice>
              <mc:Fallback>
                <p:oleObj name="Equation" r:id="rId14" imgW="4102100" imgH="431800" progId="Equation.DSMT4">
                  <p:embed/>
                  <p:pic>
                    <p:nvPicPr>
                      <p:cNvPr id="27444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974671"/>
                        <a:ext cx="8021906" cy="844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4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4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44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4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 autoUpdateAnimBg="0" advAuto="0"/>
      <p:bldP spid="274437" grpId="0" autoUpdateAnimBg="0"/>
      <p:bldP spid="274438" grpId="0" build="p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2(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576" y="1470437"/>
            <a:ext cx="7774199" cy="1121034"/>
          </a:xfrm>
        </p:spPr>
        <p:txBody>
          <a:bodyPr/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2</a:t>
            </a:r>
            <a:r>
              <a:rPr lang="zh-CN" altLang="en-US" dirty="0"/>
              <a:t>都是正常返状态，又</a:t>
            </a:r>
            <a:r>
              <a:rPr lang="en-US" altLang="zh-CN" dirty="0"/>
              <a:t>d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，故都是</a:t>
            </a:r>
            <a:r>
              <a:rPr lang="zh-CN" altLang="en-US" dirty="0">
                <a:solidFill>
                  <a:srgbClr val="0000FF"/>
                </a:solidFill>
              </a:rPr>
              <a:t>遍历态</a:t>
            </a:r>
            <a:r>
              <a:rPr lang="zh-CN" altLang="en-US" dirty="0"/>
              <a:t>。</a:t>
            </a:r>
          </a:p>
        </p:txBody>
      </p:sp>
      <p:sp>
        <p:nvSpPr>
          <p:cNvPr id="275460" name="Rectangle 4"/>
          <p:cNvSpPr>
            <a:spLocks noChangeArrowheads="1"/>
          </p:cNvSpPr>
          <p:nvPr/>
        </p:nvSpPr>
        <p:spPr bwMode="auto">
          <a:xfrm>
            <a:off x="917575" y="2591471"/>
            <a:ext cx="7774199" cy="43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状态空间分解为</a:t>
            </a:r>
          </a:p>
        </p:txBody>
      </p:sp>
      <p:sp>
        <p:nvSpPr>
          <p:cNvPr id="275461" name="Rectangle 5">
            <a:extLst>
              <a:ext uri="{FF2B5EF4-FFF2-40B4-BE49-F238E27FC236}">
                <a16:creationId xmlns:a16="http://schemas.microsoft.com/office/drawing/2014/main" id="{9774C8E7-1775-4E0C-9324-15519A769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574" y="3091650"/>
            <a:ext cx="8382001" cy="1042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342900" indent="-342900"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{3, 4}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2}</a:t>
            </a:r>
            <a:r>
              <a:rPr lang="zh-CN" altLang="en-US" sz="2400" dirty="0">
                <a:latin typeface="+mn-ea"/>
                <a:ea typeface="+mn-ea"/>
              </a:rPr>
              <a:t>为非周期的正常返闭集。</a:t>
            </a:r>
          </a:p>
        </p:txBody>
      </p:sp>
      <p:sp>
        <p:nvSpPr>
          <p:cNvPr id="275462" name="AutoShape 6"/>
          <p:cNvSpPr>
            <a:spLocks noChangeArrowheads="1"/>
          </p:cNvSpPr>
          <p:nvPr/>
        </p:nvSpPr>
        <p:spPr bwMode="auto">
          <a:xfrm>
            <a:off x="8613775" y="860137"/>
            <a:ext cx="3385333" cy="574808"/>
          </a:xfrm>
          <a:prstGeom prst="wedgeRoundRectCallout">
            <a:avLst>
              <a:gd name="adj1" fmla="val -66631"/>
              <a:gd name="adj2" fmla="val 119651"/>
              <a:gd name="adj3" fmla="val 16667"/>
            </a:avLst>
          </a:prstGeom>
          <a:solidFill>
            <a:schemeClr val="accent1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solidFill>
                  <a:srgbClr val="FFFF00"/>
                </a:solidFill>
                <a:latin typeface="+mn-ea"/>
                <a:ea typeface="+mn-ea"/>
              </a:rPr>
              <a:t>非周期正常返状态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5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5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5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  <p:bldP spid="275460" grpId="0" build="p" autoUpdateAnimBg="0"/>
      <p:bldP spid="275461" grpId="0" build="p" autoUpdateAnimBg="0" advAuto="0"/>
      <p:bldP spid="27546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</a:t>
            </a:r>
          </a:p>
        </p:txBody>
      </p:sp>
      <p:sp>
        <p:nvSpPr>
          <p:cNvPr id="419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5" y="1229802"/>
            <a:ext cx="7435824" cy="6819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{1, 2, 3, 4, 5, 6}</a:t>
            </a:r>
            <a:r>
              <a:rPr lang="zh-CN" altLang="en-US" dirty="0"/>
              <a:t>，</a:t>
            </a:r>
          </a:p>
        </p:txBody>
      </p:sp>
      <p:graphicFrame>
        <p:nvGraphicFramePr>
          <p:cNvPr id="41990" name="Object 4"/>
          <p:cNvGraphicFramePr>
            <a:graphicFrameLocks noChangeAspect="1"/>
          </p:cNvGraphicFramePr>
          <p:nvPr/>
        </p:nvGraphicFramePr>
        <p:xfrm>
          <a:off x="1658705" y="3045753"/>
          <a:ext cx="3448848" cy="30423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7200" imgH="1524000" progId="Equation.3">
                  <p:embed/>
                </p:oleObj>
              </mc:Choice>
              <mc:Fallback>
                <p:oleObj name="Equation" r:id="rId2" imgW="1727200" imgH="1524000" progId="Equation.3">
                  <p:embed/>
                  <p:pic>
                    <p:nvPicPr>
                      <p:cNvPr id="4199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8705" y="3045753"/>
                        <a:ext cx="3448848" cy="30423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8533" name="Rectangle 5"/>
          <p:cNvSpPr>
            <a:spLocks noChangeArrowheads="1"/>
          </p:cNvSpPr>
          <p:nvPr/>
        </p:nvSpPr>
        <p:spPr bwMode="auto">
          <a:xfrm>
            <a:off x="7255476" y="2162677"/>
            <a:ext cx="223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grpSp>
        <p:nvGrpSpPr>
          <p:cNvPr id="2" name="Group 45"/>
          <p:cNvGrpSpPr>
            <a:grpSpLocks/>
          </p:cNvGrpSpPr>
          <p:nvPr/>
        </p:nvGrpSpPr>
        <p:grpSpPr bwMode="auto">
          <a:xfrm>
            <a:off x="7010611" y="3388509"/>
            <a:ext cx="395380" cy="457306"/>
            <a:chOff x="3454" y="2134"/>
            <a:chExt cx="249" cy="288"/>
          </a:xfrm>
        </p:grpSpPr>
        <p:sp>
          <p:nvSpPr>
            <p:cNvPr id="42037" name="Oval 7"/>
            <p:cNvSpPr>
              <a:spLocks noChangeArrowheads="1"/>
            </p:cNvSpPr>
            <p:nvPr/>
          </p:nvSpPr>
          <p:spPr bwMode="auto">
            <a:xfrm>
              <a:off x="3454" y="2166"/>
              <a:ext cx="249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8" name="Rectangle 8"/>
            <p:cNvSpPr>
              <a:spLocks noChangeArrowheads="1"/>
            </p:cNvSpPr>
            <p:nvPr/>
          </p:nvSpPr>
          <p:spPr bwMode="auto">
            <a:xfrm>
              <a:off x="3480" y="21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9657587" y="5181212"/>
            <a:ext cx="395379" cy="457306"/>
            <a:chOff x="5121" y="3263"/>
            <a:chExt cx="249" cy="288"/>
          </a:xfrm>
        </p:grpSpPr>
        <p:sp>
          <p:nvSpPr>
            <p:cNvPr id="42035" name="Oval 10"/>
            <p:cNvSpPr>
              <a:spLocks noChangeArrowheads="1"/>
            </p:cNvSpPr>
            <p:nvPr/>
          </p:nvSpPr>
          <p:spPr bwMode="auto">
            <a:xfrm>
              <a:off x="5121" y="3295"/>
              <a:ext cx="249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6" name="Rectangle 11"/>
            <p:cNvSpPr>
              <a:spLocks noChangeArrowheads="1"/>
            </p:cNvSpPr>
            <p:nvPr/>
          </p:nvSpPr>
          <p:spPr bwMode="auto">
            <a:xfrm>
              <a:off x="5147" y="326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6</a:t>
              </a: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6480263" y="5181212"/>
            <a:ext cx="393791" cy="457306"/>
            <a:chOff x="3120" y="3263"/>
            <a:chExt cx="248" cy="288"/>
          </a:xfrm>
        </p:grpSpPr>
        <p:sp>
          <p:nvSpPr>
            <p:cNvPr id="42033" name="Oval 13"/>
            <p:cNvSpPr>
              <a:spLocks noChangeArrowheads="1"/>
            </p:cNvSpPr>
            <p:nvPr/>
          </p:nvSpPr>
          <p:spPr bwMode="auto">
            <a:xfrm>
              <a:off x="3120" y="3295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4" name="Rectangle 14"/>
            <p:cNvSpPr>
              <a:spLocks noChangeArrowheads="1"/>
            </p:cNvSpPr>
            <p:nvPr/>
          </p:nvSpPr>
          <p:spPr bwMode="auto">
            <a:xfrm>
              <a:off x="3146" y="3263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5</a:t>
              </a:r>
            </a:p>
          </p:txBody>
        </p:sp>
      </p:grpSp>
      <p:grpSp>
        <p:nvGrpSpPr>
          <p:cNvPr id="5" name="Group 48"/>
          <p:cNvGrpSpPr>
            <a:grpSpLocks/>
          </p:cNvGrpSpPr>
          <p:nvPr/>
        </p:nvGrpSpPr>
        <p:grpSpPr bwMode="auto">
          <a:xfrm>
            <a:off x="8847774" y="3388509"/>
            <a:ext cx="393791" cy="457306"/>
            <a:chOff x="4611" y="2134"/>
            <a:chExt cx="248" cy="288"/>
          </a:xfrm>
        </p:grpSpPr>
        <p:sp>
          <p:nvSpPr>
            <p:cNvPr id="42031" name="Oval 16"/>
            <p:cNvSpPr>
              <a:spLocks noChangeArrowheads="1"/>
            </p:cNvSpPr>
            <p:nvPr/>
          </p:nvSpPr>
          <p:spPr bwMode="auto">
            <a:xfrm>
              <a:off x="4611" y="2166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32" name="Rectangle 17"/>
            <p:cNvSpPr>
              <a:spLocks noChangeArrowheads="1"/>
            </p:cNvSpPr>
            <p:nvPr/>
          </p:nvSpPr>
          <p:spPr bwMode="auto">
            <a:xfrm>
              <a:off x="4637" y="213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4</a:t>
              </a:r>
            </a:p>
          </p:txBody>
        </p:sp>
      </p:grpSp>
      <p:grpSp>
        <p:nvGrpSpPr>
          <p:cNvPr id="6" name="Group 52"/>
          <p:cNvGrpSpPr>
            <a:grpSpLocks/>
          </p:cNvGrpSpPr>
          <p:nvPr/>
        </p:nvGrpSpPr>
        <p:grpSpPr bwMode="auto">
          <a:xfrm>
            <a:off x="9224099" y="3782301"/>
            <a:ext cx="523996" cy="1470365"/>
            <a:chOff x="4848" y="2382"/>
            <a:chExt cx="330" cy="926"/>
          </a:xfrm>
        </p:grpSpPr>
        <p:sp>
          <p:nvSpPr>
            <p:cNvPr id="42029" name="Arc 19"/>
            <p:cNvSpPr>
              <a:spLocks/>
            </p:cNvSpPr>
            <p:nvPr/>
          </p:nvSpPr>
          <p:spPr bwMode="auto">
            <a:xfrm flipH="1">
              <a:off x="5040" y="2382"/>
              <a:ext cx="138" cy="926"/>
            </a:xfrm>
            <a:custGeom>
              <a:avLst/>
              <a:gdLst>
                <a:gd name="T0" fmla="*/ 0 w 21600"/>
                <a:gd name="T1" fmla="*/ 0 h 43175"/>
                <a:gd name="T2" fmla="*/ 0 w 21600"/>
                <a:gd name="T3" fmla="*/ 0 h 43175"/>
                <a:gd name="T4" fmla="*/ 0 w 21600"/>
                <a:gd name="T5" fmla="*/ 0 h 431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75"/>
                <a:gd name="T11" fmla="*/ 21600 w 21600"/>
                <a:gd name="T12" fmla="*/ 43175 h 43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7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</a:path>
                <a:path w="21600" h="4317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123"/>
                    <a:pt x="12554" y="42617"/>
                    <a:pt x="1043" y="43174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030" name="Rectangle 20"/>
            <p:cNvSpPr>
              <a:spLocks noChangeArrowheads="1"/>
            </p:cNvSpPr>
            <p:nvPr/>
          </p:nvSpPr>
          <p:spPr bwMode="auto">
            <a:xfrm>
              <a:off x="4848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7" name="Group 58"/>
          <p:cNvGrpSpPr>
            <a:grpSpLocks/>
          </p:cNvGrpSpPr>
          <p:nvPr/>
        </p:nvGrpSpPr>
        <p:grpSpPr bwMode="auto">
          <a:xfrm>
            <a:off x="9900530" y="3799768"/>
            <a:ext cx="571632" cy="1430668"/>
            <a:chOff x="5274" y="2393"/>
            <a:chExt cx="360" cy="901"/>
          </a:xfrm>
        </p:grpSpPr>
        <p:sp>
          <p:nvSpPr>
            <p:cNvPr id="42027" name="Arc 18"/>
            <p:cNvSpPr>
              <a:spLocks/>
            </p:cNvSpPr>
            <p:nvPr/>
          </p:nvSpPr>
          <p:spPr bwMode="auto">
            <a:xfrm flipV="1">
              <a:off x="5274" y="2393"/>
              <a:ext cx="102" cy="901"/>
            </a:xfrm>
            <a:custGeom>
              <a:avLst/>
              <a:gdLst>
                <a:gd name="T0" fmla="*/ 0 w 21600"/>
                <a:gd name="T1" fmla="*/ 0 h 43099"/>
                <a:gd name="T2" fmla="*/ 0 w 21600"/>
                <a:gd name="T3" fmla="*/ 0 h 43099"/>
                <a:gd name="T4" fmla="*/ 0 w 21600"/>
                <a:gd name="T5" fmla="*/ 0 h 43099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099"/>
                <a:gd name="T11" fmla="*/ 21600 w 21600"/>
                <a:gd name="T12" fmla="*/ 43099 h 430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099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</a:path>
                <a:path w="21600" h="43099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21"/>
                    <a:pt x="13155" y="42024"/>
                    <a:pt x="2086" y="430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2028" name="Object 24"/>
            <p:cNvGraphicFramePr>
              <a:graphicFrameLocks noChangeAspect="1"/>
            </p:cNvGraphicFramePr>
            <p:nvPr/>
          </p:nvGraphicFramePr>
          <p:xfrm>
            <a:off x="5424" y="2544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68" imgH="406048" progId="Equation.3">
                    <p:embed/>
                  </p:oleObj>
                </mc:Choice>
                <mc:Fallback>
                  <p:oleObj name="Equation" r:id="rId4" imgW="152268" imgH="406048" progId="Equation.3">
                    <p:embed/>
                    <p:pic>
                      <p:nvPicPr>
                        <p:cNvPr id="42028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24" y="2544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6"/>
          <p:cNvGrpSpPr>
            <a:grpSpLocks/>
          </p:cNvGrpSpPr>
          <p:nvPr/>
        </p:nvGrpSpPr>
        <p:grpSpPr bwMode="auto">
          <a:xfrm>
            <a:off x="7405991" y="2820053"/>
            <a:ext cx="1419554" cy="865388"/>
            <a:chOff x="3703" y="1776"/>
            <a:chExt cx="894" cy="545"/>
          </a:xfrm>
        </p:grpSpPr>
        <p:sp>
          <p:nvSpPr>
            <p:cNvPr id="42025" name="Line 22"/>
            <p:cNvSpPr>
              <a:spLocks noChangeShapeType="1"/>
            </p:cNvSpPr>
            <p:nvPr/>
          </p:nvSpPr>
          <p:spPr bwMode="auto">
            <a:xfrm flipH="1">
              <a:off x="3703" y="2287"/>
              <a:ext cx="8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2026" name="Object 25"/>
            <p:cNvGraphicFramePr>
              <a:graphicFrameLocks noChangeAspect="1"/>
            </p:cNvGraphicFramePr>
            <p:nvPr/>
          </p:nvGraphicFramePr>
          <p:xfrm>
            <a:off x="4071" y="1776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26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1" y="1776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99" name="Rectangle 27"/>
          <p:cNvSpPr>
            <a:spLocks noChangeArrowheads="1"/>
          </p:cNvSpPr>
          <p:nvPr/>
        </p:nvSpPr>
        <p:spPr bwMode="auto">
          <a:xfrm>
            <a:off x="2691914" y="2100137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pSp>
        <p:nvGrpSpPr>
          <p:cNvPr id="9" name="Group 54"/>
          <p:cNvGrpSpPr>
            <a:grpSpLocks/>
          </p:cNvGrpSpPr>
          <p:nvPr/>
        </p:nvGrpSpPr>
        <p:grpSpPr bwMode="auto">
          <a:xfrm>
            <a:off x="9224098" y="2820053"/>
            <a:ext cx="457306" cy="865388"/>
            <a:chOff x="4848" y="1776"/>
            <a:chExt cx="288" cy="545"/>
          </a:xfrm>
        </p:grpSpPr>
        <p:graphicFrame>
          <p:nvGraphicFramePr>
            <p:cNvPr id="42023" name="Object 26"/>
            <p:cNvGraphicFramePr>
              <a:graphicFrameLocks noChangeAspect="1"/>
            </p:cNvGraphicFramePr>
            <p:nvPr/>
          </p:nvGraphicFramePr>
          <p:xfrm>
            <a:off x="4896" y="1776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23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1776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24" name="Line 28"/>
            <p:cNvSpPr>
              <a:spLocks noChangeShapeType="1"/>
            </p:cNvSpPr>
            <p:nvPr/>
          </p:nvSpPr>
          <p:spPr bwMode="auto">
            <a:xfrm>
              <a:off x="4848" y="230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46"/>
          <p:cNvGrpSpPr>
            <a:grpSpLocks/>
          </p:cNvGrpSpPr>
          <p:nvPr/>
        </p:nvGrpSpPr>
        <p:grpSpPr bwMode="auto">
          <a:xfrm>
            <a:off x="9681404" y="3382158"/>
            <a:ext cx="393791" cy="457306"/>
            <a:chOff x="5136" y="2130"/>
            <a:chExt cx="248" cy="288"/>
          </a:xfrm>
        </p:grpSpPr>
        <p:sp>
          <p:nvSpPr>
            <p:cNvPr id="42021" name="Oval 30"/>
            <p:cNvSpPr>
              <a:spLocks noChangeArrowheads="1"/>
            </p:cNvSpPr>
            <p:nvPr/>
          </p:nvSpPr>
          <p:spPr bwMode="auto">
            <a:xfrm>
              <a:off x="5136" y="2162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22" name="Rectangle 31"/>
            <p:cNvSpPr>
              <a:spLocks noChangeArrowheads="1"/>
            </p:cNvSpPr>
            <p:nvPr/>
          </p:nvSpPr>
          <p:spPr bwMode="auto">
            <a:xfrm>
              <a:off x="5162" y="213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7534607" y="5182800"/>
            <a:ext cx="393791" cy="457306"/>
            <a:chOff x="3784" y="3264"/>
            <a:chExt cx="248" cy="288"/>
          </a:xfrm>
        </p:grpSpPr>
        <p:sp>
          <p:nvSpPr>
            <p:cNvPr id="42019" name="Oval 36"/>
            <p:cNvSpPr>
              <a:spLocks noChangeArrowheads="1"/>
            </p:cNvSpPr>
            <p:nvPr/>
          </p:nvSpPr>
          <p:spPr bwMode="auto">
            <a:xfrm>
              <a:off x="3784" y="3296"/>
              <a:ext cx="248" cy="24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2020" name="Rectangle 37"/>
            <p:cNvSpPr>
              <a:spLocks noChangeArrowheads="1"/>
            </p:cNvSpPr>
            <p:nvPr/>
          </p:nvSpPr>
          <p:spPr bwMode="auto">
            <a:xfrm>
              <a:off x="3810" y="32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grpSp>
        <p:nvGrpSpPr>
          <p:cNvPr id="12" name="Group 57"/>
          <p:cNvGrpSpPr>
            <a:grpSpLocks/>
          </p:cNvGrpSpPr>
          <p:nvPr/>
        </p:nvGrpSpPr>
        <p:grpSpPr bwMode="auto">
          <a:xfrm>
            <a:off x="6602529" y="3796592"/>
            <a:ext cx="495415" cy="1440195"/>
            <a:chOff x="3197" y="2391"/>
            <a:chExt cx="312" cy="907"/>
          </a:xfrm>
        </p:grpSpPr>
        <p:sp>
          <p:nvSpPr>
            <p:cNvPr id="42017" name="Line 38"/>
            <p:cNvSpPr>
              <a:spLocks noChangeShapeType="1"/>
            </p:cNvSpPr>
            <p:nvPr/>
          </p:nvSpPr>
          <p:spPr bwMode="auto">
            <a:xfrm flipH="1">
              <a:off x="3282" y="2391"/>
              <a:ext cx="227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8" name="Rectangle 40"/>
            <p:cNvSpPr>
              <a:spLocks noChangeArrowheads="1"/>
            </p:cNvSpPr>
            <p:nvPr/>
          </p:nvSpPr>
          <p:spPr bwMode="auto">
            <a:xfrm>
              <a:off x="3197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3" name="Group 51"/>
          <p:cNvGrpSpPr>
            <a:grpSpLocks/>
          </p:cNvGrpSpPr>
          <p:nvPr/>
        </p:nvGrpSpPr>
        <p:grpSpPr bwMode="auto">
          <a:xfrm>
            <a:off x="7361531" y="3782301"/>
            <a:ext cx="492239" cy="1440196"/>
            <a:chOff x="3675" y="2382"/>
            <a:chExt cx="310" cy="907"/>
          </a:xfrm>
        </p:grpSpPr>
        <p:sp>
          <p:nvSpPr>
            <p:cNvPr id="42015" name="Line 39"/>
            <p:cNvSpPr>
              <a:spLocks noChangeShapeType="1"/>
            </p:cNvSpPr>
            <p:nvPr/>
          </p:nvSpPr>
          <p:spPr bwMode="auto">
            <a:xfrm>
              <a:off x="3675" y="2382"/>
              <a:ext cx="227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6" name="Rectangle 41"/>
            <p:cNvSpPr>
              <a:spLocks noChangeArrowheads="1"/>
            </p:cNvSpPr>
            <p:nvPr/>
          </p:nvSpPr>
          <p:spPr bwMode="auto">
            <a:xfrm>
              <a:off x="3773" y="268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4" name="Group 53"/>
          <p:cNvGrpSpPr>
            <a:grpSpLocks/>
          </p:cNvGrpSpPr>
          <p:nvPr/>
        </p:nvGrpSpPr>
        <p:grpSpPr bwMode="auto">
          <a:xfrm>
            <a:off x="6880406" y="5411453"/>
            <a:ext cx="647850" cy="457306"/>
            <a:chOff x="3372" y="3408"/>
            <a:chExt cx="408" cy="288"/>
          </a:xfrm>
        </p:grpSpPr>
        <p:sp>
          <p:nvSpPr>
            <p:cNvPr id="42013" name="Line 23"/>
            <p:cNvSpPr>
              <a:spLocks noChangeShapeType="1"/>
            </p:cNvSpPr>
            <p:nvPr/>
          </p:nvSpPr>
          <p:spPr bwMode="auto">
            <a:xfrm flipH="1">
              <a:off x="3372" y="3420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014" name="Rectangle 42"/>
            <p:cNvSpPr>
              <a:spLocks noChangeArrowheads="1"/>
            </p:cNvSpPr>
            <p:nvPr/>
          </p:nvSpPr>
          <p:spPr bwMode="auto">
            <a:xfrm>
              <a:off x="3456" y="34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15" name="Group 55"/>
          <p:cNvGrpSpPr>
            <a:grpSpLocks/>
          </p:cNvGrpSpPr>
          <p:nvPr/>
        </p:nvGrpSpPr>
        <p:grpSpPr bwMode="auto">
          <a:xfrm>
            <a:off x="8500031" y="3715610"/>
            <a:ext cx="570045" cy="1036878"/>
            <a:chOff x="4392" y="2340"/>
            <a:chExt cx="359" cy="653"/>
          </a:xfrm>
        </p:grpSpPr>
        <p:graphicFrame>
          <p:nvGraphicFramePr>
            <p:cNvPr id="42011" name="Object 34"/>
            <p:cNvGraphicFramePr>
              <a:graphicFrameLocks noChangeAspect="1"/>
            </p:cNvGraphicFramePr>
            <p:nvPr/>
          </p:nvGraphicFramePr>
          <p:xfrm>
            <a:off x="4392" y="2448"/>
            <a:ext cx="211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2011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2" y="2448"/>
                          <a:ext cx="211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2" name="Arc 43"/>
            <p:cNvSpPr>
              <a:spLocks/>
            </p:cNvSpPr>
            <p:nvPr/>
          </p:nvSpPr>
          <p:spPr bwMode="auto">
            <a:xfrm flipH="1" flipV="1">
              <a:off x="4524" y="2340"/>
              <a:ext cx="227" cy="340"/>
            </a:xfrm>
            <a:custGeom>
              <a:avLst/>
              <a:gdLst>
                <a:gd name="T0" fmla="*/ 0 w 43200"/>
                <a:gd name="T1" fmla="*/ 0 h 42946"/>
                <a:gd name="T2" fmla="*/ 0 w 43200"/>
                <a:gd name="T3" fmla="*/ 0 h 42946"/>
                <a:gd name="T4" fmla="*/ 0 w 43200"/>
                <a:gd name="T5" fmla="*/ 0 h 429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946"/>
                <a:gd name="T11" fmla="*/ 43200 w 43200"/>
                <a:gd name="T12" fmla="*/ 42946 h 42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946" fill="none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</a:path>
                <a:path w="43200" h="42946" stroke="0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  <a:lnTo>
                    <a:pt x="21600" y="21600"/>
                  </a:lnTo>
                  <a:lnTo>
                    <a:pt x="1156" y="285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59"/>
          <p:cNvGrpSpPr>
            <a:grpSpLocks/>
          </p:cNvGrpSpPr>
          <p:nvPr/>
        </p:nvGrpSpPr>
        <p:grpSpPr bwMode="auto">
          <a:xfrm>
            <a:off x="9528969" y="5487670"/>
            <a:ext cx="657377" cy="1017824"/>
            <a:chOff x="5040" y="3456"/>
            <a:chExt cx="414" cy="641"/>
          </a:xfrm>
        </p:grpSpPr>
        <p:graphicFrame>
          <p:nvGraphicFramePr>
            <p:cNvPr id="42009" name="Object 33"/>
            <p:cNvGraphicFramePr>
              <a:graphicFrameLocks noChangeAspect="1"/>
            </p:cNvGraphicFramePr>
            <p:nvPr/>
          </p:nvGraphicFramePr>
          <p:xfrm>
            <a:off x="5244" y="3552"/>
            <a:ext cx="210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2009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4" y="3552"/>
                          <a:ext cx="210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010" name="Arc 44"/>
            <p:cNvSpPr>
              <a:spLocks/>
            </p:cNvSpPr>
            <p:nvPr/>
          </p:nvSpPr>
          <p:spPr bwMode="auto">
            <a:xfrm flipH="1" flipV="1">
              <a:off x="5040" y="3456"/>
              <a:ext cx="227" cy="340"/>
            </a:xfrm>
            <a:custGeom>
              <a:avLst/>
              <a:gdLst>
                <a:gd name="T0" fmla="*/ 0 w 43200"/>
                <a:gd name="T1" fmla="*/ 0 h 42946"/>
                <a:gd name="T2" fmla="*/ 0 w 43200"/>
                <a:gd name="T3" fmla="*/ 0 h 42946"/>
                <a:gd name="T4" fmla="*/ 0 w 43200"/>
                <a:gd name="T5" fmla="*/ 0 h 429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946"/>
                <a:gd name="T11" fmla="*/ 43200 w 43200"/>
                <a:gd name="T12" fmla="*/ 42946 h 429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946" fill="none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</a:path>
                <a:path w="43200" h="42946" stroke="0" extrusionOk="0">
                  <a:moveTo>
                    <a:pt x="1156" y="28573"/>
                  </a:moveTo>
                  <a:cubicBezTo>
                    <a:pt x="390" y="26328"/>
                    <a:pt x="0" y="2397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2254"/>
                    <a:pt x="35431" y="41316"/>
                    <a:pt x="24902" y="42945"/>
                  </a:cubicBezTo>
                  <a:lnTo>
                    <a:pt x="21600" y="21600"/>
                  </a:lnTo>
                  <a:lnTo>
                    <a:pt x="1156" y="285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3" grpId="0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1)</a:t>
            </a:r>
          </a:p>
        </p:txBody>
      </p:sp>
      <p:sp>
        <p:nvSpPr>
          <p:cNvPr id="279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184775" y="1835393"/>
            <a:ext cx="4801711" cy="4747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1</a:t>
            </a:r>
            <a:r>
              <a:rPr lang="zh-CN" altLang="en-US" dirty="0"/>
              <a:t>为正常返状态，且周期为</a:t>
            </a:r>
            <a:r>
              <a:rPr lang="en-US" altLang="zh-CN" dirty="0"/>
              <a:t>3.</a:t>
            </a:r>
          </a:p>
        </p:txBody>
      </p:sp>
      <p:sp>
        <p:nvSpPr>
          <p:cNvPr id="279556" name="Rectangle 4"/>
          <p:cNvSpPr>
            <a:spLocks noChangeArrowheads="1"/>
          </p:cNvSpPr>
          <p:nvPr/>
        </p:nvSpPr>
        <p:spPr bwMode="auto">
          <a:xfrm>
            <a:off x="992592" y="988300"/>
            <a:ext cx="7850417" cy="520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因为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11</a:t>
            </a:r>
            <a:r>
              <a:rPr lang="en-US" altLang="zh-CN" sz="2400" dirty="0">
                <a:latin typeface="+mn-ea"/>
                <a:ea typeface="+mn-ea"/>
              </a:rPr>
              <a:t>(3)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11</a:t>
            </a:r>
            <a:r>
              <a:rPr lang="en-US" altLang="zh-CN" sz="2400" dirty="0">
                <a:latin typeface="+mn-ea"/>
                <a:ea typeface="+mn-ea"/>
              </a:rPr>
              <a:t>(n)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</a:t>
            </a:r>
            <a:r>
              <a:rPr lang="en-US" altLang="zh-CN" sz="2400" dirty="0">
                <a:latin typeface="+mn-ea"/>
                <a:ea typeface="+mn-ea"/>
              </a:rPr>
              <a:t>3)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</a:p>
        </p:txBody>
      </p:sp>
      <p:graphicFrame>
        <p:nvGraphicFramePr>
          <p:cNvPr id="297984" name="Object 0"/>
          <p:cNvGraphicFramePr>
            <a:graphicFrameLocks noChangeAspect="1"/>
          </p:cNvGraphicFramePr>
          <p:nvPr/>
        </p:nvGraphicFramePr>
        <p:xfrm>
          <a:off x="6108700" y="847643"/>
          <a:ext cx="2337341" cy="884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43000" imgH="431800" progId="Equation.DSMT4">
                  <p:embed/>
                </p:oleObj>
              </mc:Choice>
              <mc:Fallback>
                <p:oleObj name="Equation" r:id="rId3" imgW="1143000" imgH="431800" progId="Equation.DSMT4">
                  <p:embed/>
                  <p:pic>
                    <p:nvPicPr>
                      <p:cNvPr id="29798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847643"/>
                        <a:ext cx="2337341" cy="884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5" name="Object 1"/>
          <p:cNvGraphicFramePr>
            <a:graphicFrameLocks noChangeAspect="1"/>
          </p:cNvGraphicFramePr>
          <p:nvPr/>
        </p:nvGraphicFramePr>
        <p:xfrm>
          <a:off x="2698862" y="3623513"/>
          <a:ext cx="6262549" cy="832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060700" imgH="406400" progId="Equation.3">
                  <p:embed/>
                </p:oleObj>
              </mc:Choice>
              <mc:Fallback>
                <p:oleObj name="Equation" r:id="rId5" imgW="3060700" imgH="406400" progId="Equation.3">
                  <p:embed/>
                  <p:pic>
                    <p:nvPicPr>
                      <p:cNvPr id="29798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862" y="3623513"/>
                        <a:ext cx="6262549" cy="8320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6" name="Object 2"/>
          <p:cNvGraphicFramePr>
            <a:graphicFrameLocks noChangeAspect="1"/>
          </p:cNvGraphicFramePr>
          <p:nvPr/>
        </p:nvGraphicFramePr>
        <p:xfrm>
          <a:off x="2670175" y="5639594"/>
          <a:ext cx="7850417" cy="1122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78300" imgH="596900" progId="Equation.3">
                  <p:embed/>
                </p:oleObj>
              </mc:Choice>
              <mc:Fallback>
                <p:oleObj name="Equation" r:id="rId7" imgW="4178300" imgH="596900" progId="Equation.3">
                  <p:embed/>
                  <p:pic>
                    <p:nvPicPr>
                      <p:cNvPr id="29798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0175" y="5639594"/>
                        <a:ext cx="7850417" cy="1122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987" name="Object 3"/>
          <p:cNvGraphicFramePr>
            <a:graphicFrameLocks noChangeAspect="1"/>
          </p:cNvGraphicFramePr>
          <p:nvPr/>
        </p:nvGraphicFramePr>
        <p:xfrm>
          <a:off x="1817311" y="1622008"/>
          <a:ext cx="3248777" cy="884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87500" imgH="431800" progId="Equation.DSMT4">
                  <p:embed/>
                </p:oleObj>
              </mc:Choice>
              <mc:Fallback>
                <p:oleObj name="Equation" r:id="rId9" imgW="1587500" imgH="431800" progId="Equation.DSMT4">
                  <p:embed/>
                  <p:pic>
                    <p:nvPicPr>
                      <p:cNvPr id="297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311" y="1622008"/>
                        <a:ext cx="3248777" cy="884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1" name="Rectangle 9"/>
          <p:cNvSpPr>
            <a:spLocks noChangeArrowheads="1"/>
          </p:cNvSpPr>
          <p:nvPr/>
        </p:nvSpPr>
        <p:spPr bwMode="auto">
          <a:xfrm>
            <a:off x="1184415" y="2390510"/>
            <a:ext cx="9221205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en-US" altLang="zh-CN" sz="2400" dirty="0">
                <a:latin typeface="+mn-ea"/>
                <a:ea typeface="+mn-ea"/>
              </a:rPr>
              <a:t>    1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↔3↔5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，从而状态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5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与状态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有相同的状态性质，由此可知，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={1, 3, 5}</a:t>
            </a:r>
            <a:r>
              <a:rPr lang="zh-CN" altLang="en-US" sz="2400" dirty="0">
                <a:latin typeface="+mn-ea"/>
                <a:ea typeface="+mn-ea"/>
              </a:rPr>
              <a:t>是周期为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的正常返闭集。</a:t>
            </a:r>
          </a:p>
        </p:txBody>
      </p:sp>
      <p:graphicFrame>
        <p:nvGraphicFramePr>
          <p:cNvPr id="297988" name="Object 4"/>
          <p:cNvGraphicFramePr>
            <a:graphicFrameLocks noChangeAspect="1"/>
          </p:cNvGraphicFramePr>
          <p:nvPr/>
        </p:nvGraphicFramePr>
        <p:xfrm>
          <a:off x="2745599" y="4266453"/>
          <a:ext cx="4344405" cy="1491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222500" imgH="762000" progId="Equation.3">
                  <p:embed/>
                </p:oleObj>
              </mc:Choice>
              <mc:Fallback>
                <p:oleObj name="Equation" r:id="rId11" imgW="2222500" imgH="762000" progId="Equation.3">
                  <p:embed/>
                  <p:pic>
                    <p:nvPicPr>
                      <p:cNvPr id="29798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99" y="4266453"/>
                        <a:ext cx="4344405" cy="1491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9563" name="Rectangle 11"/>
          <p:cNvSpPr>
            <a:spLocks noChangeArrowheads="1"/>
          </p:cNvSpPr>
          <p:nvPr/>
        </p:nvSpPr>
        <p:spPr bwMode="auto">
          <a:xfrm>
            <a:off x="8961411" y="3809147"/>
            <a:ext cx="1370330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/>
              <a:t>，</a:t>
            </a:r>
            <a:r>
              <a:rPr lang="en-US" altLang="zh-CN" sz="2400" dirty="0"/>
              <a:t>(n</a:t>
            </a:r>
            <a:r>
              <a:rPr lang="en-US" altLang="zh-CN" sz="2400" dirty="0">
                <a:sym typeface="Symbol" panose="05050102010706020507" pitchFamily="18" charset="2"/>
              </a:rPr>
              <a:t></a:t>
            </a:r>
            <a:r>
              <a:rPr lang="en-US" altLang="zh-CN" sz="2400" dirty="0"/>
              <a:t>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9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79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 autoUpdateAnimBg="0" advAuto="0"/>
      <p:bldP spid="279556" grpId="0" autoUpdateAnimBg="0"/>
      <p:bldP spid="279561" grpId="0" autoUpdateAnimBg="0"/>
      <p:bldP spid="279563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3(</a:t>
            </a:r>
            <a:r>
              <a:rPr lang="zh-CN" altLang="en-US"/>
              <a:t>续</a:t>
            </a:r>
            <a:r>
              <a:rPr lang="en-US" altLang="zh-CN"/>
              <a:t>2)</a:t>
            </a:r>
          </a:p>
        </p:txBody>
      </p:sp>
      <p:sp>
        <p:nvSpPr>
          <p:cNvPr id="280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2593" y="959314"/>
            <a:ext cx="7774199" cy="660923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故状态</a:t>
            </a:r>
            <a:r>
              <a:rPr lang="en-US" altLang="zh-CN" dirty="0"/>
              <a:t>2</a:t>
            </a:r>
            <a:r>
              <a:rPr lang="zh-CN" altLang="en-US" dirty="0"/>
              <a:t>为正常返状态。</a:t>
            </a:r>
          </a:p>
        </p:txBody>
      </p:sp>
      <p:sp>
        <p:nvSpPr>
          <p:cNvPr id="280580" name="Rectangle 4"/>
          <p:cNvSpPr>
            <a:spLocks noChangeArrowheads="1"/>
          </p:cNvSpPr>
          <p:nvPr/>
        </p:nvSpPr>
        <p:spPr bwMode="auto">
          <a:xfrm>
            <a:off x="999397" y="5175344"/>
            <a:ext cx="104394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</a:t>
            </a:r>
            <a:r>
              <a:rPr lang="zh-CN" altLang="en-US" sz="2400" dirty="0">
                <a:latin typeface="+mn-ea"/>
                <a:ea typeface="+mn-ea"/>
              </a:rPr>
              <a:t>该齐次马氏链的状态空间分解为</a:t>
            </a:r>
            <a:r>
              <a:rPr lang="en-US" altLang="zh-CN" sz="2400" dirty="0">
                <a:latin typeface="+mn-ea"/>
                <a:ea typeface="+mn-ea"/>
              </a:rPr>
              <a:t>E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＋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其中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{4}</a:t>
            </a:r>
            <a:r>
              <a:rPr lang="zh-CN" altLang="en-US" sz="2400" dirty="0">
                <a:latin typeface="+mn-ea"/>
                <a:ea typeface="+mn-ea"/>
              </a:rPr>
              <a:t>为非常返集；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1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{1, 3, 5}</a:t>
            </a:r>
            <a:r>
              <a:rPr lang="zh-CN" altLang="en-US" sz="2400" dirty="0">
                <a:latin typeface="+mn-ea"/>
                <a:ea typeface="+mn-ea"/>
              </a:rPr>
              <a:t>为周期为</a:t>
            </a:r>
            <a:r>
              <a:rPr lang="en-US" altLang="zh-CN" sz="2400" dirty="0">
                <a:latin typeface="+mn-ea"/>
                <a:ea typeface="+mn-ea"/>
              </a:rPr>
              <a:t>3</a:t>
            </a:r>
            <a:r>
              <a:rPr lang="zh-CN" altLang="en-US" sz="2400" dirty="0">
                <a:latin typeface="+mn-ea"/>
                <a:ea typeface="+mn-ea"/>
              </a:rPr>
              <a:t>的正常返闭集；</a:t>
            </a:r>
            <a:r>
              <a:rPr lang="en-US" altLang="zh-CN" sz="2400" dirty="0">
                <a:latin typeface="+mn-ea"/>
                <a:ea typeface="+mn-ea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</a:rPr>
              <a:t>2</a:t>
            </a: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{2, 6}</a:t>
            </a:r>
            <a:r>
              <a:rPr lang="zh-CN" altLang="en-US" sz="2400" dirty="0">
                <a:latin typeface="+mn-ea"/>
                <a:ea typeface="+mn-ea"/>
              </a:rPr>
              <a:t>为非周期、正常返遍历的闭集。</a:t>
            </a:r>
          </a:p>
        </p:txBody>
      </p:sp>
      <p:sp>
        <p:nvSpPr>
          <p:cNvPr id="280581" name="Rectangle 5"/>
          <p:cNvSpPr>
            <a:spLocks noChangeArrowheads="1"/>
          </p:cNvSpPr>
          <p:nvPr/>
        </p:nvSpPr>
        <p:spPr bwMode="auto">
          <a:xfrm>
            <a:off x="992593" y="1460286"/>
            <a:ext cx="10134600" cy="168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+mn-ea"/>
                <a:ea typeface="+mn-ea"/>
              </a:rPr>
              <a:t>    p</a:t>
            </a:r>
            <a:r>
              <a:rPr lang="en-US" altLang="zh-CN" sz="2400" baseline="-25000" dirty="0">
                <a:latin typeface="+mn-ea"/>
                <a:ea typeface="+mn-ea"/>
              </a:rPr>
              <a:t>66</a:t>
            </a:r>
            <a:r>
              <a:rPr lang="en-US" altLang="zh-CN" sz="2400" dirty="0">
                <a:latin typeface="+mn-ea"/>
                <a:ea typeface="+mn-ea"/>
              </a:rPr>
              <a:t>(1)&gt;0</a:t>
            </a:r>
            <a:r>
              <a:rPr lang="zh-CN" altLang="en-US" sz="2400" dirty="0">
                <a:latin typeface="+mn-ea"/>
                <a:ea typeface="+mn-ea"/>
              </a:rPr>
              <a:t>，故状态</a:t>
            </a:r>
            <a:r>
              <a:rPr lang="en-US" altLang="zh-CN" sz="2400" dirty="0">
                <a:latin typeface="+mn-ea"/>
                <a:ea typeface="+mn-ea"/>
              </a:rPr>
              <a:t>6</a:t>
            </a:r>
            <a:r>
              <a:rPr lang="zh-CN" altLang="en-US" sz="2400" dirty="0">
                <a:latin typeface="+mn-ea"/>
                <a:ea typeface="+mn-ea"/>
              </a:rPr>
              <a:t>为非周期状态。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+mn-ea"/>
                <a:ea typeface="+mn-ea"/>
              </a:rPr>
              <a:t>    </a:t>
            </a:r>
            <a:r>
              <a:rPr lang="en-US" altLang="zh-CN" sz="2400" dirty="0">
                <a:latin typeface="+mn-ea"/>
                <a:ea typeface="+mn-ea"/>
              </a:rPr>
              <a:t>2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↔6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，从而状态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与状态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6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有相同的状态性质，它们都是非周期、正常返、遍历状态，故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C</a:t>
            </a:r>
            <a:r>
              <a:rPr lang="en-US" altLang="zh-CN" sz="2400" baseline="-25000" dirty="0">
                <a:latin typeface="+mn-ea"/>
                <a:ea typeface="+mn-ea"/>
                <a:sym typeface="Symbol" panose="05050102010706020507" pitchFamily="18" charset="2"/>
              </a:rPr>
              <a:t>2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={2, 6}</a:t>
            </a:r>
            <a:r>
              <a:rPr lang="zh-CN" altLang="en-US" sz="2400" dirty="0">
                <a:latin typeface="+mn-ea"/>
                <a:ea typeface="+mn-ea"/>
              </a:rPr>
              <a:t>是非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周期、正常返、遍历</a:t>
            </a:r>
            <a:r>
              <a:rPr lang="zh-CN" altLang="en-US" sz="2400" dirty="0">
                <a:latin typeface="+mn-ea"/>
                <a:ea typeface="+mn-ea"/>
              </a:rPr>
              <a:t>闭集。</a:t>
            </a:r>
          </a:p>
        </p:txBody>
      </p:sp>
      <p:graphicFrame>
        <p:nvGraphicFramePr>
          <p:cNvPr id="280582" name="Object 6"/>
          <p:cNvGraphicFramePr>
            <a:graphicFrameLocks noChangeAspect="1"/>
          </p:cNvGraphicFramePr>
          <p:nvPr/>
        </p:nvGraphicFramePr>
        <p:xfrm>
          <a:off x="2745599" y="3236522"/>
          <a:ext cx="6021193" cy="843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6100" imgH="431800" progId="Equation.3">
                  <p:embed/>
                </p:oleObj>
              </mc:Choice>
              <mc:Fallback>
                <p:oleObj name="Equation" r:id="rId2" imgW="3086100" imgH="431800" progId="Equation.3">
                  <p:embed/>
                  <p:pic>
                    <p:nvPicPr>
                      <p:cNvPr id="28058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5599" y="3236522"/>
                        <a:ext cx="6021193" cy="843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0583" name="Rectangle 7"/>
          <p:cNvSpPr>
            <a:spLocks noChangeArrowheads="1"/>
          </p:cNvSpPr>
          <p:nvPr/>
        </p:nvSpPr>
        <p:spPr bwMode="auto">
          <a:xfrm>
            <a:off x="1146175" y="3963318"/>
            <a:ext cx="9068752" cy="1130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为非常返状态。由于</a:t>
            </a:r>
            <a:r>
              <a:rPr lang="en-US" altLang="zh-CN" sz="2400" dirty="0">
                <a:latin typeface="+mn-ea"/>
                <a:ea typeface="+mn-ea"/>
              </a:rPr>
              <a:t>f</a:t>
            </a:r>
            <a:r>
              <a:rPr lang="en-US" altLang="zh-CN" sz="2400" baseline="-25000" dirty="0">
                <a:latin typeface="+mn-ea"/>
                <a:ea typeface="+mn-ea"/>
              </a:rPr>
              <a:t>44</a:t>
            </a:r>
            <a:r>
              <a:rPr lang="en-US" altLang="zh-CN" sz="2400" dirty="0">
                <a:latin typeface="+mn-ea"/>
                <a:ea typeface="+mn-ea"/>
              </a:rPr>
              <a:t>(1)&gt;0</a:t>
            </a:r>
            <a:r>
              <a:rPr lang="zh-CN" altLang="en-US" sz="2400" dirty="0">
                <a:latin typeface="+mn-ea"/>
                <a:ea typeface="+mn-ea"/>
              </a:rPr>
              <a:t>，故状态</a:t>
            </a:r>
            <a:r>
              <a:rPr lang="en-US" altLang="zh-CN" sz="2400" dirty="0">
                <a:latin typeface="+mn-ea"/>
                <a:ea typeface="+mn-ea"/>
              </a:rPr>
              <a:t>4</a:t>
            </a:r>
            <a:r>
              <a:rPr lang="zh-CN" altLang="en-US" sz="2400" dirty="0">
                <a:latin typeface="+mn-ea"/>
                <a:ea typeface="+mn-ea"/>
              </a:rPr>
              <a:t>为非周期状态。</a:t>
            </a:r>
            <a:r>
              <a:rPr lang="en-US" altLang="zh-CN" sz="2400" dirty="0">
                <a:latin typeface="+mn-ea"/>
                <a:ea typeface="+mn-ea"/>
              </a:rPr>
              <a:t>N</a:t>
            </a:r>
            <a:r>
              <a:rPr lang="en-US" altLang="zh-CN" sz="2400" dirty="0">
                <a:latin typeface="+mn-ea"/>
                <a:ea typeface="+mn-ea"/>
                <a:sym typeface="Symbol" panose="05050102010706020507" pitchFamily="18" charset="2"/>
              </a:rPr>
              <a:t>={4}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为</a:t>
            </a:r>
            <a:r>
              <a:rPr lang="zh-CN" altLang="en-US" sz="2400" dirty="0">
                <a:latin typeface="+mn-ea"/>
                <a:ea typeface="+mn-ea"/>
              </a:rPr>
              <a:t>非</a:t>
            </a:r>
            <a:r>
              <a:rPr lang="zh-CN" altLang="en-US" sz="2400" dirty="0">
                <a:latin typeface="+mn-ea"/>
                <a:ea typeface="+mn-ea"/>
                <a:sym typeface="Symbol" panose="05050102010706020507" pitchFamily="18" charset="2"/>
              </a:rPr>
              <a:t>周期非常返</a:t>
            </a:r>
            <a:r>
              <a:rPr lang="zh-CN" altLang="en-US" sz="2400" dirty="0">
                <a:latin typeface="+mn-ea"/>
                <a:ea typeface="+mn-ea"/>
              </a:rPr>
              <a:t>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0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0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0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build="p" autoUpdateAnimBg="0" advAuto="0"/>
      <p:bldP spid="280580" grpId="0" autoUpdateAnimBg="0"/>
      <p:bldP spid="280581" grpId="0" autoUpdateAnimBg="0"/>
      <p:bldP spid="280583" grpId="0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4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2775" y="1009885"/>
            <a:ext cx="9906000" cy="101623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zh-CN" altLang="en-US" dirty="0"/>
              <a:t>设齐次马氏链的状态空间</a:t>
            </a:r>
            <a:r>
              <a:rPr lang="en-US" altLang="zh-CN" dirty="0"/>
              <a:t>E</a:t>
            </a:r>
            <a:r>
              <a:rPr lang="zh-CN" altLang="en-US" dirty="0"/>
              <a:t>＝</a:t>
            </a:r>
            <a:r>
              <a:rPr lang="en-US" altLang="zh-CN" dirty="0"/>
              <a:t>{0, 1, 2, …}</a:t>
            </a:r>
            <a:r>
              <a:rPr lang="zh-CN" altLang="en-US" dirty="0"/>
              <a:t>，转移概率为</a:t>
            </a:r>
          </a:p>
        </p:txBody>
      </p:sp>
      <p:graphicFrame>
        <p:nvGraphicFramePr>
          <p:cNvPr id="295936" name="Object 0"/>
          <p:cNvGraphicFramePr>
            <a:graphicFrameLocks noChangeAspect="1"/>
          </p:cNvGraphicFramePr>
          <p:nvPr/>
        </p:nvGraphicFramePr>
        <p:xfrm>
          <a:off x="4417035" y="3984318"/>
          <a:ext cx="3240838" cy="2794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43100" imgH="1676400" progId="Equation.3">
                  <p:embed/>
                </p:oleObj>
              </mc:Choice>
              <mc:Fallback>
                <p:oleObj name="Equation" r:id="rId2" imgW="1943100" imgH="1676400" progId="Equation.3">
                  <p:embed/>
                  <p:pic>
                    <p:nvPicPr>
                      <p:cNvPr id="295936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7035" y="3984318"/>
                        <a:ext cx="3240838" cy="27946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2482807" y="2827400"/>
            <a:ext cx="22420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状态转移图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817531" y="5078359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45065" name="Object 1"/>
          <p:cNvGraphicFramePr>
            <a:graphicFrameLocks noChangeAspect="1"/>
          </p:cNvGraphicFramePr>
          <p:nvPr/>
        </p:nvGraphicFramePr>
        <p:xfrm>
          <a:off x="4080995" y="1503010"/>
          <a:ext cx="3048706" cy="83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3200" imgH="406400" progId="Equation.3">
                  <p:embed/>
                </p:oleObj>
              </mc:Choice>
              <mc:Fallback>
                <p:oleObj name="Equation" r:id="rId4" imgW="1473200" imgH="406400" progId="Equation.3">
                  <p:embed/>
                  <p:pic>
                    <p:nvPicPr>
                      <p:cNvPr id="45065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0995" y="1503010"/>
                        <a:ext cx="3048706" cy="839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305242" y="2986779"/>
            <a:ext cx="360446" cy="457306"/>
            <a:chOff x="2380" y="1964"/>
            <a:chExt cx="227" cy="288"/>
          </a:xfrm>
        </p:grpSpPr>
        <p:sp>
          <p:nvSpPr>
            <p:cNvPr id="45105" name="Oval 9"/>
            <p:cNvSpPr>
              <a:spLocks noChangeArrowheads="1"/>
            </p:cNvSpPr>
            <p:nvPr/>
          </p:nvSpPr>
          <p:spPr bwMode="auto">
            <a:xfrm>
              <a:off x="2380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6" name="Rectangle 10"/>
            <p:cNvSpPr>
              <a:spLocks noChangeArrowheads="1"/>
            </p:cNvSpPr>
            <p:nvPr/>
          </p:nvSpPr>
          <p:spPr bwMode="auto">
            <a:xfrm>
              <a:off x="2395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6429452" y="2986779"/>
            <a:ext cx="360446" cy="457306"/>
            <a:chOff x="3088" y="1964"/>
            <a:chExt cx="227" cy="288"/>
          </a:xfrm>
        </p:grpSpPr>
        <p:sp>
          <p:nvSpPr>
            <p:cNvPr id="45103" name="Oval 11"/>
            <p:cNvSpPr>
              <a:spLocks noChangeArrowheads="1"/>
            </p:cNvSpPr>
            <p:nvPr/>
          </p:nvSpPr>
          <p:spPr bwMode="auto">
            <a:xfrm>
              <a:off x="3088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4" name="Rectangle 12"/>
            <p:cNvSpPr>
              <a:spLocks noChangeArrowheads="1"/>
            </p:cNvSpPr>
            <p:nvPr/>
          </p:nvSpPr>
          <p:spPr bwMode="auto">
            <a:xfrm>
              <a:off x="3103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7553662" y="2986779"/>
            <a:ext cx="360446" cy="457306"/>
            <a:chOff x="3796" y="1964"/>
            <a:chExt cx="227" cy="288"/>
          </a:xfrm>
        </p:grpSpPr>
        <p:sp>
          <p:nvSpPr>
            <p:cNvPr id="45101" name="Oval 13"/>
            <p:cNvSpPr>
              <a:spLocks noChangeArrowheads="1"/>
            </p:cNvSpPr>
            <p:nvPr/>
          </p:nvSpPr>
          <p:spPr bwMode="auto">
            <a:xfrm>
              <a:off x="3796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2" name="Rectangle 14"/>
            <p:cNvSpPr>
              <a:spLocks noChangeArrowheads="1"/>
            </p:cNvSpPr>
            <p:nvPr/>
          </p:nvSpPr>
          <p:spPr bwMode="auto">
            <a:xfrm>
              <a:off x="3811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2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8679460" y="2986779"/>
            <a:ext cx="360445" cy="457306"/>
            <a:chOff x="4505" y="1964"/>
            <a:chExt cx="227" cy="288"/>
          </a:xfrm>
        </p:grpSpPr>
        <p:sp>
          <p:nvSpPr>
            <p:cNvPr id="45099" name="Oval 15"/>
            <p:cNvSpPr>
              <a:spLocks noChangeArrowheads="1"/>
            </p:cNvSpPr>
            <p:nvPr/>
          </p:nvSpPr>
          <p:spPr bwMode="auto">
            <a:xfrm>
              <a:off x="4505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5100" name="Rectangle 16"/>
            <p:cNvSpPr>
              <a:spLocks noChangeArrowheads="1"/>
            </p:cNvSpPr>
            <p:nvPr/>
          </p:nvSpPr>
          <p:spPr bwMode="auto">
            <a:xfrm>
              <a:off x="4520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9802082" y="2972488"/>
            <a:ext cx="48906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/>
              <a:t>…</a:t>
            </a:r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5686330" y="2881981"/>
            <a:ext cx="762176" cy="651026"/>
            <a:chOff x="2620" y="1898"/>
            <a:chExt cx="480" cy="410"/>
          </a:xfrm>
        </p:grpSpPr>
        <p:sp>
          <p:nvSpPr>
            <p:cNvPr id="45097" name="Arc 17"/>
            <p:cNvSpPr>
              <a:spLocks/>
            </p:cNvSpPr>
            <p:nvPr/>
          </p:nvSpPr>
          <p:spPr bwMode="auto">
            <a:xfrm flipH="1" flipV="1">
              <a:off x="2620" y="2138"/>
              <a:ext cx="480" cy="144"/>
            </a:xfrm>
            <a:custGeom>
              <a:avLst/>
              <a:gdLst>
                <a:gd name="T0" fmla="*/ 0 w 42764"/>
                <a:gd name="T1" fmla="*/ 0 h 21600"/>
                <a:gd name="T2" fmla="*/ 0 w 42764"/>
                <a:gd name="T3" fmla="*/ 0 h 21600"/>
                <a:gd name="T4" fmla="*/ 0 w 42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764"/>
                <a:gd name="T10" fmla="*/ 0 h 21600"/>
                <a:gd name="T11" fmla="*/ 42764 w 42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4" h="21600" fill="none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</a:path>
                <a:path w="42764" h="21600" stroke="0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  <a:lnTo>
                    <a:pt x="21164" y="21600"/>
                  </a:lnTo>
                  <a:lnTo>
                    <a:pt x="-1" y="172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8" name="Object 10"/>
            <p:cNvGraphicFramePr>
              <a:graphicFrameLocks noChangeAspect="1"/>
            </p:cNvGraphicFramePr>
            <p:nvPr/>
          </p:nvGraphicFramePr>
          <p:xfrm>
            <a:off x="2764" y="189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8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89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605348" y="2881981"/>
            <a:ext cx="2132506" cy="720892"/>
            <a:chOff x="2545" y="1898"/>
            <a:chExt cx="1343" cy="454"/>
          </a:xfrm>
        </p:grpSpPr>
        <p:sp>
          <p:nvSpPr>
            <p:cNvPr id="45095" name="Arc 18"/>
            <p:cNvSpPr>
              <a:spLocks/>
            </p:cNvSpPr>
            <p:nvPr/>
          </p:nvSpPr>
          <p:spPr bwMode="auto">
            <a:xfrm flipH="1" flipV="1">
              <a:off x="2545" y="2208"/>
              <a:ext cx="1343" cy="144"/>
            </a:xfrm>
            <a:custGeom>
              <a:avLst/>
              <a:gdLst>
                <a:gd name="T0" fmla="*/ 0 w 42274"/>
                <a:gd name="T1" fmla="*/ 0 h 21600"/>
                <a:gd name="T2" fmla="*/ 0 w 42274"/>
                <a:gd name="T3" fmla="*/ 0 h 21600"/>
                <a:gd name="T4" fmla="*/ 0 w 4227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274"/>
                <a:gd name="T10" fmla="*/ 0 h 21600"/>
                <a:gd name="T11" fmla="*/ 42274 w 422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74" h="21600" fill="none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</a:path>
                <a:path w="42274" h="21600" stroke="0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  <a:lnTo>
                    <a:pt x="20674" y="21600"/>
                  </a:lnTo>
                  <a:lnTo>
                    <a:pt x="0" y="153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6" name="Object 9"/>
            <p:cNvGraphicFramePr>
              <a:graphicFrameLocks noChangeAspect="1"/>
            </p:cNvGraphicFramePr>
            <p:nvPr/>
          </p:nvGraphicFramePr>
          <p:xfrm>
            <a:off x="3484" y="189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4" y="189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532307" y="2993132"/>
            <a:ext cx="3348812" cy="782818"/>
            <a:chOff x="2523" y="1968"/>
            <a:chExt cx="2109" cy="493"/>
          </a:xfrm>
        </p:grpSpPr>
        <p:sp>
          <p:nvSpPr>
            <p:cNvPr id="45093" name="Arc 32"/>
            <p:cNvSpPr>
              <a:spLocks/>
            </p:cNvSpPr>
            <p:nvPr/>
          </p:nvSpPr>
          <p:spPr bwMode="auto">
            <a:xfrm flipH="1" flipV="1">
              <a:off x="2523" y="2220"/>
              <a:ext cx="2109" cy="241"/>
            </a:xfrm>
            <a:custGeom>
              <a:avLst/>
              <a:gdLst>
                <a:gd name="T0" fmla="*/ 0 w 43200"/>
                <a:gd name="T1" fmla="*/ 0 h 21692"/>
                <a:gd name="T2" fmla="*/ 0 w 43200"/>
                <a:gd name="T3" fmla="*/ 0 h 21692"/>
                <a:gd name="T4" fmla="*/ 0 w 43200"/>
                <a:gd name="T5" fmla="*/ 0 h 2169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92"/>
                <a:gd name="T11" fmla="*/ 43200 w 43200"/>
                <a:gd name="T12" fmla="*/ 21692 h 21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92" fill="none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92" stroke="0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4" name="Object 8"/>
            <p:cNvGraphicFramePr>
              <a:graphicFrameLocks noChangeAspect="1"/>
            </p:cNvGraphicFramePr>
            <p:nvPr/>
          </p:nvGraphicFramePr>
          <p:xfrm>
            <a:off x="4238" y="196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4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8" y="196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5489434" y="3034416"/>
            <a:ext cx="4344405" cy="800285"/>
            <a:chOff x="2496" y="1994"/>
            <a:chExt cx="2736" cy="504"/>
          </a:xfrm>
        </p:grpSpPr>
        <p:sp>
          <p:nvSpPr>
            <p:cNvPr id="45091" name="Arc 37"/>
            <p:cNvSpPr>
              <a:spLocks/>
            </p:cNvSpPr>
            <p:nvPr/>
          </p:nvSpPr>
          <p:spPr bwMode="auto">
            <a:xfrm flipH="1" flipV="1">
              <a:off x="2496" y="2258"/>
              <a:ext cx="2736" cy="240"/>
            </a:xfrm>
            <a:custGeom>
              <a:avLst/>
              <a:gdLst>
                <a:gd name="T0" fmla="*/ 0 w 43200"/>
                <a:gd name="T1" fmla="*/ 0 h 21601"/>
                <a:gd name="T2" fmla="*/ 0 w 43200"/>
                <a:gd name="T3" fmla="*/ 0 h 21601"/>
                <a:gd name="T4" fmla="*/ 0 w 43200"/>
                <a:gd name="T5" fmla="*/ 0 h 216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1"/>
                <a:gd name="T11" fmla="*/ 43200 w 43200"/>
                <a:gd name="T12" fmla="*/ 21601 h 216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1" fill="none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01" stroke="0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5092" name="Object 7"/>
            <p:cNvGraphicFramePr>
              <a:graphicFrameLocks noChangeAspect="1"/>
            </p:cNvGraphicFramePr>
            <p:nvPr/>
          </p:nvGraphicFramePr>
          <p:xfrm>
            <a:off x="4944" y="199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268" imgH="406048" progId="Equation.3">
                    <p:embed/>
                  </p:oleObj>
                </mc:Choice>
                <mc:Fallback>
                  <p:oleObj name="Equation" r:id="rId6" imgW="152268" imgH="406048" progId="Equation.3">
                    <p:embed/>
                    <p:pic>
                      <p:nvPicPr>
                        <p:cNvPr id="45092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199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4771718" y="2748600"/>
            <a:ext cx="601802" cy="651026"/>
            <a:chOff x="2044" y="1814"/>
            <a:chExt cx="379" cy="410"/>
          </a:xfrm>
        </p:grpSpPr>
        <p:graphicFrame>
          <p:nvGraphicFramePr>
            <p:cNvPr id="45089" name="Object 6"/>
            <p:cNvGraphicFramePr>
              <a:graphicFrameLocks noChangeAspect="1"/>
            </p:cNvGraphicFramePr>
            <p:nvPr/>
          </p:nvGraphicFramePr>
          <p:xfrm>
            <a:off x="2044" y="181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9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181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90" name="Arc 39"/>
            <p:cNvSpPr>
              <a:spLocks/>
            </p:cNvSpPr>
            <p:nvPr/>
          </p:nvSpPr>
          <p:spPr bwMode="auto">
            <a:xfrm flipH="1">
              <a:off x="2196" y="1908"/>
              <a:ext cx="227" cy="227"/>
            </a:xfrm>
            <a:custGeom>
              <a:avLst/>
              <a:gdLst>
                <a:gd name="T0" fmla="*/ 0 w 42555"/>
                <a:gd name="T1" fmla="*/ 0 h 43200"/>
                <a:gd name="T2" fmla="*/ 0 w 42555"/>
                <a:gd name="T3" fmla="*/ 0 h 43200"/>
                <a:gd name="T4" fmla="*/ 0 w 42555"/>
                <a:gd name="T5" fmla="*/ 0 h 43200"/>
                <a:gd name="T6" fmla="*/ 0 60000 65536"/>
                <a:gd name="T7" fmla="*/ 0 60000 65536"/>
                <a:gd name="T8" fmla="*/ 0 60000 65536"/>
                <a:gd name="T9" fmla="*/ 0 w 42555"/>
                <a:gd name="T10" fmla="*/ 0 h 43200"/>
                <a:gd name="T11" fmla="*/ 42555 w 4255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55" h="43200" fill="none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</a:path>
                <a:path w="42555" h="43200" stroke="0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  <a:lnTo>
                    <a:pt x="20955" y="21600"/>
                  </a:lnTo>
                  <a:lnTo>
                    <a:pt x="0" y="163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5510077" y="2230955"/>
            <a:ext cx="1011471" cy="827278"/>
            <a:chOff x="2509" y="1488"/>
            <a:chExt cx="637" cy="521"/>
          </a:xfrm>
        </p:grpSpPr>
        <p:graphicFrame>
          <p:nvGraphicFramePr>
            <p:cNvPr id="45087" name="Object 5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8" name="Arc 46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6651753" y="2230955"/>
            <a:ext cx="1011472" cy="827278"/>
            <a:chOff x="2509" y="1488"/>
            <a:chExt cx="637" cy="521"/>
          </a:xfrm>
        </p:grpSpPr>
        <p:graphicFrame>
          <p:nvGraphicFramePr>
            <p:cNvPr id="45085" name="Object 4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5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6" name="Arc 50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7756909" y="2211901"/>
            <a:ext cx="1011472" cy="827278"/>
            <a:chOff x="2509" y="1488"/>
            <a:chExt cx="637" cy="521"/>
          </a:xfrm>
        </p:grpSpPr>
        <p:graphicFrame>
          <p:nvGraphicFramePr>
            <p:cNvPr id="45083" name="Object 3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3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4" name="Arc 54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8900173" y="2230955"/>
            <a:ext cx="1011472" cy="827278"/>
            <a:chOff x="2509" y="1488"/>
            <a:chExt cx="637" cy="521"/>
          </a:xfrm>
        </p:grpSpPr>
        <p:graphicFrame>
          <p:nvGraphicFramePr>
            <p:cNvPr id="45081" name="Object 2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2268" imgH="406048" progId="Equation.3">
                    <p:embed/>
                  </p:oleObj>
                </mc:Choice>
                <mc:Fallback>
                  <p:oleObj name="Equation" r:id="rId8" imgW="152268" imgH="406048" progId="Equation.3">
                    <p:embed/>
                    <p:pic>
                      <p:nvPicPr>
                        <p:cNvPr id="45081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82" name="Arc 58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276487" grpId="0" autoUpdateAnimBg="0"/>
      <p:bldP spid="276504" grpId="0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4(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3775" y="1060807"/>
            <a:ext cx="7850382" cy="635648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对状态</a:t>
            </a:r>
            <a:r>
              <a:rPr lang="en-US" altLang="zh-CN" dirty="0"/>
              <a:t>0</a:t>
            </a:r>
          </a:p>
        </p:txBody>
      </p:sp>
      <p:graphicFrame>
        <p:nvGraphicFramePr>
          <p:cNvPr id="296960" name="Object 0"/>
          <p:cNvGraphicFramePr>
            <a:graphicFrameLocks noChangeAspect="1"/>
          </p:cNvGraphicFramePr>
          <p:nvPr/>
        </p:nvGraphicFramePr>
        <p:xfrm>
          <a:off x="2694327" y="1002738"/>
          <a:ext cx="4580998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27300" imgH="406400" progId="Equation.3">
                  <p:embed/>
                </p:oleObj>
              </mc:Choice>
              <mc:Fallback>
                <p:oleObj name="Equation" r:id="rId3" imgW="2527300" imgH="406400" progId="Equation.3">
                  <p:embed/>
                  <p:pic>
                    <p:nvPicPr>
                      <p:cNvPr id="2969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327" y="1002738"/>
                        <a:ext cx="4580998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1" name="Object 1"/>
          <p:cNvGraphicFramePr>
            <a:graphicFrameLocks noChangeAspect="1"/>
          </p:cNvGraphicFramePr>
          <p:nvPr/>
        </p:nvGraphicFramePr>
        <p:xfrm>
          <a:off x="2727966" y="1865744"/>
          <a:ext cx="2913736" cy="768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37589" imgH="431613" progId="Equation.3">
                  <p:embed/>
                </p:oleObj>
              </mc:Choice>
              <mc:Fallback>
                <p:oleObj name="Equation" r:id="rId5" imgW="1637589" imgH="431613" progId="Equation.3">
                  <p:embed/>
                  <p:pic>
                    <p:nvPicPr>
                      <p:cNvPr id="2969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966" y="1865744"/>
                        <a:ext cx="2913736" cy="7685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2" name="Object 2"/>
          <p:cNvGraphicFramePr>
            <a:graphicFrameLocks noChangeAspect="1"/>
          </p:cNvGraphicFramePr>
          <p:nvPr/>
        </p:nvGraphicFramePr>
        <p:xfrm>
          <a:off x="2694327" y="2539794"/>
          <a:ext cx="5924334" cy="1560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95600" imgH="762000" progId="Equation.3">
                  <p:embed/>
                </p:oleObj>
              </mc:Choice>
              <mc:Fallback>
                <p:oleObj name="Equation" r:id="rId7" imgW="2895600" imgH="762000" progId="Equation.3">
                  <p:embed/>
                  <p:pic>
                    <p:nvPicPr>
                      <p:cNvPr id="29696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4327" y="2539794"/>
                        <a:ext cx="5924334" cy="1560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3" name="Object 3"/>
          <p:cNvGraphicFramePr>
            <a:graphicFrameLocks noChangeAspect="1"/>
          </p:cNvGraphicFramePr>
          <p:nvPr/>
        </p:nvGraphicFramePr>
        <p:xfrm>
          <a:off x="2802941" y="3782919"/>
          <a:ext cx="2210312" cy="72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244060" imgH="406224" progId="Equation.3">
                  <p:embed/>
                </p:oleObj>
              </mc:Choice>
              <mc:Fallback>
                <p:oleObj name="Equation" r:id="rId9" imgW="1244060" imgH="406224" progId="Equation.3">
                  <p:embed/>
                  <p:pic>
                    <p:nvPicPr>
                      <p:cNvPr id="29696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2941" y="3782919"/>
                        <a:ext cx="2210312" cy="722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2" name="Rectangle 8"/>
          <p:cNvSpPr>
            <a:spLocks noChangeArrowheads="1"/>
          </p:cNvSpPr>
          <p:nvPr/>
        </p:nvSpPr>
        <p:spPr bwMode="auto">
          <a:xfrm>
            <a:off x="841375" y="4573365"/>
            <a:ext cx="11049000" cy="2256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为非周期、正常返、遍历状态。又因</a:t>
            </a:r>
            <a:r>
              <a:rPr lang="en-US" altLang="zh-CN" sz="2400" dirty="0">
                <a:latin typeface="+mn-ea"/>
                <a:ea typeface="+mn-ea"/>
              </a:rPr>
              <a:t>p</a:t>
            </a:r>
            <a:r>
              <a:rPr lang="en-US" altLang="zh-CN" sz="2400" baseline="-25000" dirty="0">
                <a:latin typeface="+mn-ea"/>
                <a:ea typeface="+mn-ea"/>
              </a:rPr>
              <a:t>i0</a:t>
            </a:r>
            <a:r>
              <a:rPr lang="en-US" altLang="zh-CN" sz="2400" dirty="0">
                <a:latin typeface="+mn-ea"/>
                <a:ea typeface="+mn-ea"/>
              </a:rPr>
              <a:t>=  </a:t>
            </a:r>
            <a:r>
              <a:rPr lang="zh-CN" altLang="en-US" sz="2400" dirty="0">
                <a:latin typeface="+mn-ea"/>
                <a:ea typeface="+mn-ea"/>
              </a:rPr>
              <a:t>，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 err="1">
                <a:latin typeface="+mn-ea"/>
                <a:ea typeface="+mn-ea"/>
                <a:sym typeface="Symbol" panose="05050102010706020507" pitchFamily="18" charset="2"/>
              </a:rPr>
              <a:t></a:t>
            </a:r>
            <a:r>
              <a:rPr lang="en-US" altLang="zh-CN" sz="2400" dirty="0" err="1">
                <a:latin typeface="+mn-ea"/>
                <a:ea typeface="+mn-ea"/>
              </a:rPr>
              <a:t>E</a:t>
            </a:r>
            <a:endParaRPr lang="en-US" altLang="zh-CN" sz="2400" dirty="0">
              <a:latin typeface="+mn-ea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＝</a:t>
            </a:r>
            <a:r>
              <a:rPr lang="en-US" altLang="zh-CN" sz="2400" dirty="0">
                <a:latin typeface="+mn-ea"/>
                <a:ea typeface="+mn-ea"/>
              </a:rPr>
              <a:t>{0, 1, 2, …}</a:t>
            </a:r>
            <a:r>
              <a:rPr lang="zh-CN" altLang="en-US" sz="2400" dirty="0">
                <a:latin typeface="+mn-ea"/>
                <a:ea typeface="+mn-ea"/>
              </a:rPr>
              <a:t>，从而状态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=0, 1, 2, …</a:t>
            </a:r>
            <a:r>
              <a:rPr lang="zh-CN" altLang="en-US" sz="2400" dirty="0">
                <a:latin typeface="+mn-ea"/>
                <a:ea typeface="+mn-ea"/>
              </a:rPr>
              <a:t>）与状态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互通，故状态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=1, 2, 3, …</a:t>
            </a:r>
            <a:r>
              <a:rPr lang="zh-CN" altLang="en-US" sz="2400" dirty="0">
                <a:latin typeface="+mn-ea"/>
                <a:ea typeface="+mn-ea"/>
              </a:rPr>
              <a:t>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有相同的状态性质，都是非周期、正常返、遍历状态。因此该马氏链为不可约遍历的齐次马氏链。所有状态均为非周期、正常返、遍历状态。</a:t>
            </a:r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/>
        </p:nvGraphicFramePr>
        <p:xfrm>
          <a:off x="7376470" y="4513459"/>
          <a:ext cx="276289" cy="736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68" imgH="406048" progId="Equation.3">
                  <p:embed/>
                </p:oleObj>
              </mc:Choice>
              <mc:Fallback>
                <p:oleObj name="Equation" r:id="rId11" imgW="152268" imgH="406048" progId="Equation.3">
                  <p:embed/>
                  <p:pic>
                    <p:nvPicPr>
                      <p:cNvPr id="2969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6470" y="4513459"/>
                        <a:ext cx="276289" cy="736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6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autoUpdateAnimBg="0" advAuto="0"/>
      <p:bldP spid="277512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5</a:t>
            </a: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4642" y="858246"/>
            <a:ext cx="9562091" cy="1124210"/>
          </a:xfrm>
        </p:spPr>
        <p:txBody>
          <a:bodyPr>
            <a:normAutofit/>
          </a:bodyPr>
          <a:lstStyle/>
          <a:p>
            <a:pPr marL="0" indent="719282">
              <a:buNone/>
            </a:pPr>
            <a:r>
              <a:rPr lang="zh-CN" altLang="en-US" sz="2601" dirty="0"/>
              <a:t>设齐次马氏链的状态空间</a:t>
            </a:r>
            <a:r>
              <a:rPr lang="en-US" altLang="zh-CN" sz="2601" dirty="0"/>
              <a:t>E</a:t>
            </a:r>
            <a:r>
              <a:rPr lang="zh-CN" altLang="en-US" sz="2601" dirty="0"/>
              <a:t>＝</a:t>
            </a:r>
            <a:r>
              <a:rPr lang="en-US" altLang="zh-CN" sz="2601" dirty="0"/>
              <a:t>{0, 1, 2, …}</a:t>
            </a:r>
            <a:r>
              <a:rPr lang="zh-CN" altLang="en-US" sz="2601" dirty="0"/>
              <a:t>，转移概率为</a:t>
            </a:r>
          </a:p>
        </p:txBody>
      </p:sp>
      <p:graphicFrame>
        <p:nvGraphicFramePr>
          <p:cNvPr id="295936" name="Object 0"/>
          <p:cNvGraphicFramePr>
            <a:graphicFrameLocks/>
          </p:cNvGraphicFramePr>
          <p:nvPr/>
        </p:nvGraphicFramePr>
        <p:xfrm>
          <a:off x="4182619" y="3814058"/>
          <a:ext cx="3861694" cy="28200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30400" imgH="1879600" progId="Equation.DSMT4">
                  <p:embed/>
                </p:oleObj>
              </mc:Choice>
              <mc:Fallback>
                <p:oleObj name="Equation" r:id="rId2" imgW="1930400" imgH="1879600" progId="Equation.DSMT4">
                  <p:embed/>
                  <p:pic>
                    <p:nvPicPr>
                      <p:cNvPr id="295936" name="Object 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2619" y="3814058"/>
                        <a:ext cx="3861694" cy="28200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Rectangle 5"/>
          <p:cNvSpPr>
            <a:spLocks noChangeArrowheads="1"/>
          </p:cNvSpPr>
          <p:nvPr/>
        </p:nvSpPr>
        <p:spPr bwMode="auto">
          <a:xfrm>
            <a:off x="2694787" y="2743836"/>
            <a:ext cx="22420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状态转移图</a:t>
            </a: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746665" y="4977966"/>
            <a:ext cx="1422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转移矩阵</a:t>
            </a:r>
          </a:p>
        </p:txBody>
      </p:sp>
      <p:graphicFrame>
        <p:nvGraphicFramePr>
          <p:cNvPr id="47113" name="Object 1"/>
          <p:cNvGraphicFramePr>
            <a:graphicFrameLocks noChangeAspect="1"/>
          </p:cNvGraphicFramePr>
          <p:nvPr/>
        </p:nvGraphicFramePr>
        <p:xfrm>
          <a:off x="2517775" y="1619627"/>
          <a:ext cx="6699212" cy="839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38500" imgH="406400" progId="Equation.DSMT4">
                  <p:embed/>
                </p:oleObj>
              </mc:Choice>
              <mc:Fallback>
                <p:oleObj name="Equation" r:id="rId4" imgW="3238500" imgH="406400" progId="Equation.DSMT4">
                  <p:embed/>
                  <p:pic>
                    <p:nvPicPr>
                      <p:cNvPr id="4711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7775" y="1619627"/>
                        <a:ext cx="6699212" cy="839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5305242" y="2986779"/>
            <a:ext cx="360446" cy="457306"/>
            <a:chOff x="2380" y="1964"/>
            <a:chExt cx="227" cy="288"/>
          </a:xfrm>
        </p:grpSpPr>
        <p:sp>
          <p:nvSpPr>
            <p:cNvPr id="47153" name="Oval 9"/>
            <p:cNvSpPr>
              <a:spLocks noChangeArrowheads="1"/>
            </p:cNvSpPr>
            <p:nvPr/>
          </p:nvSpPr>
          <p:spPr bwMode="auto">
            <a:xfrm>
              <a:off x="2380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4" name="Rectangle 10"/>
            <p:cNvSpPr>
              <a:spLocks noChangeArrowheads="1"/>
            </p:cNvSpPr>
            <p:nvPr/>
          </p:nvSpPr>
          <p:spPr bwMode="auto">
            <a:xfrm>
              <a:off x="2395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0</a:t>
              </a:r>
            </a:p>
          </p:txBody>
        </p:sp>
      </p:grp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6429452" y="2986779"/>
            <a:ext cx="360446" cy="457306"/>
            <a:chOff x="3088" y="1964"/>
            <a:chExt cx="227" cy="288"/>
          </a:xfrm>
        </p:grpSpPr>
        <p:sp>
          <p:nvSpPr>
            <p:cNvPr id="47151" name="Oval 11"/>
            <p:cNvSpPr>
              <a:spLocks noChangeArrowheads="1"/>
            </p:cNvSpPr>
            <p:nvPr/>
          </p:nvSpPr>
          <p:spPr bwMode="auto">
            <a:xfrm>
              <a:off x="3088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2" name="Rectangle 12"/>
            <p:cNvSpPr>
              <a:spLocks noChangeArrowheads="1"/>
            </p:cNvSpPr>
            <p:nvPr/>
          </p:nvSpPr>
          <p:spPr bwMode="auto">
            <a:xfrm>
              <a:off x="3103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1</a:t>
              </a:r>
            </a:p>
          </p:txBody>
        </p:sp>
      </p:grp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7553662" y="2986779"/>
            <a:ext cx="360446" cy="457306"/>
            <a:chOff x="3796" y="1964"/>
            <a:chExt cx="227" cy="288"/>
          </a:xfrm>
        </p:grpSpPr>
        <p:sp>
          <p:nvSpPr>
            <p:cNvPr id="47149" name="Oval 13"/>
            <p:cNvSpPr>
              <a:spLocks noChangeArrowheads="1"/>
            </p:cNvSpPr>
            <p:nvPr/>
          </p:nvSpPr>
          <p:spPr bwMode="auto">
            <a:xfrm>
              <a:off x="3796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50" name="Rectangle 14"/>
            <p:cNvSpPr>
              <a:spLocks noChangeArrowheads="1"/>
            </p:cNvSpPr>
            <p:nvPr/>
          </p:nvSpPr>
          <p:spPr bwMode="auto">
            <a:xfrm>
              <a:off x="3811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 dirty="0"/>
                <a:t>2</a:t>
              </a:r>
            </a:p>
          </p:txBody>
        </p:sp>
      </p:grpSp>
      <p:grpSp>
        <p:nvGrpSpPr>
          <p:cNvPr id="5" name="Group 44"/>
          <p:cNvGrpSpPr>
            <a:grpSpLocks/>
          </p:cNvGrpSpPr>
          <p:nvPr/>
        </p:nvGrpSpPr>
        <p:grpSpPr bwMode="auto">
          <a:xfrm>
            <a:off x="8679460" y="2986779"/>
            <a:ext cx="360445" cy="457306"/>
            <a:chOff x="4505" y="1964"/>
            <a:chExt cx="227" cy="288"/>
          </a:xfrm>
        </p:grpSpPr>
        <p:sp>
          <p:nvSpPr>
            <p:cNvPr id="47147" name="Oval 15"/>
            <p:cNvSpPr>
              <a:spLocks noChangeArrowheads="1"/>
            </p:cNvSpPr>
            <p:nvPr/>
          </p:nvSpPr>
          <p:spPr bwMode="auto">
            <a:xfrm>
              <a:off x="4505" y="1994"/>
              <a:ext cx="227" cy="22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buClrTx/>
                <a:buFontTx/>
                <a:buNone/>
              </a:pPr>
              <a:endParaRPr lang="zh-CN" altLang="en-US" sz="2400" b="0">
                <a:ea typeface="宋体" panose="02010600030101010101" pitchFamily="2" charset="-122"/>
              </a:endParaRPr>
            </a:p>
          </p:txBody>
        </p:sp>
        <p:sp>
          <p:nvSpPr>
            <p:cNvPr id="47148" name="Rectangle 16"/>
            <p:cNvSpPr>
              <a:spLocks noChangeArrowheads="1"/>
            </p:cNvSpPr>
            <p:nvPr/>
          </p:nvSpPr>
          <p:spPr bwMode="auto">
            <a:xfrm>
              <a:off x="4520" y="196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120000"/>
                </a:lnSpc>
                <a:buClr>
                  <a:srgbClr val="00FF00"/>
                </a:buClr>
                <a:buFont typeface="Wingdings" panose="05000000000000000000" pitchFamily="2" charset="2"/>
                <a:buAutoNum type="arabicPeriod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1pPr>
              <a:lvl2pPr marL="742950" indent="-285750">
                <a:lnSpc>
                  <a:spcPct val="120000"/>
                </a:lnSpc>
                <a:buClr>
                  <a:srgbClr val="00FF00"/>
                </a:buClr>
                <a:buAutoNum type="arabicParenR"/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buClrTx/>
                <a:buFontTx/>
                <a:buNone/>
              </a:pPr>
              <a:r>
                <a:rPr lang="en-US" altLang="zh-CN" sz="2400"/>
                <a:t>3</a:t>
              </a:r>
            </a:p>
          </p:txBody>
        </p:sp>
      </p:grpSp>
      <p:sp>
        <p:nvSpPr>
          <p:cNvPr id="276504" name="Rectangle 24"/>
          <p:cNvSpPr>
            <a:spLocks noChangeArrowheads="1"/>
          </p:cNvSpPr>
          <p:nvPr/>
        </p:nvSpPr>
        <p:spPr bwMode="auto">
          <a:xfrm>
            <a:off x="9802082" y="2972488"/>
            <a:ext cx="489063" cy="457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FontTx/>
              <a:buNone/>
            </a:pPr>
            <a:r>
              <a:rPr lang="en-US" altLang="zh-CN" sz="2400"/>
              <a:t>…</a:t>
            </a:r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5686330" y="2891508"/>
            <a:ext cx="762176" cy="630383"/>
            <a:chOff x="2620" y="1904"/>
            <a:chExt cx="480" cy="397"/>
          </a:xfrm>
        </p:grpSpPr>
        <p:sp>
          <p:nvSpPr>
            <p:cNvPr id="47145" name="Arc 17"/>
            <p:cNvSpPr>
              <a:spLocks/>
            </p:cNvSpPr>
            <p:nvPr/>
          </p:nvSpPr>
          <p:spPr bwMode="auto">
            <a:xfrm flipH="1" flipV="1">
              <a:off x="2620" y="2138"/>
              <a:ext cx="480" cy="144"/>
            </a:xfrm>
            <a:custGeom>
              <a:avLst/>
              <a:gdLst>
                <a:gd name="T0" fmla="*/ 0 w 42764"/>
                <a:gd name="T1" fmla="*/ 0 h 21600"/>
                <a:gd name="T2" fmla="*/ 0 w 42764"/>
                <a:gd name="T3" fmla="*/ 0 h 21600"/>
                <a:gd name="T4" fmla="*/ 0 w 42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764"/>
                <a:gd name="T10" fmla="*/ 0 h 21600"/>
                <a:gd name="T11" fmla="*/ 42764 w 42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4" h="21600" fill="none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</a:path>
                <a:path w="42764" h="21600" stroke="0" extrusionOk="0">
                  <a:moveTo>
                    <a:pt x="-1" y="17283"/>
                  </a:moveTo>
                  <a:cubicBezTo>
                    <a:pt x="2050" y="7225"/>
                    <a:pt x="10898" y="-1"/>
                    <a:pt x="21164" y="0"/>
                  </a:cubicBezTo>
                  <a:cubicBezTo>
                    <a:pt x="33093" y="0"/>
                    <a:pt x="42764" y="9670"/>
                    <a:pt x="42764" y="21600"/>
                  </a:cubicBezTo>
                  <a:lnTo>
                    <a:pt x="21164" y="21600"/>
                  </a:lnTo>
                  <a:lnTo>
                    <a:pt x="-1" y="172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6" name="Object 10"/>
            <p:cNvGraphicFramePr>
              <a:graphicFrameLocks noChangeAspect="1"/>
            </p:cNvGraphicFramePr>
            <p:nvPr/>
          </p:nvGraphicFramePr>
          <p:xfrm>
            <a:off x="2764" y="1904"/>
            <a:ext cx="15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52334" imgH="393529" progId="Equation.DSMT4">
                    <p:embed/>
                  </p:oleObj>
                </mc:Choice>
                <mc:Fallback>
                  <p:oleObj name="Equation" r:id="rId6" imgW="152334" imgH="393529" progId="Equation.DSMT4">
                    <p:embed/>
                    <p:pic>
                      <p:nvPicPr>
                        <p:cNvPr id="4714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904"/>
                          <a:ext cx="15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605348" y="2891507"/>
            <a:ext cx="2132506" cy="711365"/>
            <a:chOff x="2545" y="1904"/>
            <a:chExt cx="1343" cy="448"/>
          </a:xfrm>
        </p:grpSpPr>
        <p:sp>
          <p:nvSpPr>
            <p:cNvPr id="47143" name="Arc 18"/>
            <p:cNvSpPr>
              <a:spLocks/>
            </p:cNvSpPr>
            <p:nvPr/>
          </p:nvSpPr>
          <p:spPr bwMode="auto">
            <a:xfrm flipH="1" flipV="1">
              <a:off x="2545" y="2208"/>
              <a:ext cx="1343" cy="144"/>
            </a:xfrm>
            <a:custGeom>
              <a:avLst/>
              <a:gdLst>
                <a:gd name="T0" fmla="*/ 0 w 42274"/>
                <a:gd name="T1" fmla="*/ 0 h 21600"/>
                <a:gd name="T2" fmla="*/ 0 w 42274"/>
                <a:gd name="T3" fmla="*/ 0 h 21600"/>
                <a:gd name="T4" fmla="*/ 0 w 42274"/>
                <a:gd name="T5" fmla="*/ 0 h 21600"/>
                <a:gd name="T6" fmla="*/ 0 60000 65536"/>
                <a:gd name="T7" fmla="*/ 0 60000 65536"/>
                <a:gd name="T8" fmla="*/ 0 60000 65536"/>
                <a:gd name="T9" fmla="*/ 0 w 42274"/>
                <a:gd name="T10" fmla="*/ 0 h 21600"/>
                <a:gd name="T11" fmla="*/ 42274 w 4227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274" h="21600" fill="none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</a:path>
                <a:path w="42274" h="21600" stroke="0" extrusionOk="0">
                  <a:moveTo>
                    <a:pt x="0" y="15343"/>
                  </a:moveTo>
                  <a:cubicBezTo>
                    <a:pt x="2757" y="6231"/>
                    <a:pt x="11154" y="-1"/>
                    <a:pt x="20674" y="0"/>
                  </a:cubicBezTo>
                  <a:cubicBezTo>
                    <a:pt x="32603" y="0"/>
                    <a:pt x="42274" y="9670"/>
                    <a:pt x="42274" y="21600"/>
                  </a:cubicBezTo>
                  <a:lnTo>
                    <a:pt x="20674" y="21600"/>
                  </a:lnTo>
                  <a:lnTo>
                    <a:pt x="0" y="153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4" name="Object 9"/>
            <p:cNvGraphicFramePr>
              <a:graphicFrameLocks noChangeAspect="1"/>
            </p:cNvGraphicFramePr>
            <p:nvPr/>
          </p:nvGraphicFramePr>
          <p:xfrm>
            <a:off x="3490" y="190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39639" imgH="393529" progId="Equation.DSMT4">
                    <p:embed/>
                  </p:oleObj>
                </mc:Choice>
                <mc:Fallback>
                  <p:oleObj name="Equation" r:id="rId8" imgW="139639" imgH="393529" progId="Equation.DSMT4">
                    <p:embed/>
                    <p:pic>
                      <p:nvPicPr>
                        <p:cNvPr id="47144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0" y="190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532307" y="3002658"/>
            <a:ext cx="3348812" cy="773291"/>
            <a:chOff x="2523" y="1974"/>
            <a:chExt cx="2109" cy="487"/>
          </a:xfrm>
        </p:grpSpPr>
        <p:sp>
          <p:nvSpPr>
            <p:cNvPr id="47141" name="Arc 32"/>
            <p:cNvSpPr>
              <a:spLocks/>
            </p:cNvSpPr>
            <p:nvPr/>
          </p:nvSpPr>
          <p:spPr bwMode="auto">
            <a:xfrm flipH="1" flipV="1">
              <a:off x="2523" y="2220"/>
              <a:ext cx="2109" cy="241"/>
            </a:xfrm>
            <a:custGeom>
              <a:avLst/>
              <a:gdLst>
                <a:gd name="T0" fmla="*/ 0 w 43200"/>
                <a:gd name="T1" fmla="*/ 0 h 21692"/>
                <a:gd name="T2" fmla="*/ 0 w 43200"/>
                <a:gd name="T3" fmla="*/ 0 h 21692"/>
                <a:gd name="T4" fmla="*/ 0 w 43200"/>
                <a:gd name="T5" fmla="*/ 0 h 21692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92"/>
                <a:gd name="T11" fmla="*/ 43200 w 43200"/>
                <a:gd name="T12" fmla="*/ 21692 h 216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92" fill="none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92" stroke="0" extrusionOk="0">
                  <a:moveTo>
                    <a:pt x="0" y="21691"/>
                  </a:moveTo>
                  <a:cubicBezTo>
                    <a:pt x="0" y="21661"/>
                    <a:pt x="0" y="2163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2" name="Object 8"/>
            <p:cNvGraphicFramePr>
              <a:graphicFrameLocks noChangeAspect="1"/>
            </p:cNvGraphicFramePr>
            <p:nvPr/>
          </p:nvGraphicFramePr>
          <p:xfrm>
            <a:off x="4244" y="197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39" imgH="393529" progId="Equation.DSMT4">
                    <p:embed/>
                  </p:oleObj>
                </mc:Choice>
                <mc:Fallback>
                  <p:oleObj name="Equation" r:id="rId10" imgW="139639" imgH="393529" progId="Equation.DSMT4">
                    <p:embed/>
                    <p:pic>
                      <p:nvPicPr>
                        <p:cNvPr id="47142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4" y="197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0"/>
          <p:cNvGrpSpPr>
            <a:grpSpLocks/>
          </p:cNvGrpSpPr>
          <p:nvPr/>
        </p:nvGrpSpPr>
        <p:grpSpPr bwMode="auto">
          <a:xfrm>
            <a:off x="5489434" y="3043943"/>
            <a:ext cx="4344405" cy="790758"/>
            <a:chOff x="2496" y="2000"/>
            <a:chExt cx="2736" cy="498"/>
          </a:xfrm>
        </p:grpSpPr>
        <p:sp>
          <p:nvSpPr>
            <p:cNvPr id="47139" name="Arc 37"/>
            <p:cNvSpPr>
              <a:spLocks/>
            </p:cNvSpPr>
            <p:nvPr/>
          </p:nvSpPr>
          <p:spPr bwMode="auto">
            <a:xfrm flipH="1" flipV="1">
              <a:off x="2496" y="2258"/>
              <a:ext cx="2736" cy="240"/>
            </a:xfrm>
            <a:custGeom>
              <a:avLst/>
              <a:gdLst>
                <a:gd name="T0" fmla="*/ 0 w 43200"/>
                <a:gd name="T1" fmla="*/ 0 h 21601"/>
                <a:gd name="T2" fmla="*/ 0 w 43200"/>
                <a:gd name="T3" fmla="*/ 0 h 21601"/>
                <a:gd name="T4" fmla="*/ 0 w 43200"/>
                <a:gd name="T5" fmla="*/ 0 h 21601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1"/>
                <a:gd name="T11" fmla="*/ 43200 w 43200"/>
                <a:gd name="T12" fmla="*/ 21601 h 216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1" fill="none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1601" stroke="0" extrusionOk="0">
                  <a:moveTo>
                    <a:pt x="0" y="21600"/>
                  </a:moveTo>
                  <a:cubicBezTo>
                    <a:pt x="0" y="21600"/>
                    <a:pt x="0" y="21600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47140" name="Object 7"/>
            <p:cNvGraphicFramePr>
              <a:graphicFrameLocks noChangeAspect="1"/>
            </p:cNvGraphicFramePr>
            <p:nvPr/>
          </p:nvGraphicFramePr>
          <p:xfrm>
            <a:off x="4950" y="2000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39" imgH="393529" progId="Equation.DSMT4">
                    <p:embed/>
                  </p:oleObj>
                </mc:Choice>
                <mc:Fallback>
                  <p:oleObj name="Equation" r:id="rId12" imgW="139639" imgH="393529" progId="Equation.DSMT4">
                    <p:embed/>
                    <p:pic>
                      <p:nvPicPr>
                        <p:cNvPr id="4714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0" y="2000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4771718" y="2748600"/>
            <a:ext cx="601802" cy="651026"/>
            <a:chOff x="2044" y="1814"/>
            <a:chExt cx="379" cy="410"/>
          </a:xfrm>
        </p:grpSpPr>
        <p:graphicFrame>
          <p:nvGraphicFramePr>
            <p:cNvPr id="47137" name="Object 6"/>
            <p:cNvGraphicFramePr>
              <a:graphicFrameLocks noChangeAspect="1"/>
            </p:cNvGraphicFramePr>
            <p:nvPr/>
          </p:nvGraphicFramePr>
          <p:xfrm>
            <a:off x="2044" y="1814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406048" progId="Equation.3">
                    <p:embed/>
                  </p:oleObj>
                </mc:Choice>
                <mc:Fallback>
                  <p:oleObj name="Equation" r:id="rId14" imgW="152268" imgH="406048" progId="Equation.3">
                    <p:embed/>
                    <p:pic>
                      <p:nvPicPr>
                        <p:cNvPr id="4713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4" y="1814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8" name="Arc 39"/>
            <p:cNvSpPr>
              <a:spLocks/>
            </p:cNvSpPr>
            <p:nvPr/>
          </p:nvSpPr>
          <p:spPr bwMode="auto">
            <a:xfrm flipH="1">
              <a:off x="2196" y="1908"/>
              <a:ext cx="227" cy="227"/>
            </a:xfrm>
            <a:custGeom>
              <a:avLst/>
              <a:gdLst>
                <a:gd name="T0" fmla="*/ 0 w 42555"/>
                <a:gd name="T1" fmla="*/ 0 h 43200"/>
                <a:gd name="T2" fmla="*/ 0 w 42555"/>
                <a:gd name="T3" fmla="*/ 0 h 43200"/>
                <a:gd name="T4" fmla="*/ 0 w 42555"/>
                <a:gd name="T5" fmla="*/ 0 h 43200"/>
                <a:gd name="T6" fmla="*/ 0 60000 65536"/>
                <a:gd name="T7" fmla="*/ 0 60000 65536"/>
                <a:gd name="T8" fmla="*/ 0 60000 65536"/>
                <a:gd name="T9" fmla="*/ 0 w 42555"/>
                <a:gd name="T10" fmla="*/ 0 h 43200"/>
                <a:gd name="T11" fmla="*/ 42555 w 42555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55" h="43200" fill="none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</a:path>
                <a:path w="42555" h="43200" stroke="0" extrusionOk="0">
                  <a:moveTo>
                    <a:pt x="0" y="16360"/>
                  </a:moveTo>
                  <a:cubicBezTo>
                    <a:pt x="2404" y="6745"/>
                    <a:pt x="11043" y="-1"/>
                    <a:pt x="20955" y="0"/>
                  </a:cubicBezTo>
                  <a:cubicBezTo>
                    <a:pt x="32884" y="0"/>
                    <a:pt x="42555" y="9670"/>
                    <a:pt x="42555" y="21600"/>
                  </a:cubicBezTo>
                  <a:cubicBezTo>
                    <a:pt x="42555" y="33529"/>
                    <a:pt x="32884" y="43200"/>
                    <a:pt x="20955" y="43200"/>
                  </a:cubicBezTo>
                  <a:cubicBezTo>
                    <a:pt x="16615" y="43200"/>
                    <a:pt x="12375" y="41892"/>
                    <a:pt x="8789" y="39448"/>
                  </a:cubicBezTo>
                  <a:lnTo>
                    <a:pt x="20955" y="21600"/>
                  </a:lnTo>
                  <a:lnTo>
                    <a:pt x="0" y="163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47"/>
          <p:cNvGrpSpPr>
            <a:grpSpLocks/>
          </p:cNvGrpSpPr>
          <p:nvPr/>
        </p:nvGrpSpPr>
        <p:grpSpPr bwMode="auto">
          <a:xfrm>
            <a:off x="5510077" y="2230955"/>
            <a:ext cx="1011471" cy="827278"/>
            <a:chOff x="2509" y="1488"/>
            <a:chExt cx="637" cy="521"/>
          </a:xfrm>
        </p:grpSpPr>
        <p:graphicFrame>
          <p:nvGraphicFramePr>
            <p:cNvPr id="47135" name="Object 5"/>
            <p:cNvGraphicFramePr>
              <a:graphicFrameLocks noChangeAspect="1"/>
            </p:cNvGraphicFramePr>
            <p:nvPr/>
          </p:nvGraphicFramePr>
          <p:xfrm>
            <a:off x="2764" y="1488"/>
            <a:ext cx="158" cy="4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2268" imgH="406048" progId="Equation.3">
                    <p:embed/>
                  </p:oleObj>
                </mc:Choice>
                <mc:Fallback>
                  <p:oleObj name="Equation" r:id="rId14" imgW="152268" imgH="406048" progId="Equation.3">
                    <p:embed/>
                    <p:pic>
                      <p:nvPicPr>
                        <p:cNvPr id="47135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88"/>
                          <a:ext cx="158" cy="4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6" name="Arc 46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48"/>
          <p:cNvGrpSpPr>
            <a:grpSpLocks/>
          </p:cNvGrpSpPr>
          <p:nvPr/>
        </p:nvGrpSpPr>
        <p:grpSpPr bwMode="auto">
          <a:xfrm>
            <a:off x="6651753" y="2240482"/>
            <a:ext cx="1011472" cy="817751"/>
            <a:chOff x="2509" y="1494"/>
            <a:chExt cx="637" cy="515"/>
          </a:xfrm>
        </p:grpSpPr>
        <p:graphicFrame>
          <p:nvGraphicFramePr>
            <p:cNvPr id="47133" name="Object 4"/>
            <p:cNvGraphicFramePr>
              <a:graphicFrameLocks noChangeAspect="1"/>
            </p:cNvGraphicFramePr>
            <p:nvPr/>
          </p:nvGraphicFramePr>
          <p:xfrm>
            <a:off x="2764" y="1494"/>
            <a:ext cx="158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52334" imgH="393529" progId="Equation.DSMT4">
                    <p:embed/>
                  </p:oleObj>
                </mc:Choice>
                <mc:Fallback>
                  <p:oleObj name="Equation" r:id="rId16" imgW="152334" imgH="393529" progId="Equation.DSMT4">
                    <p:embed/>
                    <p:pic>
                      <p:nvPicPr>
                        <p:cNvPr id="4713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94"/>
                          <a:ext cx="158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4" name="Arc 50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7756909" y="2221427"/>
            <a:ext cx="1011472" cy="817751"/>
            <a:chOff x="2509" y="1494"/>
            <a:chExt cx="637" cy="515"/>
          </a:xfrm>
        </p:grpSpPr>
        <p:graphicFrame>
          <p:nvGraphicFramePr>
            <p:cNvPr id="47131" name="Object 3"/>
            <p:cNvGraphicFramePr>
              <a:graphicFrameLocks noChangeAspect="1"/>
            </p:cNvGraphicFramePr>
            <p:nvPr/>
          </p:nvGraphicFramePr>
          <p:xfrm>
            <a:off x="2764" y="1494"/>
            <a:ext cx="158" cy="3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334" imgH="393529" progId="Equation.DSMT4">
                    <p:embed/>
                  </p:oleObj>
                </mc:Choice>
                <mc:Fallback>
                  <p:oleObj name="Equation" r:id="rId18" imgW="152334" imgH="393529" progId="Equation.DSMT4">
                    <p:embed/>
                    <p:pic>
                      <p:nvPicPr>
                        <p:cNvPr id="4713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1494"/>
                          <a:ext cx="158" cy="3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2" name="Arc 54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6"/>
          <p:cNvGrpSpPr>
            <a:grpSpLocks/>
          </p:cNvGrpSpPr>
          <p:nvPr/>
        </p:nvGrpSpPr>
        <p:grpSpPr bwMode="auto">
          <a:xfrm>
            <a:off x="8900173" y="2240482"/>
            <a:ext cx="1011472" cy="817751"/>
            <a:chOff x="2509" y="1494"/>
            <a:chExt cx="637" cy="515"/>
          </a:xfrm>
        </p:grpSpPr>
        <p:graphicFrame>
          <p:nvGraphicFramePr>
            <p:cNvPr id="47129" name="Object 2"/>
            <p:cNvGraphicFramePr>
              <a:graphicFrameLocks noChangeAspect="1"/>
            </p:cNvGraphicFramePr>
            <p:nvPr/>
          </p:nvGraphicFramePr>
          <p:xfrm>
            <a:off x="2770" y="1494"/>
            <a:ext cx="145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39639" imgH="393529" progId="Equation.DSMT4">
                    <p:embed/>
                  </p:oleObj>
                </mc:Choice>
                <mc:Fallback>
                  <p:oleObj name="Equation" r:id="rId20" imgW="139639" imgH="393529" progId="Equation.DSMT4">
                    <p:embed/>
                    <p:pic>
                      <p:nvPicPr>
                        <p:cNvPr id="47129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0" y="1494"/>
                          <a:ext cx="145" cy="3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30" name="Arc 58"/>
            <p:cNvSpPr>
              <a:spLocks/>
            </p:cNvSpPr>
            <p:nvPr/>
          </p:nvSpPr>
          <p:spPr bwMode="auto">
            <a:xfrm flipH="1">
              <a:off x="2509" y="1895"/>
              <a:ext cx="637" cy="114"/>
            </a:xfrm>
            <a:custGeom>
              <a:avLst/>
              <a:gdLst>
                <a:gd name="T0" fmla="*/ 0 w 43200"/>
                <a:gd name="T1" fmla="*/ 0 h 24039"/>
                <a:gd name="T2" fmla="*/ 0 w 43200"/>
                <a:gd name="T3" fmla="*/ 0 h 24039"/>
                <a:gd name="T4" fmla="*/ 0 w 43200"/>
                <a:gd name="T5" fmla="*/ 0 h 24039"/>
                <a:gd name="T6" fmla="*/ 0 60000 65536"/>
                <a:gd name="T7" fmla="*/ 0 60000 65536"/>
                <a:gd name="T8" fmla="*/ 0 60000 65536"/>
                <a:gd name="T9" fmla="*/ 0 w 43200"/>
                <a:gd name="T10" fmla="*/ 0 h 24039"/>
                <a:gd name="T11" fmla="*/ 43200 w 43200"/>
                <a:gd name="T12" fmla="*/ 24039 h 240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4039" fill="none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4039" stroke="0" extrusionOk="0">
                  <a:moveTo>
                    <a:pt x="138" y="24038"/>
                  </a:moveTo>
                  <a:cubicBezTo>
                    <a:pt x="46" y="23229"/>
                    <a:pt x="0" y="2241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38" y="2403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5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5" grpId="0"/>
      <p:bldP spid="276487" grpId="0" autoUpdateAnimBg="0"/>
      <p:bldP spid="276504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/>
              <a:t>例</a:t>
            </a:r>
            <a:r>
              <a:rPr lang="en-US" altLang="zh-CN"/>
              <a:t>5(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277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69381" y="1154380"/>
            <a:ext cx="7697982" cy="474772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对状态</a:t>
            </a:r>
            <a:r>
              <a:rPr lang="en-US" altLang="zh-CN"/>
              <a:t>0</a:t>
            </a:r>
          </a:p>
        </p:txBody>
      </p:sp>
      <p:graphicFrame>
        <p:nvGraphicFramePr>
          <p:cNvPr id="296960" name="Object 0"/>
          <p:cNvGraphicFramePr>
            <a:graphicFrameLocks noChangeAspect="1"/>
          </p:cNvGraphicFramePr>
          <p:nvPr/>
        </p:nvGraphicFramePr>
        <p:xfrm>
          <a:off x="3361692" y="1816521"/>
          <a:ext cx="1243301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393700" progId="Equation.DSMT4">
                  <p:embed/>
                </p:oleObj>
              </mc:Choice>
              <mc:Fallback>
                <p:oleObj name="Equation" r:id="rId2" imgW="685800" imgH="393700" progId="Equation.DSMT4">
                  <p:embed/>
                  <p:pic>
                    <p:nvPicPr>
                      <p:cNvPr id="29696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692" y="1816521"/>
                        <a:ext cx="1243301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61" name="Object 1"/>
          <p:cNvGraphicFramePr>
            <a:graphicFrameLocks noChangeAspect="1"/>
          </p:cNvGraphicFramePr>
          <p:nvPr/>
        </p:nvGraphicFramePr>
        <p:xfrm>
          <a:off x="3361691" y="4139600"/>
          <a:ext cx="4585761" cy="881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78100" imgH="495300" progId="Equation.DSMT4">
                  <p:embed/>
                </p:oleObj>
              </mc:Choice>
              <mc:Fallback>
                <p:oleObj name="Equation" r:id="rId4" imgW="2578100" imgH="495300" progId="Equation.DSMT4">
                  <p:embed/>
                  <p:pic>
                    <p:nvPicPr>
                      <p:cNvPr id="296961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1691" y="4139600"/>
                        <a:ext cx="4585761" cy="8812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512" name="Rectangle 8"/>
          <p:cNvSpPr>
            <a:spLocks noChangeArrowheads="1"/>
          </p:cNvSpPr>
          <p:nvPr/>
        </p:nvSpPr>
        <p:spPr bwMode="auto">
          <a:xfrm>
            <a:off x="994807" y="5270409"/>
            <a:ext cx="9981168" cy="103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ct val="120000"/>
              </a:lnSpc>
              <a:buClr>
                <a:srgbClr val="00FF00"/>
              </a:buClr>
              <a:buFont typeface="Wingdings" panose="05000000000000000000" pitchFamily="2" charset="2"/>
              <a:buAutoNum type="arabicPeriod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marL="742950" indent="-285750">
              <a:lnSpc>
                <a:spcPct val="120000"/>
              </a:lnSpc>
              <a:buClr>
                <a:srgbClr val="00FF00"/>
              </a:buClr>
              <a:buAutoNum type="arabicParenR"/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故状态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为非常返状态。又因状态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zh-CN" altLang="en-US" sz="2400" dirty="0">
                <a:latin typeface="+mn-ea"/>
                <a:ea typeface="+mn-ea"/>
              </a:rPr>
              <a:t>（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 = 0, 1, 2, …</a:t>
            </a:r>
            <a:r>
              <a:rPr lang="zh-CN" altLang="en-US" sz="2400" dirty="0">
                <a:latin typeface="+mn-ea"/>
                <a:ea typeface="+mn-ea"/>
              </a:rPr>
              <a:t>）与状态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互通，故状态</a:t>
            </a:r>
            <a:r>
              <a:rPr lang="en-US" altLang="zh-CN" sz="2400" dirty="0" err="1">
                <a:latin typeface="+mn-ea"/>
                <a:ea typeface="+mn-ea"/>
              </a:rPr>
              <a:t>i</a:t>
            </a:r>
            <a:r>
              <a:rPr lang="en-US" altLang="zh-CN" sz="2400" dirty="0">
                <a:latin typeface="+mn-ea"/>
                <a:ea typeface="+mn-ea"/>
              </a:rPr>
              <a:t> = 1, 2, 3, …</a:t>
            </a:r>
            <a:r>
              <a:rPr lang="zh-CN" altLang="en-US" sz="2400" dirty="0">
                <a:latin typeface="+mn-ea"/>
                <a:ea typeface="+mn-ea"/>
              </a:rPr>
              <a:t>与状态</a:t>
            </a:r>
            <a:r>
              <a:rPr lang="en-US" altLang="zh-CN" sz="2400" dirty="0">
                <a:latin typeface="+mn-ea"/>
                <a:ea typeface="+mn-ea"/>
              </a:rPr>
              <a:t>0</a:t>
            </a:r>
            <a:r>
              <a:rPr lang="zh-CN" altLang="en-US" sz="2400" dirty="0">
                <a:latin typeface="+mn-ea"/>
                <a:ea typeface="+mn-ea"/>
              </a:rPr>
              <a:t>有相同的状态性质，都是非常返状态。</a:t>
            </a:r>
          </a:p>
        </p:txBody>
      </p:sp>
      <p:graphicFrame>
        <p:nvGraphicFramePr>
          <p:cNvPr id="13" name="Object 0"/>
          <p:cNvGraphicFramePr>
            <a:graphicFrameLocks noChangeAspect="1"/>
          </p:cNvGraphicFramePr>
          <p:nvPr/>
        </p:nvGraphicFramePr>
        <p:xfrm>
          <a:off x="3386637" y="2980427"/>
          <a:ext cx="2510419" cy="898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84300" imgH="495300" progId="Equation.DSMT4">
                  <p:embed/>
                </p:oleObj>
              </mc:Choice>
              <mc:Fallback>
                <p:oleObj name="Equation" r:id="rId6" imgW="1384300" imgH="495300" progId="Equation.DSMT4">
                  <p:embed/>
                  <p:pic>
                    <p:nvPicPr>
                      <p:cNvPr id="13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6637" y="2980427"/>
                        <a:ext cx="2510419" cy="898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0"/>
          <p:cNvGraphicFramePr>
            <a:graphicFrameLocks noChangeAspect="1"/>
          </p:cNvGraphicFramePr>
          <p:nvPr/>
        </p:nvGraphicFramePr>
        <p:xfrm>
          <a:off x="5100407" y="1816521"/>
          <a:ext cx="1657734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14400" imgH="393700" progId="Equation.DSMT4">
                  <p:embed/>
                </p:oleObj>
              </mc:Choice>
              <mc:Fallback>
                <p:oleObj name="Equation" r:id="rId8" imgW="914400" imgH="393700" progId="Equation.DSMT4">
                  <p:embed/>
                  <p:pic>
                    <p:nvPicPr>
                      <p:cNvPr id="14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407" y="1816521"/>
                        <a:ext cx="1657734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0"/>
          <p:cNvGraphicFramePr>
            <a:graphicFrameLocks noChangeAspect="1"/>
          </p:cNvGraphicFramePr>
          <p:nvPr/>
        </p:nvGraphicFramePr>
        <p:xfrm>
          <a:off x="7251967" y="1816521"/>
          <a:ext cx="2694612" cy="714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85900" imgH="393700" progId="Equation.DSMT4">
                  <p:embed/>
                </p:oleObj>
              </mc:Choice>
              <mc:Fallback>
                <p:oleObj name="Equation" r:id="rId10" imgW="1485900" imgH="393700" progId="Equation.DSMT4">
                  <p:embed/>
                  <p:pic>
                    <p:nvPicPr>
                      <p:cNvPr id="15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1967" y="1816521"/>
                        <a:ext cx="2694612" cy="714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7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autoUpdateAnimBg="0" advAuto="0"/>
      <p:bldP spid="277512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1231-640D-8697-BAC2-94DFB212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CB0DE0F-7C2B-6956-3892-0C7BCEF74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本讲主要内容</a:t>
            </a:r>
          </a:p>
        </p:txBody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A5A1C674-CC7B-DCBB-B2E0-42B38B870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75369" y="1067594"/>
            <a:ext cx="9333806" cy="421102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</a:rPr>
              <a:t>马尔可夫过程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齐次马氏链的性质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初始分布、绝对分布、极限分布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遍历性</a:t>
            </a:r>
          </a:p>
          <a:p>
            <a:pPr lvl="1" eaLnBrk="1" hangingPunct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</a:rPr>
              <a:t>平稳性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8F423C0-36E7-EE2C-3CB7-DF45E939A312}"/>
              </a:ext>
            </a:extLst>
          </p:cNvPr>
          <p:cNvSpPr txBox="1">
            <a:spLocks noChangeArrowheads="1"/>
          </p:cNvSpPr>
          <p:nvPr/>
        </p:nvSpPr>
        <p:spPr>
          <a:xfrm>
            <a:off x="6327775" y="1067594"/>
            <a:ext cx="5489258" cy="5020837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齐次马氏链状态的分类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  <a:sym typeface="Symbol" panose="05050102010706020507" pitchFamily="18" charset="2"/>
              </a:rPr>
              <a:t>互通  首达</a:t>
            </a:r>
            <a:endParaRPr lang="zh-CN" altLang="en-US">
              <a:solidFill>
                <a:srgbClr val="CC00CC"/>
              </a:solidFill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常返与非常返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正常返与零常返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状态空间分解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不可约马氏链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>
                <a:solidFill>
                  <a:srgbClr val="CC00CC"/>
                </a:solidFill>
              </a:rPr>
              <a:t>状态的周期性</a:t>
            </a: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43900084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0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0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0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0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40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995" grpId="0" build="p"/>
      <p:bldP spid="2" grpId="0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下一讲内容预告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6E8E93-61FA-00D3-3083-82761BAC9CBE}"/>
              </a:ext>
            </a:extLst>
          </p:cNvPr>
          <p:cNvSpPr txBox="1">
            <a:spLocks noChangeArrowheads="1"/>
          </p:cNvSpPr>
          <p:nvPr/>
        </p:nvSpPr>
        <p:spPr>
          <a:xfrm>
            <a:off x="770255" y="1188519"/>
            <a:ext cx="7247027" cy="4482549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0000FF"/>
                </a:solidFill>
                <a:latin typeface="黑体" panose="02010609060101010101" pitchFamily="49" charset="-122"/>
              </a:rPr>
              <a:t>连续参数马尔可夫链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转移概率函数、转移矩阵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连续参数齐次马氏链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初始分布、绝对分布、遍历性、平稳分布</a:t>
            </a:r>
            <a:endParaRPr lang="zh-CN" altLang="en-US" dirty="0">
              <a:solidFill>
                <a:srgbClr val="CC00CC"/>
              </a:solidFill>
              <a:latin typeface="黑体" panose="02010609060101010101" pitchFamily="49" charset="-122"/>
            </a:endParaRP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</a:rPr>
              <a:t>转移概率函数的性质</a:t>
            </a:r>
          </a:p>
          <a:p>
            <a:pPr lvl="1">
              <a:buClr>
                <a:srgbClr val="FF0000"/>
              </a:buClr>
              <a:buFontTx/>
              <a:buChar char="•"/>
            </a:pPr>
            <a:r>
              <a:rPr lang="zh-CN" altLang="en-US" dirty="0">
                <a:solidFill>
                  <a:srgbClr val="CC00CC"/>
                </a:solidFill>
                <a:latin typeface="黑体" panose="02010609060101010101" pitchFamily="49" charset="-122"/>
                <a:sym typeface="Symbol" panose="05050102010706020507" pitchFamily="18" charset="2"/>
              </a:rPr>
              <a:t>状态转移速度矩阵</a:t>
            </a:r>
            <a:endParaRPr lang="zh-CN" altLang="en-US" dirty="0">
              <a:solidFill>
                <a:srgbClr val="0000FF"/>
              </a:solidFill>
              <a:latin typeface="黑体" panose="02010609060101010101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633930A-2A5B-74CC-9F20-7662301AD648}"/>
              </a:ext>
            </a:extLst>
          </p:cNvPr>
          <p:cNvSpPr txBox="1">
            <a:spLocks noChangeArrowheads="1"/>
          </p:cNvSpPr>
          <p:nvPr/>
        </p:nvSpPr>
        <p:spPr>
          <a:xfrm>
            <a:off x="1146175" y="5114607"/>
            <a:ext cx="2984500" cy="5334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457200" indent="-4572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SzPct val="8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991235" indent="-3810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15246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2134235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2744470" indent="-304800" algn="l" defTabSz="1219835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»"/>
              <a:defRPr sz="2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33540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670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9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505" indent="-304800" algn="l" defTabSz="121983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5000"/>
              </a:lnSpc>
              <a:buFont typeface="Wingdings" panose="05000000000000000000" pitchFamily="2" charset="2"/>
              <a:buChar char="Ø"/>
            </a:pPr>
            <a:r>
              <a:rPr lang="zh-CN" altLang="en-US">
                <a:solidFill>
                  <a:srgbClr val="0000FF"/>
                </a:solidFill>
              </a:rPr>
              <a:t>生灭过程</a:t>
            </a:r>
            <a:endParaRPr lang="zh-CN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129CF63-D6EB-41F5-8CCD-DE8FAA29F0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3580" y="1152245"/>
            <a:ext cx="7563013" cy="148942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P152—154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23.</a:t>
            </a:r>
          </a:p>
        </p:txBody>
      </p:sp>
      <p:sp>
        <p:nvSpPr>
          <p:cNvPr id="53253" name="Rectangle 3"/>
          <p:cNvSpPr>
            <a:spLocks noGrp="1" noChangeArrowheads="1"/>
          </p:cNvSpPr>
          <p:nvPr>
            <p:ph type="title"/>
          </p:nvPr>
        </p:nvSpPr>
        <p:spPr>
          <a:xfrm>
            <a:off x="866776" y="316481"/>
            <a:ext cx="7469329" cy="516056"/>
          </a:xfrm>
        </p:spPr>
        <p:txBody>
          <a:bodyPr/>
          <a:lstStyle/>
          <a:p>
            <a:pPr eaLnBrk="1" hangingPunct="1"/>
            <a:r>
              <a:rPr lang="zh-CN" altLang="en-US" dirty="0"/>
              <a:t>习　题　四</a:t>
            </a:r>
          </a:p>
        </p:txBody>
      </p:sp>
      <p:pic>
        <p:nvPicPr>
          <p:cNvPr id="5325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580" y="2591594"/>
            <a:ext cx="9677401" cy="377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 advAuto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BA5A13B-F435-489A-B2F2-CB2AA13D9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4775" y="1448594"/>
            <a:ext cx="7563013" cy="29264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zh-CN" dirty="0">
                <a:solidFill>
                  <a:srgbClr val="0000FF"/>
                </a:solidFill>
                <a:ea typeface="黑体" pitchFamily="2" charset="-122"/>
              </a:rPr>
              <a:t>P152—154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CC00CC"/>
                </a:solidFill>
                <a:ea typeface="黑体" pitchFamily="2" charset="-122"/>
              </a:rPr>
              <a:t>10.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CC00CC"/>
                </a:solidFill>
                <a:ea typeface="黑体" pitchFamily="2" charset="-122"/>
              </a:rPr>
              <a:t>19.</a:t>
            </a:r>
          </a:p>
        </p:txBody>
      </p:sp>
      <p:sp>
        <p:nvSpPr>
          <p:cNvPr id="57349" name="Rectangle 3"/>
          <p:cNvSpPr>
            <a:spLocks noGrp="1" noChangeArrowheads="1"/>
          </p:cNvSpPr>
          <p:nvPr>
            <p:ph type="title"/>
          </p:nvPr>
        </p:nvSpPr>
        <p:spPr>
          <a:xfrm>
            <a:off x="1222375" y="305594"/>
            <a:ext cx="7469329" cy="516056"/>
          </a:xfrm>
        </p:spPr>
        <p:txBody>
          <a:bodyPr/>
          <a:lstStyle/>
          <a:p>
            <a:pPr eaLnBrk="1" hangingPunct="1"/>
            <a:r>
              <a:rPr lang="zh-CN" altLang="en-US" dirty="0"/>
              <a:t>习　题　四</a:t>
            </a:r>
          </a:p>
        </p:txBody>
      </p:sp>
    </p:spTree>
    <p:extLst>
      <p:ext uri="{BB962C8B-B14F-4D97-AF65-F5344CB8AC3E}">
        <p14:creationId xmlns:p14="http://schemas.microsoft.com/office/powerpoint/2010/main" val="3618972088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 advAuto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9F7BE056-9151-B249-A5FB-9C4D6DDEB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775" y="305594"/>
            <a:ext cx="7469329" cy="516056"/>
          </a:xfrm>
        </p:spPr>
        <p:txBody>
          <a:bodyPr/>
          <a:lstStyle/>
          <a:p>
            <a:pPr eaLnBrk="1" hangingPunct="1"/>
            <a:r>
              <a:rPr lang="zh-CN" altLang="en-US" dirty="0"/>
              <a:t>习　题　四</a:t>
            </a:r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7EDF364E-615C-499A-A6DC-56146B4A2F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6543" y="1219994"/>
            <a:ext cx="11481032" cy="4724400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altLang="zh-CN" dirty="0">
                <a:solidFill>
                  <a:srgbClr val="0000FF"/>
                </a:solidFill>
              </a:rPr>
              <a:t>P152  </a:t>
            </a:r>
            <a:r>
              <a:rPr lang="en-US" altLang="en-US" dirty="0">
                <a:solidFill>
                  <a:srgbClr val="CC00CC"/>
                </a:solidFill>
              </a:rPr>
              <a:t>4</a:t>
            </a:r>
            <a:r>
              <a:rPr lang="en-US" altLang="zh-CN" dirty="0">
                <a:solidFill>
                  <a:srgbClr val="CC00CC"/>
                </a:solidFill>
              </a:rPr>
              <a:t>.</a:t>
            </a:r>
          </a:p>
          <a:p>
            <a:pPr marL="0" indent="0">
              <a:lnSpc>
                <a:spcPct val="110000"/>
              </a:lnSpc>
              <a:buNone/>
              <a:defRPr/>
            </a:pPr>
            <a:endParaRPr lang="en-US" altLang="zh-CN" dirty="0">
              <a:solidFill>
                <a:srgbClr val="CC00CC"/>
              </a:solidFill>
            </a:endParaRPr>
          </a:p>
          <a:p>
            <a:pPr eaLnBrk="1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altLang="en-US" dirty="0">
                <a:solidFill>
                  <a:srgbClr val="CC00CC"/>
                </a:solidFill>
              </a:rPr>
              <a:t>4.</a:t>
            </a:r>
            <a:r>
              <a:rPr lang="zh-CN" altLang="en-US" dirty="0"/>
              <a:t>设</a:t>
            </a:r>
            <a:r>
              <a:rPr lang="en-US" altLang="zh-CN" dirty="0">
                <a:sym typeface="Symbol" pitchFamily="18" charset="2"/>
              </a:rPr>
              <a:t>{X(n),n=0,1,2,…}</a:t>
            </a:r>
            <a:r>
              <a:rPr lang="zh-CN" altLang="en-US" dirty="0">
                <a:sym typeface="Symbol" pitchFamily="18" charset="2"/>
              </a:rPr>
              <a:t>是马氏链，证明 </a:t>
            </a:r>
            <a:endParaRPr lang="en-US" altLang="zh-CN" dirty="0">
              <a:sym typeface="Symbol" pitchFamily="18" charset="2"/>
            </a:endParaRP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P{X(1)=x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|X(2)=x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,X(3)=x</a:t>
            </a:r>
            <a:r>
              <a:rPr lang="en-US" altLang="zh-CN" baseline="-25000" dirty="0">
                <a:sym typeface="Symbol" pitchFamily="18" charset="2"/>
              </a:rPr>
              <a:t>3</a:t>
            </a:r>
            <a:r>
              <a:rPr lang="en-US" altLang="zh-CN" dirty="0">
                <a:sym typeface="Symbol" pitchFamily="18" charset="2"/>
              </a:rPr>
              <a:t>,…,X(n)=</a:t>
            </a:r>
            <a:r>
              <a:rPr lang="en-US" altLang="zh-CN" dirty="0" err="1">
                <a:sym typeface="Symbol" pitchFamily="18" charset="2"/>
              </a:rPr>
              <a:t>x</a:t>
            </a:r>
            <a:r>
              <a:rPr lang="en-US" altLang="zh-CN" baseline="-25000" dirty="0" err="1">
                <a:sym typeface="Symbol" pitchFamily="18" charset="2"/>
              </a:rPr>
              <a:t>n</a:t>
            </a:r>
            <a:r>
              <a:rPr lang="en-US" altLang="zh-CN" dirty="0"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>
                <a:sym typeface="Symbol" pitchFamily="18" charset="2"/>
              </a:rPr>
              <a:t>     </a:t>
            </a:r>
            <a:r>
              <a:rPr lang="zh-CN" altLang="en-US" dirty="0">
                <a:sym typeface="Symbol" pitchFamily="18" charset="2"/>
              </a:rPr>
              <a:t>＝</a:t>
            </a:r>
            <a:r>
              <a:rPr lang="en-US" altLang="zh-CN" dirty="0">
                <a:sym typeface="Symbol" pitchFamily="18" charset="2"/>
              </a:rPr>
              <a:t>P{X(1)=x</a:t>
            </a:r>
            <a:r>
              <a:rPr lang="en-US" altLang="zh-CN" baseline="-25000" dirty="0">
                <a:sym typeface="Symbol" pitchFamily="18" charset="2"/>
              </a:rPr>
              <a:t>1</a:t>
            </a:r>
            <a:r>
              <a:rPr lang="en-US" altLang="zh-CN" dirty="0">
                <a:sym typeface="Symbol" pitchFamily="18" charset="2"/>
              </a:rPr>
              <a:t>|X(2)=x</a:t>
            </a:r>
            <a:r>
              <a:rPr lang="en-US" altLang="zh-CN" baseline="-25000" dirty="0">
                <a:sym typeface="Symbol" pitchFamily="18" charset="2"/>
              </a:rPr>
              <a:t>2</a:t>
            </a:r>
            <a:r>
              <a:rPr lang="en-US" altLang="zh-CN" dirty="0"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>
                <a:sym typeface="Symbol" pitchFamily="18" charset="2"/>
              </a:rPr>
              <a:t>即马氏链的逆序也构成马氏链。</a:t>
            </a:r>
            <a:endParaRPr lang="en-US" altLang="zh-CN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48949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 advAuto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5" y="991394"/>
            <a:ext cx="8048901" cy="257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74" y="3897051"/>
            <a:ext cx="8048901" cy="260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B82E3E40-8E60-1963-7433-E808C0D9B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　题　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21532"/>
      </p:ext>
    </p:extLst>
  </p:cSld>
  <p:clrMapOvr>
    <a:masterClrMapping/>
  </p:clrMapOvr>
  <p:transition>
    <p:pull dir="rd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350" cy="6859588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58147" y="2210312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258147" y="4025019"/>
            <a:ext cx="7682056" cy="60973"/>
          </a:xfrm>
          <a:prstGeom prst="rect">
            <a:avLst/>
          </a:prstGeom>
          <a:gradFill flip="none" rotWithShape="1">
            <a:gsLst>
              <a:gs pos="0">
                <a:srgbClr val="28A7E1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rgbClr val="28A7E1"/>
              </a:gs>
            </a:gsLst>
            <a:lin ang="5400000" scaled="0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3" tIns="60981" rIns="121963" bIns="60981" spcCol="0"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0095121" y="2480346"/>
            <a:ext cx="203200" cy="203200"/>
          </a:xfrm>
          <a:prstGeom prst="ellipse">
            <a:avLst/>
          </a:prstGeom>
          <a:solidFill>
            <a:srgbClr val="3E5CCC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095121" y="2727996"/>
            <a:ext cx="203200" cy="203200"/>
          </a:xfrm>
          <a:prstGeom prst="ellipse">
            <a:avLst/>
          </a:prstGeom>
          <a:solidFill>
            <a:srgbClr val="64C44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0095121" y="2975646"/>
            <a:ext cx="203200" cy="203200"/>
          </a:xfrm>
          <a:prstGeom prst="ellipse">
            <a:avLst/>
          </a:prstGeom>
          <a:solidFill>
            <a:srgbClr val="F08E3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"/>
          <p:cNvSpPr txBox="1"/>
          <p:nvPr/>
        </p:nvSpPr>
        <p:spPr>
          <a:xfrm>
            <a:off x="2611437" y="2134394"/>
            <a:ext cx="70064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</a:t>
            </a:r>
            <a:endParaRPr lang="zh-CN" altLang="en-US" sz="1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4052</TotalTime>
  <Words>8835</Words>
  <Application>Microsoft Macintosh PowerPoint</Application>
  <PresentationFormat>自定义</PresentationFormat>
  <Paragraphs>792</Paragraphs>
  <Slides>93</Slides>
  <Notes>61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93</vt:i4>
      </vt:variant>
    </vt:vector>
  </HeadingPairs>
  <TitlesOfParts>
    <vt:vector size="107" baseType="lpstr">
      <vt:lpstr>等线</vt:lpstr>
      <vt:lpstr>黑体</vt:lpstr>
      <vt:lpstr>华文行楷</vt:lpstr>
      <vt:lpstr>宋体</vt:lpstr>
      <vt:lpstr>微软雅黑</vt:lpstr>
      <vt:lpstr>Arial Unicode MS</vt:lpstr>
      <vt:lpstr>Arial</vt:lpstr>
      <vt:lpstr>Cambria Math</vt:lpstr>
      <vt:lpstr>Symbol</vt:lpstr>
      <vt:lpstr>Times New Roman</vt:lpstr>
      <vt:lpstr>Wingdings</vt:lpstr>
      <vt:lpstr>Office Theme</vt:lpstr>
      <vt:lpstr>公式</vt:lpstr>
      <vt:lpstr>Equation</vt:lpstr>
      <vt:lpstr>PowerPoint 演示文稿</vt:lpstr>
      <vt:lpstr>上一讲主要内容</vt:lpstr>
      <vt:lpstr>本讲主要内容</vt:lpstr>
      <vt:lpstr>PowerPoint 演示文稿</vt:lpstr>
      <vt:lpstr>4.2   马尔可夫过程</vt:lpstr>
      <vt:lpstr>1  马尔可夫过程的概念</vt:lpstr>
      <vt:lpstr>转移概率</vt:lpstr>
      <vt:lpstr>马尔可夫过程的分类</vt:lpstr>
      <vt:lpstr>例1  一维随机游动</vt:lpstr>
      <vt:lpstr>例2</vt:lpstr>
      <vt:lpstr>贝努里随机序列</vt:lpstr>
      <vt:lpstr>例3</vt:lpstr>
      <vt:lpstr>二项计数过程</vt:lpstr>
      <vt:lpstr>例4</vt:lpstr>
      <vt:lpstr>2  离散参数马氏链</vt:lpstr>
      <vt:lpstr>k步转移概率</vt:lpstr>
      <vt:lpstr>k步转移矩阵</vt:lpstr>
      <vt:lpstr>齐次马尔可夫链</vt:lpstr>
      <vt:lpstr>例1  贝努里序列</vt:lpstr>
      <vt:lpstr>例2  随机游动</vt:lpstr>
      <vt:lpstr>1.自由(无限制)随机游动</vt:lpstr>
      <vt:lpstr>2.两个吸收壁随机游动</vt:lpstr>
      <vt:lpstr>4.带有两个反射壁的随机游动</vt:lpstr>
      <vt:lpstr>4.带有两个弹性壁的随机游动</vt:lpstr>
      <vt:lpstr>PowerPoint 演示文稿</vt:lpstr>
      <vt:lpstr>齐次马氏链的性质1</vt:lpstr>
      <vt:lpstr>齐次马氏链的性质2</vt:lpstr>
      <vt:lpstr>齐次马氏链的性质3</vt:lpstr>
      <vt:lpstr>齐次马氏链的性质4</vt:lpstr>
      <vt:lpstr>遍历性、极限分布</vt:lpstr>
      <vt:lpstr>齐次马氏链的性质5</vt:lpstr>
      <vt:lpstr>推论</vt:lpstr>
      <vt:lpstr>齐次马氏链的性质6</vt:lpstr>
      <vt:lpstr>齐次马氏链的性质6</vt:lpstr>
      <vt:lpstr>齐次马氏链的性质7</vt:lpstr>
      <vt:lpstr>齐次马氏链的性质7</vt:lpstr>
      <vt:lpstr>齐次马氏链的性质7</vt:lpstr>
      <vt:lpstr>齐次马氏链的性质8</vt:lpstr>
      <vt:lpstr>重要推论</vt:lpstr>
      <vt:lpstr>齐次马氏链例3</vt:lpstr>
      <vt:lpstr>齐次马氏链例3</vt:lpstr>
      <vt:lpstr>齐次马氏链例3(续1)</vt:lpstr>
      <vt:lpstr>齐次马氏链例3(续2)</vt:lpstr>
      <vt:lpstr>齐次马氏链例4</vt:lpstr>
      <vt:lpstr>齐次马氏链例4(续1)</vt:lpstr>
      <vt:lpstr>齐次马氏链例4(续2)</vt:lpstr>
      <vt:lpstr>齐次马氏链例4(续3)</vt:lpstr>
      <vt:lpstr>齐次马氏链例5</vt:lpstr>
      <vt:lpstr>齐次马氏链例5(续1)</vt:lpstr>
      <vt:lpstr>齐次马氏链例5(续2)</vt:lpstr>
      <vt:lpstr>PowerPoint 演示文稿</vt:lpstr>
      <vt:lpstr>PowerPoint 演示文稿</vt:lpstr>
      <vt:lpstr>问题引入</vt:lpstr>
      <vt:lpstr>首达</vt:lpstr>
      <vt:lpstr>首达</vt:lpstr>
      <vt:lpstr>返回</vt:lpstr>
      <vt:lpstr>可达与互通</vt:lpstr>
      <vt:lpstr>定理1  首达分解定理</vt:lpstr>
      <vt:lpstr>定理2</vt:lpstr>
      <vt:lpstr>推论</vt:lpstr>
      <vt:lpstr>二、常返</vt:lpstr>
      <vt:lpstr>返回的次数</vt:lpstr>
      <vt:lpstr>正常返与零常返</vt:lpstr>
      <vt:lpstr>定理5和定理6</vt:lpstr>
      <vt:lpstr>例1  两个吸收壁的随机游动</vt:lpstr>
      <vt:lpstr>例1(续)</vt:lpstr>
      <vt:lpstr>三、状态空间分解</vt:lpstr>
      <vt:lpstr>例1(续)</vt:lpstr>
      <vt:lpstr>例子</vt:lpstr>
      <vt:lpstr>不可约马氏链</vt:lpstr>
      <vt:lpstr>四、有限马尔可夫链</vt:lpstr>
      <vt:lpstr>五、状态的周期性</vt:lpstr>
      <vt:lpstr>周期性示例</vt:lpstr>
      <vt:lpstr>五、状态的周期性</vt:lpstr>
      <vt:lpstr>结论1的证明</vt:lpstr>
      <vt:lpstr>六、极限定理</vt:lpstr>
      <vt:lpstr>例2</vt:lpstr>
      <vt:lpstr>例2(续1)</vt:lpstr>
      <vt:lpstr>例2(续2)</vt:lpstr>
      <vt:lpstr>例3</vt:lpstr>
      <vt:lpstr>例3(续1)</vt:lpstr>
      <vt:lpstr>例3(续2)</vt:lpstr>
      <vt:lpstr>例4</vt:lpstr>
      <vt:lpstr>例4(续)</vt:lpstr>
      <vt:lpstr>例5</vt:lpstr>
      <vt:lpstr>例5(续)</vt:lpstr>
      <vt:lpstr>本讲主要内容</vt:lpstr>
      <vt:lpstr>下一讲内容预告</vt:lpstr>
      <vt:lpstr>习　题　四</vt:lpstr>
      <vt:lpstr>习　题　四</vt:lpstr>
      <vt:lpstr>习　题　四</vt:lpstr>
      <vt:lpstr>习　题　四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siri</dc:creator>
  <cp:lastModifiedBy>Qingxian Wang</cp:lastModifiedBy>
  <cp:revision>1293</cp:revision>
  <cp:lastPrinted>2022-01-15T12:13:00Z</cp:lastPrinted>
  <dcterms:created xsi:type="dcterms:W3CDTF">2006-08-16T00:00:00Z</dcterms:created>
  <dcterms:modified xsi:type="dcterms:W3CDTF">2026-09-22T09:48:37Z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E98F3E2A8F6D4B7EBE46F1C3936A5CEF</vt:lpwstr>
  </property>
  <property fmtid="{D5CDD505-2E9C-101B-9397-08002B2CF9AE}" pid="3" name="KSOProductBuildVer">
    <vt:lpwstr>2052-11.1.0.11579</vt:lpwstr>
  </property>
</Properties>
</file>