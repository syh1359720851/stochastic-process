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notesMasterIdLst>
    <p:notesMasterId r:id="rId53"/>
  </p:notesMasterIdLst>
  <p:sldIdLst>
    <p:sldId id="256" r:id="rId2"/>
    <p:sldId id="320" r:id="rId3"/>
    <p:sldId id="321" r:id="rId4"/>
    <p:sldId id="322" r:id="rId5"/>
    <p:sldId id="323" r:id="rId6"/>
    <p:sldId id="324" r:id="rId7"/>
    <p:sldId id="325" r:id="rId8"/>
    <p:sldId id="267" r:id="rId9"/>
    <p:sldId id="799" r:id="rId10"/>
    <p:sldId id="269" r:id="rId11"/>
    <p:sldId id="314" r:id="rId12"/>
    <p:sldId id="315" r:id="rId13"/>
    <p:sldId id="270" r:id="rId14"/>
    <p:sldId id="271" r:id="rId15"/>
    <p:sldId id="312" r:id="rId16"/>
    <p:sldId id="313" r:id="rId17"/>
    <p:sldId id="309" r:id="rId18"/>
    <p:sldId id="310" r:id="rId19"/>
    <p:sldId id="311" r:id="rId20"/>
    <p:sldId id="803" r:id="rId21"/>
    <p:sldId id="804" r:id="rId22"/>
    <p:sldId id="805" r:id="rId23"/>
    <p:sldId id="326" r:id="rId24"/>
    <p:sldId id="327" r:id="rId25"/>
    <p:sldId id="328" r:id="rId26"/>
    <p:sldId id="801" r:id="rId27"/>
    <p:sldId id="802" r:id="rId28"/>
    <p:sldId id="348" r:id="rId29"/>
    <p:sldId id="403" r:id="rId30"/>
    <p:sldId id="349" r:id="rId31"/>
    <p:sldId id="350" r:id="rId32"/>
    <p:sldId id="351" r:id="rId33"/>
    <p:sldId id="352" r:id="rId34"/>
    <p:sldId id="353" r:id="rId35"/>
    <p:sldId id="354" r:id="rId36"/>
    <p:sldId id="355" r:id="rId37"/>
    <p:sldId id="356" r:id="rId38"/>
    <p:sldId id="357" r:id="rId39"/>
    <p:sldId id="358" r:id="rId40"/>
    <p:sldId id="359" r:id="rId41"/>
    <p:sldId id="360" r:id="rId42"/>
    <p:sldId id="361" r:id="rId43"/>
    <p:sldId id="395" r:id="rId44"/>
    <p:sldId id="362" r:id="rId45"/>
    <p:sldId id="396" r:id="rId46"/>
    <p:sldId id="363" r:id="rId47"/>
    <p:sldId id="397" r:id="rId48"/>
    <p:sldId id="398" r:id="rId49"/>
    <p:sldId id="364" r:id="rId50"/>
    <p:sldId id="308" r:id="rId51"/>
    <p:sldId id="268" r:id="rId52"/>
  </p:sldIdLst>
  <p:sldSz cx="12198350" cy="6859588"/>
  <p:notesSz cx="9144000" cy="6858000"/>
  <p:defaultTextStyle>
    <a:defPPr>
      <a:defRPr lang="en-US"/>
    </a:defPPr>
    <a:lvl1pPr marL="0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813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627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440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253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9067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880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694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507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881">
          <p15:clr>
            <a:srgbClr val="A4A3A4"/>
          </p15:clr>
        </p15:guide>
        <p15:guide id="4" pos="38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FF"/>
    <a:srgbClr val="009900"/>
    <a:srgbClr val="9BBB59"/>
    <a:srgbClr val="92D050"/>
    <a:srgbClr val="F4FA12"/>
    <a:srgbClr val="FF33CC"/>
    <a:srgbClr val="CC00CC"/>
    <a:srgbClr val="BD9B53"/>
    <a:srgbClr val="1157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25" autoAdjust="0"/>
    <p:restoredTop sz="74093" autoAdjust="0"/>
  </p:normalViewPr>
  <p:slideViewPr>
    <p:cSldViewPr>
      <p:cViewPr varScale="1">
        <p:scale>
          <a:sx n="102" d="100"/>
          <a:sy n="102" d="100"/>
        </p:scale>
        <p:origin x="1072" y="176"/>
      </p:cViewPr>
      <p:guideLst>
        <p:guide orient="horz" pos="2160"/>
        <p:guide pos="2880"/>
        <p:guide orient="horz" pos="2881"/>
        <p:guide pos="3842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5" d="100"/>
          <a:sy n="95" d="100"/>
        </p:scale>
        <p:origin x="4042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18.xml"/><Relationship Id="rId18" Type="http://schemas.openxmlformats.org/officeDocument/2006/relationships/slide" Target="slides/slide32.xml"/><Relationship Id="rId26" Type="http://schemas.openxmlformats.org/officeDocument/2006/relationships/slide" Target="slides/slide40.xml"/><Relationship Id="rId3" Type="http://schemas.openxmlformats.org/officeDocument/2006/relationships/slide" Target="slides/slide7.xml"/><Relationship Id="rId21" Type="http://schemas.openxmlformats.org/officeDocument/2006/relationships/slide" Target="slides/slide35.xml"/><Relationship Id="rId34" Type="http://schemas.openxmlformats.org/officeDocument/2006/relationships/slide" Target="slides/slide48.xml"/><Relationship Id="rId7" Type="http://schemas.openxmlformats.org/officeDocument/2006/relationships/slide" Target="slides/slide12.xml"/><Relationship Id="rId12" Type="http://schemas.openxmlformats.org/officeDocument/2006/relationships/slide" Target="slides/slide17.xml"/><Relationship Id="rId17" Type="http://schemas.openxmlformats.org/officeDocument/2006/relationships/slide" Target="slides/slide31.xml"/><Relationship Id="rId25" Type="http://schemas.openxmlformats.org/officeDocument/2006/relationships/slide" Target="slides/slide39.xml"/><Relationship Id="rId33" Type="http://schemas.openxmlformats.org/officeDocument/2006/relationships/slide" Target="slides/slide47.xml"/><Relationship Id="rId2" Type="http://schemas.openxmlformats.org/officeDocument/2006/relationships/slide" Target="slides/slide6.xml"/><Relationship Id="rId16" Type="http://schemas.openxmlformats.org/officeDocument/2006/relationships/slide" Target="slides/slide30.xml"/><Relationship Id="rId20" Type="http://schemas.openxmlformats.org/officeDocument/2006/relationships/slide" Target="slides/slide34.xml"/><Relationship Id="rId29" Type="http://schemas.openxmlformats.org/officeDocument/2006/relationships/slide" Target="slides/slide43.xml"/><Relationship Id="rId1" Type="http://schemas.openxmlformats.org/officeDocument/2006/relationships/slide" Target="slides/slide5.xml"/><Relationship Id="rId6" Type="http://schemas.openxmlformats.org/officeDocument/2006/relationships/slide" Target="slides/slide10.xml"/><Relationship Id="rId11" Type="http://schemas.openxmlformats.org/officeDocument/2006/relationships/slide" Target="slides/slide16.xml"/><Relationship Id="rId24" Type="http://schemas.openxmlformats.org/officeDocument/2006/relationships/slide" Target="slides/slide38.xml"/><Relationship Id="rId32" Type="http://schemas.openxmlformats.org/officeDocument/2006/relationships/slide" Target="slides/slide46.xml"/><Relationship Id="rId5" Type="http://schemas.openxmlformats.org/officeDocument/2006/relationships/slide" Target="slides/slide9.xml"/><Relationship Id="rId15" Type="http://schemas.openxmlformats.org/officeDocument/2006/relationships/slide" Target="slides/slide28.xml"/><Relationship Id="rId23" Type="http://schemas.openxmlformats.org/officeDocument/2006/relationships/slide" Target="slides/slide37.xml"/><Relationship Id="rId28" Type="http://schemas.openxmlformats.org/officeDocument/2006/relationships/slide" Target="slides/slide42.xml"/><Relationship Id="rId36" Type="http://schemas.openxmlformats.org/officeDocument/2006/relationships/slide" Target="slides/slide50.xml"/><Relationship Id="rId10" Type="http://schemas.openxmlformats.org/officeDocument/2006/relationships/slide" Target="slides/slide15.xml"/><Relationship Id="rId19" Type="http://schemas.openxmlformats.org/officeDocument/2006/relationships/slide" Target="slides/slide33.xml"/><Relationship Id="rId31" Type="http://schemas.openxmlformats.org/officeDocument/2006/relationships/slide" Target="slides/slide45.xml"/><Relationship Id="rId4" Type="http://schemas.openxmlformats.org/officeDocument/2006/relationships/slide" Target="slides/slide8.xml"/><Relationship Id="rId9" Type="http://schemas.openxmlformats.org/officeDocument/2006/relationships/slide" Target="slides/slide14.xml"/><Relationship Id="rId14" Type="http://schemas.openxmlformats.org/officeDocument/2006/relationships/slide" Target="slides/slide19.xml"/><Relationship Id="rId22" Type="http://schemas.openxmlformats.org/officeDocument/2006/relationships/slide" Target="slides/slide36.xml"/><Relationship Id="rId27" Type="http://schemas.openxmlformats.org/officeDocument/2006/relationships/slide" Target="slides/slide41.xml"/><Relationship Id="rId30" Type="http://schemas.openxmlformats.org/officeDocument/2006/relationships/slide" Target="slides/slide44.xml"/><Relationship Id="rId35" Type="http://schemas.openxmlformats.org/officeDocument/2006/relationships/slide" Target="slides/slide49.xml"/><Relationship Id="rId8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881824-7EDF-4B1D-9D44-4D7461D95900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F2A367-4377-4BC9-85D6-558F91AD7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159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584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472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800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324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964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4219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2660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759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362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5210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253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5195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362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>
            <a:extLst>
              <a:ext uri="{FF2B5EF4-FFF2-40B4-BE49-F238E27FC236}">
                <a16:creationId xmlns:a16="http://schemas.microsoft.com/office/drawing/2014/main" id="{DCCDDD56-90A1-E41E-7878-0CC516A44A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备注占位符 2">
            <a:extLst>
              <a:ext uri="{FF2B5EF4-FFF2-40B4-BE49-F238E27FC236}">
                <a16:creationId xmlns:a16="http://schemas.microsoft.com/office/drawing/2014/main" id="{A21B2A1A-717B-DB40-35E4-20D32E5A1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6" name="灯片编号占位符 3">
            <a:extLst>
              <a:ext uri="{FF2B5EF4-FFF2-40B4-BE49-F238E27FC236}">
                <a16:creationId xmlns:a16="http://schemas.microsoft.com/office/drawing/2014/main" id="{00A0BE9D-8883-F3C2-1016-ABE81F0FD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172989AD-F55D-4AD8-9917-8CB94D8F0A49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50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876" y="2841225"/>
            <a:ext cx="10368598" cy="196048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9753" y="5182800"/>
            <a:ext cx="8538845" cy="23373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9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9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86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85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一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352424"/>
            <a:ext cx="5334000" cy="429419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8" y="1143795"/>
            <a:ext cx="10978515" cy="5029200"/>
          </a:xfrm>
          <a:prstGeom prst="rect">
            <a:avLst/>
          </a:prstGeom>
        </p:spPr>
        <p:txBody>
          <a:bodyPr>
            <a:normAutofit/>
          </a:bodyPr>
          <a:lstStyle>
            <a:lvl1pPr marL="457360" indent="-457360">
              <a:lnSpc>
                <a:spcPct val="150000"/>
              </a:lnSpc>
              <a:spcBef>
                <a:spcPts val="0"/>
              </a:spcBef>
              <a:buSzPct val="80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2400">
                <a:solidFill>
                  <a:schemeClr val="tx1"/>
                </a:solidFill>
                <a:latin typeface="+mn-ea"/>
                <a:ea typeface="+mn-ea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2400">
                <a:solidFill>
                  <a:schemeClr val="tx1"/>
                </a:solidFill>
                <a:latin typeface="+mn-ea"/>
                <a:ea typeface="+mn-ea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2400">
                <a:solidFill>
                  <a:schemeClr val="tx1"/>
                </a:solidFill>
                <a:latin typeface="+mn-ea"/>
                <a:ea typeface="+mn-ea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2400">
                <a:solidFill>
                  <a:schemeClr val="tx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两级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362744"/>
            <a:ext cx="6581775" cy="400050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+mn-ea"/>
                <a:ea typeface="+mn-e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8" y="1600994"/>
            <a:ext cx="10978515" cy="4572000"/>
          </a:xfrm>
          <a:prstGeom prst="rect">
            <a:avLst/>
          </a:prstGeom>
        </p:spPr>
        <p:txBody>
          <a:bodyPr/>
          <a:lstStyle>
            <a:lvl1pPr marL="457360" indent="-457360">
              <a:lnSpc>
                <a:spcPct val="130000"/>
              </a:lnSpc>
              <a:buSzPct val="8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lnSpc>
                <a:spcPct val="130000"/>
              </a:lnSpc>
              <a:defRPr sz="2400" b="1">
                <a:solidFill>
                  <a:schemeClr val="tx1"/>
                </a:solidFill>
                <a:latin typeface="+mn-ea"/>
                <a:ea typeface="+mn-ea"/>
              </a:defRPr>
            </a:lvl2pPr>
            <a:lvl3pPr>
              <a:lnSpc>
                <a:spcPct val="130000"/>
              </a:lnSpc>
              <a:defRPr sz="2400" b="1">
                <a:solidFill>
                  <a:schemeClr val="tx1"/>
                </a:solidFill>
                <a:latin typeface="+mn-ea"/>
                <a:ea typeface="+mn-ea"/>
              </a:defRPr>
            </a:lvl3pPr>
            <a:lvl4pPr>
              <a:lnSpc>
                <a:spcPct val="130000"/>
              </a:lnSpc>
              <a:defRPr sz="2400" b="1">
                <a:solidFill>
                  <a:schemeClr val="tx1"/>
                </a:solidFill>
                <a:latin typeface="+mn-ea"/>
                <a:ea typeface="+mn-ea"/>
              </a:defRPr>
            </a:lvl4pPr>
            <a:lvl5pPr>
              <a:lnSpc>
                <a:spcPct val="130000"/>
              </a:lnSpc>
              <a:defRPr sz="2400" b="1">
                <a:solidFill>
                  <a:schemeClr val="tx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841375" y="984137"/>
            <a:ext cx="10747058" cy="4644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SzPct val="80000"/>
              <a:buFont typeface="Wingdings" pitchFamily="2" charset="2"/>
              <a:buNone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0800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/>
          <p:cNvSpPr/>
          <p:nvPr userDrawn="1"/>
        </p:nvSpPr>
        <p:spPr>
          <a:xfrm>
            <a:off x="-73026" y="0"/>
            <a:ext cx="12271375" cy="6859588"/>
          </a:xfrm>
          <a:custGeom>
            <a:avLst/>
            <a:gdLst>
              <a:gd name="connsiteX0" fmla="*/ 0 w 9144000"/>
              <a:gd name="connsiteY0" fmla="*/ 5143500 h 5143500"/>
              <a:gd name="connsiteX1" fmla="*/ 9144000 w 9144000"/>
              <a:gd name="connsiteY1" fmla="*/ 5143500 h 5143500"/>
              <a:gd name="connsiteX2" fmla="*/ 9144000 w 9144000"/>
              <a:gd name="connsiteY2" fmla="*/ 0 h 5143500"/>
              <a:gd name="connsiteX3" fmla="*/ 0 w 9144000"/>
              <a:gd name="connsiteY3" fmla="*/ 0 h 5143500"/>
              <a:gd name="connsiteX4" fmla="*/ 0 w 9144000"/>
              <a:gd name="connsiteY4" fmla="*/ 5143500 h 5143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5143500">
                <a:moveTo>
                  <a:pt x="0" y="5143500"/>
                </a:moveTo>
                <a:lnTo>
                  <a:pt x="9144000" y="5143500"/>
                </a:lnTo>
                <a:lnTo>
                  <a:pt x="9144000" y="0"/>
                </a:lnTo>
                <a:lnTo>
                  <a:pt x="0" y="0"/>
                </a:lnTo>
                <a:lnTo>
                  <a:pt x="0" y="5143500"/>
                </a:lnTo>
              </a:path>
            </a:pathLst>
          </a:custGeom>
          <a:solidFill>
            <a:srgbClr val="ECECF2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6269"/>
            <a:ext cx="10978515" cy="15243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917" y="2134095"/>
            <a:ext cx="5387605" cy="6036015"/>
          </a:xfrm>
          <a:prstGeom prst="rect">
            <a:avLst/>
          </a:prstGeo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0828" y="2134095"/>
            <a:ext cx="5387605" cy="6036015"/>
          </a:xfrm>
          <a:prstGeom prst="rect">
            <a:avLst/>
          </a:prstGeo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6269"/>
            <a:ext cx="10978515" cy="15243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18" y="2047291"/>
            <a:ext cx="5389723" cy="85321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813" indent="0">
              <a:buNone/>
              <a:defRPr sz="2700" b="1"/>
            </a:lvl2pPr>
            <a:lvl3pPr marL="1219627" indent="0">
              <a:buNone/>
              <a:defRPr sz="2400" b="1"/>
            </a:lvl3pPr>
            <a:lvl4pPr marL="1829440" indent="0">
              <a:buNone/>
              <a:defRPr sz="2100" b="1"/>
            </a:lvl4pPr>
            <a:lvl5pPr marL="2439253" indent="0">
              <a:buNone/>
              <a:defRPr sz="2100" b="1"/>
            </a:lvl5pPr>
            <a:lvl6pPr marL="3049067" indent="0">
              <a:buNone/>
              <a:defRPr sz="2100" b="1"/>
            </a:lvl6pPr>
            <a:lvl7pPr marL="3658880" indent="0">
              <a:buNone/>
              <a:defRPr sz="2100" b="1"/>
            </a:lvl7pPr>
            <a:lvl8pPr marL="4268694" indent="0">
              <a:buNone/>
              <a:defRPr sz="2100" b="1"/>
            </a:lvl8pPr>
            <a:lvl9pPr marL="487850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918" y="2900505"/>
            <a:ext cx="5389723" cy="5269604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593" y="2047291"/>
            <a:ext cx="5391840" cy="85321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813" indent="0">
              <a:buNone/>
              <a:defRPr sz="2700" b="1"/>
            </a:lvl2pPr>
            <a:lvl3pPr marL="1219627" indent="0">
              <a:buNone/>
              <a:defRPr sz="2400" b="1"/>
            </a:lvl3pPr>
            <a:lvl4pPr marL="1829440" indent="0">
              <a:buNone/>
              <a:defRPr sz="2100" b="1"/>
            </a:lvl4pPr>
            <a:lvl5pPr marL="2439253" indent="0">
              <a:buNone/>
              <a:defRPr sz="2100" b="1"/>
            </a:lvl5pPr>
            <a:lvl6pPr marL="3049067" indent="0">
              <a:buNone/>
              <a:defRPr sz="2100" b="1"/>
            </a:lvl6pPr>
            <a:lvl7pPr marL="3658880" indent="0">
              <a:buNone/>
              <a:defRPr sz="2100" b="1"/>
            </a:lvl7pPr>
            <a:lvl8pPr marL="4268694" indent="0">
              <a:buNone/>
              <a:defRPr sz="2100" b="1"/>
            </a:lvl8pPr>
            <a:lvl9pPr marL="487850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593" y="2900505"/>
            <a:ext cx="5391840" cy="5269604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4151"/>
            <a:ext cx="4013173" cy="1549759"/>
          </a:xfrm>
          <a:prstGeom prst="rect">
            <a:avLst/>
          </a:prstGeo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9216" y="364152"/>
            <a:ext cx="6819216" cy="7805958"/>
          </a:xfrm>
          <a:prstGeom prst="rect">
            <a:avLst/>
          </a:prstGeo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918" y="1913910"/>
            <a:ext cx="4013173" cy="6256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0"/>
            </a:lvl1pPr>
            <a:lvl2pPr marL="609813" indent="0">
              <a:buNone/>
              <a:defRPr sz="1600"/>
            </a:lvl2pPr>
            <a:lvl3pPr marL="1219627" indent="0">
              <a:buNone/>
              <a:defRPr sz="1300"/>
            </a:lvl3pPr>
            <a:lvl4pPr marL="1829440" indent="0">
              <a:buNone/>
              <a:defRPr sz="1200"/>
            </a:lvl4pPr>
            <a:lvl5pPr marL="2439253" indent="0">
              <a:buNone/>
              <a:defRPr sz="1200"/>
            </a:lvl5pPr>
            <a:lvl6pPr marL="3049067" indent="0">
              <a:buNone/>
              <a:defRPr sz="1200"/>
            </a:lvl6pPr>
            <a:lvl7pPr marL="3658880" indent="0">
              <a:buNone/>
              <a:defRPr sz="1200"/>
            </a:lvl7pPr>
            <a:lvl8pPr marL="4268694" indent="0">
              <a:buNone/>
              <a:defRPr sz="1200"/>
            </a:lvl8pPr>
            <a:lvl9pPr marL="487850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962" y="6402282"/>
            <a:ext cx="7319010" cy="755826"/>
          </a:xfrm>
          <a:prstGeom prst="rect">
            <a:avLst/>
          </a:prstGeo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962" y="817223"/>
            <a:ext cx="7319010" cy="548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00"/>
            </a:lvl1pPr>
            <a:lvl2pPr marL="609813" indent="0">
              <a:buNone/>
              <a:defRPr sz="3700"/>
            </a:lvl2pPr>
            <a:lvl3pPr marL="1219627" indent="0">
              <a:buNone/>
              <a:defRPr sz="3200"/>
            </a:lvl3pPr>
            <a:lvl4pPr marL="1829440" indent="0">
              <a:buNone/>
              <a:defRPr sz="2700"/>
            </a:lvl4pPr>
            <a:lvl5pPr marL="2439253" indent="0">
              <a:buNone/>
              <a:defRPr sz="2700"/>
            </a:lvl5pPr>
            <a:lvl6pPr marL="3049067" indent="0">
              <a:buNone/>
              <a:defRPr sz="2700"/>
            </a:lvl6pPr>
            <a:lvl7pPr marL="3658880" indent="0">
              <a:buNone/>
              <a:defRPr sz="2700"/>
            </a:lvl7pPr>
            <a:lvl8pPr marL="4268694" indent="0">
              <a:buNone/>
              <a:defRPr sz="2700"/>
            </a:lvl8pPr>
            <a:lvl9pPr marL="4878507" indent="0">
              <a:buNone/>
              <a:defRPr sz="27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962" y="7158108"/>
            <a:ext cx="7319010" cy="10733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0"/>
            </a:lvl1pPr>
            <a:lvl2pPr marL="609813" indent="0">
              <a:buNone/>
              <a:defRPr sz="1600"/>
            </a:lvl2pPr>
            <a:lvl3pPr marL="1219627" indent="0">
              <a:buNone/>
              <a:defRPr sz="1300"/>
            </a:lvl3pPr>
            <a:lvl4pPr marL="1829440" indent="0">
              <a:buNone/>
              <a:defRPr sz="1200"/>
            </a:lvl4pPr>
            <a:lvl5pPr marL="2439253" indent="0">
              <a:buNone/>
              <a:defRPr sz="1200"/>
            </a:lvl5pPr>
            <a:lvl6pPr marL="3049067" indent="0">
              <a:buNone/>
              <a:defRPr sz="1200"/>
            </a:lvl6pPr>
            <a:lvl7pPr marL="3658880" indent="0">
              <a:buNone/>
              <a:defRPr sz="1200"/>
            </a:lvl7pPr>
            <a:lvl8pPr marL="4268694" indent="0">
              <a:buNone/>
              <a:defRPr sz="1200"/>
            </a:lvl8pPr>
            <a:lvl9pPr marL="487850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6269"/>
            <a:ext cx="10978515" cy="15243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918" y="2134095"/>
            <a:ext cx="10978515" cy="603601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43804" y="366269"/>
            <a:ext cx="2744629" cy="780384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918" y="366269"/>
            <a:ext cx="8030580" cy="780384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8243EE-553B-4619-B344-039D441C0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447" y="342979"/>
            <a:ext cx="9961986" cy="60974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EE3A96-0AFA-4EED-9450-F439AEE4A43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524794" y="1143265"/>
            <a:ext cx="5031819" cy="87650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AB830D-9EFE-4AC7-8336-5411C2FD2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9919" y="1143265"/>
            <a:ext cx="5031819" cy="87650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80C950-632B-855D-C270-2E4562B4E8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52718E-3B98-4DCC-A1BA-E41061EE8910}" type="datetime1">
              <a:rPr lang="zh-CN" altLang="en-US"/>
              <a:pPr>
                <a:defRPr/>
              </a:pPr>
              <a:t>2026/9/1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BFB32E-BD17-C2BD-6B21-1E02A2608B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信息与软件工程学院　王庆先</a:t>
            </a: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B2AF2C-44E1-474B-94E5-AB17E28844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33</a:t>
            </a:r>
            <a:r>
              <a:rPr lang="zh-CN" altLang="en-US"/>
              <a:t>－</a:t>
            </a:r>
            <a:fld id="{21E7CC7C-8826-4A7E-AD1C-4981BD213B7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93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917" y="8477096"/>
            <a:ext cx="2846282" cy="486946"/>
          </a:xfrm>
          <a:prstGeom prst="rect">
            <a:avLst/>
          </a:prstGeom>
        </p:spPr>
        <p:txBody>
          <a:bodyPr vert="horz" lIns="121963" tIns="60981" rIns="121963" bIns="60981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7770" y="8477096"/>
            <a:ext cx="3862811" cy="486946"/>
          </a:xfrm>
          <a:prstGeom prst="rect">
            <a:avLst/>
          </a:prstGeom>
        </p:spPr>
        <p:txBody>
          <a:bodyPr vert="horz" lIns="121963" tIns="60981" rIns="121963" bIns="60981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2151" y="8477096"/>
            <a:ext cx="2846282" cy="486946"/>
          </a:xfrm>
          <a:prstGeom prst="rect">
            <a:avLst/>
          </a:prstGeom>
        </p:spPr>
        <p:txBody>
          <a:bodyPr vert="horz" lIns="121963" tIns="60981" rIns="121963" bIns="60981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609521" y="1143794"/>
            <a:ext cx="10971372" cy="5000369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0" y="332656"/>
            <a:ext cx="12198350" cy="432048"/>
          </a:xfrm>
          <a:prstGeom prst="rect">
            <a:avLst/>
          </a:prstGeom>
          <a:solidFill>
            <a:srgbClr val="3A418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矩形 24"/>
          <p:cNvSpPr/>
          <p:nvPr userDrawn="1"/>
        </p:nvSpPr>
        <p:spPr>
          <a:xfrm>
            <a:off x="0" y="764704"/>
            <a:ext cx="12198350" cy="7200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 userDrawn="1"/>
        </p:nvSpPr>
        <p:spPr>
          <a:xfrm>
            <a:off x="11280775" y="330107"/>
            <a:ext cx="485233" cy="485233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TextBox 15"/>
          <p:cNvSpPr txBox="1"/>
          <p:nvPr userDrawn="1"/>
        </p:nvSpPr>
        <p:spPr>
          <a:xfrm>
            <a:off x="11283362" y="442092"/>
            <a:ext cx="48339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9" name="矩形 28"/>
          <p:cNvSpPr/>
          <p:nvPr userDrawn="1"/>
        </p:nvSpPr>
        <p:spPr>
          <a:xfrm>
            <a:off x="7927975" y="332656"/>
            <a:ext cx="2819400" cy="43204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0" rtlCol="0" anchor="ctr"/>
          <a:lstStyle/>
          <a:p>
            <a:pPr algn="ctr"/>
            <a:r>
              <a:rPr lang="zh-CN" altLang="en-US" sz="1800" b="0" dirty="0"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1800" b="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800" b="0" dirty="0">
                <a:latin typeface="微软雅黑" pitchFamily="34" charset="-122"/>
                <a:ea typeface="微软雅黑" pitchFamily="34" charset="-122"/>
              </a:rPr>
              <a:t>讲</a:t>
            </a:r>
          </a:p>
        </p:txBody>
      </p:sp>
      <p:sp>
        <p:nvSpPr>
          <p:cNvPr id="20" name="Title Placeholder 1"/>
          <p:cNvSpPr>
            <a:spLocks noGrp="1"/>
          </p:cNvSpPr>
          <p:nvPr>
            <p:ph type="title"/>
          </p:nvPr>
        </p:nvSpPr>
        <p:spPr>
          <a:xfrm>
            <a:off x="772942" y="362834"/>
            <a:ext cx="5305686" cy="39996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0" name="等腰三角形 39">
            <a:hlinkClick r:id="" action="ppaction://hlinkshowjump?jump=previousslide"/>
          </p:cNvPr>
          <p:cNvSpPr/>
          <p:nvPr userDrawn="1"/>
        </p:nvSpPr>
        <p:spPr>
          <a:xfrm rot="5400000" flipH="1">
            <a:off x="385417" y="517775"/>
            <a:ext cx="98663" cy="10114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41" name="等腰三角形 40">
            <a:hlinkClick r:id="" action="ppaction://hlinkshowjump?jump=previousslide"/>
          </p:cNvPr>
          <p:cNvSpPr/>
          <p:nvPr userDrawn="1"/>
        </p:nvSpPr>
        <p:spPr>
          <a:xfrm rot="5400000" flipH="1">
            <a:off x="525117" y="517775"/>
            <a:ext cx="98663" cy="10114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42" name="等腰三角形 41">
            <a:hlinkClick r:id="" action="ppaction://hlinkshowjump?jump=previousslide"/>
          </p:cNvPr>
          <p:cNvSpPr/>
          <p:nvPr userDrawn="1"/>
        </p:nvSpPr>
        <p:spPr>
          <a:xfrm rot="5400000" flipH="1">
            <a:off x="658467" y="517775"/>
            <a:ext cx="98663" cy="10114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1219627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7360" indent="-457360" algn="l" defTabSz="1219627" rtl="0" eaLnBrk="1" latinLnBrk="0" hangingPunct="1">
        <a:spcBef>
          <a:spcPct val="20000"/>
        </a:spcBef>
        <a:buSzPct val="80000"/>
        <a:buFont typeface="Wingdings" pitchFamily="2" charset="2"/>
        <a:buChar char="l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90947" indent="-381133" algn="l" defTabSz="1219627" rtl="0" eaLnBrk="1" latinLnBrk="0" hangingPunct="1">
        <a:spcBef>
          <a:spcPct val="20000"/>
        </a:spcBef>
        <a:buFont typeface="Arial" pitchFamily="34" charset="0"/>
        <a:buChar char="–"/>
        <a:defRPr sz="22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524533" indent="-304907" algn="l" defTabSz="1219627" rtl="0" eaLnBrk="1" latinLnBrk="0" hangingPunct="1">
        <a:spcBef>
          <a:spcPct val="20000"/>
        </a:spcBef>
        <a:buFont typeface="Arial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2134347" indent="-304907" algn="l" defTabSz="1219627" rtl="0" eaLnBrk="1" latinLnBrk="0" hangingPunct="1">
        <a:spcBef>
          <a:spcPct val="20000"/>
        </a:spcBef>
        <a:buFont typeface="Arial" pitchFamily="34" charset="0"/>
        <a:buChar char="–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744160" indent="-304907" algn="l" defTabSz="1219627" rtl="0" eaLnBrk="1" latinLnBrk="0" hangingPunct="1">
        <a:spcBef>
          <a:spcPct val="20000"/>
        </a:spcBef>
        <a:buFont typeface="Arial" pitchFamily="34" charset="0"/>
        <a:buChar char="»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3353973" indent="-304907" algn="l" defTabSz="121962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787" indent="-304907" algn="l" defTabSz="121962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600" indent="-304907" algn="l" defTabSz="121962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414" indent="-304907" algn="l" defTabSz="121962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813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627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40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253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067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80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694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507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4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160.pn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7.png"/><Relationship Id="rId9" Type="http://schemas.openxmlformats.org/officeDocument/2006/relationships/image" Target="../media/image3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30.png"/><Relationship Id="rId7" Type="http://schemas.openxmlformats.org/officeDocument/2006/relationships/image" Target="../media/image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20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s.hust.edu.cn/info/1187/3353.ht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mp.weixin.qq.com/s/7XqjBR4xUUOtuWyzL5v2i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mp.weixin.qq.com/s/7XqjBR4xUUOtuWyzL5v2i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.png"/><Relationship Id="rId4" Type="http://schemas.openxmlformats.org/officeDocument/2006/relationships/image" Target="../media/image30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50" cy="68595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901096" y="2310557"/>
            <a:ext cx="4560279" cy="430930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             《</a:t>
            </a:r>
            <a:r>
              <a:rPr lang="zh-CN" altLang="en-US" sz="2000" dirty="0">
                <a:solidFill>
                  <a:schemeClr val="bg1"/>
                </a:solidFill>
                <a:latin typeface="华文行楷" pitchFamily="2" charset="-122"/>
                <a:ea typeface="华文行楷" pitchFamily="2" charset="-122"/>
              </a:rPr>
              <a:t>随机过程与排队论</a:t>
            </a:r>
            <a:r>
              <a:rPr lang="en-US" altLang="zh-CN" sz="2000" dirty="0">
                <a:solidFill>
                  <a:schemeClr val="bg1"/>
                </a:solidFill>
              </a:rPr>
              <a:t>》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14435" y="1120768"/>
            <a:ext cx="2133600" cy="861817"/>
          </a:xfrm>
          <a:prstGeom prst="rect">
            <a:avLst/>
          </a:prstGeom>
          <a:solidFill>
            <a:srgbClr val="28A7E1"/>
          </a:solidFill>
        </p:spPr>
        <p:txBody>
          <a:bodyPr wrap="square" lIns="121963" tIns="60981" rIns="121963" bIns="60981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</a:rPr>
              <a:t>第</a:t>
            </a:r>
            <a:r>
              <a:rPr lang="en-US" altLang="zh-CN" sz="4800" dirty="0">
                <a:solidFill>
                  <a:schemeClr val="bg1"/>
                </a:solidFill>
              </a:rPr>
              <a:t>1</a:t>
            </a:r>
            <a:r>
              <a:rPr lang="zh-CN" altLang="en-US" sz="4800" dirty="0">
                <a:solidFill>
                  <a:schemeClr val="bg1"/>
                </a:solidFill>
              </a:rPr>
              <a:t>讲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1135" y="3519164"/>
            <a:ext cx="4854640" cy="430930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pPr eaLnBrk="1" hangingPunct="1"/>
            <a:r>
              <a:rPr lang="en-US" altLang="zh-CN" sz="2000" dirty="0">
                <a:solidFill>
                  <a:schemeClr val="bg1"/>
                </a:solidFill>
                <a:ea typeface="华文行楷" pitchFamily="2" charset="-122"/>
              </a:rPr>
              <a:t>Email</a:t>
            </a:r>
            <a:r>
              <a:rPr lang="zh-CN" altLang="en-US" sz="2000" dirty="0">
                <a:solidFill>
                  <a:schemeClr val="bg1"/>
                </a:solidFill>
                <a:ea typeface="华文行楷" pitchFamily="2" charset="-122"/>
              </a:rPr>
              <a:t>：</a:t>
            </a:r>
            <a:r>
              <a:rPr lang="en-US" altLang="zh-CN" sz="2000" dirty="0">
                <a:solidFill>
                  <a:schemeClr val="bg1"/>
                </a:solidFill>
                <a:ea typeface="华文行楷" pitchFamily="2" charset="-122"/>
              </a:rPr>
              <a:t>qxwang@uestc.edu.cn</a:t>
            </a:r>
          </a:p>
        </p:txBody>
      </p:sp>
      <p:sp>
        <p:nvSpPr>
          <p:cNvPr id="22" name="矩形 21"/>
          <p:cNvSpPr/>
          <p:nvPr/>
        </p:nvSpPr>
        <p:spPr>
          <a:xfrm>
            <a:off x="2258147" y="2210312"/>
            <a:ext cx="7682056" cy="60973"/>
          </a:xfrm>
          <a:prstGeom prst="rect">
            <a:avLst/>
          </a:prstGeom>
          <a:gradFill flip="none" rotWithShape="1">
            <a:gsLst>
              <a:gs pos="0">
                <a:srgbClr val="28A7E1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rgbClr val="28A7E1"/>
              </a:gs>
            </a:gsLst>
            <a:lin ang="540000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spcCol="0"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2258147" y="4025019"/>
            <a:ext cx="7682056" cy="60973"/>
          </a:xfrm>
          <a:prstGeom prst="rect">
            <a:avLst/>
          </a:prstGeom>
          <a:gradFill flip="none" rotWithShape="1">
            <a:gsLst>
              <a:gs pos="0">
                <a:srgbClr val="28A7E1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rgbClr val="28A7E1"/>
              </a:gs>
            </a:gsLst>
            <a:lin ang="540000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spcCol="0"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794375" y="2900778"/>
            <a:ext cx="1754309" cy="430930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行楷" pitchFamily="2" charset="-122"/>
                <a:ea typeface="华文行楷" pitchFamily="2" charset="-122"/>
              </a:rPr>
              <a:t>王庆先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98775" y="2900930"/>
            <a:ext cx="3078481" cy="430930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chemeClr val="bg1"/>
                </a:solidFill>
                <a:latin typeface="华文行楷" pitchFamily="2" charset="-122"/>
                <a:ea typeface="华文行楷" pitchFamily="2" charset="-122"/>
              </a:rPr>
              <a:t>信息与软件工程学院</a:t>
            </a:r>
          </a:p>
        </p:txBody>
      </p:sp>
      <p:sp>
        <p:nvSpPr>
          <p:cNvPr id="2" name="矩形 1"/>
          <p:cNvSpPr/>
          <p:nvPr/>
        </p:nvSpPr>
        <p:spPr>
          <a:xfrm>
            <a:off x="5748656" y="2975515"/>
            <a:ext cx="45719" cy="3217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2">
            <a:extLst>
              <a:ext uri="{FF2B5EF4-FFF2-40B4-BE49-F238E27FC236}">
                <a16:creationId xmlns:a16="http://schemas.microsoft.com/office/drawing/2014/main" id="{8C3A3E7D-199B-6620-B3C4-1D48409D1F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主要内容</a:t>
            </a:r>
          </a:p>
        </p:txBody>
      </p:sp>
      <p:sp>
        <p:nvSpPr>
          <p:cNvPr id="20486" name="Rectangle 3">
            <a:extLst>
              <a:ext uri="{FF2B5EF4-FFF2-40B4-BE49-F238E27FC236}">
                <a16:creationId xmlns:a16="http://schemas.microsoft.com/office/drawing/2014/main" id="{23E91E6F-7A14-4BDB-FC0E-F5B6B71E2F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6575" y="1078087"/>
            <a:ext cx="7697982" cy="658966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</a:rPr>
              <a:t>概率空间及其基本概念</a:t>
            </a:r>
            <a:r>
              <a:rPr lang="zh-CN" altLang="en-US" dirty="0"/>
              <a:t>	</a:t>
            </a:r>
          </a:p>
        </p:txBody>
      </p:sp>
      <p:sp>
        <p:nvSpPr>
          <p:cNvPr id="347140" name="Rectangle 4">
            <a:extLst>
              <a:ext uri="{FF2B5EF4-FFF2-40B4-BE49-F238E27FC236}">
                <a16:creationId xmlns:a16="http://schemas.microsoft.com/office/drawing/2014/main" id="{A04C6885-B521-CD76-177A-8F11F2C4B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708" y="1725321"/>
            <a:ext cx="11353800" cy="1596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algn="just" eaLnBrk="1" hangingPunct="1">
              <a:lnSpc>
                <a:spcPct val="150000"/>
              </a:lnSpc>
              <a:buClr>
                <a:srgbClr val="FF0000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dirty="0">
                <a:latin typeface="+mn-ea"/>
                <a:ea typeface="+mn-ea"/>
              </a:rPr>
              <a:t>随机试验、样本点、样本空间、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随机事件体、随机事件、基本事件和可测空间</a:t>
            </a:r>
          </a:p>
          <a:p>
            <a:pPr lvl="1" algn="just" eaLnBrk="1" hangingPunct="1">
              <a:lnSpc>
                <a:spcPct val="150000"/>
              </a:lnSpc>
              <a:buClr>
                <a:srgbClr val="FF0000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dirty="0">
                <a:latin typeface="+mn-ea"/>
                <a:ea typeface="+mn-ea"/>
              </a:rPr>
              <a:t>概率、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概率空间、</a:t>
            </a:r>
            <a:r>
              <a:rPr lang="zh-CN" altLang="en-US" dirty="0">
                <a:latin typeface="+mn-ea"/>
                <a:ea typeface="+mn-ea"/>
              </a:rPr>
              <a:t>概率的性质</a:t>
            </a:r>
          </a:p>
          <a:p>
            <a:pPr lvl="1" algn="just" eaLnBrk="1" hangingPunct="1">
              <a:lnSpc>
                <a:spcPct val="150000"/>
              </a:lnSpc>
              <a:buClr>
                <a:srgbClr val="FF0000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dirty="0">
                <a:latin typeface="+mn-ea"/>
                <a:ea typeface="+mn-ea"/>
              </a:rPr>
              <a:t>条件概率、乘法公式、事件的独立性、全概率公式与贝叶斯公式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E5ABDFD-73D8-1222-7BA1-F7838F156840}"/>
              </a:ext>
            </a:extLst>
          </p:cNvPr>
          <p:cNvSpPr txBox="1">
            <a:spLocks noChangeArrowheads="1"/>
          </p:cNvSpPr>
          <p:nvPr/>
        </p:nvSpPr>
        <p:spPr>
          <a:xfrm>
            <a:off x="430720" y="3322040"/>
            <a:ext cx="11661775" cy="3631117"/>
          </a:xfrm>
          <a:prstGeom prst="rect">
            <a:avLst/>
          </a:prstGeom>
        </p:spPr>
        <p:txBody>
          <a:bodyPr vert="horz" lIns="121917" tIns="60958" rIns="121917" bIns="60958" rtlCol="0">
            <a:noAutofit/>
          </a:bodyPr>
          <a:lstStyle>
            <a:lvl1pPr marL="457360" indent="-457360" algn="l" defTabSz="1219627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0947" indent="-381133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533" indent="-304907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347" indent="-304907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160" indent="-304907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3973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787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600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414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0000FF"/>
                </a:solidFill>
              </a:rPr>
              <a:t>随机变量及其分布</a:t>
            </a:r>
          </a:p>
          <a:p>
            <a:pPr lvl="1">
              <a:spcBef>
                <a:spcPts val="1200"/>
              </a:spcBef>
              <a:buClr>
                <a:srgbClr val="FF0000"/>
              </a:buClr>
              <a:buFontTx/>
              <a:buChar char="•"/>
            </a:pPr>
            <a:r>
              <a:rPr lang="zh-CN" altLang="en-US">
                <a:sym typeface="Symbol" panose="05050102010706020507" pitchFamily="18" charset="2"/>
              </a:rPr>
              <a:t>随机变量、分布函数</a:t>
            </a:r>
          </a:p>
          <a:p>
            <a:pPr lvl="1">
              <a:spcBef>
                <a:spcPts val="1200"/>
              </a:spcBef>
              <a:buClr>
                <a:srgbClr val="FF0000"/>
              </a:buClr>
              <a:buFontTx/>
              <a:buChar char="•"/>
            </a:pPr>
            <a:r>
              <a:rPr lang="zh-CN" altLang="en-US"/>
              <a:t>离散型随机变量及其分布律</a:t>
            </a:r>
          </a:p>
          <a:p>
            <a:pPr lvl="1">
              <a:spcBef>
                <a:spcPts val="1200"/>
              </a:spcBef>
              <a:buClr>
                <a:srgbClr val="FF0000"/>
              </a:buClr>
              <a:buFontTx/>
              <a:buChar char="•"/>
            </a:pPr>
            <a:r>
              <a:rPr lang="zh-CN" altLang="en-US"/>
              <a:t>连续型随机变量及其概率密度</a:t>
            </a: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>
                <a:solidFill>
                  <a:srgbClr val="0000FF"/>
                </a:solidFill>
              </a:rPr>
              <a:t>常见的随机变量及其分布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B62A595-8AFE-54EB-CA2D-97D1DBC51B44}"/>
              </a:ext>
            </a:extLst>
          </p:cNvPr>
          <p:cNvSpPr txBox="1">
            <a:spLocks noChangeArrowheads="1"/>
          </p:cNvSpPr>
          <p:nvPr/>
        </p:nvSpPr>
        <p:spPr>
          <a:xfrm>
            <a:off x="6996685" y="4725194"/>
            <a:ext cx="4770945" cy="1828800"/>
          </a:xfrm>
          <a:prstGeom prst="rect">
            <a:avLst/>
          </a:prstGeom>
        </p:spPr>
        <p:txBody>
          <a:bodyPr vert="horz" lIns="121917" tIns="60958" rIns="121917" bIns="60958" rtlCol="0">
            <a:normAutofit fontScale="85000" lnSpcReduction="10000"/>
          </a:bodyPr>
          <a:lstStyle>
            <a:lvl1pPr marL="457360" indent="-457360" algn="l" defTabSz="1219627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0947" indent="-381133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533" indent="-304907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347" indent="-304907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160" indent="-304907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3973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787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600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414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</a:rPr>
              <a:t>	    </a:t>
            </a:r>
            <a:r>
              <a:rPr lang="zh-CN" altLang="en-US" dirty="0">
                <a:solidFill>
                  <a:srgbClr val="0000FF"/>
                </a:solidFill>
              </a:rPr>
              <a:t>    概率的数学理论是本课程的   主要基础，不清楚的同学请找一本 这方面的书</a:t>
            </a:r>
            <a:r>
              <a:rPr lang="zh-CN" altLang="en-US" dirty="0">
                <a:solidFill>
                  <a:srgbClr val="CC00CC"/>
                </a:solidFill>
              </a:rPr>
              <a:t>自学</a:t>
            </a:r>
            <a:r>
              <a:rPr lang="zh-CN" altLang="en-US" dirty="0">
                <a:solidFill>
                  <a:srgbClr val="0000FF"/>
                </a:solidFill>
              </a:rPr>
              <a:t>，下面仅介绍本课程所</a:t>
            </a:r>
            <a:r>
              <a:rPr lang="zh-CN" altLang="en-US" dirty="0">
                <a:solidFill>
                  <a:srgbClr val="CC00CC"/>
                </a:solidFill>
              </a:rPr>
              <a:t>必需</a:t>
            </a:r>
            <a:r>
              <a:rPr lang="zh-CN" altLang="en-US" dirty="0">
                <a:solidFill>
                  <a:srgbClr val="0000FF"/>
                </a:solidFill>
              </a:rPr>
              <a:t>的概率论的</a:t>
            </a:r>
            <a:r>
              <a:rPr lang="zh-CN" altLang="en-US" dirty="0">
                <a:solidFill>
                  <a:srgbClr val="CC00CC"/>
                </a:solidFill>
              </a:rPr>
              <a:t>基本定义</a:t>
            </a:r>
            <a:r>
              <a:rPr lang="zh-CN" altLang="en-US" dirty="0">
                <a:solidFill>
                  <a:srgbClr val="0000FF"/>
                </a:solidFill>
              </a:rPr>
              <a:t>和</a:t>
            </a:r>
            <a:r>
              <a:rPr lang="zh-CN" altLang="en-US" dirty="0">
                <a:solidFill>
                  <a:srgbClr val="CC00CC"/>
                </a:solidFill>
              </a:rPr>
              <a:t>结果</a:t>
            </a:r>
            <a:r>
              <a:rPr lang="zh-CN" altLang="en-US" dirty="0">
                <a:solidFill>
                  <a:srgbClr val="0000FF"/>
                </a:solidFill>
              </a:rPr>
              <a:t>。</a:t>
            </a:r>
            <a:endParaRPr lang="zh-CN" altLang="en-US" dirty="0">
              <a:solidFill>
                <a:srgbClr val="996633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47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47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7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895EB906-6FD0-0196-17A0-79C1A29DE2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问题：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3E783E7E-5D55-FEF5-5CFA-7F8CC40D2F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1" y="1305181"/>
            <a:ext cx="12118975" cy="1753006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zh-CN" altLang="en-US" dirty="0"/>
              <a:t>掷出一枚</a:t>
            </a:r>
            <a:r>
              <a:rPr lang="zh-CN" altLang="en-US" dirty="0">
                <a:solidFill>
                  <a:srgbClr val="FF0000"/>
                </a:solidFill>
              </a:rPr>
              <a:t>均匀</a:t>
            </a:r>
            <a:r>
              <a:rPr lang="zh-CN" altLang="en-US" dirty="0"/>
              <a:t>的骰子，求</a:t>
            </a:r>
            <a:r>
              <a:rPr lang="zh-CN" altLang="en-US" dirty="0">
                <a:solidFill>
                  <a:srgbClr val="0000FF"/>
                </a:solidFill>
              </a:rPr>
              <a:t>掷出偶数的概率</a:t>
            </a:r>
            <a:r>
              <a:rPr lang="zh-CN" altLang="en-US" dirty="0"/>
              <a:t>。其中“</a:t>
            </a:r>
            <a:r>
              <a:rPr lang="zh-CN" altLang="en-US" dirty="0">
                <a:solidFill>
                  <a:srgbClr val="FF0000"/>
                </a:solidFill>
              </a:rPr>
              <a:t>均匀</a:t>
            </a:r>
            <a:r>
              <a:rPr lang="zh-CN" altLang="en-US" dirty="0"/>
              <a:t>”是指当骰子掷出时，各个面出现的机会均等。</a:t>
            </a:r>
          </a:p>
        </p:txBody>
      </p:sp>
      <p:sp>
        <p:nvSpPr>
          <p:cNvPr id="320516" name="Rectangle 4">
            <a:extLst>
              <a:ext uri="{FF2B5EF4-FFF2-40B4-BE49-F238E27FC236}">
                <a16:creationId xmlns:a16="http://schemas.microsoft.com/office/drawing/2014/main" id="{D34DE5E7-D722-DE66-6CB3-9B8B50E86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3186656"/>
            <a:ext cx="3053469" cy="488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什么是概率？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20517" name="Rectangle 5">
            <a:extLst>
              <a:ext uri="{FF2B5EF4-FFF2-40B4-BE49-F238E27FC236}">
                <a16:creationId xmlns:a16="http://schemas.microsoft.com/office/drawing/2014/main" id="{28747F3D-1356-F9FF-5CE0-51B3E7F1F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4267994"/>
            <a:ext cx="11125200" cy="1042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随机试验、样本点、样本空间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随机事件体、随机事件、基本事件和可测空间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0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0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0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0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6" grpId="0"/>
      <p:bldP spid="3205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2">
            <a:extLst>
              <a:ext uri="{FF2B5EF4-FFF2-40B4-BE49-F238E27FC236}">
                <a16:creationId xmlns:a16="http://schemas.microsoft.com/office/drawing/2014/main" id="{484A23C5-F88E-A7B9-ECA7-997FD97FCF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问题：</a:t>
            </a:r>
          </a:p>
        </p:txBody>
      </p:sp>
      <p:sp>
        <p:nvSpPr>
          <p:cNvPr id="23558" name="Rectangle 3">
            <a:extLst>
              <a:ext uri="{FF2B5EF4-FFF2-40B4-BE49-F238E27FC236}">
                <a16:creationId xmlns:a16="http://schemas.microsoft.com/office/drawing/2014/main" id="{E80E3CFD-E3D7-426D-A22F-24C74BFBDD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834" y="1268707"/>
            <a:ext cx="9880636" cy="58433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/>
              <a:t>     </a:t>
            </a:r>
            <a:r>
              <a:rPr lang="zh-CN" altLang="en-US"/>
              <a:t>掷出一枚</a:t>
            </a:r>
            <a:r>
              <a:rPr lang="zh-CN" altLang="en-US">
                <a:solidFill>
                  <a:srgbClr val="FF0000"/>
                </a:solidFill>
              </a:rPr>
              <a:t>均匀</a:t>
            </a:r>
            <a:r>
              <a:rPr lang="zh-CN" altLang="en-US"/>
              <a:t>的骰子</a:t>
            </a:r>
          </a:p>
        </p:txBody>
      </p:sp>
      <p:sp>
        <p:nvSpPr>
          <p:cNvPr id="322566" name="Rectangle 6">
            <a:extLst>
              <a:ext uri="{FF2B5EF4-FFF2-40B4-BE49-F238E27FC236}">
                <a16:creationId xmlns:a16="http://schemas.microsoft.com/office/drawing/2014/main" id="{A0A501B5-C0CD-8BA8-537A-B5258796B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975" y="2277002"/>
            <a:ext cx="6758389" cy="39050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AutoNum type="alphaLcParenR"/>
            </a:pPr>
            <a:r>
              <a:rPr lang="zh-CN" altLang="en-US" dirty="0">
                <a:latin typeface="+mn-ea"/>
                <a:ea typeface="+mn-ea"/>
              </a:rPr>
              <a:t>相同的条件下可重复进行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AutoNum type="alphaLcParenR"/>
            </a:pPr>
            <a:r>
              <a:rPr lang="zh-CN" altLang="en-US" dirty="0">
                <a:latin typeface="+mn-ea"/>
                <a:ea typeface="+mn-ea"/>
              </a:rPr>
              <a:t>每次投掷的结果不止一个</a:t>
            </a:r>
            <a:r>
              <a:rPr lang="en-US" altLang="zh-CN" dirty="0">
                <a:latin typeface="+mn-ea"/>
                <a:ea typeface="+mn-ea"/>
              </a:rPr>
              <a:t>: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      1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或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或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或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4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或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5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或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6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；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AutoNum type="alphaLcParenR" startAt="3"/>
            </a:pPr>
            <a:r>
              <a:rPr lang="zh-CN" altLang="en-US" dirty="0">
                <a:latin typeface="+mn-ea"/>
                <a:ea typeface="+mn-ea"/>
              </a:rPr>
              <a:t>一次投掷结束之前，不能确定哪一个结果会出现；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AutoNum type="alphaLcParenR" startAt="3"/>
            </a:pPr>
            <a:r>
              <a:rPr lang="zh-CN" altLang="en-US" dirty="0">
                <a:latin typeface="+mn-ea"/>
                <a:ea typeface="+mn-ea"/>
              </a:rPr>
              <a:t>能事先明确知道投掷的所有结果</a:t>
            </a:r>
            <a:r>
              <a:rPr lang="en-US" altLang="zh-CN" dirty="0">
                <a:latin typeface="+mn-ea"/>
                <a:ea typeface="+mn-ea"/>
              </a:rPr>
              <a:t>: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{1,2,3,4,5,6} </a:t>
            </a:r>
            <a:r>
              <a:rPr lang="zh-CN" altLang="en-US" dirty="0">
                <a:latin typeface="+mn-ea"/>
                <a:ea typeface="+mn-ea"/>
              </a:rPr>
              <a:t>。</a:t>
            </a:r>
          </a:p>
        </p:txBody>
      </p:sp>
      <p:sp>
        <p:nvSpPr>
          <p:cNvPr id="322568" name="AutoShape 8">
            <a:extLst>
              <a:ext uri="{FF2B5EF4-FFF2-40B4-BE49-F238E27FC236}">
                <a16:creationId xmlns:a16="http://schemas.microsoft.com/office/drawing/2014/main" id="{735BDDC8-E506-5C0D-F52F-92D84A1DE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604" y="1052757"/>
            <a:ext cx="3184863" cy="1224245"/>
          </a:xfrm>
          <a:prstGeom prst="cloudCallout">
            <a:avLst>
              <a:gd name="adj1" fmla="val -103491"/>
              <a:gd name="adj2" fmla="val 47796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  <a:latin typeface="+mn-ea"/>
                <a:ea typeface="+mn-ea"/>
              </a:rPr>
              <a:t>随机试验</a:t>
            </a:r>
            <a:endParaRPr lang="zh-CN" altLang="en-US" sz="2400">
              <a:solidFill>
                <a:schemeClr val="tx1"/>
              </a:solidFill>
              <a:latin typeface="+mn-ea"/>
              <a:ea typeface="+mn-ea"/>
            </a:endParaRPr>
          </a:p>
          <a:p>
            <a:pPr algn="ctr" eaLnBrk="1" hangingPunct="1">
              <a:lnSpc>
                <a:spcPct val="150000"/>
              </a:lnSpc>
              <a:spcBef>
                <a:spcPct val="50000"/>
              </a:spcBef>
            </a:pPr>
            <a:endParaRPr lang="en-US" altLang="zh-CN" sz="2400">
              <a:latin typeface="+mn-ea"/>
              <a:ea typeface="+mn-ea"/>
            </a:endParaRPr>
          </a:p>
        </p:txBody>
      </p:sp>
      <p:sp>
        <p:nvSpPr>
          <p:cNvPr id="322569" name="AutoShape 9">
            <a:extLst>
              <a:ext uri="{FF2B5EF4-FFF2-40B4-BE49-F238E27FC236}">
                <a16:creationId xmlns:a16="http://schemas.microsoft.com/office/drawing/2014/main" id="{F6055C35-F153-CAE7-6442-371936C66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4187" y="2997894"/>
            <a:ext cx="2742222" cy="647850"/>
          </a:xfrm>
          <a:prstGeom prst="wedgeRoundRectCallout">
            <a:avLst>
              <a:gd name="adj1" fmla="val -149130"/>
              <a:gd name="adj2" fmla="val 71645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>
                <a:latin typeface="+mn-ea"/>
                <a:ea typeface="+mn-ea"/>
              </a:rPr>
              <a:t>样本点</a:t>
            </a:r>
          </a:p>
        </p:txBody>
      </p:sp>
      <p:sp>
        <p:nvSpPr>
          <p:cNvPr id="322570" name="AutoShape 10">
            <a:extLst>
              <a:ext uri="{FF2B5EF4-FFF2-40B4-BE49-F238E27FC236}">
                <a16:creationId xmlns:a16="http://schemas.microsoft.com/office/drawing/2014/main" id="{279A8A57-D8B2-5706-0318-5F6DB88AF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8245" y="4725194"/>
            <a:ext cx="2742222" cy="647850"/>
          </a:xfrm>
          <a:prstGeom prst="wedgeRoundRectCallout">
            <a:avLst>
              <a:gd name="adj1" fmla="val -164572"/>
              <a:gd name="adj2" fmla="val 124849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>
                <a:latin typeface="+mn-ea"/>
                <a:ea typeface="+mn-ea"/>
              </a:rPr>
              <a:t>样本空间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22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225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225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225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3225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22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2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22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8" grpId="0" animBg="1"/>
      <p:bldP spid="322569" grpId="0" animBg="1"/>
      <p:bldP spid="32257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2">
            <a:extLst>
              <a:ext uri="{FF2B5EF4-FFF2-40B4-BE49-F238E27FC236}">
                <a16:creationId xmlns:a16="http://schemas.microsoft.com/office/drawing/2014/main" id="{2F19B1CA-C875-ABD7-B429-3DA8D42471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一、基本概念</a:t>
            </a:r>
          </a:p>
        </p:txBody>
      </p:sp>
      <p:sp>
        <p:nvSpPr>
          <p:cNvPr id="24582" name="Rectangle 4">
            <a:extLst>
              <a:ext uri="{FF2B5EF4-FFF2-40B4-BE49-F238E27FC236}">
                <a16:creationId xmlns:a16="http://schemas.microsoft.com/office/drawing/2014/main" id="{6A26B19D-06CE-4061-B70B-4B2D64FBC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" y="1754271"/>
            <a:ext cx="10820400" cy="3351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00000"/>
                </a:solidFill>
                <a:latin typeface="+mn-ea"/>
                <a:ea typeface="+mn-ea"/>
              </a:rPr>
              <a:t>1</a:t>
            </a:r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</a:rPr>
              <a:t>、随机试验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+mn-ea"/>
                <a:ea typeface="+mn-ea"/>
              </a:rPr>
              <a:t>如果一个试验</a:t>
            </a:r>
            <a:r>
              <a:rPr lang="en-US" altLang="zh-CN" dirty="0">
                <a:latin typeface="+mn-ea"/>
                <a:ea typeface="+mn-ea"/>
              </a:rPr>
              <a:t>E</a:t>
            </a:r>
            <a:r>
              <a:rPr lang="zh-CN" altLang="en-US" dirty="0">
                <a:latin typeface="+mn-ea"/>
                <a:ea typeface="+mn-ea"/>
              </a:rPr>
              <a:t>满足下列条件：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AutoNum type="alphaLcParenR"/>
            </a:pPr>
            <a:r>
              <a:rPr lang="zh-CN" altLang="en-US" dirty="0">
                <a:latin typeface="+mn-ea"/>
                <a:ea typeface="+mn-ea"/>
              </a:rPr>
              <a:t>在相同的条件下可以重复进行；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AutoNum type="alphaLcParenR"/>
            </a:pPr>
            <a:r>
              <a:rPr lang="zh-CN" altLang="en-US" dirty="0">
                <a:latin typeface="+mn-ea"/>
                <a:ea typeface="+mn-ea"/>
              </a:rPr>
              <a:t>每次试验的结果不止一个，并且能事先明确知道试验的所有结果；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AutoNum type="alphaLcParenR"/>
            </a:pPr>
            <a:r>
              <a:rPr lang="zh-CN" altLang="en-US" dirty="0">
                <a:latin typeface="+mn-ea"/>
                <a:ea typeface="+mn-ea"/>
              </a:rPr>
              <a:t>一次试验结束之前，不能确定哪一个结果会出现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+mn-ea"/>
                <a:ea typeface="+mn-ea"/>
              </a:rPr>
              <a:t>则称此试验为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随机试验</a:t>
            </a:r>
            <a:r>
              <a:rPr lang="zh-CN" altLang="en-US" dirty="0">
                <a:latin typeface="+mn-ea"/>
                <a:ea typeface="+mn-ea"/>
              </a:rPr>
              <a:t>。</a:t>
            </a:r>
          </a:p>
        </p:txBody>
      </p:sp>
    </p:spTree>
  </p:cSld>
  <p:clrMapOvr>
    <a:masterClrMapping/>
  </p:clrMapOvr>
  <p:transition>
    <p:strips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Rectangle 2">
            <a:extLst>
              <a:ext uri="{FF2B5EF4-FFF2-40B4-BE49-F238E27FC236}">
                <a16:creationId xmlns:a16="http://schemas.microsoft.com/office/drawing/2014/main" id="{824A6111-074C-6D49-2D41-02971831B6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一、基本概念</a:t>
            </a:r>
            <a:r>
              <a:rPr lang="en-US" altLang="zh-CN">
                <a:ea typeface="黑体" panose="02010609060101010101" pitchFamily="49" charset="-122"/>
              </a:rPr>
              <a:t>(</a:t>
            </a:r>
            <a:r>
              <a:rPr lang="zh-CN" altLang="en-US">
                <a:ea typeface="黑体" panose="02010609060101010101" pitchFamily="49" charset="-122"/>
              </a:rPr>
              <a:t>续</a:t>
            </a:r>
            <a:r>
              <a:rPr lang="en-US" altLang="zh-CN">
                <a:ea typeface="黑体" panose="02010609060101010101" pitchFamily="49" charset="-122"/>
              </a:rPr>
              <a:t>1)</a:t>
            </a:r>
          </a:p>
        </p:txBody>
      </p:sp>
      <p:sp>
        <p:nvSpPr>
          <p:cNvPr id="25606" name="Rectangle 10">
            <a:extLst>
              <a:ext uri="{FF2B5EF4-FFF2-40B4-BE49-F238E27FC236}">
                <a16:creationId xmlns:a16="http://schemas.microsoft.com/office/drawing/2014/main" id="{C484E32B-1A2B-C37A-0EFC-A69ACE1A5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62" y="935488"/>
            <a:ext cx="1420261" cy="488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2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、样本点</a:t>
            </a:r>
          </a:p>
        </p:txBody>
      </p:sp>
      <p:sp>
        <p:nvSpPr>
          <p:cNvPr id="263179" name="Rectangle 11">
            <a:extLst>
              <a:ext uri="{FF2B5EF4-FFF2-40B4-BE49-F238E27FC236}">
                <a16:creationId xmlns:a16="http://schemas.microsoft.com/office/drawing/2014/main" id="{894A16FB-864E-E23B-68A3-DCB7FD3F5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808" y="1766458"/>
            <a:ext cx="8005871" cy="488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全体样本点构成的集合，称为</a:t>
            </a:r>
            <a:r>
              <a:rPr lang="zh-CN" altLang="en-US" sz="2400" dirty="0">
                <a:solidFill>
                  <a:srgbClr val="6600CC"/>
                </a:solidFill>
                <a:latin typeface="+mn-ea"/>
                <a:ea typeface="+mn-ea"/>
              </a:rPr>
              <a:t>样本空间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，记为</a:t>
            </a:r>
            <a:r>
              <a:rPr lang="en-US" altLang="zh-CN" sz="2400" dirty="0">
                <a:solidFill>
                  <a:srgbClr val="6600CC"/>
                </a:solidFill>
                <a:latin typeface="+mn-ea"/>
                <a:ea typeface="+mn-ea"/>
              </a:rPr>
              <a:t>Ω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25608" name="Rectangle 12">
            <a:extLst>
              <a:ext uri="{FF2B5EF4-FFF2-40B4-BE49-F238E27FC236}">
                <a16:creationId xmlns:a16="http://schemas.microsoft.com/office/drawing/2014/main" id="{B1852EF6-16D7-E70D-C8A2-2140CBB25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417" y="1766458"/>
            <a:ext cx="1728037" cy="488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3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、样本空间</a:t>
            </a:r>
          </a:p>
        </p:txBody>
      </p:sp>
      <p:sp>
        <p:nvSpPr>
          <p:cNvPr id="25609" name="Rectangle 13">
            <a:extLst>
              <a:ext uri="{FF2B5EF4-FFF2-40B4-BE49-F238E27FC236}">
                <a16:creationId xmlns:a16="http://schemas.microsoft.com/office/drawing/2014/main" id="{AE1AA708-46A0-9F37-3C15-7EFA214C3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417" y="2652852"/>
            <a:ext cx="4017125" cy="488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40000"/>
              </a:spcBef>
            </a:pP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4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、随机事件体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域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或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σ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－代数</a:t>
            </a:r>
          </a:p>
        </p:txBody>
      </p:sp>
      <p:grpSp>
        <p:nvGrpSpPr>
          <p:cNvPr id="263194" name="Group 26">
            <a:extLst>
              <a:ext uri="{FF2B5EF4-FFF2-40B4-BE49-F238E27FC236}">
                <a16:creationId xmlns:a16="http://schemas.microsoft.com/office/drawing/2014/main" id="{4088CFFB-CFD3-35F5-B8B1-321C2C2AB2C1}"/>
              </a:ext>
            </a:extLst>
          </p:cNvPr>
          <p:cNvGrpSpPr>
            <a:grpSpLocks/>
          </p:cNvGrpSpPr>
          <p:nvPr/>
        </p:nvGrpSpPr>
        <p:grpSpPr bwMode="auto">
          <a:xfrm>
            <a:off x="1069975" y="3307918"/>
            <a:ext cx="9145059" cy="3415503"/>
            <a:chOff x="912" y="2478"/>
            <a:chExt cx="4848" cy="2151"/>
          </a:xfrm>
        </p:grpSpPr>
        <p:sp>
          <p:nvSpPr>
            <p:cNvPr id="25615" name="Rectangle 4">
              <a:extLst>
                <a:ext uri="{FF2B5EF4-FFF2-40B4-BE49-F238E27FC236}">
                  <a16:creationId xmlns:a16="http://schemas.microsoft.com/office/drawing/2014/main" id="{D01963B9-236C-A1E1-D966-1677C73B4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478"/>
              <a:ext cx="4848" cy="2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arenR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914400" indent="-45720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371600" indent="-4572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828800" indent="-4572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indent="-4572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indent="-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indent="-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indent="-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indent="-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buClrTx/>
                <a:buFontTx/>
                <a:buNone/>
              </a:pPr>
              <a:r>
                <a:rPr lang="zh-CN" altLang="en-US" sz="2801" dirty="0">
                  <a:ea typeface="黑体" panose="02010609060101010101" pitchFamily="49" charset="-122"/>
                </a:rPr>
                <a:t>样本空间</a:t>
              </a:r>
              <a:r>
                <a:rPr lang="en-US" altLang="zh-CN" sz="2801" dirty="0">
                  <a:ea typeface="黑体" panose="02010609060101010101" pitchFamily="49" charset="-122"/>
                  <a:cs typeface="Times New Roman" panose="02020603050405020304" pitchFamily="18" charset="0"/>
                </a:rPr>
                <a:t>Ω</a:t>
              </a:r>
              <a:r>
                <a:rPr lang="zh-CN" altLang="en-US" sz="2801" dirty="0">
                  <a:ea typeface="黑体" panose="02010609060101010101" pitchFamily="49" charset="-122"/>
                </a:rPr>
                <a:t>的子集组成的集类</a:t>
              </a:r>
              <a:r>
                <a:rPr lang="en-US" altLang="zh-CN" sz="2801" dirty="0">
                  <a:ea typeface="黑体" panose="02010609060101010101" pitchFamily="49" charset="-122"/>
                </a:rPr>
                <a:t>F</a:t>
              </a:r>
              <a:r>
                <a:rPr lang="zh-CN" altLang="en-US" sz="2801" dirty="0">
                  <a:ea typeface="黑体" panose="02010609060101010101" pitchFamily="49" charset="-122"/>
                </a:rPr>
                <a:t>满足：</a:t>
              </a:r>
            </a:p>
            <a:p>
              <a:pPr eaLnBrk="1" hangingPunct="1">
                <a:lnSpc>
                  <a:spcPct val="150000"/>
                </a:lnSpc>
                <a:buFontTx/>
                <a:buAutoNum type="alphaLcPeriod"/>
              </a:pPr>
              <a:r>
                <a:rPr lang="en-US" altLang="zh-CN" sz="2801" dirty="0">
                  <a:ea typeface="黑体" panose="02010609060101010101" pitchFamily="49" charset="-122"/>
                </a:rPr>
                <a:t>Ω</a:t>
              </a:r>
              <a:r>
                <a:rPr lang="en-US" altLang="zh-CN" sz="2801" dirty="0">
                  <a:ea typeface="黑体" panose="02010609060101010101" pitchFamily="49" charset="-122"/>
                  <a:sym typeface="Symbol" panose="05050102010706020507" pitchFamily="18" charset="2"/>
                </a:rPr>
                <a:t>F</a:t>
              </a:r>
              <a:r>
                <a:rPr lang="zh-CN" altLang="en-US" sz="2801" dirty="0">
                  <a:ea typeface="黑体" panose="02010609060101010101" pitchFamily="49" charset="-122"/>
                  <a:sym typeface="Symbol" panose="05050102010706020507" pitchFamily="18" charset="2"/>
                </a:rPr>
                <a:t>；</a:t>
              </a:r>
            </a:p>
            <a:p>
              <a:pPr eaLnBrk="1" hangingPunct="1">
                <a:lnSpc>
                  <a:spcPct val="150000"/>
                </a:lnSpc>
                <a:buFontTx/>
                <a:buAutoNum type="alphaLcPeriod"/>
              </a:pPr>
              <a:r>
                <a:rPr lang="zh-CN" altLang="en-US" sz="2801" dirty="0">
                  <a:ea typeface="黑体" panose="02010609060101010101" pitchFamily="49" charset="-122"/>
                  <a:sym typeface="Symbol" panose="05050102010706020507" pitchFamily="18" charset="2"/>
                </a:rPr>
                <a:t>若</a:t>
              </a:r>
              <a:r>
                <a:rPr lang="en-US" altLang="zh-CN" sz="2801" dirty="0">
                  <a:ea typeface="黑体" panose="02010609060101010101" pitchFamily="49" charset="-122"/>
                  <a:sym typeface="Symbol" panose="05050102010706020507" pitchFamily="18" charset="2"/>
                </a:rPr>
                <a:t>AF</a:t>
              </a:r>
              <a:r>
                <a:rPr lang="zh-CN" altLang="en-US" sz="2801" dirty="0">
                  <a:ea typeface="黑体" panose="02010609060101010101" pitchFamily="49" charset="-122"/>
                  <a:sym typeface="Symbol" panose="05050102010706020507" pitchFamily="18" charset="2"/>
                </a:rPr>
                <a:t>，则    </a:t>
              </a:r>
              <a:r>
                <a:rPr lang="en-US" altLang="zh-CN" sz="2801" dirty="0">
                  <a:ea typeface="黑体" panose="02010609060101010101" pitchFamily="49" charset="-122"/>
                  <a:sym typeface="Symbol" panose="05050102010706020507" pitchFamily="18" charset="2"/>
                </a:rPr>
                <a:t>F;</a:t>
              </a:r>
            </a:p>
            <a:p>
              <a:pPr eaLnBrk="1" hangingPunct="1">
                <a:lnSpc>
                  <a:spcPct val="150000"/>
                </a:lnSpc>
                <a:buFontTx/>
                <a:buAutoNum type="alphaLcPeriod"/>
              </a:pPr>
              <a:r>
                <a:rPr lang="zh-CN" altLang="en-US" sz="2801" dirty="0">
                  <a:ea typeface="黑体" panose="02010609060101010101" pitchFamily="49" charset="-122"/>
                  <a:sym typeface="Symbol" panose="05050102010706020507" pitchFamily="18" charset="2"/>
                </a:rPr>
                <a:t>若</a:t>
              </a:r>
              <a:r>
                <a:rPr lang="en-US" altLang="zh-CN" sz="2801" dirty="0" err="1">
                  <a:ea typeface="黑体" panose="02010609060101010101" pitchFamily="49" charset="-122"/>
                  <a:sym typeface="Symbol" panose="05050102010706020507" pitchFamily="18" charset="2"/>
                </a:rPr>
                <a:t>A</a:t>
              </a:r>
              <a:r>
                <a:rPr lang="en-US" altLang="zh-CN" sz="2801" baseline="-25000" dirty="0" err="1"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r>
                <a:rPr lang="en-US" altLang="zh-CN" sz="2801" dirty="0" err="1">
                  <a:ea typeface="黑体" panose="02010609060101010101" pitchFamily="49" charset="-122"/>
                  <a:sym typeface="Symbol" panose="05050102010706020507" pitchFamily="18" charset="2"/>
                </a:rPr>
                <a:t>F</a:t>
              </a:r>
              <a:r>
                <a:rPr lang="en-US" altLang="zh-CN" sz="2801" dirty="0">
                  <a:ea typeface="黑体" panose="02010609060101010101" pitchFamily="49" charset="-122"/>
                  <a:sym typeface="Symbol" panose="05050102010706020507" pitchFamily="18" charset="2"/>
                </a:rPr>
                <a:t>(</a:t>
              </a:r>
              <a:r>
                <a:rPr lang="en-US" altLang="zh-CN" sz="2801" dirty="0" err="1"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r>
                <a:rPr lang="en-US" altLang="zh-CN" sz="2801" dirty="0">
                  <a:ea typeface="黑体" panose="02010609060101010101" pitchFamily="49" charset="-122"/>
                  <a:sym typeface="Symbol" panose="05050102010706020507" pitchFamily="18" charset="2"/>
                </a:rPr>
                <a:t>=1,2,…,)</a:t>
              </a:r>
              <a:r>
                <a:rPr lang="zh-CN" altLang="en-US" sz="2801" dirty="0">
                  <a:ea typeface="黑体" panose="02010609060101010101" pitchFamily="49" charset="-122"/>
                  <a:sym typeface="Symbol" panose="05050102010706020507" pitchFamily="18" charset="2"/>
                </a:rPr>
                <a:t>，则                 ；</a:t>
              </a:r>
            </a:p>
            <a:p>
              <a:pPr eaLnBrk="1" hangingPunct="1">
                <a:lnSpc>
                  <a:spcPct val="150000"/>
                </a:lnSpc>
                <a:spcBef>
                  <a:spcPct val="40000"/>
                </a:spcBef>
                <a:buClrTx/>
                <a:buFontTx/>
                <a:buNone/>
              </a:pPr>
              <a:r>
                <a:rPr lang="zh-CN" altLang="en-US" sz="2801" dirty="0">
                  <a:ea typeface="黑体" panose="02010609060101010101" pitchFamily="49" charset="-122"/>
                  <a:sym typeface="Symbol" panose="05050102010706020507" pitchFamily="18" charset="2"/>
                </a:rPr>
                <a:t>那么称</a:t>
              </a:r>
              <a:r>
                <a:rPr lang="en-US" altLang="zh-CN" sz="2801" dirty="0">
                  <a:ea typeface="黑体" panose="02010609060101010101" pitchFamily="49" charset="-122"/>
                  <a:sym typeface="Symbol" panose="05050102010706020507" pitchFamily="18" charset="2"/>
                </a:rPr>
                <a:t>F</a:t>
              </a:r>
              <a:r>
                <a:rPr lang="zh-CN" altLang="en-US" sz="2801" dirty="0">
                  <a:ea typeface="黑体" panose="02010609060101010101" pitchFamily="49" charset="-122"/>
                  <a:sym typeface="Symbol" panose="05050102010706020507" pitchFamily="18" charset="2"/>
                </a:rPr>
                <a:t>为</a:t>
              </a:r>
              <a:r>
                <a:rPr lang="zh-CN" altLang="en-US" sz="2801" dirty="0">
                  <a:solidFill>
                    <a:srgbClr val="6600CC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随机事件体</a:t>
              </a:r>
              <a:r>
                <a:rPr lang="en-US" altLang="zh-CN" sz="2801" dirty="0">
                  <a:ea typeface="黑体" panose="02010609060101010101" pitchFamily="49" charset="-122"/>
                  <a:sym typeface="Symbol" panose="05050102010706020507" pitchFamily="18" charset="2"/>
                </a:rPr>
                <a:t>(</a:t>
              </a:r>
              <a:r>
                <a:rPr lang="zh-CN" altLang="en-US" sz="2801" dirty="0">
                  <a:ea typeface="黑体" panose="02010609060101010101" pitchFamily="49" charset="-122"/>
                  <a:sym typeface="Symbol" panose="05050102010706020507" pitchFamily="18" charset="2"/>
                </a:rPr>
                <a:t>域</a:t>
              </a:r>
              <a:r>
                <a:rPr lang="en-US" altLang="zh-CN" sz="2801" dirty="0">
                  <a:ea typeface="黑体" panose="02010609060101010101" pitchFamily="49" charset="-122"/>
                  <a:sym typeface="Symbol" panose="05050102010706020507" pitchFamily="18" charset="2"/>
                </a:rPr>
                <a:t>)</a:t>
              </a:r>
              <a:r>
                <a:rPr lang="zh-CN" altLang="en-US" sz="2801" dirty="0">
                  <a:ea typeface="黑体" panose="02010609060101010101" pitchFamily="49" charset="-122"/>
                  <a:sym typeface="Symbol" panose="05050102010706020507" pitchFamily="18" charset="2"/>
                </a:rPr>
                <a:t>或</a:t>
              </a:r>
              <a:r>
                <a:rPr lang="en-US" altLang="zh-CN" sz="2801" dirty="0">
                  <a:solidFill>
                    <a:srgbClr val="6600CC"/>
                  </a:solidFill>
                  <a:ea typeface="黑体" panose="02010609060101010101" pitchFamily="49" charset="-122"/>
                </a:rPr>
                <a:t>σ</a:t>
              </a:r>
              <a:r>
                <a:rPr lang="zh-CN" altLang="en-US" sz="2801" dirty="0">
                  <a:solidFill>
                    <a:srgbClr val="6600CC"/>
                  </a:solidFill>
                  <a:ea typeface="黑体" panose="02010609060101010101" pitchFamily="49" charset="-122"/>
                </a:rPr>
                <a:t>－代数</a:t>
              </a:r>
              <a:r>
                <a:rPr lang="zh-CN" altLang="en-US" sz="2801" dirty="0">
                  <a:ea typeface="黑体" panose="02010609060101010101" pitchFamily="49" charset="-122"/>
                </a:rPr>
                <a:t>。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16" name="Object 16">
                  <a:extLst>
                    <a:ext uri="{FF2B5EF4-FFF2-40B4-BE49-F238E27FC236}">
                      <a16:creationId xmlns:a16="http://schemas.microsoft.com/office/drawing/2014/main" id="{A8A23883-2941-8BAC-154C-8B3592FA9CDC}"/>
                    </a:ext>
                  </a:extLst>
                </p:cNvPr>
                <p:cNvSpPr txBox="1"/>
                <p:nvPr/>
              </p:nvSpPr>
              <p:spPr bwMode="auto">
                <a:xfrm>
                  <a:off x="3035" y="3706"/>
                  <a:ext cx="816" cy="58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chr m:val="∪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616" name="Object 16">
                  <a:extLst>
                    <a:ext uri="{FF2B5EF4-FFF2-40B4-BE49-F238E27FC236}">
                      <a16:creationId xmlns:a16="http://schemas.microsoft.com/office/drawing/2014/main" id="{A8A23883-2941-8BAC-154C-8B3592FA9C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35" y="3706"/>
                  <a:ext cx="816" cy="58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17" name="Object 19">
                  <a:extLst>
                    <a:ext uri="{FF2B5EF4-FFF2-40B4-BE49-F238E27FC236}">
                      <a16:creationId xmlns:a16="http://schemas.microsoft.com/office/drawing/2014/main" id="{64ACBF69-9257-9542-92D1-410350D5AA38}"/>
                    </a:ext>
                  </a:extLst>
                </p:cNvPr>
                <p:cNvSpPr txBox="1"/>
                <p:nvPr/>
              </p:nvSpPr>
              <p:spPr bwMode="auto">
                <a:xfrm>
                  <a:off x="2164" y="3376"/>
                  <a:ext cx="356" cy="37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617" name="Object 19">
                  <a:extLst>
                    <a:ext uri="{FF2B5EF4-FFF2-40B4-BE49-F238E27FC236}">
                      <a16:creationId xmlns:a16="http://schemas.microsoft.com/office/drawing/2014/main" id="{64ACBF69-9257-9542-92D1-410350D5AA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64" y="3376"/>
                  <a:ext cx="356" cy="37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3189" name="Text Box 21">
            <a:extLst>
              <a:ext uri="{FF2B5EF4-FFF2-40B4-BE49-F238E27FC236}">
                <a16:creationId xmlns:a16="http://schemas.microsoft.com/office/drawing/2014/main" id="{F98D2265-9571-6868-03EB-33E899129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1424" y="5126702"/>
            <a:ext cx="4926926" cy="1596719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65000"/>
              </a:spcBef>
            </a:pP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Ω ={1,2,3,4,5,6},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随机事件体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F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由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Ω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的全体子集共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(2</a:t>
            </a:r>
            <a:r>
              <a:rPr lang="en-US" altLang="zh-CN" sz="2400" baseline="30000" dirty="0">
                <a:solidFill>
                  <a:srgbClr val="C00000"/>
                </a:solidFill>
                <a:latin typeface="+mn-ea"/>
                <a:ea typeface="+mn-ea"/>
              </a:rPr>
              <a:t>6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＝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64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个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构成，即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F={</a:t>
            </a:r>
            <a:r>
              <a:rPr lang="el-GR" altLang="zh-CN" sz="2400" dirty="0">
                <a:solidFill>
                  <a:srgbClr val="C00000"/>
                </a:solidFill>
                <a:latin typeface="+mn-ea"/>
                <a:ea typeface="+mn-ea"/>
              </a:rPr>
              <a:t>Φ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,{1},{2},…,{1,2,3,4,5,6}}</a:t>
            </a:r>
          </a:p>
        </p:txBody>
      </p:sp>
      <p:sp>
        <p:nvSpPr>
          <p:cNvPr id="263193" name="Text Box 25">
            <a:extLst>
              <a:ext uri="{FF2B5EF4-FFF2-40B4-BE49-F238E27FC236}">
                <a16:creationId xmlns:a16="http://schemas.microsoft.com/office/drawing/2014/main" id="{64235176-72F3-4E2B-4C14-BF2C19D81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8938" y="918491"/>
            <a:ext cx="8765857" cy="487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随机试验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E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的每一个最简单的试验结果，称为</a:t>
            </a:r>
            <a:r>
              <a:rPr lang="zh-CN" altLang="en-US" sz="2400" dirty="0">
                <a:solidFill>
                  <a:srgbClr val="6600CC"/>
                </a:solidFill>
                <a:latin typeface="+mn-ea"/>
                <a:ea typeface="+mn-ea"/>
              </a:rPr>
              <a:t>样本点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，记为</a:t>
            </a:r>
            <a:r>
              <a:rPr lang="zh-CN" altLang="en-US" sz="2400" dirty="0">
                <a:solidFill>
                  <a:srgbClr val="6600CC"/>
                </a:solidFill>
                <a:latin typeface="+mn-ea"/>
                <a:ea typeface="+mn-ea"/>
                <a:sym typeface="Symbol" panose="05050102010706020507" pitchFamily="18" charset="2"/>
              </a:rPr>
              <a:t>。</a:t>
            </a:r>
          </a:p>
        </p:txBody>
      </p:sp>
      <p:sp>
        <p:nvSpPr>
          <p:cNvPr id="263195" name="AutoShape 27">
            <a:extLst>
              <a:ext uri="{FF2B5EF4-FFF2-40B4-BE49-F238E27FC236}">
                <a16:creationId xmlns:a16="http://schemas.microsoft.com/office/drawing/2014/main" id="{046DA6AF-0503-E545-FE72-30AEC6B2F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9896" y="1611447"/>
            <a:ext cx="2161087" cy="1008296"/>
          </a:xfrm>
          <a:prstGeom prst="cloudCallout">
            <a:avLst>
              <a:gd name="adj1" fmla="val -56023"/>
              <a:gd name="adj2" fmla="val -87167"/>
            </a:avLst>
          </a:prstGeom>
          <a:solidFill>
            <a:srgbClr val="96FFFF"/>
          </a:solidFill>
          <a:ln w="9525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1">
                <a:solidFill>
                  <a:srgbClr val="6600CC"/>
                </a:solidFill>
              </a:rPr>
              <a:t>1</a:t>
            </a:r>
          </a:p>
        </p:txBody>
      </p:sp>
      <p:sp>
        <p:nvSpPr>
          <p:cNvPr id="263196" name="AutoShape 28">
            <a:extLst>
              <a:ext uri="{FF2B5EF4-FFF2-40B4-BE49-F238E27FC236}">
                <a16:creationId xmlns:a16="http://schemas.microsoft.com/office/drawing/2014/main" id="{65B02699-1290-2805-2180-AB26257AF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1808" y="2880039"/>
            <a:ext cx="2592987" cy="1008296"/>
          </a:xfrm>
          <a:prstGeom prst="cloudCallout">
            <a:avLst>
              <a:gd name="adj1" fmla="val -60838"/>
              <a:gd name="adj2" fmla="val -105120"/>
            </a:avLst>
          </a:prstGeom>
          <a:solidFill>
            <a:srgbClr val="96FFFF"/>
          </a:solidFill>
          <a:ln w="9525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1">
                <a:solidFill>
                  <a:srgbClr val="6600CC"/>
                </a:solidFill>
              </a:rPr>
              <a:t>{1,2,3,4,5,6}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E88669C-CE89-20EA-54A8-D990457D3A61}"/>
              </a:ext>
            </a:extLst>
          </p:cNvPr>
          <p:cNvSpPr txBox="1">
            <a:spLocks noChangeArrowheads="1"/>
          </p:cNvSpPr>
          <p:nvPr/>
        </p:nvSpPr>
        <p:spPr>
          <a:xfrm>
            <a:off x="774700" y="352424"/>
            <a:ext cx="5334000" cy="429419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1219627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ea typeface="黑体" panose="02010609060101010101" pitchFamily="49" charset="-122"/>
              </a:rPr>
              <a:t>一、基本概念</a:t>
            </a:r>
            <a:r>
              <a:rPr lang="en-US" altLang="zh-CN" dirty="0">
                <a:ea typeface="黑体" panose="02010609060101010101" pitchFamily="49" charset="-122"/>
              </a:rPr>
              <a:t>(</a:t>
            </a:r>
            <a:r>
              <a:rPr lang="zh-CN" altLang="en-US" dirty="0">
                <a:ea typeface="黑体" panose="02010609060101010101" pitchFamily="49" charset="-122"/>
              </a:rPr>
              <a:t>续</a:t>
            </a:r>
            <a:r>
              <a:rPr lang="en-US" altLang="zh-CN" dirty="0">
                <a:ea typeface="黑体" panose="02010609060101010101" pitchFamily="49" charset="-122"/>
              </a:rPr>
              <a:t>1)</a:t>
            </a:r>
            <a:endParaRPr lang="zh-CN" altLang="en-US" dirty="0"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3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3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7" dur="500"/>
                                        <p:tgtEl>
                                          <p:spTgt spid="263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63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3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3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3" dur="500"/>
                                        <p:tgtEl>
                                          <p:spTgt spid="263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6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26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9" grpId="0"/>
      <p:bldP spid="263189" grpId="0" animBg="1"/>
      <p:bldP spid="263193" grpId="0"/>
      <p:bldP spid="263195" grpId="0" animBg="1"/>
      <p:bldP spid="263195" grpId="1" animBg="1"/>
      <p:bldP spid="263196" grpId="0" animBg="1"/>
      <p:bldP spid="26319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>
            <a:extLst>
              <a:ext uri="{FF2B5EF4-FFF2-40B4-BE49-F238E27FC236}">
                <a16:creationId xmlns:a16="http://schemas.microsoft.com/office/drawing/2014/main" id="{8BE55045-BD3F-8E13-15FE-2E4CE29BAA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7575" y="264109"/>
            <a:ext cx="7469329" cy="609741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一、基本概念</a:t>
            </a:r>
            <a:r>
              <a:rPr lang="en-US" altLang="zh-CN" dirty="0">
                <a:ea typeface="黑体" panose="02010609060101010101" pitchFamily="49" charset="-122"/>
              </a:rPr>
              <a:t>(</a:t>
            </a:r>
            <a:r>
              <a:rPr lang="zh-CN" altLang="en-US" dirty="0">
                <a:ea typeface="黑体" panose="02010609060101010101" pitchFamily="49" charset="-122"/>
              </a:rPr>
              <a:t>续</a:t>
            </a:r>
            <a:r>
              <a:rPr lang="en-US" altLang="zh-CN" dirty="0">
                <a:ea typeface="黑体" panose="02010609060101010101" pitchFamily="49" charset="-122"/>
              </a:rPr>
              <a:t>2)</a:t>
            </a:r>
          </a:p>
        </p:txBody>
      </p:sp>
      <p:sp>
        <p:nvSpPr>
          <p:cNvPr id="323590" name="Rectangle 6">
            <a:extLst>
              <a:ext uri="{FF2B5EF4-FFF2-40B4-BE49-F238E27FC236}">
                <a16:creationId xmlns:a16="http://schemas.microsoft.com/office/drawing/2014/main" id="{1461488F-BAE9-6D80-E304-DD7704038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8966" y="2499660"/>
            <a:ext cx="592085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仅含一个样本点的事件称为</a:t>
            </a:r>
            <a:r>
              <a:rPr lang="zh-CN" altLang="en-US" sz="2400" dirty="0">
                <a:solidFill>
                  <a:srgbClr val="6600CC"/>
                </a:solidFill>
                <a:latin typeface="+mn-ea"/>
                <a:ea typeface="+mn-ea"/>
                <a:sym typeface="Symbol" panose="05050102010706020507" pitchFamily="18" charset="2"/>
              </a:rPr>
              <a:t>基本事件。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26631" name="Rectangle 11">
            <a:extLst>
              <a:ext uri="{FF2B5EF4-FFF2-40B4-BE49-F238E27FC236}">
                <a16:creationId xmlns:a16="http://schemas.microsoft.com/office/drawing/2014/main" id="{295193DC-CBB3-20AA-27CA-466C8B644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" y="1372394"/>
            <a:ext cx="17280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5</a:t>
            </a:r>
            <a:r>
              <a:rPr lang="zh-CN" altLang="en-US" sz="240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、随机事件</a:t>
            </a:r>
          </a:p>
        </p:txBody>
      </p:sp>
      <p:sp>
        <p:nvSpPr>
          <p:cNvPr id="26632" name="Rectangle 14">
            <a:extLst>
              <a:ext uri="{FF2B5EF4-FFF2-40B4-BE49-F238E27FC236}">
                <a16:creationId xmlns:a16="http://schemas.microsoft.com/office/drawing/2014/main" id="{3B276094-60C0-48DE-08A9-ADC2BEABA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297" y="2545827"/>
            <a:ext cx="17280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6</a:t>
            </a:r>
            <a:r>
              <a:rPr lang="zh-CN" altLang="en-US" sz="240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、基本事件</a:t>
            </a:r>
          </a:p>
        </p:txBody>
      </p:sp>
      <p:sp>
        <p:nvSpPr>
          <p:cNvPr id="26633" name="Rectangle 15">
            <a:extLst>
              <a:ext uri="{FF2B5EF4-FFF2-40B4-BE49-F238E27FC236}">
                <a16:creationId xmlns:a16="http://schemas.microsoft.com/office/drawing/2014/main" id="{51B77281-AB87-E930-E06A-C1FB9A5DA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" y="3677978"/>
            <a:ext cx="17280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7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、可测空间</a:t>
            </a:r>
          </a:p>
        </p:txBody>
      </p:sp>
      <p:sp>
        <p:nvSpPr>
          <p:cNvPr id="323602" name="Rectangle 18">
            <a:extLst>
              <a:ext uri="{FF2B5EF4-FFF2-40B4-BE49-F238E27FC236}">
                <a16:creationId xmlns:a16="http://schemas.microsoft.com/office/drawing/2014/main" id="{69B59F56-FDB4-AC45-41BD-5F58089C1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8966" y="3627166"/>
            <a:ext cx="63606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样本空间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Ω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F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二元体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Ω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,F)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称为</a:t>
            </a:r>
            <a:r>
              <a:rPr lang="zh-CN" altLang="en-US" sz="2400" dirty="0">
                <a:solidFill>
                  <a:srgbClr val="6600CC"/>
                </a:solidFill>
                <a:latin typeface="+mn-ea"/>
                <a:ea typeface="+mn-ea"/>
                <a:sym typeface="Symbol" panose="05050102010706020507" pitchFamily="18" charset="2"/>
              </a:rPr>
              <a:t>可测空间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323603" name="Rectangle 19">
            <a:extLst>
              <a:ext uri="{FF2B5EF4-FFF2-40B4-BE49-F238E27FC236}">
                <a16:creationId xmlns:a16="http://schemas.microsoft.com/office/drawing/2014/main" id="{9B53B6A1-7D7D-CA64-BA0F-BD219B4F8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042" y="1326227"/>
            <a:ext cx="645425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随机事件体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F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的任意元素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称为</a:t>
            </a:r>
            <a:r>
              <a:rPr lang="zh-CN" altLang="en-US" sz="2400" dirty="0">
                <a:solidFill>
                  <a:srgbClr val="6600CC"/>
                </a:solidFill>
                <a:latin typeface="+mn-ea"/>
                <a:ea typeface="+mn-ea"/>
                <a:sym typeface="Symbol" panose="05050102010706020507" pitchFamily="18" charset="2"/>
              </a:rPr>
              <a:t>随机事件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323604" name="AutoShape 20">
            <a:extLst>
              <a:ext uri="{FF2B5EF4-FFF2-40B4-BE49-F238E27FC236}">
                <a16:creationId xmlns:a16="http://schemas.microsoft.com/office/drawing/2014/main" id="{C8846682-1002-38F6-57BA-57A00D5B4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4783" y="1312150"/>
            <a:ext cx="2161087" cy="822244"/>
          </a:xfrm>
          <a:prstGeom prst="cloudCallout">
            <a:avLst>
              <a:gd name="adj1" fmla="val -89716"/>
              <a:gd name="adj2" fmla="val -19991"/>
            </a:avLst>
          </a:prstGeom>
          <a:solidFill>
            <a:srgbClr val="96FFFF"/>
          </a:solidFill>
          <a:ln w="9525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6600CC"/>
                </a:solidFill>
                <a:latin typeface="+mn-ea"/>
                <a:ea typeface="+mn-ea"/>
              </a:rPr>
              <a:t>{1,2,3,4}</a:t>
            </a:r>
          </a:p>
        </p:txBody>
      </p:sp>
      <p:sp>
        <p:nvSpPr>
          <p:cNvPr id="323605" name="AutoShape 21">
            <a:extLst>
              <a:ext uri="{FF2B5EF4-FFF2-40B4-BE49-F238E27FC236}">
                <a16:creationId xmlns:a16="http://schemas.microsoft.com/office/drawing/2014/main" id="{C793AB2D-5B06-E8FC-B351-6D3E8DBE1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9225" y="2756019"/>
            <a:ext cx="1728037" cy="673775"/>
          </a:xfrm>
          <a:prstGeom prst="cloudCallout">
            <a:avLst>
              <a:gd name="adj1" fmla="val -127972"/>
              <a:gd name="adj2" fmla="val -54686"/>
            </a:avLst>
          </a:prstGeom>
          <a:solidFill>
            <a:srgbClr val="96FFFF"/>
          </a:solidFill>
          <a:ln w="9525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6600CC"/>
                </a:solidFill>
                <a:latin typeface="+mn-ea"/>
                <a:ea typeface="+mn-ea"/>
              </a:rPr>
              <a:t>{1}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3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3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8" dur="500"/>
                                        <p:tgtEl>
                                          <p:spTgt spid="3236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3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3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3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3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5" dur="500"/>
                                        <p:tgtEl>
                                          <p:spTgt spid="3236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3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3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90" grpId="0" build="p" autoUpdateAnimBg="0"/>
      <p:bldP spid="323602" grpId="0" build="p" autoUpdateAnimBg="0"/>
      <p:bldP spid="323603" grpId="0" build="p" autoUpdateAnimBg="0"/>
      <p:bldP spid="323604" grpId="0" animBg="1"/>
      <p:bldP spid="323604" grpId="1" animBg="1"/>
      <p:bldP spid="323605" grpId="0" animBg="1"/>
      <p:bldP spid="323605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78E054F9-742B-7DD0-909B-C3FE0FEEF6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二、几个记号</a:t>
            </a:r>
          </a:p>
        </p:txBody>
      </p:sp>
      <p:sp>
        <p:nvSpPr>
          <p:cNvPr id="264195" name="Rectangle 3">
            <a:extLst>
              <a:ext uri="{FF2B5EF4-FFF2-40B4-BE49-F238E27FC236}">
                <a16:creationId xmlns:a16="http://schemas.microsoft.com/office/drawing/2014/main" id="{39B4445D-661C-111C-FE8D-8F83A676F5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7375" y="988316"/>
            <a:ext cx="8763000" cy="1880035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zh-CN" dirty="0"/>
              <a:t>Ω	 </a:t>
            </a:r>
            <a:r>
              <a:rPr lang="zh-CN" altLang="en-US" dirty="0">
                <a:solidFill>
                  <a:srgbClr val="0000FF"/>
                </a:solidFill>
              </a:rPr>
              <a:t>样本空间，必然事件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zh-CN" altLang="en-US" dirty="0">
                <a:sym typeface="Symbol" panose="05050102010706020507" pitchFamily="18" charset="2"/>
              </a:rPr>
              <a:t></a:t>
            </a:r>
            <a:r>
              <a:rPr lang="zh-CN" altLang="en-US" dirty="0"/>
              <a:t>	 </a:t>
            </a:r>
            <a:r>
              <a:rPr lang="zh-CN" altLang="en-US" dirty="0">
                <a:solidFill>
                  <a:srgbClr val="0000FF"/>
                </a:solidFill>
              </a:rPr>
              <a:t>不可能事件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zh-CN" dirty="0"/>
              <a:t>ω	 </a:t>
            </a:r>
            <a:r>
              <a:rPr lang="zh-CN" altLang="en-US" dirty="0">
                <a:solidFill>
                  <a:srgbClr val="0000FF"/>
                </a:solidFill>
              </a:rPr>
              <a:t>基本事件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zh-CN" dirty="0"/>
              <a:t>A	 </a:t>
            </a:r>
            <a:r>
              <a:rPr lang="zh-CN" altLang="en-US" dirty="0">
                <a:solidFill>
                  <a:srgbClr val="0000FF"/>
                </a:solidFill>
              </a:rPr>
              <a:t>事件</a:t>
            </a:r>
          </a:p>
        </p:txBody>
      </p:sp>
      <p:sp>
        <p:nvSpPr>
          <p:cNvPr id="264196" name="Rectangle 4">
            <a:extLst>
              <a:ext uri="{FF2B5EF4-FFF2-40B4-BE49-F238E27FC236}">
                <a16:creationId xmlns:a16="http://schemas.microsoft.com/office/drawing/2014/main" id="{DC7C1180-8210-B87C-BFF2-A1B1EAC4F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2854329"/>
            <a:ext cx="6170453" cy="561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latin typeface="+mn-ea"/>
                <a:ea typeface="+mn-ea"/>
              </a:rPr>
              <a:t>	   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A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的对立事件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(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逆事件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4197" name="Object 5">
                <a:extLst>
                  <a:ext uri="{FF2B5EF4-FFF2-40B4-BE49-F238E27FC236}">
                    <a16:creationId xmlns:a16="http://schemas.microsoft.com/office/drawing/2014/main" id="{544FC48D-5E7A-065F-2F58-3250F3101672}"/>
                  </a:ext>
                </a:extLst>
              </p:cNvPr>
              <p:cNvSpPr txBox="1"/>
              <p:nvPr/>
            </p:nvSpPr>
            <p:spPr bwMode="auto">
              <a:xfrm>
                <a:off x="1069975" y="2896394"/>
                <a:ext cx="454130" cy="5589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4197" name="Object 5">
                <a:extLst>
                  <a:ext uri="{FF2B5EF4-FFF2-40B4-BE49-F238E27FC236}">
                    <a16:creationId xmlns:a16="http://schemas.microsoft.com/office/drawing/2014/main" id="{544FC48D-5E7A-065F-2F58-3250F3101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9975" y="2896394"/>
                <a:ext cx="454130" cy="5589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4198" name="Rectangle 6">
            <a:extLst>
              <a:ext uri="{FF2B5EF4-FFF2-40B4-BE49-F238E27FC236}">
                <a16:creationId xmlns:a16="http://schemas.microsoft.com/office/drawing/2014/main" id="{83943DB7-0BF5-57B5-EDFF-A5B2D9A85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375" y="3429794"/>
            <a:ext cx="9524999" cy="3331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latin typeface="+mn-ea"/>
                <a:ea typeface="+mn-ea"/>
              </a:rPr>
              <a:t>A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</a:t>
            </a:r>
            <a:r>
              <a:rPr lang="en-US" altLang="zh-CN" dirty="0">
                <a:latin typeface="+mn-ea"/>
                <a:ea typeface="+mn-ea"/>
              </a:rPr>
              <a:t>B	   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A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发生，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B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必发生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latin typeface="+mn-ea"/>
                <a:ea typeface="+mn-ea"/>
              </a:rPr>
              <a:t>A</a:t>
            </a:r>
            <a:r>
              <a:rPr lang="zh-CN" altLang="en-US" dirty="0">
                <a:latin typeface="+mn-ea"/>
                <a:ea typeface="+mn-ea"/>
              </a:rPr>
              <a:t>＝</a:t>
            </a:r>
            <a:r>
              <a:rPr lang="en-US" altLang="zh-CN" dirty="0">
                <a:latin typeface="+mn-ea"/>
                <a:ea typeface="+mn-ea"/>
              </a:rPr>
              <a:t>B	   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事件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A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与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B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相等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latin typeface="+mn-ea"/>
                <a:ea typeface="+mn-ea"/>
              </a:rPr>
              <a:t>A∪B	   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事件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A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与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B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至少有一个发生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latin typeface="+mn-ea"/>
                <a:ea typeface="+mn-ea"/>
              </a:rPr>
              <a:t>AB	   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事件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A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与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B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同时发生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latin typeface="+mn-ea"/>
                <a:ea typeface="+mn-ea"/>
              </a:rPr>
              <a:t>A</a:t>
            </a:r>
            <a:r>
              <a:rPr lang="zh-CN" altLang="en-US" dirty="0">
                <a:latin typeface="+mn-ea"/>
                <a:ea typeface="+mn-ea"/>
              </a:rPr>
              <a:t> </a:t>
            </a:r>
            <a:r>
              <a:rPr lang="en-US" altLang="zh-CN" dirty="0">
                <a:latin typeface="+mn-ea"/>
                <a:ea typeface="+mn-ea"/>
              </a:rPr>
              <a:t>- B	   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事件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A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发生而事件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B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不发生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latin typeface="+mn-ea"/>
                <a:ea typeface="+mn-ea"/>
              </a:rPr>
              <a:t>AB</a:t>
            </a:r>
            <a:r>
              <a:rPr lang="zh-CN" altLang="en-US" dirty="0">
                <a:latin typeface="+mn-ea"/>
                <a:ea typeface="+mn-ea"/>
              </a:rPr>
              <a:t>＝</a:t>
            </a:r>
            <a:r>
              <a:rPr lang="en-US" altLang="zh-CN" dirty="0">
                <a:latin typeface="+mn-ea"/>
                <a:ea typeface="+mn-ea"/>
              </a:rPr>
              <a:t>Φ  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事件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A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与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B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互不相容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(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互斥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)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4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4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4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4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4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4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4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4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4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4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4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4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4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4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4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4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4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4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641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641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5" grpId="0" build="p" autoUpdateAnimBg="0" advAuto="0"/>
      <p:bldP spid="264196" grpId="0" build="p" autoUpdateAnimBg="0" advAuto="0"/>
      <p:bldP spid="264198" grpId="0" build="p" autoUpdateAnimBg="0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6967518E-5BDF-8DF2-3D76-7EE41CEC99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三、概率与概率空间</a:t>
            </a:r>
          </a:p>
        </p:txBody>
      </p:sp>
      <p:sp>
        <p:nvSpPr>
          <p:cNvPr id="265219" name="Rectangle 3">
            <a:extLst>
              <a:ext uri="{FF2B5EF4-FFF2-40B4-BE49-F238E27FC236}">
                <a16:creationId xmlns:a16="http://schemas.microsoft.com/office/drawing/2014/main" id="{229F98F4-78DE-67DD-BB45-BD129F03A3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0375" y="1167084"/>
            <a:ext cx="11353799" cy="4145921"/>
          </a:xfrm>
        </p:spPr>
        <p:txBody>
          <a:bodyPr>
            <a:normAutofit/>
          </a:bodyPr>
          <a:lstStyle/>
          <a:p>
            <a:pPr marL="533507" indent="-533507">
              <a:buNone/>
            </a:pPr>
            <a:r>
              <a:rPr lang="zh-CN" altLang="en-US" dirty="0"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dirty="0">
                <a:cs typeface="Times New Roman" panose="02020603050405020304" pitchFamily="18" charset="0"/>
              </a:rPr>
              <a:t>Ω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, F)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是可测空间，如果定义随机事件体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上的实值集函数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P(A)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AF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满足：</a:t>
            </a:r>
          </a:p>
          <a:p>
            <a:pPr marL="533507" indent="-533507"/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0 </a:t>
            </a:r>
            <a:r>
              <a:rPr lang="en-US" altLang="zh-CN" dirty="0">
                <a:cs typeface="Times New Roman" panose="02020603050405020304" pitchFamily="18" charset="0"/>
              </a:rPr>
              <a:t>≤ 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P(A) </a:t>
            </a:r>
            <a:r>
              <a:rPr lang="en-US" altLang="zh-CN" dirty="0">
                <a:cs typeface="Times New Roman" panose="02020603050405020304" pitchFamily="18" charset="0"/>
              </a:rPr>
              <a:t>≤ 1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AF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；	 </a:t>
            </a: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非负性</a:t>
            </a: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533507" indent="-533507"/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P(</a:t>
            </a:r>
            <a:r>
              <a:rPr lang="en-US" altLang="zh-CN" dirty="0">
                <a:cs typeface="Times New Roman" panose="02020603050405020304" pitchFamily="18" charset="0"/>
              </a:rPr>
              <a:t>Ω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；			</a:t>
            </a: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规范性</a:t>
            </a: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533507" indent="-533507"/>
            <a:r>
              <a:rPr lang="en-US" altLang="zh-CN" dirty="0" err="1"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 dirty="0" err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 err="1">
                <a:cs typeface="Times New Roman" panose="02020603050405020304" pitchFamily="18" charset="0"/>
                <a:sym typeface="Symbol" panose="05050102010706020507" pitchFamily="18" charset="2"/>
              </a:rPr>
              <a:t>F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 (</a:t>
            </a:r>
            <a:r>
              <a:rPr lang="en-US" altLang="zh-CN" dirty="0" err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=1, 2, …,)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dirty="0" err="1"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 dirty="0" err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 err="1"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 dirty="0" err="1"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dirty="0">
                <a:cs typeface="Times New Roman" panose="02020603050405020304" pitchFamily="18" charset="0"/>
              </a:rPr>
              <a:t>Φ 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dirty="0" err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cs typeface="Times New Roman" panose="02020603050405020304" pitchFamily="18" charset="0"/>
              </a:rPr>
              <a:t>≠ 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j)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，则等式</a:t>
            </a:r>
            <a:endParaRPr lang="zh-CN" altLang="en-US" dirty="0">
              <a:solidFill>
                <a:srgbClr val="FF990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533507" indent="-533507">
              <a:spcBef>
                <a:spcPct val="50000"/>
              </a:spcBef>
              <a:spcAft>
                <a:spcPct val="40000"/>
              </a:spcAft>
              <a:buNone/>
            </a:pP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				    成立。	</a:t>
            </a: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完全可加性</a:t>
            </a: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533507" indent="-533507">
              <a:buNone/>
            </a:pP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则称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dirty="0">
                <a:cs typeface="Times New Roman" panose="02020603050405020304" pitchFamily="18" charset="0"/>
              </a:rPr>
              <a:t>Ω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, F)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上的</a:t>
            </a:r>
            <a:r>
              <a:rPr lang="zh-CN" altLang="en-US" dirty="0">
                <a:solidFill>
                  <a:srgbClr val="CC00CC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概率测度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，简称</a:t>
            </a:r>
            <a:r>
              <a:rPr lang="zh-CN" altLang="en-US" dirty="0">
                <a:solidFill>
                  <a:srgbClr val="CC00CC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概率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。对任意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AF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P(A)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称为</a:t>
            </a:r>
            <a:r>
              <a:rPr lang="zh-CN" altLang="en-US" dirty="0">
                <a:solidFill>
                  <a:srgbClr val="CC00CC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随机事件</a:t>
            </a:r>
            <a:r>
              <a:rPr lang="en-US" altLang="zh-CN" dirty="0">
                <a:solidFill>
                  <a:srgbClr val="CC00CC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dirty="0">
                <a:solidFill>
                  <a:srgbClr val="CC00CC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的概率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5220" name="Object 4">
                <a:extLst>
                  <a:ext uri="{FF2B5EF4-FFF2-40B4-BE49-F238E27FC236}">
                    <a16:creationId xmlns:a16="http://schemas.microsoft.com/office/drawing/2014/main" id="{BB30CB74-9EC4-CF3D-F327-9B1F8C3724CA}"/>
                  </a:ext>
                </a:extLst>
              </p:cNvPr>
              <p:cNvSpPr txBox="1"/>
              <p:nvPr/>
            </p:nvSpPr>
            <p:spPr bwMode="auto">
              <a:xfrm>
                <a:off x="2212975" y="3430588"/>
                <a:ext cx="2515182" cy="863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∪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5220" name="Object 4">
                <a:extLst>
                  <a:ext uri="{FF2B5EF4-FFF2-40B4-BE49-F238E27FC236}">
                    <a16:creationId xmlns:a16="http://schemas.microsoft.com/office/drawing/2014/main" id="{BB30CB74-9EC4-CF3D-F327-9B1F8C372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2975" y="3430588"/>
                <a:ext cx="2515182" cy="863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5221" name="Rectangle 5">
            <a:extLst>
              <a:ext uri="{FF2B5EF4-FFF2-40B4-BE49-F238E27FC236}">
                <a16:creationId xmlns:a16="http://schemas.microsoft.com/office/drawing/2014/main" id="{F04349B4-34BA-991D-FBF4-520E36BF5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5401975"/>
            <a:ext cx="11048999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    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样本空间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Ω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、随机事件体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F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和概率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组成的三元体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(</a:t>
            </a:r>
            <a:r>
              <a:rPr lang="en-US" altLang="zh-CN" dirty="0">
                <a:latin typeface="+mn-ea"/>
                <a:ea typeface="+mn-ea"/>
              </a:rPr>
              <a:t>Ω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, F, P)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称为</a:t>
            </a:r>
            <a:r>
              <a:rPr lang="zh-CN" altLang="en-US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概率空间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5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5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5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5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5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5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5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5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6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5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5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19" grpId="0" uiExpand="1" build="p"/>
      <p:bldP spid="265220" grpId="0"/>
      <p:bldP spid="26522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5" name="Rectangle 5">
            <a:extLst>
              <a:ext uri="{FF2B5EF4-FFF2-40B4-BE49-F238E27FC236}">
                <a16:creationId xmlns:a16="http://schemas.microsoft.com/office/drawing/2014/main" id="{B9A9DFCF-FD4A-DB28-29DF-9026E037E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503" y="2323427"/>
            <a:ext cx="10839472" cy="2952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altLang="zh-CN" b="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baseline="-25000" dirty="0" err="1"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＝</a:t>
            </a:r>
            <a:r>
              <a:rPr lang="en-US" altLang="zh-CN" dirty="0" err="1"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dirty="0" err="1"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1, 2, …, 6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，含有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个样本点；</a:t>
            </a:r>
          </a:p>
          <a:p>
            <a:pPr algn="just" eaLnBrk="1" hangingPunct="1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样本空间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Ω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{1, 2, 3, 4, 5, 6}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；</a:t>
            </a:r>
          </a:p>
          <a:p>
            <a:pPr algn="just" eaLnBrk="1" hangingPunct="1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随机事件体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Ω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的全体子集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共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baseline="30000" dirty="0">
                <a:latin typeface="+mn-ea"/>
                <a:ea typeface="+mn-ea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64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构成；</a:t>
            </a:r>
          </a:p>
          <a:p>
            <a:pPr algn="just" eaLnBrk="1" hangingPunct="1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上的概率定义为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P(A)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＝  ，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为随机事件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包含的样本点数；</a:t>
            </a:r>
            <a:endParaRPr lang="en-US" altLang="zh-CN" dirty="0">
              <a:solidFill>
                <a:srgbClr val="0000FF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</a:rPr>
              <a:t>Ω</a:t>
            </a:r>
            <a:r>
              <a:rPr lang="en-US" altLang="zh-CN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, F, P)</a:t>
            </a:r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为概率空间</a:t>
            </a:r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E7FDA570-57C7-C602-0CD7-E23902366B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A4474565-422B-2F5E-77EF-09E7ED2734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2775" y="1296194"/>
            <a:ext cx="7850417" cy="512882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掷一枚均匀的骰子，观察出现点数的随机试验</a:t>
            </a:r>
            <a:r>
              <a:rPr lang="en-US" altLang="zh-CN" dirty="0"/>
              <a:t>E</a:t>
            </a:r>
            <a:r>
              <a:rPr lang="zh-CN" altLang="en-US" dirty="0"/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44" name="Object 4">
                <a:extLst>
                  <a:ext uri="{FF2B5EF4-FFF2-40B4-BE49-F238E27FC236}">
                    <a16:creationId xmlns:a16="http://schemas.microsoft.com/office/drawing/2014/main" id="{F53C2BDA-CA2A-5C84-0882-55BF40696C22}"/>
                  </a:ext>
                </a:extLst>
              </p:cNvPr>
              <p:cNvSpPr txBox="1"/>
              <p:nvPr/>
            </p:nvSpPr>
            <p:spPr bwMode="auto">
              <a:xfrm>
                <a:off x="4068669" y="4039394"/>
                <a:ext cx="371561" cy="9146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6244" name="Object 4">
                <a:extLst>
                  <a:ext uri="{FF2B5EF4-FFF2-40B4-BE49-F238E27FC236}">
                    <a16:creationId xmlns:a16="http://schemas.microsoft.com/office/drawing/2014/main" id="{F53C2BDA-CA2A-5C84-0882-55BF40696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8669" y="4039394"/>
                <a:ext cx="371561" cy="9146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6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6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66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6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6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5" grpId="0" uiExpand="1" build="p" autoUpdateAnimBg="0"/>
      <p:bldP spid="2662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>
            <a:extLst>
              <a:ext uri="{FF2B5EF4-FFF2-40B4-BE49-F238E27FC236}">
                <a16:creationId xmlns:a16="http://schemas.microsoft.com/office/drawing/2014/main" id="{AC909BC4-9644-3820-A749-59EB5AFE2D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古典概率空间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2AAA46-7514-4C8E-A635-1D08CE298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175" y="1175023"/>
            <a:ext cx="11658600" cy="5116109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defRPr/>
            </a:pPr>
            <a:r>
              <a:rPr lang="zh-CN" altLang="en-US" dirty="0">
                <a:cs typeface="Times New Roman" pitchFamily="18" charset="0"/>
              </a:rPr>
              <a:t>样本空间由有限个样本点组成，</a:t>
            </a:r>
            <a:r>
              <a:rPr lang="en-US" altLang="zh-CN" dirty="0">
                <a:cs typeface="Times New Roman" pitchFamily="18" charset="0"/>
              </a:rPr>
              <a:t> Ω</a:t>
            </a:r>
            <a:r>
              <a:rPr lang="zh-CN" altLang="en-US" dirty="0">
                <a:cs typeface="Times New Roman" pitchFamily="18" charset="0"/>
              </a:rPr>
              <a:t>＝</a:t>
            </a:r>
            <a:r>
              <a:rPr lang="en-US" altLang="zh-CN" dirty="0">
                <a:cs typeface="Times New Roman" pitchFamily="18" charset="0"/>
              </a:rPr>
              <a:t>{ω</a:t>
            </a:r>
            <a:r>
              <a:rPr lang="en-US" altLang="zh-CN" baseline="-25000" dirty="0">
                <a:cs typeface="Times New Roman" pitchFamily="18" charset="0"/>
              </a:rPr>
              <a:t>1</a:t>
            </a:r>
            <a:r>
              <a:rPr lang="en-US" altLang="zh-CN" dirty="0">
                <a:cs typeface="Times New Roman" pitchFamily="18" charset="0"/>
              </a:rPr>
              <a:t>, ω</a:t>
            </a:r>
            <a:r>
              <a:rPr lang="en-US" altLang="zh-CN" baseline="-25000" dirty="0">
                <a:cs typeface="Times New Roman" pitchFamily="18" charset="0"/>
              </a:rPr>
              <a:t>2</a:t>
            </a:r>
            <a:r>
              <a:rPr lang="en-US" altLang="zh-CN" dirty="0">
                <a:cs typeface="Times New Roman" pitchFamily="18" charset="0"/>
              </a:rPr>
              <a:t>, …, </a:t>
            </a:r>
            <a:r>
              <a:rPr lang="en-US" altLang="zh-CN" dirty="0" err="1">
                <a:cs typeface="Times New Roman" pitchFamily="18" charset="0"/>
              </a:rPr>
              <a:t>ω</a:t>
            </a:r>
            <a:r>
              <a:rPr lang="en-US" altLang="zh-CN" baseline="-25000" dirty="0" err="1">
                <a:cs typeface="Times New Roman" pitchFamily="18" charset="0"/>
              </a:rPr>
              <a:t>n</a:t>
            </a:r>
            <a:r>
              <a:rPr lang="en-US" altLang="zh-CN" dirty="0">
                <a:cs typeface="Times New Roman" pitchFamily="18" charset="0"/>
              </a:rPr>
              <a:t>}</a:t>
            </a:r>
            <a:r>
              <a:rPr lang="zh-CN" altLang="en-US" dirty="0">
                <a:cs typeface="Times New Roman" pitchFamily="18" charset="0"/>
              </a:rPr>
              <a:t>；</a:t>
            </a:r>
            <a:endParaRPr lang="en-US" altLang="zh-CN" dirty="0">
              <a:cs typeface="Times New Roman" pitchFamily="18" charset="0"/>
            </a:endParaRPr>
          </a:p>
          <a:p>
            <a:pPr>
              <a:spcBef>
                <a:spcPts val="600"/>
              </a:spcBef>
              <a:defRPr/>
            </a:pPr>
            <a:r>
              <a:rPr lang="zh-CN" altLang="en-US" dirty="0">
                <a:cs typeface="Times New Roman" pitchFamily="18" charset="0"/>
              </a:rPr>
              <a:t>每个基本事件</a:t>
            </a:r>
            <a:r>
              <a:rPr lang="en-US" altLang="zh-CN" dirty="0">
                <a:cs typeface="Times New Roman" pitchFamily="18" charset="0"/>
              </a:rPr>
              <a:t>A</a:t>
            </a:r>
            <a:r>
              <a:rPr lang="en-US" altLang="zh-CN" baseline="-25000" dirty="0">
                <a:cs typeface="Times New Roman" pitchFamily="18" charset="0"/>
              </a:rPr>
              <a:t>i</a:t>
            </a:r>
            <a:r>
              <a:rPr lang="zh-CN" altLang="en-US" dirty="0">
                <a:cs typeface="Times New Roman" pitchFamily="18" charset="0"/>
              </a:rPr>
              <a:t>＝</a:t>
            </a:r>
            <a:r>
              <a:rPr lang="en-US" altLang="zh-CN" dirty="0">
                <a:cs typeface="Times New Roman" pitchFamily="18" charset="0"/>
              </a:rPr>
              <a:t>{</a:t>
            </a:r>
            <a:r>
              <a:rPr lang="en-US" altLang="zh-CN" dirty="0" err="1">
                <a:cs typeface="Times New Roman" pitchFamily="18" charset="0"/>
              </a:rPr>
              <a:t>ω</a:t>
            </a:r>
            <a:r>
              <a:rPr lang="en-US" altLang="zh-CN" baseline="-25000" dirty="0" err="1">
                <a:cs typeface="Times New Roman" pitchFamily="18" charset="0"/>
              </a:rPr>
              <a:t>i</a:t>
            </a:r>
            <a:r>
              <a:rPr lang="en-US" altLang="zh-CN" dirty="0">
                <a:cs typeface="Times New Roman" pitchFamily="18" charset="0"/>
              </a:rPr>
              <a:t>}</a:t>
            </a:r>
            <a:r>
              <a:rPr lang="zh-CN" altLang="en-US" dirty="0">
                <a:cs typeface="Times New Roman" pitchFamily="18" charset="0"/>
              </a:rPr>
              <a:t>，</a:t>
            </a:r>
            <a:r>
              <a:rPr lang="en-US" altLang="zh-CN" dirty="0" err="1">
                <a:cs typeface="Times New Roman" pitchFamily="18" charset="0"/>
              </a:rPr>
              <a:t>i</a:t>
            </a:r>
            <a:r>
              <a:rPr lang="en-US" altLang="zh-CN" dirty="0">
                <a:cs typeface="Times New Roman" pitchFamily="18" charset="0"/>
              </a:rPr>
              <a:t>  = 1, 2, …, n</a:t>
            </a:r>
            <a:r>
              <a:rPr lang="zh-CN" altLang="en-US" dirty="0">
                <a:cs typeface="Times New Roman" pitchFamily="18" charset="0"/>
              </a:rPr>
              <a:t>出现的可能性相等；</a:t>
            </a:r>
            <a:endParaRPr lang="en-US" altLang="zh-CN" dirty="0">
              <a:cs typeface="Times New Roman" pitchFamily="18" charset="0"/>
            </a:endParaRPr>
          </a:p>
          <a:p>
            <a:pPr>
              <a:spcBef>
                <a:spcPts val="600"/>
              </a:spcBef>
              <a:defRPr/>
            </a:pPr>
            <a:r>
              <a:rPr lang="zh-CN" altLang="en-US" dirty="0">
                <a:cs typeface="Times New Roman" pitchFamily="18" charset="0"/>
              </a:rPr>
              <a:t>随机事件体</a:t>
            </a:r>
            <a:r>
              <a:rPr lang="en-US" altLang="zh-CN" dirty="0">
                <a:cs typeface="Times New Roman" pitchFamily="18" charset="0"/>
              </a:rPr>
              <a:t>F</a:t>
            </a:r>
            <a:r>
              <a:rPr lang="zh-CN" altLang="en-US" dirty="0">
                <a:cs typeface="Times New Roman" pitchFamily="18" charset="0"/>
              </a:rPr>
              <a:t>由</a:t>
            </a:r>
            <a:r>
              <a:rPr lang="en-US" altLang="zh-CN" dirty="0">
                <a:cs typeface="Times New Roman" pitchFamily="18" charset="0"/>
              </a:rPr>
              <a:t>Ω</a:t>
            </a:r>
            <a:r>
              <a:rPr lang="zh-CN" altLang="en-US" dirty="0">
                <a:cs typeface="Times New Roman" pitchFamily="18" charset="0"/>
              </a:rPr>
              <a:t>的全体子集</a:t>
            </a:r>
            <a:r>
              <a:rPr lang="en-US" altLang="zh-CN" dirty="0">
                <a:cs typeface="Times New Roman" pitchFamily="18" charset="0"/>
              </a:rPr>
              <a:t>(</a:t>
            </a:r>
            <a:r>
              <a:rPr lang="zh-CN" altLang="en-US" dirty="0">
                <a:cs typeface="Times New Roman" pitchFamily="18" charset="0"/>
              </a:rPr>
              <a:t>共</a:t>
            </a:r>
            <a:r>
              <a:rPr lang="en-US" altLang="zh-CN" dirty="0">
                <a:cs typeface="Times New Roman" pitchFamily="18" charset="0"/>
              </a:rPr>
              <a:t>2</a:t>
            </a:r>
            <a:r>
              <a:rPr lang="en-US" altLang="zh-CN" baseline="30000" dirty="0">
                <a:cs typeface="Times New Roman" pitchFamily="18" charset="0"/>
              </a:rPr>
              <a:t>n</a:t>
            </a:r>
            <a:r>
              <a:rPr lang="zh-CN" altLang="en-US" dirty="0">
                <a:cs typeface="Times New Roman" pitchFamily="18" charset="0"/>
              </a:rPr>
              <a:t>个</a:t>
            </a:r>
            <a:r>
              <a:rPr lang="en-US" altLang="zh-CN" dirty="0">
                <a:cs typeface="Times New Roman" pitchFamily="18" charset="0"/>
              </a:rPr>
              <a:t>)</a:t>
            </a:r>
            <a:r>
              <a:rPr lang="zh-CN" altLang="en-US" dirty="0">
                <a:cs typeface="Times New Roman" pitchFamily="18" charset="0"/>
              </a:rPr>
              <a:t>组成；</a:t>
            </a:r>
            <a:endParaRPr lang="en-US" altLang="zh-CN" dirty="0">
              <a:cs typeface="Times New Roman" pitchFamily="18" charset="0"/>
            </a:endParaRPr>
          </a:p>
          <a:p>
            <a:pPr>
              <a:spcBef>
                <a:spcPts val="600"/>
              </a:spcBef>
              <a:defRPr/>
            </a:pPr>
            <a:r>
              <a:rPr lang="zh-CN" altLang="en-US" dirty="0">
                <a:cs typeface="Times New Roman" pitchFamily="18" charset="0"/>
              </a:rPr>
              <a:t>随机事件体</a:t>
            </a:r>
            <a:r>
              <a:rPr lang="en-US" altLang="zh-CN" dirty="0">
                <a:cs typeface="Times New Roman" pitchFamily="18" charset="0"/>
              </a:rPr>
              <a:t>F</a:t>
            </a:r>
            <a:r>
              <a:rPr lang="zh-CN" altLang="en-US" dirty="0">
                <a:cs typeface="Times New Roman" pitchFamily="18" charset="0"/>
              </a:rPr>
              <a:t>上的古典概率</a:t>
            </a:r>
            <a:r>
              <a:rPr lang="en-US" altLang="zh-CN" dirty="0">
                <a:cs typeface="Times New Roman" pitchFamily="18" charset="0"/>
              </a:rPr>
              <a:t>P</a:t>
            </a:r>
            <a:r>
              <a:rPr lang="zh-CN" altLang="en-US" dirty="0">
                <a:cs typeface="Times New Roman" pitchFamily="18" charset="0"/>
              </a:rPr>
              <a:t>定义为</a:t>
            </a:r>
            <a:endParaRPr lang="en-US" altLang="zh-CN" dirty="0">
              <a:cs typeface="Times New Roman" pitchFamily="18" charset="0"/>
            </a:endParaRPr>
          </a:p>
          <a:p>
            <a:pPr marL="342969" indent="-342969" algn="ctr">
              <a:spcBef>
                <a:spcPts val="600"/>
              </a:spcBef>
              <a:buNone/>
              <a:defRPr/>
            </a:pPr>
            <a:r>
              <a:rPr lang="en-US" altLang="zh-CN" dirty="0">
                <a:cs typeface="Times New Roman" pitchFamily="18" charset="0"/>
              </a:rPr>
              <a:t>P(A)</a:t>
            </a:r>
            <a:r>
              <a:rPr lang="zh-CN" altLang="en-US" dirty="0">
                <a:cs typeface="Times New Roman" pitchFamily="18" charset="0"/>
              </a:rPr>
              <a:t>＝     ，</a:t>
            </a:r>
            <a:endParaRPr lang="en-US" altLang="zh-CN" dirty="0">
              <a:cs typeface="Times New Roman" pitchFamily="18" charset="0"/>
            </a:endParaRPr>
          </a:p>
          <a:p>
            <a:pPr marL="432086" indent="-360072" algn="just">
              <a:spcBef>
                <a:spcPts val="600"/>
              </a:spcBef>
              <a:buNone/>
              <a:defRPr/>
            </a:pPr>
            <a:r>
              <a:rPr lang="en-US" altLang="zh-CN" dirty="0">
                <a:cs typeface="Times New Roman" pitchFamily="18" charset="0"/>
              </a:rPr>
              <a:t>  n</a:t>
            </a:r>
            <a:r>
              <a:rPr lang="zh-CN" altLang="en-US" dirty="0">
                <a:cs typeface="Times New Roman" pitchFamily="18" charset="0"/>
              </a:rPr>
              <a:t>为样本点总数，</a:t>
            </a:r>
            <a:r>
              <a:rPr lang="en-US" altLang="zh-CN" dirty="0">
                <a:cs typeface="Times New Roman" pitchFamily="18" charset="0"/>
              </a:rPr>
              <a:t>k</a:t>
            </a:r>
            <a:r>
              <a:rPr lang="zh-CN" altLang="en-US" dirty="0">
                <a:cs typeface="Times New Roman" pitchFamily="18" charset="0"/>
              </a:rPr>
              <a:t>为</a:t>
            </a:r>
            <a:r>
              <a:rPr lang="en-US" altLang="zh-CN" dirty="0">
                <a:cs typeface="Times New Roman" pitchFamily="18" charset="0"/>
              </a:rPr>
              <a:t>A</a:t>
            </a:r>
            <a:r>
              <a:rPr lang="zh-CN" altLang="en-US" dirty="0">
                <a:cs typeface="Times New Roman" pitchFamily="18" charset="0"/>
              </a:rPr>
              <a:t>包含的样本点数。</a:t>
            </a:r>
            <a:endParaRPr lang="en-US" altLang="zh-CN" dirty="0">
              <a:cs typeface="Times New Roman" pitchFamily="18" charset="0"/>
            </a:endParaRPr>
          </a:p>
          <a:p>
            <a:pPr marL="342969" indent="-342969" algn="just">
              <a:spcBef>
                <a:spcPts val="600"/>
              </a:spcBef>
              <a:buNone/>
              <a:defRPr/>
            </a:pPr>
            <a:r>
              <a:rPr lang="en-US" altLang="zh-CN" dirty="0">
                <a:solidFill>
                  <a:srgbClr val="C00000"/>
                </a:solidFill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zh-CN" dirty="0">
                <a:solidFill>
                  <a:srgbClr val="C00000"/>
                </a:solidFill>
                <a:cs typeface="Times New Roman" pitchFamily="18" charset="0"/>
              </a:rPr>
              <a:t>Ω</a:t>
            </a:r>
            <a:r>
              <a:rPr lang="en-US" altLang="zh-CN" dirty="0">
                <a:solidFill>
                  <a:srgbClr val="C00000"/>
                </a:solidFill>
                <a:cs typeface="Times New Roman" pitchFamily="18" charset="0"/>
                <a:sym typeface="Symbol" pitchFamily="18" charset="2"/>
              </a:rPr>
              <a:t>, F, P)</a:t>
            </a:r>
            <a:r>
              <a:rPr lang="zh-CN" altLang="en-US" dirty="0">
                <a:solidFill>
                  <a:srgbClr val="C00000"/>
                </a:solidFill>
                <a:cs typeface="Times New Roman" pitchFamily="18" charset="0"/>
                <a:sym typeface="Symbol" pitchFamily="18" charset="2"/>
              </a:rPr>
              <a:t>是一个古典概率空间</a:t>
            </a:r>
            <a:r>
              <a:rPr lang="zh-CN" altLang="en-US" dirty="0">
                <a:solidFill>
                  <a:srgbClr val="C00000"/>
                </a:solidFill>
                <a:cs typeface="Times New Roman" pitchFamily="18" charset="0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4">
                <a:extLst>
                  <a:ext uri="{FF2B5EF4-FFF2-40B4-BE49-F238E27FC236}">
                    <a16:creationId xmlns:a16="http://schemas.microsoft.com/office/drawing/2014/main" id="{2E09045E-6631-D7C3-9527-5918A542934B}"/>
                  </a:ext>
                </a:extLst>
              </p:cNvPr>
              <p:cNvSpPr txBox="1"/>
              <p:nvPr/>
            </p:nvSpPr>
            <p:spPr bwMode="auto">
              <a:xfrm>
                <a:off x="6403975" y="3658394"/>
                <a:ext cx="379500" cy="9336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bject 4">
                <a:extLst>
                  <a:ext uri="{FF2B5EF4-FFF2-40B4-BE49-F238E27FC236}">
                    <a16:creationId xmlns:a16="http://schemas.microsoft.com/office/drawing/2014/main" id="{2E09045E-6631-D7C3-9527-5918A5429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03975" y="3658394"/>
                <a:ext cx="379500" cy="9336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5" name="Rectangle 5">
            <a:extLst>
              <a:ext uri="{FF2B5EF4-FFF2-40B4-BE49-F238E27FC236}">
                <a16:creationId xmlns:a16="http://schemas.microsoft.com/office/drawing/2014/main" id="{A23DB3C0-4B3A-5AC5-E21D-62ABAD731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2531333"/>
            <a:ext cx="6542014" cy="584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60000"/>
              </a:lnSpc>
              <a:buFontTx/>
              <a:buNone/>
            </a:pP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对任意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A∈F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，定义概率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P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如下：</a:t>
            </a: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EAF0BF74-FBFC-0A89-0A2A-22DA5D6DA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7175" name="Rectangle 3">
            <a:extLst>
              <a:ext uri="{FF2B5EF4-FFF2-40B4-BE49-F238E27FC236}">
                <a16:creationId xmlns:a16="http://schemas.microsoft.com/office/drawing/2014/main" id="{B20FB9AB-EDFC-D252-0EEE-B9ECD078F4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4175" y="1184550"/>
            <a:ext cx="9830753" cy="1292524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cs typeface="Times New Roman" panose="02020603050405020304" pitchFamily="18" charset="0"/>
              </a:rPr>
              <a:t>给定一个随机试验</a:t>
            </a:r>
            <a:r>
              <a:rPr lang="en-US" altLang="zh-CN" dirty="0">
                <a:cs typeface="Times New Roman" panose="02020603050405020304" pitchFamily="18" charset="0"/>
              </a:rPr>
              <a:t>E</a:t>
            </a:r>
            <a:r>
              <a:rPr lang="zh-CN" altLang="en-US" dirty="0">
                <a:cs typeface="Times New Roman" panose="02020603050405020304" pitchFamily="18" charset="0"/>
              </a:rPr>
              <a:t>，样本空间</a:t>
            </a:r>
            <a:r>
              <a:rPr lang="en-US" altLang="zh-CN" dirty="0">
                <a:cs typeface="Times New Roman" panose="02020603050405020304" pitchFamily="18" charset="0"/>
              </a:rPr>
              <a:t>Ω</a:t>
            </a:r>
            <a:r>
              <a:rPr lang="zh-CN" altLang="en-US" dirty="0"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cs typeface="Times New Roman" panose="02020603050405020304" pitchFamily="18" charset="0"/>
              </a:rPr>
              <a:t>{0, 1, 2, …}</a:t>
            </a:r>
            <a:r>
              <a:rPr lang="zh-CN" altLang="en-US" dirty="0">
                <a:cs typeface="Times New Roman" panose="02020603050405020304" pitchFamily="18" charset="0"/>
              </a:rPr>
              <a:t>。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cs typeface="Times New Roman" panose="02020603050405020304" pitchFamily="18" charset="0"/>
              </a:rPr>
              <a:t>随机事件体</a:t>
            </a:r>
            <a:r>
              <a:rPr lang="en-US" altLang="zh-CN" dirty="0">
                <a:cs typeface="Times New Roman" panose="02020603050405020304" pitchFamily="18" charset="0"/>
              </a:rPr>
              <a:t>F</a:t>
            </a:r>
            <a:r>
              <a:rPr lang="zh-CN" altLang="en-US" dirty="0"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cs typeface="Times New Roman" panose="02020603050405020304" pitchFamily="18" charset="0"/>
              </a:rPr>
              <a:t>Ω</a:t>
            </a:r>
            <a:r>
              <a:rPr lang="zh-CN" altLang="en-US" dirty="0">
                <a:cs typeface="Times New Roman" panose="02020603050405020304" pitchFamily="18" charset="0"/>
              </a:rPr>
              <a:t>的全体子集组成。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44" name="Object 4">
                <a:extLst>
                  <a:ext uri="{FF2B5EF4-FFF2-40B4-BE49-F238E27FC236}">
                    <a16:creationId xmlns:a16="http://schemas.microsoft.com/office/drawing/2014/main" id="{141D7B6E-FA7A-700F-B853-BF0D89E717AF}"/>
                  </a:ext>
                </a:extLst>
              </p:cNvPr>
              <p:cNvSpPr txBox="1"/>
              <p:nvPr/>
            </p:nvSpPr>
            <p:spPr bwMode="auto">
              <a:xfrm>
                <a:off x="1908175" y="3169926"/>
                <a:ext cx="4648200" cy="19619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/>
                            </m:mr>
                          </m:m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&gt;0)</m:t>
                      </m:r>
                    </m:oMath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6244" name="Object 4">
                <a:extLst>
                  <a:ext uri="{FF2B5EF4-FFF2-40B4-BE49-F238E27FC236}">
                    <a16:creationId xmlns:a16="http://schemas.microsoft.com/office/drawing/2014/main" id="{141D7B6E-FA7A-700F-B853-BF0D89E71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8175" y="3169926"/>
                <a:ext cx="4648200" cy="19619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246" name="Rectangle 6">
            <a:extLst>
              <a:ext uri="{FF2B5EF4-FFF2-40B4-BE49-F238E27FC236}">
                <a16:creationId xmlns:a16="http://schemas.microsoft.com/office/drawing/2014/main" id="{A3710891-74A6-F561-D011-D0B5717C9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5608212"/>
            <a:ext cx="6615056" cy="478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</a:rPr>
              <a:t>Ω</a:t>
            </a:r>
            <a:r>
              <a:rPr lang="en-US" altLang="zh-CN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, F, P)</a:t>
            </a:r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是一个概率空间</a:t>
            </a:r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66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6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6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5" grpId="0" build="p" autoUpdateAnimBg="0"/>
      <p:bldP spid="7175" grpId="0" build="p"/>
      <p:bldP spid="266244" grpId="0"/>
      <p:bldP spid="266246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>
            <a:extLst>
              <a:ext uri="{FF2B5EF4-FFF2-40B4-BE49-F238E27FC236}">
                <a16:creationId xmlns:a16="http://schemas.microsoft.com/office/drawing/2014/main" id="{A1A6F648-E4A6-B5EC-4DDF-4A01E9A34C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概率的性质</a:t>
            </a:r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13A84F73-93A5-BBD4-5FAA-D0AC5290F3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4175" y="1143794"/>
            <a:ext cx="10439400" cy="1410026"/>
          </a:xfrm>
        </p:spPr>
        <p:txBody>
          <a:bodyPr>
            <a:normAutofit/>
          </a:bodyPr>
          <a:lstStyle/>
          <a:p>
            <a:pPr marL="533507" indent="-533507">
              <a:buFont typeface="Wingdings" panose="05000000000000000000" pitchFamily="2" charset="2"/>
              <a:buAutoNum type="arabicPeriod"/>
            </a:pPr>
            <a:r>
              <a:rPr lang="en-US" altLang="zh-CN" dirty="0"/>
              <a:t>P(Φ)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；	 </a:t>
            </a:r>
            <a:r>
              <a:rPr lang="en-US" altLang="zh-CN" dirty="0"/>
              <a:t>P(Ω)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；</a:t>
            </a:r>
          </a:p>
          <a:p>
            <a:pPr marL="533507" indent="-533507">
              <a:buFont typeface="Wingdings" panose="05000000000000000000" pitchFamily="2" charset="2"/>
              <a:buAutoNum type="arabicPeriod"/>
            </a:pPr>
            <a:r>
              <a:rPr lang="en-US" altLang="zh-CN" dirty="0"/>
              <a:t>(</a:t>
            </a:r>
            <a:r>
              <a:rPr lang="zh-CN" altLang="en-US" dirty="0">
                <a:solidFill>
                  <a:srgbClr val="0000FF"/>
                </a:solidFill>
              </a:rPr>
              <a:t>有限可加性</a:t>
            </a:r>
            <a:r>
              <a:rPr lang="en-US" altLang="zh-CN" dirty="0"/>
              <a:t>)  </a:t>
            </a:r>
            <a:r>
              <a:rPr lang="zh-CN" altLang="en-US" dirty="0"/>
              <a:t>若</a:t>
            </a:r>
            <a:r>
              <a:rPr lang="en-US" altLang="zh-CN" dirty="0" err="1">
                <a:sym typeface="Symbol" panose="05050102010706020507" pitchFamily="18" charset="2"/>
              </a:rPr>
              <a:t>A</a:t>
            </a:r>
            <a:r>
              <a:rPr lang="en-US" altLang="zh-CN" baseline="-25000" dirty="0" err="1">
                <a:sym typeface="Symbol" panose="05050102010706020507" pitchFamily="18" charset="2"/>
              </a:rPr>
              <a:t>i</a:t>
            </a:r>
            <a:r>
              <a:rPr lang="en-US" altLang="zh-CN" dirty="0" err="1">
                <a:sym typeface="Symbol" panose="05050102010706020507" pitchFamily="18" charset="2"/>
              </a:rPr>
              <a:t>F</a:t>
            </a:r>
            <a:r>
              <a:rPr lang="en-US" altLang="zh-CN" dirty="0">
                <a:sym typeface="Symbol" panose="05050102010706020507" pitchFamily="18" charset="2"/>
              </a:rPr>
              <a:t> (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=1, 2, …, n)</a:t>
            </a:r>
            <a:r>
              <a:rPr lang="zh-CN" altLang="en-US" dirty="0">
                <a:sym typeface="Symbol" panose="05050102010706020507" pitchFamily="18" charset="2"/>
              </a:rPr>
              <a:t>，且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 err="1">
                <a:sym typeface="Symbol" panose="05050102010706020507" pitchFamily="18" charset="2"/>
              </a:rPr>
              <a:t>A</a:t>
            </a:r>
            <a:r>
              <a:rPr lang="en-US" altLang="zh-CN" baseline="-25000" dirty="0" err="1">
                <a:sym typeface="Symbol" panose="05050102010706020507" pitchFamily="18" charset="2"/>
              </a:rPr>
              <a:t>i</a:t>
            </a:r>
            <a:r>
              <a:rPr lang="en-US" altLang="zh-CN" dirty="0" err="1">
                <a:sym typeface="Symbol" panose="05050102010706020507" pitchFamily="18" charset="2"/>
              </a:rPr>
              <a:t>A</a:t>
            </a:r>
            <a:r>
              <a:rPr lang="en-US" altLang="zh-CN" baseline="-25000" dirty="0" err="1">
                <a:sym typeface="Symbol" panose="05050102010706020507" pitchFamily="18" charset="2"/>
              </a:rPr>
              <a:t>j</a:t>
            </a:r>
            <a:r>
              <a:rPr lang="zh-CN" altLang="en-US" dirty="0">
                <a:sym typeface="Symbol" panose="05050102010706020507" pitchFamily="18" charset="2"/>
              </a:rPr>
              <a:t>＝</a:t>
            </a:r>
            <a:r>
              <a:rPr lang="en-US" altLang="zh-CN" dirty="0"/>
              <a:t>Φ </a:t>
            </a:r>
            <a:r>
              <a:rPr lang="en-US" altLang="zh-CN" dirty="0">
                <a:sym typeface="Symbol" panose="05050102010706020507" pitchFamily="18" charset="2"/>
              </a:rPr>
              <a:t>( 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/>
              <a:t>≠ </a:t>
            </a:r>
            <a:r>
              <a:rPr lang="en-US" altLang="zh-CN" dirty="0">
                <a:sym typeface="Symbol" panose="05050102010706020507" pitchFamily="18" charset="2"/>
              </a:rPr>
              <a:t>j )</a:t>
            </a:r>
            <a:r>
              <a:rPr lang="zh-CN" altLang="en-US" dirty="0">
                <a:sym typeface="Symbol" panose="05050102010706020507" pitchFamily="18" charset="2"/>
              </a:rPr>
              <a:t>，则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268" name="Object 4">
                <a:extLst>
                  <a:ext uri="{FF2B5EF4-FFF2-40B4-BE49-F238E27FC236}">
                    <a16:creationId xmlns:a16="http://schemas.microsoft.com/office/drawing/2014/main" id="{3772DF44-DA4C-3CFF-A9D9-C8890E1D46EE}"/>
                  </a:ext>
                </a:extLst>
              </p:cNvPr>
              <p:cNvSpPr txBox="1"/>
              <p:nvPr/>
            </p:nvSpPr>
            <p:spPr bwMode="auto">
              <a:xfrm>
                <a:off x="2496039" y="2439195"/>
                <a:ext cx="3907936" cy="10768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∪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267268" name="Object 4">
                <a:extLst>
                  <a:ext uri="{FF2B5EF4-FFF2-40B4-BE49-F238E27FC236}">
                    <a16:creationId xmlns:a16="http://schemas.microsoft.com/office/drawing/2014/main" id="{3772DF44-DA4C-3CFF-A9D9-C8890E1D4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6039" y="2439195"/>
                <a:ext cx="3907936" cy="10768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7269" name="Rectangle 5">
            <a:extLst>
              <a:ext uri="{FF2B5EF4-FFF2-40B4-BE49-F238E27FC236}">
                <a16:creationId xmlns:a16="http://schemas.microsoft.com/office/drawing/2014/main" id="{FDC7A5DD-C5E4-41E7-4579-128B16BA1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175" y="3354106"/>
            <a:ext cx="9318136" cy="1668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AutoNum type="arabicPeriod" startAt="3"/>
            </a:pPr>
            <a:r>
              <a:rPr lang="en-US" altLang="zh-CN" dirty="0">
                <a:latin typeface="+mn-ea"/>
                <a:ea typeface="+mn-ea"/>
              </a:rPr>
              <a:t>(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加法公式</a:t>
            </a:r>
            <a:r>
              <a:rPr lang="en-US" altLang="zh-CN" dirty="0">
                <a:latin typeface="+mn-ea"/>
                <a:ea typeface="+mn-ea"/>
              </a:rPr>
              <a:t>)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+mn-ea"/>
                <a:ea typeface="+mn-ea"/>
              </a:rPr>
              <a:t>	P(A∪B)</a:t>
            </a:r>
            <a:r>
              <a:rPr lang="zh-CN" altLang="en-US" dirty="0">
                <a:latin typeface="+mn-ea"/>
                <a:ea typeface="+mn-ea"/>
              </a:rPr>
              <a:t>＝</a:t>
            </a:r>
            <a:r>
              <a:rPr lang="en-US" altLang="zh-CN" dirty="0">
                <a:latin typeface="+mn-ea"/>
                <a:ea typeface="+mn-ea"/>
              </a:rPr>
              <a:t>P(A)</a:t>
            </a:r>
            <a:r>
              <a:rPr lang="zh-CN" altLang="en-US" dirty="0">
                <a:latin typeface="+mn-ea"/>
                <a:ea typeface="+mn-ea"/>
              </a:rPr>
              <a:t>＋</a:t>
            </a:r>
            <a:r>
              <a:rPr lang="en-US" altLang="zh-CN" dirty="0">
                <a:latin typeface="+mn-ea"/>
                <a:ea typeface="+mn-ea"/>
              </a:rPr>
              <a:t>P(B)</a:t>
            </a:r>
            <a:r>
              <a:rPr lang="zh-CN" altLang="en-US" dirty="0">
                <a:latin typeface="+mn-ea"/>
                <a:ea typeface="+mn-ea"/>
              </a:rPr>
              <a:t>－</a:t>
            </a:r>
            <a:r>
              <a:rPr lang="en-US" altLang="zh-CN" dirty="0">
                <a:latin typeface="+mn-ea"/>
                <a:ea typeface="+mn-ea"/>
              </a:rPr>
              <a:t>P(AB)</a:t>
            </a:r>
            <a:r>
              <a:rPr lang="zh-CN" altLang="en-US" dirty="0">
                <a:latin typeface="+mn-ea"/>
                <a:ea typeface="+mn-ea"/>
              </a:rPr>
              <a:t>，	</a:t>
            </a:r>
            <a:r>
              <a:rPr lang="en-US" altLang="zh-CN" dirty="0">
                <a:latin typeface="+mn-ea"/>
                <a:ea typeface="+mn-ea"/>
              </a:rPr>
              <a:t>A, B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F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	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一般地，若</a:t>
            </a:r>
            <a:r>
              <a:rPr lang="en-US" altLang="zh-CN" dirty="0" err="1">
                <a:latin typeface="+mn-ea"/>
                <a:ea typeface="+mn-ea"/>
                <a:sym typeface="Symbol" panose="05050102010706020507" pitchFamily="18" charset="2"/>
              </a:rPr>
              <a:t>A</a:t>
            </a:r>
            <a:r>
              <a:rPr lang="en-US" altLang="zh-CN" baseline="-25000" dirty="0" err="1"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dirty="0" err="1">
                <a:latin typeface="+mn-ea"/>
                <a:ea typeface="+mn-ea"/>
                <a:sym typeface="Symbol" panose="05050102010706020507" pitchFamily="18" charset="2"/>
              </a:rPr>
              <a:t>F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(</a:t>
            </a:r>
            <a:r>
              <a:rPr lang="en-US" altLang="zh-CN" dirty="0" err="1"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=1, 2, …, n)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，则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931F5B52-BC83-5786-E493-087DDA295695}"/>
              </a:ext>
            </a:extLst>
          </p:cNvPr>
          <p:cNvGrpSpPr>
            <a:grpSpLocks/>
          </p:cNvGrpSpPr>
          <p:nvPr/>
        </p:nvGrpSpPr>
        <p:grpSpPr bwMode="auto">
          <a:xfrm>
            <a:off x="612775" y="5221704"/>
            <a:ext cx="13012001" cy="992417"/>
            <a:chOff x="768" y="3023"/>
            <a:chExt cx="5336" cy="6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779" name="Object 7">
                  <a:extLst>
                    <a:ext uri="{FF2B5EF4-FFF2-40B4-BE49-F238E27FC236}">
                      <a16:creationId xmlns:a16="http://schemas.microsoft.com/office/drawing/2014/main" id="{DFCC6236-3AC1-1AB2-28CF-9288F981B70D}"/>
                    </a:ext>
                  </a:extLst>
                </p:cNvPr>
                <p:cNvSpPr txBox="1"/>
                <p:nvPr/>
              </p:nvSpPr>
              <p:spPr bwMode="auto">
                <a:xfrm>
                  <a:off x="768" y="3023"/>
                  <a:ext cx="4656" cy="6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∪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/>
                        </m:nary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nary>
                          <m:naryPr>
                            <m:chr m:val="∑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1≤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/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1≤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/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oMath>
                    </m:oMathPara>
                  </a14:m>
                  <a:endParaRPr 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32779" name="Object 7">
                  <a:extLst>
                    <a:ext uri="{FF2B5EF4-FFF2-40B4-BE49-F238E27FC236}">
                      <a16:creationId xmlns:a16="http://schemas.microsoft.com/office/drawing/2014/main" id="{DFCC6236-3AC1-1AB2-28CF-9288F981B7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68" y="3023"/>
                  <a:ext cx="4656" cy="62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780" name="Object 8">
                  <a:extLst>
                    <a:ext uri="{FF2B5EF4-FFF2-40B4-BE49-F238E27FC236}">
                      <a16:creationId xmlns:a16="http://schemas.microsoft.com/office/drawing/2014/main" id="{80BA94CC-F700-459E-0F3F-4C67559BA184}"/>
                    </a:ext>
                  </a:extLst>
                </p:cNvPr>
                <p:cNvSpPr txBox="1"/>
                <p:nvPr/>
              </p:nvSpPr>
              <p:spPr bwMode="auto">
                <a:xfrm>
                  <a:off x="3674" y="3151"/>
                  <a:ext cx="2430" cy="3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+⋯+(−1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32780" name="Object 8">
                  <a:extLst>
                    <a:ext uri="{FF2B5EF4-FFF2-40B4-BE49-F238E27FC236}">
                      <a16:creationId xmlns:a16="http://schemas.microsoft.com/office/drawing/2014/main" id="{80BA94CC-F700-459E-0F3F-4C67559BA1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74" y="3151"/>
                  <a:ext cx="2430" cy="313"/>
                </a:xfrm>
                <a:prstGeom prst="rect">
                  <a:avLst/>
                </a:prstGeom>
                <a:blipFill>
                  <a:blip r:embed="rId5"/>
                  <a:stretch>
                    <a:fillRect l="-103" b="-1358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7273" name="Text Box 9">
            <a:extLst>
              <a:ext uri="{FF2B5EF4-FFF2-40B4-BE49-F238E27FC236}">
                <a16:creationId xmlns:a16="http://schemas.microsoft.com/office/drawing/2014/main" id="{109155CA-A084-11E6-4E93-2A9204726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3033" y="6167370"/>
            <a:ext cx="223254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CC00CC"/>
                </a:solidFill>
                <a:latin typeface="+mn-ea"/>
                <a:ea typeface="+mn-ea"/>
              </a:rPr>
              <a:t>多除少补原理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7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7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6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7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7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7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7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7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7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 uiExpand="1" build="p" autoUpdateAnimBg="0"/>
      <p:bldP spid="267268" grpId="0"/>
      <p:bldP spid="267269" grpId="0" uiExpand="1" build="p" autoUpdateAnimBg="0"/>
      <p:bldP spid="26727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>
            <a:extLst>
              <a:ext uri="{FF2B5EF4-FFF2-40B4-BE49-F238E27FC236}">
                <a16:creationId xmlns:a16="http://schemas.microsoft.com/office/drawing/2014/main" id="{00731D73-4157-8D13-3D11-B925E94A0D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概率的性质</a:t>
            </a:r>
          </a:p>
        </p:txBody>
      </p:sp>
      <p:sp>
        <p:nvSpPr>
          <p:cNvPr id="268291" name="Rectangle 3">
            <a:extLst>
              <a:ext uri="{FF2B5EF4-FFF2-40B4-BE49-F238E27FC236}">
                <a16:creationId xmlns:a16="http://schemas.microsoft.com/office/drawing/2014/main" id="{1F716CF2-98C2-7BF7-763D-1AB019F871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1350" y="1041279"/>
            <a:ext cx="9906001" cy="2564405"/>
          </a:xfrm>
        </p:spPr>
        <p:txBody>
          <a:bodyPr>
            <a:normAutofit/>
          </a:bodyPr>
          <a:lstStyle/>
          <a:p>
            <a:pPr marL="533507" indent="-533507">
              <a:lnSpc>
                <a:spcPct val="160000"/>
              </a:lnSpc>
              <a:buFont typeface="Wingdings" panose="05000000000000000000" pitchFamily="2" charset="2"/>
              <a:buAutoNum type="arabicPeriod" startAt="4"/>
            </a:pPr>
            <a:r>
              <a:rPr lang="en-US" altLang="zh-CN" dirty="0"/>
              <a:t>P(A)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－</a:t>
            </a:r>
            <a:r>
              <a:rPr lang="en-US" altLang="zh-CN" dirty="0"/>
              <a:t>P(    )</a:t>
            </a:r>
            <a:r>
              <a:rPr lang="zh-CN" altLang="en-US" dirty="0"/>
              <a:t>；</a:t>
            </a:r>
          </a:p>
          <a:p>
            <a:pPr marL="533507" indent="-533507">
              <a:lnSpc>
                <a:spcPct val="160000"/>
              </a:lnSpc>
              <a:buFont typeface="Wingdings" panose="05000000000000000000" pitchFamily="2" charset="2"/>
              <a:buAutoNum type="arabicPeriod" startAt="4"/>
            </a:pPr>
            <a:r>
              <a:rPr lang="zh-CN" altLang="en-US" dirty="0"/>
              <a:t>若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</a:t>
            </a:r>
            <a:r>
              <a:rPr lang="en-US" altLang="zh-CN" dirty="0"/>
              <a:t>B,</a:t>
            </a:r>
            <a:r>
              <a:rPr lang="zh-CN" altLang="en-US" dirty="0"/>
              <a:t>则</a:t>
            </a:r>
            <a:r>
              <a:rPr lang="en-US" altLang="zh-CN" dirty="0"/>
              <a:t>P(B</a:t>
            </a:r>
            <a:r>
              <a:rPr lang="zh-CN" altLang="en-US" dirty="0"/>
              <a:t>－</a:t>
            </a:r>
            <a:r>
              <a:rPr lang="en-US" altLang="zh-CN" dirty="0"/>
              <a:t>A)</a:t>
            </a:r>
            <a:r>
              <a:rPr lang="zh-CN" altLang="en-US" dirty="0"/>
              <a:t>＝</a:t>
            </a:r>
            <a:r>
              <a:rPr lang="en-US" altLang="zh-CN" dirty="0"/>
              <a:t>P(B)</a:t>
            </a:r>
            <a:r>
              <a:rPr lang="zh-CN" altLang="en-US" dirty="0"/>
              <a:t>－</a:t>
            </a:r>
            <a:r>
              <a:rPr lang="en-US" altLang="zh-CN" dirty="0"/>
              <a:t>P(A)</a:t>
            </a:r>
            <a:r>
              <a:rPr lang="zh-CN" altLang="en-US" dirty="0"/>
              <a:t>， </a:t>
            </a:r>
            <a:r>
              <a:rPr lang="en-US" altLang="zh-CN" dirty="0"/>
              <a:t>P(A) ≤ P(B)</a:t>
            </a:r>
            <a:r>
              <a:rPr lang="zh-CN" altLang="en-US" dirty="0"/>
              <a:t>；</a:t>
            </a:r>
          </a:p>
          <a:p>
            <a:pPr marL="533507" indent="-533507">
              <a:lnSpc>
                <a:spcPct val="160000"/>
              </a:lnSpc>
              <a:buFont typeface="Wingdings" panose="05000000000000000000" pitchFamily="2" charset="2"/>
              <a:buAutoNum type="arabicPeriod" startAt="4"/>
            </a:pPr>
            <a:r>
              <a:rPr lang="en-US" altLang="zh-CN" dirty="0"/>
              <a:t>(</a:t>
            </a:r>
            <a:r>
              <a:rPr lang="zh-CN" altLang="en-US" dirty="0"/>
              <a:t>连续性</a:t>
            </a:r>
            <a:r>
              <a:rPr lang="en-US" altLang="zh-CN" dirty="0"/>
              <a:t>)</a:t>
            </a:r>
          </a:p>
          <a:p>
            <a:pPr marL="990798" lvl="1" indent="-533507">
              <a:lnSpc>
                <a:spcPct val="160000"/>
              </a:lnSpc>
              <a:buClr>
                <a:srgbClr val="0000FF"/>
              </a:buClr>
              <a:buFont typeface="Wingdings" panose="05000000000000000000" pitchFamily="2" charset="2"/>
              <a:buAutoNum type="arabicParenR"/>
            </a:pPr>
            <a:r>
              <a:rPr lang="zh-CN" altLang="en-US" dirty="0"/>
              <a:t>若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</a:t>
            </a:r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>
                <a:sym typeface="Symbol" panose="05050102010706020507" pitchFamily="18" charset="2"/>
              </a:rPr>
              <a:t></a:t>
            </a:r>
            <a:r>
              <a:rPr lang="en-US" altLang="zh-CN" dirty="0"/>
              <a:t>A</a:t>
            </a:r>
            <a:r>
              <a:rPr lang="en-US" altLang="zh-CN" baseline="-25000" dirty="0"/>
              <a:t>3</a:t>
            </a:r>
            <a:r>
              <a:rPr lang="en-US" altLang="zh-CN" dirty="0">
                <a:sym typeface="Symbol" panose="05050102010706020507" pitchFamily="18" charset="2"/>
              </a:rPr>
              <a:t></a:t>
            </a:r>
            <a:r>
              <a:rPr lang="en-US" altLang="zh-CN" dirty="0"/>
              <a:t>…</a:t>
            </a:r>
            <a:r>
              <a:rPr lang="zh-CN" altLang="en-US" dirty="0"/>
              <a:t>，且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8292" name="Object 4">
                <a:extLst>
                  <a:ext uri="{FF2B5EF4-FFF2-40B4-BE49-F238E27FC236}">
                    <a16:creationId xmlns:a16="http://schemas.microsoft.com/office/drawing/2014/main" id="{5F55FCE5-9253-737A-3F1C-D1B577DBBB43}"/>
                  </a:ext>
                </a:extLst>
              </p:cNvPr>
              <p:cNvSpPr txBox="1"/>
              <p:nvPr/>
            </p:nvSpPr>
            <p:spPr bwMode="auto">
              <a:xfrm>
                <a:off x="3051175" y="1159677"/>
                <a:ext cx="454130" cy="5589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8292" name="Object 4">
                <a:extLst>
                  <a:ext uri="{FF2B5EF4-FFF2-40B4-BE49-F238E27FC236}">
                    <a16:creationId xmlns:a16="http://schemas.microsoft.com/office/drawing/2014/main" id="{5F55FCE5-9253-737A-3F1C-D1B577DBB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51175" y="1159677"/>
                <a:ext cx="454130" cy="5589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8293" name="Object 5">
                <a:extLst>
                  <a:ext uri="{FF2B5EF4-FFF2-40B4-BE49-F238E27FC236}">
                    <a16:creationId xmlns:a16="http://schemas.microsoft.com/office/drawing/2014/main" id="{2ACDF218-46FE-7EE7-E2AF-1990F4F8CEF6}"/>
                  </a:ext>
                </a:extLst>
              </p:cNvPr>
              <p:cNvSpPr txBox="1"/>
              <p:nvPr/>
            </p:nvSpPr>
            <p:spPr bwMode="auto">
              <a:xfrm>
                <a:off x="4727575" y="2578979"/>
                <a:ext cx="3276600" cy="9940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∩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268293" name="Object 5">
                <a:extLst>
                  <a:ext uri="{FF2B5EF4-FFF2-40B4-BE49-F238E27FC236}">
                    <a16:creationId xmlns:a16="http://schemas.microsoft.com/office/drawing/2014/main" id="{2ACDF218-46FE-7EE7-E2AF-1990F4F8C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7575" y="2578979"/>
                <a:ext cx="3276600" cy="9940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8294" name="Object 6">
            <a:extLst>
              <a:ext uri="{FF2B5EF4-FFF2-40B4-BE49-F238E27FC236}">
                <a16:creationId xmlns:a16="http://schemas.microsoft.com/office/drawing/2014/main" id="{811F8DFB-BD62-D6AC-77D7-6DF010CD8D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5032509"/>
              </p:ext>
            </p:extLst>
          </p:nvPr>
        </p:nvGraphicFramePr>
        <p:xfrm>
          <a:off x="1958632" y="3764599"/>
          <a:ext cx="2540343" cy="667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57300" imgH="330200" progId="Equation.DSMT4">
                  <p:embed/>
                </p:oleObj>
              </mc:Choice>
              <mc:Fallback>
                <p:oleObj name="Equation" r:id="rId5" imgW="1257300" imgH="330200" progId="Equation.DSMT4">
                  <p:embed/>
                  <p:pic>
                    <p:nvPicPr>
                      <p:cNvPr id="268294" name="Object 6">
                        <a:extLst>
                          <a:ext uri="{FF2B5EF4-FFF2-40B4-BE49-F238E27FC236}">
                            <a16:creationId xmlns:a16="http://schemas.microsoft.com/office/drawing/2014/main" id="{811F8DFB-BD62-D6AC-77D7-6DF010CD8D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8632" y="3764599"/>
                        <a:ext cx="2540343" cy="667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295" name="Rectangle 7">
            <a:extLst>
              <a:ext uri="{FF2B5EF4-FFF2-40B4-BE49-F238E27FC236}">
                <a16:creationId xmlns:a16="http://schemas.microsoft.com/office/drawing/2014/main" id="{298076CA-4E65-BF77-494E-CA386123B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50" y="4591237"/>
            <a:ext cx="7850417" cy="560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90600" indent="-53340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150000"/>
              </a:lnSpc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AutoNum type="arabicParenR" startAt="2"/>
            </a:pPr>
            <a:r>
              <a:rPr lang="zh-CN" altLang="en-US" dirty="0">
                <a:latin typeface="+mn-ea"/>
                <a:ea typeface="+mn-ea"/>
              </a:rPr>
              <a:t>若</a:t>
            </a:r>
            <a:r>
              <a:rPr lang="en-US" altLang="zh-CN" dirty="0">
                <a:latin typeface="+mn-ea"/>
                <a:ea typeface="+mn-ea"/>
              </a:rPr>
              <a:t>A</a:t>
            </a:r>
            <a:r>
              <a:rPr lang="en-US" altLang="zh-CN" baseline="-25000" dirty="0">
                <a:latin typeface="+mn-ea"/>
                <a:ea typeface="+mn-ea"/>
              </a:rPr>
              <a:t>1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</a:t>
            </a:r>
            <a:r>
              <a:rPr lang="en-US" altLang="zh-CN" dirty="0">
                <a:latin typeface="+mn-ea"/>
                <a:ea typeface="+mn-ea"/>
              </a:rPr>
              <a:t>A</a:t>
            </a:r>
            <a:r>
              <a:rPr lang="en-US" altLang="zh-CN" baseline="-25000" dirty="0">
                <a:latin typeface="+mn-ea"/>
                <a:ea typeface="+mn-ea"/>
              </a:rPr>
              <a:t>2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</a:t>
            </a:r>
            <a:r>
              <a:rPr lang="en-US" altLang="zh-CN" dirty="0">
                <a:latin typeface="+mn-ea"/>
                <a:ea typeface="+mn-ea"/>
              </a:rPr>
              <a:t>A</a:t>
            </a:r>
            <a:r>
              <a:rPr lang="en-US" altLang="zh-CN" baseline="-25000" dirty="0">
                <a:latin typeface="+mn-ea"/>
                <a:ea typeface="+mn-ea"/>
              </a:rPr>
              <a:t>3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</a:t>
            </a:r>
            <a:r>
              <a:rPr lang="en-US" altLang="zh-CN" dirty="0">
                <a:latin typeface="+mn-ea"/>
                <a:ea typeface="+mn-ea"/>
              </a:rPr>
              <a:t>…</a:t>
            </a:r>
            <a:r>
              <a:rPr lang="zh-CN" altLang="en-US" dirty="0">
                <a:latin typeface="+mn-ea"/>
                <a:ea typeface="+mn-ea"/>
              </a:rPr>
              <a:t>，且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8296" name="Object 8">
                <a:extLst>
                  <a:ext uri="{FF2B5EF4-FFF2-40B4-BE49-F238E27FC236}">
                    <a16:creationId xmlns:a16="http://schemas.microsoft.com/office/drawing/2014/main" id="{719BC3E5-DEC5-F3F6-80EA-3BA65FE27BA4}"/>
                  </a:ext>
                </a:extLst>
              </p:cNvPr>
              <p:cNvSpPr txBox="1"/>
              <p:nvPr/>
            </p:nvSpPr>
            <p:spPr bwMode="auto">
              <a:xfrm>
                <a:off x="4727575" y="4591237"/>
                <a:ext cx="3962400" cy="9940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∪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8296" name="Object 8">
                <a:extLst>
                  <a:ext uri="{FF2B5EF4-FFF2-40B4-BE49-F238E27FC236}">
                    <a16:creationId xmlns:a16="http://schemas.microsoft.com/office/drawing/2014/main" id="{719BC3E5-DEC5-F3F6-80EA-3BA65FE27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7575" y="4591237"/>
                <a:ext cx="3962400" cy="9940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8297" name="Object 9">
            <a:extLst>
              <a:ext uri="{FF2B5EF4-FFF2-40B4-BE49-F238E27FC236}">
                <a16:creationId xmlns:a16="http://schemas.microsoft.com/office/drawing/2014/main" id="{C7C260AD-9A91-F4DA-66D2-70C51E1B3A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1230058"/>
              </p:ext>
            </p:extLst>
          </p:nvPr>
        </p:nvGraphicFramePr>
        <p:xfrm>
          <a:off x="1987207" y="5519280"/>
          <a:ext cx="2476582" cy="625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308100" imgH="330200" progId="Equation.3">
                  <p:embed/>
                </p:oleObj>
              </mc:Choice>
              <mc:Fallback>
                <p:oleObj name="公式" r:id="rId8" imgW="1308100" imgH="330200" progId="Equation.3">
                  <p:embed/>
                  <p:pic>
                    <p:nvPicPr>
                      <p:cNvPr id="268297" name="Object 9">
                        <a:extLst>
                          <a:ext uri="{FF2B5EF4-FFF2-40B4-BE49-F238E27FC236}">
                            <a16:creationId xmlns:a16="http://schemas.microsoft.com/office/drawing/2014/main" id="{C7C260AD-9A91-F4DA-66D2-70C51E1B3A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207" y="5519280"/>
                        <a:ext cx="2476582" cy="6251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68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8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8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8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8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8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8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68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1" grpId="0" build="p" autoUpdateAnimBg="0"/>
      <p:bldP spid="268292" grpId="0"/>
      <p:bldP spid="268293" grpId="0"/>
      <p:bldP spid="268295" grpId="0" build="p" autoUpdateAnimBg="0"/>
      <p:bldP spid="26829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0BEA2456-D3E7-03E9-C02D-7F42F6E4D2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黑体" panose="02010609060101010101" pitchFamily="49" charset="-122"/>
              </a:rPr>
              <a:t>四、条件概率</a:t>
            </a:r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0DB9A3FB-3B85-E49F-10DB-046977C972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2734" y="949781"/>
            <a:ext cx="11506199" cy="1921320"/>
          </a:xfrm>
        </p:spPr>
        <p:txBody>
          <a:bodyPr>
            <a:normAutofit/>
          </a:bodyPr>
          <a:lstStyle/>
          <a:p>
            <a:pPr marL="0"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      设概率空间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dirty="0"/>
              <a:t>Ω</a:t>
            </a:r>
            <a:r>
              <a:rPr lang="en-US" altLang="zh-CN" dirty="0">
                <a:sym typeface="Symbol" panose="05050102010706020507" pitchFamily="18" charset="2"/>
              </a:rPr>
              <a:t>, F, P)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F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F</a:t>
            </a:r>
            <a:r>
              <a:rPr lang="zh-CN" altLang="en-US" dirty="0">
                <a:sym typeface="Symbol" panose="05050102010706020507" pitchFamily="18" charset="2"/>
              </a:rPr>
              <a:t>，且</a:t>
            </a:r>
            <a:r>
              <a:rPr lang="en-US" altLang="zh-CN" dirty="0">
                <a:sym typeface="Symbol" panose="05050102010706020507" pitchFamily="18" charset="2"/>
              </a:rPr>
              <a:t>P(A)&gt;0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在事件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A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已经发生的条件下，事件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B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发生的</a:t>
            </a:r>
            <a:r>
              <a:rPr lang="zh-CN" altLang="en-US" dirty="0">
                <a:solidFill>
                  <a:srgbClr val="CC00CC"/>
                </a:solidFill>
                <a:sym typeface="Symbol" panose="05050102010706020507" pitchFamily="18" charset="2"/>
              </a:rPr>
              <a:t>条件概率</a:t>
            </a:r>
            <a:r>
              <a:rPr lang="zh-CN" altLang="en-US" dirty="0">
                <a:sym typeface="Symbol" panose="05050102010706020507" pitchFamily="18" charset="2"/>
              </a:rPr>
              <a:t>定义为：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5092" name="Object 2">
                <a:extLst>
                  <a:ext uri="{FF2B5EF4-FFF2-40B4-BE49-F238E27FC236}">
                    <a16:creationId xmlns:a16="http://schemas.microsoft.com/office/drawing/2014/main" id="{2DA05065-D67C-8EC7-2D9B-BAB61FB542B5}"/>
                  </a:ext>
                </a:extLst>
              </p:cNvPr>
              <p:cNvSpPr txBox="1"/>
              <p:nvPr/>
            </p:nvSpPr>
            <p:spPr bwMode="auto">
              <a:xfrm>
                <a:off x="4402944" y="2122039"/>
                <a:ext cx="2515182" cy="9400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5092" name="Object 2">
                <a:extLst>
                  <a:ext uri="{FF2B5EF4-FFF2-40B4-BE49-F238E27FC236}">
                    <a16:creationId xmlns:a16="http://schemas.microsoft.com/office/drawing/2014/main" id="{2DA05065-D67C-8EC7-2D9B-BAB61FB54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02944" y="2122039"/>
                <a:ext cx="2515182" cy="9400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5093" name="Rectangle 5">
            <a:extLst>
              <a:ext uri="{FF2B5EF4-FFF2-40B4-BE49-F238E27FC236}">
                <a16:creationId xmlns:a16="http://schemas.microsoft.com/office/drawing/2014/main" id="{6300C5F8-9744-B84E-F6C9-E9A65D4BA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734" y="3036323"/>
            <a:ext cx="11277582" cy="166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       给定概率空间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(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Ω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, F, P)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dirty="0">
                <a:latin typeface="+mn-ea"/>
                <a:ea typeface="+mn-ea"/>
              </a:rPr>
              <a:t>A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F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，且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P(A) &gt; 0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，对任意</a:t>
            </a:r>
            <a:r>
              <a:rPr lang="en-US" altLang="zh-CN" dirty="0">
                <a:latin typeface="+mn-ea"/>
                <a:ea typeface="+mn-ea"/>
              </a:rPr>
              <a:t>B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F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有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P(B|A)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对应，则条件概率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P(B|A)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是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(</a:t>
            </a:r>
            <a:r>
              <a:rPr lang="en-US" altLang="zh-CN" dirty="0">
                <a:latin typeface="+mn-ea"/>
                <a:ea typeface="+mn-ea"/>
              </a:rPr>
              <a:t>Ω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, F)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上的概率，记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P(B|A)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baseline="-25000" dirty="0">
                <a:latin typeface="+mn-ea"/>
                <a:ea typeface="+mn-ea"/>
                <a:sym typeface="Symbol" panose="05050102010706020507" pitchFamily="18" charset="2"/>
              </a:rPr>
              <a:t>A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，则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(</a:t>
            </a:r>
            <a:r>
              <a:rPr lang="en-US" altLang="zh-CN" dirty="0">
                <a:latin typeface="+mn-ea"/>
                <a:ea typeface="+mn-ea"/>
              </a:rPr>
              <a:t>Ω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, F, P</a:t>
            </a:r>
            <a:r>
              <a:rPr lang="en-US" altLang="zh-CN" baseline="-25000" dirty="0">
                <a:latin typeface="+mn-ea"/>
                <a:ea typeface="+mn-ea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也是一个概率空间，称为</a:t>
            </a:r>
            <a:r>
              <a:rPr lang="zh-CN" altLang="en-US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条件概率空间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4E0F1FC-2FE6-4AB2-A430-5B7FDC889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484" y="4862252"/>
            <a:ext cx="11452715" cy="561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 </a:t>
            </a:r>
            <a:r>
              <a:rPr lang="zh-CN" altLang="en-US" spc="-150" dirty="0">
                <a:latin typeface="+mn-ea"/>
                <a:ea typeface="+mn-ea"/>
                <a:sym typeface="Symbol" panose="05050102010706020507" pitchFamily="18" charset="2"/>
              </a:rPr>
              <a:t>某家庭两个孩子。已知两个孩子中至少有一个男孩，问两个都是男孩的条件概率是多少？</a:t>
            </a:r>
            <a:endParaRPr lang="zh-CN" altLang="en-US" spc="-150" dirty="0">
              <a:solidFill>
                <a:srgbClr val="FF00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AA59E8-4289-4E7A-938F-4F521DE77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3268" y="5423695"/>
            <a:ext cx="4126158" cy="56144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FF33CC"/>
                </a:solidFill>
                <a:latin typeface="+mn-ea"/>
                <a:ea typeface="+mn-ea"/>
                <a:sym typeface="Symbol" panose="05050102010706020507" pitchFamily="18" charset="2"/>
              </a:rPr>
              <a:t>显然 </a:t>
            </a:r>
            <a:r>
              <a:rPr lang="en-US" altLang="zh-CN" dirty="0"/>
              <a:t>Ω={(</a:t>
            </a:r>
            <a:r>
              <a:rPr lang="en-US" altLang="zh-CN" dirty="0" err="1"/>
              <a:t>b,b</a:t>
            </a:r>
            <a:r>
              <a:rPr lang="en-US" altLang="zh-CN" dirty="0"/>
              <a:t>),(</a:t>
            </a:r>
            <a:r>
              <a:rPr lang="en-US" altLang="zh-CN" dirty="0" err="1"/>
              <a:t>b,g</a:t>
            </a:r>
            <a:r>
              <a:rPr lang="en-US" altLang="zh-CN" dirty="0"/>
              <a:t>),(</a:t>
            </a:r>
            <a:r>
              <a:rPr lang="en-US" altLang="zh-CN" dirty="0" err="1"/>
              <a:t>g,b</a:t>
            </a:r>
            <a:r>
              <a:rPr lang="en-US" altLang="zh-CN" dirty="0"/>
              <a:t>),(</a:t>
            </a:r>
            <a:r>
              <a:rPr lang="en-US" altLang="zh-CN" dirty="0" err="1"/>
              <a:t>g,g</a:t>
            </a:r>
            <a:r>
              <a:rPr lang="en-US" altLang="zh-CN" dirty="0"/>
              <a:t>)}</a:t>
            </a:r>
            <a:endParaRPr lang="zh-CN" altLang="en-US" dirty="0">
              <a:solidFill>
                <a:srgbClr val="FF00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B0595FB7-2463-4348-935D-4FE838FE1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222" y="5491071"/>
            <a:ext cx="5697977" cy="1115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解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 设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A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是两个孩子中至少有一个男孩这一事件，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B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是两个孩子是男孩这一事件，则</a:t>
            </a:r>
            <a:endParaRPr lang="zh-CN" altLang="en-US" dirty="0">
              <a:solidFill>
                <a:srgbClr val="FF00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">
                <a:extLst>
                  <a:ext uri="{FF2B5EF4-FFF2-40B4-BE49-F238E27FC236}">
                    <a16:creationId xmlns:a16="http://schemas.microsoft.com/office/drawing/2014/main" id="{5EBA8C82-9FD6-4296-A175-E25EA7D43415}"/>
                  </a:ext>
                </a:extLst>
              </p:cNvPr>
              <p:cNvSpPr txBox="1"/>
              <p:nvPr/>
            </p:nvSpPr>
            <p:spPr bwMode="auto">
              <a:xfrm>
                <a:off x="5943600" y="5902871"/>
                <a:ext cx="5144075" cy="9400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/>
                  <a:t>=</a:t>
                </a:r>
                <a:r>
                  <a:rPr lang="en-US" altLang="zh-CN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Object 2">
                <a:extLst>
                  <a:ext uri="{FF2B5EF4-FFF2-40B4-BE49-F238E27FC236}">
                    <a16:creationId xmlns:a16="http://schemas.microsoft.com/office/drawing/2014/main" id="{5EBA8C82-9FD6-4296-A175-E25EA7D43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43600" y="5902871"/>
                <a:ext cx="5144075" cy="9400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5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5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4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5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5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091" grpId="0" build="p"/>
      <p:bldP spid="345092" grpId="0"/>
      <p:bldP spid="345093" grpId="0" autoUpdateAnimBg="0"/>
      <p:bldP spid="7" grpId="0" autoUpdateAnimBg="0"/>
      <p:bldP spid="8" grpId="0" animBg="1" autoUpdateAnimBg="0"/>
      <p:bldP spid="9" grpId="0" autoUpdateAnimBg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>
            <a:extLst>
              <a:ext uri="{FF2B5EF4-FFF2-40B4-BE49-F238E27FC236}">
                <a16:creationId xmlns:a16="http://schemas.microsoft.com/office/drawing/2014/main" id="{4E207735-4A01-C94D-2CFE-38E4B67E32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黑体" panose="02010609060101010101" pitchFamily="49" charset="-122"/>
              </a:rPr>
              <a:t>五、乘法公式</a:t>
            </a:r>
          </a:p>
        </p:txBody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852AF59B-09C5-423C-9309-3C62C6A83A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7975" y="1125800"/>
            <a:ext cx="11201400" cy="1541993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  <a:defRPr/>
            </a:pPr>
            <a:r>
              <a:rPr lang="zh-CN" altLang="en-US" dirty="0">
                <a:sym typeface="Symbol" panose="05050102010706020507" pitchFamily="18" charset="2"/>
              </a:rPr>
              <a:t>设概率空间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dirty="0"/>
              <a:t>Ω</a:t>
            </a:r>
            <a:r>
              <a:rPr lang="en-US" altLang="zh-CN" dirty="0">
                <a:sym typeface="Symbol" panose="05050102010706020507" pitchFamily="18" charset="2"/>
              </a:rPr>
              <a:t>, F, P)</a:t>
            </a:r>
            <a:r>
              <a:rPr lang="zh-CN" altLang="en-US" dirty="0">
                <a:sym typeface="Symbol" panose="05050102010706020507" pitchFamily="18" charset="2"/>
              </a:rPr>
              <a:t>，如果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en-US" altLang="zh-CN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F</a:t>
            </a:r>
            <a:r>
              <a:rPr lang="zh-CN" altLang="en-US" dirty="0">
                <a:sym typeface="Symbol" panose="05050102010706020507" pitchFamily="18" charset="2"/>
              </a:rPr>
              <a:t>，且</a:t>
            </a:r>
            <a:r>
              <a:rPr lang="en-US" altLang="zh-CN" dirty="0">
                <a:sym typeface="Symbol" panose="05050102010706020507" pitchFamily="18" charset="2"/>
              </a:rPr>
              <a:t>P(AB)&gt;0</a:t>
            </a:r>
            <a:r>
              <a:rPr lang="zh-CN" altLang="en-US" dirty="0">
                <a:sym typeface="Symbol" panose="05050102010706020507" pitchFamily="18" charset="2"/>
              </a:rPr>
              <a:t>，则下述乘法公式成立：</a:t>
            </a:r>
          </a:p>
          <a:p>
            <a:pPr algn="ctr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P(AB)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＝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P(A)P(B|A)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＝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P(B)P(A|B)</a:t>
            </a:r>
          </a:p>
        </p:txBody>
      </p:sp>
      <p:sp>
        <p:nvSpPr>
          <p:cNvPr id="346117" name="Rectangle 5">
            <a:extLst>
              <a:ext uri="{FF2B5EF4-FFF2-40B4-BE49-F238E27FC236}">
                <a16:creationId xmlns:a16="http://schemas.microsoft.com/office/drawing/2014/main" id="{B83F44A2-5D19-48BE-89BF-595146C88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" y="2820194"/>
            <a:ext cx="11312783" cy="1746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 marL="342900" indent="-342900" eaLnBrk="0" hangingPunct="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buClr>
                <a:srgbClr val="00FF00"/>
              </a:buClr>
              <a:defRPr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推广：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设概率空间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Ω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F, P)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，如果</a:t>
            </a:r>
            <a:r>
              <a:rPr lang="en-US" altLang="zh-CN" sz="2400" dirty="0" err="1">
                <a:latin typeface="+mn-ea"/>
                <a:ea typeface="+mn-ea"/>
              </a:rPr>
              <a:t>A</a:t>
            </a:r>
            <a:r>
              <a:rPr lang="en-US" altLang="zh-CN" sz="2400" baseline="-25000" dirty="0" err="1">
                <a:latin typeface="+mn-ea"/>
                <a:ea typeface="+mn-ea"/>
              </a:rPr>
              <a:t>i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F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=1, 2, …, n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且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P(A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A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…A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)&gt;0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，则下述推广的乘法公式成立：</a:t>
            </a:r>
          </a:p>
          <a:p>
            <a:pPr marL="0" indent="720144" eaLnBrk="1" hangingPunct="1">
              <a:lnSpc>
                <a:spcPct val="150000"/>
              </a:lnSpc>
              <a:spcBef>
                <a:spcPts val="600"/>
              </a:spcBef>
              <a:buClr>
                <a:srgbClr val="00FF00"/>
              </a:buClr>
              <a:defRPr/>
            </a:pP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P(A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A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…A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P(A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)P(A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|A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)P(A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3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|A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A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)…P(A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|A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A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…A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n-1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203575" y="4566577"/>
            <a:ext cx="1905000" cy="461665"/>
            <a:chOff x="3203575" y="4566577"/>
            <a:chExt cx="1905000" cy="461665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3203575" y="4566577"/>
              <a:ext cx="1905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本框 3"/>
            <p:cNvSpPr txBox="1"/>
            <p:nvPr/>
          </p:nvSpPr>
          <p:spPr>
            <a:xfrm>
              <a:off x="3441700" y="4566577"/>
              <a:ext cx="1524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9900"/>
                  </a:solidFill>
                  <a:latin typeface="+mn-ea"/>
                  <a:sym typeface="Symbol" panose="05050102010706020507" pitchFamily="18" charset="2"/>
                </a:rPr>
                <a:t>P(A</a:t>
              </a:r>
              <a:r>
                <a:rPr lang="en-US" altLang="zh-CN" b="1" baseline="-25000" dirty="0">
                  <a:solidFill>
                    <a:srgbClr val="009900"/>
                  </a:solidFill>
                  <a:latin typeface="+mn-ea"/>
                  <a:sym typeface="Symbol" panose="05050102010706020507" pitchFamily="18" charset="2"/>
                </a:rPr>
                <a:t>1</a:t>
              </a:r>
              <a:r>
                <a:rPr lang="en-US" altLang="zh-CN" b="1" dirty="0">
                  <a:solidFill>
                    <a:srgbClr val="009900"/>
                  </a:solidFill>
                  <a:latin typeface="+mn-ea"/>
                  <a:sym typeface="Symbol" panose="05050102010706020507" pitchFamily="18" charset="2"/>
                </a:rPr>
                <a:t>A</a:t>
              </a:r>
              <a:r>
                <a:rPr lang="en-US" altLang="zh-CN" b="1" baseline="-25000" dirty="0">
                  <a:solidFill>
                    <a:srgbClr val="009900"/>
                  </a:solidFill>
                  <a:latin typeface="+mn-ea"/>
                  <a:sym typeface="Symbol" panose="05050102010706020507" pitchFamily="18" charset="2"/>
                </a:rPr>
                <a:t>2</a:t>
              </a:r>
              <a:r>
                <a:rPr lang="en-US" altLang="zh-CN" b="1" dirty="0">
                  <a:solidFill>
                    <a:srgbClr val="009900"/>
                  </a:solidFill>
                  <a:latin typeface="+mn-ea"/>
                  <a:sym typeface="Symbol" panose="05050102010706020507" pitchFamily="18" charset="2"/>
                </a:rPr>
                <a:t>)</a:t>
              </a:r>
              <a:endParaRPr lang="zh-CN" altLang="en-US" b="1" dirty="0">
                <a:solidFill>
                  <a:srgbClr val="009900"/>
                </a:solidFill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584575" y="5028241"/>
            <a:ext cx="3124200" cy="461665"/>
            <a:chOff x="3203575" y="4566576"/>
            <a:chExt cx="3124200" cy="461665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3203575" y="4566577"/>
              <a:ext cx="31242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4117975" y="4566576"/>
              <a:ext cx="17430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9900"/>
                  </a:solidFill>
                  <a:latin typeface="+mn-ea"/>
                  <a:sym typeface="Symbol" panose="05050102010706020507" pitchFamily="18" charset="2"/>
                </a:rPr>
                <a:t>P(A</a:t>
              </a:r>
              <a:r>
                <a:rPr lang="en-US" altLang="zh-CN" b="1" baseline="-25000" dirty="0">
                  <a:solidFill>
                    <a:srgbClr val="009900"/>
                  </a:solidFill>
                  <a:latin typeface="+mn-ea"/>
                  <a:sym typeface="Symbol" panose="05050102010706020507" pitchFamily="18" charset="2"/>
                </a:rPr>
                <a:t>1</a:t>
              </a:r>
              <a:r>
                <a:rPr lang="en-US" altLang="zh-CN" b="1" dirty="0">
                  <a:solidFill>
                    <a:srgbClr val="009900"/>
                  </a:solidFill>
                  <a:latin typeface="+mn-ea"/>
                  <a:sym typeface="Symbol" panose="05050102010706020507" pitchFamily="18" charset="2"/>
                </a:rPr>
                <a:t>A</a:t>
              </a:r>
              <a:r>
                <a:rPr lang="en-US" altLang="zh-CN" b="1" baseline="-25000" dirty="0">
                  <a:solidFill>
                    <a:srgbClr val="009900"/>
                  </a:solidFill>
                  <a:latin typeface="+mn-ea"/>
                  <a:sym typeface="Symbol" panose="05050102010706020507" pitchFamily="18" charset="2"/>
                </a:rPr>
                <a:t>2</a:t>
              </a:r>
              <a:r>
                <a:rPr lang="en-US" altLang="zh-CN" b="1" dirty="0">
                  <a:solidFill>
                    <a:srgbClr val="009900"/>
                  </a:solidFill>
                  <a:latin typeface="+mn-ea"/>
                  <a:sym typeface="Symbol" panose="05050102010706020507" pitchFamily="18" charset="2"/>
                </a:rPr>
                <a:t>A</a:t>
              </a:r>
              <a:r>
                <a:rPr lang="en-US" altLang="zh-CN" b="1" baseline="-25000" dirty="0">
                  <a:solidFill>
                    <a:srgbClr val="009900"/>
                  </a:solidFill>
                  <a:latin typeface="+mn-ea"/>
                  <a:sym typeface="Symbol" panose="05050102010706020507" pitchFamily="18" charset="2"/>
                </a:rPr>
                <a:t>3</a:t>
              </a:r>
              <a:r>
                <a:rPr lang="en-US" altLang="zh-CN" b="1" dirty="0">
                  <a:solidFill>
                    <a:srgbClr val="009900"/>
                  </a:solidFill>
                  <a:latin typeface="+mn-ea"/>
                  <a:sym typeface="Symbol" panose="05050102010706020507" pitchFamily="18" charset="2"/>
                </a:rPr>
                <a:t>)</a:t>
              </a:r>
              <a:endParaRPr lang="zh-CN" altLang="en-US" b="1" dirty="0">
                <a:solidFill>
                  <a:srgbClr val="009900"/>
                </a:solidFill>
              </a:endParaRPr>
            </a:p>
          </p:txBody>
        </p:sp>
      </p:grp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6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6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6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6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6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6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6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6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15" grpId="0" build="p"/>
      <p:bldP spid="346117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>
            <a:extLst>
              <a:ext uri="{FF2B5EF4-FFF2-40B4-BE49-F238E27FC236}">
                <a16:creationId xmlns:a16="http://schemas.microsoft.com/office/drawing/2014/main" id="{1D9D902C-3C00-6C42-6331-53FD043081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六、事件的独立性</a:t>
            </a:r>
          </a:p>
        </p:txBody>
      </p:sp>
      <p:sp>
        <p:nvSpPr>
          <p:cNvPr id="347139" name="Rectangle 3">
            <a:extLst>
              <a:ext uri="{FF2B5EF4-FFF2-40B4-BE49-F238E27FC236}">
                <a16:creationId xmlns:a16="http://schemas.microsoft.com/office/drawing/2014/main" id="{21875484-04C1-49C2-A1D9-4709ACBAFD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1541" y="915194"/>
            <a:ext cx="11658600" cy="35814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dirty="0">
                <a:sym typeface="Symbol" panose="05050102010706020507" pitchFamily="18" charset="2"/>
              </a:rPr>
              <a:t>如果事件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,</a:t>
            </a:r>
            <a:r>
              <a:rPr lang="en-US" altLang="zh-CN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F</a:t>
            </a:r>
            <a:r>
              <a:rPr lang="zh-CN" altLang="en-US" dirty="0">
                <a:sym typeface="Symbol" panose="05050102010706020507" pitchFamily="18" charset="2"/>
              </a:rPr>
              <a:t>，满足</a:t>
            </a:r>
          </a:p>
          <a:p>
            <a:pPr marL="0" lvl="1" indent="0" algn="ctr">
              <a:lnSpc>
                <a:spcPct val="150000"/>
              </a:lnSpc>
              <a:buNone/>
              <a:defRPr/>
            </a:pP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P(AB)</a:t>
            </a:r>
            <a:r>
              <a:rPr lang="zh-CN" altLang="en-US" dirty="0">
                <a:solidFill>
                  <a:srgbClr val="CC00CC"/>
                </a:solidFill>
                <a:sym typeface="Symbol" panose="05050102010706020507" pitchFamily="18" charset="2"/>
              </a:rPr>
              <a:t>＝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P(A)P(B)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，</a:t>
            </a:r>
            <a:endParaRPr lang="zh-CN" altLang="en-US" dirty="0">
              <a:sym typeface="Symbol" panose="05050102010706020507" pitchFamily="18" charset="2"/>
            </a:endParaRPr>
          </a:p>
          <a:p>
            <a:pPr marL="0" lvl="1" indent="0">
              <a:lnSpc>
                <a:spcPct val="150000"/>
              </a:lnSpc>
              <a:buNone/>
              <a:defRPr/>
            </a:pPr>
            <a:r>
              <a:rPr lang="zh-CN" altLang="en-US" dirty="0">
                <a:sym typeface="Symbol" panose="05050102010706020507" pitchFamily="18" charset="2"/>
              </a:rPr>
              <a:t>则称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事件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A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与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B</a:t>
            </a:r>
            <a:r>
              <a:rPr lang="zh-CN" altLang="en-US" dirty="0">
                <a:solidFill>
                  <a:srgbClr val="CC00CC"/>
                </a:solidFill>
                <a:sym typeface="Symbol" panose="05050102010706020507" pitchFamily="18" charset="2"/>
              </a:rPr>
              <a:t>相互独立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  <a:defRPr/>
            </a:pP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推广</a:t>
            </a:r>
            <a:r>
              <a:rPr lang="zh-CN" altLang="en-US" dirty="0">
                <a:solidFill>
                  <a:srgbClr val="CC00CC"/>
                </a:solidFill>
                <a:sym typeface="Symbol" panose="05050102010706020507" pitchFamily="18" charset="2"/>
              </a:rPr>
              <a:t>：</a:t>
            </a:r>
            <a:r>
              <a:rPr lang="zh-CN" altLang="en-US" spc="-100" dirty="0">
                <a:sym typeface="Symbol" panose="05050102010706020507" pitchFamily="18" charset="2"/>
              </a:rPr>
              <a:t>如果事件</a:t>
            </a:r>
            <a:r>
              <a:rPr lang="en-US" altLang="zh-CN" spc="-100" dirty="0"/>
              <a:t>A</a:t>
            </a:r>
            <a:r>
              <a:rPr lang="en-US" altLang="zh-CN" spc="-100" baseline="-25000" dirty="0"/>
              <a:t>1</a:t>
            </a:r>
            <a:r>
              <a:rPr lang="en-US" altLang="zh-CN" spc="-100" dirty="0">
                <a:sym typeface="Symbol" panose="05050102010706020507" pitchFamily="18" charset="2"/>
              </a:rPr>
              <a:t>, </a:t>
            </a:r>
            <a:r>
              <a:rPr lang="en-US" altLang="zh-CN" spc="-100" dirty="0"/>
              <a:t>A</a:t>
            </a:r>
            <a:r>
              <a:rPr lang="en-US" altLang="zh-CN" spc="-100" baseline="-25000" dirty="0"/>
              <a:t>2</a:t>
            </a:r>
            <a:r>
              <a:rPr lang="en-US" altLang="zh-CN" spc="-100" dirty="0">
                <a:sym typeface="Symbol" panose="05050102010706020507" pitchFamily="18" charset="2"/>
              </a:rPr>
              <a:t>, …, </a:t>
            </a:r>
            <a:r>
              <a:rPr lang="en-US" altLang="zh-CN" spc="-100" dirty="0" err="1"/>
              <a:t>A</a:t>
            </a:r>
            <a:r>
              <a:rPr lang="en-US" altLang="zh-CN" spc="-100" baseline="-25000" dirty="0" err="1"/>
              <a:t>n</a:t>
            </a:r>
            <a:r>
              <a:rPr lang="en-US" altLang="zh-CN" spc="-100" dirty="0" err="1">
                <a:sym typeface="Symbol" panose="05050102010706020507" pitchFamily="18" charset="2"/>
              </a:rPr>
              <a:t>F</a:t>
            </a:r>
            <a:r>
              <a:rPr lang="zh-CN" altLang="en-US" spc="-100" dirty="0">
                <a:sym typeface="Symbol" panose="05050102010706020507" pitchFamily="18" charset="2"/>
              </a:rPr>
              <a:t>，且对任意</a:t>
            </a:r>
            <a:r>
              <a:rPr lang="en-US" altLang="zh-CN" spc="-100" dirty="0">
                <a:sym typeface="Symbol" panose="05050102010706020507" pitchFamily="18" charset="2"/>
              </a:rPr>
              <a:t>s (2</a:t>
            </a:r>
            <a:r>
              <a:rPr lang="en-US" altLang="zh-CN" spc="-100" dirty="0"/>
              <a:t>≤</a:t>
            </a:r>
            <a:r>
              <a:rPr lang="en-US" altLang="zh-CN" spc="-100" dirty="0">
                <a:sym typeface="Symbol" panose="05050102010706020507" pitchFamily="18" charset="2"/>
              </a:rPr>
              <a:t>s</a:t>
            </a:r>
            <a:r>
              <a:rPr lang="en-US" altLang="zh-CN" spc="-100" dirty="0"/>
              <a:t>≤</a:t>
            </a:r>
            <a:r>
              <a:rPr lang="en-US" altLang="zh-CN" spc="-100" dirty="0">
                <a:sym typeface="Symbol" panose="05050102010706020507" pitchFamily="18" charset="2"/>
              </a:rPr>
              <a:t>n)</a:t>
            </a:r>
            <a:r>
              <a:rPr lang="zh-CN" altLang="en-US" spc="-100" dirty="0">
                <a:sym typeface="Symbol" panose="05050102010706020507" pitchFamily="18" charset="2"/>
              </a:rPr>
              <a:t>和任意的</a:t>
            </a:r>
            <a:r>
              <a:rPr lang="en-US" altLang="zh-CN" spc="-100" dirty="0">
                <a:sym typeface="Symbol" panose="05050102010706020507" pitchFamily="18" charset="2"/>
              </a:rPr>
              <a:t>1</a:t>
            </a:r>
            <a:r>
              <a:rPr lang="en-US" altLang="zh-CN" spc="-100" dirty="0"/>
              <a:t>≤ </a:t>
            </a:r>
            <a:r>
              <a:rPr lang="en-US" altLang="zh-CN" spc="-100" dirty="0">
                <a:sym typeface="Symbol" panose="05050102010706020507" pitchFamily="18" charset="2"/>
              </a:rPr>
              <a:t>i</a:t>
            </a:r>
            <a:r>
              <a:rPr lang="en-US" altLang="zh-CN" spc="-100" baseline="-25000" dirty="0">
                <a:sym typeface="Symbol" panose="05050102010706020507" pitchFamily="18" charset="2"/>
              </a:rPr>
              <a:t>1</a:t>
            </a:r>
            <a:r>
              <a:rPr lang="en-US" altLang="zh-CN" spc="-100" dirty="0">
                <a:sym typeface="Symbol" panose="05050102010706020507" pitchFamily="18" charset="2"/>
              </a:rPr>
              <a:t>&lt; i</a:t>
            </a:r>
            <a:r>
              <a:rPr lang="en-US" altLang="zh-CN" spc="-100" baseline="-25000" dirty="0">
                <a:sym typeface="Symbol" panose="05050102010706020507" pitchFamily="18" charset="2"/>
              </a:rPr>
              <a:t>2</a:t>
            </a:r>
            <a:r>
              <a:rPr lang="en-US" altLang="zh-CN" spc="-100" dirty="0">
                <a:sym typeface="Symbol" panose="05050102010706020507" pitchFamily="18" charset="2"/>
              </a:rPr>
              <a:t>&lt;…&lt; i</a:t>
            </a:r>
            <a:r>
              <a:rPr lang="en-US" altLang="zh-CN" spc="-100" baseline="-25000" dirty="0">
                <a:sym typeface="Symbol" panose="05050102010706020507" pitchFamily="18" charset="2"/>
              </a:rPr>
              <a:t>s</a:t>
            </a:r>
            <a:r>
              <a:rPr lang="en-US" altLang="zh-CN" spc="-100" dirty="0">
                <a:sym typeface="Symbol" panose="05050102010706020507" pitchFamily="18" charset="2"/>
              </a:rPr>
              <a:t>&lt; n</a:t>
            </a:r>
            <a:r>
              <a:rPr lang="zh-CN" altLang="en-US" spc="-100" dirty="0">
                <a:sym typeface="Symbol" panose="05050102010706020507" pitchFamily="18" charset="2"/>
              </a:rPr>
              <a:t>，有</a:t>
            </a:r>
          </a:p>
          <a:p>
            <a:pPr marL="0" lvl="1" indent="0" algn="ctr">
              <a:lnSpc>
                <a:spcPct val="150000"/>
              </a:lnSpc>
              <a:buNone/>
              <a:defRPr/>
            </a:pP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P(A</a:t>
            </a:r>
            <a:r>
              <a:rPr lang="en-US" altLang="zh-CN" baseline="-25000" dirty="0">
                <a:solidFill>
                  <a:srgbClr val="CC00CC"/>
                </a:solidFill>
                <a:sym typeface="Symbol" panose="05050102010706020507" pitchFamily="18" charset="2"/>
              </a:rPr>
              <a:t>i</a:t>
            </a:r>
            <a:r>
              <a:rPr lang="en-US" altLang="zh-CN" baseline="-50000" dirty="0">
                <a:solidFill>
                  <a:srgbClr val="CC00CC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solidFill>
                  <a:srgbClr val="CC00CC"/>
                </a:solidFill>
                <a:sym typeface="Symbol" panose="05050102010706020507" pitchFamily="18" charset="2"/>
              </a:rPr>
              <a:t>i</a:t>
            </a:r>
            <a:r>
              <a:rPr lang="en-US" altLang="zh-CN" baseline="-50000" dirty="0">
                <a:solidFill>
                  <a:srgbClr val="CC00CC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…</a:t>
            </a:r>
            <a:r>
              <a:rPr lang="en-US" altLang="zh-CN" dirty="0" err="1">
                <a:solidFill>
                  <a:srgbClr val="CC00CC"/>
                </a:solidFill>
                <a:sym typeface="Symbol" panose="05050102010706020507" pitchFamily="18" charset="2"/>
              </a:rPr>
              <a:t>A</a:t>
            </a:r>
            <a:r>
              <a:rPr lang="en-US" altLang="zh-CN" baseline="-25000" dirty="0" err="1">
                <a:solidFill>
                  <a:srgbClr val="CC00CC"/>
                </a:solidFill>
                <a:sym typeface="Symbol" panose="05050102010706020507" pitchFamily="18" charset="2"/>
              </a:rPr>
              <a:t>i</a:t>
            </a:r>
            <a:r>
              <a:rPr lang="en-US" altLang="zh-CN" baseline="-50000" dirty="0" err="1">
                <a:solidFill>
                  <a:srgbClr val="CC00CC"/>
                </a:solidFill>
                <a:sym typeface="Symbol" panose="05050102010706020507" pitchFamily="18" charset="2"/>
              </a:rPr>
              <a:t>s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)</a:t>
            </a:r>
            <a:r>
              <a:rPr lang="zh-CN" altLang="en-US" dirty="0">
                <a:solidFill>
                  <a:srgbClr val="CC00CC"/>
                </a:solidFill>
                <a:sym typeface="Symbol" panose="05050102010706020507" pitchFamily="18" charset="2"/>
              </a:rPr>
              <a:t>＝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P(A</a:t>
            </a:r>
            <a:r>
              <a:rPr lang="en-US" altLang="zh-CN" baseline="-25000" dirty="0">
                <a:solidFill>
                  <a:srgbClr val="CC00CC"/>
                </a:solidFill>
                <a:sym typeface="Symbol" panose="05050102010706020507" pitchFamily="18" charset="2"/>
              </a:rPr>
              <a:t>i</a:t>
            </a:r>
            <a:r>
              <a:rPr lang="en-US" altLang="zh-CN" baseline="-50000" dirty="0">
                <a:solidFill>
                  <a:srgbClr val="CC00CC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)P(A</a:t>
            </a:r>
            <a:r>
              <a:rPr lang="en-US" altLang="zh-CN" baseline="-25000" dirty="0">
                <a:solidFill>
                  <a:srgbClr val="CC00CC"/>
                </a:solidFill>
                <a:sym typeface="Symbol" panose="05050102010706020507" pitchFamily="18" charset="2"/>
              </a:rPr>
              <a:t>i</a:t>
            </a:r>
            <a:r>
              <a:rPr lang="en-US" altLang="zh-CN" baseline="-50000" dirty="0">
                <a:solidFill>
                  <a:srgbClr val="CC00CC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)…P(</a:t>
            </a:r>
            <a:r>
              <a:rPr lang="en-US" altLang="zh-CN" dirty="0" err="1">
                <a:solidFill>
                  <a:srgbClr val="CC00CC"/>
                </a:solidFill>
                <a:sym typeface="Symbol" panose="05050102010706020507" pitchFamily="18" charset="2"/>
              </a:rPr>
              <a:t>A</a:t>
            </a:r>
            <a:r>
              <a:rPr lang="en-US" altLang="zh-CN" baseline="-25000" dirty="0" err="1">
                <a:solidFill>
                  <a:srgbClr val="CC00CC"/>
                </a:solidFill>
                <a:sym typeface="Symbol" panose="05050102010706020507" pitchFamily="18" charset="2"/>
              </a:rPr>
              <a:t>i</a:t>
            </a:r>
            <a:r>
              <a:rPr lang="en-US" altLang="zh-CN" baseline="-50000" dirty="0" err="1">
                <a:solidFill>
                  <a:srgbClr val="CC00CC"/>
                </a:solidFill>
                <a:sym typeface="Symbol" panose="05050102010706020507" pitchFamily="18" charset="2"/>
              </a:rPr>
              <a:t>s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)</a:t>
            </a:r>
            <a:r>
              <a:rPr lang="zh-CN" altLang="en-US" dirty="0">
                <a:solidFill>
                  <a:srgbClr val="CC00CC"/>
                </a:solidFill>
                <a:sym typeface="Symbol" panose="05050102010706020507" pitchFamily="18" charset="2"/>
              </a:rPr>
              <a:t>，</a:t>
            </a:r>
          </a:p>
          <a:p>
            <a:pPr marL="0" lvl="1" indent="0">
              <a:lnSpc>
                <a:spcPct val="150000"/>
              </a:lnSpc>
              <a:spcBef>
                <a:spcPts val="600"/>
              </a:spcBef>
              <a:buNone/>
              <a:defRPr/>
            </a:pPr>
            <a:r>
              <a:rPr lang="zh-CN" altLang="en-US" dirty="0">
                <a:sym typeface="Symbol" panose="05050102010706020507" pitchFamily="18" charset="2"/>
              </a:rPr>
              <a:t>则称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事件事件</a:t>
            </a:r>
            <a:r>
              <a:rPr lang="en-US" altLang="zh-CN" dirty="0">
                <a:solidFill>
                  <a:srgbClr val="0000FF"/>
                </a:solidFill>
              </a:rPr>
              <a:t>A</a:t>
            </a:r>
            <a:r>
              <a:rPr lang="en-US" altLang="zh-CN" baseline="-25000" dirty="0">
                <a:solidFill>
                  <a:srgbClr val="0000FF"/>
                </a:solidFill>
              </a:rPr>
              <a:t>1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</a:t>
            </a:r>
            <a:r>
              <a:rPr lang="en-US" altLang="zh-CN" dirty="0">
                <a:solidFill>
                  <a:srgbClr val="0000FF"/>
                </a:solidFill>
              </a:rPr>
              <a:t>A</a:t>
            </a:r>
            <a:r>
              <a:rPr lang="en-US" altLang="zh-CN" baseline="-25000" dirty="0">
                <a:solidFill>
                  <a:srgbClr val="0000FF"/>
                </a:solidFill>
              </a:rPr>
              <a:t>2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,…,</a:t>
            </a:r>
            <a:r>
              <a:rPr lang="en-US" altLang="zh-CN" dirty="0">
                <a:solidFill>
                  <a:srgbClr val="0000FF"/>
                </a:solidFill>
              </a:rPr>
              <a:t>A</a:t>
            </a:r>
            <a:r>
              <a:rPr lang="en-US" altLang="zh-CN" baseline="-25000" dirty="0">
                <a:solidFill>
                  <a:srgbClr val="0000FF"/>
                </a:solidFill>
              </a:rPr>
              <a:t>n</a:t>
            </a:r>
            <a:r>
              <a:rPr lang="zh-CN" altLang="en-US" dirty="0">
                <a:solidFill>
                  <a:srgbClr val="CC00CC"/>
                </a:solidFill>
                <a:sym typeface="Symbol" panose="05050102010706020507" pitchFamily="18" charset="2"/>
              </a:rPr>
              <a:t>相互独立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6AFC30-219D-48A6-9012-5374D2793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41" y="4570877"/>
            <a:ext cx="11658600" cy="2288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 </a:t>
            </a:r>
            <a:r>
              <a:rPr lang="zh-CN" altLang="en-US" spc="-150" dirty="0">
                <a:latin typeface="+mn-ea"/>
                <a:ea typeface="+mn-ea"/>
                <a:sym typeface="Symbol" panose="05050102010706020507" pitchFamily="18" charset="2"/>
              </a:rPr>
              <a:t>假定我们要扔两颗均匀的骰子，令</a:t>
            </a:r>
            <a:r>
              <a:rPr lang="en-US" altLang="zh-CN" spc="-150" dirty="0">
                <a:latin typeface="+mn-ea"/>
                <a:ea typeface="+mn-ea"/>
                <a:sym typeface="Symbol" panose="05050102010706020507" pitchFamily="18" charset="2"/>
              </a:rPr>
              <a:t>A</a:t>
            </a:r>
            <a:r>
              <a:rPr lang="zh-CN" altLang="en-US" spc="-150" dirty="0">
                <a:latin typeface="+mn-ea"/>
                <a:ea typeface="+mn-ea"/>
                <a:sym typeface="Symbol" panose="05050102010706020507" pitchFamily="18" charset="2"/>
              </a:rPr>
              <a:t>：两颗骰子的点数和为</a:t>
            </a:r>
            <a:r>
              <a:rPr lang="en-US" altLang="zh-CN" spc="-150" dirty="0">
                <a:latin typeface="+mn-ea"/>
                <a:ea typeface="+mn-ea"/>
                <a:sym typeface="Symbol" panose="05050102010706020507" pitchFamily="18" charset="2"/>
              </a:rPr>
              <a:t>6</a:t>
            </a:r>
            <a:r>
              <a:rPr lang="zh-CN" altLang="en-US" spc="-150" dirty="0"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spc="-150" dirty="0">
                <a:latin typeface="+mn-ea"/>
                <a:ea typeface="+mn-ea"/>
                <a:sym typeface="Symbol" panose="05050102010706020507" pitchFamily="18" charset="2"/>
              </a:rPr>
              <a:t>B</a:t>
            </a:r>
            <a:r>
              <a:rPr lang="zh-CN" altLang="en-US" spc="-150" dirty="0">
                <a:latin typeface="+mn-ea"/>
                <a:ea typeface="+mn-ea"/>
                <a:sym typeface="Symbol" panose="05050102010706020507" pitchFamily="18" charset="2"/>
              </a:rPr>
              <a:t>：第一颗骰子的点数是</a:t>
            </a:r>
            <a:r>
              <a:rPr lang="en-US" altLang="zh-CN" spc="-150" dirty="0">
                <a:latin typeface="+mn-ea"/>
                <a:ea typeface="+mn-ea"/>
                <a:sym typeface="Symbol" panose="05050102010706020507" pitchFamily="18" charset="2"/>
              </a:rPr>
              <a:t>4</a:t>
            </a:r>
            <a:r>
              <a:rPr lang="zh-CN" altLang="en-US" spc="-150" dirty="0">
                <a:latin typeface="+mn-ea"/>
                <a:ea typeface="+mn-ea"/>
                <a:sym typeface="Symbol" panose="05050102010706020507" pitchFamily="18" charset="2"/>
              </a:rPr>
              <a:t>，那么                                                 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P(AB)</a:t>
            </a:r>
            <a:r>
              <a:rPr lang="zh-CN" altLang="en-US" dirty="0">
                <a:solidFill>
                  <a:srgbClr val="CC00CC"/>
                </a:solidFill>
                <a:sym typeface="Symbol" panose="05050102010706020507" pitchFamily="18" charset="2"/>
              </a:rPr>
              <a:t>＝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P({4,2})=1/36</a:t>
            </a:r>
            <a:endParaRPr lang="en-US" altLang="zh-CN" spc="-150" dirty="0">
              <a:latin typeface="+mn-ea"/>
              <a:ea typeface="+mn-ea"/>
              <a:sym typeface="Symbol" panose="05050102010706020507" pitchFamily="18" charset="2"/>
            </a:endParaRPr>
          </a:p>
          <a:p>
            <a:pPr marL="0" algn="ctr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P(A)P(B)=5/36×1/6=5/216</a:t>
            </a:r>
          </a:p>
          <a:p>
            <a:pPr marL="0">
              <a:lnSpc>
                <a:spcPct val="150000"/>
              </a:lnSpc>
              <a:buNone/>
            </a:pPr>
            <a:r>
              <a:rPr lang="zh-CN" altLang="en-US" spc="-150" dirty="0">
                <a:latin typeface="+mn-ea"/>
                <a:ea typeface="+mn-ea"/>
                <a:sym typeface="Symbol" panose="05050102010706020507" pitchFamily="18" charset="2"/>
              </a:rPr>
              <a:t>显然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P(AB)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≠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P(A)P(B)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，即事件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A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和事件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B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不是独立的。</a:t>
            </a:r>
            <a:endParaRPr lang="zh-CN" altLang="en-US" spc="-150" dirty="0"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E2B0BE-A396-4CF0-896C-7E623AF0E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0917" y="5678873"/>
            <a:ext cx="3959224" cy="11807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>
              <a:lnSpc>
                <a:spcPct val="150000"/>
              </a:lnSpc>
              <a:buNone/>
            </a:pP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若令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A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：</a:t>
            </a:r>
            <a:r>
              <a:rPr lang="zh-CN" altLang="en-US" spc="-150" dirty="0">
                <a:latin typeface="+mn-ea"/>
                <a:ea typeface="+mn-ea"/>
                <a:sym typeface="Symbol" panose="05050102010706020507" pitchFamily="18" charset="2"/>
              </a:rPr>
              <a:t>两颗骰子的点数和为</a:t>
            </a:r>
            <a:r>
              <a:rPr lang="en-US" altLang="zh-CN" spc="-150" dirty="0">
                <a:latin typeface="+mn-ea"/>
                <a:ea typeface="+mn-ea"/>
                <a:sym typeface="Symbol" panose="05050102010706020507" pitchFamily="18" charset="2"/>
              </a:rPr>
              <a:t>7</a:t>
            </a:r>
            <a:r>
              <a:rPr lang="zh-CN" altLang="en-US" spc="-150" dirty="0">
                <a:latin typeface="+mn-ea"/>
                <a:ea typeface="+mn-ea"/>
                <a:sym typeface="Symbol" panose="05050102010706020507" pitchFamily="18" charset="2"/>
              </a:rPr>
              <a:t>，则事件</a:t>
            </a:r>
            <a:r>
              <a:rPr lang="en-US" altLang="zh-CN" spc="-150" dirty="0">
                <a:latin typeface="+mn-ea"/>
                <a:ea typeface="+mn-ea"/>
                <a:sym typeface="Symbol" panose="05050102010706020507" pitchFamily="18" charset="2"/>
              </a:rPr>
              <a:t>A</a:t>
            </a:r>
            <a:r>
              <a:rPr lang="zh-CN" altLang="en-US" spc="-150" dirty="0">
                <a:latin typeface="+mn-ea"/>
                <a:ea typeface="+mn-ea"/>
                <a:sym typeface="Symbol" panose="05050102010706020507" pitchFamily="18" charset="2"/>
              </a:rPr>
              <a:t>和事件</a:t>
            </a:r>
            <a:r>
              <a:rPr lang="en-US" altLang="zh-CN" spc="-150" dirty="0">
                <a:latin typeface="+mn-ea"/>
                <a:ea typeface="+mn-ea"/>
                <a:sym typeface="Symbol" panose="05050102010706020507" pitchFamily="18" charset="2"/>
              </a:rPr>
              <a:t>B</a:t>
            </a:r>
            <a:r>
              <a:rPr lang="zh-CN" altLang="en-US" spc="-150" dirty="0">
                <a:latin typeface="+mn-ea"/>
                <a:ea typeface="+mn-ea"/>
                <a:sym typeface="Symbol" panose="05050102010706020507" pitchFamily="18" charset="2"/>
              </a:rPr>
              <a:t>是独立的吗？</a:t>
            </a:r>
            <a:endParaRPr lang="zh-CN" altLang="en-US" dirty="0">
              <a:latin typeface="+mn-ea"/>
              <a:ea typeface="+mn-ea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7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7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7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7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7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7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7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7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7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7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47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7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39" grpId="0" uiExpand="1" build="p" autoUpdateAnimBg="0"/>
      <p:bldP spid="5" grpId="0" autoUpdateAnimBg="0"/>
      <p:bldP spid="6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>
            <a:extLst>
              <a:ext uri="{FF2B5EF4-FFF2-40B4-BE49-F238E27FC236}">
                <a16:creationId xmlns:a16="http://schemas.microsoft.com/office/drawing/2014/main" id="{F13DF383-10B2-CF05-4AF6-DE6DE6230F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六、随机事件独立性的性质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163" name="Rectangle 3">
                <a:extLst>
                  <a:ext uri="{FF2B5EF4-FFF2-40B4-BE49-F238E27FC236}">
                    <a16:creationId xmlns:a16="http://schemas.microsoft.com/office/drawing/2014/main" id="{A0E3B51E-9A8E-E7A1-8C8D-3A1B8BFE106B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7975" y="1168671"/>
                <a:ext cx="11277599" cy="4700088"/>
              </a:xfrm>
            </p:spPr>
            <p:txBody>
              <a:bodyPr>
                <a:normAutofit lnSpcReduction="10000"/>
              </a:bodyPr>
              <a:lstStyle/>
              <a:p>
                <a:pPr eaLnBrk="1" hangingPunct="1"/>
                <a:r>
                  <a:rPr lang="en-US" altLang="zh-CN" dirty="0"/>
                  <a:t>A</a:t>
                </a:r>
                <a:r>
                  <a:rPr lang="zh-CN" altLang="en-US" dirty="0"/>
                  <a:t>与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相互独立</a:t>
                </a:r>
                <a:r>
                  <a:rPr lang="zh-CN" altLang="en-US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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与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相互独立</a:t>
                </a:r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r>
                  <a:rPr lang="zh-CN" altLang="en-US" dirty="0">
                    <a:sym typeface="Symbol" panose="05050102010706020507" pitchFamily="18" charset="2"/>
                  </a:rPr>
                  <a:t>			</a:t>
                </a:r>
                <a:r>
                  <a:rPr lang="zh-CN" altLang="en-US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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与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相互独立</a:t>
                </a:r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r>
                  <a:rPr lang="zh-CN" altLang="en-US" dirty="0">
                    <a:sym typeface="Symbol" panose="05050102010706020507" pitchFamily="18" charset="2"/>
                  </a:rPr>
                  <a:t>			</a:t>
                </a:r>
                <a:r>
                  <a:rPr lang="zh-CN" altLang="en-US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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与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相互独立</a:t>
                </a:r>
                <a:endParaRPr lang="zh-CN" altLang="en-US" dirty="0">
                  <a:sym typeface="Symbol" panose="05050102010706020507" pitchFamily="18" charset="2"/>
                </a:endParaRPr>
              </a:p>
              <a:p>
                <a:pPr eaLnBrk="1" hangingPunct="1"/>
                <a:r>
                  <a:rPr lang="en-US" altLang="zh-CN" dirty="0"/>
                  <a:t>A</a:t>
                </a:r>
                <a:r>
                  <a:rPr lang="zh-CN" altLang="en-US" dirty="0"/>
                  <a:t>与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相互独立</a:t>
                </a:r>
                <a:r>
                  <a:rPr lang="zh-CN" altLang="en-US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</a:t>
                </a:r>
                <a:r>
                  <a:rPr lang="en-US" altLang="zh-CN" dirty="0">
                    <a:sym typeface="Symbol" panose="05050102010706020507" pitchFamily="18" charset="2"/>
                  </a:rPr>
                  <a:t>P(B|A)</a:t>
                </a:r>
                <a:r>
                  <a:rPr lang="zh-CN" altLang="en-US" dirty="0">
                    <a:sym typeface="Symbol" panose="05050102010706020507" pitchFamily="18" charset="2"/>
                  </a:rPr>
                  <a:t>＝</a:t>
                </a:r>
                <a:r>
                  <a:rPr lang="en-US" altLang="zh-CN" dirty="0">
                    <a:sym typeface="Symbol" panose="05050102010706020507" pitchFamily="18" charset="2"/>
                  </a:rPr>
                  <a:t>P(B)         (P(A)&gt;0)</a:t>
                </a:r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r>
                  <a:rPr lang="en-US" altLang="zh-CN" dirty="0">
                    <a:sym typeface="Symbol" panose="05050102010706020507" pitchFamily="18" charset="2"/>
                  </a:rPr>
                  <a:t>			</a:t>
                </a:r>
                <a:r>
                  <a:rPr lang="en-US" altLang="zh-CN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</a:t>
                </a:r>
                <a:r>
                  <a:rPr lang="en-US" altLang="zh-CN" dirty="0">
                    <a:sym typeface="Symbol" panose="05050102010706020507" pitchFamily="18" charset="2"/>
                  </a:rPr>
                  <a:t>P(A|B)</a:t>
                </a:r>
                <a:r>
                  <a:rPr lang="zh-CN" altLang="en-US" dirty="0">
                    <a:sym typeface="Symbol" panose="05050102010706020507" pitchFamily="18" charset="2"/>
                  </a:rPr>
                  <a:t>＝</a:t>
                </a:r>
                <a:r>
                  <a:rPr lang="en-US" altLang="zh-CN" dirty="0">
                    <a:sym typeface="Symbol" panose="05050102010706020507" pitchFamily="18" charset="2"/>
                  </a:rPr>
                  <a:t>P(A)         (P(B)&gt;0)</a:t>
                </a:r>
              </a:p>
              <a:p>
                <a:pPr lvl="1">
                  <a:buNone/>
                </a:pPr>
                <a:r>
                  <a:rPr lang="en-US" altLang="zh-CN" dirty="0">
                    <a:solidFill>
                      <a:srgbClr val="FF0000"/>
                    </a:solidFill>
                    <a:ea typeface="黑体" panose="02010609060101010101" pitchFamily="49" charset="-122"/>
                    <a:sym typeface="Symbol" panose="05050102010706020507" pitchFamily="18" charset="2"/>
                  </a:rPr>
                  <a:t>                      </a:t>
                </a:r>
                <a:r>
                  <a:rPr lang="en-US" altLang="zh-CN" dirty="0">
                    <a:ea typeface="黑体" panose="02010609060101010101" pitchFamily="49" charset="-122"/>
                    <a:sym typeface="Symbol" panose="05050102010706020507" pitchFamily="18" charset="2"/>
                  </a:rPr>
                  <a:t>P(B|A)</a:t>
                </a:r>
                <a:r>
                  <a:rPr lang="zh-CN" altLang="en-US" dirty="0">
                    <a:ea typeface="黑体" panose="02010609060101010101" pitchFamily="49" charset="-122"/>
                    <a:sym typeface="Symbol" panose="05050102010706020507" pitchFamily="18" charset="2"/>
                  </a:rPr>
                  <a:t>＝</a:t>
                </a:r>
                <a:r>
                  <a:rPr lang="en-US" altLang="zh-CN" dirty="0">
                    <a:ea typeface="黑体" panose="02010609060101010101" pitchFamily="49" charset="-122"/>
                    <a:sym typeface="Symbol" panose="05050102010706020507" pitchFamily="18" charset="2"/>
                  </a:rPr>
                  <a:t>P(B|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Symbol" panose="05050102010706020507" pitchFamily="18" charset="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dirty="0">
                    <a:ea typeface="黑体" panose="02010609060101010101" pitchFamily="49" charset="-122"/>
                    <a:sym typeface="Symbol" panose="05050102010706020507" pitchFamily="18" charset="2"/>
                  </a:rPr>
                  <a:t>)      (0&lt;P(A)&lt;1)</a:t>
                </a:r>
                <a:r>
                  <a:rPr lang="en-US" altLang="zh-CN" dirty="0">
                    <a:sym typeface="Symbol" panose="05050102010706020507" pitchFamily="18" charset="2"/>
                  </a:rPr>
                  <a:t>			</a:t>
                </a:r>
              </a:p>
              <a:p>
                <a:pPr eaLnBrk="1" hangingPunct="1"/>
                <a:r>
                  <a:rPr lang="zh-CN" altLang="en-US" dirty="0"/>
                  <a:t>设</a:t>
                </a:r>
                <a:r>
                  <a:rPr lang="en-US" altLang="zh-CN" dirty="0"/>
                  <a:t>A</a:t>
                </a:r>
                <a:r>
                  <a:rPr lang="en-US" altLang="zh-CN" baseline="-25000" dirty="0"/>
                  <a:t>1</a:t>
                </a:r>
                <a:r>
                  <a:rPr lang="en-US" altLang="zh-CN" dirty="0">
                    <a:sym typeface="Symbol" panose="05050102010706020507" pitchFamily="18" charset="2"/>
                  </a:rPr>
                  <a:t>,</a:t>
                </a:r>
                <a:r>
                  <a:rPr lang="en-US" altLang="zh-CN" dirty="0"/>
                  <a:t>A</a:t>
                </a:r>
                <a:r>
                  <a:rPr lang="en-US" altLang="zh-CN" baseline="-25000" dirty="0"/>
                  <a:t>2</a:t>
                </a:r>
                <a:r>
                  <a:rPr lang="en-US" altLang="zh-CN" dirty="0">
                    <a:sym typeface="Symbol" panose="05050102010706020507" pitchFamily="18" charset="2"/>
                  </a:rPr>
                  <a:t>,…,</a:t>
                </a:r>
                <a:r>
                  <a:rPr lang="en-US" altLang="zh-CN" dirty="0"/>
                  <a:t>A</a:t>
                </a:r>
                <a:r>
                  <a:rPr lang="en-US" altLang="zh-CN" baseline="-25000" dirty="0"/>
                  <a:t>n</a:t>
                </a:r>
                <a:r>
                  <a:rPr lang="zh-CN" altLang="en-US" dirty="0">
                    <a:sym typeface="Symbol" panose="05050102010706020507" pitchFamily="18" charset="2"/>
                  </a:rPr>
                  <a:t>相互独立，若将其中任意</a:t>
                </a:r>
                <a:r>
                  <a:rPr lang="en-US" altLang="zh-CN" dirty="0">
                    <a:sym typeface="Symbol" panose="05050102010706020507" pitchFamily="18" charset="2"/>
                  </a:rPr>
                  <a:t>m</a:t>
                </a:r>
                <a:r>
                  <a:rPr lang="zh-CN" altLang="en-US" dirty="0">
                    <a:sym typeface="Symbol" panose="05050102010706020507" pitchFamily="18" charset="2"/>
                  </a:rPr>
                  <a:t>个</a:t>
                </a:r>
                <a:r>
                  <a:rPr lang="en-US" altLang="zh-CN" dirty="0">
                    <a:sym typeface="Symbol" panose="05050102010706020507" pitchFamily="18" charset="2"/>
                  </a:rPr>
                  <a:t>(1</a:t>
                </a:r>
                <a:r>
                  <a:rPr lang="en-US" altLang="zh-CN" dirty="0"/>
                  <a:t>≤</a:t>
                </a:r>
                <a:r>
                  <a:rPr lang="en-US" altLang="zh-CN" dirty="0">
                    <a:sym typeface="Symbol" panose="05050102010706020507" pitchFamily="18" charset="2"/>
                  </a:rPr>
                  <a:t>m</a:t>
                </a:r>
                <a:r>
                  <a:rPr lang="en-US" altLang="zh-CN" dirty="0"/>
                  <a:t>≤</a:t>
                </a:r>
                <a:r>
                  <a:rPr lang="en-US" altLang="zh-CN" dirty="0">
                    <a:sym typeface="Symbol" panose="05050102010706020507" pitchFamily="18" charset="2"/>
                  </a:rPr>
                  <a:t>n)</a:t>
                </a:r>
                <a:r>
                  <a:rPr lang="zh-CN" altLang="en-US" dirty="0">
                    <a:sym typeface="Symbol" panose="05050102010706020507" pitchFamily="18" charset="2"/>
                  </a:rPr>
                  <a:t>事件换成它们的逆事件，则所得的</a:t>
                </a:r>
                <a:r>
                  <a:rPr lang="en-US" altLang="zh-CN" dirty="0">
                    <a:sym typeface="Symbol" panose="05050102010706020507" pitchFamily="18" charset="2"/>
                  </a:rPr>
                  <a:t>n</a:t>
                </a:r>
                <a:r>
                  <a:rPr lang="zh-CN" altLang="en-US" dirty="0">
                    <a:sym typeface="Symbol" panose="05050102010706020507" pitchFamily="18" charset="2"/>
                  </a:rPr>
                  <a:t>个事件仍然相互独立。</a:t>
                </a:r>
              </a:p>
              <a:p>
                <a:pPr eaLnBrk="1" hangingPunct="1"/>
                <a:r>
                  <a:rPr lang="zh-CN" altLang="en-US" dirty="0"/>
                  <a:t>设</a:t>
                </a:r>
                <a:r>
                  <a:rPr lang="en-US" altLang="zh-CN" dirty="0"/>
                  <a:t>A</a:t>
                </a:r>
                <a:r>
                  <a:rPr lang="en-US" altLang="zh-CN" baseline="-25000" dirty="0"/>
                  <a:t>1</a:t>
                </a:r>
                <a:r>
                  <a:rPr lang="en-US" altLang="zh-CN" dirty="0">
                    <a:sym typeface="Symbol" panose="05050102010706020507" pitchFamily="18" charset="2"/>
                  </a:rPr>
                  <a:t>,</a:t>
                </a:r>
                <a:r>
                  <a:rPr lang="en-US" altLang="zh-CN" dirty="0"/>
                  <a:t>A</a:t>
                </a:r>
                <a:r>
                  <a:rPr lang="en-US" altLang="zh-CN" baseline="-25000" dirty="0"/>
                  <a:t>2</a:t>
                </a:r>
                <a:r>
                  <a:rPr lang="en-US" altLang="zh-CN" dirty="0">
                    <a:sym typeface="Symbol" panose="05050102010706020507" pitchFamily="18" charset="2"/>
                  </a:rPr>
                  <a:t>,…,</a:t>
                </a:r>
                <a:r>
                  <a:rPr lang="en-US" altLang="zh-CN" dirty="0"/>
                  <a:t>A</a:t>
                </a:r>
                <a:r>
                  <a:rPr lang="en-US" altLang="zh-CN" baseline="-25000" dirty="0"/>
                  <a:t>n</a:t>
                </a:r>
                <a:r>
                  <a:rPr lang="zh-CN" altLang="en-US" dirty="0">
                    <a:sym typeface="Symbol" panose="05050102010706020507" pitchFamily="18" charset="2"/>
                  </a:rPr>
                  <a:t>相互独立，则</a:t>
                </a:r>
              </a:p>
            </p:txBody>
          </p:sp>
        </mc:Choice>
        <mc:Fallback xmlns="">
          <p:sp>
            <p:nvSpPr>
              <p:cNvPr id="348163" name="Rectangle 3">
                <a:extLst>
                  <a:ext uri="{FF2B5EF4-FFF2-40B4-BE49-F238E27FC236}">
                    <a16:creationId xmlns:a16="http://schemas.microsoft.com/office/drawing/2014/main" id="{A0E3B51E-9A8E-E7A1-8C8D-3A1B8BFE10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7975" y="1168671"/>
                <a:ext cx="11277599" cy="4700088"/>
              </a:xfrm>
              <a:blipFill>
                <a:blip r:embed="rId3"/>
                <a:stretch>
                  <a:fillRect l="-162" r="-973" b="-2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164" name="Line 4">
            <a:extLst>
              <a:ext uri="{FF2B5EF4-FFF2-40B4-BE49-F238E27FC236}">
                <a16:creationId xmlns:a16="http://schemas.microsoft.com/office/drawing/2014/main" id="{AECEB9B7-1678-3B90-D24E-EDC7065644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7902" y="1324795"/>
            <a:ext cx="17942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8165" name="Line 5">
            <a:extLst>
              <a:ext uri="{FF2B5EF4-FFF2-40B4-BE49-F238E27FC236}">
                <a16:creationId xmlns:a16="http://schemas.microsoft.com/office/drawing/2014/main" id="{75C1D9E0-54CF-3E40-DCC7-60213E0A6262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7402" y="1829594"/>
            <a:ext cx="17943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8166" name="Line 6">
            <a:extLst>
              <a:ext uri="{FF2B5EF4-FFF2-40B4-BE49-F238E27FC236}">
                <a16:creationId xmlns:a16="http://schemas.microsoft.com/office/drawing/2014/main" id="{D303003F-9874-97C6-B5DC-7E99749CF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7403" y="2362994"/>
            <a:ext cx="17942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8167" name="Line 7">
            <a:extLst>
              <a:ext uri="{FF2B5EF4-FFF2-40B4-BE49-F238E27FC236}">
                <a16:creationId xmlns:a16="http://schemas.microsoft.com/office/drawing/2014/main" id="{6A609845-A743-B500-39E5-9EB7B3756A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7902" y="2362994"/>
            <a:ext cx="17942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169" name="Object 2">
                <a:extLst>
                  <a:ext uri="{FF2B5EF4-FFF2-40B4-BE49-F238E27FC236}">
                    <a16:creationId xmlns:a16="http://schemas.microsoft.com/office/drawing/2014/main" id="{D3FA0B21-4ADE-9388-E0DB-FF5694F4B62C}"/>
                  </a:ext>
                </a:extLst>
              </p:cNvPr>
              <p:cNvSpPr txBox="1"/>
              <p:nvPr/>
            </p:nvSpPr>
            <p:spPr bwMode="auto">
              <a:xfrm>
                <a:off x="4041775" y="5804309"/>
                <a:ext cx="4877929" cy="8923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∪⋯∪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)=1−</m:t>
                      </m:r>
                      <m:nary>
                        <m:naryPr>
                          <m:chr m:val="∏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8169" name="Object 2">
                <a:extLst>
                  <a:ext uri="{FF2B5EF4-FFF2-40B4-BE49-F238E27FC236}">
                    <a16:creationId xmlns:a16="http://schemas.microsoft.com/office/drawing/2014/main" id="{D3FA0B21-4ADE-9388-E0DB-FF5694F4B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41775" y="5804309"/>
                <a:ext cx="4877929" cy="8923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63D82D14-0EA3-13B6-097D-01AA6F1E24CF}"/>
              </a:ext>
            </a:extLst>
          </p:cNvPr>
          <p:cNvGrpSpPr/>
          <p:nvPr/>
        </p:nvGrpSpPr>
        <p:grpSpPr>
          <a:xfrm>
            <a:off x="7634081" y="1055122"/>
            <a:ext cx="4282563" cy="2615744"/>
            <a:chOff x="7531612" y="1030715"/>
            <a:chExt cx="4282563" cy="2615744"/>
          </a:xfrm>
        </p:grpSpPr>
        <p:sp>
          <p:nvSpPr>
            <p:cNvPr id="15" name="Rectangle 3">
              <a:extLst>
                <a:ext uri="{FF2B5EF4-FFF2-40B4-BE49-F238E27FC236}">
                  <a16:creationId xmlns:a16="http://schemas.microsoft.com/office/drawing/2014/main" id="{AA6F6713-0F66-4249-97C7-513951BE50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1612" y="1030715"/>
              <a:ext cx="4282563" cy="261574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533507" indent="-533507">
                <a:lnSpc>
                  <a:spcPct val="120000"/>
                </a:lnSpc>
                <a:buClr>
                  <a:srgbClr val="00FF00"/>
                </a:buClr>
                <a:defRPr/>
              </a:pPr>
              <a:r>
                <a:rPr lang="en-US" altLang="zh-CN" kern="0" dirty="0">
                  <a:ea typeface="黑体" pitchFamily="2" charset="-122"/>
                </a:rPr>
                <a:t>P(AB)</a:t>
              </a:r>
              <a:r>
                <a:rPr lang="zh-CN" altLang="en-US" kern="0" dirty="0">
                  <a:ea typeface="黑体" pitchFamily="2" charset="-122"/>
                </a:rPr>
                <a:t>＝</a:t>
              </a:r>
              <a:r>
                <a:rPr lang="en-US" altLang="zh-CN" kern="0" dirty="0">
                  <a:ea typeface="黑体" pitchFamily="2" charset="-122"/>
                </a:rPr>
                <a:t>P(A(</a:t>
              </a:r>
              <a:r>
                <a:rPr lang="el-GR" altLang="zh-CN" kern="0" dirty="0">
                  <a:ea typeface="黑体" pitchFamily="2" charset="-122"/>
                </a:rPr>
                <a:t>Ω</a:t>
              </a:r>
              <a:r>
                <a:rPr lang="zh-CN" altLang="en-US" kern="0" dirty="0">
                  <a:ea typeface="黑体" pitchFamily="2" charset="-122"/>
                </a:rPr>
                <a:t>－</a:t>
              </a:r>
              <a:r>
                <a:rPr lang="en-US" altLang="zh-CN" kern="0" dirty="0">
                  <a:ea typeface="黑体" pitchFamily="2" charset="-122"/>
                </a:rPr>
                <a:t>B))</a:t>
              </a:r>
            </a:p>
            <a:p>
              <a:pPr marL="533507" indent="-533507">
                <a:lnSpc>
                  <a:spcPct val="120000"/>
                </a:lnSpc>
                <a:buClr>
                  <a:srgbClr val="00FF00"/>
                </a:buClr>
                <a:defRPr/>
              </a:pPr>
              <a:r>
                <a:rPr lang="en-US" altLang="zh-CN" kern="0" dirty="0">
                  <a:ea typeface="黑体" pitchFamily="2" charset="-122"/>
                </a:rPr>
                <a:t>           </a:t>
              </a:r>
              <a:r>
                <a:rPr lang="zh-CN" altLang="en-US" kern="0" dirty="0">
                  <a:ea typeface="黑体" pitchFamily="2" charset="-122"/>
                </a:rPr>
                <a:t>＝</a:t>
              </a:r>
              <a:r>
                <a:rPr lang="en-US" altLang="zh-CN" kern="0" dirty="0">
                  <a:ea typeface="黑体" pitchFamily="2" charset="-122"/>
                </a:rPr>
                <a:t>P(A</a:t>
              </a:r>
              <a:r>
                <a:rPr lang="zh-CN" altLang="en-US" kern="0" dirty="0">
                  <a:ea typeface="黑体" pitchFamily="2" charset="-122"/>
                </a:rPr>
                <a:t>－</a:t>
              </a:r>
              <a:r>
                <a:rPr lang="en-US" altLang="zh-CN" kern="0" dirty="0">
                  <a:ea typeface="黑体" pitchFamily="2" charset="-122"/>
                </a:rPr>
                <a:t>AB)</a:t>
              </a:r>
            </a:p>
            <a:p>
              <a:pPr marL="533507" indent="-533507">
                <a:lnSpc>
                  <a:spcPct val="120000"/>
                </a:lnSpc>
                <a:buClr>
                  <a:srgbClr val="00FF00"/>
                </a:buClr>
                <a:defRPr/>
              </a:pPr>
              <a:r>
                <a:rPr lang="en-US" altLang="zh-CN" kern="0" dirty="0">
                  <a:ea typeface="黑体" pitchFamily="2" charset="-122"/>
                </a:rPr>
                <a:t> 		</a:t>
              </a:r>
              <a:r>
                <a:rPr lang="zh-CN" altLang="en-US" kern="0" dirty="0">
                  <a:ea typeface="黑体" pitchFamily="2" charset="-122"/>
                </a:rPr>
                <a:t>＝</a:t>
              </a:r>
              <a:r>
                <a:rPr lang="en-US" altLang="zh-CN" kern="0" dirty="0">
                  <a:ea typeface="黑体" pitchFamily="2" charset="-122"/>
                </a:rPr>
                <a:t>P(A)</a:t>
              </a:r>
              <a:r>
                <a:rPr lang="zh-CN" altLang="en-US" kern="0" dirty="0">
                  <a:ea typeface="黑体" pitchFamily="2" charset="-122"/>
                </a:rPr>
                <a:t>－</a:t>
              </a:r>
              <a:r>
                <a:rPr lang="en-US" altLang="zh-CN" kern="0" dirty="0">
                  <a:ea typeface="黑体" pitchFamily="2" charset="-122"/>
                </a:rPr>
                <a:t>P(AB)</a:t>
              </a:r>
              <a:r>
                <a:rPr lang="zh-CN" altLang="en-US" kern="0" dirty="0">
                  <a:ea typeface="黑体" pitchFamily="2" charset="-122"/>
                </a:rPr>
                <a:t> </a:t>
              </a:r>
              <a:endParaRPr lang="en-US" altLang="zh-CN" kern="0" dirty="0">
                <a:ea typeface="黑体" pitchFamily="2" charset="-122"/>
              </a:endParaRPr>
            </a:p>
            <a:p>
              <a:pPr marL="533507" indent="-533507">
                <a:lnSpc>
                  <a:spcPct val="120000"/>
                </a:lnSpc>
                <a:buClr>
                  <a:srgbClr val="00FF00"/>
                </a:buClr>
                <a:defRPr/>
              </a:pPr>
              <a:r>
                <a:rPr lang="en-US" altLang="zh-CN" kern="0" dirty="0">
                  <a:ea typeface="黑体" pitchFamily="2" charset="-122"/>
                </a:rPr>
                <a:t>		</a:t>
              </a:r>
              <a:r>
                <a:rPr lang="zh-CN" altLang="en-US" kern="0" dirty="0">
                  <a:ea typeface="黑体" pitchFamily="2" charset="-122"/>
                </a:rPr>
                <a:t>＝</a:t>
              </a:r>
              <a:r>
                <a:rPr lang="en-US" altLang="zh-CN" kern="0" dirty="0">
                  <a:ea typeface="黑体" pitchFamily="2" charset="-122"/>
                </a:rPr>
                <a:t>P(A)</a:t>
              </a:r>
              <a:r>
                <a:rPr lang="zh-CN" altLang="en-US" kern="0" dirty="0">
                  <a:ea typeface="黑体" pitchFamily="2" charset="-122"/>
                </a:rPr>
                <a:t>－</a:t>
              </a:r>
              <a:r>
                <a:rPr lang="en-US" altLang="zh-CN" kern="0" dirty="0">
                  <a:ea typeface="黑体" pitchFamily="2" charset="-122"/>
                </a:rPr>
                <a:t>P(A)P(B)</a:t>
              </a:r>
            </a:p>
            <a:p>
              <a:pPr marL="533507" indent="-533507">
                <a:lnSpc>
                  <a:spcPct val="120000"/>
                </a:lnSpc>
                <a:buClr>
                  <a:srgbClr val="00FF00"/>
                </a:buClr>
                <a:defRPr/>
              </a:pPr>
              <a:r>
                <a:rPr lang="zh-CN" altLang="en-US" kern="0" dirty="0">
                  <a:ea typeface="黑体" pitchFamily="2" charset="-122"/>
                </a:rPr>
                <a:t> </a:t>
              </a:r>
              <a:r>
                <a:rPr lang="en-US" altLang="zh-CN" kern="0" dirty="0">
                  <a:ea typeface="黑体" pitchFamily="2" charset="-122"/>
                </a:rPr>
                <a:t>		</a:t>
              </a:r>
              <a:r>
                <a:rPr lang="zh-CN" altLang="en-US" kern="0" dirty="0">
                  <a:ea typeface="黑体" pitchFamily="2" charset="-122"/>
                </a:rPr>
                <a:t>＝</a:t>
              </a:r>
              <a:r>
                <a:rPr lang="en-US" altLang="zh-CN" kern="0" dirty="0">
                  <a:ea typeface="黑体" pitchFamily="2" charset="-122"/>
                </a:rPr>
                <a:t>P(A)(1</a:t>
              </a:r>
              <a:r>
                <a:rPr lang="zh-CN" altLang="en-US" kern="0" dirty="0">
                  <a:ea typeface="黑体" pitchFamily="2" charset="-122"/>
                </a:rPr>
                <a:t>－</a:t>
              </a:r>
              <a:r>
                <a:rPr lang="en-US" altLang="zh-CN" kern="0" dirty="0">
                  <a:ea typeface="黑体" pitchFamily="2" charset="-122"/>
                </a:rPr>
                <a:t>P(B))</a:t>
              </a:r>
            </a:p>
            <a:p>
              <a:pPr marL="533507" indent="-533507">
                <a:lnSpc>
                  <a:spcPct val="120000"/>
                </a:lnSpc>
                <a:buClr>
                  <a:srgbClr val="00FF00"/>
                </a:buClr>
                <a:defRPr/>
              </a:pPr>
              <a:r>
                <a:rPr lang="en-US" altLang="zh-CN" kern="0" dirty="0">
                  <a:ea typeface="黑体" pitchFamily="2" charset="-122"/>
                </a:rPr>
                <a:t>		</a:t>
              </a:r>
              <a:r>
                <a:rPr lang="zh-CN" altLang="en-US" kern="0" dirty="0">
                  <a:ea typeface="黑体" pitchFamily="2" charset="-122"/>
                </a:rPr>
                <a:t>＝</a:t>
              </a:r>
              <a:r>
                <a:rPr lang="en-US" altLang="zh-CN" kern="0" dirty="0">
                  <a:ea typeface="黑体" pitchFamily="2" charset="-122"/>
                </a:rPr>
                <a:t>P(A)P(B)</a:t>
              </a:r>
              <a:endParaRPr lang="zh-CN" altLang="en-US" kern="0" dirty="0">
                <a:ea typeface="黑体" pitchFamily="2" charset="-122"/>
              </a:endParaRPr>
            </a:p>
          </p:txBody>
        </p:sp>
        <p:sp>
          <p:nvSpPr>
            <p:cNvPr id="37903" name="Line 4">
              <a:extLst>
                <a:ext uri="{FF2B5EF4-FFF2-40B4-BE49-F238E27FC236}">
                  <a16:creationId xmlns:a16="http://schemas.microsoft.com/office/drawing/2014/main" id="{F7C4B27B-149D-AADB-854D-A525427B0E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8419" y="1102730"/>
              <a:ext cx="127349" cy="31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7904" name="Line 4">
              <a:extLst>
                <a:ext uri="{FF2B5EF4-FFF2-40B4-BE49-F238E27FC236}">
                  <a16:creationId xmlns:a16="http://schemas.microsoft.com/office/drawing/2014/main" id="{61B74D0F-FF20-3EED-D61C-B2251D243A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74703" y="3288870"/>
              <a:ext cx="17937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48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48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8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8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8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8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48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48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48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48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348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63" grpId="0" uiExpand="1" build="p" autoUpdateAnimBg="0"/>
      <p:bldP spid="34816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>
            <a:extLst>
              <a:ext uri="{FF2B5EF4-FFF2-40B4-BE49-F238E27FC236}">
                <a16:creationId xmlns:a16="http://schemas.microsoft.com/office/drawing/2014/main" id="{10055ED7-8776-9D3A-145A-85C0E5F282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七、全概率公式与贝叶斯公式</a:t>
            </a:r>
          </a:p>
        </p:txBody>
      </p:sp>
      <p:sp>
        <p:nvSpPr>
          <p:cNvPr id="349187" name="Rectangle 3">
            <a:extLst>
              <a:ext uri="{FF2B5EF4-FFF2-40B4-BE49-F238E27FC236}">
                <a16:creationId xmlns:a16="http://schemas.microsoft.com/office/drawing/2014/main" id="{ACCD38FF-81BD-5D6F-2B13-A059674D0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0375" y="1068636"/>
            <a:ext cx="11506199" cy="193878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设事件组</a:t>
            </a:r>
            <a:r>
              <a:rPr lang="en-US" altLang="zh-CN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/>
              <a:t>, B</a:t>
            </a:r>
            <a:r>
              <a:rPr lang="en-US" altLang="zh-CN" baseline="-25000" dirty="0"/>
              <a:t>2</a:t>
            </a:r>
            <a:r>
              <a:rPr lang="en-US" altLang="zh-CN" dirty="0"/>
              <a:t>, …, B</a:t>
            </a:r>
            <a:r>
              <a:rPr lang="en-US" altLang="zh-CN" baseline="-25000" dirty="0"/>
              <a:t>n</a:t>
            </a:r>
            <a:r>
              <a:rPr lang="zh-CN" altLang="en-US" dirty="0"/>
              <a:t>两两互不相容，即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i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j</a:t>
            </a:r>
            <a:r>
              <a:rPr lang="zh-CN" altLang="en-US" dirty="0"/>
              <a:t>＝</a:t>
            </a:r>
            <a:r>
              <a:rPr lang="en-US" altLang="zh-CN" dirty="0"/>
              <a:t>Φ (1≤i≠j≤n)</a:t>
            </a:r>
            <a:r>
              <a:rPr lang="zh-CN" altLang="en-US" dirty="0"/>
              <a:t>，且	＝</a:t>
            </a:r>
            <a:r>
              <a:rPr lang="en-US" altLang="zh-CN" dirty="0"/>
              <a:t>Ω</a:t>
            </a:r>
            <a:r>
              <a:rPr lang="zh-CN" altLang="en-US" dirty="0"/>
              <a:t>，</a:t>
            </a:r>
            <a:r>
              <a:rPr lang="en-US" altLang="zh-CN" dirty="0"/>
              <a:t>P(B</a:t>
            </a:r>
            <a:r>
              <a:rPr lang="en-US" altLang="zh-CN" baseline="-25000" dirty="0"/>
              <a:t>i</a:t>
            </a:r>
            <a:r>
              <a:rPr lang="en-US" altLang="zh-CN" dirty="0"/>
              <a:t>)&gt;0</a:t>
            </a:r>
            <a:r>
              <a:rPr lang="zh-CN" altLang="en-US" dirty="0"/>
              <a:t>，</a:t>
            </a:r>
            <a:r>
              <a:rPr lang="en-US" altLang="zh-CN" dirty="0" err="1"/>
              <a:t>i</a:t>
            </a:r>
            <a:r>
              <a:rPr lang="en-US" altLang="zh-CN" dirty="0"/>
              <a:t>=1, 2, …, n</a:t>
            </a:r>
            <a:r>
              <a:rPr lang="zh-CN" altLang="en-US" dirty="0"/>
              <a:t>，则对任意事件</a:t>
            </a:r>
            <a:r>
              <a:rPr lang="en-US" altLang="zh-CN" dirty="0"/>
              <a:t>A</a:t>
            </a:r>
            <a:r>
              <a:rPr lang="zh-CN" altLang="en-US" dirty="0"/>
              <a:t>，有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9188" name="Object 2">
                <a:extLst>
                  <a:ext uri="{FF2B5EF4-FFF2-40B4-BE49-F238E27FC236}">
                    <a16:creationId xmlns:a16="http://schemas.microsoft.com/office/drawing/2014/main" id="{8641A16D-37BC-854D-BE56-BE0FF52BE234}"/>
                  </a:ext>
                </a:extLst>
              </p:cNvPr>
              <p:cNvSpPr txBox="1"/>
              <p:nvPr/>
            </p:nvSpPr>
            <p:spPr bwMode="auto">
              <a:xfrm>
                <a:off x="9528175" y="961983"/>
                <a:ext cx="819340" cy="9908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9188" name="Object 2">
                <a:extLst>
                  <a:ext uri="{FF2B5EF4-FFF2-40B4-BE49-F238E27FC236}">
                    <a16:creationId xmlns:a16="http://schemas.microsoft.com/office/drawing/2014/main" id="{8641A16D-37BC-854D-BE56-BE0FF52BE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28175" y="961983"/>
                <a:ext cx="819340" cy="9908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9189" name="Rectangle 5">
            <a:extLst>
              <a:ext uri="{FF2B5EF4-FFF2-40B4-BE49-F238E27FC236}">
                <a16:creationId xmlns:a16="http://schemas.microsoft.com/office/drawing/2014/main" id="{D2A698FA-6C03-EE75-42E7-FA64CBAA3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2644993"/>
            <a:ext cx="7697982" cy="478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anose="05000000000000000000" pitchFamily="2" charset="2"/>
              <a:buAutoNum type="arabicPeriod"/>
            </a:pP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全概率公式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：</a:t>
            </a:r>
          </a:p>
        </p:txBody>
      </p:sp>
      <p:sp>
        <p:nvSpPr>
          <p:cNvPr id="349190" name="Rectangle 6">
            <a:extLst>
              <a:ext uri="{FF2B5EF4-FFF2-40B4-BE49-F238E27FC236}">
                <a16:creationId xmlns:a16="http://schemas.microsoft.com/office/drawing/2014/main" id="{07C14960-1B1B-8C48-20A4-25118F07D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4028025"/>
            <a:ext cx="7697982" cy="478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anose="05000000000000000000" pitchFamily="2" charset="2"/>
              <a:buAutoNum type="arabicPeriod" startAt="2"/>
            </a:pPr>
            <a:r>
              <a:rPr lang="zh-CN" altLang="en-US">
                <a:solidFill>
                  <a:srgbClr val="0000FF"/>
                </a:solidFill>
                <a:latin typeface="+mn-ea"/>
                <a:ea typeface="+mn-ea"/>
              </a:rPr>
              <a:t>贝叶斯公式</a:t>
            </a:r>
            <a:r>
              <a:rPr lang="zh-CN" altLang="en-US">
                <a:solidFill>
                  <a:srgbClr val="FF0000"/>
                </a:solidFill>
                <a:latin typeface="+mn-ea"/>
                <a:ea typeface="+mn-ea"/>
              </a:rPr>
              <a:t>：</a:t>
            </a:r>
          </a:p>
        </p:txBody>
      </p:sp>
      <p:graphicFrame>
        <p:nvGraphicFramePr>
          <p:cNvPr id="349191" name="Object 3">
            <a:extLst>
              <a:ext uri="{FF2B5EF4-FFF2-40B4-BE49-F238E27FC236}">
                <a16:creationId xmlns:a16="http://schemas.microsoft.com/office/drawing/2014/main" id="{257CD870-7D2B-FB29-5E98-CAF9F587BC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1542055"/>
              </p:ext>
            </p:extLst>
          </p:nvPr>
        </p:nvGraphicFramePr>
        <p:xfrm>
          <a:off x="2974975" y="2437377"/>
          <a:ext cx="3739428" cy="992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25600" imgH="431800" progId="Equation.DSMT4">
                  <p:embed/>
                </p:oleObj>
              </mc:Choice>
              <mc:Fallback>
                <p:oleObj name="Equation" r:id="rId4" imgW="1625600" imgH="431800" progId="Equation.DSMT4">
                  <p:embed/>
                  <p:pic>
                    <p:nvPicPr>
                      <p:cNvPr id="349191" name="Object 3">
                        <a:extLst>
                          <a:ext uri="{FF2B5EF4-FFF2-40B4-BE49-F238E27FC236}">
                            <a16:creationId xmlns:a16="http://schemas.microsoft.com/office/drawing/2014/main" id="{257CD870-7D2B-FB29-5E98-CAF9F587BC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4975" y="2437377"/>
                        <a:ext cx="3739428" cy="9924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192" name="Object 4">
            <a:extLst>
              <a:ext uri="{FF2B5EF4-FFF2-40B4-BE49-F238E27FC236}">
                <a16:creationId xmlns:a16="http://schemas.microsoft.com/office/drawing/2014/main" id="{363B2FA7-5D6F-D9F4-B302-C6AE7816AD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3435674"/>
              </p:ext>
            </p:extLst>
          </p:nvPr>
        </p:nvGraphicFramePr>
        <p:xfrm>
          <a:off x="3127375" y="3807311"/>
          <a:ext cx="4339642" cy="1486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92300" imgH="647700" progId="Equation.DSMT4">
                  <p:embed/>
                </p:oleObj>
              </mc:Choice>
              <mc:Fallback>
                <p:oleObj name="Equation" r:id="rId6" imgW="1892300" imgH="647700" progId="Equation.DSMT4">
                  <p:embed/>
                  <p:pic>
                    <p:nvPicPr>
                      <p:cNvPr id="349192" name="Object 4">
                        <a:extLst>
                          <a:ext uri="{FF2B5EF4-FFF2-40B4-BE49-F238E27FC236}">
                            <a16:creationId xmlns:a16="http://schemas.microsoft.com/office/drawing/2014/main" id="{363B2FA7-5D6F-D9F4-B302-C6AE7816AD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75" y="3807311"/>
                        <a:ext cx="4339642" cy="14862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9193" name="Rectangle 9">
            <a:extLst>
              <a:ext uri="{FF2B5EF4-FFF2-40B4-BE49-F238E27FC236}">
                <a16:creationId xmlns:a16="http://schemas.microsoft.com/office/drawing/2014/main" id="{700D0583-6E9F-E1A2-CE65-FA5B1E847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4175" y="3998175"/>
            <a:ext cx="2126155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j=1,2,…n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3">
                <a:extLst>
                  <a:ext uri="{FF2B5EF4-FFF2-40B4-BE49-F238E27FC236}">
                    <a16:creationId xmlns:a16="http://schemas.microsoft.com/office/drawing/2014/main" id="{92A054DF-ECD9-9752-1BE0-CA4A99EFC5A8}"/>
                  </a:ext>
                </a:extLst>
              </p:cNvPr>
              <p:cNvSpPr txBox="1"/>
              <p:nvPr/>
            </p:nvSpPr>
            <p:spPr bwMode="auto">
              <a:xfrm>
                <a:off x="5578312" y="2108674"/>
                <a:ext cx="6543602" cy="1669781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sty m:val="p"/>
                        </m:rP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nary>
                        <m:naryPr>
                          <m:chr m:val="∪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∪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Object 13">
                <a:extLst>
                  <a:ext uri="{FF2B5EF4-FFF2-40B4-BE49-F238E27FC236}">
                    <a16:creationId xmlns:a16="http://schemas.microsoft.com/office/drawing/2014/main" id="{92A054DF-ECD9-9752-1BE0-CA4A99EFC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78312" y="2108674"/>
                <a:ext cx="6543602" cy="1669781"/>
              </a:xfrm>
              <a:prstGeom prst="rect">
                <a:avLst/>
              </a:prstGeom>
              <a:blipFill>
                <a:blip r:embed="rId8"/>
                <a:stretch>
                  <a:fillRect l="-194" t="-31818" b="-924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4">
                <a:extLst>
                  <a:ext uri="{FF2B5EF4-FFF2-40B4-BE49-F238E27FC236}">
                    <a16:creationId xmlns:a16="http://schemas.microsoft.com/office/drawing/2014/main" id="{4022CF96-8E67-D077-73DC-40DE57DC15E4}"/>
                  </a:ext>
                </a:extLst>
              </p:cNvPr>
              <p:cNvSpPr txBox="1"/>
              <p:nvPr/>
            </p:nvSpPr>
            <p:spPr bwMode="auto">
              <a:xfrm>
                <a:off x="6055764" y="5482076"/>
                <a:ext cx="6022975" cy="1182608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:br>
                  <a:rPr lang="en-US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  <m:m>
                        <m:mPr>
                          <m:plcHide m:val="on"/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  <m:e/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Object 4">
                <a:extLst>
                  <a:ext uri="{FF2B5EF4-FFF2-40B4-BE49-F238E27FC236}">
                    <a16:creationId xmlns:a16="http://schemas.microsoft.com/office/drawing/2014/main" id="{4022CF96-8E67-D077-73DC-40DE57DC1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55764" y="5482076"/>
                <a:ext cx="6022975" cy="118260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9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9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49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9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9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9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9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9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9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9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49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9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9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87" grpId="0" build="p"/>
      <p:bldP spid="349188" grpId="0"/>
      <p:bldP spid="349189" grpId="0" autoUpdateAnimBg="0"/>
      <p:bldP spid="349190" grpId="0" autoUpdateAnimBg="0"/>
      <p:bldP spid="349193" grpId="0" autoUpdateAnimBg="0"/>
      <p:bldP spid="13" grpId="0" animBg="1"/>
      <p:bldP spid="13" grpId="1" animBg="1"/>
      <p:bldP spid="14" grpId="0" animBg="1"/>
      <p:bldP spid="14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CCDA8-1608-26A2-F642-9BE7A1636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2">
            <a:extLst>
              <a:ext uri="{FF2B5EF4-FFF2-40B4-BE49-F238E27FC236}">
                <a16:creationId xmlns:a16="http://schemas.microsoft.com/office/drawing/2014/main" id="{33C0A2D1-0041-E7CD-F036-A40FF3EECC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F7BD30-450C-9415-96B2-74580BA73236}"/>
              </a:ext>
            </a:extLst>
          </p:cNvPr>
          <p:cNvSpPr/>
          <p:nvPr/>
        </p:nvSpPr>
        <p:spPr>
          <a:xfrm>
            <a:off x="255504" y="915194"/>
            <a:ext cx="11582399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问题：</a:t>
            </a:r>
            <a:r>
              <a:rPr lang="zh-CN" altLang="en-US" sz="2800" b="1" dirty="0">
                <a:latin typeface="+mn-ea"/>
              </a:rPr>
              <a:t>德</a:t>
            </a:r>
            <a:r>
              <a:rPr lang="en-US" altLang="zh-CN" sz="2800" b="1" dirty="0">
                <a:latin typeface="+mn-ea"/>
              </a:rPr>
              <a:t>·</a:t>
            </a:r>
            <a:r>
              <a:rPr lang="zh-CN" altLang="en-US" sz="2800" b="1" dirty="0">
                <a:latin typeface="+mn-ea"/>
              </a:rPr>
              <a:t>美尔和赌友掷骰子，各押赌注</a:t>
            </a:r>
            <a:r>
              <a:rPr lang="en-US" altLang="zh-CN" sz="2800" b="1" dirty="0">
                <a:latin typeface="+mn-ea"/>
              </a:rPr>
              <a:t>32</a:t>
            </a:r>
            <a:r>
              <a:rPr lang="zh-CN" altLang="en-US" sz="2800" b="1" dirty="0">
                <a:latin typeface="+mn-ea"/>
              </a:rPr>
              <a:t>个金币，德</a:t>
            </a:r>
            <a:r>
              <a:rPr lang="en-US" altLang="zh-CN" sz="2800" b="1" dirty="0">
                <a:latin typeface="+mn-ea"/>
              </a:rPr>
              <a:t>·</a:t>
            </a:r>
            <a:r>
              <a:rPr lang="zh-CN" altLang="en-US" sz="2800" b="1" dirty="0">
                <a:latin typeface="+mn-ea"/>
              </a:rPr>
              <a:t>美尔若先掷出三次“</a:t>
            </a:r>
            <a:r>
              <a:rPr lang="en-US" altLang="zh-CN" sz="2800" b="1" dirty="0">
                <a:latin typeface="+mn-ea"/>
              </a:rPr>
              <a:t>6</a:t>
            </a:r>
            <a:r>
              <a:rPr lang="zh-CN" altLang="en-US" sz="2800" b="1" dirty="0">
                <a:latin typeface="+mn-ea"/>
              </a:rPr>
              <a:t>点”，或赌友先掷出三次“</a:t>
            </a:r>
            <a:r>
              <a:rPr lang="en-US" altLang="zh-CN" sz="2800" b="1" dirty="0">
                <a:latin typeface="+mn-ea"/>
              </a:rPr>
              <a:t>4</a:t>
            </a:r>
            <a:r>
              <a:rPr lang="zh-CN" altLang="en-US" sz="2800" b="1" dirty="0">
                <a:latin typeface="+mn-ea"/>
              </a:rPr>
              <a:t>点”，就算赢了对方。赌博进行了一段时间，德</a:t>
            </a:r>
            <a:r>
              <a:rPr lang="en-US" altLang="zh-CN" sz="2800" b="1" dirty="0">
                <a:latin typeface="+mn-ea"/>
              </a:rPr>
              <a:t>·</a:t>
            </a:r>
            <a:r>
              <a:rPr lang="zh-CN" altLang="en-US" sz="2800" b="1" dirty="0">
                <a:latin typeface="+mn-ea"/>
              </a:rPr>
              <a:t>美尔已掷出了两次“</a:t>
            </a:r>
            <a:r>
              <a:rPr lang="en-US" altLang="zh-CN" sz="2800" b="1" dirty="0">
                <a:latin typeface="+mn-ea"/>
              </a:rPr>
              <a:t>6</a:t>
            </a:r>
            <a:r>
              <a:rPr lang="zh-CN" altLang="en-US" sz="2800" b="1" dirty="0">
                <a:latin typeface="+mn-ea"/>
              </a:rPr>
              <a:t>点”，赌友也掷出了一次“</a:t>
            </a:r>
            <a:r>
              <a:rPr lang="en-US" altLang="zh-CN" sz="2800" b="1" dirty="0">
                <a:latin typeface="+mn-ea"/>
              </a:rPr>
              <a:t>4</a:t>
            </a:r>
            <a:r>
              <a:rPr lang="zh-CN" altLang="en-US" sz="2800" b="1" dirty="0">
                <a:latin typeface="+mn-ea"/>
              </a:rPr>
              <a:t>点”。这时，德</a:t>
            </a:r>
            <a:r>
              <a:rPr lang="en-US" altLang="zh-CN" sz="2800" b="1" dirty="0">
                <a:latin typeface="+mn-ea"/>
              </a:rPr>
              <a:t>·</a:t>
            </a:r>
            <a:r>
              <a:rPr lang="zh-CN" altLang="en-US" sz="2800" b="1" dirty="0">
                <a:latin typeface="+mn-ea"/>
              </a:rPr>
              <a:t>美尔奉命要立即去晋见国王，赌博只好中断。那么两人应该怎么分这</a:t>
            </a:r>
            <a:r>
              <a:rPr lang="en-US" altLang="zh-CN" sz="2800" b="1" dirty="0">
                <a:latin typeface="+mn-ea"/>
              </a:rPr>
              <a:t>64</a:t>
            </a:r>
            <a:r>
              <a:rPr lang="zh-CN" altLang="en-US" sz="2800" b="1" dirty="0">
                <a:latin typeface="+mn-ea"/>
              </a:rPr>
              <a:t>个金币的赌金呢？</a:t>
            </a:r>
            <a:r>
              <a:rPr lang="en-US" altLang="zh-CN" sz="2800" b="1" dirty="0">
                <a:latin typeface="+mn-ea"/>
              </a:rPr>
              <a:t>(</a:t>
            </a:r>
            <a:r>
              <a:rPr lang="zh-CN" altLang="en-US" sz="2800" dirty="0">
                <a:hlinkClick r:id="rId3"/>
              </a:rPr>
              <a:t>概率发展史 </a:t>
            </a:r>
            <a:r>
              <a:rPr lang="en-US" altLang="zh-CN" sz="2800" dirty="0">
                <a:hlinkClick r:id="rId3"/>
              </a:rPr>
              <a:t>(hust.edu.cn)</a:t>
            </a:r>
            <a:r>
              <a:rPr lang="en-US" altLang="zh-CN" sz="2800" b="1" dirty="0">
                <a:latin typeface="+mn-ea"/>
              </a:rPr>
              <a:t>)</a:t>
            </a:r>
            <a:endParaRPr lang="zh-CN" altLang="en-US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0441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62F6A0-4C69-04AE-2726-D786E245F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7FB42F-1C11-0488-74A3-3893CC195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175" y="991394"/>
            <a:ext cx="10978515" cy="5868194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buNone/>
            </a:pPr>
            <a:r>
              <a:rPr lang="en-US" altLang="zh-CN" dirty="0"/>
              <a:t> </a:t>
            </a:r>
            <a:r>
              <a:rPr lang="zh-CN" altLang="en-US" dirty="0"/>
              <a:t>分析：</a:t>
            </a:r>
            <a:r>
              <a:rPr lang="zh-CN" altLang="en-US" dirty="0">
                <a:solidFill>
                  <a:srgbClr val="C00000"/>
                </a:solidFill>
              </a:rPr>
              <a:t>当前状态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0000FF"/>
                </a:solidFill>
              </a:rPr>
              <a:t>德</a:t>
            </a:r>
            <a:r>
              <a:rPr lang="en-US" altLang="zh-CN" dirty="0">
                <a:solidFill>
                  <a:srgbClr val="0000FF"/>
                </a:solidFill>
              </a:rPr>
              <a:t>·</a:t>
            </a:r>
            <a:r>
              <a:rPr lang="zh-CN" altLang="en-US" dirty="0">
                <a:solidFill>
                  <a:srgbClr val="0000FF"/>
                </a:solidFill>
              </a:rPr>
              <a:t>美尔差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次“</a:t>
            </a:r>
            <a:r>
              <a:rPr lang="en-US" altLang="zh-CN" dirty="0">
                <a:solidFill>
                  <a:srgbClr val="0000FF"/>
                </a:solidFill>
              </a:rPr>
              <a:t>6</a:t>
            </a:r>
            <a:r>
              <a:rPr lang="zh-CN" altLang="en-US" dirty="0">
                <a:solidFill>
                  <a:srgbClr val="0000FF"/>
                </a:solidFill>
              </a:rPr>
              <a:t>点”，赌友差</a:t>
            </a:r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zh-CN" altLang="en-US" dirty="0">
                <a:solidFill>
                  <a:srgbClr val="0000FF"/>
                </a:solidFill>
              </a:rPr>
              <a:t>次“</a:t>
            </a:r>
            <a:r>
              <a:rPr lang="en-US" altLang="zh-CN" dirty="0">
                <a:solidFill>
                  <a:srgbClr val="0000FF"/>
                </a:solidFill>
              </a:rPr>
              <a:t>4</a:t>
            </a:r>
            <a:r>
              <a:rPr lang="zh-CN" altLang="en-US" dirty="0">
                <a:solidFill>
                  <a:srgbClr val="0000FF"/>
                </a:solidFill>
              </a:rPr>
              <a:t>点”</a:t>
            </a:r>
            <a:r>
              <a:rPr lang="zh-CN" altLang="en-US" dirty="0"/>
              <a:t>可以获胜。</a:t>
            </a:r>
          </a:p>
          <a:p>
            <a:pPr>
              <a:lnSpc>
                <a:spcPct val="170000"/>
              </a:lnSpc>
              <a:buNone/>
            </a:pPr>
            <a:r>
              <a:rPr lang="zh-CN" altLang="en-US" dirty="0"/>
              <a:t>    </a:t>
            </a:r>
            <a:r>
              <a:rPr lang="zh-CN" altLang="zh-CN" dirty="0">
                <a:solidFill>
                  <a:srgbClr val="0000CC"/>
                </a:solidFill>
              </a:rPr>
              <a:t>设 </a:t>
            </a:r>
            <a:r>
              <a:rPr lang="zh-CN" altLang="zh-CN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CC"/>
                </a:solidFill>
              </a:rPr>
              <a:t>为</a:t>
            </a:r>
            <a:r>
              <a:rPr lang="zh-CN" altLang="zh-CN" dirty="0">
                <a:solidFill>
                  <a:srgbClr val="0000CC"/>
                </a:solidFill>
              </a:rPr>
              <a:t>当前状态</a:t>
            </a:r>
            <a:r>
              <a:rPr lang="zh-CN" altLang="zh-CN" dirty="0">
                <a:solidFill>
                  <a:schemeClr val="bg2">
                    <a:lumMod val="50000"/>
                  </a:schemeClr>
                </a:solidFill>
              </a:rPr>
              <a:t>（德美尔差 1，赌友差 2）</a:t>
            </a:r>
            <a:r>
              <a:rPr lang="zh-CN" altLang="en-US" dirty="0">
                <a:solidFill>
                  <a:srgbClr val="0000CC"/>
                </a:solidFill>
              </a:rPr>
              <a:t>下</a:t>
            </a:r>
            <a:r>
              <a:rPr lang="zh-CN" altLang="zh-CN" dirty="0">
                <a:solidFill>
                  <a:srgbClr val="0000CC"/>
                </a:solidFill>
              </a:rPr>
              <a:t>德美尔最终获胜概率。</a:t>
            </a:r>
            <a:endParaRPr lang="en-US" altLang="zh-CN" dirty="0">
              <a:solidFill>
                <a:srgbClr val="0000CC"/>
              </a:solidFill>
            </a:endParaRPr>
          </a:p>
          <a:p>
            <a:pPr>
              <a:lnSpc>
                <a:spcPct val="170000"/>
              </a:lnSpc>
              <a:buNone/>
            </a:pPr>
            <a:r>
              <a:rPr lang="zh-CN" altLang="en-US" dirty="0"/>
              <a:t>          </a:t>
            </a:r>
            <a:r>
              <a:rPr lang="zh-CN" altLang="zh-CN" dirty="0"/>
              <a:t> 现在轮到德・美尔先掷骰子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lnSpc>
                <a:spcPct val="170000"/>
              </a:lnSpc>
              <a:buNone/>
            </a:pPr>
            <a:r>
              <a:rPr lang="zh-CN" altLang="en-US" dirty="0"/>
              <a:t>    情形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zh-CN" altLang="zh-CN" dirty="0"/>
              <a:t>以</a:t>
            </a:r>
            <a:r>
              <a:rPr lang="en-US" altLang="zh-CN" dirty="0"/>
              <a:t>1/6</a:t>
            </a:r>
            <a:r>
              <a:rPr lang="zh-CN" altLang="en-US" dirty="0"/>
              <a:t>的概率</a:t>
            </a:r>
            <a:r>
              <a:rPr lang="zh-CN" altLang="zh-CN" dirty="0"/>
              <a:t>掷出 6 → 直接胜利。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zh-CN" altLang="en-US" dirty="0"/>
              <a:t>    情形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zh-CN" altLang="zh-CN" dirty="0"/>
              <a:t>以</a:t>
            </a:r>
            <a:r>
              <a:rPr lang="en-US" altLang="zh-CN" dirty="0"/>
              <a:t>5/6</a:t>
            </a:r>
            <a:r>
              <a:rPr lang="zh-CN" altLang="en-US" dirty="0"/>
              <a:t>的概率</a:t>
            </a:r>
            <a:r>
              <a:rPr lang="zh-CN" altLang="zh-CN" dirty="0"/>
              <a:t>没有掷出 6，轮到赌友掷骰子：</a:t>
            </a:r>
          </a:p>
          <a:p>
            <a:pPr marL="609814" lvl="1" indent="0">
              <a:lnSpc>
                <a:spcPct val="170000"/>
              </a:lnSpc>
              <a:buNone/>
            </a:pPr>
            <a:r>
              <a:rPr lang="en-US" altLang="zh-CN" dirty="0" err="1"/>
              <a:t>i</a:t>
            </a:r>
            <a:r>
              <a:rPr lang="zh-CN" altLang="en-US" dirty="0"/>
              <a:t>）</a:t>
            </a:r>
            <a:r>
              <a:rPr lang="zh-CN" altLang="zh-CN" dirty="0"/>
              <a:t>赌友</a:t>
            </a:r>
            <a:r>
              <a:rPr lang="zh-CN" altLang="en-US" dirty="0"/>
              <a:t>以</a:t>
            </a:r>
            <a:r>
              <a:rPr lang="en-US" altLang="zh-CN" dirty="0"/>
              <a:t>1/6</a:t>
            </a:r>
            <a:r>
              <a:rPr lang="zh-CN" altLang="en-US" dirty="0"/>
              <a:t>的概率</a:t>
            </a:r>
            <a:r>
              <a:rPr lang="zh-CN" altLang="zh-CN" dirty="0"/>
              <a:t>掷出 4：</a:t>
            </a:r>
            <a:r>
              <a:rPr lang="zh-CN" altLang="en-US" dirty="0"/>
              <a:t>此时</a:t>
            </a:r>
            <a:r>
              <a:rPr lang="zh-CN" altLang="zh-CN" dirty="0"/>
              <a:t>状态变为：德美尔差 1</a:t>
            </a:r>
            <a:r>
              <a:rPr lang="zh-CN" altLang="en-US" dirty="0"/>
              <a:t>次“</a:t>
            </a:r>
            <a:r>
              <a:rPr lang="en-US" altLang="zh-CN" dirty="0"/>
              <a:t>6</a:t>
            </a:r>
            <a:r>
              <a:rPr lang="zh-CN" altLang="en-US" dirty="0"/>
              <a:t>点”，赌友差</a:t>
            </a:r>
            <a:r>
              <a:rPr lang="en-US" altLang="zh-CN" dirty="0"/>
              <a:t>1</a:t>
            </a:r>
            <a:r>
              <a:rPr lang="zh-CN" altLang="en-US" dirty="0"/>
              <a:t>次“</a:t>
            </a:r>
            <a:r>
              <a:rPr lang="en-US" altLang="zh-CN" dirty="0"/>
              <a:t>4</a:t>
            </a:r>
            <a:r>
              <a:rPr lang="zh-CN" altLang="en-US" dirty="0"/>
              <a:t>点” ，</a:t>
            </a:r>
            <a:r>
              <a:rPr lang="zh-CN" altLang="zh-CN" dirty="0">
                <a:solidFill>
                  <a:srgbClr val="C00000"/>
                </a:solidFill>
              </a:rPr>
              <a:t>记该状态德美尔胜率为y。</a:t>
            </a:r>
          </a:p>
          <a:p>
            <a:pPr marL="609814" lvl="1" indent="0">
              <a:lnSpc>
                <a:spcPct val="170000"/>
              </a:lnSpc>
              <a:buNone/>
            </a:pPr>
            <a:r>
              <a:rPr lang="en-US" altLang="zh-CN" dirty="0"/>
              <a:t>ii</a:t>
            </a:r>
            <a:r>
              <a:rPr lang="zh-CN" altLang="en-US" dirty="0"/>
              <a:t>）</a:t>
            </a:r>
            <a:r>
              <a:rPr lang="zh-CN" altLang="zh-CN" dirty="0"/>
              <a:t>赌友</a:t>
            </a:r>
            <a:r>
              <a:rPr lang="zh-CN" altLang="en-US" dirty="0"/>
              <a:t>以</a:t>
            </a:r>
            <a:r>
              <a:rPr lang="en-US" altLang="zh-CN" dirty="0"/>
              <a:t>5/6</a:t>
            </a:r>
            <a:r>
              <a:rPr lang="zh-CN" altLang="en-US" dirty="0"/>
              <a:t>的概率</a:t>
            </a:r>
            <a:r>
              <a:rPr lang="zh-CN" altLang="zh-CN" dirty="0"/>
              <a:t>没掷出 4：回到原状态</a:t>
            </a:r>
            <a:r>
              <a:rPr lang="zh-CN" altLang="en-US" dirty="0"/>
              <a:t>（德</a:t>
            </a:r>
            <a:r>
              <a:rPr lang="en-US" altLang="zh-CN" dirty="0"/>
              <a:t>·</a:t>
            </a:r>
            <a:r>
              <a:rPr lang="zh-CN" altLang="en-US" dirty="0"/>
              <a:t>美尔差</a:t>
            </a:r>
            <a:r>
              <a:rPr lang="en-US" altLang="zh-CN" dirty="0"/>
              <a:t>1</a:t>
            </a:r>
            <a:r>
              <a:rPr lang="zh-CN" altLang="en-US" dirty="0"/>
              <a:t>次“</a:t>
            </a:r>
            <a:r>
              <a:rPr lang="en-US" altLang="zh-CN" dirty="0"/>
              <a:t>6</a:t>
            </a:r>
            <a:r>
              <a:rPr lang="zh-CN" altLang="en-US" dirty="0"/>
              <a:t>点”，赌友差</a:t>
            </a:r>
            <a:r>
              <a:rPr lang="en-US" altLang="zh-CN" dirty="0"/>
              <a:t>2</a:t>
            </a:r>
            <a:r>
              <a:rPr lang="zh-CN" altLang="en-US" dirty="0"/>
              <a:t>次“</a:t>
            </a:r>
            <a:r>
              <a:rPr lang="en-US" altLang="zh-CN" dirty="0"/>
              <a:t>4</a:t>
            </a:r>
            <a:r>
              <a:rPr lang="zh-CN" altLang="en-US" dirty="0"/>
              <a:t>点” ）</a:t>
            </a:r>
            <a:r>
              <a:rPr lang="zh-CN" altLang="zh-CN" dirty="0"/>
              <a:t>。</a:t>
            </a:r>
          </a:p>
          <a:p>
            <a:pPr>
              <a:lnSpc>
                <a:spcPct val="170000"/>
              </a:lnSpc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>
              <a:lnSpc>
                <a:spcPct val="170000"/>
              </a:lnSpc>
              <a:buNone/>
            </a:pPr>
            <a:endParaRPr lang="en-US" altLang="zh-CN" dirty="0"/>
          </a:p>
          <a:p>
            <a:pPr>
              <a:lnSpc>
                <a:spcPct val="170000"/>
              </a:lnSpc>
              <a:buNone/>
            </a:pPr>
            <a:endParaRPr lang="en-US" altLang="zh-CN" dirty="0"/>
          </a:p>
          <a:p>
            <a:pPr>
              <a:lnSpc>
                <a:spcPct val="170000"/>
              </a:lnSpc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6181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91A42-E720-477E-6C5E-8ED0E5293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5A061B-6B1E-194E-E643-5D3C2C85C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F282417-4331-E96A-6546-60BF87E29A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4175" y="991394"/>
                <a:ext cx="11430000" cy="50292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zh-CN" altLang="zh-CN" b="0" dirty="0"/>
                  <a:t>德美尔差 1</a:t>
                </a:r>
                <a:r>
                  <a:rPr lang="zh-CN" altLang="en-US" b="0" dirty="0"/>
                  <a:t>次</a:t>
                </a:r>
                <a:r>
                  <a:rPr lang="en-US" altLang="zh-CN" b="0" dirty="0"/>
                  <a:t>6</a:t>
                </a:r>
                <a:r>
                  <a:rPr lang="zh-CN" altLang="en-US" b="0" dirty="0"/>
                  <a:t>点</a:t>
                </a:r>
                <a:r>
                  <a:rPr lang="zh-CN" altLang="zh-CN" b="0" dirty="0"/>
                  <a:t>，赌友差 1</a:t>
                </a:r>
                <a:r>
                  <a:rPr lang="zh-CN" altLang="en-US" b="0" dirty="0"/>
                  <a:t>次</a:t>
                </a:r>
                <a:r>
                  <a:rPr lang="en-US" altLang="zh-CN" b="0" dirty="0"/>
                  <a:t>4</a:t>
                </a:r>
                <a:r>
                  <a:rPr lang="zh-CN" altLang="en-US" b="0" dirty="0"/>
                  <a:t>点</a:t>
                </a:r>
                <a:r>
                  <a:rPr lang="zh-CN" altLang="zh-CN" b="0" dirty="0"/>
                  <a:t>，轮到德美尔先投</a:t>
                </a:r>
                <a:r>
                  <a:rPr lang="zh-CN" altLang="en-US" b="0" dirty="0"/>
                  <a:t>点状态下，设事件</a:t>
                </a:r>
                <a:r>
                  <a:rPr lang="en-US" altLang="zh-CN" b="0" dirty="0"/>
                  <a:t>E</a:t>
                </a:r>
                <a:r>
                  <a:rPr lang="zh-CN" altLang="en-US" b="0" dirty="0"/>
                  <a:t>：德梅尔获胜，令</a:t>
                </a:r>
                <a:r>
                  <a:rPr lang="en-US" altLang="zh-CN" b="0" dirty="0"/>
                  <a:t>P(E</a:t>
                </a:r>
                <a:r>
                  <a:rPr lang="en-US" altLang="zh-CN" b="0"/>
                  <a:t>)=y.</a:t>
                </a:r>
                <a:endParaRPr lang="zh-CN" altLang="zh-CN" b="0" dirty="0"/>
              </a:p>
              <a:p>
                <a:pPr marL="0" indent="0">
                  <a:buNone/>
                </a:pPr>
                <a:r>
                  <a:rPr lang="zh-CN" altLang="en-US" b="0" dirty="0"/>
                  <a:t>根据全概率公式：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×1+</m:t>
                      </m:r>
                      <m:f>
                        <m:fPr>
                          <m:ctrlPr>
                            <a:rPr lang="zh-CN" alt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</m:t>
                      </m:r>
                      <m:f>
                        <m:fPr>
                          <m:ctrlPr>
                            <a:rPr lang="zh-CN" alt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×0+</m:t>
                      </m:r>
                      <m:f>
                        <m:fPr>
                          <m:ctrlPr>
                            <a:rPr lang="zh-CN" alt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×1+</m:t>
                      </m:r>
                      <m:f>
                        <m:fPr>
                          <m:ctrlPr>
                            <a:rPr lang="zh-CN" alt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zh-CN" alt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dirty="0"/>
              </a:p>
              <a:p>
                <a:endParaRPr lang="en-US" altLang="zh-CN" b="0" dirty="0"/>
              </a:p>
              <a:p>
                <a:r>
                  <a:rPr lang="zh-CN" altLang="en-US" b="0" dirty="0"/>
                  <a:t>事件</a:t>
                </a:r>
                <a:r>
                  <a:rPr lang="en-US" altLang="zh-CN" b="0" dirty="0"/>
                  <a:t>A</a:t>
                </a:r>
                <a:r>
                  <a:rPr lang="zh-CN" altLang="en-US" b="0" dirty="0"/>
                  <a:t>：</a:t>
                </a:r>
                <a:r>
                  <a:rPr lang="zh-CN" altLang="zh-CN" b="0" dirty="0"/>
                  <a:t>德美尔投</a:t>
                </a:r>
                <a:r>
                  <a:rPr lang="zh-CN" altLang="en-US" b="0" dirty="0"/>
                  <a:t>出</a:t>
                </a:r>
                <a:r>
                  <a:rPr lang="en-US" altLang="zh-CN" b="0" dirty="0"/>
                  <a:t>6</a:t>
                </a:r>
                <a:r>
                  <a:rPr lang="zh-CN" altLang="en-US" b="0" dirty="0"/>
                  <a:t>点；事件</a:t>
                </a:r>
                <a:r>
                  <a:rPr lang="en-US" altLang="zh-CN" b="0" dirty="0"/>
                  <a:t>B</a:t>
                </a:r>
                <a:r>
                  <a:rPr lang="zh-CN" altLang="en-US" b="0" dirty="0"/>
                  <a:t>：</a:t>
                </a:r>
                <a:r>
                  <a:rPr lang="zh-CN" altLang="zh-CN" b="0" dirty="0"/>
                  <a:t>德美尔</a:t>
                </a:r>
                <a:r>
                  <a:rPr lang="zh-CN" altLang="en-US" b="0" dirty="0"/>
                  <a:t>没有</a:t>
                </a:r>
                <a:r>
                  <a:rPr lang="zh-CN" altLang="zh-CN" b="0" dirty="0"/>
                  <a:t>投</a:t>
                </a:r>
                <a:r>
                  <a:rPr lang="zh-CN" altLang="en-US" b="0" dirty="0"/>
                  <a:t>出</a:t>
                </a:r>
                <a:r>
                  <a:rPr lang="en-US" altLang="zh-CN" b="0" dirty="0"/>
                  <a:t>6</a:t>
                </a:r>
                <a:r>
                  <a:rPr lang="zh-CN" altLang="en-US" b="0" dirty="0"/>
                  <a:t>点。</a:t>
                </a:r>
                <a:endParaRPr lang="en-US" altLang="zh-CN" b="0" dirty="0"/>
              </a:p>
              <a:p>
                <a:r>
                  <a:rPr lang="zh-CN" altLang="en-US" b="0" dirty="0"/>
                  <a:t>事件</a:t>
                </a:r>
                <a:r>
                  <a:rPr lang="en-US" altLang="zh-CN" b="0" dirty="0"/>
                  <a:t>C</a:t>
                </a:r>
                <a:r>
                  <a:rPr lang="zh-CN" altLang="en-US" b="0" dirty="0"/>
                  <a:t>：赌友投出</a:t>
                </a:r>
                <a:r>
                  <a:rPr lang="en-US" altLang="zh-CN" b="0" dirty="0"/>
                  <a:t>4</a:t>
                </a:r>
                <a:r>
                  <a:rPr lang="zh-CN" altLang="en-US" b="0" dirty="0"/>
                  <a:t>点；事件</a:t>
                </a:r>
                <a:r>
                  <a:rPr lang="en-US" altLang="zh-CN" b="0" dirty="0"/>
                  <a:t>D</a:t>
                </a:r>
                <a:r>
                  <a:rPr lang="zh-CN" altLang="en-US" b="0" dirty="0"/>
                  <a:t>：赌友没有投出</a:t>
                </a:r>
                <a:r>
                  <a:rPr lang="en-US" altLang="zh-CN" b="0" dirty="0"/>
                  <a:t>4</a:t>
                </a:r>
                <a:r>
                  <a:rPr lang="zh-CN" altLang="en-US" b="0" dirty="0"/>
                  <a:t>点（此时回到状态</a:t>
                </a:r>
                <a:r>
                  <a:rPr lang="en-US" altLang="zh-CN" b="0" dirty="0"/>
                  <a:t>y</a:t>
                </a:r>
                <a:r>
                  <a:rPr lang="zh-CN" altLang="en-US" b="0" dirty="0"/>
                  <a:t>）。</a:t>
                </a:r>
                <a:endParaRPr lang="en-US" altLang="zh-CN" b="0" dirty="0"/>
              </a:p>
              <a:p>
                <a:r>
                  <a:rPr lang="zh-CN" altLang="en-US" b="0" dirty="0"/>
                  <a:t> </a:t>
                </a:r>
                <a:r>
                  <a:rPr lang="zh-CN" altLang="zh-CN" b="0" dirty="0"/>
                  <a:t>1/6 出 6 直接赢；5/6 没出 6，赌友投，1/6 出 4 德美尔直接输；5/6 没出 4 回到状态y。</a:t>
                </a:r>
              </a:p>
              <a:p>
                <a:pPr>
                  <a:buNone/>
                </a:pPr>
                <a:endParaRPr lang="en-US" altLang="zh-CN" b="0" dirty="0">
                  <a:solidFill>
                    <a:srgbClr val="C00000"/>
                  </a:solidFill>
                </a:endParaRPr>
              </a:p>
              <a:p>
                <a:pPr>
                  <a:buNone/>
                </a:pPr>
                <a:endParaRPr lang="en-US" altLang="zh-CN" b="0" dirty="0"/>
              </a:p>
              <a:p>
                <a:pPr>
                  <a:buNone/>
                </a:pPr>
                <a:endParaRPr lang="en-US" altLang="zh-CN" b="0" dirty="0"/>
              </a:p>
              <a:p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F282417-4331-E96A-6546-60BF87E29A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4175" y="991394"/>
                <a:ext cx="11430000" cy="5029200"/>
              </a:xfrm>
              <a:blipFill>
                <a:blip r:embed="rId2"/>
                <a:stretch>
                  <a:fillRect l="-333" b="-12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79663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2">
            <a:extLst>
              <a:ext uri="{FF2B5EF4-FFF2-40B4-BE49-F238E27FC236}">
                <a16:creationId xmlns:a16="http://schemas.microsoft.com/office/drawing/2014/main" id="{41B1A572-F594-C6DB-C65B-8FEC32FDB2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39942" name="Rectangle 3">
            <a:extLst>
              <a:ext uri="{FF2B5EF4-FFF2-40B4-BE49-F238E27FC236}">
                <a16:creationId xmlns:a16="http://schemas.microsoft.com/office/drawing/2014/main" id="{8AE6E238-ED46-4B24-CB46-42FC342FC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5575" y="1125799"/>
            <a:ext cx="11658600" cy="2051525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甲、乙文具盒内都有</a:t>
            </a:r>
            <a:r>
              <a:rPr lang="en-US" altLang="zh-CN" dirty="0"/>
              <a:t>2</a:t>
            </a:r>
            <a:r>
              <a:rPr lang="zh-CN" altLang="en-US" dirty="0"/>
              <a:t>支蓝色笔和</a:t>
            </a:r>
            <a:r>
              <a:rPr lang="en-US" altLang="zh-CN" dirty="0"/>
              <a:t>3</a:t>
            </a:r>
            <a:r>
              <a:rPr lang="zh-CN" altLang="en-US" dirty="0"/>
              <a:t>支黑色笔，现</a:t>
            </a:r>
            <a:r>
              <a:rPr lang="zh-CN" altLang="en-US" dirty="0">
                <a:solidFill>
                  <a:srgbClr val="FF0000"/>
                </a:solidFill>
              </a:rPr>
              <a:t>从甲文具盒中任取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支笔放入乙文具盒</a:t>
            </a:r>
            <a:r>
              <a:rPr lang="zh-CN" altLang="en-US" dirty="0"/>
              <a:t>，然后</a:t>
            </a:r>
            <a:r>
              <a:rPr lang="zh-CN" altLang="en-US" dirty="0">
                <a:solidFill>
                  <a:srgbClr val="6600CC"/>
                </a:solidFill>
              </a:rPr>
              <a:t>再从乙文具盒中任取</a:t>
            </a:r>
            <a:r>
              <a:rPr lang="en-US" altLang="zh-CN" dirty="0">
                <a:solidFill>
                  <a:srgbClr val="6600CC"/>
                </a:solidFill>
              </a:rPr>
              <a:t>2</a:t>
            </a:r>
            <a:r>
              <a:rPr lang="zh-CN" altLang="en-US" dirty="0">
                <a:solidFill>
                  <a:srgbClr val="6600CC"/>
                </a:solidFill>
              </a:rPr>
              <a:t>支笔</a:t>
            </a:r>
            <a:r>
              <a:rPr lang="zh-CN" altLang="en-US" dirty="0"/>
              <a:t>。试求最后取出的</a:t>
            </a:r>
            <a:r>
              <a:rPr lang="en-US" altLang="zh-CN" dirty="0"/>
              <a:t>2</a:t>
            </a:r>
            <a:r>
              <a:rPr lang="zh-CN" altLang="en-US" dirty="0"/>
              <a:t>支笔都是黑色的概率。</a:t>
            </a:r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D2BA4A0-5EBA-8C6E-E626-690802F84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" y="3048794"/>
            <a:ext cx="11658600" cy="2150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+mn-ea"/>
                <a:ea typeface="+mn-ea"/>
              </a:rPr>
              <a:t>   </a:t>
            </a:r>
            <a:r>
              <a:rPr lang="zh-CN" altLang="en-US" dirty="0">
                <a:latin typeface="+mn-ea"/>
                <a:ea typeface="+mn-ea"/>
              </a:rPr>
              <a:t>分析：试验过程由两个阶段组成：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+mn-ea"/>
                <a:ea typeface="+mn-ea"/>
              </a:rPr>
              <a:t>    </a:t>
            </a:r>
            <a:r>
              <a:rPr lang="en-US" altLang="zh-CN" dirty="0">
                <a:latin typeface="+mn-ea"/>
                <a:ea typeface="+mn-ea"/>
              </a:rPr>
              <a:t>1</a:t>
            </a:r>
            <a:r>
              <a:rPr lang="zh-CN" altLang="en-US" dirty="0">
                <a:latin typeface="+mn-ea"/>
                <a:ea typeface="+mn-ea"/>
              </a:rPr>
              <a:t>）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从甲文具盒中任取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支笔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）</a:t>
            </a:r>
            <a:r>
              <a:rPr lang="zh-CN" altLang="en-US" dirty="0">
                <a:solidFill>
                  <a:srgbClr val="6600CC"/>
                </a:solidFill>
                <a:latin typeface="+mn-ea"/>
                <a:ea typeface="+mn-ea"/>
              </a:rPr>
              <a:t>从乙文具盒中任取</a:t>
            </a:r>
            <a:r>
              <a:rPr lang="en-US" altLang="zh-CN" dirty="0">
                <a:solidFill>
                  <a:srgbClr val="6600CC"/>
                </a:solidFill>
                <a:latin typeface="+mn-ea"/>
                <a:ea typeface="+mn-ea"/>
              </a:rPr>
              <a:t>2</a:t>
            </a:r>
            <a:r>
              <a:rPr lang="zh-CN" altLang="en-US" dirty="0">
                <a:solidFill>
                  <a:srgbClr val="6600CC"/>
                </a:solidFill>
                <a:latin typeface="+mn-ea"/>
                <a:ea typeface="+mn-ea"/>
              </a:rPr>
              <a:t>支笔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+mn-ea"/>
                <a:ea typeface="+mn-ea"/>
              </a:rPr>
              <a:t>   显然第二阶段的结果依赖于第一阶段的结果，因此可以用</a:t>
            </a:r>
            <a:r>
              <a:rPr lang="zh-CN" altLang="en-US" dirty="0">
                <a:solidFill>
                  <a:srgbClr val="6600CC"/>
                </a:solidFill>
                <a:latin typeface="+mn-ea"/>
                <a:ea typeface="+mn-ea"/>
              </a:rPr>
              <a:t>全概率公式</a:t>
            </a:r>
            <a:r>
              <a:rPr lang="zh-CN" altLang="en-US" dirty="0">
                <a:latin typeface="+mn-ea"/>
                <a:ea typeface="+mn-ea"/>
              </a:rPr>
              <a:t>求解该题。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5" name="Rectangle 2">
            <a:extLst>
              <a:ext uri="{FF2B5EF4-FFF2-40B4-BE49-F238E27FC236}">
                <a16:creationId xmlns:a16="http://schemas.microsoft.com/office/drawing/2014/main" id="{C60573DB-1194-38D6-99E4-6FBBC63901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40966" name="Rectangle 3">
            <a:extLst>
              <a:ext uri="{FF2B5EF4-FFF2-40B4-BE49-F238E27FC236}">
                <a16:creationId xmlns:a16="http://schemas.microsoft.com/office/drawing/2014/main" id="{B0C45262-A742-CA84-6388-7D10CE4BC0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0375" y="1372394"/>
            <a:ext cx="11201400" cy="5134770"/>
          </a:xfrm>
        </p:spPr>
        <p:txBody>
          <a:bodyPr>
            <a:normAutofit/>
          </a:bodyPr>
          <a:lstStyle/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</a:rPr>
              <a:t>解：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={</a:t>
            </a:r>
            <a:r>
              <a:rPr lang="zh-CN" altLang="en-US" dirty="0"/>
              <a:t>从甲文具盒中取出</a:t>
            </a:r>
            <a:r>
              <a:rPr lang="en-US" altLang="zh-CN" dirty="0"/>
              <a:t>2</a:t>
            </a:r>
            <a:r>
              <a:rPr lang="zh-CN" altLang="en-US" dirty="0"/>
              <a:t>支蓝色笔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A</a:t>
            </a:r>
            <a:r>
              <a:rPr lang="en-US" altLang="zh-CN" baseline="-25000" dirty="0"/>
              <a:t>2</a:t>
            </a:r>
            <a:r>
              <a:rPr lang="en-US" altLang="zh-CN" dirty="0"/>
              <a:t>={</a:t>
            </a:r>
            <a:r>
              <a:rPr lang="zh-CN" altLang="en-US" dirty="0"/>
              <a:t>从甲文具盒中取出</a:t>
            </a:r>
            <a:r>
              <a:rPr lang="en-US" altLang="zh-CN" dirty="0"/>
              <a:t>2</a:t>
            </a:r>
            <a:r>
              <a:rPr lang="zh-CN" altLang="en-US" dirty="0"/>
              <a:t>支黑色笔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A</a:t>
            </a:r>
            <a:r>
              <a:rPr lang="en-US" altLang="zh-CN" baseline="-25000" dirty="0"/>
              <a:t>3</a:t>
            </a:r>
            <a:r>
              <a:rPr lang="en-US" altLang="zh-CN" dirty="0"/>
              <a:t>={</a:t>
            </a:r>
            <a:r>
              <a:rPr lang="zh-CN" altLang="en-US" dirty="0"/>
              <a:t>从甲文具盒中取出</a:t>
            </a:r>
            <a:r>
              <a:rPr lang="en-US" altLang="zh-CN" dirty="0"/>
              <a:t>1</a:t>
            </a:r>
            <a:r>
              <a:rPr lang="zh-CN" altLang="en-US" dirty="0"/>
              <a:t>支蓝色笔，</a:t>
            </a:r>
            <a:r>
              <a:rPr lang="en-US" altLang="zh-CN" dirty="0"/>
              <a:t>1</a:t>
            </a:r>
            <a:r>
              <a:rPr lang="zh-CN" altLang="en-US" dirty="0"/>
              <a:t>支黑色笔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B={</a:t>
            </a:r>
            <a:r>
              <a:rPr lang="zh-CN" altLang="en-US" dirty="0"/>
              <a:t>从乙文具盒中取出</a:t>
            </a:r>
            <a:r>
              <a:rPr lang="en-US" altLang="zh-CN" dirty="0"/>
              <a:t>2</a:t>
            </a:r>
            <a:r>
              <a:rPr lang="zh-CN" altLang="en-US" dirty="0"/>
              <a:t>支黑色笔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显然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en-US" altLang="zh-CN" baseline="-25000" dirty="0"/>
              <a:t>3</a:t>
            </a:r>
            <a:r>
              <a:rPr lang="zh-CN" altLang="en-US" dirty="0"/>
              <a:t>构成一个完全事件组，且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P(A</a:t>
            </a:r>
            <a:r>
              <a:rPr lang="en-US" altLang="zh-CN" baseline="-25000" dirty="0"/>
              <a:t>1</a:t>
            </a:r>
            <a:r>
              <a:rPr lang="en-US" altLang="zh-CN" dirty="0"/>
              <a:t>)=C(2,2)/C(5,2)=1/10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P(A</a:t>
            </a:r>
            <a:r>
              <a:rPr lang="en-US" altLang="zh-CN" baseline="-25000" dirty="0"/>
              <a:t>2</a:t>
            </a:r>
            <a:r>
              <a:rPr lang="en-US" altLang="zh-CN" dirty="0"/>
              <a:t>)=C(3,2)/C(5,2)=3/10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P(A</a:t>
            </a:r>
            <a:r>
              <a:rPr lang="en-US" altLang="zh-CN" baseline="-25000" dirty="0"/>
              <a:t>3</a:t>
            </a:r>
            <a:r>
              <a:rPr lang="en-US" altLang="zh-CN" dirty="0"/>
              <a:t>)=C(2,1)C(3,1)/C(5,2)=6/10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Rectangle 2">
            <a:extLst>
              <a:ext uri="{FF2B5EF4-FFF2-40B4-BE49-F238E27FC236}">
                <a16:creationId xmlns:a16="http://schemas.microsoft.com/office/drawing/2014/main" id="{2453E024-062B-9EC3-382E-0F902DFEE9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7575" y="262787"/>
            <a:ext cx="9961986" cy="609741"/>
          </a:xfrm>
        </p:spPr>
        <p:txBody>
          <a:bodyPr/>
          <a:lstStyle/>
          <a:p>
            <a:pPr eaLnBrk="1" hangingPunct="1"/>
            <a:r>
              <a:rPr lang="zh-CN" altLang="en-US" dirty="0"/>
              <a:t>实例</a:t>
            </a:r>
          </a:p>
        </p:txBody>
      </p:sp>
      <p:sp>
        <p:nvSpPr>
          <p:cNvPr id="41990" name="Rectangle 3">
            <a:extLst>
              <a:ext uri="{FF2B5EF4-FFF2-40B4-BE49-F238E27FC236}">
                <a16:creationId xmlns:a16="http://schemas.microsoft.com/office/drawing/2014/main" id="{2303E708-536B-F507-74E5-3ACD97B3537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7575" y="1201217"/>
            <a:ext cx="7175574" cy="1667261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+mn-ea"/>
              </a:rPr>
              <a:t>P(B|A</a:t>
            </a:r>
            <a:r>
              <a:rPr lang="en-US" altLang="zh-CN" baseline="-25000" dirty="0">
                <a:latin typeface="+mn-ea"/>
              </a:rPr>
              <a:t>1</a:t>
            </a:r>
            <a:r>
              <a:rPr lang="en-US" altLang="zh-CN" dirty="0">
                <a:latin typeface="+mn-ea"/>
              </a:rPr>
              <a:t>)=C(3,2)/C(7,2)= 3/21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+mn-ea"/>
              </a:rPr>
              <a:t>P(B|A</a:t>
            </a:r>
            <a:r>
              <a:rPr lang="en-US" altLang="zh-CN" baseline="-25000" dirty="0">
                <a:latin typeface="+mn-ea"/>
              </a:rPr>
              <a:t>2</a:t>
            </a:r>
            <a:r>
              <a:rPr lang="en-US" altLang="zh-CN" dirty="0">
                <a:latin typeface="+mn-ea"/>
              </a:rPr>
              <a:t>)=C(5,2)/C(7,2)=10/21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+mn-ea"/>
              </a:rPr>
              <a:t>P(B|A</a:t>
            </a:r>
            <a:r>
              <a:rPr lang="en-US" altLang="zh-CN" baseline="-25000" dirty="0">
                <a:latin typeface="+mn-ea"/>
              </a:rPr>
              <a:t>3</a:t>
            </a:r>
            <a:r>
              <a:rPr lang="en-US" altLang="zh-CN" dirty="0">
                <a:latin typeface="+mn-ea"/>
              </a:rPr>
              <a:t>)=C(4,2)/C(7,2)=6/21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2261" name="Object 5">
                <a:extLst>
                  <a:ext uri="{FF2B5EF4-FFF2-40B4-BE49-F238E27FC236}">
                    <a16:creationId xmlns:a16="http://schemas.microsoft.com/office/drawing/2014/main" id="{E53681A6-7B60-58CC-D8FC-A50E2A0F7285}"/>
                  </a:ext>
                </a:extLst>
              </p:cNvPr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1679575" y="3429794"/>
                <a:ext cx="7563012" cy="10400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70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352261" name="Object 5">
                <a:extLst>
                  <a:ext uri="{FF2B5EF4-FFF2-40B4-BE49-F238E27FC236}">
                    <a16:creationId xmlns:a16="http://schemas.microsoft.com/office/drawing/2014/main" id="{E53681A6-7B60-58CC-D8FC-A50E2A0F7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1679575" y="3429794"/>
                <a:ext cx="7563012" cy="10400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2263" name="Rectangle 7">
            <a:extLst>
              <a:ext uri="{FF2B5EF4-FFF2-40B4-BE49-F238E27FC236}">
                <a16:creationId xmlns:a16="http://schemas.microsoft.com/office/drawing/2014/main" id="{71163BC1-E0CB-07AA-9283-8C361D155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8575" y="5106194"/>
            <a:ext cx="6016071" cy="405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最后取出的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支笔都是黑色的概率是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23/70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6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2">
            <a:extLst>
              <a:ext uri="{FF2B5EF4-FFF2-40B4-BE49-F238E27FC236}">
                <a16:creationId xmlns:a16="http://schemas.microsoft.com/office/drawing/2014/main" id="{41B1A572-F594-C6DB-C65B-8FEC32FDB2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古典概率中著名的三门问题</a:t>
            </a:r>
          </a:p>
        </p:txBody>
      </p:sp>
      <p:sp>
        <p:nvSpPr>
          <p:cNvPr id="39942" name="Rectangle 3">
            <a:extLst>
              <a:ext uri="{FF2B5EF4-FFF2-40B4-BE49-F238E27FC236}">
                <a16:creationId xmlns:a16="http://schemas.microsoft.com/office/drawing/2014/main" id="{8AE6E238-ED46-4B24-CB46-42FC342FC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5818" y="1067594"/>
            <a:ext cx="11658600" cy="304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b="1" dirty="0"/>
              <a:t>参赛者会看见三扇关闭了的门，其中一扇的后面有一辆汽车，选中后面有车的那扇门可赢得该汽车，另外两扇门后面则各藏有一只山羊。当参赛者选定了一扇门，但未去开启它的时候，节目主持人开启剩下两扇门的其中一扇，露出其中一只山羊。主持人其后会问参赛者要不要换另一扇仍然关上的门。问题是：换另一扇门会否增加参赛者赢得汽车的机率？</a:t>
            </a:r>
            <a:endParaRPr lang="zh-CN" altLang="en-US" dirty="0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D2BA4A0-5EBA-8C6E-E626-690802F84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169" y="3927604"/>
            <a:ext cx="11658600" cy="495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1219627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681D0"/>
                </a:solidFill>
                <a:effectLst/>
                <a:uLnTx/>
                <a:uFillTx/>
                <a:latin typeface="-apple-system"/>
                <a:ea typeface="宋体" panose="02010600030101010101" pitchFamily="2" charset="-122"/>
                <a:cs typeface="+mn-cs"/>
                <a:hlinkClick r:id="rId3"/>
              </a:rPr>
              <a:t>https://mp.weixin.qq.com/s/7XqjBR4xUUOtuWyzL5v2ig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46548DA-42B4-F8DA-1A31-0D35ACDAC4D4}"/>
              </a:ext>
            </a:extLst>
          </p:cNvPr>
          <p:cNvSpPr txBox="1">
            <a:spLocks noChangeArrowheads="1"/>
          </p:cNvSpPr>
          <p:nvPr/>
        </p:nvSpPr>
        <p:spPr>
          <a:xfrm>
            <a:off x="285818" y="4572794"/>
            <a:ext cx="11658599" cy="1512917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360" indent="-457360" algn="l" defTabSz="1219627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0947" indent="-381133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533" indent="-304907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347" indent="-304907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160" indent="-304907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3973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787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600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414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360" marR="0" lvl="0" indent="-457360" algn="l" defTabSz="1219627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解：设</a:t>
            </a:r>
            <a:r>
              <a:rPr lang="en-US" altLang="zh-CN" dirty="0">
                <a:solidFill>
                  <a:srgbClr val="C00000"/>
                </a:solidFill>
                <a:latin typeface="微软雅黑"/>
                <a:ea typeface="微软雅黑"/>
              </a:rPr>
              <a:t>A: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次抽到车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,B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：第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次抽到羊，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C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：第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次抽到车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457360" marR="0" lvl="0" indent="-457360" algn="l" defTabSz="1219627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P(C)=P(AC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+ P(BC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=P(A)×P(C|A)+ P(B)×P(C|B)=1/3×0+2/3×1=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367024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2">
            <a:extLst>
              <a:ext uri="{FF2B5EF4-FFF2-40B4-BE49-F238E27FC236}">
                <a16:creationId xmlns:a16="http://schemas.microsoft.com/office/drawing/2014/main" id="{41B1A572-F594-C6DB-C65B-8FEC32FDB2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古典概率中著名的三门问题</a:t>
            </a:r>
          </a:p>
        </p:txBody>
      </p:sp>
      <p:sp>
        <p:nvSpPr>
          <p:cNvPr id="39942" name="Rectangle 3">
            <a:extLst>
              <a:ext uri="{FF2B5EF4-FFF2-40B4-BE49-F238E27FC236}">
                <a16:creationId xmlns:a16="http://schemas.microsoft.com/office/drawing/2014/main" id="{8AE6E238-ED46-4B24-CB46-42FC342FC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5818" y="1067594"/>
            <a:ext cx="11658600" cy="304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b="1" dirty="0"/>
              <a:t>参赛者会看见三扇关闭了的门，其中一扇的后面有一辆汽车，选中后面有车的那扇门可赢得该汽车，另外两扇门后面则各藏有一只山羊。当参赛者选定了一扇门，但未去开启它的时候，节目主持人开启剩下两扇门的其中一扇，露出其中一只山羊。主持人其后会问参赛者要不要换另一扇仍然关上的门。问题是：换另一扇门会否增加参赛者赢得汽车的机率？</a:t>
            </a:r>
            <a:endParaRPr lang="zh-CN" altLang="en-US" dirty="0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D2BA4A0-5EBA-8C6E-E626-690802F84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55" y="3963194"/>
            <a:ext cx="11658600" cy="495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lnSpc>
                <a:spcPct val="120000"/>
              </a:lnSpc>
              <a:buClr>
                <a:srgbClr val="00FF00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1219627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681D0"/>
                </a:solidFill>
                <a:effectLst/>
                <a:uLnTx/>
                <a:uFillTx/>
                <a:latin typeface="-apple-system"/>
                <a:ea typeface="宋体" panose="02010600030101010101" pitchFamily="2" charset="-122"/>
                <a:cs typeface="+mn-cs"/>
                <a:hlinkClick r:id="rId3"/>
              </a:rPr>
              <a:t>https://mp.weixin.qq.com/s/7XqjBR4xUUOtuWyzL5v2ig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46548DA-42B4-F8DA-1A31-0D35ACDAC4D4}"/>
              </a:ext>
            </a:extLst>
          </p:cNvPr>
          <p:cNvSpPr txBox="1">
            <a:spLocks noChangeArrowheads="1"/>
          </p:cNvSpPr>
          <p:nvPr/>
        </p:nvSpPr>
        <p:spPr>
          <a:xfrm>
            <a:off x="285818" y="4572794"/>
            <a:ext cx="11658599" cy="1512917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360" indent="-457360" algn="l" defTabSz="1219627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0947" indent="-381133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533" indent="-304907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347" indent="-304907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160" indent="-304907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3973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787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600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414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360" marR="0" lvl="0" indent="-457360" algn="l" defTabSz="1219627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解：设</a:t>
            </a:r>
            <a:r>
              <a:rPr lang="en-US" altLang="zh-CN" dirty="0">
                <a:solidFill>
                  <a:srgbClr val="C00000"/>
                </a:solidFill>
                <a:latin typeface="微软雅黑"/>
                <a:ea typeface="微软雅黑"/>
              </a:rPr>
              <a:t>A: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次抽到车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,B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：第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次抽到羊，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D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：第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次抽到羊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457360" marR="0" lvl="0" indent="-457360" algn="l" defTabSz="1219627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P(D)=P(A,D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+ P(B,D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=P(A)×P(D|A)+ P(B)×P(D|B)=1/3×1+2/3×0=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1/3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9F7D64-116C-8DD8-D5A5-F8E09D0639AF}"/>
              </a:ext>
            </a:extLst>
          </p:cNvPr>
          <p:cNvSpPr txBox="1"/>
          <p:nvPr/>
        </p:nvSpPr>
        <p:spPr>
          <a:xfrm>
            <a:off x="370169" y="6235894"/>
            <a:ext cx="90818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000FF"/>
                </a:solidFill>
                <a:effectLst/>
                <a:latin typeface="-apple-system"/>
              </a:rPr>
              <a:t>结论：从概率角度来看，换个门是有价值的！！！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5" name="流程图: 可选过程 4">
            <a:extLst>
              <a:ext uri="{FF2B5EF4-FFF2-40B4-BE49-F238E27FC236}">
                <a16:creationId xmlns:a16="http://schemas.microsoft.com/office/drawing/2014/main" id="{9D479A3C-FFDB-04E9-807F-028AC686886B}"/>
              </a:ext>
            </a:extLst>
          </p:cNvPr>
          <p:cNvSpPr/>
          <p:nvPr/>
        </p:nvSpPr>
        <p:spPr>
          <a:xfrm>
            <a:off x="285818" y="4725194"/>
            <a:ext cx="11223557" cy="1219200"/>
          </a:xfrm>
          <a:prstGeom prst="flowChartAlternateProcess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FF00"/>
                </a:solidFill>
                <a:latin typeface="+mn-ea"/>
              </a:rPr>
              <a:t>问题衍生：</a:t>
            </a:r>
            <a:r>
              <a:rPr lang="zh-CN" altLang="en-US" b="1" i="0" dirty="0">
                <a:solidFill>
                  <a:schemeClr val="bg1"/>
                </a:solidFill>
                <a:effectLst/>
                <a:latin typeface="+mn-ea"/>
              </a:rPr>
              <a:t>一共</a:t>
            </a:r>
            <a:r>
              <a:rPr lang="en-US" altLang="zh-CN" b="1" i="0" dirty="0">
                <a:solidFill>
                  <a:schemeClr val="bg1"/>
                </a:solidFill>
                <a:effectLst/>
                <a:latin typeface="+mn-ea"/>
              </a:rPr>
              <a:t>1000</a:t>
            </a:r>
            <a:r>
              <a:rPr lang="zh-CN" altLang="en-US" b="1" i="0" dirty="0">
                <a:solidFill>
                  <a:schemeClr val="bg1"/>
                </a:solidFill>
                <a:effectLst/>
                <a:latin typeface="+mn-ea"/>
              </a:rPr>
              <a:t>个门里，有</a:t>
            </a:r>
            <a:r>
              <a:rPr lang="en-US" altLang="zh-CN" b="1" i="0" dirty="0">
                <a:solidFill>
                  <a:schemeClr val="bg1"/>
                </a:solidFill>
                <a:effectLst/>
                <a:latin typeface="+mn-ea"/>
              </a:rPr>
              <a:t>999</a:t>
            </a:r>
            <a:r>
              <a:rPr lang="zh-CN" altLang="en-US" b="1" i="0" dirty="0">
                <a:solidFill>
                  <a:schemeClr val="bg1"/>
                </a:solidFill>
                <a:effectLst/>
                <a:latin typeface="+mn-ea"/>
              </a:rPr>
              <a:t>只羊，只有一辆汽车，你选了一扇门后，主持人开启了另外</a:t>
            </a:r>
            <a:r>
              <a:rPr lang="en-US" altLang="zh-CN" b="1" i="0" dirty="0">
                <a:solidFill>
                  <a:schemeClr val="bg1"/>
                </a:solidFill>
                <a:effectLst/>
                <a:latin typeface="+mn-ea"/>
              </a:rPr>
              <a:t>998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扇</a:t>
            </a:r>
            <a:r>
              <a:rPr lang="zh-CN" altLang="en-US" b="1" i="0" dirty="0">
                <a:solidFill>
                  <a:schemeClr val="bg1"/>
                </a:solidFill>
                <a:effectLst/>
                <a:latin typeface="+mn-ea"/>
              </a:rPr>
              <a:t>装有羊的门。此时，是否需要换另一扇还未打开的门？</a:t>
            </a:r>
            <a:endParaRPr lang="zh-CN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46548DA-42B4-F8DA-1A31-0D35ACDAC4D4}"/>
              </a:ext>
            </a:extLst>
          </p:cNvPr>
          <p:cNvSpPr txBox="1">
            <a:spLocks noChangeArrowheads="1"/>
          </p:cNvSpPr>
          <p:nvPr/>
        </p:nvSpPr>
        <p:spPr>
          <a:xfrm>
            <a:off x="9745807" y="4085215"/>
            <a:ext cx="1749425" cy="756459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360" indent="-457360" algn="l" defTabSz="1219627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0947" indent="-381133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533" indent="-304907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347" indent="-304907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160" indent="-304907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3973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787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600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414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360" marR="0" lvl="0" indent="-457360" algn="l" defTabSz="1219627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999/1000</a:t>
            </a:r>
          </a:p>
        </p:txBody>
      </p:sp>
    </p:spTree>
    <p:extLst>
      <p:ext uri="{BB962C8B-B14F-4D97-AF65-F5344CB8AC3E}">
        <p14:creationId xmlns:p14="http://schemas.microsoft.com/office/powerpoint/2010/main" val="145244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标注 1"/>
          <p:cNvSpPr>
            <a:spLocks noChangeArrowheads="1"/>
          </p:cNvSpPr>
          <p:nvPr/>
        </p:nvSpPr>
        <p:spPr bwMode="auto">
          <a:xfrm>
            <a:off x="7762306" y="3674418"/>
            <a:ext cx="4114800" cy="774951"/>
          </a:xfrm>
          <a:prstGeom prst="wedgeRoundRectCallout">
            <a:avLst>
              <a:gd name="adj1" fmla="val -40375"/>
              <a:gd name="adj2" fmla="val 170676"/>
              <a:gd name="adj3" fmla="val 16667"/>
            </a:avLst>
          </a:prstGeom>
          <a:solidFill>
            <a:schemeClr val="accent1"/>
          </a:solidFill>
          <a:ln w="9525" algn="ctr">
            <a:solidFill>
              <a:srgbClr val="0000FF"/>
            </a:solidFill>
            <a:round/>
          </a:ln>
        </p:spPr>
        <p:txBody>
          <a:bodyPr/>
          <a:lstStyle>
            <a:lvl1pPr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altLang="zh-CN" b="1" baseline="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P(</a:t>
            </a:r>
            <a:r>
              <a:rPr lang="en-US" altLang="zh-CN" b="1" baseline="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{</a:t>
            </a:r>
            <a:r>
              <a:rPr lang="en-US" altLang="zh-CN" b="1" baseline="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: </a:t>
            </a:r>
            <a:r>
              <a:rPr lang="en-US" altLang="zh-CN" b="1" baseline="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X()&lt;x}</a:t>
            </a:r>
            <a:r>
              <a:rPr lang="en-US" altLang="zh-CN" b="1" baseline="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) </a:t>
            </a:r>
            <a:r>
              <a:rPr lang="zh-CN" altLang="en-US" b="1" baseline="0" dirty="0">
                <a:latin typeface="+mn-ea"/>
                <a:ea typeface="+mn-ea"/>
                <a:cs typeface="Times New Roman" panose="02020603050405020304" pitchFamily="18" charset="0"/>
              </a:rPr>
              <a:t>的简写</a:t>
            </a:r>
          </a:p>
        </p:txBody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4175" y="1195669"/>
            <a:ext cx="11125199" cy="2594575"/>
          </a:xfrm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	设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dirty="0"/>
              <a:t>Ω</a:t>
            </a:r>
            <a:r>
              <a:rPr lang="en-US" altLang="zh-CN" dirty="0">
                <a:sym typeface="Symbol" panose="05050102010706020507" pitchFamily="18" charset="2"/>
              </a:rPr>
              <a:t>, F, P)</a:t>
            </a:r>
            <a:r>
              <a:rPr lang="zh-CN" altLang="en-US" dirty="0">
                <a:sym typeface="Symbol" panose="05050102010706020507" pitchFamily="18" charset="2"/>
              </a:rPr>
              <a:t>为概率空间，如果定义样本空间</a:t>
            </a:r>
            <a:r>
              <a:rPr lang="en-US" altLang="zh-CN" dirty="0"/>
              <a:t>Ω</a:t>
            </a:r>
            <a:r>
              <a:rPr lang="zh-CN" altLang="en-US" dirty="0">
                <a:sym typeface="Symbol" panose="05050102010706020507" pitchFamily="18" charset="2"/>
              </a:rPr>
              <a:t>上的一个单值实函数</a:t>
            </a:r>
            <a:r>
              <a:rPr lang="en-US" altLang="zh-CN" dirty="0">
                <a:sym typeface="Symbol" panose="05050102010706020507" pitchFamily="18" charset="2"/>
              </a:rPr>
              <a:t>X</a:t>
            </a:r>
            <a:r>
              <a:rPr lang="zh-CN" altLang="en-US" dirty="0">
                <a:sym typeface="Symbol" panose="05050102010706020507" pitchFamily="18" charset="2"/>
              </a:rPr>
              <a:t>＝</a:t>
            </a:r>
            <a:r>
              <a:rPr lang="en-US" altLang="zh-CN" dirty="0">
                <a:sym typeface="Symbol" panose="05050102010706020507" pitchFamily="18" charset="2"/>
              </a:rPr>
              <a:t>X()</a:t>
            </a:r>
            <a:r>
              <a:rPr lang="zh-CN" altLang="en-US" dirty="0">
                <a:sym typeface="Symbol" panose="05050102010706020507" pitchFamily="18" charset="2"/>
              </a:rPr>
              <a:t>，</a:t>
            </a:r>
            <a:r>
              <a:rPr lang="en-US" altLang="zh-CN" dirty="0"/>
              <a:t>Ω</a:t>
            </a:r>
            <a:r>
              <a:rPr lang="zh-CN" altLang="en-US" dirty="0">
                <a:sym typeface="Symbol" panose="05050102010706020507" pitchFamily="18" charset="2"/>
              </a:rPr>
              <a:t>，满足</a:t>
            </a:r>
          </a:p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{</a:t>
            </a:r>
            <a:r>
              <a:rPr lang="zh-CN" altLang="en-US" dirty="0">
                <a:solidFill>
                  <a:srgbClr val="CC00CC"/>
                </a:solidFill>
              </a:rPr>
              <a:t>：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X()&lt;x}F    -</a:t>
            </a:r>
            <a:r>
              <a:rPr lang="en-US" altLang="zh-CN" dirty="0">
                <a:solidFill>
                  <a:srgbClr val="CC00CC"/>
                </a:solidFill>
              </a:rPr>
              <a:t>∞&lt;x&lt;+∞</a:t>
            </a:r>
            <a:endParaRPr lang="en-US" altLang="zh-CN" dirty="0">
              <a:solidFill>
                <a:srgbClr val="CC00CC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	</a:t>
            </a:r>
            <a:r>
              <a:rPr lang="zh-CN" altLang="en-US" dirty="0">
                <a:sym typeface="Symbol" panose="05050102010706020507" pitchFamily="18" charset="2"/>
              </a:rPr>
              <a:t>则称</a:t>
            </a:r>
            <a:r>
              <a:rPr lang="en-US" altLang="zh-CN" dirty="0">
                <a:sym typeface="Symbol" panose="05050102010706020507" pitchFamily="18" charset="2"/>
              </a:rPr>
              <a:t>X()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随机变量</a:t>
            </a:r>
            <a:r>
              <a:rPr lang="zh-CN" altLang="en-US" dirty="0">
                <a:sym typeface="Symbol" panose="05050102010706020507" pitchFamily="18" charset="2"/>
              </a:rPr>
              <a:t>。随机变量缩写为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R.V.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350212" name="Rectangle 4"/>
          <p:cNvSpPr>
            <a:spLocks noChangeArrowheads="1"/>
          </p:cNvSpPr>
          <p:nvPr/>
        </p:nvSpPr>
        <p:spPr bwMode="auto">
          <a:xfrm>
            <a:off x="688975" y="3906070"/>
            <a:ext cx="11188131" cy="2223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二、分布函数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  设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X()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是概率空间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</a:t>
            </a:r>
            <a:r>
              <a:rPr lang="en-US" altLang="zh-CN" sz="2400" dirty="0">
                <a:latin typeface="+mn-ea"/>
                <a:ea typeface="+mn-ea"/>
              </a:rPr>
              <a:t>Ω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F, P)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上的随机变量，对任意实数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，定义函数</a:t>
            </a:r>
          </a:p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F(x)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P{X&lt;x}    -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</a:rPr>
              <a:t>∞&lt;x&lt;+∞</a:t>
            </a:r>
            <a:endParaRPr lang="en-US" altLang="zh-CN" sz="2400" dirty="0">
              <a:solidFill>
                <a:srgbClr val="CC00CC"/>
              </a:solidFill>
              <a:latin typeface="+mn-ea"/>
              <a:ea typeface="+mn-ea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	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称为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R.V.X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概率分布函数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，简称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分布函数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Symbol" panose="05050102010706020507" pitchFamily="18" charset="2"/>
              </a:rPr>
              <a:t>一、随机变量</a:t>
            </a:r>
            <a:endParaRPr lang="zh-CN" alt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0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0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0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0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0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0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0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0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0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0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0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0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50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50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xit" presetSubtype="3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50211" grpId="0" uiExpand="1" build="p"/>
      <p:bldP spid="350212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A2CDAF-D7D1-5226-0BE7-06794FC4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随机变量实例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C5C8CC-8163-B0AB-3A1F-F0B5FE303C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144588"/>
            <a:ext cx="10979150" cy="685006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掷两枚均匀的骰子，观察两枚骰子点数和的随机试验</a:t>
            </a:r>
            <a:r>
              <a:rPr lang="en-US" altLang="zh-CN" dirty="0"/>
              <a:t>E</a:t>
            </a:r>
            <a:r>
              <a:rPr lang="zh-CN" altLang="en-US" dirty="0"/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07A71B-1105-4BD2-C176-EC35F2DA15C8}"/>
              </a:ext>
            </a:extLst>
          </p:cNvPr>
          <p:cNvSpPr txBox="1"/>
          <p:nvPr/>
        </p:nvSpPr>
        <p:spPr>
          <a:xfrm>
            <a:off x="1222375" y="1902484"/>
            <a:ext cx="6107372" cy="5797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bg1"/>
                </a:solidFill>
                <a:latin typeface="+mn-ea"/>
                <a:sym typeface="Symbol" panose="05050102010706020507" pitchFamily="18" charset="2"/>
              </a:rPr>
              <a:t>{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：</a:t>
            </a:r>
            <a:r>
              <a:rPr lang="en-US" altLang="zh-CN" b="1" dirty="0">
                <a:solidFill>
                  <a:schemeClr val="bg1"/>
                </a:solidFill>
                <a:latin typeface="+mn-ea"/>
                <a:sym typeface="Symbol" panose="05050102010706020507" pitchFamily="18" charset="2"/>
              </a:rPr>
              <a:t>X()&lt;x}F    -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∞&lt;x&lt;+∞</a:t>
            </a:r>
            <a:endParaRPr lang="en-US" altLang="zh-CN" b="1" dirty="0">
              <a:solidFill>
                <a:schemeClr val="bg1"/>
              </a:solidFill>
              <a:latin typeface="+mn-ea"/>
              <a:sym typeface="Symbol" panose="05050102010706020507" pitchFamily="18" charset="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1FCD8A9-EAF9-4B84-3851-264BCFFD1D7C}"/>
              </a:ext>
            </a:extLst>
          </p:cNvPr>
          <p:cNvSpPr txBox="1"/>
          <p:nvPr/>
        </p:nvSpPr>
        <p:spPr>
          <a:xfrm>
            <a:off x="536575" y="2711268"/>
            <a:ext cx="8400061" cy="579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C00CC"/>
                </a:solidFill>
                <a:latin typeface="+mn-ea"/>
                <a:sym typeface="Symbol" panose="05050102010706020507" pitchFamily="18" charset="2"/>
              </a:rPr>
              <a:t>令</a:t>
            </a:r>
            <a:r>
              <a:rPr lang="en-US" altLang="zh-CN" b="1" dirty="0">
                <a:solidFill>
                  <a:srgbClr val="CC00CC"/>
                </a:solidFill>
                <a:latin typeface="+mn-ea"/>
                <a:sym typeface="Symbol" panose="05050102010706020507" pitchFamily="18" charset="2"/>
              </a:rPr>
              <a:t>x=4</a:t>
            </a:r>
            <a:r>
              <a:rPr lang="zh-CN" altLang="en-US" b="1" dirty="0">
                <a:solidFill>
                  <a:srgbClr val="CC00CC"/>
                </a:solidFill>
                <a:latin typeface="+mn-ea"/>
                <a:sym typeface="Symbol" panose="05050102010706020507" pitchFamily="18" charset="2"/>
              </a:rPr>
              <a:t>，则</a:t>
            </a:r>
            <a:r>
              <a:rPr lang="en-US" altLang="zh-CN" b="1" dirty="0">
                <a:solidFill>
                  <a:srgbClr val="CC00CC"/>
                </a:solidFill>
                <a:latin typeface="+mn-ea"/>
                <a:sym typeface="Symbol" panose="05050102010706020507" pitchFamily="18" charset="2"/>
              </a:rPr>
              <a:t>{</a:t>
            </a:r>
            <a:r>
              <a:rPr lang="zh-CN" altLang="en-US" b="1" dirty="0">
                <a:solidFill>
                  <a:srgbClr val="CC00CC"/>
                </a:solidFill>
                <a:latin typeface="+mn-ea"/>
              </a:rPr>
              <a:t>：</a:t>
            </a:r>
            <a:r>
              <a:rPr lang="en-US" altLang="zh-CN" b="1" dirty="0">
                <a:solidFill>
                  <a:srgbClr val="CC00CC"/>
                </a:solidFill>
                <a:latin typeface="+mn-ea"/>
                <a:sym typeface="Symbol" panose="05050102010706020507" pitchFamily="18" charset="2"/>
              </a:rPr>
              <a:t>X()&lt;x}={(1,1),</a:t>
            </a:r>
            <a:r>
              <a:rPr lang="zh-CN" altLang="en-US" b="1" dirty="0">
                <a:solidFill>
                  <a:srgbClr val="CC00CC"/>
                </a:solidFill>
                <a:latin typeface="+mn-ea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C00CC"/>
                </a:solidFill>
                <a:latin typeface="+mn-ea"/>
                <a:sym typeface="Symbol" panose="05050102010706020507" pitchFamily="18" charset="2"/>
              </a:rPr>
              <a:t>(1,2),</a:t>
            </a:r>
            <a:r>
              <a:rPr lang="zh-CN" altLang="en-US" b="1" dirty="0">
                <a:solidFill>
                  <a:srgbClr val="CC00CC"/>
                </a:solidFill>
                <a:latin typeface="+mn-ea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C00CC"/>
                </a:solidFill>
                <a:latin typeface="+mn-ea"/>
                <a:sym typeface="Symbol" panose="05050102010706020507" pitchFamily="18" charset="2"/>
              </a:rPr>
              <a:t>(2,1)}F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5B212E-717F-77AE-11E9-0FD2195A74DC}"/>
              </a:ext>
            </a:extLst>
          </p:cNvPr>
          <p:cNvSpPr txBox="1"/>
          <p:nvPr/>
        </p:nvSpPr>
        <p:spPr>
          <a:xfrm>
            <a:off x="1374775" y="3462923"/>
            <a:ext cx="9677400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  <a:sym typeface="Symbol" panose="05050102010706020507" pitchFamily="18" charset="2"/>
              </a:rPr>
              <a:t>F(x)</a:t>
            </a:r>
            <a:r>
              <a:rPr lang="zh-CN" altLang="en-US" sz="2400" b="1" dirty="0">
                <a:latin typeface="+mn-ea"/>
                <a:sym typeface="Symbol" panose="05050102010706020507" pitchFamily="18" charset="2"/>
              </a:rPr>
              <a:t>＝</a:t>
            </a:r>
            <a:r>
              <a:rPr lang="en-US" altLang="zh-CN" sz="2400" b="1" dirty="0">
                <a:latin typeface="+mn-ea"/>
                <a:sym typeface="Symbol" panose="05050102010706020507" pitchFamily="18" charset="2"/>
              </a:rPr>
              <a:t>F(4)=P{X&lt;4} 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C00CC"/>
                </a:solidFill>
                <a:latin typeface="+mn-ea"/>
                <a:sym typeface="Symbol" panose="05050102010706020507" pitchFamily="18" charset="2"/>
              </a:rPr>
              <a:t>=P</a:t>
            </a:r>
            <a:r>
              <a:rPr lang="en-US" altLang="zh-CN" b="1" dirty="0">
                <a:solidFill>
                  <a:srgbClr val="CC00CC"/>
                </a:solidFill>
                <a:latin typeface="+mn-ea"/>
                <a:sym typeface="Symbol" panose="05050102010706020507" pitchFamily="18" charset="2"/>
              </a:rPr>
              <a:t>{(1,1),</a:t>
            </a:r>
            <a:r>
              <a:rPr lang="zh-CN" altLang="en-US" b="1" dirty="0">
                <a:solidFill>
                  <a:srgbClr val="CC00CC"/>
                </a:solidFill>
                <a:latin typeface="+mn-ea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C00CC"/>
                </a:solidFill>
                <a:latin typeface="+mn-ea"/>
                <a:sym typeface="Symbol" panose="05050102010706020507" pitchFamily="18" charset="2"/>
              </a:rPr>
              <a:t>(1,2),</a:t>
            </a:r>
            <a:r>
              <a:rPr lang="zh-CN" altLang="en-US" b="1" dirty="0">
                <a:solidFill>
                  <a:srgbClr val="CC00CC"/>
                </a:solidFill>
                <a:latin typeface="+mn-ea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C00CC"/>
                </a:solidFill>
                <a:latin typeface="+mn-ea"/>
                <a:sym typeface="Symbol" panose="05050102010706020507" pitchFamily="18" charset="2"/>
              </a:rPr>
              <a:t>(2,1)}=3/36=1/12</a:t>
            </a:r>
            <a:endParaRPr lang="en-US" b="1" dirty="0">
              <a:solidFill>
                <a:srgbClr val="CC00CC"/>
              </a:solidFill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6DB9D2-C745-15B3-54ED-E3B7EC91846A}"/>
              </a:ext>
            </a:extLst>
          </p:cNvPr>
          <p:cNvSpPr txBox="1"/>
          <p:nvPr/>
        </p:nvSpPr>
        <p:spPr>
          <a:xfrm>
            <a:off x="1212412" y="5000386"/>
            <a:ext cx="1005818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ea"/>
                <a:sym typeface="Symbol" panose="05050102010706020507" pitchFamily="18" charset="2"/>
              </a:rPr>
              <a:t>小结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sym typeface="Symbol" panose="05050102010706020507" pitchFamily="18" charset="2"/>
              </a:rPr>
              <a:t>：</a:t>
            </a:r>
            <a:endParaRPr lang="en-US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A007A1D-F061-CB12-7B91-E7A5B31F7843}"/>
              </a:ext>
            </a:extLst>
          </p:cNvPr>
          <p:cNvSpPr txBox="1"/>
          <p:nvPr/>
        </p:nvSpPr>
        <p:spPr>
          <a:xfrm>
            <a:off x="2205639" y="5119778"/>
            <a:ext cx="13841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  <a:sym typeface="Symbol" panose="05050102010706020507" pitchFamily="18" charset="2"/>
              </a:rPr>
              <a:t>实数集</a:t>
            </a:r>
            <a:r>
              <a:rPr lang="en-US" altLang="zh-CN" sz="2400" b="1" dirty="0">
                <a:latin typeface="+mn-ea"/>
                <a:sym typeface="Symbol" panose="05050102010706020507" pitchFamily="18" charset="2"/>
              </a:rPr>
              <a:t>R</a:t>
            </a:r>
            <a:endParaRPr lang="zh-CN" altLang="en-US" dirty="0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4980D2BF-9D09-04A8-93F0-7D410D96B5D6}"/>
              </a:ext>
            </a:extLst>
          </p:cNvPr>
          <p:cNvSpPr/>
          <p:nvPr/>
        </p:nvSpPr>
        <p:spPr>
          <a:xfrm>
            <a:off x="3471587" y="5218473"/>
            <a:ext cx="6858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39A6BF4-97B5-8389-0BBE-1CFC0A237DA5}"/>
              </a:ext>
            </a:extLst>
          </p:cNvPr>
          <p:cNvSpPr txBox="1"/>
          <p:nvPr/>
        </p:nvSpPr>
        <p:spPr>
          <a:xfrm>
            <a:off x="4580988" y="5101940"/>
            <a:ext cx="15329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  <a:sym typeface="Symbol" panose="05050102010706020507" pitchFamily="18" charset="2"/>
              </a:rPr>
              <a:t>随机变量</a:t>
            </a:r>
            <a:endParaRPr lang="zh-CN" altLang="en-US" dirty="0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879FC591-0647-7362-8471-7DB8556E5C39}"/>
              </a:ext>
            </a:extLst>
          </p:cNvPr>
          <p:cNvSpPr/>
          <p:nvPr/>
        </p:nvSpPr>
        <p:spPr>
          <a:xfrm>
            <a:off x="6582761" y="5218473"/>
            <a:ext cx="6858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3005FB3-6D3B-A699-81D9-07CA9A50EF54}"/>
              </a:ext>
            </a:extLst>
          </p:cNvPr>
          <p:cNvSpPr txBox="1"/>
          <p:nvPr/>
        </p:nvSpPr>
        <p:spPr>
          <a:xfrm>
            <a:off x="7583768" y="5101812"/>
            <a:ext cx="162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n-ea"/>
                <a:sym typeface="Symbol" panose="05050102010706020507" pitchFamily="18" charset="2"/>
              </a:rPr>
              <a:t>分布函数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BEE9789-9161-E61F-F96E-F52BE9B5B843}"/>
                  </a:ext>
                </a:extLst>
              </p:cNvPr>
              <p:cNvSpPr txBox="1"/>
              <p:nvPr/>
            </p:nvSpPr>
            <p:spPr>
              <a:xfrm>
                <a:off x="2192500" y="5569064"/>
                <a:ext cx="13841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∀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𝒙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∈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𝑹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</m:oMath>
                  </m:oMathPara>
                </a14:m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BEE9789-9161-E61F-F96E-F52BE9B5B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2500" y="5569064"/>
                <a:ext cx="1384191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箭头: 右 19">
            <a:extLst>
              <a:ext uri="{FF2B5EF4-FFF2-40B4-BE49-F238E27FC236}">
                <a16:creationId xmlns:a16="http://schemas.microsoft.com/office/drawing/2014/main" id="{E602091E-674D-84DF-77D9-4B75E2914874}"/>
              </a:ext>
            </a:extLst>
          </p:cNvPr>
          <p:cNvSpPr/>
          <p:nvPr/>
        </p:nvSpPr>
        <p:spPr>
          <a:xfrm>
            <a:off x="3458448" y="5657165"/>
            <a:ext cx="685800" cy="2078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6AC00B7-73D8-B5B2-83D1-62E35EA3A4F7}"/>
              </a:ext>
            </a:extLst>
          </p:cNvPr>
          <p:cNvSpPr txBox="1"/>
          <p:nvPr/>
        </p:nvSpPr>
        <p:spPr>
          <a:xfrm>
            <a:off x="4150050" y="5551226"/>
            <a:ext cx="23353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sym typeface="Symbol" panose="05050102010706020507" pitchFamily="18" charset="2"/>
              </a:rPr>
              <a:t>{</a:t>
            </a:r>
            <a:r>
              <a:rPr lang="zh-CN" altLang="en-US" b="1" dirty="0">
                <a:solidFill>
                  <a:srgbClr val="C00000"/>
                </a:solidFill>
              </a:rPr>
              <a:t>：</a:t>
            </a:r>
            <a:r>
              <a:rPr lang="en-US" altLang="zh-CN" b="1" dirty="0">
                <a:solidFill>
                  <a:srgbClr val="C00000"/>
                </a:solidFill>
                <a:sym typeface="Symbol" panose="05050102010706020507" pitchFamily="18" charset="2"/>
              </a:rPr>
              <a:t>X()&lt;x}F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6EED5C54-E59D-6B80-AC7C-0BCE4358DC15}"/>
              </a:ext>
            </a:extLst>
          </p:cNvPr>
          <p:cNvSpPr/>
          <p:nvPr/>
        </p:nvSpPr>
        <p:spPr>
          <a:xfrm>
            <a:off x="6569622" y="5657165"/>
            <a:ext cx="685800" cy="2078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3F0E17A-78E2-8015-EB13-3ABEACB8ED64}"/>
              </a:ext>
            </a:extLst>
          </p:cNvPr>
          <p:cNvSpPr txBox="1"/>
          <p:nvPr/>
        </p:nvSpPr>
        <p:spPr>
          <a:xfrm>
            <a:off x="7357790" y="5551098"/>
            <a:ext cx="2099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F(x)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P{X&lt;x}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4" name="箭头: 上 23">
            <a:extLst>
              <a:ext uri="{FF2B5EF4-FFF2-40B4-BE49-F238E27FC236}">
                <a16:creationId xmlns:a16="http://schemas.microsoft.com/office/drawing/2014/main" id="{5F1BD13D-25DA-0743-48DC-C304E9C217D9}"/>
              </a:ext>
            </a:extLst>
          </p:cNvPr>
          <p:cNvSpPr/>
          <p:nvPr/>
        </p:nvSpPr>
        <p:spPr>
          <a:xfrm>
            <a:off x="5337175" y="6012763"/>
            <a:ext cx="228600" cy="38883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上 24">
            <a:extLst>
              <a:ext uri="{FF2B5EF4-FFF2-40B4-BE49-F238E27FC236}">
                <a16:creationId xmlns:a16="http://schemas.microsoft.com/office/drawing/2014/main" id="{F10E6622-78A6-4BCC-05BF-2C4486DB7421}"/>
              </a:ext>
            </a:extLst>
          </p:cNvPr>
          <p:cNvSpPr/>
          <p:nvPr/>
        </p:nvSpPr>
        <p:spPr>
          <a:xfrm>
            <a:off x="8169718" y="5970747"/>
            <a:ext cx="228600" cy="38883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3FC0C09-CF96-8FB6-30BB-666B51755428}"/>
              </a:ext>
            </a:extLst>
          </p:cNvPr>
          <p:cNvSpPr txBox="1"/>
          <p:nvPr/>
        </p:nvSpPr>
        <p:spPr>
          <a:xfrm>
            <a:off x="4736605" y="6401594"/>
            <a:ext cx="1972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n-ea"/>
                <a:sym typeface="Symbol" panose="05050102010706020507" pitchFamily="18" charset="2"/>
              </a:rPr>
              <a:t>随机事件体</a:t>
            </a:r>
            <a:r>
              <a:rPr lang="en-US" altLang="zh-CN" b="1" dirty="0">
                <a:latin typeface="+mn-ea"/>
                <a:sym typeface="Symbol" panose="05050102010706020507" pitchFamily="18" charset="2"/>
              </a:rPr>
              <a:t>F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E859530-FAAE-FA37-D4EB-9C490C8CB974}"/>
              </a:ext>
            </a:extLst>
          </p:cNvPr>
          <p:cNvSpPr txBox="1"/>
          <p:nvPr/>
        </p:nvSpPr>
        <p:spPr>
          <a:xfrm>
            <a:off x="7895900" y="6401594"/>
            <a:ext cx="11253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n-ea"/>
                <a:sym typeface="Symbol" panose="05050102010706020507" pitchFamily="18" charset="2"/>
              </a:rPr>
              <a:t>概率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399E90F-68B9-A8C9-53FA-29A57E10CE16}"/>
              </a:ext>
            </a:extLst>
          </p:cNvPr>
          <p:cNvSpPr txBox="1"/>
          <p:nvPr/>
        </p:nvSpPr>
        <p:spPr>
          <a:xfrm>
            <a:off x="9514494" y="5524848"/>
            <a:ext cx="1690081" cy="461665"/>
          </a:xfrm>
          <a:prstGeom prst="rect">
            <a:avLst/>
          </a:prstGeom>
          <a:solidFill>
            <a:srgbClr val="0000CC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F:R→[0,1]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245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8" grpId="0"/>
      <p:bldP spid="10" grpId="0" animBg="1"/>
      <p:bldP spid="11" grpId="0"/>
      <p:bldP spid="12" grpId="0" animBg="1"/>
      <p:bldP spid="13" grpId="0"/>
      <p:bldP spid="19" grpId="0"/>
      <p:bldP spid="20" grpId="0" animBg="1"/>
      <p:bldP spid="21" grpId="0"/>
      <p:bldP spid="22" grpId="0" animBg="1"/>
      <p:bldP spid="23" grpId="0"/>
      <p:bldP spid="24" grpId="0" animBg="1"/>
      <p:bldP spid="25" grpId="0" animBg="1"/>
      <p:bldP spid="26" grpId="0"/>
      <p:bldP spid="27" grpId="0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分布函数的性质</a:t>
            </a:r>
          </a:p>
        </p:txBody>
      </p:sp>
      <p:sp>
        <p:nvSpPr>
          <p:cNvPr id="351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6495" y="1053411"/>
            <a:ext cx="7697982" cy="895487"/>
          </a:xfrm>
        </p:spPr>
        <p:txBody>
          <a:bodyPr>
            <a:normAutofit/>
          </a:bodyPr>
          <a:lstStyle/>
          <a:p>
            <a:pPr eaLnBrk="1" hangingPunct="1">
              <a:lnSpc>
                <a:spcPct val="160000"/>
              </a:lnSpc>
              <a:buClr>
                <a:srgbClr val="00B050"/>
              </a:buClr>
              <a:buFont typeface="+mj-lt"/>
              <a:buAutoNum type="arabicPeriod"/>
            </a:pPr>
            <a:r>
              <a:rPr lang="en-US" altLang="zh-CN" dirty="0"/>
              <a:t>0 ≤ F(x) ≤ 1</a:t>
            </a:r>
            <a:r>
              <a:rPr lang="zh-CN" altLang="en-US" dirty="0"/>
              <a:t>；</a:t>
            </a:r>
          </a:p>
        </p:txBody>
      </p:sp>
      <p:sp>
        <p:nvSpPr>
          <p:cNvPr id="351236" name="Rectangle 4"/>
          <p:cNvSpPr>
            <a:spLocks noChangeArrowheads="1"/>
          </p:cNvSpPr>
          <p:nvPr/>
        </p:nvSpPr>
        <p:spPr bwMode="auto">
          <a:xfrm>
            <a:off x="841340" y="3582741"/>
            <a:ext cx="7850417" cy="2223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90600" indent="-53340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AutoNum type="arabicPeriod" startAt="2"/>
            </a:pPr>
            <a:r>
              <a:rPr lang="en-US" altLang="zh-CN" sz="2400" dirty="0">
                <a:latin typeface="+mn-ea"/>
                <a:ea typeface="+mn-ea"/>
              </a:rPr>
              <a:t>F(x)</a:t>
            </a:r>
            <a:r>
              <a:rPr lang="zh-CN" altLang="en-US" sz="2400" dirty="0">
                <a:latin typeface="+mn-ea"/>
                <a:ea typeface="+mn-ea"/>
              </a:rPr>
              <a:t>是单调不减函数，即对任意</a:t>
            </a: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en-US" altLang="zh-CN" sz="2400" baseline="-25000" dirty="0">
                <a:latin typeface="+mn-ea"/>
                <a:ea typeface="+mn-ea"/>
              </a:rPr>
              <a:t>1</a:t>
            </a:r>
            <a:r>
              <a:rPr lang="en-US" altLang="zh-CN" sz="2400" dirty="0">
                <a:latin typeface="+mn-ea"/>
                <a:ea typeface="+mn-ea"/>
              </a:rPr>
              <a:t>&lt;x</a:t>
            </a:r>
            <a:r>
              <a:rPr lang="en-US" altLang="zh-CN" sz="2400" baseline="-25000" dirty="0">
                <a:latin typeface="+mn-ea"/>
                <a:ea typeface="+mn-ea"/>
              </a:rPr>
              <a:t>2</a:t>
            </a:r>
            <a:r>
              <a:rPr lang="zh-CN" altLang="en-US" sz="2400" dirty="0">
                <a:latin typeface="+mn-ea"/>
                <a:ea typeface="+mn-ea"/>
              </a:rPr>
              <a:t>，有</a:t>
            </a:r>
          </a:p>
          <a:p>
            <a:pPr lvl="1" algn="ctr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F(x</a:t>
            </a:r>
            <a:r>
              <a:rPr lang="en-US" altLang="zh-CN" sz="2400" baseline="-25000" dirty="0">
                <a:latin typeface="+mn-ea"/>
                <a:ea typeface="+mn-ea"/>
              </a:rPr>
              <a:t>1</a:t>
            </a:r>
            <a:r>
              <a:rPr lang="en-US" altLang="zh-CN" sz="2400" dirty="0">
                <a:latin typeface="+mn-ea"/>
                <a:ea typeface="+mn-ea"/>
              </a:rPr>
              <a:t>) ≤ F(x</a:t>
            </a:r>
            <a:r>
              <a:rPr lang="en-US" altLang="zh-CN" sz="2400" baseline="-25000" dirty="0">
                <a:latin typeface="+mn-ea"/>
                <a:ea typeface="+mn-ea"/>
              </a:rPr>
              <a:t>2</a:t>
            </a:r>
            <a:r>
              <a:rPr lang="en-US" altLang="zh-CN" sz="2400" dirty="0">
                <a:latin typeface="+mn-ea"/>
                <a:ea typeface="+mn-ea"/>
              </a:rPr>
              <a:t>)</a:t>
            </a:r>
            <a:r>
              <a:rPr lang="zh-CN" altLang="en-US" sz="2400" dirty="0">
                <a:latin typeface="+mn-ea"/>
                <a:ea typeface="+mn-ea"/>
              </a:rPr>
              <a:t>；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AutoNum type="arabicPeriod" startAt="2"/>
            </a:pPr>
            <a:r>
              <a:rPr lang="en-US" altLang="zh-CN" sz="2400" dirty="0">
                <a:latin typeface="+mn-ea"/>
                <a:ea typeface="+mn-ea"/>
              </a:rPr>
              <a:t>F(x)</a:t>
            </a:r>
            <a:r>
              <a:rPr lang="zh-CN" altLang="en-US" sz="2400" dirty="0">
                <a:latin typeface="+mn-ea"/>
                <a:ea typeface="+mn-ea"/>
              </a:rPr>
              <a:t>是左连续函数，即对任意</a:t>
            </a: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zh-CN" altLang="en-US" sz="2400" dirty="0">
                <a:latin typeface="+mn-ea"/>
                <a:ea typeface="+mn-ea"/>
              </a:rPr>
              <a:t>有</a:t>
            </a:r>
          </a:p>
          <a:p>
            <a:pPr lvl="1" algn="ctr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F(x-0)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F(x)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  <p:grpSp>
        <p:nvGrpSpPr>
          <p:cNvPr id="2" name="Group 5"/>
          <p:cNvGrpSpPr/>
          <p:nvPr/>
        </p:nvGrpSpPr>
        <p:grpSpPr bwMode="auto">
          <a:xfrm>
            <a:off x="1250357" y="1657006"/>
            <a:ext cx="3516191" cy="943389"/>
            <a:chOff x="1049" y="1056"/>
            <a:chExt cx="2503" cy="6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28" name="Object 6"/>
                <p:cNvSpPr txBox="1"/>
                <p:nvPr/>
              </p:nvSpPr>
              <p:spPr bwMode="auto">
                <a:xfrm>
                  <a:off x="1049" y="1255"/>
                  <a:ext cx="2503" cy="4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→−∞</m:t>
                                </m:r>
                              </m:lim>
                            </m:limLow>
                          </m:fName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func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(−∞)=0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；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9228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49" y="1255"/>
                  <a:ext cx="2503" cy="487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29" name="Rectangle 7"/>
            <p:cNvSpPr>
              <a:spLocks noChangeArrowheads="1"/>
            </p:cNvSpPr>
            <p:nvPr/>
          </p:nvSpPr>
          <p:spPr bwMode="auto">
            <a:xfrm>
              <a:off x="2041" y="1056"/>
              <a:ext cx="23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buClrTx/>
                <a:buFontTx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△</a:t>
              </a:r>
            </a:p>
          </p:txBody>
        </p:sp>
      </p:grpSp>
      <p:grpSp>
        <p:nvGrpSpPr>
          <p:cNvPr id="3" name="Group 8"/>
          <p:cNvGrpSpPr/>
          <p:nvPr/>
        </p:nvGrpSpPr>
        <p:grpSpPr bwMode="auto">
          <a:xfrm>
            <a:off x="1250357" y="2441101"/>
            <a:ext cx="3629865" cy="994004"/>
            <a:chOff x="1049" y="1534"/>
            <a:chExt cx="2286" cy="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26" name="Object 9"/>
                <p:cNvSpPr txBox="1"/>
                <p:nvPr/>
              </p:nvSpPr>
              <p:spPr bwMode="auto">
                <a:xfrm>
                  <a:off x="1049" y="1710"/>
                  <a:ext cx="2286" cy="4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→+∞</m:t>
                                </m:r>
                              </m:lim>
                            </m:limLow>
                          </m:fName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func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(+∞)=1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；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9226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49" y="1710"/>
                  <a:ext cx="2286" cy="450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27" name="Rectangle 10"/>
            <p:cNvSpPr>
              <a:spLocks noChangeArrowheads="1"/>
            </p:cNvSpPr>
            <p:nvPr/>
          </p:nvSpPr>
          <p:spPr bwMode="auto">
            <a:xfrm>
              <a:off x="1919" y="1534"/>
              <a:ext cx="23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buClrTx/>
                <a:buFontTx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△</a:t>
              </a:r>
            </a:p>
          </p:txBody>
        </p:sp>
      </p:grp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1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1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1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1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1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1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1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1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1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1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35" grpId="0" build="p"/>
      <p:bldP spid="351236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三、离散型随机变量及其分布律</a:t>
            </a:r>
          </a:p>
        </p:txBody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1569" y="987653"/>
            <a:ext cx="12016006" cy="4423341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若随机变量</a:t>
            </a:r>
            <a:r>
              <a:rPr lang="en-US" altLang="zh-CN" dirty="0"/>
              <a:t>X</a:t>
            </a:r>
            <a:r>
              <a:rPr lang="zh-CN" altLang="en-US" dirty="0"/>
              <a:t>至多只</a:t>
            </a:r>
            <a:r>
              <a:rPr lang="zh-CN" altLang="en-US" dirty="0">
                <a:solidFill>
                  <a:srgbClr val="C00000"/>
                </a:solidFill>
              </a:rPr>
              <a:t>取可列无穷多个</a:t>
            </a:r>
            <a:r>
              <a:rPr lang="zh-CN" altLang="en-US" dirty="0"/>
              <a:t>数值：</a:t>
            </a:r>
            <a:r>
              <a:rPr lang="en-US" altLang="zh-CN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, x</a:t>
            </a:r>
            <a:r>
              <a:rPr lang="en-US" altLang="zh-CN" baseline="-25000" dirty="0"/>
              <a:t>2</a:t>
            </a:r>
            <a:r>
              <a:rPr lang="en-US" altLang="zh-CN" dirty="0"/>
              <a:t>, …,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n</a:t>
            </a:r>
            <a:r>
              <a:rPr lang="en-US" altLang="zh-CN" dirty="0"/>
              <a:t>, …</a:t>
            </a:r>
            <a:r>
              <a:rPr lang="zh-CN" altLang="en-US" dirty="0"/>
              <a:t>，令</a:t>
            </a:r>
            <a:r>
              <a:rPr lang="en-US" altLang="zh-CN" dirty="0"/>
              <a:t>p</a:t>
            </a:r>
            <a:r>
              <a:rPr lang="en-US" altLang="zh-CN" baseline="-25000" dirty="0"/>
              <a:t>k</a:t>
            </a:r>
            <a:r>
              <a:rPr lang="zh-CN" altLang="en-US" dirty="0"/>
              <a:t>＝</a:t>
            </a:r>
            <a:r>
              <a:rPr lang="en-US" altLang="zh-CN" dirty="0"/>
              <a:t>P{X</a:t>
            </a:r>
            <a:r>
              <a:rPr lang="zh-CN" altLang="en-US" dirty="0"/>
              <a:t>＝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k</a:t>
            </a:r>
            <a:r>
              <a:rPr lang="en-US" altLang="zh-CN" dirty="0"/>
              <a:t>}</a:t>
            </a:r>
            <a:r>
              <a:rPr lang="zh-CN" altLang="en-US" dirty="0"/>
              <a:t>，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它满足：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		</a:t>
            </a:r>
            <a:r>
              <a:rPr lang="en-US" altLang="zh-CN" dirty="0"/>
              <a:t>(1)p</a:t>
            </a:r>
            <a:r>
              <a:rPr lang="en-US" altLang="zh-CN" baseline="-25000" dirty="0"/>
              <a:t>k </a:t>
            </a:r>
            <a:r>
              <a:rPr lang="en-US" altLang="zh-CN" dirty="0"/>
              <a:t>≥ 0</a:t>
            </a:r>
            <a:r>
              <a:rPr lang="zh-CN" altLang="en-US" dirty="0"/>
              <a:t>，      </a:t>
            </a:r>
            <a:r>
              <a:rPr lang="en-US" altLang="zh-CN" dirty="0"/>
              <a:t>(2)         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则称</a:t>
            </a:r>
            <a:r>
              <a:rPr lang="en-US" altLang="zh-CN" dirty="0"/>
              <a:t>X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0000FF"/>
                </a:solidFill>
              </a:rPr>
              <a:t>离散型随机变量</a:t>
            </a:r>
            <a:r>
              <a:rPr lang="zh-CN" altLang="en-US" dirty="0"/>
              <a:t>，并称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		            </a:t>
            </a:r>
            <a:r>
              <a:rPr lang="en-US" altLang="zh-CN" dirty="0"/>
              <a:t>P{X</a:t>
            </a:r>
            <a:r>
              <a:rPr lang="zh-CN" altLang="en-US" dirty="0"/>
              <a:t>＝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k</a:t>
            </a:r>
            <a:r>
              <a:rPr lang="en-US" altLang="zh-CN" dirty="0"/>
              <a:t>}</a:t>
            </a:r>
            <a:r>
              <a:rPr lang="zh-CN" altLang="en-US" dirty="0"/>
              <a:t>＝</a:t>
            </a:r>
            <a:r>
              <a:rPr lang="en-US" altLang="zh-CN" dirty="0"/>
              <a:t>p</a:t>
            </a:r>
            <a:r>
              <a:rPr lang="en-US" altLang="zh-CN" baseline="-25000" dirty="0"/>
              <a:t>k</a:t>
            </a:r>
            <a:r>
              <a:rPr lang="zh-CN" altLang="en-US" dirty="0"/>
              <a:t>，</a:t>
            </a:r>
            <a:r>
              <a:rPr lang="en-US" altLang="zh-CN" dirty="0"/>
              <a:t>k=1, 2, 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为</a:t>
            </a:r>
            <a:r>
              <a:rPr lang="en-US" altLang="zh-CN" dirty="0"/>
              <a:t>X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分布律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0000FF"/>
                </a:solidFill>
              </a:rPr>
              <a:t>概率分布</a:t>
            </a:r>
            <a:r>
              <a:rPr lang="zh-CN" altLang="en-US" dirty="0"/>
              <a:t>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离散型</a:t>
            </a:r>
            <a:r>
              <a:rPr lang="en-US" altLang="zh-CN" dirty="0"/>
              <a:t>R.V.X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分布函数</a:t>
            </a:r>
            <a:r>
              <a:rPr lang="zh-CN" altLang="en-US" dirty="0"/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2260" name="Object 4"/>
              <p:cNvSpPr txBox="1"/>
              <p:nvPr/>
            </p:nvSpPr>
            <p:spPr bwMode="auto">
              <a:xfrm>
                <a:off x="4498975" y="2236760"/>
                <a:ext cx="681327" cy="59358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226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98975" y="2236760"/>
                <a:ext cx="681327" cy="593580"/>
              </a:xfrm>
              <a:prstGeom prst="rect">
                <a:avLst/>
              </a:prstGeom>
              <a:blipFill>
                <a:blip r:embed="rId3"/>
                <a:stretch>
                  <a:fillRect l="-77679" t="-112371" r="-78571" b="-15670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261" name="Object 5"/>
              <p:cNvSpPr txBox="1"/>
              <p:nvPr/>
            </p:nvSpPr>
            <p:spPr bwMode="auto">
              <a:xfrm>
                <a:off x="1908175" y="4987827"/>
                <a:ext cx="7240118" cy="8463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(−∞&lt;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&lt;+∞)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2261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8175" y="4987827"/>
                <a:ext cx="7240118" cy="8463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2262" name="Rectangle 6"/>
          <p:cNvSpPr>
            <a:spLocks noChangeArrowheads="1"/>
          </p:cNvSpPr>
          <p:nvPr/>
        </p:nvSpPr>
        <p:spPr bwMode="auto">
          <a:xfrm>
            <a:off x="331569" y="6053512"/>
            <a:ext cx="115062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它是右连续单调不减的阶梯函数，在</a:t>
            </a: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 err="1">
                <a:latin typeface="+mn-ea"/>
                <a:ea typeface="+mn-ea"/>
              </a:rPr>
              <a:t>x</a:t>
            </a:r>
            <a:r>
              <a:rPr lang="en-US" altLang="zh-CN" sz="2400" baseline="-25000" dirty="0" err="1">
                <a:latin typeface="+mn-ea"/>
                <a:ea typeface="+mn-ea"/>
              </a:rPr>
              <a:t>k</a:t>
            </a:r>
            <a:r>
              <a:rPr lang="zh-CN" altLang="en-US" sz="2400" dirty="0">
                <a:latin typeface="+mn-ea"/>
                <a:ea typeface="+mn-ea"/>
              </a:rPr>
              <a:t>处有第一类跳跃型间断点，其跳跃度为</a:t>
            </a:r>
            <a:r>
              <a:rPr lang="en-US" altLang="zh-CN" sz="2400" dirty="0">
                <a:latin typeface="+mn-ea"/>
                <a:ea typeface="+mn-ea"/>
              </a:rPr>
              <a:t>p</a:t>
            </a:r>
            <a:r>
              <a:rPr lang="en-US" altLang="zh-CN" sz="2400" baseline="-25000" dirty="0">
                <a:latin typeface="+mn-ea"/>
                <a:ea typeface="+mn-ea"/>
              </a:rPr>
              <a:t>k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2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2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2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2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2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2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522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52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2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2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2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2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2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2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2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2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2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52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52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5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59" grpId="0" uiExpand="1" build="p"/>
      <p:bldP spid="352260" grpId="0"/>
      <p:bldP spid="352261" grpId="0"/>
      <p:bldP spid="35226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离散型</a:t>
            </a:r>
            <a:r>
              <a:rPr lang="en-US" altLang="zh-CN">
                <a:ea typeface="黑体" panose="02010609060101010101" pitchFamily="49" charset="-122"/>
              </a:rPr>
              <a:t>R.V.X</a:t>
            </a:r>
            <a:r>
              <a:rPr lang="zh-CN" altLang="en-US">
                <a:ea typeface="黑体" panose="02010609060101010101" pitchFamily="49" charset="-122"/>
              </a:rPr>
              <a:t>的表示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9927" y="1060868"/>
            <a:ext cx="2886075" cy="592275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C00000"/>
                </a:solidFill>
              </a:rPr>
              <a:t>分布律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zh-CN" altLang="en-US" dirty="0">
                <a:solidFill>
                  <a:srgbClr val="C00000"/>
                </a:solidFill>
              </a:rPr>
              <a:t>函数形式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  <a:r>
              <a:rPr lang="zh-CN" altLang="en-US" dirty="0"/>
              <a:t>：</a:t>
            </a:r>
          </a:p>
        </p:txBody>
      </p:sp>
      <p:sp>
        <p:nvSpPr>
          <p:cNvPr id="353284" name="Rectangle 4"/>
          <p:cNvSpPr>
            <a:spLocks noChangeArrowheads="1"/>
          </p:cNvSpPr>
          <p:nvPr/>
        </p:nvSpPr>
        <p:spPr bwMode="auto">
          <a:xfrm>
            <a:off x="6851461" y="1208139"/>
            <a:ext cx="2210312" cy="478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分布函数</a:t>
            </a:r>
            <a:r>
              <a:rPr lang="zh-CN" altLang="en-US" sz="2400" dirty="0">
                <a:latin typeface="+mn-ea"/>
                <a:ea typeface="+mn-ea"/>
              </a:rPr>
              <a:t>：</a:t>
            </a:r>
          </a:p>
        </p:txBody>
      </p:sp>
      <p:sp>
        <p:nvSpPr>
          <p:cNvPr id="353285" name="Rectangle 5"/>
          <p:cNvSpPr>
            <a:spLocks noChangeArrowheads="1"/>
          </p:cNvSpPr>
          <p:nvPr/>
        </p:nvSpPr>
        <p:spPr bwMode="auto">
          <a:xfrm>
            <a:off x="231416" y="2078003"/>
            <a:ext cx="10092661" cy="478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	</a:t>
            </a:r>
            <a:r>
              <a:rPr lang="zh-CN" altLang="en-US" sz="2400" dirty="0">
                <a:latin typeface="+mn-ea"/>
                <a:ea typeface="+mn-ea"/>
              </a:rPr>
              <a:t>其中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δ(x)</a:t>
            </a:r>
            <a:r>
              <a:rPr lang="zh-CN" altLang="en-US" sz="2400" dirty="0">
                <a:latin typeface="+mn-ea"/>
                <a:ea typeface="+mn-ea"/>
              </a:rPr>
              <a:t>为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单位脉冲函数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μ(x)</a:t>
            </a:r>
            <a:r>
              <a:rPr lang="zh-CN" altLang="en-US" sz="2400" dirty="0">
                <a:latin typeface="+mn-ea"/>
                <a:ea typeface="+mn-ea"/>
              </a:rPr>
              <a:t>为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单位阶跃函数</a:t>
            </a:r>
            <a:r>
              <a:rPr lang="zh-CN" altLang="en-US" sz="2400" dirty="0">
                <a:latin typeface="+mn-ea"/>
                <a:ea typeface="+mn-ea"/>
              </a:rPr>
              <a:t>，定义为：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72" name="Object 6"/>
              <p:cNvSpPr txBox="1"/>
              <p:nvPr/>
            </p:nvSpPr>
            <p:spPr bwMode="auto">
              <a:xfrm>
                <a:off x="3051175" y="921331"/>
                <a:ext cx="3223371" cy="10146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7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51175" y="921331"/>
                <a:ext cx="3223371" cy="1014648"/>
              </a:xfrm>
              <a:prstGeom prst="rect">
                <a:avLst/>
              </a:prstGeom>
              <a:blipFill rotWithShape="1">
                <a:blip r:embed="rId2"/>
                <a:stretch>
                  <a:fillRect t="-57" r="3" b="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287" name="Object 7"/>
              <p:cNvSpPr txBox="1"/>
              <p:nvPr/>
            </p:nvSpPr>
            <p:spPr bwMode="auto">
              <a:xfrm>
                <a:off x="8388517" y="1023947"/>
                <a:ext cx="3251953" cy="10146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328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8517" y="1023947"/>
                <a:ext cx="3251953" cy="1014648"/>
              </a:xfrm>
              <a:prstGeom prst="rect">
                <a:avLst/>
              </a:prstGeom>
              <a:blipFill rotWithShape="1">
                <a:blip r:embed="rId3"/>
                <a:stretch>
                  <a:fillRect l="-5" t="-32" r="9" b="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288" name="Object 8"/>
              <p:cNvSpPr txBox="1"/>
              <p:nvPr/>
            </p:nvSpPr>
            <p:spPr bwMode="auto">
              <a:xfrm>
                <a:off x="614437" y="3349820"/>
                <a:ext cx="2983603" cy="110356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+∞,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其它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328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4437" y="3349820"/>
                <a:ext cx="2983603" cy="1103567"/>
              </a:xfrm>
              <a:prstGeom prst="rect">
                <a:avLst/>
              </a:prstGeom>
              <a:blipFill rotWithShape="1">
                <a:blip r:embed="rId4"/>
                <a:stretch>
                  <a:fillRect l="-13" t="-18" r="4" b="1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289" name="Object 9"/>
              <p:cNvSpPr txBox="1"/>
              <p:nvPr/>
            </p:nvSpPr>
            <p:spPr bwMode="auto">
              <a:xfrm>
                <a:off x="4069823" y="3555405"/>
                <a:ext cx="2088046" cy="7764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328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9823" y="3555405"/>
                <a:ext cx="2088046" cy="776468"/>
              </a:xfrm>
              <a:prstGeom prst="rect">
                <a:avLst/>
              </a:prstGeom>
              <a:blipFill rotWithShape="1">
                <a:blip r:embed="rId5"/>
                <a:stretch>
                  <a:fillRect l="-5" t="-5" r="13" b="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290" name="Object 10"/>
              <p:cNvSpPr txBox="1"/>
              <p:nvPr/>
            </p:nvSpPr>
            <p:spPr bwMode="auto">
              <a:xfrm>
                <a:off x="614437" y="5034963"/>
                <a:ext cx="2686672" cy="10733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329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4437" y="5034963"/>
                <a:ext cx="2686672" cy="1073398"/>
              </a:xfrm>
              <a:prstGeom prst="rect">
                <a:avLst/>
              </a:prstGeom>
              <a:blipFill rotWithShape="1">
                <a:blip r:embed="rId6"/>
                <a:stretch>
                  <a:fillRect l="-15" t="-4" r="14" b="2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1"/>
          <p:cNvGrpSpPr/>
          <p:nvPr/>
        </p:nvGrpSpPr>
        <p:grpSpPr bwMode="auto">
          <a:xfrm>
            <a:off x="7615624" y="3087768"/>
            <a:ext cx="3506011" cy="1665673"/>
            <a:chOff x="3264" y="2064"/>
            <a:chExt cx="2208" cy="1049"/>
          </a:xfrm>
        </p:grpSpPr>
        <p:sp>
          <p:nvSpPr>
            <p:cNvPr id="11302" name="Line 12"/>
            <p:cNvSpPr>
              <a:spLocks noChangeShapeType="1"/>
            </p:cNvSpPr>
            <p:nvPr/>
          </p:nvSpPr>
          <p:spPr bwMode="auto">
            <a:xfrm>
              <a:off x="3360" y="2880"/>
              <a:ext cx="21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b="1">
                <a:latin typeface="+mn-ea"/>
              </a:endParaRPr>
            </a:p>
          </p:txBody>
        </p:sp>
        <p:sp>
          <p:nvSpPr>
            <p:cNvPr id="11303" name="Line 13"/>
            <p:cNvSpPr>
              <a:spLocks noChangeShapeType="1"/>
            </p:cNvSpPr>
            <p:nvPr/>
          </p:nvSpPr>
          <p:spPr bwMode="auto">
            <a:xfrm flipV="1">
              <a:off x="3552" y="2112"/>
              <a:ext cx="0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b="1">
                <a:latin typeface="+mn-ea"/>
              </a:endParaRPr>
            </a:p>
          </p:txBody>
        </p:sp>
        <p:sp>
          <p:nvSpPr>
            <p:cNvPr id="11304" name="Line 14"/>
            <p:cNvSpPr>
              <a:spLocks noChangeShapeType="1"/>
            </p:cNvSpPr>
            <p:nvPr/>
          </p:nvSpPr>
          <p:spPr bwMode="auto">
            <a:xfrm flipV="1">
              <a:off x="3948" y="2448"/>
              <a:ext cx="0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b="1">
                <a:latin typeface="+mn-ea"/>
              </a:endParaRPr>
            </a:p>
          </p:txBody>
        </p:sp>
        <p:sp>
          <p:nvSpPr>
            <p:cNvPr id="11305" name="Line 15"/>
            <p:cNvSpPr>
              <a:spLocks noChangeShapeType="1"/>
            </p:cNvSpPr>
            <p:nvPr/>
          </p:nvSpPr>
          <p:spPr bwMode="auto">
            <a:xfrm flipV="1">
              <a:off x="4344" y="2400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b="1">
                <a:latin typeface="+mn-ea"/>
              </a:endParaRPr>
            </a:p>
          </p:txBody>
        </p:sp>
        <p:sp>
          <p:nvSpPr>
            <p:cNvPr id="11306" name="Line 16"/>
            <p:cNvSpPr>
              <a:spLocks noChangeShapeType="1"/>
            </p:cNvSpPr>
            <p:nvPr/>
          </p:nvSpPr>
          <p:spPr bwMode="auto">
            <a:xfrm flipV="1">
              <a:off x="4740" y="259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b="1">
                <a:latin typeface="+mn-ea"/>
              </a:endParaRPr>
            </a:p>
          </p:txBody>
        </p:sp>
        <p:sp>
          <p:nvSpPr>
            <p:cNvPr id="11307" name="Line 17"/>
            <p:cNvSpPr>
              <a:spLocks noChangeShapeType="1"/>
            </p:cNvSpPr>
            <p:nvPr/>
          </p:nvSpPr>
          <p:spPr bwMode="auto">
            <a:xfrm flipV="1">
              <a:off x="5136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b="1">
                <a:latin typeface="+mn-ea"/>
              </a:endParaRPr>
            </a:p>
          </p:txBody>
        </p:sp>
        <p:sp>
          <p:nvSpPr>
            <p:cNvPr id="11308" name="Rectangle 18"/>
            <p:cNvSpPr>
              <a:spLocks noChangeArrowheads="1"/>
            </p:cNvSpPr>
            <p:nvPr/>
          </p:nvSpPr>
          <p:spPr bwMode="auto">
            <a:xfrm>
              <a:off x="3264" y="2160"/>
              <a:ext cx="34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>
                  <a:latin typeface="+mn-ea"/>
                  <a:ea typeface="+mn-ea"/>
                </a:rPr>
                <a:t>f(x)</a:t>
              </a:r>
            </a:p>
          </p:txBody>
        </p:sp>
        <p:sp>
          <p:nvSpPr>
            <p:cNvPr id="11309" name="Rectangle 19"/>
            <p:cNvSpPr>
              <a:spLocks noChangeArrowheads="1"/>
            </p:cNvSpPr>
            <p:nvPr/>
          </p:nvSpPr>
          <p:spPr bwMode="auto">
            <a:xfrm>
              <a:off x="3408" y="2880"/>
              <a:ext cx="11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11310" name="Rectangle 20"/>
            <p:cNvSpPr>
              <a:spLocks noChangeArrowheads="1"/>
            </p:cNvSpPr>
            <p:nvPr/>
          </p:nvSpPr>
          <p:spPr bwMode="auto">
            <a:xfrm>
              <a:off x="3888" y="2880"/>
              <a:ext cx="19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x</a:t>
              </a:r>
              <a:r>
                <a:rPr lang="en-US" altLang="zh-CN" sz="2400" baseline="-250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11311" name="Rectangle 21"/>
            <p:cNvSpPr>
              <a:spLocks noChangeArrowheads="1"/>
            </p:cNvSpPr>
            <p:nvPr/>
          </p:nvSpPr>
          <p:spPr bwMode="auto">
            <a:xfrm>
              <a:off x="4272" y="2880"/>
              <a:ext cx="19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x</a:t>
              </a:r>
              <a:r>
                <a:rPr lang="en-US" altLang="zh-CN" sz="2400" baseline="-25000" dirty="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11312" name="Rectangle 22"/>
            <p:cNvSpPr>
              <a:spLocks noChangeArrowheads="1"/>
            </p:cNvSpPr>
            <p:nvPr/>
          </p:nvSpPr>
          <p:spPr bwMode="auto">
            <a:xfrm>
              <a:off x="5088" y="2880"/>
              <a:ext cx="19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 dirty="0" err="1">
                  <a:latin typeface="+mn-ea"/>
                  <a:ea typeface="+mn-ea"/>
                </a:rPr>
                <a:t>x</a:t>
              </a:r>
              <a:r>
                <a:rPr lang="en-US" altLang="zh-CN" sz="2400" baseline="-25000" dirty="0" err="1">
                  <a:latin typeface="+mn-ea"/>
                  <a:ea typeface="+mn-ea"/>
                </a:rPr>
                <a:t>k</a:t>
              </a:r>
              <a:endParaRPr lang="en-US" altLang="zh-CN" sz="2400" baseline="-25000" dirty="0">
                <a:latin typeface="+mn-ea"/>
                <a:ea typeface="+mn-ea"/>
              </a:endParaRPr>
            </a:p>
          </p:txBody>
        </p:sp>
        <p:sp>
          <p:nvSpPr>
            <p:cNvPr id="11313" name="Rectangle 23"/>
            <p:cNvSpPr>
              <a:spLocks noChangeArrowheads="1"/>
            </p:cNvSpPr>
            <p:nvPr/>
          </p:nvSpPr>
          <p:spPr bwMode="auto">
            <a:xfrm>
              <a:off x="3888" y="2218"/>
              <a:ext cx="20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11314" name="Rectangle 24"/>
            <p:cNvSpPr>
              <a:spLocks noChangeArrowheads="1"/>
            </p:cNvSpPr>
            <p:nvPr/>
          </p:nvSpPr>
          <p:spPr bwMode="auto">
            <a:xfrm>
              <a:off x="4272" y="2160"/>
              <a:ext cx="20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11315" name="Rectangle 25"/>
            <p:cNvSpPr>
              <a:spLocks noChangeArrowheads="1"/>
            </p:cNvSpPr>
            <p:nvPr/>
          </p:nvSpPr>
          <p:spPr bwMode="auto">
            <a:xfrm>
              <a:off x="5088" y="2064"/>
              <a:ext cx="20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k</a:t>
              </a:r>
            </a:p>
          </p:txBody>
        </p:sp>
      </p:grpSp>
      <p:grpSp>
        <p:nvGrpSpPr>
          <p:cNvPr id="3" name="Group 26"/>
          <p:cNvGrpSpPr/>
          <p:nvPr/>
        </p:nvGrpSpPr>
        <p:grpSpPr bwMode="auto">
          <a:xfrm>
            <a:off x="7580691" y="5232757"/>
            <a:ext cx="3636217" cy="1589456"/>
            <a:chOff x="3221" y="3130"/>
            <a:chExt cx="2290" cy="1001"/>
          </a:xfrm>
        </p:grpSpPr>
        <p:sp>
          <p:nvSpPr>
            <p:cNvPr id="11281" name="Line 27"/>
            <p:cNvSpPr>
              <a:spLocks noChangeShapeType="1"/>
            </p:cNvSpPr>
            <p:nvPr/>
          </p:nvSpPr>
          <p:spPr bwMode="auto">
            <a:xfrm>
              <a:off x="3360" y="3898"/>
              <a:ext cx="21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b="1">
                <a:latin typeface="+mn-ea"/>
              </a:endParaRPr>
            </a:p>
          </p:txBody>
        </p:sp>
        <p:sp>
          <p:nvSpPr>
            <p:cNvPr id="11282" name="Line 28"/>
            <p:cNvSpPr>
              <a:spLocks noChangeShapeType="1"/>
            </p:cNvSpPr>
            <p:nvPr/>
          </p:nvSpPr>
          <p:spPr bwMode="auto">
            <a:xfrm flipV="1">
              <a:off x="3552" y="3130"/>
              <a:ext cx="0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b="1">
                <a:latin typeface="+mn-ea"/>
              </a:endParaRPr>
            </a:p>
          </p:txBody>
        </p:sp>
        <p:sp>
          <p:nvSpPr>
            <p:cNvPr id="11283" name="Rectangle 29"/>
            <p:cNvSpPr>
              <a:spLocks noChangeArrowheads="1"/>
            </p:cNvSpPr>
            <p:nvPr/>
          </p:nvSpPr>
          <p:spPr bwMode="auto">
            <a:xfrm>
              <a:off x="3221" y="3178"/>
              <a:ext cx="37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>
                  <a:latin typeface="+mn-ea"/>
                  <a:ea typeface="+mn-ea"/>
                </a:rPr>
                <a:t>F(x)</a:t>
              </a:r>
            </a:p>
          </p:txBody>
        </p:sp>
        <p:sp>
          <p:nvSpPr>
            <p:cNvPr id="11284" name="Rectangle 30"/>
            <p:cNvSpPr>
              <a:spLocks noChangeArrowheads="1"/>
            </p:cNvSpPr>
            <p:nvPr/>
          </p:nvSpPr>
          <p:spPr bwMode="auto">
            <a:xfrm>
              <a:off x="3888" y="3898"/>
              <a:ext cx="19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x</a:t>
              </a:r>
              <a:r>
                <a:rPr lang="en-US" altLang="zh-CN" sz="2400" baseline="-250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11285" name="Rectangle 31"/>
            <p:cNvSpPr>
              <a:spLocks noChangeArrowheads="1"/>
            </p:cNvSpPr>
            <p:nvPr/>
          </p:nvSpPr>
          <p:spPr bwMode="auto">
            <a:xfrm>
              <a:off x="4272" y="3898"/>
              <a:ext cx="19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x</a:t>
              </a:r>
              <a:r>
                <a:rPr lang="en-US" altLang="zh-CN" sz="2400" baseline="-25000" dirty="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11286" name="Rectangle 32"/>
            <p:cNvSpPr>
              <a:spLocks noChangeArrowheads="1"/>
            </p:cNvSpPr>
            <p:nvPr/>
          </p:nvSpPr>
          <p:spPr bwMode="auto">
            <a:xfrm>
              <a:off x="5088" y="3898"/>
              <a:ext cx="19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 dirty="0" err="1">
                  <a:latin typeface="+mn-ea"/>
                  <a:ea typeface="+mn-ea"/>
                </a:rPr>
                <a:t>x</a:t>
              </a:r>
              <a:r>
                <a:rPr lang="en-US" altLang="zh-CN" sz="2400" baseline="-25000" dirty="0" err="1">
                  <a:latin typeface="+mn-ea"/>
                  <a:ea typeface="+mn-ea"/>
                </a:rPr>
                <a:t>k</a:t>
              </a:r>
              <a:endParaRPr lang="en-US" altLang="zh-CN" sz="2400" baseline="-25000" dirty="0">
                <a:latin typeface="+mn-ea"/>
                <a:ea typeface="+mn-ea"/>
              </a:endParaRPr>
            </a:p>
          </p:txBody>
        </p:sp>
        <p:sp>
          <p:nvSpPr>
            <p:cNvPr id="11287" name="Rectangle 33"/>
            <p:cNvSpPr>
              <a:spLocks noChangeArrowheads="1"/>
            </p:cNvSpPr>
            <p:nvPr/>
          </p:nvSpPr>
          <p:spPr bwMode="auto">
            <a:xfrm>
              <a:off x="4080" y="3610"/>
              <a:ext cx="20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11288" name="Rectangle 34"/>
            <p:cNvSpPr>
              <a:spLocks noChangeArrowheads="1"/>
            </p:cNvSpPr>
            <p:nvPr/>
          </p:nvSpPr>
          <p:spPr bwMode="auto">
            <a:xfrm>
              <a:off x="4448" y="3504"/>
              <a:ext cx="20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11289" name="Rectangle 35"/>
            <p:cNvSpPr>
              <a:spLocks noChangeArrowheads="1"/>
            </p:cNvSpPr>
            <p:nvPr/>
          </p:nvSpPr>
          <p:spPr bwMode="auto">
            <a:xfrm>
              <a:off x="5232" y="3168"/>
              <a:ext cx="20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k</a:t>
              </a:r>
            </a:p>
          </p:txBody>
        </p:sp>
        <p:sp>
          <p:nvSpPr>
            <p:cNvPr id="11290" name="Oval 36"/>
            <p:cNvSpPr>
              <a:spLocks noChangeArrowheads="1"/>
            </p:cNvSpPr>
            <p:nvPr/>
          </p:nvSpPr>
          <p:spPr bwMode="auto">
            <a:xfrm>
              <a:off x="3930" y="3624"/>
              <a:ext cx="45" cy="45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11291" name="Line 37"/>
            <p:cNvSpPr>
              <a:spLocks noChangeShapeType="1"/>
            </p:cNvSpPr>
            <p:nvPr/>
          </p:nvSpPr>
          <p:spPr bwMode="auto">
            <a:xfrm>
              <a:off x="3984" y="3648"/>
              <a:ext cx="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b="1">
                <a:latin typeface="+mn-ea"/>
              </a:endParaRPr>
            </a:p>
          </p:txBody>
        </p:sp>
        <p:sp>
          <p:nvSpPr>
            <p:cNvPr id="11292" name="Line 38"/>
            <p:cNvSpPr>
              <a:spLocks noChangeShapeType="1"/>
            </p:cNvSpPr>
            <p:nvPr/>
          </p:nvSpPr>
          <p:spPr bwMode="auto">
            <a:xfrm>
              <a:off x="3948" y="3678"/>
              <a:ext cx="0" cy="227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b="1">
                <a:latin typeface="+mn-ea"/>
              </a:endParaRPr>
            </a:p>
          </p:txBody>
        </p:sp>
        <p:sp>
          <p:nvSpPr>
            <p:cNvPr id="11293" name="Line 39"/>
            <p:cNvSpPr>
              <a:spLocks noChangeShapeType="1"/>
            </p:cNvSpPr>
            <p:nvPr/>
          </p:nvSpPr>
          <p:spPr bwMode="auto">
            <a:xfrm>
              <a:off x="4338" y="3570"/>
              <a:ext cx="0" cy="91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b="1">
                <a:latin typeface="+mn-ea"/>
              </a:endParaRPr>
            </a:p>
          </p:txBody>
        </p:sp>
        <p:sp>
          <p:nvSpPr>
            <p:cNvPr id="11294" name="Oval 40"/>
            <p:cNvSpPr>
              <a:spLocks noChangeArrowheads="1"/>
            </p:cNvSpPr>
            <p:nvPr/>
          </p:nvSpPr>
          <p:spPr bwMode="auto">
            <a:xfrm>
              <a:off x="4317" y="3497"/>
              <a:ext cx="45" cy="45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11295" name="Line 41"/>
            <p:cNvSpPr>
              <a:spLocks noChangeShapeType="1"/>
            </p:cNvSpPr>
            <p:nvPr/>
          </p:nvSpPr>
          <p:spPr bwMode="auto">
            <a:xfrm>
              <a:off x="4371" y="3521"/>
              <a:ext cx="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b="1">
                <a:latin typeface="+mn-ea"/>
              </a:endParaRPr>
            </a:p>
          </p:txBody>
        </p:sp>
        <p:sp>
          <p:nvSpPr>
            <p:cNvPr id="11296" name="Line 42"/>
            <p:cNvSpPr>
              <a:spLocks noChangeShapeType="1"/>
            </p:cNvSpPr>
            <p:nvPr/>
          </p:nvSpPr>
          <p:spPr bwMode="auto">
            <a:xfrm>
              <a:off x="4725" y="3360"/>
              <a:ext cx="0" cy="159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b="1">
                <a:latin typeface="+mn-ea"/>
              </a:endParaRPr>
            </a:p>
          </p:txBody>
        </p:sp>
        <p:sp>
          <p:nvSpPr>
            <p:cNvPr id="11297" name="Oval 43"/>
            <p:cNvSpPr>
              <a:spLocks noChangeArrowheads="1"/>
            </p:cNvSpPr>
            <p:nvPr/>
          </p:nvSpPr>
          <p:spPr bwMode="auto">
            <a:xfrm>
              <a:off x="4704" y="3315"/>
              <a:ext cx="45" cy="45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11298" name="Line 44"/>
            <p:cNvSpPr>
              <a:spLocks noChangeShapeType="1"/>
            </p:cNvSpPr>
            <p:nvPr/>
          </p:nvSpPr>
          <p:spPr bwMode="auto">
            <a:xfrm>
              <a:off x="4758" y="3339"/>
              <a:ext cx="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b="1">
                <a:latin typeface="+mn-ea"/>
              </a:endParaRPr>
            </a:p>
          </p:txBody>
        </p:sp>
        <p:sp>
          <p:nvSpPr>
            <p:cNvPr id="11299" name="Line 45"/>
            <p:cNvSpPr>
              <a:spLocks noChangeShapeType="1"/>
            </p:cNvSpPr>
            <p:nvPr/>
          </p:nvSpPr>
          <p:spPr bwMode="auto">
            <a:xfrm>
              <a:off x="5112" y="3226"/>
              <a:ext cx="0" cy="113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b="1">
                <a:latin typeface="+mn-ea"/>
              </a:endParaRPr>
            </a:p>
          </p:txBody>
        </p:sp>
        <p:sp>
          <p:nvSpPr>
            <p:cNvPr id="11300" name="Oval 46"/>
            <p:cNvSpPr>
              <a:spLocks noChangeArrowheads="1"/>
            </p:cNvSpPr>
            <p:nvPr/>
          </p:nvSpPr>
          <p:spPr bwMode="auto">
            <a:xfrm>
              <a:off x="5094" y="3171"/>
              <a:ext cx="45" cy="45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11301" name="Line 47"/>
            <p:cNvSpPr>
              <a:spLocks noChangeShapeType="1"/>
            </p:cNvSpPr>
            <p:nvPr/>
          </p:nvSpPr>
          <p:spPr bwMode="auto">
            <a:xfrm>
              <a:off x="5148" y="3195"/>
              <a:ext cx="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b="1">
                <a:latin typeface="+mn-ea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3328" name="Object 48"/>
              <p:cNvSpPr txBox="1"/>
              <p:nvPr/>
            </p:nvSpPr>
            <p:spPr bwMode="auto">
              <a:xfrm>
                <a:off x="3852621" y="5243624"/>
                <a:ext cx="1849866" cy="4763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53328" name="Object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2621" y="5243624"/>
                <a:ext cx="1849866" cy="476360"/>
              </a:xfrm>
              <a:prstGeom prst="rect">
                <a:avLst/>
              </a:prstGeom>
              <a:blipFill rotWithShape="1">
                <a:blip r:embed="rId7"/>
                <a:stretch>
                  <a:fillRect l="-4" t="-90" r="10" b="11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3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3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3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3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3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3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5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84" grpId="0" autoUpdateAnimBg="0"/>
      <p:bldP spid="353285" grpId="0" autoUpdateAnimBg="0"/>
      <p:bldP spid="11272" grpId="0"/>
      <p:bldP spid="353287" grpId="0"/>
      <p:bldP spid="353288" grpId="0"/>
      <p:bldP spid="353289" grpId="0"/>
      <p:bldP spid="353290" grpId="0"/>
      <p:bldP spid="35332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4175" y="856215"/>
            <a:ext cx="8305800" cy="668098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设</a:t>
            </a:r>
            <a:r>
              <a:rPr lang="en-US" altLang="zh-CN"/>
              <a:t>R.V.X</a:t>
            </a:r>
            <a:r>
              <a:rPr lang="zh-CN" altLang="en-US"/>
              <a:t>的分布律为：</a:t>
            </a:r>
          </a:p>
        </p:txBody>
      </p:sp>
      <p:graphicFrame>
        <p:nvGraphicFramePr>
          <p:cNvPr id="354308" name="Group 4"/>
          <p:cNvGraphicFramePr>
            <a:graphicFrameLocks noGrp="1"/>
          </p:cNvGraphicFramePr>
          <p:nvPr/>
        </p:nvGraphicFramePr>
        <p:xfrm>
          <a:off x="3660775" y="1075739"/>
          <a:ext cx="4498339" cy="1022587"/>
        </p:xfrm>
        <a:graphic>
          <a:graphicData uri="http://schemas.openxmlformats.org/drawingml/2006/table">
            <a:tbl>
              <a:tblPr/>
              <a:tblGrid>
                <a:gridCol w="650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2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1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3578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X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009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3/10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6/10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1/10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305" name="Rectangle 27"/>
          <p:cNvSpPr>
            <a:spLocks noChangeArrowheads="1"/>
          </p:cNvSpPr>
          <p:nvPr/>
        </p:nvSpPr>
        <p:spPr bwMode="auto">
          <a:xfrm>
            <a:off x="425785" y="2275573"/>
            <a:ext cx="7850417" cy="478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求</a:t>
            </a: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zh-CN" altLang="en-US" sz="2400" dirty="0">
                <a:latin typeface="+mn-ea"/>
                <a:ea typeface="+mn-ea"/>
              </a:rPr>
              <a:t>的分布律和分布函数。</a:t>
            </a:r>
          </a:p>
        </p:txBody>
      </p:sp>
      <p:sp>
        <p:nvSpPr>
          <p:cNvPr id="12306" name="Rectangle 28"/>
          <p:cNvSpPr>
            <a:spLocks noChangeArrowheads="1"/>
          </p:cNvSpPr>
          <p:nvPr/>
        </p:nvSpPr>
        <p:spPr bwMode="auto">
          <a:xfrm>
            <a:off x="425785" y="3026833"/>
            <a:ext cx="762176" cy="478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4333" name="Object 29"/>
              <p:cNvSpPr txBox="1"/>
              <p:nvPr/>
            </p:nvSpPr>
            <p:spPr bwMode="auto">
              <a:xfrm>
                <a:off x="921198" y="2753917"/>
                <a:ext cx="8454577" cy="15902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−1)+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4333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1198" y="2753917"/>
                <a:ext cx="8454577" cy="1590278"/>
              </a:xfrm>
              <a:prstGeom prst="rect">
                <a:avLst/>
              </a:prstGeom>
              <a:blipFill rotWithShape="1">
                <a:blip r:embed="rId3"/>
                <a:stretch>
                  <a:fillRect l="-5" t="-35" b="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4334" name="Object 30"/>
              <p:cNvSpPr txBox="1"/>
              <p:nvPr/>
            </p:nvSpPr>
            <p:spPr bwMode="auto">
              <a:xfrm>
                <a:off x="921198" y="3983520"/>
                <a:ext cx="8606977" cy="19633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nary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−1)+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4334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1198" y="3983520"/>
                <a:ext cx="8606977" cy="1963382"/>
              </a:xfrm>
              <a:prstGeom prst="rect">
                <a:avLst/>
              </a:prstGeom>
              <a:blipFill rotWithShape="1">
                <a:blip r:embed="rId4"/>
                <a:stretch>
                  <a:fillRect l="-5" t="-8" b="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4335" name="Object 31"/>
              <p:cNvSpPr txBox="1"/>
              <p:nvPr/>
            </p:nvSpPr>
            <p:spPr bwMode="auto">
              <a:xfrm>
                <a:off x="5973854" y="4267994"/>
                <a:ext cx="3862810" cy="24101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−∞&lt;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2,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&lt;+∞.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4335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73854" y="4267994"/>
                <a:ext cx="3862810" cy="24101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4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54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54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33" grpId="0"/>
      <p:bldP spid="354334" grpId="0"/>
      <p:bldP spid="35433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四、连续型随机变量</a:t>
            </a:r>
          </a:p>
        </p:txBody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375" y="1296195"/>
            <a:ext cx="11353800" cy="775868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若存在非负可积函数</a:t>
            </a:r>
            <a:r>
              <a:rPr lang="en-US" altLang="zh-CN" dirty="0"/>
              <a:t>f(x)</a:t>
            </a:r>
            <a:r>
              <a:rPr lang="zh-CN" altLang="en-US" dirty="0"/>
              <a:t>，对任意实数</a:t>
            </a:r>
            <a:r>
              <a:rPr lang="en-US" altLang="zh-CN" dirty="0"/>
              <a:t>x</a:t>
            </a:r>
            <a:r>
              <a:rPr lang="zh-CN" altLang="en-US" dirty="0"/>
              <a:t>，使得</a:t>
            </a:r>
            <a:r>
              <a:rPr lang="en-US" altLang="zh-CN" dirty="0"/>
              <a:t>R.V.X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分布函数</a:t>
            </a:r>
            <a:r>
              <a:rPr lang="zh-CN" altLang="en-US" dirty="0"/>
              <a:t>满足：</a:t>
            </a:r>
          </a:p>
        </p:txBody>
      </p:sp>
      <p:sp>
        <p:nvSpPr>
          <p:cNvPr id="355332" name="Rectangle 4"/>
          <p:cNvSpPr>
            <a:spLocks noChangeArrowheads="1"/>
          </p:cNvSpPr>
          <p:nvPr/>
        </p:nvSpPr>
        <p:spPr bwMode="auto">
          <a:xfrm>
            <a:off x="460375" y="3504530"/>
            <a:ext cx="11353800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则称</a:t>
            </a: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zh-CN" altLang="en-US" sz="2400" dirty="0">
                <a:latin typeface="+mn-ea"/>
                <a:ea typeface="+mn-ea"/>
              </a:rPr>
              <a:t>为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连续型随机变量</a:t>
            </a:r>
            <a:r>
              <a:rPr lang="zh-CN" altLang="en-US" sz="2400" dirty="0">
                <a:latin typeface="+mn-ea"/>
                <a:ea typeface="+mn-ea"/>
              </a:rPr>
              <a:t>，称</a:t>
            </a:r>
            <a:r>
              <a:rPr lang="en-US" altLang="zh-CN" sz="2400" dirty="0">
                <a:latin typeface="+mn-ea"/>
                <a:ea typeface="+mn-ea"/>
              </a:rPr>
              <a:t>f(x)</a:t>
            </a:r>
            <a:r>
              <a:rPr lang="zh-CN" altLang="en-US" sz="2400" dirty="0">
                <a:latin typeface="+mn-ea"/>
                <a:ea typeface="+mn-ea"/>
              </a:rPr>
              <a:t>为连续型随机变量的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概率密度函数</a:t>
            </a:r>
            <a:r>
              <a:rPr lang="zh-CN" altLang="en-US" sz="2400" dirty="0">
                <a:latin typeface="+mn-ea"/>
                <a:ea typeface="+mn-ea"/>
              </a:rPr>
              <a:t>，简称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概率密度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5333" name="Object 5"/>
              <p:cNvSpPr txBox="1"/>
              <p:nvPr/>
            </p:nvSpPr>
            <p:spPr bwMode="auto">
              <a:xfrm>
                <a:off x="1298575" y="2229144"/>
                <a:ext cx="8229600" cy="1048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𝒅𝒖</m:t>
                          </m:r>
                        </m:e>
                      </m:nary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(−∞&lt;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&lt;+∞)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5533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8575" y="2229144"/>
                <a:ext cx="8229600" cy="1048249"/>
              </a:xfrm>
              <a:prstGeom prst="rect">
                <a:avLst/>
              </a:prstGeom>
              <a:blipFill rotWithShape="1">
                <a:blip r:embed="rId2"/>
                <a:stretch>
                  <a:fillRect t="-28" b="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5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5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5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5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5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31" grpId="0" build="p"/>
      <p:bldP spid="355332" grpId="0" build="p"/>
      <p:bldP spid="35533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概率密度函数的性质</a:t>
            </a:r>
          </a:p>
        </p:txBody>
      </p:sp>
      <p:sp>
        <p:nvSpPr>
          <p:cNvPr id="356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917" y="1096915"/>
            <a:ext cx="2365058" cy="743122"/>
          </a:xfrm>
        </p:spPr>
        <p:txBody>
          <a:bodyPr>
            <a:noAutofit/>
          </a:bodyPr>
          <a:lstStyle/>
          <a:p>
            <a:pPr eaLnBrk="1" hangingPunct="1">
              <a:buClr>
                <a:srgbClr val="00B050"/>
              </a:buClr>
              <a:buFont typeface="+mj-lt"/>
              <a:buAutoNum type="arabicParenR"/>
            </a:pPr>
            <a:r>
              <a:rPr lang="en-US" altLang="zh-CN" dirty="0"/>
              <a:t>f(x)≥0</a:t>
            </a:r>
            <a:r>
              <a:rPr lang="zh-CN" altLang="en-US" dirty="0"/>
              <a:t>；</a:t>
            </a:r>
            <a:endParaRPr lang="zh-CN" altLang="en-US" dirty="0">
              <a:solidFill>
                <a:srgbClr val="00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6356" name="Object 4"/>
              <p:cNvSpPr txBox="1"/>
              <p:nvPr/>
            </p:nvSpPr>
            <p:spPr bwMode="auto">
              <a:xfrm>
                <a:off x="5029459" y="1073096"/>
                <a:ext cx="2057876" cy="7431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5635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29459" y="1073096"/>
                <a:ext cx="2057876" cy="743122"/>
              </a:xfrm>
              <a:prstGeom prst="rect">
                <a:avLst/>
              </a:prstGeom>
              <a:blipFill rotWithShape="1">
                <a:blip r:embed="rId2"/>
                <a:stretch>
                  <a:fillRect l="-13" t="-1616" r="5" b="1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6357" name="Rectangle 5"/>
          <p:cNvSpPr>
            <a:spLocks noChangeArrowheads="1"/>
          </p:cNvSpPr>
          <p:nvPr/>
        </p:nvSpPr>
        <p:spPr bwMode="auto">
          <a:xfrm>
            <a:off x="4572153" y="1096915"/>
            <a:ext cx="457306" cy="477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FF00"/>
                </a:solidFill>
                <a:latin typeface="+mn-ea"/>
                <a:ea typeface="+mn-ea"/>
              </a:rPr>
              <a:t>2)</a:t>
            </a:r>
          </a:p>
        </p:txBody>
      </p:sp>
      <p:sp>
        <p:nvSpPr>
          <p:cNvPr id="356358" name="Rectangle 6"/>
          <p:cNvSpPr>
            <a:spLocks noChangeArrowheads="1"/>
          </p:cNvSpPr>
          <p:nvPr/>
        </p:nvSpPr>
        <p:spPr bwMode="auto">
          <a:xfrm>
            <a:off x="384175" y="1963698"/>
            <a:ext cx="106719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   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如果一个函数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f(x)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具有性质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1)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2)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，则它一定是某个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R.V.X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的概率密度。</a:t>
            </a:r>
          </a:p>
        </p:txBody>
      </p:sp>
      <p:sp>
        <p:nvSpPr>
          <p:cNvPr id="356359" name="Rectangle 7"/>
          <p:cNvSpPr>
            <a:spLocks noChangeArrowheads="1"/>
          </p:cNvSpPr>
          <p:nvPr/>
        </p:nvSpPr>
        <p:spPr bwMode="auto">
          <a:xfrm>
            <a:off x="685053" y="2597449"/>
            <a:ext cx="10062322" cy="3442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90600" indent="-53340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AutoNum type="arabicParenR" startAt="3"/>
            </a:pPr>
            <a:r>
              <a:rPr lang="zh-CN" altLang="en-US" sz="2400" dirty="0">
                <a:latin typeface="+mn-ea"/>
                <a:ea typeface="+mn-ea"/>
              </a:rPr>
              <a:t>在</a:t>
            </a:r>
            <a:r>
              <a:rPr lang="en-US" altLang="zh-CN" sz="2400" dirty="0">
                <a:latin typeface="+mn-ea"/>
                <a:ea typeface="+mn-ea"/>
              </a:rPr>
              <a:t>f(x)</a:t>
            </a:r>
            <a:r>
              <a:rPr lang="zh-CN" altLang="en-US" sz="2400" dirty="0">
                <a:latin typeface="+mn-ea"/>
                <a:ea typeface="+mn-ea"/>
              </a:rPr>
              <a:t>的连续点处，</a:t>
            </a:r>
            <a:r>
              <a:rPr lang="en-US" altLang="zh-CN" sz="2400" dirty="0">
                <a:latin typeface="+mn-ea"/>
                <a:ea typeface="+mn-ea"/>
              </a:rPr>
              <a:t>F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′</a:t>
            </a:r>
            <a:r>
              <a:rPr lang="en-US" altLang="zh-CN" sz="2400" dirty="0">
                <a:latin typeface="+mn-ea"/>
                <a:ea typeface="+mn-ea"/>
              </a:rPr>
              <a:t>(x)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f(x)</a:t>
            </a:r>
            <a:r>
              <a:rPr lang="zh-CN" altLang="en-US" sz="2400" dirty="0">
                <a:latin typeface="+mn-ea"/>
                <a:ea typeface="+mn-ea"/>
              </a:rPr>
              <a:t>；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AutoNum type="arabicParenR" startAt="3"/>
            </a:pPr>
            <a:r>
              <a:rPr lang="zh-CN" altLang="en-US" sz="2400" dirty="0">
                <a:latin typeface="+mn-ea"/>
                <a:ea typeface="+mn-ea"/>
              </a:rPr>
              <a:t>连续型</a:t>
            </a:r>
            <a:r>
              <a:rPr lang="en-US" altLang="zh-CN" sz="2400" dirty="0">
                <a:latin typeface="+mn-ea"/>
                <a:ea typeface="+mn-ea"/>
              </a:rPr>
              <a:t>R.V.X</a:t>
            </a:r>
            <a:r>
              <a:rPr lang="zh-CN" altLang="en-US" sz="2400" dirty="0">
                <a:latin typeface="+mn-ea"/>
                <a:ea typeface="+mn-ea"/>
              </a:rPr>
              <a:t>取某个值的概率为</a:t>
            </a:r>
            <a:r>
              <a:rPr lang="en-US" altLang="zh-CN" sz="2400" dirty="0">
                <a:latin typeface="+mn-ea"/>
                <a:ea typeface="+mn-ea"/>
              </a:rPr>
              <a:t>0</a:t>
            </a:r>
            <a:r>
              <a:rPr lang="zh-CN" altLang="en-US" sz="2400" dirty="0">
                <a:latin typeface="+mn-ea"/>
                <a:ea typeface="+mn-ea"/>
              </a:rPr>
              <a:t>，即</a:t>
            </a:r>
          </a:p>
          <a:p>
            <a:pPr lvl="1" algn="ctr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P{X=x}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0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(-</a:t>
            </a:r>
            <a:r>
              <a:rPr lang="en-US" altLang="zh-CN" sz="2400" dirty="0">
                <a:latin typeface="+mn-ea"/>
                <a:ea typeface="+mn-ea"/>
              </a:rPr>
              <a:t>∞, +∞)</a:t>
            </a:r>
            <a:r>
              <a:rPr lang="zh-CN" altLang="en-US" sz="2400" dirty="0">
                <a:latin typeface="+mn-ea"/>
                <a:ea typeface="+mn-ea"/>
              </a:rPr>
              <a:t>；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AutoNum type="arabicParenR" startAt="3"/>
            </a:pPr>
            <a:r>
              <a:rPr lang="zh-CN" altLang="en-US" sz="2400" dirty="0">
                <a:latin typeface="+mn-ea"/>
                <a:ea typeface="+mn-ea"/>
              </a:rPr>
              <a:t>连续型</a:t>
            </a:r>
            <a:r>
              <a:rPr lang="en-US" altLang="zh-CN" sz="2400" dirty="0">
                <a:latin typeface="+mn-ea"/>
                <a:ea typeface="+mn-ea"/>
              </a:rPr>
              <a:t>R.V.X</a:t>
            </a:r>
            <a:r>
              <a:rPr lang="zh-CN" altLang="en-US" sz="2400" dirty="0">
                <a:latin typeface="+mn-ea"/>
                <a:ea typeface="+mn-ea"/>
              </a:rPr>
              <a:t>落在区间的概率，与区间的开、闭无关，即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P{</a:t>
            </a:r>
            <a:r>
              <a:rPr lang="en-US" altLang="zh-CN" sz="2400" dirty="0" err="1">
                <a:latin typeface="+mn-ea"/>
                <a:ea typeface="+mn-ea"/>
              </a:rPr>
              <a:t>a≤X≤b</a:t>
            </a:r>
            <a:r>
              <a:rPr lang="en-US" altLang="zh-CN" sz="2400" dirty="0">
                <a:latin typeface="+mn-ea"/>
                <a:ea typeface="+mn-ea"/>
              </a:rPr>
              <a:t>}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P{a</a:t>
            </a:r>
            <a:r>
              <a:rPr lang="zh-CN" altLang="en-US" sz="2400" dirty="0">
                <a:latin typeface="+mn-ea"/>
                <a:ea typeface="+mn-ea"/>
              </a:rPr>
              <a:t>＜</a:t>
            </a:r>
            <a:r>
              <a:rPr lang="en-US" altLang="zh-CN" sz="2400" dirty="0" err="1">
                <a:latin typeface="+mn-ea"/>
                <a:ea typeface="+mn-ea"/>
              </a:rPr>
              <a:t>X≤b</a:t>
            </a:r>
            <a:r>
              <a:rPr lang="en-US" altLang="zh-CN" sz="2400" dirty="0">
                <a:latin typeface="+mn-ea"/>
                <a:ea typeface="+mn-ea"/>
              </a:rPr>
              <a:t>}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P{a</a:t>
            </a:r>
            <a:r>
              <a:rPr lang="zh-CN" altLang="en-US" sz="2400" dirty="0">
                <a:latin typeface="+mn-ea"/>
                <a:ea typeface="+mn-ea"/>
              </a:rPr>
              <a:t>＜</a:t>
            </a: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zh-CN" altLang="en-US" sz="2400" dirty="0">
                <a:latin typeface="+mn-ea"/>
                <a:ea typeface="+mn-ea"/>
              </a:rPr>
              <a:t>＜</a:t>
            </a:r>
            <a:r>
              <a:rPr lang="en-US" altLang="zh-CN" sz="2400" dirty="0">
                <a:latin typeface="+mn-ea"/>
                <a:ea typeface="+mn-ea"/>
              </a:rPr>
              <a:t>b}</a:t>
            </a:r>
          </a:p>
          <a:p>
            <a:pPr lvl="1" algn="just" eaLnBrk="1" hangingPunct="1"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P{</a:t>
            </a:r>
            <a:r>
              <a:rPr lang="en-US" altLang="zh-CN" sz="2400" dirty="0" err="1">
                <a:latin typeface="+mn-ea"/>
                <a:ea typeface="+mn-ea"/>
              </a:rPr>
              <a:t>a≤X</a:t>
            </a:r>
            <a:r>
              <a:rPr lang="zh-CN" altLang="en-US" sz="2400" dirty="0">
                <a:latin typeface="+mn-ea"/>
                <a:ea typeface="+mn-ea"/>
              </a:rPr>
              <a:t>＜</a:t>
            </a:r>
            <a:r>
              <a:rPr lang="en-US" altLang="zh-CN" sz="2400" dirty="0">
                <a:latin typeface="+mn-ea"/>
                <a:ea typeface="+mn-ea"/>
              </a:rPr>
              <a:t>b}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F(b)</a:t>
            </a:r>
            <a:r>
              <a:rPr lang="zh-CN" altLang="en-US" sz="2400" dirty="0">
                <a:latin typeface="+mn-ea"/>
                <a:ea typeface="+mn-ea"/>
              </a:rPr>
              <a:t>－</a:t>
            </a:r>
            <a:r>
              <a:rPr lang="en-US" altLang="zh-CN" sz="2400" dirty="0">
                <a:latin typeface="+mn-ea"/>
                <a:ea typeface="+mn-ea"/>
              </a:rPr>
              <a:t>F(a)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6360" name="Object 8"/>
              <p:cNvSpPr txBox="1"/>
              <p:nvPr/>
            </p:nvSpPr>
            <p:spPr bwMode="auto">
              <a:xfrm>
                <a:off x="5220003" y="5332362"/>
                <a:ext cx="1676788" cy="9082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56360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20003" y="5332362"/>
                <a:ext cx="1676788" cy="908260"/>
              </a:xfrm>
              <a:prstGeom prst="rect">
                <a:avLst/>
              </a:prstGeom>
              <a:blipFill rotWithShape="1">
                <a:blip r:embed="rId3"/>
                <a:stretch>
                  <a:fillRect l="-18" t="-29" r="3" b="5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6361" name="Rectangle 9"/>
          <p:cNvSpPr>
            <a:spLocks noChangeArrowheads="1"/>
          </p:cNvSpPr>
          <p:nvPr/>
        </p:nvSpPr>
        <p:spPr bwMode="auto">
          <a:xfrm>
            <a:off x="609917" y="6276331"/>
            <a:ext cx="80266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故对连续型</a:t>
            </a:r>
            <a:r>
              <a:rPr lang="en-US" altLang="zh-CN" sz="2400" dirty="0">
                <a:latin typeface="+mn-ea"/>
                <a:ea typeface="+mn-ea"/>
              </a:rPr>
              <a:t>R.V.X</a:t>
            </a:r>
            <a:r>
              <a:rPr lang="zh-CN" altLang="en-US" sz="2400" dirty="0">
                <a:latin typeface="+mn-ea"/>
                <a:ea typeface="+mn-ea"/>
              </a:rPr>
              <a:t>而言，</a:t>
            </a:r>
            <a:r>
              <a:rPr lang="en-US" altLang="zh-CN" sz="2400" dirty="0">
                <a:latin typeface="+mn-ea"/>
                <a:ea typeface="+mn-ea"/>
              </a:rPr>
              <a:t>P{</a:t>
            </a:r>
            <a:r>
              <a:rPr lang="en-US" altLang="zh-CN" sz="2400" dirty="0" err="1">
                <a:latin typeface="+mn-ea"/>
                <a:ea typeface="+mn-ea"/>
              </a:rPr>
              <a:t>X≤x</a:t>
            </a:r>
            <a:r>
              <a:rPr lang="en-US" altLang="zh-CN" sz="2400" dirty="0">
                <a:latin typeface="+mn-ea"/>
                <a:ea typeface="+mn-ea"/>
              </a:rPr>
              <a:t>}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P{X</a:t>
            </a:r>
            <a:r>
              <a:rPr lang="zh-CN" altLang="en-US" sz="2400" dirty="0">
                <a:latin typeface="+mn-ea"/>
                <a:ea typeface="+mn-ea"/>
              </a:rPr>
              <a:t>＜</a:t>
            </a:r>
            <a:r>
              <a:rPr lang="en-US" altLang="zh-CN" sz="2400" dirty="0">
                <a:latin typeface="+mn-ea"/>
                <a:ea typeface="+mn-ea"/>
              </a:rPr>
              <a:t>x}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F(x).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6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6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6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6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6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6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6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6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6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63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63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63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563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63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63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563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563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563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563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356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56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56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 build="p"/>
      <p:bldP spid="356356" grpId="0"/>
      <p:bldP spid="356357" grpId="0" autoUpdateAnimBg="0"/>
      <p:bldP spid="356358" grpId="0" autoUpdateAnimBg="0"/>
      <p:bldP spid="356359" grpId="0" build="p" autoUpdateAnimBg="0"/>
      <p:bldP spid="356360" grpId="0"/>
      <p:bldP spid="356361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991" y="1064670"/>
            <a:ext cx="3963317" cy="830326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已知</a:t>
            </a:r>
            <a:r>
              <a:rPr lang="en-US" altLang="zh-CN" dirty="0"/>
              <a:t>R.V.X</a:t>
            </a:r>
            <a:r>
              <a:rPr lang="zh-CN" altLang="en-US" dirty="0"/>
              <a:t>的概率密度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6" name="Object 4"/>
              <p:cNvSpPr txBox="1"/>
              <p:nvPr/>
            </p:nvSpPr>
            <p:spPr bwMode="auto">
              <a:xfrm>
                <a:off x="3341311" y="1032054"/>
                <a:ext cx="4883507" cy="10352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−|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−∞&lt;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&lt;+∞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。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1536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1311" y="1032054"/>
                <a:ext cx="4883507" cy="1035228"/>
              </a:xfrm>
              <a:prstGeom prst="rect">
                <a:avLst/>
              </a:prstGeom>
              <a:blipFill rotWithShape="1">
                <a:blip r:embed="rId3"/>
                <a:stretch>
                  <a:fillRect l="-12" t="-17" r="6" b="3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7" name="Rectangle 5"/>
          <p:cNvSpPr>
            <a:spLocks noChangeArrowheads="1"/>
          </p:cNvSpPr>
          <p:nvPr/>
        </p:nvSpPr>
        <p:spPr bwMode="auto">
          <a:xfrm>
            <a:off x="345167" y="1880612"/>
            <a:ext cx="7850417" cy="478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latin typeface="+mn-ea"/>
                <a:ea typeface="+mn-ea"/>
              </a:rPr>
              <a:t>求：</a:t>
            </a:r>
            <a:r>
              <a:rPr lang="en-US" altLang="zh-CN" sz="2400">
                <a:latin typeface="+mn-ea"/>
                <a:ea typeface="+mn-ea"/>
              </a:rPr>
              <a:t>1)</a:t>
            </a:r>
            <a:r>
              <a:rPr lang="zh-CN" altLang="en-US" sz="2400">
                <a:latin typeface="+mn-ea"/>
                <a:ea typeface="+mn-ea"/>
              </a:rPr>
              <a:t>分布函数</a:t>
            </a:r>
            <a:r>
              <a:rPr lang="en-US" altLang="zh-CN" sz="2400">
                <a:latin typeface="+mn-ea"/>
                <a:ea typeface="+mn-ea"/>
              </a:rPr>
              <a:t>F(x)</a:t>
            </a:r>
            <a:r>
              <a:rPr lang="zh-CN" altLang="en-US" sz="2400">
                <a:latin typeface="+mn-ea"/>
                <a:ea typeface="+mn-ea"/>
              </a:rPr>
              <a:t>；</a:t>
            </a:r>
            <a:r>
              <a:rPr lang="en-US" altLang="zh-CN" sz="2400">
                <a:latin typeface="+mn-ea"/>
                <a:ea typeface="+mn-ea"/>
              </a:rPr>
              <a:t>2)</a:t>
            </a:r>
            <a:r>
              <a:rPr lang="zh-CN" altLang="en-US" sz="2400">
                <a:latin typeface="+mn-ea"/>
                <a:ea typeface="+mn-ea"/>
              </a:rPr>
              <a:t>概率</a:t>
            </a:r>
            <a:r>
              <a:rPr lang="en-US" altLang="zh-CN" sz="2400">
                <a:latin typeface="+mn-ea"/>
                <a:ea typeface="+mn-ea"/>
              </a:rPr>
              <a:t>P{X&gt;1}</a:t>
            </a:r>
            <a:r>
              <a:rPr lang="zh-CN" altLang="en-US" sz="2400">
                <a:latin typeface="+mn-ea"/>
                <a:ea typeface="+mn-ea"/>
              </a:rPr>
              <a:t>。</a:t>
            </a:r>
          </a:p>
        </p:txBody>
      </p:sp>
      <p:sp>
        <p:nvSpPr>
          <p:cNvPr id="357382" name="Rectangle 6"/>
          <p:cNvSpPr>
            <a:spLocks noChangeArrowheads="1"/>
          </p:cNvSpPr>
          <p:nvPr/>
        </p:nvSpPr>
        <p:spPr bwMode="auto">
          <a:xfrm>
            <a:off x="374401" y="2829458"/>
            <a:ext cx="9845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solidFill>
                  <a:srgbClr val="FF9900"/>
                </a:solidFill>
                <a:latin typeface="+mn-ea"/>
                <a:ea typeface="+mn-ea"/>
              </a:rPr>
              <a:t>解</a:t>
            </a:r>
            <a:r>
              <a:rPr lang="zh-CN" altLang="en-US" sz="2400">
                <a:latin typeface="+mn-ea"/>
                <a:ea typeface="+mn-ea"/>
              </a:rPr>
              <a:t>  </a:t>
            </a:r>
            <a:r>
              <a:rPr lang="en-US" altLang="zh-CN" sz="2400">
                <a:solidFill>
                  <a:srgbClr val="00FF00"/>
                </a:solidFill>
                <a:latin typeface="+mn-ea"/>
                <a:ea typeface="+mn-ea"/>
              </a:rPr>
              <a:t>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7383" name="Object 7"/>
              <p:cNvSpPr txBox="1"/>
              <p:nvPr/>
            </p:nvSpPr>
            <p:spPr bwMode="auto">
              <a:xfrm>
                <a:off x="1459625" y="2684378"/>
                <a:ext cx="3115550" cy="10162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𝒅𝒖</m:t>
                          </m:r>
                        </m:e>
                      </m:nary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5738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9625" y="2684378"/>
                <a:ext cx="3115550" cy="1016235"/>
              </a:xfrm>
              <a:prstGeom prst="rect">
                <a:avLst/>
              </a:prstGeom>
              <a:blipFill rotWithShape="1">
                <a:blip r:embed="rId4"/>
                <a:stretch>
                  <a:fillRect l="-13" t="-23" b="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7384" name="Object 8"/>
              <p:cNvSpPr txBox="1"/>
              <p:nvPr/>
            </p:nvSpPr>
            <p:spPr bwMode="auto">
              <a:xfrm>
                <a:off x="1212795" y="3515417"/>
                <a:ext cx="7477180" cy="21948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＝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nary>
                                  <m:nary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−∞</m:t>
                                    </m:r>
                                  </m:sub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  <m:e>
                                    <m:f>
                                      <m:f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num>
                                      <m:den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𝒖</m:t>
                                        </m:r>
                                      </m:sup>
                                    </m:s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𝒅𝒖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f>
                                      <m:f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num>
                                      <m:den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sup>
                                    </m:s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，</m:t>
                                    </m:r>
                                  </m:e>
                                </m:nary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nary>
                                  <m:nary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−∞</m:t>
                                    </m:r>
                                  </m:sub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p>
                                  <m:e>
                                    <m:f>
                                      <m:f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num>
                                      <m:den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𝒖</m:t>
                                        </m:r>
                                      </m:sup>
                                    </m:s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𝒅𝒖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nary>
                                      <m:nary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sub>
                                      <m:sup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sup>
                                      <m:e>
                                        <m:f>
                                          <m:fPr>
                                            <m:ctrlP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num>
                                          <m:den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den>
                                        </m:f>
                                        <m:sSup>
                                          <m:sSupPr>
                                            <m:ctrlP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𝒆</m:t>
                                            </m:r>
                                          </m:e>
                                          <m:sup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𝒖</m:t>
                                            </m:r>
                                          </m:sup>
                                        </m:sSup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𝒅𝒖</m:t>
                                        </m:r>
                                      </m:e>
                                    </m:nary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num>
                                      <m:den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sup>
                                    </m:s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，</m:t>
                                    </m:r>
                                  </m:e>
                                </m:nary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57384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12795" y="3515417"/>
                <a:ext cx="7477180" cy="2194838"/>
              </a:xfrm>
              <a:prstGeom prst="rect">
                <a:avLst/>
              </a:prstGeom>
              <a:blipFill rotWithShape="1">
                <a:blip r:embed="rId5"/>
                <a:stretch>
                  <a:fillRect l="-8" t="-3" b="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7385" name="Rectangle 9"/>
          <p:cNvSpPr>
            <a:spLocks noChangeArrowheads="1"/>
          </p:cNvSpPr>
          <p:nvPr/>
        </p:nvSpPr>
        <p:spPr bwMode="auto">
          <a:xfrm>
            <a:off x="717100" y="5868194"/>
            <a:ext cx="481123" cy="5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2800" dirty="0">
                <a:solidFill>
                  <a:srgbClr val="00FF00"/>
                </a:solidFill>
                <a:ea typeface="黑体" panose="02010609060101010101" pitchFamily="49" charset="-122"/>
              </a:rPr>
              <a:t>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7386" name="Object 10"/>
              <p:cNvSpPr txBox="1"/>
              <p:nvPr/>
            </p:nvSpPr>
            <p:spPr bwMode="auto">
              <a:xfrm>
                <a:off x="1358966" y="5710255"/>
                <a:ext cx="4836644" cy="10162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}=</m:t>
                      </m:r>
                      <m:nary>
                        <m:nary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f>
                            <m:f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－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p>
                          </m:s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－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57386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8966" y="5710255"/>
                <a:ext cx="4836644" cy="1016235"/>
              </a:xfrm>
              <a:prstGeom prst="rect">
                <a:avLst/>
              </a:prstGeom>
              <a:blipFill rotWithShape="1">
                <a:blip r:embed="rId6"/>
                <a:stretch>
                  <a:fillRect l="-1" t="-33" r="11" b="5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/>
          <p:cNvGrpSpPr/>
          <p:nvPr/>
        </p:nvGrpSpPr>
        <p:grpSpPr>
          <a:xfrm>
            <a:off x="6784975" y="1995543"/>
            <a:ext cx="5181600" cy="2423940"/>
            <a:chOff x="6403975" y="2368367"/>
            <a:chExt cx="5139200" cy="1978089"/>
          </a:xfrm>
        </p:grpSpPr>
        <p:sp>
          <p:nvSpPr>
            <p:cNvPr id="357388" name="AutoShape 12"/>
            <p:cNvSpPr>
              <a:spLocks noChangeArrowheads="1"/>
            </p:cNvSpPr>
            <p:nvPr/>
          </p:nvSpPr>
          <p:spPr bwMode="auto">
            <a:xfrm>
              <a:off x="6403975" y="2368367"/>
              <a:ext cx="5139200" cy="1899627"/>
            </a:xfrm>
            <a:prstGeom prst="wedgeRectCallout">
              <a:avLst>
                <a:gd name="adj1" fmla="val -61834"/>
                <a:gd name="adj2" fmla="val 133834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zh-CN" altLang="en-US" sz="2400">
                  <a:solidFill>
                    <a:srgbClr val="0000FF"/>
                  </a:solidFill>
                  <a:latin typeface="+mn-ea"/>
                  <a:ea typeface="+mn-ea"/>
                </a:rPr>
                <a:t>注</a:t>
              </a:r>
              <a:r>
                <a:rPr lang="zh-CN" altLang="en-US" sz="2400">
                  <a:latin typeface="+mn-ea"/>
                  <a:ea typeface="+mn-ea"/>
                </a:rPr>
                <a:t>  </a:t>
              </a:r>
              <a:r>
                <a:rPr lang="en-US" altLang="zh-CN" sz="2400">
                  <a:latin typeface="+mn-ea"/>
                  <a:ea typeface="+mn-ea"/>
                </a:rPr>
                <a:t>P{X&gt;1}</a:t>
              </a:r>
              <a:r>
                <a:rPr lang="zh-CN" altLang="en-US" sz="2400">
                  <a:latin typeface="+mn-ea"/>
                  <a:ea typeface="+mn-ea"/>
                </a:rPr>
                <a:t>也可直接由分布函数得出：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7389" name="Object 13"/>
                <p:cNvSpPr txBox="1"/>
                <p:nvPr/>
              </p:nvSpPr>
              <p:spPr bwMode="auto">
                <a:xfrm>
                  <a:off x="6697289" y="2856757"/>
                  <a:ext cx="3440486" cy="6586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}=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－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1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357389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97289" y="2856757"/>
                  <a:ext cx="3440486" cy="658660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bject 7"/>
                <p:cNvSpPr txBox="1"/>
                <p:nvPr/>
              </p:nvSpPr>
              <p:spPr bwMode="auto">
                <a:xfrm>
                  <a:off x="8015731" y="3330221"/>
                  <a:ext cx="3501248" cy="101623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sSup>
                          <m:sSupPr>
                            <m:ctrlP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＝</m:t>
                        </m:r>
                        <m:f>
                          <m:fPr>
                            <m:ctrlP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sSup>
                          <m:sSupPr>
                            <m:ctrlP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en-US" b="1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8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15731" y="3330221"/>
                  <a:ext cx="3501248" cy="1016235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7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7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57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57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7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7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57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382" grpId="0" autoUpdateAnimBg="0"/>
      <p:bldP spid="357383" grpId="0"/>
      <p:bldP spid="357384" grpId="0"/>
      <p:bldP spid="357385" grpId="0" autoUpdateAnimBg="0"/>
      <p:bldP spid="35738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五、常见的随机变量及其分布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067594"/>
            <a:ext cx="7850417" cy="1171846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altLang="zh-CN" dirty="0">
                <a:solidFill>
                  <a:srgbClr val="CC00CC"/>
                </a:solidFill>
              </a:rPr>
              <a:t>1. &lt;0</a:t>
            </a:r>
            <a:r>
              <a:rPr lang="zh-CN" altLang="en-US" dirty="0">
                <a:solidFill>
                  <a:srgbClr val="CC00CC"/>
                </a:solidFill>
              </a:rPr>
              <a:t>－</a:t>
            </a:r>
            <a:r>
              <a:rPr lang="en-US" altLang="zh-CN" dirty="0">
                <a:solidFill>
                  <a:srgbClr val="CC00CC"/>
                </a:solidFill>
              </a:rPr>
              <a:t>1&gt;</a:t>
            </a:r>
            <a:r>
              <a:rPr lang="zh-CN" altLang="en-US" dirty="0">
                <a:solidFill>
                  <a:srgbClr val="CC00CC"/>
                </a:solidFill>
              </a:rPr>
              <a:t>分布</a:t>
            </a:r>
            <a:r>
              <a:rPr lang="en-US" altLang="zh-CN" dirty="0">
                <a:solidFill>
                  <a:srgbClr val="CC00CC"/>
                </a:solidFill>
              </a:rPr>
              <a:t>(</a:t>
            </a:r>
            <a:r>
              <a:rPr lang="zh-CN" altLang="en-US" dirty="0">
                <a:solidFill>
                  <a:srgbClr val="CC00CC"/>
                </a:solidFill>
              </a:rPr>
              <a:t>两点分布</a:t>
            </a:r>
            <a:r>
              <a:rPr lang="en-US" altLang="zh-CN" dirty="0">
                <a:solidFill>
                  <a:srgbClr val="CC00CC"/>
                </a:solidFill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如果</a:t>
            </a:r>
            <a:r>
              <a:rPr lang="en-US" altLang="zh-CN" dirty="0"/>
              <a:t>R.V.X</a:t>
            </a:r>
            <a:r>
              <a:rPr lang="zh-CN" altLang="en-US" dirty="0"/>
              <a:t>的分布律为：</a:t>
            </a:r>
          </a:p>
        </p:txBody>
      </p:sp>
      <p:graphicFrame>
        <p:nvGraphicFramePr>
          <p:cNvPr id="358404" name="Group 4"/>
          <p:cNvGraphicFramePr>
            <a:graphicFrameLocks noGrp="1"/>
          </p:cNvGraphicFramePr>
          <p:nvPr/>
        </p:nvGraphicFramePr>
        <p:xfrm>
          <a:off x="2065310" y="2500282"/>
          <a:ext cx="1980900" cy="830998"/>
        </p:xfrm>
        <a:graphic>
          <a:graphicData uri="http://schemas.openxmlformats.org/drawingml/2006/table">
            <a:tbl>
              <a:tblPr/>
              <a:tblGrid>
                <a:gridCol w="66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499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X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499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q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399" name="Rectangle 23"/>
          <p:cNvSpPr>
            <a:spLocks noChangeArrowheads="1"/>
          </p:cNvSpPr>
          <p:nvPr/>
        </p:nvSpPr>
        <p:spPr bwMode="auto">
          <a:xfrm>
            <a:off x="4532328" y="2618420"/>
            <a:ext cx="3576050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>
                <a:latin typeface="+mn-ea"/>
                <a:ea typeface="+mn-ea"/>
              </a:rPr>
              <a:t>0&lt;p&lt;1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dirty="0" err="1">
                <a:latin typeface="+mn-ea"/>
                <a:ea typeface="+mn-ea"/>
              </a:rPr>
              <a:t>p+q</a:t>
            </a:r>
            <a:r>
              <a:rPr lang="en-US" altLang="zh-CN" sz="2400" dirty="0">
                <a:latin typeface="+mn-ea"/>
                <a:ea typeface="+mn-ea"/>
              </a:rPr>
              <a:t>=1</a:t>
            </a:r>
          </a:p>
        </p:txBody>
      </p:sp>
      <p:sp>
        <p:nvSpPr>
          <p:cNvPr id="16400" name="Rectangle 24"/>
          <p:cNvSpPr>
            <a:spLocks noChangeArrowheads="1"/>
          </p:cNvSpPr>
          <p:nvPr/>
        </p:nvSpPr>
        <p:spPr bwMode="auto">
          <a:xfrm>
            <a:off x="615148" y="3580004"/>
            <a:ext cx="1021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则称</a:t>
            </a:r>
            <a:r>
              <a:rPr lang="en-US" altLang="zh-CN" sz="2400" dirty="0">
                <a:latin typeface="+mn-ea"/>
                <a:ea typeface="+mn-ea"/>
              </a:rPr>
              <a:t>R.V.X</a:t>
            </a:r>
            <a:r>
              <a:rPr lang="zh-CN" altLang="en-US" sz="2400" dirty="0">
                <a:latin typeface="+mn-ea"/>
                <a:ea typeface="+mn-ea"/>
              </a:rPr>
              <a:t>服从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&lt;0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－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1&gt;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分布</a:t>
            </a:r>
            <a:r>
              <a:rPr lang="zh-CN" altLang="en-US" sz="2400" dirty="0">
                <a:latin typeface="+mn-ea"/>
                <a:ea typeface="+mn-ea"/>
              </a:rPr>
              <a:t>，记为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X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～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&lt;0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－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1&gt;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分布</a:t>
            </a:r>
            <a:r>
              <a:rPr lang="zh-CN" altLang="en-US" sz="2400" dirty="0">
                <a:latin typeface="+mn-ea"/>
                <a:ea typeface="+mn-ea"/>
              </a:rPr>
              <a:t>或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X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～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B(0, 1)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  <p:sp>
        <p:nvSpPr>
          <p:cNvPr id="358425" name="Rectangle 25"/>
          <p:cNvSpPr>
            <a:spLocks noChangeArrowheads="1"/>
          </p:cNvSpPr>
          <p:nvPr/>
        </p:nvSpPr>
        <p:spPr bwMode="auto">
          <a:xfrm>
            <a:off x="612775" y="4244916"/>
            <a:ext cx="78504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一个随机试验仅有两种结果，</a:t>
            </a:r>
            <a:r>
              <a:rPr lang="en-US" altLang="zh-CN" sz="2400" dirty="0">
                <a:latin typeface="+mn-ea"/>
                <a:ea typeface="+mn-ea"/>
              </a:rPr>
              <a:t>A</a:t>
            </a:r>
            <a:r>
              <a:rPr lang="zh-CN" altLang="en-US" sz="2400" dirty="0">
                <a:latin typeface="+mn-ea"/>
                <a:ea typeface="+mn-ea"/>
              </a:rPr>
              <a:t>和     ，定义随机变量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27" name="Object 27"/>
              <p:cNvSpPr txBox="1"/>
              <p:nvPr/>
            </p:nvSpPr>
            <p:spPr bwMode="auto">
              <a:xfrm>
                <a:off x="5266418" y="4201709"/>
                <a:ext cx="454130" cy="5589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ba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58427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66418" y="4201709"/>
                <a:ext cx="454130" cy="558929"/>
              </a:xfrm>
              <a:prstGeom prst="rect">
                <a:avLst/>
              </a:prstGeom>
              <a:blipFill rotWithShape="1">
                <a:blip r:embed="rId2"/>
                <a:stretch>
                  <a:fillRect l="-80" t="-98" r="103" b="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567829" y="6241107"/>
            <a:ext cx="7850417" cy="558929"/>
            <a:chOff x="567829" y="6241107"/>
            <a:chExt cx="7850417" cy="558929"/>
          </a:xfrm>
        </p:grpSpPr>
        <p:sp>
          <p:nvSpPr>
            <p:cNvPr id="358426" name="Rectangle 26"/>
            <p:cNvSpPr>
              <a:spLocks noChangeArrowheads="1"/>
            </p:cNvSpPr>
            <p:nvPr/>
          </p:nvSpPr>
          <p:spPr bwMode="auto">
            <a:xfrm>
              <a:off x="567829" y="6243521"/>
              <a:ext cx="785041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P(A)</a:t>
              </a:r>
              <a:r>
                <a:rPr lang="zh-CN" altLang="en-US" sz="2400" dirty="0">
                  <a:latin typeface="+mn-ea"/>
                  <a:ea typeface="+mn-ea"/>
                </a:rPr>
                <a:t>＝</a:t>
              </a: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zh-CN" altLang="en-US" sz="2400" dirty="0">
                  <a:latin typeface="+mn-ea"/>
                  <a:ea typeface="+mn-ea"/>
                </a:rPr>
                <a:t>，</a:t>
              </a:r>
              <a:r>
                <a:rPr lang="en-US" altLang="zh-CN" sz="2400" dirty="0">
                  <a:latin typeface="+mn-ea"/>
                  <a:ea typeface="+mn-ea"/>
                </a:rPr>
                <a:t>P(    )</a:t>
              </a:r>
              <a:r>
                <a:rPr lang="zh-CN" altLang="en-US" sz="2400" dirty="0">
                  <a:latin typeface="+mn-ea"/>
                  <a:ea typeface="+mn-ea"/>
                </a:rPr>
                <a:t>＝</a:t>
              </a:r>
              <a:r>
                <a:rPr lang="en-US" altLang="zh-CN" sz="2400" dirty="0">
                  <a:latin typeface="+mn-ea"/>
                  <a:ea typeface="+mn-ea"/>
                </a:rPr>
                <a:t>q</a:t>
              </a:r>
              <a:r>
                <a:rPr lang="zh-CN" altLang="en-US" sz="2400" dirty="0">
                  <a:latin typeface="+mn-ea"/>
                  <a:ea typeface="+mn-ea"/>
                </a:rPr>
                <a:t>＝</a:t>
              </a:r>
              <a:r>
                <a:rPr lang="en-US" altLang="zh-CN" sz="2400" dirty="0">
                  <a:latin typeface="+mn-ea"/>
                  <a:ea typeface="+mn-ea"/>
                </a:rPr>
                <a:t>1-p</a:t>
              </a:r>
              <a:r>
                <a:rPr lang="zh-CN" altLang="en-US" sz="2400" dirty="0">
                  <a:latin typeface="+mn-ea"/>
                  <a:ea typeface="+mn-ea"/>
                </a:rPr>
                <a:t>，即</a:t>
              </a:r>
              <a:r>
                <a:rPr lang="en-US" altLang="zh-CN" sz="2400" dirty="0">
                  <a:latin typeface="+mn-ea"/>
                  <a:ea typeface="+mn-ea"/>
                </a:rPr>
                <a:t>X</a:t>
              </a:r>
              <a:r>
                <a:rPr lang="zh-CN" altLang="en-US" sz="2400" dirty="0">
                  <a:latin typeface="+mn-ea"/>
                  <a:ea typeface="+mn-ea"/>
                </a:rPr>
                <a:t>～</a:t>
              </a:r>
              <a:r>
                <a:rPr lang="en-US" altLang="zh-CN" sz="2400" dirty="0">
                  <a:latin typeface="+mn-ea"/>
                  <a:ea typeface="+mn-ea"/>
                </a:rPr>
                <a:t>&lt;0</a:t>
              </a:r>
              <a:r>
                <a:rPr lang="zh-CN" altLang="en-US" sz="2400" dirty="0">
                  <a:latin typeface="+mn-ea"/>
                  <a:ea typeface="+mn-ea"/>
                </a:rPr>
                <a:t>－</a:t>
              </a:r>
              <a:r>
                <a:rPr lang="en-US" altLang="zh-CN" sz="2400" dirty="0">
                  <a:latin typeface="+mn-ea"/>
                  <a:ea typeface="+mn-ea"/>
                </a:rPr>
                <a:t>1&gt;</a:t>
              </a:r>
              <a:r>
                <a:rPr lang="zh-CN" altLang="en-US" sz="2400" dirty="0">
                  <a:latin typeface="+mn-ea"/>
                  <a:ea typeface="+mn-ea"/>
                </a:rPr>
                <a:t>分布。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8428" name="Object 28"/>
                <p:cNvSpPr txBox="1"/>
                <p:nvPr/>
              </p:nvSpPr>
              <p:spPr bwMode="auto">
                <a:xfrm>
                  <a:off x="2441575" y="6241107"/>
                  <a:ext cx="454130" cy="5589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bar>
                      </m:oMath>
                    </m:oMathPara>
                  </a14:m>
                  <a:endParaRPr lang="en-US" b="1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358428" name="Object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1575" y="6241107"/>
                  <a:ext cx="454130" cy="55892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组合 1"/>
          <p:cNvGrpSpPr/>
          <p:nvPr/>
        </p:nvGrpSpPr>
        <p:grpSpPr>
          <a:xfrm>
            <a:off x="2607137" y="4792731"/>
            <a:ext cx="2951846" cy="1092452"/>
            <a:chOff x="2607137" y="4792731"/>
            <a:chExt cx="2951846" cy="1092452"/>
          </a:xfrm>
        </p:grpSpPr>
        <p:sp>
          <p:nvSpPr>
            <p:cNvPr id="16407" name="Rectangle 30"/>
            <p:cNvSpPr>
              <a:spLocks noChangeArrowheads="1"/>
            </p:cNvSpPr>
            <p:nvPr/>
          </p:nvSpPr>
          <p:spPr bwMode="auto">
            <a:xfrm>
              <a:off x="2607137" y="5097601"/>
              <a:ext cx="819957" cy="462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>
                  <a:latin typeface="+mn-ea"/>
                  <a:ea typeface="+mn-ea"/>
                </a:rPr>
                <a:t>X</a:t>
              </a:r>
              <a:r>
                <a:rPr lang="zh-CN" altLang="en-US" sz="2400">
                  <a:latin typeface="+mn-ea"/>
                  <a:ea typeface="+mn-ea"/>
                </a:rPr>
                <a:t>＝</a:t>
              </a:r>
            </a:p>
          </p:txBody>
        </p:sp>
        <p:sp>
          <p:nvSpPr>
            <p:cNvPr id="16408" name="Rectangle 31"/>
            <p:cNvSpPr>
              <a:spLocks noChangeArrowheads="1"/>
            </p:cNvSpPr>
            <p:nvPr/>
          </p:nvSpPr>
          <p:spPr bwMode="auto">
            <a:xfrm>
              <a:off x="3509090" y="4792731"/>
              <a:ext cx="1967897" cy="462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>
                  <a:latin typeface="+mn-ea"/>
                  <a:ea typeface="+mn-ea"/>
                </a:rPr>
                <a:t>1</a:t>
              </a:r>
              <a:r>
                <a:rPr lang="zh-CN" altLang="en-US" sz="2400">
                  <a:latin typeface="+mn-ea"/>
                  <a:ea typeface="+mn-ea"/>
                </a:rPr>
                <a:t>，</a:t>
              </a:r>
              <a:r>
                <a:rPr lang="en-US" altLang="zh-CN" sz="2400">
                  <a:latin typeface="+mn-ea"/>
                  <a:ea typeface="+mn-ea"/>
                </a:rPr>
                <a:t>A</a:t>
              </a:r>
              <a:r>
                <a:rPr lang="zh-CN" altLang="en-US" sz="2400">
                  <a:latin typeface="+mn-ea"/>
                  <a:ea typeface="+mn-ea"/>
                </a:rPr>
                <a:t>出现</a:t>
              </a:r>
            </a:p>
          </p:txBody>
        </p:sp>
        <p:sp>
          <p:nvSpPr>
            <p:cNvPr id="16409" name="Rectangle 32"/>
            <p:cNvSpPr>
              <a:spLocks noChangeArrowheads="1"/>
            </p:cNvSpPr>
            <p:nvPr/>
          </p:nvSpPr>
          <p:spPr bwMode="auto">
            <a:xfrm>
              <a:off x="3509090" y="5402472"/>
              <a:ext cx="2049893" cy="462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0</a:t>
              </a:r>
              <a:r>
                <a:rPr lang="zh-CN" altLang="en-US" sz="2400" dirty="0">
                  <a:latin typeface="+mn-ea"/>
                  <a:ea typeface="+mn-ea"/>
                </a:rPr>
                <a:t>，    出现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10" name="Object 33"/>
                <p:cNvSpPr txBox="1"/>
                <p:nvPr/>
              </p:nvSpPr>
              <p:spPr bwMode="auto">
                <a:xfrm>
                  <a:off x="4043770" y="5326254"/>
                  <a:ext cx="488558" cy="5589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bar>
                      </m:oMath>
                    </m:oMathPara>
                  </a14:m>
                  <a:endParaRPr lang="en-US" b="1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6410" name="Object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43770" y="5326254"/>
                  <a:ext cx="488558" cy="55892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11" name="Rectangle 34"/>
            <p:cNvSpPr>
              <a:spLocks noChangeArrowheads="1"/>
            </p:cNvSpPr>
            <p:nvPr/>
          </p:nvSpPr>
          <p:spPr bwMode="auto">
            <a:xfrm>
              <a:off x="3181107" y="4792731"/>
              <a:ext cx="488558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6000" dirty="0">
                  <a:latin typeface="Batang" panose="02030600000101010101" pitchFamily="18" charset="-127"/>
                  <a:ea typeface="Batang" panose="02030600000101010101" pitchFamily="18" charset="-127"/>
                </a:rPr>
                <a:t>{</a:t>
              </a:r>
            </a:p>
          </p:txBody>
        </p:sp>
      </p:grp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58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5" grpId="0" autoUpdateAnimBg="0"/>
      <p:bldP spid="35842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黑体" panose="02010609060101010101" pitchFamily="49" charset="-122"/>
              </a:rPr>
              <a:t>2. </a:t>
            </a:r>
            <a:r>
              <a:rPr lang="zh-CN" altLang="en-US">
                <a:ea typeface="黑体" panose="02010609060101010101" pitchFamily="49" charset="-122"/>
              </a:rPr>
              <a:t>贝努里试验、二项分布</a:t>
            </a:r>
          </a:p>
        </p:txBody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1774" y="959208"/>
            <a:ext cx="11550435" cy="2851809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如果随机试验</a:t>
            </a:r>
            <a:r>
              <a:rPr lang="en-US" altLang="zh-CN" dirty="0"/>
              <a:t>E</a:t>
            </a:r>
            <a:r>
              <a:rPr lang="zh-CN" altLang="en-US" dirty="0"/>
              <a:t>满足：将一个试验在相同条件下重复进行</a:t>
            </a:r>
            <a:r>
              <a:rPr lang="en-US" altLang="zh-CN" dirty="0"/>
              <a:t>n</a:t>
            </a:r>
            <a:r>
              <a:rPr lang="zh-CN" altLang="en-US" dirty="0"/>
              <a:t>次，</a:t>
            </a:r>
          </a:p>
          <a:p>
            <a:pPr eaLnBrk="1" hangingPunct="1"/>
            <a:r>
              <a:rPr lang="zh-CN" altLang="en-US" dirty="0"/>
              <a:t>各次试验仅有两个结果</a:t>
            </a:r>
            <a:r>
              <a:rPr lang="en-US" altLang="zh-CN" dirty="0"/>
              <a:t>A</a:t>
            </a:r>
            <a:r>
              <a:rPr lang="zh-CN" altLang="en-US" dirty="0"/>
              <a:t>和    ，事件</a:t>
            </a:r>
            <a:r>
              <a:rPr lang="en-US" altLang="zh-CN" dirty="0"/>
              <a:t>A</a:t>
            </a:r>
            <a:r>
              <a:rPr lang="zh-CN" altLang="en-US" dirty="0"/>
              <a:t>的概率在各次试验中保持不变，</a:t>
            </a:r>
            <a:r>
              <a:rPr lang="en-US" altLang="zh-CN" dirty="0"/>
              <a:t>P(A)</a:t>
            </a:r>
            <a:r>
              <a:rPr lang="zh-CN" altLang="en-US" dirty="0"/>
              <a:t>＝</a:t>
            </a:r>
            <a:r>
              <a:rPr lang="en-US" altLang="zh-CN" dirty="0"/>
              <a:t>p</a:t>
            </a:r>
            <a:r>
              <a:rPr lang="zh-CN" altLang="en-US" dirty="0"/>
              <a:t>，</a:t>
            </a:r>
            <a:r>
              <a:rPr lang="en-US" altLang="zh-CN" dirty="0"/>
              <a:t>P(   )</a:t>
            </a:r>
            <a:r>
              <a:rPr lang="zh-CN" altLang="en-US" dirty="0"/>
              <a:t>＝</a:t>
            </a:r>
            <a:r>
              <a:rPr lang="en-US" altLang="zh-CN" dirty="0"/>
              <a:t>1-p</a:t>
            </a:r>
            <a:r>
              <a:rPr lang="zh-CN" altLang="en-US" dirty="0"/>
              <a:t>；</a:t>
            </a:r>
          </a:p>
          <a:p>
            <a:pPr eaLnBrk="1" hangingPunct="1"/>
            <a:r>
              <a:rPr lang="zh-CN" altLang="en-US" dirty="0"/>
              <a:t>各次试验的结果互不影响，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则称随机试验</a:t>
            </a:r>
            <a:r>
              <a:rPr lang="en-US" altLang="zh-CN" dirty="0"/>
              <a:t>E</a:t>
            </a:r>
            <a:r>
              <a:rPr lang="zh-CN" altLang="en-US" dirty="0"/>
              <a:t>为</a:t>
            </a:r>
            <a:r>
              <a:rPr lang="en-US" altLang="zh-CN" dirty="0">
                <a:solidFill>
                  <a:srgbClr val="0000FF"/>
                </a:solidFill>
              </a:rPr>
              <a:t>n</a:t>
            </a:r>
            <a:r>
              <a:rPr lang="zh-CN" altLang="en-US" dirty="0">
                <a:solidFill>
                  <a:srgbClr val="0000FF"/>
                </a:solidFill>
              </a:rPr>
              <a:t>次贝努里试验</a:t>
            </a:r>
            <a:r>
              <a:rPr lang="zh-CN" altLang="en-US" dirty="0"/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9428" name="Object 4"/>
              <p:cNvSpPr txBox="1"/>
              <p:nvPr/>
            </p:nvSpPr>
            <p:spPr bwMode="auto">
              <a:xfrm>
                <a:off x="4422667" y="1549572"/>
                <a:ext cx="464964" cy="4064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ba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5942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22667" y="1549572"/>
                <a:ext cx="464964" cy="4064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9429" name="Object 5"/>
              <p:cNvSpPr txBox="1"/>
              <p:nvPr/>
            </p:nvSpPr>
            <p:spPr bwMode="auto">
              <a:xfrm>
                <a:off x="1069975" y="2091082"/>
                <a:ext cx="464964" cy="5410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ba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59429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9975" y="2091082"/>
                <a:ext cx="464964" cy="5410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9430" name="Rectangle 6"/>
          <p:cNvSpPr>
            <a:spLocks noChangeArrowheads="1"/>
          </p:cNvSpPr>
          <p:nvPr/>
        </p:nvSpPr>
        <p:spPr bwMode="auto">
          <a:xfrm>
            <a:off x="0" y="3957512"/>
            <a:ext cx="108372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FF9900"/>
                </a:solidFill>
                <a:latin typeface="+mn-ea"/>
                <a:ea typeface="+mn-ea"/>
              </a:rPr>
              <a:t>    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定理</a:t>
            </a:r>
            <a:r>
              <a:rPr lang="zh-CN" altLang="en-US" sz="2400" dirty="0">
                <a:latin typeface="+mn-ea"/>
                <a:ea typeface="+mn-ea"/>
              </a:rPr>
              <a:t>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在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n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次贝努里试验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E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中，事件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A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出现的次数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X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的分布律为：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9431" name="Object 7"/>
              <p:cNvSpPr txBox="1"/>
              <p:nvPr/>
            </p:nvSpPr>
            <p:spPr bwMode="auto">
              <a:xfrm>
                <a:off x="917575" y="4540277"/>
                <a:ext cx="9444682" cy="5335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}=</m:t>
                      </m:r>
                      <m:sSubSup>
                        <m:sSub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bSup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5943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7575" y="4540277"/>
                <a:ext cx="9444682" cy="533523"/>
              </a:xfrm>
              <a:prstGeom prst="rect">
                <a:avLst/>
              </a:prstGeom>
              <a:blipFill rotWithShape="1">
                <a:blip r:embed="rId4"/>
                <a:stretch>
                  <a:fillRect t="-5" r="3" b="-235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9432" name="Rectangle 8"/>
          <p:cNvSpPr>
            <a:spLocks noChangeArrowheads="1"/>
          </p:cNvSpPr>
          <p:nvPr/>
        </p:nvSpPr>
        <p:spPr bwMode="auto">
          <a:xfrm>
            <a:off x="382645" y="5324024"/>
            <a:ext cx="5492399" cy="46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如果随机变量</a:t>
            </a: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zh-CN" altLang="en-US" sz="2400" dirty="0">
                <a:latin typeface="+mn-ea"/>
                <a:ea typeface="+mn-ea"/>
              </a:rPr>
              <a:t>的分布律为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9433" name="Object 9"/>
              <p:cNvSpPr txBox="1"/>
              <p:nvPr/>
            </p:nvSpPr>
            <p:spPr bwMode="auto">
              <a:xfrm>
                <a:off x="4190196" y="5285915"/>
                <a:ext cx="5248940" cy="6144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}=</m:t>
                      </m:r>
                      <m:sSubSup>
                        <m:sSub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bSup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59433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0196" y="5285915"/>
                <a:ext cx="5248940" cy="614465"/>
              </a:xfrm>
              <a:prstGeom prst="rect">
                <a:avLst/>
              </a:prstGeom>
              <a:blipFill rotWithShape="1">
                <a:blip r:embed="rId5"/>
                <a:stretch>
                  <a:fillRect l="-9" t="-28" r="9" b="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9434" name="Rectangle 10"/>
          <p:cNvSpPr>
            <a:spLocks noChangeArrowheads="1"/>
          </p:cNvSpPr>
          <p:nvPr/>
        </p:nvSpPr>
        <p:spPr bwMode="auto">
          <a:xfrm>
            <a:off x="429276" y="6151207"/>
            <a:ext cx="11461099" cy="377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2400" spc="-100" dirty="0">
                <a:latin typeface="+mn-ea"/>
                <a:ea typeface="+mn-ea"/>
              </a:rPr>
              <a:t>0&lt;p&lt;1</a:t>
            </a:r>
            <a:r>
              <a:rPr lang="zh-CN" altLang="en-US" sz="2400" spc="-100" dirty="0">
                <a:latin typeface="+mn-ea"/>
                <a:ea typeface="+mn-ea"/>
              </a:rPr>
              <a:t>，</a:t>
            </a:r>
            <a:r>
              <a:rPr lang="en-US" altLang="zh-CN" sz="2400" spc="-100" dirty="0" err="1">
                <a:latin typeface="+mn-ea"/>
                <a:ea typeface="+mn-ea"/>
              </a:rPr>
              <a:t>p+q</a:t>
            </a:r>
            <a:r>
              <a:rPr lang="en-US" altLang="zh-CN" sz="2400" spc="-100" dirty="0">
                <a:latin typeface="+mn-ea"/>
                <a:ea typeface="+mn-ea"/>
              </a:rPr>
              <a:t>=1</a:t>
            </a:r>
            <a:r>
              <a:rPr lang="zh-CN" altLang="en-US" sz="2400" spc="-100" dirty="0">
                <a:latin typeface="+mn-ea"/>
                <a:ea typeface="+mn-ea"/>
              </a:rPr>
              <a:t>，</a:t>
            </a:r>
            <a:r>
              <a:rPr lang="en-US" altLang="zh-CN" sz="2400" spc="-100" dirty="0">
                <a:latin typeface="+mn-ea"/>
                <a:ea typeface="+mn-ea"/>
              </a:rPr>
              <a:t>k=0, 1, 2, …, n</a:t>
            </a:r>
            <a:r>
              <a:rPr lang="zh-CN" altLang="en-US" sz="2400" spc="-100" dirty="0">
                <a:latin typeface="+mn-ea"/>
                <a:ea typeface="+mn-ea"/>
              </a:rPr>
              <a:t>，则称</a:t>
            </a:r>
            <a:r>
              <a:rPr lang="en-US" altLang="zh-CN" sz="2400" spc="-100" dirty="0">
                <a:latin typeface="+mn-ea"/>
                <a:ea typeface="+mn-ea"/>
              </a:rPr>
              <a:t>X</a:t>
            </a:r>
            <a:r>
              <a:rPr lang="zh-CN" altLang="en-US" sz="2400" spc="-100" dirty="0">
                <a:latin typeface="+mn-ea"/>
                <a:ea typeface="+mn-ea"/>
              </a:rPr>
              <a:t>服从</a:t>
            </a:r>
            <a:r>
              <a:rPr lang="zh-CN" altLang="en-US" sz="2400" spc="-100" dirty="0">
                <a:solidFill>
                  <a:srgbClr val="0000FF"/>
                </a:solidFill>
                <a:latin typeface="+mn-ea"/>
                <a:ea typeface="+mn-ea"/>
              </a:rPr>
              <a:t>参数为</a:t>
            </a:r>
            <a:r>
              <a:rPr lang="en-US" altLang="zh-CN" sz="2400" spc="-100" dirty="0">
                <a:solidFill>
                  <a:srgbClr val="0000FF"/>
                </a:solidFill>
                <a:latin typeface="+mn-ea"/>
                <a:ea typeface="+mn-ea"/>
              </a:rPr>
              <a:t>n, p</a:t>
            </a:r>
            <a:r>
              <a:rPr lang="zh-CN" altLang="en-US" sz="2400" spc="-100" dirty="0">
                <a:solidFill>
                  <a:srgbClr val="0000FF"/>
                </a:solidFill>
                <a:latin typeface="+mn-ea"/>
                <a:ea typeface="+mn-ea"/>
              </a:rPr>
              <a:t>的二项分布</a:t>
            </a:r>
            <a:r>
              <a:rPr lang="zh-CN" altLang="en-US" sz="2400" spc="-100" dirty="0">
                <a:latin typeface="+mn-ea"/>
                <a:ea typeface="+mn-ea"/>
              </a:rPr>
              <a:t>，记为</a:t>
            </a:r>
            <a:r>
              <a:rPr lang="en-US" altLang="zh-CN" sz="2400" spc="-100" dirty="0">
                <a:solidFill>
                  <a:srgbClr val="0000FF"/>
                </a:solidFill>
                <a:latin typeface="+mn-ea"/>
                <a:ea typeface="+mn-ea"/>
              </a:rPr>
              <a:t>X</a:t>
            </a:r>
            <a:r>
              <a:rPr lang="zh-CN" altLang="en-US" sz="2400" spc="-100" dirty="0">
                <a:solidFill>
                  <a:srgbClr val="0000FF"/>
                </a:solidFill>
                <a:latin typeface="+mn-ea"/>
                <a:ea typeface="+mn-ea"/>
              </a:rPr>
              <a:t>～</a:t>
            </a:r>
            <a:r>
              <a:rPr lang="en-US" altLang="zh-CN" sz="2400" spc="-100" dirty="0">
                <a:solidFill>
                  <a:srgbClr val="0000FF"/>
                </a:solidFill>
                <a:latin typeface="+mn-ea"/>
                <a:ea typeface="+mn-ea"/>
              </a:rPr>
              <a:t>B(n, p)</a:t>
            </a:r>
            <a:r>
              <a:rPr lang="zh-CN" altLang="en-US" sz="2400" spc="-100" dirty="0">
                <a:latin typeface="+mn-ea"/>
                <a:ea typeface="+mn-ea"/>
              </a:rPr>
              <a:t>。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9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9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9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9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9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9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9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9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9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9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5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9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59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59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59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9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27" grpId="0" uiExpand="1" build="p"/>
      <p:bldP spid="359428" grpId="0"/>
      <p:bldP spid="359429" grpId="0"/>
      <p:bldP spid="359430" grpId="0" autoUpdateAnimBg="0"/>
      <p:bldP spid="359431" grpId="0"/>
      <p:bldP spid="359432" grpId="0" autoUpdateAnimBg="0"/>
      <p:bldP spid="359433" grpId="0"/>
      <p:bldP spid="359434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黑体" panose="02010609060101010101" pitchFamily="49" charset="-122"/>
              </a:rPr>
              <a:t>3. </a:t>
            </a:r>
            <a:r>
              <a:rPr lang="zh-CN" altLang="en-US">
                <a:ea typeface="黑体" panose="02010609060101010101" pitchFamily="49" charset="-122"/>
              </a:rPr>
              <a:t>泊松</a:t>
            </a:r>
            <a:r>
              <a:rPr lang="en-US" altLang="zh-CN">
                <a:ea typeface="黑体" panose="02010609060101010101" pitchFamily="49" charset="-122"/>
              </a:rPr>
              <a:t>(S.D.Poisson)</a:t>
            </a:r>
            <a:r>
              <a:rPr lang="zh-CN" altLang="en-US">
                <a:ea typeface="黑体" panose="02010609060101010101" pitchFamily="49" charset="-122"/>
              </a:rPr>
              <a:t>分布</a:t>
            </a:r>
          </a:p>
        </p:txBody>
      </p:sp>
      <p:sp>
        <p:nvSpPr>
          <p:cNvPr id="360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4858" y="1037909"/>
            <a:ext cx="3582229" cy="714540"/>
          </a:xfrm>
        </p:spPr>
        <p:txBody>
          <a:bodyPr>
            <a:normAutofit/>
          </a:bodyPr>
          <a:lstStyle/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如果</a:t>
            </a:r>
            <a:r>
              <a:rPr lang="en-US" altLang="zh-CN" dirty="0"/>
              <a:t>R.V.X</a:t>
            </a:r>
            <a:r>
              <a:rPr lang="zh-CN" altLang="en-US" dirty="0"/>
              <a:t>的分布律为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0452" name="Object 4"/>
              <p:cNvSpPr txBox="1"/>
              <p:nvPr/>
            </p:nvSpPr>
            <p:spPr bwMode="auto">
              <a:xfrm>
                <a:off x="883412" y="1821730"/>
                <a:ext cx="7858739" cy="16080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</m:sup>
                      </m:sSup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6045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3412" y="1821730"/>
                <a:ext cx="7858739" cy="1608063"/>
              </a:xfrm>
              <a:prstGeom prst="rect">
                <a:avLst/>
              </a:prstGeom>
              <a:blipFill rotWithShape="1">
                <a:blip r:embed="rId2"/>
                <a:stretch>
                  <a:fillRect l="-2" t="-34" r="1" b="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0453" name="Rectangle 5"/>
          <p:cNvSpPr>
            <a:spLocks noChangeArrowheads="1"/>
          </p:cNvSpPr>
          <p:nvPr/>
        </p:nvSpPr>
        <p:spPr bwMode="auto">
          <a:xfrm>
            <a:off x="585541" y="3252025"/>
            <a:ext cx="7774199" cy="579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则称</a:t>
            </a:r>
            <a:r>
              <a:rPr lang="en-US" altLang="zh-CN" sz="2400" dirty="0">
                <a:latin typeface="+mn-ea"/>
                <a:ea typeface="+mn-ea"/>
              </a:rPr>
              <a:t>R.V.X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服从参数为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λ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的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泊松分布</a:t>
            </a:r>
            <a:r>
              <a:rPr lang="zh-CN" altLang="en-US" sz="2400" dirty="0">
                <a:latin typeface="+mn-ea"/>
                <a:ea typeface="+mn-ea"/>
              </a:rPr>
              <a:t>，记为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</a:rPr>
              <a:t>X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～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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</a:rPr>
              <a:t>(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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</a:rPr>
              <a:t>)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  <p:sp>
        <p:nvSpPr>
          <p:cNvPr id="360454" name="Rectangle 6"/>
          <p:cNvSpPr>
            <a:spLocks noChangeArrowheads="1"/>
          </p:cNvSpPr>
          <p:nvPr/>
        </p:nvSpPr>
        <p:spPr bwMode="auto">
          <a:xfrm>
            <a:off x="494383" y="4417504"/>
            <a:ext cx="11228634" cy="168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泊松分布在理论和应用上都很重要，例如，在单位时间内，某电话交换台接到的电话呼叫次数；到达某服务台的顾客数；某放射源放射的粒子数；某自动控制系统损坏的元件个数；等等，都服从泊松分布。</a:t>
            </a:r>
          </a:p>
        </p:txBody>
      </p:sp>
      <p:sp>
        <p:nvSpPr>
          <p:cNvPr id="12" name="椭圆形标注 11"/>
          <p:cNvSpPr>
            <a:spLocks noChangeArrowheads="1"/>
          </p:cNvSpPr>
          <p:nvPr/>
        </p:nvSpPr>
        <p:spPr bwMode="auto">
          <a:xfrm>
            <a:off x="6480175" y="1108732"/>
            <a:ext cx="3582228" cy="1000292"/>
          </a:xfrm>
          <a:prstGeom prst="wedgeEllipseCallout">
            <a:avLst>
              <a:gd name="adj1" fmla="val -82699"/>
              <a:gd name="adj2" fmla="val 66000"/>
            </a:avLst>
          </a:prstGeom>
          <a:solidFill>
            <a:schemeClr val="accent1"/>
          </a:solidFill>
          <a:ln w="9525" algn="ctr">
            <a:solidFill>
              <a:srgbClr val="0000FF"/>
            </a:solidFill>
            <a:round/>
          </a:ln>
        </p:spPr>
        <p:txBody>
          <a:bodyPr lIns="0" tIns="0" rIns="0" bIns="0" anchor="ctr"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很重要，记住！！！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0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0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60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0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0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0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0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451" grpId="0" build="p"/>
      <p:bldP spid="360452" grpId="0"/>
      <p:bldP spid="360453" grpId="0"/>
      <p:bldP spid="360454" grpId="0" autoUpdateAnimBg="0"/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黑体" panose="02010609060101010101" pitchFamily="49" charset="-122"/>
              </a:rPr>
              <a:t>4. </a:t>
            </a:r>
            <a:r>
              <a:rPr lang="zh-CN" altLang="en-US">
                <a:ea typeface="黑体" panose="02010609060101010101" pitchFamily="49" charset="-122"/>
              </a:rPr>
              <a:t>均匀分布</a:t>
            </a:r>
          </a:p>
        </p:txBody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375" y="924068"/>
            <a:ext cx="8458200" cy="1286526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如果</a:t>
            </a:r>
            <a:r>
              <a:rPr lang="en-US" altLang="zh-CN"/>
              <a:t>R.V.X</a:t>
            </a:r>
            <a:r>
              <a:rPr lang="zh-CN" altLang="en-US"/>
              <a:t>的概率密度为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1476" name="Object 4"/>
              <p:cNvSpPr txBox="1"/>
              <p:nvPr/>
            </p:nvSpPr>
            <p:spPr bwMode="auto">
              <a:xfrm>
                <a:off x="1374775" y="1587956"/>
                <a:ext cx="4344617" cy="14968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den>
                                </m:f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其它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6147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74775" y="1587956"/>
                <a:ext cx="4344617" cy="1496860"/>
              </a:xfrm>
              <a:prstGeom prst="rect">
                <a:avLst/>
              </a:prstGeom>
              <a:blipFill rotWithShape="1">
                <a:blip r:embed="rId2"/>
                <a:stretch>
                  <a:fillRect t="-30" r="13" b="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1477" name="Rectangle 5"/>
          <p:cNvSpPr>
            <a:spLocks noChangeArrowheads="1"/>
          </p:cNvSpPr>
          <p:nvPr/>
        </p:nvSpPr>
        <p:spPr bwMode="auto">
          <a:xfrm>
            <a:off x="460375" y="3429794"/>
            <a:ext cx="1104900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则称</a:t>
            </a:r>
            <a:r>
              <a:rPr lang="en-US" altLang="zh-CN" sz="2400" dirty="0">
                <a:latin typeface="+mn-ea"/>
                <a:ea typeface="+mn-ea"/>
              </a:rPr>
              <a:t>R.V.X</a:t>
            </a:r>
            <a:r>
              <a:rPr lang="zh-CN" altLang="en-US" sz="2400" dirty="0">
                <a:latin typeface="+mn-ea"/>
                <a:ea typeface="+mn-ea"/>
              </a:rPr>
              <a:t>在区间</a:t>
            </a:r>
            <a:r>
              <a:rPr lang="en-US" altLang="zh-CN" sz="2400" dirty="0">
                <a:latin typeface="+mn-ea"/>
                <a:ea typeface="+mn-ea"/>
              </a:rPr>
              <a:t>(a, b)</a:t>
            </a:r>
            <a:r>
              <a:rPr lang="zh-CN" altLang="en-US" sz="2400" dirty="0">
                <a:latin typeface="+mn-ea"/>
                <a:ea typeface="+mn-ea"/>
              </a:rPr>
              <a:t>上服从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均匀分布</a:t>
            </a:r>
            <a:r>
              <a:rPr lang="zh-CN" altLang="en-US" sz="2400" dirty="0">
                <a:latin typeface="+mn-ea"/>
                <a:ea typeface="+mn-ea"/>
              </a:rPr>
              <a:t>，记为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X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～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U(a, b)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zh-CN" altLang="en-US" sz="2400" dirty="0">
                <a:latin typeface="+mn-ea"/>
                <a:ea typeface="+mn-ea"/>
              </a:rPr>
              <a:t>的分布函数为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1478" name="Object 6"/>
              <p:cNvSpPr txBox="1"/>
              <p:nvPr/>
            </p:nvSpPr>
            <p:spPr bwMode="auto">
              <a:xfrm>
                <a:off x="1588814" y="4265502"/>
                <a:ext cx="7391100" cy="234199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−∞&lt;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num>
                                  <m:den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den>
                                </m:f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&lt;+∞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6147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8814" y="4265502"/>
                <a:ext cx="7391100" cy="2341997"/>
              </a:xfrm>
              <a:prstGeom prst="rect">
                <a:avLst/>
              </a:prstGeom>
              <a:blipFill rotWithShape="1">
                <a:blip r:embed="rId3"/>
                <a:stretch>
                  <a:fillRect l="-1" t="-9" r="5" b="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1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1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61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1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1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61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475" grpId="0" build="p"/>
      <p:bldP spid="361476" grpId="0"/>
      <p:bldP spid="361477" grpId="0"/>
      <p:bldP spid="36147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黑体" panose="02010609060101010101" pitchFamily="49" charset="-122"/>
              </a:rPr>
              <a:t>5. (</a:t>
            </a:r>
            <a:r>
              <a:rPr lang="zh-CN" altLang="en-US">
                <a:ea typeface="黑体" panose="02010609060101010101" pitchFamily="49" charset="-122"/>
              </a:rPr>
              <a:t>负</a:t>
            </a:r>
            <a:r>
              <a:rPr lang="en-US" altLang="zh-CN">
                <a:ea typeface="黑体" panose="02010609060101010101" pitchFamily="49" charset="-122"/>
              </a:rPr>
              <a:t>)</a:t>
            </a:r>
            <a:r>
              <a:rPr lang="zh-CN" altLang="en-US">
                <a:ea typeface="黑体" panose="02010609060101010101" pitchFamily="49" charset="-122"/>
              </a:rPr>
              <a:t>指数分布</a:t>
            </a:r>
            <a:r>
              <a:rPr lang="en-US" altLang="zh-CN">
                <a:ea typeface="黑体" panose="02010609060101010101" pitchFamily="49" charset="-122"/>
              </a:rPr>
              <a:t>(</a:t>
            </a:r>
            <a:r>
              <a:rPr lang="zh-CN" altLang="en-US">
                <a:ea typeface="黑体" panose="02010609060101010101" pitchFamily="49" charset="-122"/>
              </a:rPr>
              <a:t>寿命分布</a:t>
            </a:r>
            <a:r>
              <a:rPr lang="en-US" altLang="zh-CN"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362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4175" y="1046218"/>
            <a:ext cx="7697982" cy="762858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如果</a:t>
            </a:r>
            <a:r>
              <a:rPr lang="en-US" altLang="zh-CN" dirty="0"/>
              <a:t>R.V.X</a:t>
            </a:r>
            <a:r>
              <a:rPr lang="zh-CN" altLang="en-US" dirty="0"/>
              <a:t>的概率密度为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2500" name="Object 4"/>
              <p:cNvSpPr txBox="1"/>
              <p:nvPr/>
            </p:nvSpPr>
            <p:spPr bwMode="auto">
              <a:xfrm>
                <a:off x="1451223" y="1940869"/>
                <a:ext cx="5562352" cy="1747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𝝀</m:t>
                                </m:r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𝝀</m:t>
                            </m:r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mr>
                      </m:m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6250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1223" y="1940869"/>
                <a:ext cx="5562352" cy="1747600"/>
              </a:xfrm>
              <a:prstGeom prst="rect">
                <a:avLst/>
              </a:prstGeom>
              <a:blipFill rotWithShape="1">
                <a:blip r:embed="rId2"/>
                <a:stretch>
                  <a:fillRect l="-4" t="-18" b="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2501" name="Rectangle 5"/>
          <p:cNvSpPr>
            <a:spLocks noChangeArrowheads="1"/>
          </p:cNvSpPr>
          <p:nvPr/>
        </p:nvSpPr>
        <p:spPr bwMode="auto">
          <a:xfrm>
            <a:off x="396975" y="3486810"/>
            <a:ext cx="10744200" cy="496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则称</a:t>
            </a:r>
            <a:r>
              <a:rPr lang="en-US" altLang="zh-CN" sz="2400" dirty="0">
                <a:latin typeface="+mn-ea"/>
                <a:ea typeface="+mn-ea"/>
              </a:rPr>
              <a:t>R.V.X</a:t>
            </a:r>
            <a:r>
              <a:rPr lang="zh-CN" altLang="en-US" sz="2400" dirty="0">
                <a:latin typeface="+mn-ea"/>
                <a:ea typeface="+mn-ea"/>
              </a:rPr>
              <a:t>服从参数为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</a:t>
            </a:r>
            <a:r>
              <a:rPr lang="zh-CN" altLang="en-US" sz="2400" dirty="0">
                <a:latin typeface="+mn-ea"/>
                <a:ea typeface="+mn-ea"/>
              </a:rPr>
              <a:t>的（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负</a:t>
            </a:r>
            <a:r>
              <a:rPr lang="zh-CN" altLang="en-US" sz="2400" dirty="0">
                <a:latin typeface="+mn-ea"/>
                <a:ea typeface="+mn-ea"/>
              </a:rPr>
              <a:t>）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指数分布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</a:rPr>
              <a:t>(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寿命分布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</a:rPr>
              <a:t>)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zh-CN" altLang="en-US" sz="2400" dirty="0">
                <a:latin typeface="+mn-ea"/>
                <a:ea typeface="+mn-ea"/>
              </a:rPr>
              <a:t>的分布函数为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2502" name="Object 6"/>
              <p:cNvSpPr txBox="1"/>
              <p:nvPr/>
            </p:nvSpPr>
            <p:spPr bwMode="auto">
              <a:xfrm>
                <a:off x="1527440" y="4421117"/>
                <a:ext cx="4920802" cy="16756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6250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7440" y="4421117"/>
                <a:ext cx="4920802" cy="1675677"/>
              </a:xfrm>
              <a:prstGeom prst="rect">
                <a:avLst/>
              </a:prstGeom>
              <a:blipFill rotWithShape="1">
                <a:blip r:embed="rId3"/>
                <a:stretch>
                  <a:fillRect l="-5" t="-15" r="9" b="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椭圆形标注 10"/>
          <p:cNvSpPr>
            <a:spLocks noChangeArrowheads="1"/>
          </p:cNvSpPr>
          <p:nvPr/>
        </p:nvSpPr>
        <p:spPr bwMode="auto">
          <a:xfrm>
            <a:off x="6277535" y="1046218"/>
            <a:ext cx="2875681" cy="1128062"/>
          </a:xfrm>
          <a:prstGeom prst="wedgeEllipseCallout">
            <a:avLst>
              <a:gd name="adj1" fmla="val -62279"/>
              <a:gd name="adj2" fmla="val 75260"/>
            </a:avLst>
          </a:prstGeom>
          <a:solidFill>
            <a:schemeClr val="accent1"/>
          </a:solidFill>
          <a:ln w="9525" algn="ctr">
            <a:solidFill>
              <a:srgbClr val="0000FF"/>
            </a:solidFill>
            <a:round/>
          </a:ln>
        </p:spPr>
        <p:txBody>
          <a:bodyPr lIns="0" tIns="0" rIns="0" bIns="0" anchor="ctr"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很重要，记住！！！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2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2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2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2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6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9" grpId="0" build="p"/>
      <p:bldP spid="362500" grpId="0"/>
      <p:bldP spid="362501" grpId="0"/>
      <p:bldP spid="362502" grpId="0"/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黑体" panose="02010609060101010101" pitchFamily="49" charset="-122"/>
              </a:rPr>
              <a:t>6. </a:t>
            </a:r>
            <a:r>
              <a:rPr lang="zh-CN" altLang="en-US">
                <a:ea typeface="黑体" panose="02010609060101010101" pitchFamily="49" charset="-122"/>
              </a:rPr>
              <a:t>正态分布</a:t>
            </a:r>
            <a:r>
              <a:rPr lang="en-US" altLang="zh-CN">
                <a:ea typeface="黑体" panose="02010609060101010101" pitchFamily="49" charset="-122"/>
              </a:rPr>
              <a:t>(</a:t>
            </a:r>
            <a:r>
              <a:rPr lang="zh-CN" altLang="en-US">
                <a:ea typeface="黑体" panose="02010609060101010101" pitchFamily="49" charset="-122"/>
              </a:rPr>
              <a:t>高斯分布</a:t>
            </a:r>
            <a:r>
              <a:rPr lang="en-US" altLang="zh-CN"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4681" y="1104056"/>
            <a:ext cx="8610600" cy="741482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如果</a:t>
            </a:r>
            <a:r>
              <a:rPr lang="en-US" altLang="zh-CN" dirty="0"/>
              <a:t>R.V.X</a:t>
            </a:r>
            <a:r>
              <a:rPr lang="zh-CN" altLang="en-US" dirty="0"/>
              <a:t>的概率密度为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3524" name="Object 4"/>
              <p:cNvSpPr txBox="1"/>
              <p:nvPr/>
            </p:nvSpPr>
            <p:spPr bwMode="auto">
              <a:xfrm>
                <a:off x="365414" y="1942427"/>
                <a:ext cx="7333961" cy="13483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−∞&lt;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&lt;∞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6352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414" y="1942427"/>
                <a:ext cx="7333961" cy="1348345"/>
              </a:xfrm>
              <a:prstGeom prst="rect">
                <a:avLst/>
              </a:prstGeom>
              <a:blipFill rotWithShape="1">
                <a:blip r:embed="rId2"/>
                <a:stretch>
                  <a:fillRect l="-4" t="-44" b="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3525" name="Rectangle 5"/>
          <p:cNvSpPr>
            <a:spLocks noChangeArrowheads="1"/>
          </p:cNvSpPr>
          <p:nvPr/>
        </p:nvSpPr>
        <p:spPr bwMode="auto">
          <a:xfrm>
            <a:off x="284681" y="3588120"/>
            <a:ext cx="118538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spc="-100" dirty="0">
                <a:latin typeface="+mn-ea"/>
                <a:ea typeface="+mn-ea"/>
              </a:rPr>
              <a:t>则称</a:t>
            </a:r>
            <a:r>
              <a:rPr lang="en-US" altLang="zh-CN" sz="2400" spc="-100" dirty="0">
                <a:latin typeface="+mn-ea"/>
                <a:ea typeface="+mn-ea"/>
              </a:rPr>
              <a:t>R.V.X</a:t>
            </a:r>
            <a:r>
              <a:rPr lang="zh-CN" altLang="en-US" sz="2400" spc="-100" dirty="0">
                <a:latin typeface="+mn-ea"/>
                <a:ea typeface="+mn-ea"/>
              </a:rPr>
              <a:t>服从参数为</a:t>
            </a:r>
            <a:r>
              <a:rPr lang="zh-CN" altLang="en-US" sz="2400" spc="-100" dirty="0">
                <a:latin typeface="+mn-ea"/>
                <a:ea typeface="+mn-ea"/>
                <a:sym typeface="Symbol" panose="05050102010706020507" pitchFamily="18" charset="2"/>
              </a:rPr>
              <a:t></a:t>
            </a:r>
            <a:r>
              <a:rPr lang="zh-CN" altLang="en-US" sz="2400" spc="-100" dirty="0">
                <a:latin typeface="+mn-ea"/>
                <a:ea typeface="+mn-ea"/>
              </a:rPr>
              <a:t>和</a:t>
            </a:r>
            <a:r>
              <a:rPr lang="zh-CN" altLang="en-US" sz="2400" spc="-100" dirty="0">
                <a:latin typeface="+mn-ea"/>
                <a:ea typeface="+mn-ea"/>
                <a:sym typeface="Symbol" panose="05050102010706020507" pitchFamily="18" charset="2"/>
              </a:rPr>
              <a:t></a:t>
            </a:r>
            <a:r>
              <a:rPr lang="en-US" altLang="zh-CN" sz="2400" spc="-100" baseline="30000" dirty="0">
                <a:latin typeface="+mn-ea"/>
                <a:ea typeface="+mn-ea"/>
              </a:rPr>
              <a:t>2</a:t>
            </a:r>
            <a:r>
              <a:rPr lang="zh-CN" altLang="en-US" sz="2400" spc="-100" dirty="0">
                <a:latin typeface="+mn-ea"/>
                <a:ea typeface="+mn-ea"/>
              </a:rPr>
              <a:t>的</a:t>
            </a:r>
            <a:r>
              <a:rPr lang="zh-CN" altLang="en-US" sz="2400" spc="-100" dirty="0">
                <a:solidFill>
                  <a:srgbClr val="0000FF"/>
                </a:solidFill>
                <a:latin typeface="+mn-ea"/>
                <a:ea typeface="+mn-ea"/>
              </a:rPr>
              <a:t>正态分布</a:t>
            </a:r>
            <a:r>
              <a:rPr lang="en-US" altLang="zh-CN" sz="2400" spc="-100" dirty="0">
                <a:solidFill>
                  <a:srgbClr val="CC00CC"/>
                </a:solidFill>
                <a:latin typeface="+mn-ea"/>
                <a:ea typeface="+mn-ea"/>
              </a:rPr>
              <a:t>(</a:t>
            </a:r>
            <a:r>
              <a:rPr lang="zh-CN" altLang="en-US" sz="2400" spc="-100" dirty="0">
                <a:solidFill>
                  <a:srgbClr val="CC00CC"/>
                </a:solidFill>
                <a:latin typeface="+mn-ea"/>
                <a:ea typeface="+mn-ea"/>
              </a:rPr>
              <a:t>高斯分布</a:t>
            </a:r>
            <a:r>
              <a:rPr lang="en-US" altLang="zh-CN" sz="2400" spc="-100" dirty="0">
                <a:solidFill>
                  <a:srgbClr val="CC00CC"/>
                </a:solidFill>
                <a:latin typeface="+mn-ea"/>
                <a:ea typeface="+mn-ea"/>
              </a:rPr>
              <a:t>)</a:t>
            </a:r>
            <a:r>
              <a:rPr lang="zh-CN" altLang="en-US" sz="2400" spc="-100" dirty="0">
                <a:latin typeface="+mn-ea"/>
                <a:ea typeface="+mn-ea"/>
              </a:rPr>
              <a:t>，记为</a:t>
            </a:r>
            <a:r>
              <a:rPr lang="en-US" altLang="zh-CN" sz="2400" spc="-100" dirty="0">
                <a:solidFill>
                  <a:srgbClr val="0000FF"/>
                </a:solidFill>
                <a:latin typeface="+mn-ea"/>
                <a:ea typeface="+mn-ea"/>
              </a:rPr>
              <a:t>X</a:t>
            </a:r>
            <a:r>
              <a:rPr lang="zh-CN" altLang="en-US" sz="2400" spc="-100" dirty="0">
                <a:solidFill>
                  <a:srgbClr val="0000FF"/>
                </a:solidFill>
                <a:latin typeface="+mn-ea"/>
                <a:ea typeface="+mn-ea"/>
              </a:rPr>
              <a:t>～</a:t>
            </a:r>
            <a:r>
              <a:rPr lang="en-US" altLang="zh-CN" sz="2400" spc="-100" dirty="0">
                <a:solidFill>
                  <a:srgbClr val="0000FF"/>
                </a:solidFill>
                <a:latin typeface="+mn-ea"/>
                <a:ea typeface="+mn-ea"/>
              </a:rPr>
              <a:t>N(</a:t>
            </a:r>
            <a:r>
              <a:rPr lang="en-US" altLang="zh-CN" sz="2400" spc="-1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</a:t>
            </a:r>
            <a:r>
              <a:rPr lang="en-US" altLang="zh-CN" sz="2400" spc="-100" dirty="0">
                <a:solidFill>
                  <a:srgbClr val="0000FF"/>
                </a:solidFill>
                <a:latin typeface="+mn-ea"/>
                <a:ea typeface="+mn-ea"/>
              </a:rPr>
              <a:t>, </a:t>
            </a:r>
            <a:r>
              <a:rPr lang="en-US" altLang="zh-CN" sz="2400" spc="-1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</a:t>
            </a:r>
            <a:r>
              <a:rPr lang="en-US" altLang="zh-CN" sz="2400" spc="-100" baseline="300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lang="en-US" altLang="zh-CN" sz="2400" spc="-100" dirty="0">
                <a:solidFill>
                  <a:srgbClr val="0000FF"/>
                </a:solidFill>
                <a:latin typeface="+mn-ea"/>
                <a:ea typeface="+mn-ea"/>
              </a:rPr>
              <a:t>)</a:t>
            </a:r>
            <a:r>
              <a:rPr lang="zh-CN" altLang="en-US" sz="2400" spc="-100" dirty="0">
                <a:latin typeface="+mn-ea"/>
                <a:ea typeface="+mn-ea"/>
              </a:rPr>
              <a:t>，</a:t>
            </a:r>
            <a:r>
              <a:rPr lang="en-US" altLang="zh-CN" sz="2400" spc="-100" dirty="0">
                <a:latin typeface="+mn-ea"/>
                <a:ea typeface="+mn-ea"/>
              </a:rPr>
              <a:t>X</a:t>
            </a:r>
            <a:r>
              <a:rPr lang="zh-CN" altLang="en-US" sz="2400" spc="-100" dirty="0">
                <a:latin typeface="+mn-ea"/>
                <a:ea typeface="+mn-ea"/>
              </a:rPr>
              <a:t>的分布函数为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3526" name="Object 6"/>
              <p:cNvSpPr txBox="1"/>
              <p:nvPr/>
            </p:nvSpPr>
            <p:spPr bwMode="auto">
              <a:xfrm>
                <a:off x="344496" y="4644481"/>
                <a:ext cx="6965974" cy="11988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nary>
                        <m:nary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  <m:e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  <m:sSup>
                                    <m:sSupPr>
                                      <m:ctrlPr>
                                        <a:rPr 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sSup>
                                    <m:sSupPr>
                                      <m:ctrlPr>
                                        <a:rPr 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𝝈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</m:e>
                      </m:nary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𝒅𝒕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−∞&lt;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&lt;+∞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6352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496" y="4644481"/>
                <a:ext cx="6965974" cy="1198840"/>
              </a:xfrm>
              <a:prstGeom prst="rect">
                <a:avLst/>
              </a:prstGeom>
              <a:blipFill rotWithShape="1">
                <a:blip r:embed="rId3"/>
                <a:stretch>
                  <a:fillRect l="-5" t="-8" r="5" b="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3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3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63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6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3" grpId="0" build="p"/>
      <p:bldP spid="363524" grpId="0"/>
      <p:bldP spid="363525" grpId="0"/>
      <p:bldP spid="36352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黑体" panose="02010609060101010101" pitchFamily="49" charset="-122"/>
              </a:rPr>
              <a:t>6. </a:t>
            </a:r>
            <a:r>
              <a:rPr lang="zh-CN" altLang="en-US">
                <a:ea typeface="黑体" panose="02010609060101010101" pitchFamily="49" charset="-122"/>
              </a:rPr>
              <a:t>正态分布</a:t>
            </a:r>
            <a:r>
              <a:rPr lang="en-US" altLang="zh-CN">
                <a:ea typeface="黑体" panose="02010609060101010101" pitchFamily="49" charset="-122"/>
              </a:rPr>
              <a:t>(</a:t>
            </a:r>
            <a:r>
              <a:rPr lang="zh-CN" altLang="en-US">
                <a:ea typeface="黑体" panose="02010609060101010101" pitchFamily="49" charset="-122"/>
              </a:rPr>
              <a:t>高斯分布</a:t>
            </a:r>
            <a:r>
              <a:rPr lang="en-US" altLang="zh-CN"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4998" y="3710549"/>
            <a:ext cx="7423281" cy="715673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如果</a:t>
            </a:r>
            <a:r>
              <a:rPr lang="en-US" altLang="zh-CN" dirty="0"/>
              <a:t>R.V.</a:t>
            </a:r>
            <a:r>
              <a:rPr lang="en-US" altLang="zh-CN" dirty="0">
                <a:solidFill>
                  <a:srgbClr val="0000FF"/>
                </a:solidFill>
              </a:rPr>
              <a:t>X</a:t>
            </a:r>
            <a:r>
              <a:rPr lang="zh-CN" altLang="en-US" dirty="0">
                <a:solidFill>
                  <a:srgbClr val="0000FF"/>
                </a:solidFill>
              </a:rPr>
              <a:t>～</a:t>
            </a:r>
            <a:r>
              <a:rPr lang="en-US" altLang="zh-CN" dirty="0">
                <a:solidFill>
                  <a:srgbClr val="0000FF"/>
                </a:solidFill>
              </a:rPr>
              <a:t>N(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</a:t>
            </a:r>
            <a:r>
              <a:rPr lang="en-US" altLang="zh-CN" dirty="0">
                <a:solidFill>
                  <a:srgbClr val="0000FF"/>
                </a:solidFill>
              </a:rPr>
              <a:t>, 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</a:t>
            </a:r>
            <a:r>
              <a:rPr lang="en-US" altLang="zh-CN" baseline="30000" dirty="0">
                <a:solidFill>
                  <a:srgbClr val="0000FF"/>
                </a:solidFill>
              </a:rPr>
              <a:t>2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/>
              <a:t>，则有概率计算公式：</a:t>
            </a:r>
          </a:p>
        </p:txBody>
      </p:sp>
      <p:sp>
        <p:nvSpPr>
          <p:cNvPr id="363527" name="Rectangle 7"/>
          <p:cNvSpPr>
            <a:spLocks noChangeArrowheads="1"/>
          </p:cNvSpPr>
          <p:nvPr/>
        </p:nvSpPr>
        <p:spPr bwMode="auto">
          <a:xfrm>
            <a:off x="374911" y="6045499"/>
            <a:ext cx="69233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特别有：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3528" name="Object 8"/>
              <p:cNvSpPr txBox="1"/>
              <p:nvPr/>
            </p:nvSpPr>
            <p:spPr bwMode="auto">
              <a:xfrm>
                <a:off x="1730395" y="4467506"/>
                <a:ext cx="5740380" cy="92731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func>
                        <m:func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</m:fName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</m:e>
                      </m:func>
                      <m:func>
                        <m:func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fName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</m:e>
                      </m:func>
                      <m:func>
                        <m:func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fName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𝜱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den>
                      </m:f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𝜱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den>
                      </m:f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6352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30395" y="4467506"/>
                <a:ext cx="5740380" cy="927315"/>
              </a:xfrm>
              <a:prstGeom prst="rect">
                <a:avLst/>
              </a:prstGeom>
              <a:blipFill rotWithShape="1">
                <a:blip r:embed="rId2"/>
                <a:stretch>
                  <a:fillRect t="-30" b="5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8"/>
              <p:cNvSpPr txBox="1"/>
              <p:nvPr/>
            </p:nvSpPr>
            <p:spPr bwMode="auto">
              <a:xfrm>
                <a:off x="2491370" y="5329785"/>
                <a:ext cx="3352800" cy="4818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𝜱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𝜱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12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1370" y="5329785"/>
                <a:ext cx="3352800" cy="481835"/>
              </a:xfrm>
              <a:prstGeom prst="rect">
                <a:avLst/>
              </a:prstGeom>
              <a:blipFill rotWithShape="1">
                <a:blip r:embed="rId3"/>
                <a:stretch>
                  <a:fillRect l="-8" t="-48" r="8" b="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8"/>
              <p:cNvSpPr txBox="1"/>
              <p:nvPr/>
            </p:nvSpPr>
            <p:spPr bwMode="auto">
              <a:xfrm>
                <a:off x="1606169" y="6035592"/>
                <a:ext cx="6421070" cy="44301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{|</m:t>
                      </m:r>
                      <m:func>
                        <m:func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fName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func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|&lt;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𝜱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13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6169" y="6035592"/>
                <a:ext cx="6421070" cy="443016"/>
              </a:xfrm>
              <a:prstGeom prst="rect">
                <a:avLst/>
              </a:prstGeom>
              <a:blipFill rotWithShape="1">
                <a:blip r:embed="rId4"/>
                <a:stretch>
                  <a:fillRect l="-4" t="-125" r="3" b="7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394997" y="1059943"/>
            <a:ext cx="11342978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      特别地，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 </a:t>
            </a:r>
            <a:r>
              <a:rPr lang="en-US" altLang="zh-CN" sz="2400" dirty="0">
                <a:latin typeface="+mn-ea"/>
                <a:ea typeface="+mn-ea"/>
              </a:rPr>
              <a:t>= 0, 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</a:t>
            </a:r>
            <a:r>
              <a:rPr lang="en-US" altLang="zh-CN" sz="2400" baseline="30000" dirty="0">
                <a:latin typeface="+mn-ea"/>
                <a:ea typeface="+mn-ea"/>
              </a:rPr>
              <a:t>2 </a:t>
            </a:r>
            <a:r>
              <a:rPr lang="en-US" altLang="zh-CN" sz="2400" dirty="0">
                <a:latin typeface="+mn-ea"/>
                <a:ea typeface="+mn-ea"/>
              </a:rPr>
              <a:t>= 1</a:t>
            </a:r>
            <a:r>
              <a:rPr lang="zh-CN" altLang="en-US" sz="2400" dirty="0">
                <a:latin typeface="+mn-ea"/>
                <a:ea typeface="+mn-ea"/>
              </a:rPr>
              <a:t>时的正态分布称为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标准正态分布</a:t>
            </a:r>
            <a:r>
              <a:rPr lang="zh-CN" altLang="en-US" sz="2400" dirty="0">
                <a:latin typeface="+mn-ea"/>
                <a:ea typeface="+mn-ea"/>
              </a:rPr>
              <a:t>，记为</a:t>
            </a:r>
            <a:r>
              <a:rPr lang="en-US" altLang="zh-CN" sz="2400" dirty="0">
                <a:latin typeface="+mn-ea"/>
                <a:ea typeface="+mn-ea"/>
              </a:rPr>
              <a:t>R.V.X</a:t>
            </a:r>
            <a:r>
              <a:rPr lang="zh-CN" altLang="en-US" sz="2400" dirty="0">
                <a:latin typeface="+mn-ea"/>
                <a:ea typeface="+mn-ea"/>
              </a:rPr>
              <a:t>～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N(0, 1)</a:t>
            </a:r>
            <a:r>
              <a:rPr lang="zh-CN" altLang="en-US" sz="2400" dirty="0">
                <a:latin typeface="+mn-ea"/>
                <a:ea typeface="+mn-ea"/>
              </a:rPr>
              <a:t>，其概率密度和分布函数特别记为：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8"/>
              <p:cNvSpPr txBox="1"/>
              <p:nvPr/>
            </p:nvSpPr>
            <p:spPr bwMode="auto">
              <a:xfrm>
                <a:off x="670234" y="2606981"/>
                <a:ext cx="10458711" cy="10209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</m:m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𝜱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rad>
                        </m:den>
                      </m:f>
                      <m:nary>
                        <m:nary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  <m:e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𝝉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sup>
                          </m:sSup>
                        </m:e>
                      </m:nary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𝝉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</m:m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−∞&lt;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&lt;∞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15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0234" y="2606981"/>
                <a:ext cx="10458711" cy="1020999"/>
              </a:xfrm>
              <a:prstGeom prst="rect">
                <a:avLst/>
              </a:prstGeom>
              <a:blipFill rotWithShape="1">
                <a:blip r:embed="rId5"/>
                <a:stretch>
                  <a:fillRect l="-3" t="-30" r="5" b="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3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3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63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3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3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3" grpId="0" build="p"/>
      <p:bldP spid="363527" grpId="0"/>
      <p:bldP spid="363528" grpId="0"/>
      <p:bldP spid="12" grpId="0"/>
      <p:bldP spid="13" grpId="0"/>
      <p:bldP spid="14" grpId="0"/>
      <p:bldP spid="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黑体" panose="02010609060101010101" pitchFamily="49" charset="-122"/>
              </a:rPr>
              <a:t>7. </a:t>
            </a:r>
            <a:r>
              <a:rPr lang="en-US" altLang="zh-CN">
                <a:ea typeface="黑体" panose="02010609060101010101" pitchFamily="49" charset="-122"/>
                <a:sym typeface="Symbol" panose="05050102010706020507" pitchFamily="18" charset="2"/>
              </a:rPr>
              <a:t></a:t>
            </a:r>
            <a:r>
              <a:rPr lang="en-US" altLang="zh-CN">
                <a:ea typeface="黑体" panose="02010609060101010101" pitchFamily="49" charset="-122"/>
              </a:rPr>
              <a:t>-</a:t>
            </a:r>
            <a:r>
              <a:rPr lang="zh-CN" altLang="en-US">
                <a:ea typeface="黑体" panose="02010609060101010101" pitchFamily="49" charset="-122"/>
              </a:rPr>
              <a:t>分布</a:t>
            </a:r>
          </a:p>
        </p:txBody>
      </p:sp>
      <p:sp>
        <p:nvSpPr>
          <p:cNvPr id="364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377825" y="1070107"/>
            <a:ext cx="7850417" cy="835751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   如果</a:t>
            </a:r>
            <a:r>
              <a:rPr lang="en-US" altLang="zh-CN" dirty="0"/>
              <a:t>R.V.X</a:t>
            </a:r>
            <a:r>
              <a:rPr lang="zh-CN" altLang="en-US" dirty="0"/>
              <a:t>的概率密度为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4548" name="Object 4"/>
              <p:cNvSpPr txBox="1"/>
              <p:nvPr/>
            </p:nvSpPr>
            <p:spPr bwMode="auto">
              <a:xfrm>
                <a:off x="1214629" y="1614857"/>
                <a:ext cx="5951345" cy="14439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𝜷</m:t>
                                        </m:r>
                                      </m:e>
                                      <m:sup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𝜶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𝜞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d>
                        <m:d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𝜶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6454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14629" y="1614857"/>
                <a:ext cx="5951345" cy="1443904"/>
              </a:xfrm>
              <a:prstGeom prst="rect">
                <a:avLst/>
              </a:prstGeom>
              <a:blipFill rotWithShape="1">
                <a:blip r:embed="rId2"/>
                <a:stretch>
                  <a:fillRect l="-9" t="-4" r="11" b="4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4549" name="Rectangle 5"/>
          <p:cNvSpPr>
            <a:spLocks noChangeArrowheads="1"/>
          </p:cNvSpPr>
          <p:nvPr/>
        </p:nvSpPr>
        <p:spPr bwMode="auto">
          <a:xfrm>
            <a:off x="428274" y="3128555"/>
            <a:ext cx="77741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则称</a:t>
            </a:r>
            <a:r>
              <a:rPr lang="en-US" altLang="zh-CN" sz="2400" dirty="0">
                <a:latin typeface="+mn-ea"/>
                <a:ea typeface="+mn-ea"/>
              </a:rPr>
              <a:t>R.V.X</a:t>
            </a:r>
            <a:r>
              <a:rPr lang="zh-CN" altLang="en-US" sz="2400" dirty="0">
                <a:latin typeface="+mn-ea"/>
                <a:ea typeface="+mn-ea"/>
              </a:rPr>
              <a:t>服从参数为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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</a:t>
            </a:r>
            <a:r>
              <a:rPr lang="zh-CN" altLang="en-US" sz="2400" dirty="0">
                <a:latin typeface="+mn-ea"/>
                <a:ea typeface="+mn-ea"/>
              </a:rPr>
              <a:t>的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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-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分布</a:t>
            </a:r>
            <a:r>
              <a:rPr lang="zh-CN" altLang="en-US" sz="2400" dirty="0">
                <a:latin typeface="+mn-ea"/>
                <a:ea typeface="+mn-ea"/>
              </a:rPr>
              <a:t>，记为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X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～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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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,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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)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  <p:sp>
        <p:nvSpPr>
          <p:cNvPr id="364550" name="Rectangle 6"/>
          <p:cNvSpPr>
            <a:spLocks noChangeArrowheads="1"/>
          </p:cNvSpPr>
          <p:nvPr/>
        </p:nvSpPr>
        <p:spPr bwMode="auto">
          <a:xfrm>
            <a:off x="460392" y="3811410"/>
            <a:ext cx="7774199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这里，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</a:t>
            </a:r>
            <a:r>
              <a:rPr lang="en-US" altLang="zh-CN" sz="2400" dirty="0">
                <a:latin typeface="+mn-ea"/>
                <a:ea typeface="+mn-ea"/>
              </a:rPr>
              <a:t>-</a:t>
            </a:r>
            <a:r>
              <a:rPr lang="zh-CN" altLang="en-US" sz="2400" dirty="0">
                <a:latin typeface="+mn-ea"/>
                <a:ea typeface="+mn-ea"/>
              </a:rPr>
              <a:t>函数定义为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4551" name="Object 7"/>
              <p:cNvSpPr txBox="1"/>
              <p:nvPr/>
            </p:nvSpPr>
            <p:spPr bwMode="auto">
              <a:xfrm>
                <a:off x="3227203" y="4171911"/>
                <a:ext cx="5714701" cy="9429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𝜞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p>
                          </m:s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6455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7203" y="4171911"/>
                <a:ext cx="5714701" cy="942992"/>
              </a:xfrm>
              <a:prstGeom prst="rect">
                <a:avLst/>
              </a:prstGeom>
              <a:blipFill rotWithShape="1">
                <a:blip r:embed="rId3"/>
                <a:stretch>
                  <a:fillRect l="-2" t="-63" r="8" b="6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4552" name="Rectangle 8"/>
          <p:cNvSpPr>
            <a:spLocks noChangeArrowheads="1"/>
          </p:cNvSpPr>
          <p:nvPr/>
        </p:nvSpPr>
        <p:spPr bwMode="auto">
          <a:xfrm>
            <a:off x="422660" y="5156520"/>
            <a:ext cx="1989598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可证得 </a:t>
            </a:r>
          </a:p>
        </p:txBody>
      </p:sp>
      <p:grpSp>
        <p:nvGrpSpPr>
          <p:cNvPr id="2" name="Group 9"/>
          <p:cNvGrpSpPr/>
          <p:nvPr/>
        </p:nvGrpSpPr>
        <p:grpSpPr bwMode="auto">
          <a:xfrm>
            <a:off x="422660" y="5766794"/>
            <a:ext cx="8957100" cy="868563"/>
            <a:chOff x="767" y="3290"/>
            <a:chExt cx="3836" cy="547"/>
          </a:xfrm>
        </p:grpSpPr>
        <p:sp>
          <p:nvSpPr>
            <p:cNvPr id="23565" name="Rectangle 10"/>
            <p:cNvSpPr>
              <a:spLocks noChangeArrowheads="1"/>
            </p:cNvSpPr>
            <p:nvPr/>
          </p:nvSpPr>
          <p:spPr bwMode="auto">
            <a:xfrm>
              <a:off x="767" y="3416"/>
              <a:ext cx="288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sz="2400" dirty="0">
                  <a:latin typeface="+mn-ea"/>
                  <a:ea typeface="+mn-ea"/>
                  <a:sym typeface="Symbol" panose="05050102010706020507" pitchFamily="18" charset="2"/>
                </a:rPr>
                <a:t></a:t>
              </a:r>
              <a:r>
                <a:rPr lang="en-US" altLang="zh-CN" sz="2400" dirty="0">
                  <a:latin typeface="+mn-ea"/>
                  <a:ea typeface="+mn-ea"/>
                </a:rPr>
                <a:t>(</a:t>
              </a:r>
              <a:r>
                <a:rPr lang="en-US" altLang="zh-CN" sz="2400" dirty="0">
                  <a:latin typeface="+mn-ea"/>
                  <a:ea typeface="+mn-ea"/>
                  <a:sym typeface="Symbol" panose="05050102010706020507" pitchFamily="18" charset="2"/>
                </a:rPr>
                <a:t></a:t>
              </a:r>
              <a:r>
                <a:rPr lang="en-US" altLang="zh-CN" sz="2400" dirty="0">
                  <a:latin typeface="+mn-ea"/>
                  <a:ea typeface="+mn-ea"/>
                </a:rPr>
                <a:t>+1)</a:t>
              </a:r>
              <a:r>
                <a:rPr lang="zh-CN" altLang="en-US" sz="2400" dirty="0">
                  <a:latin typeface="+mn-ea"/>
                  <a:ea typeface="+mn-ea"/>
                </a:rPr>
                <a:t>＝</a:t>
              </a:r>
              <a:r>
                <a:rPr lang="zh-CN" altLang="en-US" sz="2400" dirty="0">
                  <a:latin typeface="+mn-ea"/>
                  <a:ea typeface="+mn-ea"/>
                  <a:sym typeface="Symbol" panose="05050102010706020507" pitchFamily="18" charset="2"/>
                </a:rPr>
                <a:t></a:t>
              </a:r>
              <a:r>
                <a:rPr lang="en-US" altLang="zh-CN" sz="2400" dirty="0">
                  <a:latin typeface="+mn-ea"/>
                  <a:ea typeface="+mn-ea"/>
                </a:rPr>
                <a:t>(</a:t>
              </a:r>
              <a:r>
                <a:rPr lang="en-US" altLang="zh-CN" sz="2400" dirty="0">
                  <a:latin typeface="+mn-ea"/>
                  <a:ea typeface="+mn-ea"/>
                  <a:sym typeface="Symbol" panose="05050102010706020507" pitchFamily="18" charset="2"/>
                </a:rPr>
                <a:t></a:t>
              </a:r>
              <a:r>
                <a:rPr lang="en-US" altLang="zh-CN" sz="2400" dirty="0">
                  <a:latin typeface="+mn-ea"/>
                  <a:ea typeface="+mn-ea"/>
                </a:rPr>
                <a:t>)</a:t>
              </a:r>
              <a:r>
                <a:rPr lang="zh-CN" altLang="en-US" sz="2400" dirty="0">
                  <a:latin typeface="+mn-ea"/>
                  <a:ea typeface="+mn-ea"/>
                </a:rPr>
                <a:t>，   </a:t>
              </a:r>
              <a:r>
                <a:rPr lang="zh-CN" altLang="en-US" sz="2400" dirty="0">
                  <a:latin typeface="+mn-ea"/>
                  <a:ea typeface="+mn-ea"/>
                  <a:sym typeface="Symbol" panose="05050102010706020507" pitchFamily="18" charset="2"/>
                </a:rPr>
                <a:t></a:t>
              </a:r>
              <a:r>
                <a:rPr lang="en-US" altLang="zh-CN" sz="2400" dirty="0">
                  <a:latin typeface="+mn-ea"/>
                  <a:ea typeface="+mn-ea"/>
                </a:rPr>
                <a:t>(n+1)</a:t>
              </a:r>
              <a:r>
                <a:rPr lang="zh-CN" altLang="en-US" sz="2400" dirty="0">
                  <a:latin typeface="+mn-ea"/>
                  <a:ea typeface="+mn-ea"/>
                </a:rPr>
                <a:t>＝</a:t>
              </a:r>
              <a:r>
                <a:rPr lang="en-US" altLang="zh-CN" sz="2400" dirty="0">
                  <a:latin typeface="+mn-ea"/>
                  <a:ea typeface="+mn-ea"/>
                </a:rPr>
                <a:t>n!</a:t>
              </a:r>
              <a:r>
                <a:rPr lang="zh-CN" altLang="en-US" sz="2400" dirty="0">
                  <a:latin typeface="+mn-ea"/>
                  <a:ea typeface="+mn-ea"/>
                </a:rPr>
                <a:t>，</a:t>
              </a:r>
              <a:r>
                <a:rPr lang="zh-CN" altLang="en-US" sz="2400" dirty="0">
                  <a:latin typeface="+mn-ea"/>
                  <a:ea typeface="+mn-ea"/>
                  <a:sym typeface="Symbol" panose="05050102010706020507" pitchFamily="18" charset="2"/>
                </a:rPr>
                <a:t></a:t>
              </a:r>
              <a:r>
                <a:rPr lang="en-US" altLang="zh-CN" sz="2400" dirty="0">
                  <a:latin typeface="+mn-ea"/>
                  <a:ea typeface="+mn-ea"/>
                </a:rPr>
                <a:t>(1)</a:t>
              </a:r>
              <a:r>
                <a:rPr lang="zh-CN" altLang="en-US" sz="2400" dirty="0">
                  <a:latin typeface="+mn-ea"/>
                  <a:ea typeface="+mn-ea"/>
                </a:rPr>
                <a:t>＝</a:t>
              </a:r>
              <a:r>
                <a:rPr lang="en-US" altLang="zh-CN" sz="2400" dirty="0">
                  <a:latin typeface="+mn-ea"/>
                  <a:ea typeface="+mn-ea"/>
                </a:rPr>
                <a:t>1,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66" name="Object 11"/>
                <p:cNvSpPr txBox="1"/>
                <p:nvPr/>
              </p:nvSpPr>
              <p:spPr bwMode="auto">
                <a:xfrm>
                  <a:off x="3595" y="3290"/>
                  <a:ext cx="1008" cy="54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𝜞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ad>
                          <m:radPr>
                            <m:degHide m:val="on"/>
                            <m:ctrlP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</m:rad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US" b="1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23566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95" y="3290"/>
                  <a:ext cx="1008" cy="547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4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4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64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4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4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4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4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64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4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4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47" grpId="0" build="p"/>
      <p:bldP spid="364548" grpId="0"/>
      <p:bldP spid="364549" grpId="0"/>
      <p:bldP spid="364550" grpId="0" autoUpdateAnimBg="0"/>
      <p:bldP spid="364551" grpId="0"/>
      <p:bldP spid="364552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黑体" panose="02010609060101010101" pitchFamily="49" charset="-122"/>
              </a:rPr>
              <a:t>8. </a:t>
            </a:r>
            <a:r>
              <a:rPr lang="zh-CN" altLang="en-US">
                <a:ea typeface="黑体" panose="02010609060101010101" pitchFamily="49" charset="-122"/>
              </a:rPr>
              <a:t>对数正态分布</a:t>
            </a:r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2561" y="1300182"/>
            <a:ext cx="7850417" cy="1014513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如果</a:t>
            </a:r>
            <a:r>
              <a:rPr lang="en-US" altLang="zh-CN" dirty="0"/>
              <a:t>R.V.X</a:t>
            </a:r>
            <a:r>
              <a:rPr lang="zh-CN" altLang="en-US" dirty="0"/>
              <a:t>的概率密度为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3524" name="Object 4"/>
              <p:cNvSpPr txBox="1"/>
              <p:nvPr/>
            </p:nvSpPr>
            <p:spPr bwMode="auto">
              <a:xfrm>
                <a:off x="1527175" y="2134394"/>
                <a:ext cx="6322160" cy="21548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en-US" b="1" i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𝐥𝐠</m:t>
                                        </m:r>
                                      </m:fName>
                                      <m:e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𝒆</m:t>
                                        </m:r>
                                      </m:e>
                                    </m:func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𝝅</m:t>
                                        </m:r>
                                      </m:e>
                                    </m:rad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𝝈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func>
                                          <m:funcPr>
                                            <m:ctrlP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a:rPr lang="en-US" b="1" i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𝐥𝐠</m:t>
                                            </m:r>
                                          </m:fName>
                                          <m:e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</m:func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  <m:sSup>
                                          <m:sSupPr>
                                            <m:ctrlP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sSup>
                                          <m:sSupPr>
                                            <m:ctrlP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𝝈</m:t>
                                            </m:r>
                                          </m:e>
                                          <m:sup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sup>
                                </m:sSup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  <m:e/>
                                  </m:mr>
                                </m:m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  <m:e/>
                                  </m:mr>
                                </m:m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  <m:e/>
                                  </m:mr>
                                </m:m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  <m:e/>
                                  </m:mr>
                                </m:m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  <m:e/>
                                  </m:mr>
                                </m:m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6352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7175" y="2134394"/>
                <a:ext cx="6322160" cy="2154807"/>
              </a:xfrm>
              <a:prstGeom prst="rect">
                <a:avLst/>
              </a:prstGeom>
              <a:blipFill rotWithShape="1">
                <a:blip r:embed="rId2"/>
                <a:stretch>
                  <a:fillRect t="-7" r="2" b="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3525" name="Rectangle 5"/>
          <p:cNvSpPr>
            <a:spLocks noChangeArrowheads="1"/>
          </p:cNvSpPr>
          <p:nvPr/>
        </p:nvSpPr>
        <p:spPr bwMode="auto">
          <a:xfrm>
            <a:off x="318779" y="4083229"/>
            <a:ext cx="77741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则称</a:t>
            </a:r>
            <a:r>
              <a:rPr lang="en-US" altLang="zh-CN" sz="2400">
                <a:latin typeface="+mn-ea"/>
                <a:ea typeface="+mn-ea"/>
              </a:rPr>
              <a:t>R.V.X</a:t>
            </a:r>
            <a:r>
              <a:rPr lang="zh-CN" altLang="en-US" sz="2400">
                <a:latin typeface="+mn-ea"/>
                <a:ea typeface="+mn-ea"/>
              </a:rPr>
              <a:t>服从参数为</a:t>
            </a:r>
            <a:r>
              <a:rPr lang="zh-CN" altLang="en-US" sz="2400">
                <a:latin typeface="+mn-ea"/>
                <a:ea typeface="+mn-ea"/>
                <a:sym typeface="Symbol" panose="05050102010706020507" pitchFamily="18" charset="2"/>
              </a:rPr>
              <a:t></a:t>
            </a:r>
            <a:r>
              <a:rPr lang="zh-CN" altLang="en-US" sz="2400">
                <a:latin typeface="+mn-ea"/>
                <a:ea typeface="+mn-ea"/>
              </a:rPr>
              <a:t>和</a:t>
            </a:r>
            <a:r>
              <a:rPr lang="zh-CN" altLang="en-US" sz="2400">
                <a:latin typeface="+mn-ea"/>
                <a:ea typeface="+mn-ea"/>
                <a:sym typeface="Symbol" panose="05050102010706020507" pitchFamily="18" charset="2"/>
              </a:rPr>
              <a:t></a:t>
            </a:r>
            <a:r>
              <a:rPr lang="en-US" altLang="zh-CN" sz="2400" baseline="30000">
                <a:latin typeface="+mn-ea"/>
                <a:ea typeface="+mn-ea"/>
              </a:rPr>
              <a:t>2</a:t>
            </a:r>
            <a:r>
              <a:rPr lang="zh-CN" altLang="en-US" sz="2400">
                <a:latin typeface="+mn-ea"/>
                <a:ea typeface="+mn-ea"/>
              </a:rPr>
              <a:t>的</a:t>
            </a:r>
            <a:r>
              <a:rPr lang="zh-CN" altLang="en-US" sz="2400">
                <a:solidFill>
                  <a:srgbClr val="0000FF"/>
                </a:solidFill>
                <a:latin typeface="+mn-ea"/>
                <a:ea typeface="+mn-ea"/>
              </a:rPr>
              <a:t>对数正态分布</a:t>
            </a:r>
            <a:r>
              <a:rPr lang="zh-CN" altLang="en-US" sz="2400">
                <a:latin typeface="+mn-ea"/>
                <a:ea typeface="+mn-ea"/>
              </a:rPr>
              <a:t>。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3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3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63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3" grpId="0" build="p"/>
      <p:bldP spid="363524" grpId="0"/>
      <p:bldP spid="3635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黑体" panose="02010609060101010101" pitchFamily="49" charset="-122"/>
              </a:rPr>
              <a:t>9. </a:t>
            </a:r>
            <a:r>
              <a:rPr lang="en-US" altLang="zh-CN">
                <a:ea typeface="黑体" panose="02010609060101010101" pitchFamily="49" charset="-122"/>
                <a:sym typeface="Symbol" panose="05050102010706020507" pitchFamily="18" charset="2"/>
              </a:rPr>
              <a:t></a:t>
            </a:r>
            <a:r>
              <a:rPr lang="en-US" altLang="zh-CN" baseline="30000">
                <a:ea typeface="黑体" panose="02010609060101010101" pitchFamily="49" charset="-122"/>
              </a:rPr>
              <a:t>2</a:t>
            </a:r>
            <a:r>
              <a:rPr lang="en-US" altLang="zh-CN">
                <a:ea typeface="黑体" panose="02010609060101010101" pitchFamily="49" charset="-122"/>
              </a:rPr>
              <a:t>-</a:t>
            </a:r>
            <a:r>
              <a:rPr lang="zh-CN" altLang="en-US">
                <a:ea typeface="黑体" panose="02010609060101010101" pitchFamily="49" charset="-122"/>
              </a:rPr>
              <a:t>分布</a:t>
            </a:r>
          </a:p>
        </p:txBody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6575" y="969348"/>
            <a:ext cx="7683690" cy="763528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如果</a:t>
            </a:r>
            <a:r>
              <a:rPr lang="en-US" altLang="zh-CN" dirty="0"/>
              <a:t>R.V.X</a:t>
            </a:r>
            <a:r>
              <a:rPr lang="zh-CN" altLang="en-US" dirty="0"/>
              <a:t>的概率密度为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5572" name="Object 4"/>
              <p:cNvSpPr txBox="1"/>
              <p:nvPr/>
            </p:nvSpPr>
            <p:spPr bwMode="auto">
              <a:xfrm>
                <a:off x="1589330" y="1815445"/>
                <a:ext cx="6567245" cy="22118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  <m:sup>
                                        <m:f>
                                          <m:fPr>
                                            <m:ctrlP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𝒏</m:t>
                                            </m:r>
                                          </m:num>
                                          <m:den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𝜞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f>
                                      <m:f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num>
                                      <m:den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num>
                                      <m:den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num>
                                      <m:den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6557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9330" y="1815445"/>
                <a:ext cx="6567245" cy="2211899"/>
              </a:xfrm>
              <a:prstGeom prst="rect">
                <a:avLst/>
              </a:prstGeom>
              <a:blipFill rotWithShape="1">
                <a:blip r:embed="rId2"/>
                <a:stretch>
                  <a:fillRect l="-9" t="-28" b="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5573" name="Rectangle 5"/>
          <p:cNvSpPr>
            <a:spLocks noChangeArrowheads="1"/>
          </p:cNvSpPr>
          <p:nvPr/>
        </p:nvSpPr>
        <p:spPr bwMode="auto">
          <a:xfrm>
            <a:off x="522283" y="3879672"/>
            <a:ext cx="9615492" cy="662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8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则称</a:t>
            </a:r>
            <a:r>
              <a:rPr lang="en-US" altLang="zh-CN" sz="2400" dirty="0">
                <a:latin typeface="+mn-ea"/>
                <a:ea typeface="+mn-ea"/>
              </a:rPr>
              <a:t>R.V.X</a:t>
            </a:r>
            <a:r>
              <a:rPr lang="zh-CN" altLang="en-US" sz="2400" dirty="0">
                <a:latin typeface="+mn-ea"/>
                <a:ea typeface="+mn-ea"/>
              </a:rPr>
              <a:t>服从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自由度为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n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</a:t>
            </a:r>
            <a:r>
              <a:rPr lang="en-US" altLang="zh-CN" sz="2400" baseline="300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-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分布</a:t>
            </a:r>
            <a:r>
              <a:rPr lang="zh-CN" altLang="en-US" sz="2400" dirty="0">
                <a:latin typeface="+mn-ea"/>
                <a:ea typeface="+mn-ea"/>
              </a:rPr>
              <a:t>，记为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X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～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</a:t>
            </a:r>
            <a:r>
              <a:rPr lang="en-US" altLang="zh-CN" sz="2400" baseline="300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(n)</a:t>
            </a:r>
            <a:r>
              <a:rPr lang="zh-CN" altLang="en-US" sz="2400" dirty="0">
                <a:latin typeface="+mn-ea"/>
                <a:ea typeface="+mn-ea"/>
              </a:rPr>
              <a:t>，显然，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5574" name="Object 6"/>
              <p:cNvSpPr txBox="1"/>
              <p:nvPr/>
            </p:nvSpPr>
            <p:spPr bwMode="auto">
              <a:xfrm>
                <a:off x="1679575" y="4999039"/>
                <a:ext cx="2572345" cy="10146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𝝌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𝜞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65574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9575" y="4999039"/>
                <a:ext cx="2572345" cy="1014647"/>
              </a:xfrm>
              <a:prstGeom prst="rect">
                <a:avLst/>
              </a:prstGeom>
              <a:blipFill rotWithShape="1">
                <a:blip r:embed="rId3"/>
                <a:stretch>
                  <a:fillRect t="-31" r="23" b="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6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65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1" grpId="0" build="p"/>
      <p:bldP spid="365572" grpId="0"/>
      <p:bldP spid="365573" grpId="0"/>
      <p:bldP spid="36557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黑体" panose="02010609060101010101" pitchFamily="49" charset="-122"/>
              </a:rPr>
              <a:t>10. </a:t>
            </a:r>
            <a:r>
              <a:rPr lang="en-US" altLang="zh-CN">
                <a:ea typeface="黑体" panose="02010609060101010101" pitchFamily="49" charset="-122"/>
                <a:sym typeface="Symbol" panose="05050102010706020507" pitchFamily="18" charset="2"/>
              </a:rPr>
              <a:t>t</a:t>
            </a:r>
            <a:r>
              <a:rPr lang="zh-CN" altLang="en-US">
                <a:ea typeface="黑体" panose="02010609060101010101" pitchFamily="49" charset="-122"/>
              </a:rPr>
              <a:t>分布</a:t>
            </a:r>
          </a:p>
        </p:txBody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375" y="1143794"/>
            <a:ext cx="7683690" cy="741482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如果</a:t>
            </a:r>
            <a:r>
              <a:rPr lang="en-US" altLang="zh-CN" dirty="0"/>
              <a:t>R.V.X</a:t>
            </a:r>
            <a:r>
              <a:rPr lang="zh-CN" altLang="en-US" dirty="0"/>
              <a:t>的概率密度为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5572" name="Object 4"/>
              <p:cNvSpPr txBox="1"/>
              <p:nvPr/>
            </p:nvSpPr>
            <p:spPr bwMode="auto">
              <a:xfrm>
                <a:off x="1222375" y="2117469"/>
                <a:ext cx="9448800" cy="1960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𝜞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rad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𝜞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−∞&lt;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&lt;+∞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6557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22375" y="2117469"/>
                <a:ext cx="9448800" cy="1960283"/>
              </a:xfrm>
              <a:prstGeom prst="rect">
                <a:avLst/>
              </a:prstGeom>
              <a:blipFill rotWithShape="1">
                <a:blip r:embed="rId2"/>
                <a:stretch>
                  <a:fillRect t="-19" b="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5573" name="Rectangle 5"/>
          <p:cNvSpPr>
            <a:spLocks noChangeArrowheads="1"/>
          </p:cNvSpPr>
          <p:nvPr/>
        </p:nvSpPr>
        <p:spPr bwMode="auto">
          <a:xfrm>
            <a:off x="460375" y="3752870"/>
            <a:ext cx="10258158" cy="664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8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其中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为正整数，则称</a:t>
            </a:r>
            <a:r>
              <a:rPr lang="en-US" altLang="zh-CN" sz="2400" dirty="0">
                <a:latin typeface="+mn-ea"/>
                <a:ea typeface="+mn-ea"/>
              </a:rPr>
              <a:t>R.V.X</a:t>
            </a:r>
            <a:r>
              <a:rPr lang="zh-CN" altLang="en-US" sz="2400" dirty="0">
                <a:latin typeface="+mn-ea"/>
                <a:ea typeface="+mn-ea"/>
              </a:rPr>
              <a:t>服从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自由度为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n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的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分布</a:t>
            </a:r>
            <a:r>
              <a:rPr lang="zh-CN" altLang="en-US" sz="2400" dirty="0">
                <a:latin typeface="+mn-ea"/>
                <a:ea typeface="+mn-ea"/>
              </a:rPr>
              <a:t>，记为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X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～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(n)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6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1" grpId="0" build="p"/>
      <p:bldP spid="365572" grpId="0"/>
      <p:bldP spid="36557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黑体" panose="02010609060101010101" pitchFamily="49" charset="-122"/>
              </a:rPr>
              <a:t>11. </a:t>
            </a:r>
            <a:r>
              <a:rPr lang="en-US" altLang="zh-CN">
                <a:ea typeface="黑体" panose="02010609060101010101" pitchFamily="49" charset="-122"/>
                <a:sym typeface="Symbol" panose="05050102010706020507" pitchFamily="18" charset="2"/>
              </a:rPr>
              <a:t>F</a:t>
            </a:r>
            <a:r>
              <a:rPr lang="zh-CN" altLang="en-US">
                <a:ea typeface="黑体" panose="02010609060101010101" pitchFamily="49" charset="-122"/>
              </a:rPr>
              <a:t>分布</a:t>
            </a:r>
          </a:p>
        </p:txBody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6910" y="1178517"/>
            <a:ext cx="7683690" cy="934643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如果</a:t>
            </a:r>
            <a:r>
              <a:rPr lang="en-US" altLang="zh-CN"/>
              <a:t>R.V.X</a:t>
            </a:r>
            <a:r>
              <a:rPr lang="zh-CN" altLang="en-US"/>
              <a:t>的概率密度为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5572" name="Object 4"/>
              <p:cNvSpPr txBox="1"/>
              <p:nvPr/>
            </p:nvSpPr>
            <p:spPr bwMode="auto">
              <a:xfrm>
                <a:off x="1146175" y="2181241"/>
                <a:ext cx="7907580" cy="25405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𝜞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f>
                                      <m:f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𝒏</m:t>
                                            </m:r>
                                          </m:e>
                                          <m:sub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𝒏</m:t>
                                            </m:r>
                                          </m:e>
                                          <m:sub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𝜞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f>
                                      <m:f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𝒏</m:t>
                                            </m:r>
                                          </m:e>
                                          <m:sub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𝜞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f>
                                      <m:f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𝒏</m:t>
                                            </m:r>
                                          </m:e>
                                          <m:sub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  <m:sSubSup>
                                  <m:sSub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f>
                                      <m:f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𝒏</m:t>
                                            </m:r>
                                          </m:e>
                                          <m:sub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f>
                                      <m:f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𝒏</m:t>
                                            </m:r>
                                          </m:e>
                                          <m:sub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</m:sup>
                                </m:sSubSup>
                                <m:f>
                                  <m:f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p>
                                        <m:f>
                                          <m:fPr>
                                            <m:ctrlP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𝒏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den>
                                        </m:f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e>
                                      <m:sub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e>
                                      <m:sub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f>
                                          <m:fPr>
                                            <m:ctrlP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𝒏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𝒏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</m:den>
                                </m:f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6557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6175" y="2181241"/>
                <a:ext cx="7907580" cy="2540588"/>
              </a:xfrm>
              <a:prstGeom prst="rect">
                <a:avLst/>
              </a:prstGeom>
              <a:blipFill rotWithShape="1">
                <a:blip r:embed="rId2"/>
                <a:stretch>
                  <a:fillRect t="-1" r="7" b="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5573" name="Rectangle 5"/>
          <p:cNvSpPr>
            <a:spLocks noChangeArrowheads="1"/>
          </p:cNvSpPr>
          <p:nvPr/>
        </p:nvSpPr>
        <p:spPr bwMode="auto">
          <a:xfrm>
            <a:off x="612775" y="4356926"/>
            <a:ext cx="11356658" cy="1324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8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其中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en-US" altLang="zh-CN" sz="2400" baseline="-250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en-US" altLang="zh-CN" sz="2400" baseline="-25000" dirty="0">
                <a:latin typeface="+mn-ea"/>
                <a:ea typeface="+mn-ea"/>
              </a:rPr>
              <a:t>2</a:t>
            </a:r>
            <a:r>
              <a:rPr lang="zh-CN" altLang="en-US" sz="2400" dirty="0">
                <a:latin typeface="+mn-ea"/>
                <a:ea typeface="+mn-ea"/>
              </a:rPr>
              <a:t>为正整数，则称</a:t>
            </a:r>
            <a:r>
              <a:rPr lang="en-US" altLang="zh-CN" sz="2400" dirty="0">
                <a:latin typeface="+mn-ea"/>
                <a:ea typeface="+mn-ea"/>
              </a:rPr>
              <a:t>R.V.X</a:t>
            </a:r>
            <a:r>
              <a:rPr lang="zh-CN" altLang="en-US" sz="2400" dirty="0">
                <a:latin typeface="+mn-ea"/>
                <a:ea typeface="+mn-ea"/>
              </a:rPr>
              <a:t>服从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第一自由度为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en-US" altLang="zh-CN" sz="2400" baseline="-25000" dirty="0">
                <a:latin typeface="+mn-ea"/>
                <a:ea typeface="+mn-ea"/>
              </a:rPr>
              <a:t>1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，第二自由度为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en-US" altLang="zh-CN" sz="2400" baseline="-25000" dirty="0">
                <a:latin typeface="+mn-ea"/>
                <a:ea typeface="+mn-ea"/>
              </a:rPr>
              <a:t>2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的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F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分布</a:t>
            </a:r>
            <a:r>
              <a:rPr lang="zh-CN" altLang="en-US" sz="2400" dirty="0">
                <a:latin typeface="+mn-ea"/>
                <a:ea typeface="+mn-ea"/>
              </a:rPr>
              <a:t>，记为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X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～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F(n</a:t>
            </a:r>
            <a:r>
              <a:rPr lang="en-US" altLang="zh-CN" sz="2400" baseline="-25000" dirty="0">
                <a:latin typeface="+mn-ea"/>
                <a:ea typeface="+mn-ea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n</a:t>
            </a:r>
            <a:r>
              <a:rPr lang="en-US" altLang="zh-CN" sz="2400" baseline="-25000" dirty="0">
                <a:latin typeface="+mn-ea"/>
                <a:ea typeface="+mn-ea"/>
              </a:rPr>
              <a:t>2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)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6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1" grpId="0" build="p"/>
      <p:bldP spid="365572" grpId="0"/>
      <p:bldP spid="36557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黑体" panose="02010609060101010101" pitchFamily="49" charset="-122"/>
              </a:rPr>
              <a:t>12. </a:t>
            </a:r>
            <a:r>
              <a:rPr lang="en-US" altLang="zh-CN">
                <a:ea typeface="黑体" panose="02010609060101010101" pitchFamily="49" charset="-122"/>
                <a:sym typeface="Symbol" panose="05050102010706020507" pitchFamily="18" charset="2"/>
              </a:rPr>
              <a:t>k</a:t>
            </a:r>
            <a:r>
              <a:rPr lang="zh-CN" altLang="en-US">
                <a:ea typeface="黑体" panose="02010609060101010101" pitchFamily="49" charset="-122"/>
                <a:sym typeface="Symbol" panose="05050102010706020507" pitchFamily="18" charset="2"/>
              </a:rPr>
              <a:t>阶爱尔朗</a:t>
            </a:r>
            <a:r>
              <a:rPr lang="en-US" altLang="zh-CN">
                <a:ea typeface="黑体" panose="02010609060101010101" pitchFamily="49" charset="-122"/>
                <a:sym typeface="Symbol" panose="05050102010706020507" pitchFamily="18" charset="2"/>
              </a:rPr>
              <a:t>(Erlang)</a:t>
            </a:r>
            <a:r>
              <a:rPr lang="zh-CN" altLang="en-US">
                <a:ea typeface="黑体" panose="02010609060101010101" pitchFamily="49" charset="-122"/>
              </a:rPr>
              <a:t>分布</a:t>
            </a:r>
          </a:p>
        </p:txBody>
      </p:sp>
      <p:sp>
        <p:nvSpPr>
          <p:cNvPr id="366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375" y="1143793"/>
            <a:ext cx="7697982" cy="1042721"/>
          </a:xfrm>
        </p:spPr>
        <p:txBody>
          <a:bodyPr>
            <a:normAutofit/>
          </a:bodyPr>
          <a:lstStyle/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如果</a:t>
            </a:r>
            <a:r>
              <a:rPr lang="en-US" altLang="zh-CN" dirty="0"/>
              <a:t>R.V.X</a:t>
            </a:r>
            <a:r>
              <a:rPr lang="zh-CN" altLang="en-US" dirty="0"/>
              <a:t>的概率密度为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6596" name="Object 4"/>
              <p:cNvSpPr txBox="1"/>
              <p:nvPr/>
            </p:nvSpPr>
            <p:spPr bwMode="auto">
              <a:xfrm>
                <a:off x="1500429" y="1206486"/>
                <a:ext cx="5894146" cy="22233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sSup>
                                      <m:sSup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)!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6659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00429" y="1206486"/>
                <a:ext cx="5894146" cy="2223308"/>
              </a:xfrm>
              <a:prstGeom prst="rect">
                <a:avLst/>
              </a:prstGeom>
              <a:blipFill rotWithShape="1">
                <a:blip r:embed="rId2"/>
                <a:stretch>
                  <a:fillRect l="-9" t="-28" b="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6597" name="Rectangle 5"/>
          <p:cNvSpPr>
            <a:spLocks noChangeArrowheads="1"/>
          </p:cNvSpPr>
          <p:nvPr/>
        </p:nvSpPr>
        <p:spPr bwMode="auto">
          <a:xfrm>
            <a:off x="531830" y="3419692"/>
            <a:ext cx="11056603" cy="487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则称</a:t>
            </a:r>
            <a:r>
              <a:rPr lang="en-US" altLang="zh-CN" sz="2400" dirty="0">
                <a:latin typeface="+mn-ea"/>
                <a:ea typeface="+mn-ea"/>
              </a:rPr>
              <a:t>R.V.X</a:t>
            </a:r>
            <a:r>
              <a:rPr lang="zh-CN" altLang="en-US" sz="2400" dirty="0">
                <a:latin typeface="+mn-ea"/>
                <a:ea typeface="+mn-ea"/>
              </a:rPr>
              <a:t>服从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参数为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（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&gt;0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）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的 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k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阶爱尔朗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分布</a:t>
            </a:r>
            <a:r>
              <a:rPr lang="zh-CN" altLang="en-US" sz="2400" dirty="0">
                <a:latin typeface="+mn-ea"/>
                <a:ea typeface="+mn-ea"/>
              </a:rPr>
              <a:t>，记为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</a:rPr>
              <a:t>X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～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E</a:t>
            </a:r>
            <a:r>
              <a:rPr lang="en-US" altLang="zh-CN" sz="2400" baseline="-250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k</a:t>
            </a:r>
            <a:r>
              <a:rPr lang="zh-CN" altLang="en-US" sz="2400" dirty="0">
                <a:latin typeface="+mn-ea"/>
                <a:ea typeface="+mn-ea"/>
              </a:rPr>
              <a:t>，其分布函数为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6598" name="Object 6"/>
              <p:cNvSpPr txBox="1"/>
              <p:nvPr/>
            </p:nvSpPr>
            <p:spPr bwMode="auto">
              <a:xfrm>
                <a:off x="1500429" y="3201194"/>
                <a:ext cx="8180146" cy="28205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nary>
                                  <m:naryPr>
                                    <m:chr m:val="∑"/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  <m:e>
                                    <m:f>
                                      <m:f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𝝀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sSup>
                                          <m:sSupPr>
                                            <m:ctrlP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𝒊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!</m:t>
                                        </m:r>
                                      </m:den>
                                    </m:f>
                                  </m:e>
                                </m:nary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</m:m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6659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00429" y="3201194"/>
                <a:ext cx="8180146" cy="2820529"/>
              </a:xfrm>
              <a:prstGeom prst="rect">
                <a:avLst/>
              </a:prstGeom>
              <a:blipFill rotWithShape="1">
                <a:blip r:embed="rId3"/>
                <a:stretch>
                  <a:fillRect l="-7" t="-6" b="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椭圆形标注 10"/>
          <p:cNvSpPr>
            <a:spLocks noChangeArrowheads="1"/>
          </p:cNvSpPr>
          <p:nvPr/>
        </p:nvSpPr>
        <p:spPr bwMode="auto">
          <a:xfrm>
            <a:off x="5413375" y="984949"/>
            <a:ext cx="3879162" cy="1142999"/>
          </a:xfrm>
          <a:prstGeom prst="wedgeEllipseCallout">
            <a:avLst>
              <a:gd name="adj1" fmla="val -55161"/>
              <a:gd name="adj2" fmla="val 61312"/>
            </a:avLst>
          </a:prstGeom>
          <a:solidFill>
            <a:schemeClr val="accent1"/>
          </a:solidFill>
          <a:ln w="9525" algn="ctr">
            <a:solidFill>
              <a:srgbClr val="0000FF"/>
            </a:solidFill>
            <a:round/>
          </a:ln>
        </p:spPr>
        <p:txBody>
          <a:bodyPr lIns="0" tIns="0" rIns="0" bIns="0" anchor="ctr"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很重要，记住！！！</a:t>
            </a: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531830" y="6021723"/>
            <a:ext cx="7574128" cy="487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显然，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</a:rPr>
              <a:t>X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～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E</a:t>
            </a:r>
            <a:r>
              <a:rPr lang="en-US" altLang="zh-CN" sz="2400" baseline="-250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k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  </a:t>
            </a:r>
            <a:r>
              <a:rPr lang="zh-CN" altLang="en-US" sz="2400" dirty="0">
                <a:latin typeface="+mn-ea"/>
                <a:ea typeface="+mn-ea"/>
              </a:rPr>
              <a:t>即为 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X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～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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k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,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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)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6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6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66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6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6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66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595" grpId="0" build="p"/>
      <p:bldP spid="366596" grpId="0"/>
      <p:bldP spid="366597" grpId="0"/>
      <p:bldP spid="366598" grpId="0"/>
      <p:bldP spid="11" grpId="0" animBg="1"/>
      <p:bldP spid="1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>
            <a:extLst>
              <a:ext uri="{FF2B5EF4-FFF2-40B4-BE49-F238E27FC236}">
                <a16:creationId xmlns:a16="http://schemas.microsoft.com/office/drawing/2014/main" id="{1A0CB227-C2CA-21F5-1E6B-386B997CAA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下一讲内容预告</a:t>
            </a:r>
          </a:p>
        </p:txBody>
      </p:sp>
      <p:sp>
        <p:nvSpPr>
          <p:cNvPr id="319491" name="Rectangle 3">
            <a:extLst>
              <a:ext uri="{FF2B5EF4-FFF2-40B4-BE49-F238E27FC236}">
                <a16:creationId xmlns:a16="http://schemas.microsoft.com/office/drawing/2014/main" id="{E1F3A6EE-6414-5813-1B06-2FF33DFD7F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2776" y="1101981"/>
            <a:ext cx="9220200" cy="1261013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0000FF"/>
                </a:solidFill>
              </a:rPr>
              <a:t>n</a:t>
            </a:r>
            <a:r>
              <a:rPr lang="zh-CN" altLang="en-US" dirty="0">
                <a:solidFill>
                  <a:srgbClr val="0000FF"/>
                </a:solidFill>
              </a:rPr>
              <a:t>维随机变量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</a:rPr>
              <a:t>随机变量函数的分布</a:t>
            </a:r>
            <a:endParaRPr lang="en-US" altLang="zh-CN" dirty="0">
              <a:solidFill>
                <a:srgbClr val="0000FF"/>
              </a:solidFill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8F820A6-DC13-A52A-845B-F7CF19F9FC02}"/>
              </a:ext>
            </a:extLst>
          </p:cNvPr>
          <p:cNvSpPr txBox="1">
            <a:spLocks noChangeArrowheads="1"/>
          </p:cNvSpPr>
          <p:nvPr/>
        </p:nvSpPr>
        <p:spPr>
          <a:xfrm>
            <a:off x="596117" y="2210594"/>
            <a:ext cx="7469329" cy="453336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360" indent="-457360" algn="l" defTabSz="1219627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0947" indent="-381133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533" indent="-304907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347" indent="-304907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160" indent="-304907" algn="l" defTabSz="1219627" rtl="0" eaLnBrk="1" latinLnBrk="0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3973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787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600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414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zh-CN" altLang="en-US">
                <a:solidFill>
                  <a:srgbClr val="0000FF"/>
                </a:solidFill>
              </a:rPr>
              <a:t>随机变量的数字特征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>
                <a:solidFill>
                  <a:srgbClr val="CC00CC"/>
                </a:solidFill>
              </a:rPr>
              <a:t>数学期望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>
                <a:solidFill>
                  <a:srgbClr val="CC00CC"/>
                </a:solidFill>
              </a:rPr>
              <a:t>方差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en-US" altLang="zh-CN">
                <a:solidFill>
                  <a:srgbClr val="CC00CC"/>
                </a:solidFill>
              </a:rPr>
              <a:t>k</a:t>
            </a:r>
            <a:r>
              <a:rPr lang="zh-CN" altLang="en-US">
                <a:solidFill>
                  <a:srgbClr val="CC00CC"/>
                </a:solidFill>
              </a:rPr>
              <a:t>阶矩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>
                <a:solidFill>
                  <a:srgbClr val="CC00CC"/>
                </a:solidFill>
              </a:rPr>
              <a:t>协方差</a:t>
            </a:r>
          </a:p>
          <a:p>
            <a:pPr>
              <a:buFont typeface="Wingdings" pitchFamily="2" charset="2"/>
              <a:buChar char="Ø"/>
            </a:pPr>
            <a:r>
              <a:rPr lang="zh-CN" altLang="en-US">
                <a:solidFill>
                  <a:srgbClr val="0000FF"/>
                </a:solidFill>
              </a:rPr>
              <a:t>条件数学期望</a:t>
            </a:r>
          </a:p>
          <a:p>
            <a:pPr>
              <a:buFont typeface="Wingdings" pitchFamily="2" charset="2"/>
              <a:buChar char="Ø"/>
            </a:pPr>
            <a:r>
              <a:rPr lang="zh-CN" altLang="en-US">
                <a:solidFill>
                  <a:srgbClr val="0000FF"/>
                </a:solidFill>
              </a:rPr>
              <a:t>随机变量的特征函数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50" cy="685958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258147" y="2210312"/>
            <a:ext cx="7682056" cy="60973"/>
          </a:xfrm>
          <a:prstGeom prst="rect">
            <a:avLst/>
          </a:prstGeom>
          <a:gradFill flip="none" rotWithShape="1">
            <a:gsLst>
              <a:gs pos="0">
                <a:srgbClr val="28A7E1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rgbClr val="28A7E1"/>
              </a:gs>
            </a:gsLst>
            <a:lin ang="540000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spcCol="0"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258147" y="4025019"/>
            <a:ext cx="7682056" cy="60973"/>
          </a:xfrm>
          <a:prstGeom prst="rect">
            <a:avLst/>
          </a:prstGeom>
          <a:gradFill flip="none" rotWithShape="1">
            <a:gsLst>
              <a:gs pos="0">
                <a:srgbClr val="28A7E1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rgbClr val="28A7E1"/>
              </a:gs>
            </a:gsLst>
            <a:lin ang="540000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spcCol="0"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10095121" y="2480346"/>
            <a:ext cx="203200" cy="203200"/>
          </a:xfrm>
          <a:prstGeom prst="ellipse">
            <a:avLst/>
          </a:prstGeom>
          <a:solidFill>
            <a:srgbClr val="3E5CCC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10095121" y="2727996"/>
            <a:ext cx="203200" cy="203200"/>
          </a:xfrm>
          <a:prstGeom prst="ellipse">
            <a:avLst/>
          </a:pr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10095121" y="2975646"/>
            <a:ext cx="203200" cy="203200"/>
          </a:xfrm>
          <a:prstGeom prst="ellipse">
            <a:avLst/>
          </a:prstGeom>
          <a:solidFill>
            <a:srgbClr val="F08E3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"/>
          <p:cNvSpPr txBox="1"/>
          <p:nvPr/>
        </p:nvSpPr>
        <p:spPr>
          <a:xfrm>
            <a:off x="2611437" y="2134394"/>
            <a:ext cx="70064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zh-CN" altLang="en-US" sz="1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53906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7|8.3|0.7|3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9|6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|8.5|13.8|15.3|10|9.3|9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|1.1|1.3|1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常用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47739</TotalTime>
  <Words>6039</Words>
  <Application>Microsoft Macintosh PowerPoint</Application>
  <PresentationFormat>自定义</PresentationFormat>
  <Paragraphs>475</Paragraphs>
  <Slides>51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51</vt:i4>
      </vt:variant>
    </vt:vector>
  </HeadingPairs>
  <TitlesOfParts>
    <vt:vector size="67" baseType="lpstr">
      <vt:lpstr>-apple-system</vt:lpstr>
      <vt:lpstr>等线</vt:lpstr>
      <vt:lpstr>黑体</vt:lpstr>
      <vt:lpstr>华文行楷</vt:lpstr>
      <vt:lpstr>宋体</vt:lpstr>
      <vt:lpstr>微软雅黑</vt:lpstr>
      <vt:lpstr>Arial Unicode MS</vt:lpstr>
      <vt:lpstr>Batang</vt:lpstr>
      <vt:lpstr>Arial</vt:lpstr>
      <vt:lpstr>Cambria Math</vt:lpstr>
      <vt:lpstr>Symbol</vt:lpstr>
      <vt:lpstr>Times New Roman</vt:lpstr>
      <vt:lpstr>Wingdings</vt:lpstr>
      <vt:lpstr>Office Theme</vt:lpstr>
      <vt:lpstr>Equation</vt:lpstr>
      <vt:lpstr>公式</vt:lpstr>
      <vt:lpstr>PowerPoint 演示文稿</vt:lpstr>
      <vt:lpstr>主要内容</vt:lpstr>
      <vt:lpstr>问题：</vt:lpstr>
      <vt:lpstr>问题：</vt:lpstr>
      <vt:lpstr>一、基本概念</vt:lpstr>
      <vt:lpstr>一、基本概念(续1)</vt:lpstr>
      <vt:lpstr>一、基本概念(续2)</vt:lpstr>
      <vt:lpstr>二、几个记号</vt:lpstr>
      <vt:lpstr>三、概率与概率空间</vt:lpstr>
      <vt:lpstr>例</vt:lpstr>
      <vt:lpstr>古典概率空间</vt:lpstr>
      <vt:lpstr>例</vt:lpstr>
      <vt:lpstr>概率的性质</vt:lpstr>
      <vt:lpstr>概率的性质</vt:lpstr>
      <vt:lpstr>四、条件概率</vt:lpstr>
      <vt:lpstr>五、乘法公式</vt:lpstr>
      <vt:lpstr>六、事件的独立性</vt:lpstr>
      <vt:lpstr>六、随机事件独立性的性质</vt:lpstr>
      <vt:lpstr>七、全概率公式与贝叶斯公式</vt:lpstr>
      <vt:lpstr>实例</vt:lpstr>
      <vt:lpstr>问题分析</vt:lpstr>
      <vt:lpstr>问题分析</vt:lpstr>
      <vt:lpstr>实例</vt:lpstr>
      <vt:lpstr>实例</vt:lpstr>
      <vt:lpstr>实例</vt:lpstr>
      <vt:lpstr>古典概率中著名的三门问题</vt:lpstr>
      <vt:lpstr>古典概率中著名的三门问题</vt:lpstr>
      <vt:lpstr>一、随机变量</vt:lpstr>
      <vt:lpstr>随机变量实例</vt:lpstr>
      <vt:lpstr>分布函数的性质</vt:lpstr>
      <vt:lpstr>三、离散型随机变量及其分布律</vt:lpstr>
      <vt:lpstr>离散型R.V.X的表示</vt:lpstr>
      <vt:lpstr>例</vt:lpstr>
      <vt:lpstr>四、连续型随机变量</vt:lpstr>
      <vt:lpstr>概率密度函数的性质</vt:lpstr>
      <vt:lpstr>例</vt:lpstr>
      <vt:lpstr>五、常见的随机变量及其分布</vt:lpstr>
      <vt:lpstr>2. 贝努里试验、二项分布</vt:lpstr>
      <vt:lpstr>3. 泊松(S.D.Poisson)分布</vt:lpstr>
      <vt:lpstr>4. 均匀分布</vt:lpstr>
      <vt:lpstr>5. (负)指数分布(寿命分布)</vt:lpstr>
      <vt:lpstr>6. 正态分布(高斯分布)</vt:lpstr>
      <vt:lpstr>6. 正态分布(高斯分布)</vt:lpstr>
      <vt:lpstr>7. -分布</vt:lpstr>
      <vt:lpstr>8. 对数正态分布</vt:lpstr>
      <vt:lpstr>9. 2-分布</vt:lpstr>
      <vt:lpstr>10. t分布</vt:lpstr>
      <vt:lpstr>11. F分布</vt:lpstr>
      <vt:lpstr>12. k阶爱尔朗(Erlang)分布</vt:lpstr>
      <vt:lpstr>下一讲内容预告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siri</dc:creator>
  <cp:lastModifiedBy>Qingxian Wang</cp:lastModifiedBy>
  <cp:revision>1266</cp:revision>
  <cp:lastPrinted>2022-01-15T12:13:29Z</cp:lastPrinted>
  <dcterms:created xsi:type="dcterms:W3CDTF">2006-08-16T00:00:00Z</dcterms:created>
  <dcterms:modified xsi:type="dcterms:W3CDTF">2026-09-01T11:22:38Z</dcterms:modified>
</cp:coreProperties>
</file>