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81"/>
  </p:notesMasterIdLst>
  <p:sldIdLst>
    <p:sldId id="256" r:id="rId2"/>
    <p:sldId id="409" r:id="rId3"/>
    <p:sldId id="326" r:id="rId4"/>
    <p:sldId id="319" r:id="rId5"/>
    <p:sldId id="406" r:id="rId6"/>
    <p:sldId id="333" r:id="rId7"/>
    <p:sldId id="263" r:id="rId8"/>
    <p:sldId id="264" r:id="rId9"/>
    <p:sldId id="265" r:id="rId10"/>
    <p:sldId id="320" r:id="rId11"/>
    <p:sldId id="338" r:id="rId12"/>
    <p:sldId id="339" r:id="rId13"/>
    <p:sldId id="342" r:id="rId14"/>
    <p:sldId id="344" r:id="rId15"/>
    <p:sldId id="345" r:id="rId16"/>
    <p:sldId id="346" r:id="rId17"/>
    <p:sldId id="266" r:id="rId18"/>
    <p:sldId id="327" r:id="rId19"/>
    <p:sldId id="321" r:id="rId20"/>
    <p:sldId id="267" r:id="rId21"/>
    <p:sldId id="348" r:id="rId22"/>
    <p:sldId id="322"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310" r:id="rId39"/>
    <p:sldId id="407" r:id="rId40"/>
    <p:sldId id="285" r:id="rId41"/>
    <p:sldId id="286" r:id="rId42"/>
    <p:sldId id="328" r:id="rId43"/>
    <p:sldId id="323" r:id="rId44"/>
    <p:sldId id="329" r:id="rId45"/>
    <p:sldId id="330" r:id="rId46"/>
    <p:sldId id="331" r:id="rId47"/>
    <p:sldId id="287" r:id="rId48"/>
    <p:sldId id="288" r:id="rId49"/>
    <p:sldId id="312" r:id="rId50"/>
    <p:sldId id="289" r:id="rId51"/>
    <p:sldId id="313" r:id="rId52"/>
    <p:sldId id="290" r:id="rId53"/>
    <p:sldId id="324" r:id="rId54"/>
    <p:sldId id="398" r:id="rId55"/>
    <p:sldId id="399" r:id="rId56"/>
    <p:sldId id="400" r:id="rId57"/>
    <p:sldId id="389" r:id="rId58"/>
    <p:sldId id="390" r:id="rId59"/>
    <p:sldId id="340" r:id="rId60"/>
    <p:sldId id="341" r:id="rId61"/>
    <p:sldId id="335" r:id="rId62"/>
    <p:sldId id="391" r:id="rId63"/>
    <p:sldId id="343" r:id="rId64"/>
    <p:sldId id="392" r:id="rId65"/>
    <p:sldId id="393" r:id="rId66"/>
    <p:sldId id="394" r:id="rId67"/>
    <p:sldId id="395" r:id="rId68"/>
    <p:sldId id="396" r:id="rId69"/>
    <p:sldId id="352" r:id="rId70"/>
    <p:sldId id="353" r:id="rId71"/>
    <p:sldId id="354" r:id="rId72"/>
    <p:sldId id="355" r:id="rId73"/>
    <p:sldId id="356" r:id="rId74"/>
    <p:sldId id="363" r:id="rId75"/>
    <p:sldId id="362" r:id="rId76"/>
    <p:sldId id="408" r:id="rId77"/>
    <p:sldId id="403" r:id="rId78"/>
    <p:sldId id="259" r:id="rId79"/>
    <p:sldId id="405" r:id="rId80"/>
  </p:sldIdLst>
  <p:sldSz cx="12198350" cy="6859588"/>
  <p:notesSz cx="9144000" cy="6858000"/>
  <p:defaultText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22">
          <p15:clr>
            <a:srgbClr val="A4A3A4"/>
          </p15:clr>
        </p15:guide>
        <p15:guide id="3" orient="horz" pos="2878">
          <p15:clr>
            <a:srgbClr val="A4A3A4"/>
          </p15:clr>
        </p15:guide>
        <p15:guide id="4" pos="384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0000CC"/>
    <a:srgbClr val="0000FF"/>
    <a:srgbClr val="92D050"/>
    <a:srgbClr val="BD9B53"/>
    <a:srgbClr val="009900"/>
    <a:srgbClr val="F4FA12"/>
    <a:srgbClr val="1157AB"/>
    <a:srgbClr val="9BBB59"/>
    <a:srgbClr val="C050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367" autoAdjust="0"/>
    <p:restoredTop sz="92534" autoAdjust="0"/>
  </p:normalViewPr>
  <p:slideViewPr>
    <p:cSldViewPr>
      <p:cViewPr varScale="1">
        <p:scale>
          <a:sx n="117" d="100"/>
          <a:sy n="117" d="100"/>
        </p:scale>
        <p:origin x="472" y="176"/>
      </p:cViewPr>
      <p:guideLst>
        <p:guide orient="horz" pos="2160"/>
        <p:guide pos="2822"/>
        <p:guide orient="horz" pos="2878"/>
        <p:guide pos="3848"/>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5" d="100"/>
          <a:sy n="95" d="100"/>
        </p:scale>
        <p:origin x="4042" y="5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_rels/viewProps.xml.rels><?xml version="1.0" encoding="UTF-8" standalone="yes"?>
<Relationships xmlns="http://schemas.openxmlformats.org/package/2006/relationships"><Relationship Id="rId26" Type="http://schemas.openxmlformats.org/officeDocument/2006/relationships/slide" Target="slides/slide37.xml"/><Relationship Id="rId21" Type="http://schemas.openxmlformats.org/officeDocument/2006/relationships/slide" Target="slides/slide32.xml"/><Relationship Id="rId34" Type="http://schemas.openxmlformats.org/officeDocument/2006/relationships/slide" Target="slides/slide46.xml"/><Relationship Id="rId42" Type="http://schemas.openxmlformats.org/officeDocument/2006/relationships/slide" Target="slides/slide54.xml"/><Relationship Id="rId47" Type="http://schemas.openxmlformats.org/officeDocument/2006/relationships/slide" Target="slides/slide60.xml"/><Relationship Id="rId50" Type="http://schemas.openxmlformats.org/officeDocument/2006/relationships/slide" Target="slides/slide63.xml"/><Relationship Id="rId55" Type="http://schemas.openxmlformats.org/officeDocument/2006/relationships/slide" Target="slides/slide68.xml"/><Relationship Id="rId63" Type="http://schemas.openxmlformats.org/officeDocument/2006/relationships/slide" Target="slides/slide76.xml"/><Relationship Id="rId7" Type="http://schemas.openxmlformats.org/officeDocument/2006/relationships/slide" Target="slides/slide17.xml"/><Relationship Id="rId2" Type="http://schemas.openxmlformats.org/officeDocument/2006/relationships/slide" Target="slides/slide4.xml"/><Relationship Id="rId16" Type="http://schemas.openxmlformats.org/officeDocument/2006/relationships/slide" Target="slides/slide27.xml"/><Relationship Id="rId29" Type="http://schemas.openxmlformats.org/officeDocument/2006/relationships/slide" Target="slides/slide41.xml"/><Relationship Id="rId11" Type="http://schemas.openxmlformats.org/officeDocument/2006/relationships/slide" Target="slides/slide22.xml"/><Relationship Id="rId24" Type="http://schemas.openxmlformats.org/officeDocument/2006/relationships/slide" Target="slides/slide35.xml"/><Relationship Id="rId32" Type="http://schemas.openxmlformats.org/officeDocument/2006/relationships/slide" Target="slides/slide44.xml"/><Relationship Id="rId37" Type="http://schemas.openxmlformats.org/officeDocument/2006/relationships/slide" Target="slides/slide49.xml"/><Relationship Id="rId40" Type="http://schemas.openxmlformats.org/officeDocument/2006/relationships/slide" Target="slides/slide52.xml"/><Relationship Id="rId45" Type="http://schemas.openxmlformats.org/officeDocument/2006/relationships/slide" Target="slides/slide58.xml"/><Relationship Id="rId53" Type="http://schemas.openxmlformats.org/officeDocument/2006/relationships/slide" Target="slides/slide66.xml"/><Relationship Id="rId58" Type="http://schemas.openxmlformats.org/officeDocument/2006/relationships/slide" Target="slides/slide71.xml"/><Relationship Id="rId5" Type="http://schemas.openxmlformats.org/officeDocument/2006/relationships/slide" Target="slides/slide9.xml"/><Relationship Id="rId61" Type="http://schemas.openxmlformats.org/officeDocument/2006/relationships/slide" Target="slides/slide74.xml"/><Relationship Id="rId19" Type="http://schemas.openxmlformats.org/officeDocument/2006/relationships/slide" Target="slides/slide30.xml"/><Relationship Id="rId14" Type="http://schemas.openxmlformats.org/officeDocument/2006/relationships/slide" Target="slides/slide25.xml"/><Relationship Id="rId22" Type="http://schemas.openxmlformats.org/officeDocument/2006/relationships/slide" Target="slides/slide33.xml"/><Relationship Id="rId27" Type="http://schemas.openxmlformats.org/officeDocument/2006/relationships/slide" Target="slides/slide38.xml"/><Relationship Id="rId30" Type="http://schemas.openxmlformats.org/officeDocument/2006/relationships/slide" Target="slides/slide42.xml"/><Relationship Id="rId35" Type="http://schemas.openxmlformats.org/officeDocument/2006/relationships/slide" Target="slides/slide47.xml"/><Relationship Id="rId43" Type="http://schemas.openxmlformats.org/officeDocument/2006/relationships/slide" Target="slides/slide55.xml"/><Relationship Id="rId48" Type="http://schemas.openxmlformats.org/officeDocument/2006/relationships/slide" Target="slides/slide61.xml"/><Relationship Id="rId56" Type="http://schemas.openxmlformats.org/officeDocument/2006/relationships/slide" Target="slides/slide69.xml"/><Relationship Id="rId64" Type="http://schemas.openxmlformats.org/officeDocument/2006/relationships/slide" Target="slides/slide77.xml"/><Relationship Id="rId8" Type="http://schemas.openxmlformats.org/officeDocument/2006/relationships/slide" Target="slides/slide18.xml"/><Relationship Id="rId51" Type="http://schemas.openxmlformats.org/officeDocument/2006/relationships/slide" Target="slides/slide64.xml"/><Relationship Id="rId3" Type="http://schemas.openxmlformats.org/officeDocument/2006/relationships/slide" Target="slides/slide7.xml"/><Relationship Id="rId12" Type="http://schemas.openxmlformats.org/officeDocument/2006/relationships/slide" Target="slides/slide23.xml"/><Relationship Id="rId17" Type="http://schemas.openxmlformats.org/officeDocument/2006/relationships/slide" Target="slides/slide28.xml"/><Relationship Id="rId25" Type="http://schemas.openxmlformats.org/officeDocument/2006/relationships/slide" Target="slides/slide36.xml"/><Relationship Id="rId33" Type="http://schemas.openxmlformats.org/officeDocument/2006/relationships/slide" Target="slides/slide45.xml"/><Relationship Id="rId38" Type="http://schemas.openxmlformats.org/officeDocument/2006/relationships/slide" Target="slides/slide50.xml"/><Relationship Id="rId46" Type="http://schemas.openxmlformats.org/officeDocument/2006/relationships/slide" Target="slides/slide59.xml"/><Relationship Id="rId59" Type="http://schemas.openxmlformats.org/officeDocument/2006/relationships/slide" Target="slides/slide72.xml"/><Relationship Id="rId20" Type="http://schemas.openxmlformats.org/officeDocument/2006/relationships/slide" Target="slides/slide31.xml"/><Relationship Id="rId41" Type="http://schemas.openxmlformats.org/officeDocument/2006/relationships/slide" Target="slides/slide53.xml"/><Relationship Id="rId54" Type="http://schemas.openxmlformats.org/officeDocument/2006/relationships/slide" Target="slides/slide67.xml"/><Relationship Id="rId62" Type="http://schemas.openxmlformats.org/officeDocument/2006/relationships/slide" Target="slides/slide75.xml"/><Relationship Id="rId1" Type="http://schemas.openxmlformats.org/officeDocument/2006/relationships/slide" Target="slides/slide3.xml"/><Relationship Id="rId6" Type="http://schemas.openxmlformats.org/officeDocument/2006/relationships/slide" Target="slides/slide10.xml"/><Relationship Id="rId15" Type="http://schemas.openxmlformats.org/officeDocument/2006/relationships/slide" Target="slides/slide26.xml"/><Relationship Id="rId23" Type="http://schemas.openxmlformats.org/officeDocument/2006/relationships/slide" Target="slides/slide34.xml"/><Relationship Id="rId28" Type="http://schemas.openxmlformats.org/officeDocument/2006/relationships/slide" Target="slides/slide40.xml"/><Relationship Id="rId36" Type="http://schemas.openxmlformats.org/officeDocument/2006/relationships/slide" Target="slides/slide48.xml"/><Relationship Id="rId49" Type="http://schemas.openxmlformats.org/officeDocument/2006/relationships/slide" Target="slides/slide62.xml"/><Relationship Id="rId57" Type="http://schemas.openxmlformats.org/officeDocument/2006/relationships/slide" Target="slides/slide70.xml"/><Relationship Id="rId10" Type="http://schemas.openxmlformats.org/officeDocument/2006/relationships/slide" Target="slides/slide21.xml"/><Relationship Id="rId31" Type="http://schemas.openxmlformats.org/officeDocument/2006/relationships/slide" Target="slides/slide43.xml"/><Relationship Id="rId44" Type="http://schemas.openxmlformats.org/officeDocument/2006/relationships/slide" Target="slides/slide56.xml"/><Relationship Id="rId52" Type="http://schemas.openxmlformats.org/officeDocument/2006/relationships/slide" Target="slides/slide65.xml"/><Relationship Id="rId60" Type="http://schemas.openxmlformats.org/officeDocument/2006/relationships/slide" Target="slides/slide73.xml"/><Relationship Id="rId65" Type="http://schemas.openxmlformats.org/officeDocument/2006/relationships/slide" Target="slides/slide78.xml"/><Relationship Id="rId4" Type="http://schemas.openxmlformats.org/officeDocument/2006/relationships/slide" Target="slides/slide8.xml"/><Relationship Id="rId9" Type="http://schemas.openxmlformats.org/officeDocument/2006/relationships/slide" Target="slides/slide19.xml"/><Relationship Id="rId13" Type="http://schemas.openxmlformats.org/officeDocument/2006/relationships/slide" Target="slides/slide24.xml"/><Relationship Id="rId18" Type="http://schemas.openxmlformats.org/officeDocument/2006/relationships/slide" Target="slides/slide29.xml"/><Relationship Id="rId39"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4881824-7EDF-4B1D-9D44-4D7461D95900}" type="datetimeFigureOut">
              <a:rPr lang="zh-CN" altLang="en-US" smtClean="0"/>
              <a:t>2026/9/15</a:t>
            </a:fld>
            <a:endParaRPr lang="zh-CN" alt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6F2A367-4377-4BC9-85D6-558F91AD7B7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AA4AC8DD-81D7-97B8-B28B-8A86B151451A}"/>
              </a:ext>
            </a:extLst>
          </p:cNvPr>
          <p:cNvSpPr>
            <a:spLocks noGrp="1" noRot="1" noChangeAspect="1" noChangeArrowheads="1" noTextEdit="1"/>
          </p:cNvSpPr>
          <p:nvPr>
            <p:ph type="sldImg"/>
          </p:nvPr>
        </p:nvSpPr>
        <p:spPr>
          <a:ln/>
        </p:spPr>
      </p:sp>
      <p:sp>
        <p:nvSpPr>
          <p:cNvPr id="7171" name="备注占位符 2">
            <a:extLst>
              <a:ext uri="{FF2B5EF4-FFF2-40B4-BE49-F238E27FC236}">
                <a16:creationId xmlns:a16="http://schemas.microsoft.com/office/drawing/2014/main" id="{DB0C7786-87E0-0575-A0D4-C0F7B8B3DA74}"/>
              </a:ext>
            </a:extLst>
          </p:cNvPr>
          <p:cNvSpPr>
            <a:spLocks noGrp="1" noChangeArrowheads="1"/>
          </p:cNvSpPr>
          <p:nvPr>
            <p:ph type="body" idx="1"/>
          </p:nvPr>
        </p:nvSpPr>
        <p:spPr>
          <a:noFill/>
        </p:spPr>
        <p:txBody>
          <a:bodyPr/>
          <a:lstStyle/>
          <a:p>
            <a:pPr eaLnBrk="1" hangingPunct="1"/>
            <a:endParaRPr lang="zh-CN" altLang="en-US"/>
          </a:p>
        </p:txBody>
      </p:sp>
      <p:sp>
        <p:nvSpPr>
          <p:cNvPr id="7172" name="灯片编号占位符 3">
            <a:extLst>
              <a:ext uri="{FF2B5EF4-FFF2-40B4-BE49-F238E27FC236}">
                <a16:creationId xmlns:a16="http://schemas.microsoft.com/office/drawing/2014/main" id="{FEF89EAB-2B6E-CDD4-1EBC-151305CECFA4}"/>
              </a:ext>
            </a:extLst>
          </p:cNvPr>
          <p:cNvSpPr>
            <a:spLocks noGrp="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2ED3FE1-1AD9-4052-9732-D7EA77F0891E}" type="slidenum">
              <a:rPr lang="en-US" altLang="zh-CN" sz="1200"/>
              <a:pPr/>
              <a:t>3</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9AF9C-B7AC-1BC6-B65A-31B65B6C69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17D1A4-3753-2280-63D4-CE53AE01E1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2FF9FE-4BD0-51B0-C717-A2E0F9B6D96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0A3754B-D56F-CB74-6651-8ACAF50891D1}"/>
              </a:ext>
            </a:extLst>
          </p:cNvPr>
          <p:cNvSpPr>
            <a:spLocks noGrp="1"/>
          </p:cNvSpPr>
          <p:nvPr>
            <p:ph type="sldNum" sz="quarter" idx="5"/>
          </p:nvPr>
        </p:nvSpPr>
        <p:spPr/>
        <p:txBody>
          <a:bodyPr/>
          <a:lstStyle/>
          <a:p>
            <a:fld id="{36F2A367-4377-4BC9-85D6-558F91AD7B75}" type="slidenum">
              <a:rPr lang="zh-CN" altLang="en-US" smtClean="0"/>
              <a:t>5</a:t>
            </a:fld>
            <a:endParaRPr lang="zh-CN" altLang="en-US"/>
          </a:p>
        </p:txBody>
      </p:sp>
    </p:spTree>
    <p:extLst>
      <p:ext uri="{BB962C8B-B14F-4D97-AF65-F5344CB8AC3E}">
        <p14:creationId xmlns:p14="http://schemas.microsoft.com/office/powerpoint/2010/main" val="343030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例如冰川的运动，它就像水流一样，也是在不断流动的，只是冰川运动的速度，日平均不过几厘米，多的也不过数米，以致肉眼发觉不出冰川是在运动的。但是如果我们</a:t>
            </a:r>
            <a:r>
              <a:rPr lang="zh-CN" altLang="en-US" b="1" dirty="0">
                <a:solidFill>
                  <a:srgbClr val="0000FF"/>
                </a:solidFill>
                <a:latin typeface="楷体_GB2312"/>
                <a:ea typeface="楷体_GB2312"/>
                <a:cs typeface="楷体_GB2312"/>
              </a:rPr>
              <a:t>连续不断的观察，就可以观察出它的演变过程。</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6</a:t>
            </a:fld>
            <a:endParaRPr lang="zh-CN" altLang="en-US"/>
          </a:p>
        </p:txBody>
      </p:sp>
    </p:spTree>
    <p:extLst>
      <p:ext uri="{BB962C8B-B14F-4D97-AF65-F5344CB8AC3E}">
        <p14:creationId xmlns:p14="http://schemas.microsoft.com/office/powerpoint/2010/main" val="1678536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14</a:t>
            </a:fld>
            <a:endParaRPr lang="zh-CN" altLang="en-US"/>
          </a:p>
        </p:txBody>
      </p:sp>
    </p:spTree>
    <p:extLst>
      <p:ext uri="{BB962C8B-B14F-4D97-AF65-F5344CB8AC3E}">
        <p14:creationId xmlns:p14="http://schemas.microsoft.com/office/powerpoint/2010/main" val="2888722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32</a:t>
            </a:fld>
            <a:endParaRPr lang="zh-CN" altLang="en-US"/>
          </a:p>
        </p:txBody>
      </p:sp>
    </p:spTree>
    <p:extLst>
      <p:ext uri="{BB962C8B-B14F-4D97-AF65-F5344CB8AC3E}">
        <p14:creationId xmlns:p14="http://schemas.microsoft.com/office/powerpoint/2010/main" val="1494779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6F2A367-4377-4BC9-85D6-558F91AD7B75}" type="slidenum">
              <a:rPr lang="zh-CN" altLang="en-US" smtClean="0"/>
              <a:t>34</a:t>
            </a:fld>
            <a:endParaRPr lang="zh-CN" altLang="en-US"/>
          </a:p>
        </p:txBody>
      </p:sp>
    </p:spTree>
    <p:extLst>
      <p:ext uri="{BB962C8B-B14F-4D97-AF65-F5344CB8AC3E}">
        <p14:creationId xmlns:p14="http://schemas.microsoft.com/office/powerpoint/2010/main" val="3798064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396D4-72A8-04D3-AA60-04EBF9B3C3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5F89C9-79FC-1D71-E4C1-B02F61B0DA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D226FD-C668-7C1A-A139-E2264CA1A3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2351072-22D0-2BD4-1392-C1D7667E8E8B}"/>
              </a:ext>
            </a:extLst>
          </p:cNvPr>
          <p:cNvSpPr>
            <a:spLocks noGrp="1"/>
          </p:cNvSpPr>
          <p:nvPr>
            <p:ph type="sldNum" sz="quarter" idx="5"/>
          </p:nvPr>
        </p:nvSpPr>
        <p:spPr/>
        <p:txBody>
          <a:bodyPr/>
          <a:lstStyle/>
          <a:p>
            <a:fld id="{36F2A367-4377-4BC9-85D6-558F91AD7B75}" type="slidenum">
              <a:rPr lang="zh-CN" altLang="en-US" smtClean="0"/>
              <a:t>39</a:t>
            </a:fld>
            <a:endParaRPr lang="zh-CN" altLang="en-US"/>
          </a:p>
        </p:txBody>
      </p:sp>
    </p:spTree>
    <p:extLst>
      <p:ext uri="{BB962C8B-B14F-4D97-AF65-F5344CB8AC3E}">
        <p14:creationId xmlns:p14="http://schemas.microsoft.com/office/powerpoint/2010/main" val="2072915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AF51469-C923-6C74-0748-895888717232}"/>
              </a:ext>
            </a:extLst>
          </p:cNvPr>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CE21A9C-8A93-4273-B4D7-B233ACC3EF50}" type="slidenum">
              <a:rPr lang="en-US" altLang="zh-CN" sz="1200"/>
              <a:pPr/>
              <a:t>51</a:t>
            </a:fld>
            <a:endParaRPr lang="en-US" altLang="zh-CN" sz="1200"/>
          </a:p>
        </p:txBody>
      </p:sp>
      <p:sp>
        <p:nvSpPr>
          <p:cNvPr id="64515" name="Rectangle 2">
            <a:extLst>
              <a:ext uri="{FF2B5EF4-FFF2-40B4-BE49-F238E27FC236}">
                <a16:creationId xmlns:a16="http://schemas.microsoft.com/office/drawing/2014/main" id="{FF0EED83-EFAC-86E7-D7EF-A1E954562A22}"/>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12C42E2E-B5A4-9C17-0993-B4586893D87D}"/>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835"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9270" indent="0" algn="ctr">
              <a:buNone/>
              <a:defRPr>
                <a:solidFill>
                  <a:schemeClr val="tx1">
                    <a:tint val="75000"/>
                  </a:schemeClr>
                </a:solidFill>
              </a:defRPr>
            </a:lvl6pPr>
            <a:lvl7pPr marL="3658870" indent="0" algn="ctr">
              <a:buNone/>
              <a:defRPr>
                <a:solidFill>
                  <a:schemeClr val="tx1">
                    <a:tint val="75000"/>
                  </a:schemeClr>
                </a:solidFill>
              </a:defRPr>
            </a:lvl7pPr>
            <a:lvl8pPr marL="4268470" indent="0" algn="ctr">
              <a:buNone/>
              <a:defRPr>
                <a:solidFill>
                  <a:schemeClr val="tx1">
                    <a:tint val="75000"/>
                  </a:schemeClr>
                </a:solidFill>
              </a:defRPr>
            </a:lvl8pPr>
            <a:lvl9pPr marL="487870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normAutofit/>
          </a:bodyPr>
          <a:lstStyle>
            <a:lvl1pPr marL="457200" indent="-457200">
              <a:lnSpc>
                <a:spcPct val="150000"/>
              </a:lnSpc>
              <a:spcBef>
                <a:spcPts val="0"/>
              </a:spcBef>
              <a:buSzPct val="80000"/>
              <a:buFont typeface="Wingdings" panose="05000000000000000000" pitchFamily="2" charset="2"/>
              <a:buChar char="l"/>
              <a:defRPr sz="2400">
                <a:solidFill>
                  <a:schemeClr val="tx1"/>
                </a:solidFill>
                <a:latin typeface="+mn-ea"/>
                <a:ea typeface="+mn-ea"/>
              </a:defRPr>
            </a:lvl1pPr>
            <a:lvl2pPr>
              <a:lnSpc>
                <a:spcPct val="150000"/>
              </a:lnSpc>
              <a:spcBef>
                <a:spcPts val="0"/>
              </a:spcBef>
              <a:defRPr sz="2400">
                <a:solidFill>
                  <a:schemeClr val="tx1"/>
                </a:solidFill>
                <a:latin typeface="+mn-ea"/>
                <a:ea typeface="+mn-ea"/>
              </a:defRPr>
            </a:lvl2pPr>
            <a:lvl3pPr>
              <a:lnSpc>
                <a:spcPct val="150000"/>
              </a:lnSpc>
              <a:spcBef>
                <a:spcPts val="0"/>
              </a:spcBef>
              <a:defRPr sz="2400">
                <a:solidFill>
                  <a:schemeClr val="tx1"/>
                </a:solidFill>
                <a:latin typeface="+mn-ea"/>
                <a:ea typeface="+mn-ea"/>
              </a:defRPr>
            </a:lvl3pPr>
            <a:lvl4pPr>
              <a:lnSpc>
                <a:spcPct val="150000"/>
              </a:lnSpc>
              <a:spcBef>
                <a:spcPts val="0"/>
              </a:spcBef>
              <a:defRPr sz="2400">
                <a:solidFill>
                  <a:schemeClr val="tx1"/>
                </a:solidFill>
                <a:latin typeface="+mn-ea"/>
                <a:ea typeface="+mn-ea"/>
              </a:defRPr>
            </a:lvl4pPr>
            <a:lvl5pPr>
              <a:lnSpc>
                <a:spcPct val="150000"/>
              </a:lnSpc>
              <a:spcBef>
                <a:spcPts val="0"/>
              </a:spcBef>
              <a:defRPr sz="2400">
                <a:solidFill>
                  <a:schemeClr val="tx1"/>
                </a:solidFill>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lvl1pPr>
              <a:defRPr sz="2400" b="1">
                <a:latin typeface="+mn-ea"/>
                <a:ea typeface="+mn-ea"/>
              </a:defRPr>
            </a:lvl1p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200" indent="-457200">
              <a:lnSpc>
                <a:spcPct val="130000"/>
              </a:lnSpc>
              <a:buSzPct val="80000"/>
              <a:buFont typeface="Wingdings" panose="05000000000000000000" pitchFamily="2" charset="2"/>
              <a:buChar char="l"/>
              <a:defRPr sz="2400" b="1">
                <a:solidFill>
                  <a:schemeClr val="tx1"/>
                </a:solidFill>
                <a:latin typeface="+mn-ea"/>
                <a:ea typeface="+mn-ea"/>
              </a:defRPr>
            </a:lvl1pPr>
            <a:lvl2pPr>
              <a:lnSpc>
                <a:spcPct val="130000"/>
              </a:lnSpc>
              <a:defRPr sz="2400" b="1">
                <a:solidFill>
                  <a:schemeClr val="tx1"/>
                </a:solidFill>
                <a:latin typeface="+mn-ea"/>
                <a:ea typeface="+mn-ea"/>
              </a:defRPr>
            </a:lvl2pPr>
            <a:lvl3pPr>
              <a:lnSpc>
                <a:spcPct val="130000"/>
              </a:lnSpc>
              <a:defRPr sz="2400" b="1">
                <a:solidFill>
                  <a:schemeClr val="tx1"/>
                </a:solidFill>
                <a:latin typeface="+mn-ea"/>
                <a:ea typeface="+mn-ea"/>
              </a:defRPr>
            </a:lvl3pPr>
            <a:lvl4pPr>
              <a:lnSpc>
                <a:spcPct val="130000"/>
              </a:lnSpc>
              <a:defRPr sz="2400" b="1">
                <a:solidFill>
                  <a:schemeClr val="tx1"/>
                </a:solidFill>
                <a:latin typeface="+mn-ea"/>
                <a:ea typeface="+mn-ea"/>
              </a:defRPr>
            </a:lvl4pPr>
            <a:lvl5pPr>
              <a:lnSpc>
                <a:spcPct val="130000"/>
              </a:lnSpc>
              <a:defRPr sz="2400" b="1">
                <a:solidFill>
                  <a:schemeClr val="tx1"/>
                </a:solidFill>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
        <p:nvSpPr>
          <p:cNvPr id="7" name="Content Placeholder 2"/>
          <p:cNvSpPr>
            <a:spLocks noGrp="1"/>
          </p:cNvSpPr>
          <p:nvPr>
            <p:ph idx="13"/>
          </p:nvPr>
        </p:nvSpPr>
        <p:spPr>
          <a:xfrm>
            <a:off x="841375" y="984137"/>
            <a:ext cx="10747058" cy="464458"/>
          </a:xfrm>
          <a:prstGeom prst="rect">
            <a:avLst/>
          </a:prstGeom>
        </p:spPr>
        <p:txBody>
          <a:bodyPr>
            <a:noAutofit/>
          </a:bodyPr>
          <a:lstStyle>
            <a:lvl1pPr marL="0" indent="0">
              <a:lnSpc>
                <a:spcPct val="120000"/>
              </a:lnSpc>
              <a:buSzPct val="80000"/>
              <a:buFont typeface="Wingdings" panose="05000000000000000000" pitchFamily="2" charset="2"/>
              <a:buNone/>
              <a:defRPr sz="2400" b="1">
                <a:solidFill>
                  <a:schemeClr val="tx1">
                    <a:lumMod val="95000"/>
                    <a:lumOff val="5000"/>
                  </a:schemeClr>
                </a:solidFill>
                <a:latin typeface="+mn-ea"/>
                <a:ea typeface="+mn-ea"/>
              </a:defRPr>
            </a:lvl1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p:txBody>
          <a:bodyPr/>
          <a:lstStyle/>
          <a:p>
            <a:fld id="{1D8BD707-D9CF-40AE-B4C6-C98DA3205C09}" type="datetimeFigureOut">
              <a:rPr lang="en-US" smtClean="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54DD30-2D53-4969-A1CE-14A26E09C730}"/>
              </a:ext>
            </a:extLst>
          </p:cNvPr>
          <p:cNvSpPr>
            <a:spLocks noGrp="1"/>
          </p:cNvSpPr>
          <p:nvPr>
            <p:ph type="title"/>
          </p:nvPr>
        </p:nvSpPr>
        <p:spPr>
          <a:xfrm>
            <a:off x="1626447" y="342979"/>
            <a:ext cx="9961986" cy="609741"/>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C73C95D-1001-4599-BB2C-CAAD2BBCD2BE}"/>
              </a:ext>
            </a:extLst>
          </p:cNvPr>
          <p:cNvSpPr>
            <a:spLocks noGrp="1"/>
          </p:cNvSpPr>
          <p:nvPr>
            <p:ph type="body" sz="half" idx="1"/>
          </p:nvPr>
        </p:nvSpPr>
        <p:spPr>
          <a:xfrm>
            <a:off x="1524794" y="1143265"/>
            <a:ext cx="5031819" cy="95113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08A4C6BE-7AB7-4E46-902D-DE485F538CF9}"/>
              </a:ext>
            </a:extLst>
          </p:cNvPr>
          <p:cNvSpPr>
            <a:spLocks noGrp="1"/>
          </p:cNvSpPr>
          <p:nvPr>
            <p:ph sz="half" idx="2"/>
          </p:nvPr>
        </p:nvSpPr>
        <p:spPr>
          <a:xfrm>
            <a:off x="6759919" y="1143265"/>
            <a:ext cx="5031819" cy="95113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165BD51-F8F1-2EB0-306C-5ABFCECE756F}"/>
              </a:ext>
            </a:extLst>
          </p:cNvPr>
          <p:cNvSpPr>
            <a:spLocks noGrp="1" noChangeArrowheads="1"/>
          </p:cNvSpPr>
          <p:nvPr>
            <p:ph type="dt" sz="half" idx="10"/>
          </p:nvPr>
        </p:nvSpPr>
        <p:spPr>
          <a:ln/>
        </p:spPr>
        <p:txBody>
          <a:bodyPr/>
          <a:lstStyle>
            <a:lvl1pPr>
              <a:defRPr/>
            </a:lvl1pPr>
          </a:lstStyle>
          <a:p>
            <a:pPr>
              <a:defRPr/>
            </a:pPr>
            <a:fld id="{A4527277-6C2D-4A3E-8B18-48036508A4D5}" type="datetime1">
              <a:rPr lang="zh-CN" altLang="en-US"/>
              <a:pPr>
                <a:defRPr/>
              </a:pPr>
              <a:t>2026/9/15</a:t>
            </a:fld>
            <a:endParaRPr lang="en-US" altLang="zh-CN"/>
          </a:p>
        </p:txBody>
      </p:sp>
      <p:sp>
        <p:nvSpPr>
          <p:cNvPr id="6" name="Rectangle 5">
            <a:extLst>
              <a:ext uri="{FF2B5EF4-FFF2-40B4-BE49-F238E27FC236}">
                <a16:creationId xmlns:a16="http://schemas.microsoft.com/office/drawing/2014/main" id="{83F08E45-C9A7-B12C-3BCD-E5DE342F95DA}"/>
              </a:ext>
            </a:extLst>
          </p:cNvPr>
          <p:cNvSpPr>
            <a:spLocks noGrp="1" noChangeArrowheads="1"/>
          </p:cNvSpPr>
          <p:nvPr>
            <p:ph type="ftr" sz="quarter" idx="11"/>
          </p:nvPr>
        </p:nvSpPr>
        <p:spPr>
          <a:ln/>
        </p:spPr>
        <p:txBody>
          <a:bodyPr/>
          <a:lstStyle>
            <a:lvl1pPr>
              <a:defRPr/>
            </a:lvl1pPr>
          </a:lstStyle>
          <a:p>
            <a:pPr>
              <a:defRPr/>
            </a:pPr>
            <a:r>
              <a:rPr lang="zh-CN" altLang="en-US"/>
              <a:t>信息与软件工程学院</a:t>
            </a:r>
            <a:r>
              <a:rPr lang="en-US" altLang="zh-CN"/>
              <a:t>　王庆先</a:t>
            </a:r>
          </a:p>
        </p:txBody>
      </p:sp>
      <p:sp>
        <p:nvSpPr>
          <p:cNvPr id="7" name="Rectangle 6">
            <a:extLst>
              <a:ext uri="{FF2B5EF4-FFF2-40B4-BE49-F238E27FC236}">
                <a16:creationId xmlns:a16="http://schemas.microsoft.com/office/drawing/2014/main" id="{DCE173EE-404B-9E39-5917-3EFD0BA20770}"/>
              </a:ext>
            </a:extLst>
          </p:cNvPr>
          <p:cNvSpPr>
            <a:spLocks noGrp="1" noChangeArrowheads="1"/>
          </p:cNvSpPr>
          <p:nvPr>
            <p:ph type="sldNum" sz="quarter" idx="12"/>
          </p:nvPr>
        </p:nvSpPr>
        <p:spPr>
          <a:ln/>
        </p:spPr>
        <p:txBody>
          <a:bodyPr/>
          <a:lstStyle>
            <a:lvl1pPr>
              <a:defRPr/>
            </a:lvl1pPr>
          </a:lstStyle>
          <a:p>
            <a:r>
              <a:rPr lang="en-US" altLang="zh-CN"/>
              <a:t>62</a:t>
            </a:r>
            <a:r>
              <a:rPr lang="zh-CN" altLang="en-US"/>
              <a:t>－</a:t>
            </a:r>
            <a:fld id="{2CC92ED2-EB14-4B88-A871-BA1EE97FD486}" type="slidenum">
              <a:rPr lang="zh-CN" altLang="en-US"/>
              <a:pPr/>
              <a:t>‹#›</a:t>
            </a:fld>
            <a:endParaRPr lang="zh-CN" altLang="en-US"/>
          </a:p>
        </p:txBody>
      </p:sp>
    </p:spTree>
    <p:extLst>
      <p:ext uri="{BB962C8B-B14F-4D97-AF65-F5344CB8AC3E}">
        <p14:creationId xmlns:p14="http://schemas.microsoft.com/office/powerpoint/2010/main" val="2608036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93DE6-5A74-4FE3-99B3-6575D332D608}"/>
              </a:ext>
            </a:extLst>
          </p:cNvPr>
          <p:cNvSpPr>
            <a:spLocks noGrp="1"/>
          </p:cNvSpPr>
          <p:nvPr>
            <p:ph type="title"/>
          </p:nvPr>
        </p:nvSpPr>
        <p:spPr>
          <a:xfrm>
            <a:off x="1626447" y="342979"/>
            <a:ext cx="9961986" cy="609741"/>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3ED50DF-9C82-4873-8DCE-039E30D2E04A}"/>
              </a:ext>
            </a:extLst>
          </p:cNvPr>
          <p:cNvSpPr>
            <a:spLocks noGrp="1"/>
          </p:cNvSpPr>
          <p:nvPr>
            <p:ph type="body" sz="half" idx="1"/>
          </p:nvPr>
        </p:nvSpPr>
        <p:spPr>
          <a:xfrm>
            <a:off x="1524794" y="1143265"/>
            <a:ext cx="5031819" cy="95113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DAAA7EEB-F267-4ABA-B422-45B86BBBAE12}"/>
              </a:ext>
            </a:extLst>
          </p:cNvPr>
          <p:cNvSpPr>
            <a:spLocks noGrp="1"/>
          </p:cNvSpPr>
          <p:nvPr>
            <p:ph sz="quarter" idx="2"/>
          </p:nvPr>
        </p:nvSpPr>
        <p:spPr>
          <a:xfrm>
            <a:off x="6759919" y="1143265"/>
            <a:ext cx="5031819" cy="39855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A119196E-1955-4F21-9B14-D6F730104820}"/>
              </a:ext>
            </a:extLst>
          </p:cNvPr>
          <p:cNvSpPr>
            <a:spLocks noGrp="1"/>
          </p:cNvSpPr>
          <p:nvPr>
            <p:ph sz="quarter" idx="3"/>
          </p:nvPr>
        </p:nvSpPr>
        <p:spPr>
          <a:xfrm>
            <a:off x="6759919" y="1694255"/>
            <a:ext cx="5031819" cy="40014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2F12F586-BC01-DE26-B61A-964892E55A48}"/>
              </a:ext>
            </a:extLst>
          </p:cNvPr>
          <p:cNvSpPr>
            <a:spLocks noGrp="1" noChangeArrowheads="1"/>
          </p:cNvSpPr>
          <p:nvPr>
            <p:ph type="dt" sz="half" idx="10"/>
          </p:nvPr>
        </p:nvSpPr>
        <p:spPr>
          <a:ln/>
        </p:spPr>
        <p:txBody>
          <a:bodyPr/>
          <a:lstStyle>
            <a:lvl1pPr>
              <a:defRPr/>
            </a:lvl1pPr>
          </a:lstStyle>
          <a:p>
            <a:pPr>
              <a:defRPr/>
            </a:pPr>
            <a:fld id="{D8B6226A-8E6F-460E-8789-40C05390029C}" type="datetime1">
              <a:rPr lang="zh-CN" altLang="en-US"/>
              <a:pPr>
                <a:defRPr/>
              </a:pPr>
              <a:t>2026/9/15</a:t>
            </a:fld>
            <a:endParaRPr lang="en-US" altLang="zh-CN"/>
          </a:p>
        </p:txBody>
      </p:sp>
      <p:sp>
        <p:nvSpPr>
          <p:cNvPr id="7" name="Rectangle 5">
            <a:extLst>
              <a:ext uri="{FF2B5EF4-FFF2-40B4-BE49-F238E27FC236}">
                <a16:creationId xmlns:a16="http://schemas.microsoft.com/office/drawing/2014/main" id="{6CBB7CF0-B8A1-99BF-C2CB-AAF180C2A062}"/>
              </a:ext>
            </a:extLst>
          </p:cNvPr>
          <p:cNvSpPr>
            <a:spLocks noGrp="1" noChangeArrowheads="1"/>
          </p:cNvSpPr>
          <p:nvPr>
            <p:ph type="ftr" sz="quarter" idx="11"/>
          </p:nvPr>
        </p:nvSpPr>
        <p:spPr>
          <a:ln/>
        </p:spPr>
        <p:txBody>
          <a:bodyPr/>
          <a:lstStyle>
            <a:lvl1pPr>
              <a:defRPr/>
            </a:lvl1pPr>
          </a:lstStyle>
          <a:p>
            <a:pPr>
              <a:defRPr/>
            </a:pPr>
            <a:r>
              <a:rPr lang="zh-CN" altLang="en-US"/>
              <a:t>信息与软件工程学院</a:t>
            </a:r>
            <a:r>
              <a:rPr lang="en-US" altLang="zh-CN"/>
              <a:t>　王庆先</a:t>
            </a:r>
          </a:p>
        </p:txBody>
      </p:sp>
      <p:sp>
        <p:nvSpPr>
          <p:cNvPr id="8" name="Rectangle 6">
            <a:extLst>
              <a:ext uri="{FF2B5EF4-FFF2-40B4-BE49-F238E27FC236}">
                <a16:creationId xmlns:a16="http://schemas.microsoft.com/office/drawing/2014/main" id="{D7D91A31-FEE1-BBC2-D3ED-41242A9E9125}"/>
              </a:ext>
            </a:extLst>
          </p:cNvPr>
          <p:cNvSpPr>
            <a:spLocks noGrp="1" noChangeArrowheads="1"/>
          </p:cNvSpPr>
          <p:nvPr>
            <p:ph type="sldNum" sz="quarter" idx="12"/>
          </p:nvPr>
        </p:nvSpPr>
        <p:spPr>
          <a:ln/>
        </p:spPr>
        <p:txBody>
          <a:bodyPr/>
          <a:lstStyle>
            <a:lvl1pPr>
              <a:defRPr/>
            </a:lvl1pPr>
          </a:lstStyle>
          <a:p>
            <a:r>
              <a:rPr lang="en-US" altLang="zh-CN"/>
              <a:t>62</a:t>
            </a:r>
            <a:r>
              <a:rPr lang="zh-CN" altLang="en-US"/>
              <a:t>－</a:t>
            </a:r>
            <a:fld id="{0C00883C-41AD-4264-AFF7-D700726F5148}" type="slidenum">
              <a:rPr lang="zh-CN" altLang="en-US"/>
              <a:pPr/>
              <a:t>‹#›</a:t>
            </a:fld>
            <a:endParaRPr lang="zh-CN" altLang="en-US"/>
          </a:p>
        </p:txBody>
      </p:sp>
    </p:spTree>
    <p:extLst>
      <p:ext uri="{BB962C8B-B14F-4D97-AF65-F5344CB8AC3E}">
        <p14:creationId xmlns:p14="http://schemas.microsoft.com/office/powerpoint/2010/main" val="101474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09917" y="8477096"/>
            <a:ext cx="2846282" cy="486946"/>
          </a:xfrm>
          <a:prstGeom prst="rect">
            <a:avLst/>
          </a:prstGeom>
        </p:spPr>
        <p:txBody>
          <a:bodyPr vert="horz" lIns="121963" tIns="60981" rIns="121963" bIns="60981" rtlCol="0" anchor="ctr"/>
          <a:lstStyle>
            <a:lvl1pPr algn="l">
              <a:defRPr sz="1600">
                <a:solidFill>
                  <a:schemeClr val="tx1">
                    <a:tint val="75000"/>
                  </a:schemeClr>
                </a:solidFill>
              </a:defRPr>
            </a:lvl1pPr>
          </a:lstStyle>
          <a:p>
            <a:fld id="{1D8BD707-D9CF-40AE-B4C6-C98DA3205C09}" type="datetimeFigureOut">
              <a:rPr lang="en-US" smtClean="0"/>
              <a:t>9/15/26</a:t>
            </a:fld>
            <a:endParaRPr lang="en-US" dirty="0"/>
          </a:p>
        </p:txBody>
      </p:sp>
      <p:sp>
        <p:nvSpPr>
          <p:cNvPr id="5" name="Footer Placeholder 4"/>
          <p:cNvSpPr>
            <a:spLocks noGrp="1"/>
          </p:cNvSpPr>
          <p:nvPr>
            <p:ph type="ftr" sz="quarter" idx="3"/>
          </p:nvPr>
        </p:nvSpPr>
        <p:spPr>
          <a:xfrm>
            <a:off x="4167770" y="8477096"/>
            <a:ext cx="3862811" cy="486946"/>
          </a:xfrm>
          <a:prstGeom prst="rect">
            <a:avLst/>
          </a:prstGeom>
        </p:spPr>
        <p:txBody>
          <a:bodyPr vert="horz" lIns="121963" tIns="60981" rIns="121963" bIns="60981"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42151" y="8477096"/>
            <a:ext cx="2846282" cy="486946"/>
          </a:xfrm>
          <a:prstGeom prst="rect">
            <a:avLst/>
          </a:prstGeom>
        </p:spPr>
        <p:txBody>
          <a:bodyPr vert="horz" lIns="121963" tIns="60981" rIns="121963" bIns="60981" rtlCol="0" anchor="ctr"/>
          <a:lstStyle>
            <a:lvl1pPr algn="r">
              <a:defRPr sz="1600">
                <a:solidFill>
                  <a:schemeClr val="tx1">
                    <a:tint val="75000"/>
                  </a:schemeClr>
                </a:solidFill>
              </a:defRPr>
            </a:lvl1pPr>
          </a:lstStyle>
          <a:p>
            <a:fld id="{B6F15528-21DE-4FAA-801E-634DDDAF4B2B}" type="slidenum">
              <a:rPr lang="en-US" smtClean="0"/>
              <a:t>‹#›</a:t>
            </a:fld>
            <a:endParaRPr lang="en-US" dirty="0"/>
          </a:p>
        </p:txBody>
      </p:sp>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8030581" y="332656"/>
            <a:ext cx="3173994"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0" rtlCol="0" anchor="ctr"/>
          <a:lstStyle/>
          <a:p>
            <a:pPr marL="0" marR="0" lvl="0" indent="0" algn="ctr" defTabSz="1219835" rtl="0" eaLnBrk="1" fontAlgn="auto" latinLnBrk="0" hangingPunct="1">
              <a:lnSpc>
                <a:spcPct val="100000"/>
              </a:lnSpc>
              <a:spcBef>
                <a:spcPts val="0"/>
              </a:spcBef>
              <a:spcAft>
                <a:spcPts val="0"/>
              </a:spcAft>
              <a:buClrTx/>
              <a:buSzTx/>
              <a:buFontTx/>
              <a:buNone/>
              <a:tabLst/>
              <a:defRPr/>
            </a:pPr>
            <a:r>
              <a:rPr lang="zh-CN" altLang="en-US" sz="1800" b="0" dirty="0">
                <a:latin typeface="微软雅黑" panose="020B0503020204020204" pitchFamily="34" charset="-122"/>
                <a:ea typeface="微软雅黑" panose="020B0503020204020204" pitchFamily="34" charset="-122"/>
              </a:rPr>
              <a:t>第</a:t>
            </a:r>
            <a:r>
              <a:rPr lang="en-US" altLang="zh-CN" sz="1800" b="0" dirty="0">
                <a:latin typeface="微软雅黑" panose="020B0503020204020204" pitchFamily="34" charset="-122"/>
                <a:ea typeface="微软雅黑" panose="020B0503020204020204" pitchFamily="34" charset="-122"/>
              </a:rPr>
              <a:t>4</a:t>
            </a:r>
            <a:r>
              <a:rPr lang="zh-CN" altLang="en-US" sz="1800" b="0" dirty="0">
                <a:latin typeface="微软雅黑" panose="020B0503020204020204" pitchFamily="34" charset="-122"/>
                <a:ea typeface="微软雅黑" panose="020B0503020204020204" pitchFamily="34" charset="-122"/>
              </a:rPr>
              <a:t>章 </a:t>
            </a:r>
            <a:r>
              <a:rPr lang="zh-CN" altLang="en-US" sz="1800" dirty="0">
                <a:solidFill>
                  <a:schemeClr val="bg1"/>
                </a:solidFill>
                <a:latin typeface="黑体" panose="02010609060101010101" pitchFamily="49" charset="-122"/>
                <a:ea typeface="黑体" panose="02010609060101010101" pitchFamily="49" charset="-122"/>
              </a:rPr>
              <a:t>随机过程的基本概念</a:t>
            </a:r>
            <a:endParaRPr lang="zh-CN" altLang="en-US" sz="1800" b="0" dirty="0">
              <a:latin typeface="微软雅黑" panose="020B0503020204020204" pitchFamily="34" charset="-122"/>
              <a:ea typeface="微软雅黑" panose="020B0503020204020204" pitchFamily="34" charset="-122"/>
            </a:endParaRP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1219835" rtl="0" eaLnBrk="1" latinLnBrk="0" hangingPunct="1">
        <a:spcBef>
          <a:spcPct val="0"/>
        </a:spcBef>
        <a:buNone/>
        <a:defRPr sz="2400" b="1" kern="1200">
          <a:solidFill>
            <a:schemeClr val="bg1"/>
          </a:solidFill>
          <a:latin typeface="+mj-lt"/>
          <a:ea typeface="+mj-ea"/>
          <a:cs typeface="+mj-cs"/>
        </a:defRPr>
      </a:lvl1pPr>
    </p:titleStyle>
    <p:bodyStyle>
      <a:lvl1pPr marL="457200" indent="-457200" algn="l" defTabSz="1219835" rtl="0" eaLnBrk="1" latinLnBrk="0" hangingPunct="1">
        <a:lnSpc>
          <a:spcPct val="150000"/>
        </a:lnSpc>
        <a:spcBef>
          <a:spcPct val="2000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ct val="2000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10.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12.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2.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0.wmf"/><Relationship Id="rId3" Type="http://schemas.openxmlformats.org/officeDocument/2006/relationships/image" Target="../media/image12.wmf"/><Relationship Id="rId7" Type="http://schemas.openxmlformats.org/officeDocument/2006/relationships/image" Target="../media/image14.wmf"/><Relationship Id="rId12" Type="http://schemas.openxmlformats.org/officeDocument/2006/relationships/oleObject" Target="../embeddings/oleObject1.bin"/><Relationship Id="rId17" Type="http://schemas.openxmlformats.org/officeDocument/2006/relationships/image" Target="../media/image18.emf"/><Relationship Id="rId2" Type="http://schemas.openxmlformats.org/officeDocument/2006/relationships/oleObject" Target="../embeddings/oleObject3.bin"/><Relationship Id="rId16" Type="http://schemas.openxmlformats.org/officeDocument/2006/relationships/oleObject" Target="../embeddings/oleObject9.bin"/><Relationship Id="rId1" Type="http://schemas.openxmlformats.org/officeDocument/2006/relationships/slideLayout" Target="../slideLayouts/slideLayout12.xml"/><Relationship Id="rId6" Type="http://schemas.openxmlformats.org/officeDocument/2006/relationships/oleObject" Target="../embeddings/oleObject5.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7.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5.wmf"/><Relationship Id="rId14" Type="http://schemas.openxmlformats.org/officeDocument/2006/relationships/oleObject" Target="../embeddings/oleObject8.bin"/></Relationships>
</file>

<file path=ppt/slides/_rels/slide5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0.bin"/><Relationship Id="rId1" Type="http://schemas.openxmlformats.org/officeDocument/2006/relationships/slideLayout" Target="../slideLayouts/slideLayout12.xml"/><Relationship Id="rId6" Type="http://schemas.openxmlformats.org/officeDocument/2006/relationships/oleObject" Target="../embeddings/oleObject12.bin"/><Relationship Id="rId11" Type="http://schemas.openxmlformats.org/officeDocument/2006/relationships/image" Target="../media/image24.wmf"/><Relationship Id="rId5" Type="http://schemas.openxmlformats.org/officeDocument/2006/relationships/image" Target="../media/image21.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3.wmf"/></Relationships>
</file>

<file path=ppt/slides/_rels/slide59.x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15.bin"/><Relationship Id="rId1" Type="http://schemas.openxmlformats.org/officeDocument/2006/relationships/slideLayout" Target="../slideLayouts/slideLayout12.xml"/><Relationship Id="rId6" Type="http://schemas.openxmlformats.org/officeDocument/2006/relationships/oleObject" Target="../embeddings/oleObject17.bin"/><Relationship Id="rId5" Type="http://schemas.openxmlformats.org/officeDocument/2006/relationships/image" Target="../media/image26.wmf"/><Relationship Id="rId4" Type="http://schemas.openxmlformats.org/officeDocument/2006/relationships/oleObject" Target="../embeddings/oleObject16.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18.bin"/><Relationship Id="rId1" Type="http://schemas.openxmlformats.org/officeDocument/2006/relationships/slideLayout" Target="../slideLayouts/slideLayout12.xml"/><Relationship Id="rId6" Type="http://schemas.openxmlformats.org/officeDocument/2006/relationships/oleObject" Target="../embeddings/oleObject20.bin"/><Relationship Id="rId5" Type="http://schemas.openxmlformats.org/officeDocument/2006/relationships/image" Target="../media/image29.wmf"/><Relationship Id="rId4" Type="http://schemas.openxmlformats.org/officeDocument/2006/relationships/oleObject" Target="../embeddings/oleObject19.bin"/><Relationship Id="rId9" Type="http://schemas.openxmlformats.org/officeDocument/2006/relationships/image" Target="../media/image31.wmf"/></Relationships>
</file>

<file path=ppt/slides/_rels/slide61.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2.bin"/><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3.bin"/><Relationship Id="rId1" Type="http://schemas.openxmlformats.org/officeDocument/2006/relationships/slideLayout" Target="../slideLayouts/slideLayout12.xml"/><Relationship Id="rId5" Type="http://schemas.openxmlformats.org/officeDocument/2006/relationships/image" Target="../media/image34.wmf"/><Relationship Id="rId4" Type="http://schemas.openxmlformats.org/officeDocument/2006/relationships/oleObject" Target="../embeddings/oleObject24.bin"/></Relationships>
</file>

<file path=ppt/slides/_rels/slide6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5.bin"/><Relationship Id="rId1" Type="http://schemas.openxmlformats.org/officeDocument/2006/relationships/slideLayout" Target="../slideLayouts/slideLayout13.xml"/><Relationship Id="rId5" Type="http://schemas.openxmlformats.org/officeDocument/2006/relationships/image" Target="../media/image36.wmf"/><Relationship Id="rId4" Type="http://schemas.openxmlformats.org/officeDocument/2006/relationships/oleObject" Target="../embeddings/oleObject26.bin"/></Relationships>
</file>

<file path=ppt/slides/_rels/slide64.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27.bin"/><Relationship Id="rId1" Type="http://schemas.openxmlformats.org/officeDocument/2006/relationships/slideLayout" Target="../slideLayouts/slideLayout13.xml"/><Relationship Id="rId6" Type="http://schemas.openxmlformats.org/officeDocument/2006/relationships/oleObject" Target="../embeddings/oleObject29.bin"/><Relationship Id="rId5" Type="http://schemas.openxmlformats.org/officeDocument/2006/relationships/image" Target="../media/image38.wmf"/><Relationship Id="rId4" Type="http://schemas.openxmlformats.org/officeDocument/2006/relationships/oleObject" Target="../embeddings/oleObject28.bin"/></Relationships>
</file>

<file path=ppt/slides/_rels/slide65.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30.bin"/><Relationship Id="rId1" Type="http://schemas.openxmlformats.org/officeDocument/2006/relationships/slideLayout" Target="../slideLayouts/slideLayout12.xml"/><Relationship Id="rId6" Type="http://schemas.openxmlformats.org/officeDocument/2006/relationships/oleObject" Target="../embeddings/oleObject32.bin"/><Relationship Id="rId5" Type="http://schemas.openxmlformats.org/officeDocument/2006/relationships/image" Target="../media/image41.wmf"/><Relationship Id="rId4" Type="http://schemas.openxmlformats.org/officeDocument/2006/relationships/oleObject" Target="../embeddings/oleObject31.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33.bin"/><Relationship Id="rId1" Type="http://schemas.openxmlformats.org/officeDocument/2006/relationships/slideLayout" Target="../slideLayouts/slideLayout12.xml"/><Relationship Id="rId6" Type="http://schemas.openxmlformats.org/officeDocument/2006/relationships/oleObject" Target="../embeddings/oleObject35.bin"/><Relationship Id="rId5" Type="http://schemas.openxmlformats.org/officeDocument/2006/relationships/image" Target="../media/image44.wmf"/><Relationship Id="rId4" Type="http://schemas.openxmlformats.org/officeDocument/2006/relationships/oleObject" Target="../embeddings/oleObject34.bin"/><Relationship Id="rId9" Type="http://schemas.openxmlformats.org/officeDocument/2006/relationships/image" Target="../media/image46.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37.bin"/><Relationship Id="rId1" Type="http://schemas.openxmlformats.org/officeDocument/2006/relationships/slideLayout" Target="../slideLayouts/slideLayout12.xml"/><Relationship Id="rId6" Type="http://schemas.openxmlformats.org/officeDocument/2006/relationships/oleObject" Target="../embeddings/oleObject39.bin"/><Relationship Id="rId5" Type="http://schemas.openxmlformats.org/officeDocument/2006/relationships/image" Target="../media/image48.wmf"/><Relationship Id="rId4" Type="http://schemas.openxmlformats.org/officeDocument/2006/relationships/oleObject" Target="../embeddings/oleObject38.bin"/><Relationship Id="rId9" Type="http://schemas.openxmlformats.org/officeDocument/2006/relationships/image" Target="../media/image50.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41.bin"/><Relationship Id="rId1" Type="http://schemas.openxmlformats.org/officeDocument/2006/relationships/slideLayout" Target="../slideLayouts/slideLayout12.xml"/><Relationship Id="rId6" Type="http://schemas.openxmlformats.org/officeDocument/2006/relationships/oleObject" Target="../embeddings/oleObject43.bin"/><Relationship Id="rId11" Type="http://schemas.openxmlformats.org/officeDocument/2006/relationships/image" Target="../media/image55.wmf"/><Relationship Id="rId5" Type="http://schemas.openxmlformats.org/officeDocument/2006/relationships/image" Target="../media/image52.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54.wmf"/></Relationships>
</file>

<file path=ppt/slides/_rels/slide71.x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58.wmf"/><Relationship Id="rId2" Type="http://schemas.openxmlformats.org/officeDocument/2006/relationships/oleObject" Target="../embeddings/oleObject46.bin"/><Relationship Id="rId1" Type="http://schemas.openxmlformats.org/officeDocument/2006/relationships/slideLayout" Target="../slideLayouts/slideLayout12.xml"/><Relationship Id="rId6" Type="http://schemas.openxmlformats.org/officeDocument/2006/relationships/oleObject" Target="../embeddings/oleObject48.bin"/><Relationship Id="rId5" Type="http://schemas.openxmlformats.org/officeDocument/2006/relationships/image" Target="../media/image57.wmf"/><Relationship Id="rId4" Type="http://schemas.openxmlformats.org/officeDocument/2006/relationships/oleObject" Target="../embeddings/oleObject47.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image" Target="../media/image43.wmf"/><Relationship Id="rId7" Type="http://schemas.openxmlformats.org/officeDocument/2006/relationships/image" Target="../media/image59.wmf"/><Relationship Id="rId2" Type="http://schemas.openxmlformats.org/officeDocument/2006/relationships/oleObject" Target="../embeddings/oleObject49.bin"/><Relationship Id="rId1" Type="http://schemas.openxmlformats.org/officeDocument/2006/relationships/slideLayout" Target="../slideLayouts/slideLayout12.xml"/><Relationship Id="rId6" Type="http://schemas.openxmlformats.org/officeDocument/2006/relationships/oleObject" Target="../embeddings/oleObject51.bin"/><Relationship Id="rId5" Type="http://schemas.openxmlformats.org/officeDocument/2006/relationships/image" Target="../media/image44.wmf"/><Relationship Id="rId4" Type="http://schemas.openxmlformats.org/officeDocument/2006/relationships/oleObject" Target="../embeddings/oleObject50.bin"/><Relationship Id="rId9" Type="http://schemas.openxmlformats.org/officeDocument/2006/relationships/image" Target="../media/image60.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3.bin"/><Relationship Id="rId1" Type="http://schemas.openxmlformats.org/officeDocument/2006/relationships/slideLayout" Target="../slideLayouts/slideLayout12.xml"/><Relationship Id="rId5" Type="http://schemas.openxmlformats.org/officeDocument/2006/relationships/image" Target="../media/image62.wmf"/><Relationship Id="rId4" Type="http://schemas.openxmlformats.org/officeDocument/2006/relationships/oleObject" Target="../embeddings/oleObject54.bin"/></Relationships>
</file>

<file path=ppt/slides/_rels/slide75.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55.bin"/><Relationship Id="rId1" Type="http://schemas.openxmlformats.org/officeDocument/2006/relationships/slideLayout" Target="../slideLayouts/slideLayout13.xml"/><Relationship Id="rId5" Type="http://schemas.openxmlformats.org/officeDocument/2006/relationships/image" Target="../media/image64.wmf"/><Relationship Id="rId4" Type="http://schemas.openxmlformats.org/officeDocument/2006/relationships/oleObject" Target="../embeddings/oleObject56.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17" name="TextBox 16"/>
          <p:cNvSpPr txBox="1"/>
          <p:nvPr/>
        </p:nvSpPr>
        <p:spPr>
          <a:xfrm>
            <a:off x="3901096" y="2310557"/>
            <a:ext cx="4560279" cy="430930"/>
          </a:xfrm>
          <a:prstGeom prst="rect">
            <a:avLst/>
          </a:prstGeom>
          <a:noFill/>
        </p:spPr>
        <p:txBody>
          <a:bodyPr wrap="square" lIns="121963" tIns="60981" rIns="121963" bIns="60981" rtlCol="0">
            <a:spAutoFit/>
          </a:bodyPr>
          <a:lstStyle/>
          <a:p>
            <a:r>
              <a:rPr lang="en-US" altLang="zh-CN" sz="2000" dirty="0">
                <a:solidFill>
                  <a:schemeClr val="bg1"/>
                </a:solidFill>
              </a:rPr>
              <a:t>             《</a:t>
            </a:r>
            <a:r>
              <a:rPr lang="zh-CN" altLang="en-US" sz="2000" dirty="0">
                <a:solidFill>
                  <a:schemeClr val="bg1"/>
                </a:solidFill>
                <a:latin typeface="华文行楷" panose="02010800040101010101" pitchFamily="2" charset="-122"/>
                <a:ea typeface="华文行楷" panose="02010800040101010101" pitchFamily="2" charset="-122"/>
              </a:rPr>
              <a:t>随机过程与排队论</a:t>
            </a:r>
            <a:r>
              <a:rPr lang="en-US" altLang="zh-CN" sz="2000" dirty="0">
                <a:solidFill>
                  <a:schemeClr val="bg1"/>
                </a:solidFill>
              </a:rPr>
              <a:t>》</a:t>
            </a:r>
            <a:endParaRPr lang="zh-CN" altLang="en-US" sz="2000" dirty="0">
              <a:solidFill>
                <a:schemeClr val="bg1"/>
              </a:solidFill>
            </a:endParaRPr>
          </a:p>
        </p:txBody>
      </p:sp>
      <p:sp>
        <p:nvSpPr>
          <p:cNvPr id="18" name="TextBox 17"/>
          <p:cNvSpPr txBox="1"/>
          <p:nvPr/>
        </p:nvSpPr>
        <p:spPr>
          <a:xfrm>
            <a:off x="5337175" y="883877"/>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rPr>
              <a:t>第</a:t>
            </a:r>
            <a:r>
              <a:rPr lang="en-US" altLang="zh-CN" sz="4800" dirty="0">
                <a:solidFill>
                  <a:schemeClr val="bg1"/>
                </a:solidFill>
              </a:rPr>
              <a:t>3</a:t>
            </a:r>
            <a:r>
              <a:rPr lang="zh-CN" altLang="en-US" sz="4800" dirty="0">
                <a:solidFill>
                  <a:schemeClr val="bg1"/>
                </a:solidFill>
              </a:rPr>
              <a:t>讲 </a:t>
            </a:r>
          </a:p>
        </p:txBody>
      </p:sp>
      <p:sp>
        <p:nvSpPr>
          <p:cNvPr id="20" name="TextBox 19"/>
          <p:cNvSpPr txBox="1"/>
          <p:nvPr/>
        </p:nvSpPr>
        <p:spPr>
          <a:xfrm>
            <a:off x="4521135" y="3519164"/>
            <a:ext cx="4854640" cy="430930"/>
          </a:xfrm>
          <a:prstGeom prst="rect">
            <a:avLst/>
          </a:prstGeom>
          <a:noFill/>
        </p:spPr>
        <p:txBody>
          <a:bodyPr wrap="square" lIns="121963" tIns="60981" rIns="121963" bIns="60981" rtlCol="0">
            <a:spAutoFit/>
          </a:bodyPr>
          <a:lstStyle/>
          <a:p>
            <a:pPr eaLnBrk="1" hangingPunct="1"/>
            <a:r>
              <a:rPr lang="en-US" altLang="zh-CN" sz="2000" dirty="0">
                <a:solidFill>
                  <a:schemeClr val="bg1"/>
                </a:solidFill>
                <a:ea typeface="华文行楷" panose="02010800040101010101" pitchFamily="2" charset="-122"/>
              </a:rPr>
              <a:t>Email</a:t>
            </a:r>
            <a:r>
              <a:rPr lang="zh-CN" altLang="en-US" sz="2000" dirty="0">
                <a:solidFill>
                  <a:schemeClr val="bg1"/>
                </a:solidFill>
                <a:ea typeface="华文行楷" panose="02010800040101010101" pitchFamily="2" charset="-122"/>
              </a:rPr>
              <a:t>：</a:t>
            </a:r>
            <a:r>
              <a:rPr lang="en-US" altLang="zh-CN" sz="2000" dirty="0">
                <a:solidFill>
                  <a:schemeClr val="bg1"/>
                </a:solidFill>
                <a:ea typeface="华文行楷" panose="02010800040101010101" pitchFamily="2" charset="-122"/>
              </a:rPr>
              <a:t>qxwang@uestc.edu.cn</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5794375" y="2900778"/>
            <a:ext cx="1754309" cy="430930"/>
          </a:xfrm>
          <a:prstGeom prst="rect">
            <a:avLst/>
          </a:prstGeom>
          <a:noFill/>
        </p:spPr>
        <p:txBody>
          <a:bodyPr wrap="square" lIns="121963" tIns="60981" rIns="121963" bIns="60981" rtlCol="0">
            <a:spAutoFit/>
          </a:bodyPr>
          <a:lstStyle/>
          <a:p>
            <a:pPr algn="ctr"/>
            <a:r>
              <a:rPr lang="zh-CN" altLang="en-US" sz="2000" dirty="0">
                <a:solidFill>
                  <a:schemeClr val="bg1"/>
                </a:solidFill>
                <a:latin typeface="华文行楷" panose="02010800040101010101" pitchFamily="2" charset="-122"/>
                <a:ea typeface="华文行楷" panose="02010800040101010101" pitchFamily="2" charset="-122"/>
              </a:rPr>
              <a:t>王庆先</a:t>
            </a:r>
            <a:endParaRPr lang="zh-CN" altLang="en-US" sz="2000" dirty="0">
              <a:solidFill>
                <a:schemeClr val="bg1"/>
              </a:solidFill>
            </a:endParaRPr>
          </a:p>
        </p:txBody>
      </p:sp>
      <p:sp>
        <p:nvSpPr>
          <p:cNvPr id="11" name="TextBox 10"/>
          <p:cNvSpPr txBox="1"/>
          <p:nvPr/>
        </p:nvSpPr>
        <p:spPr>
          <a:xfrm>
            <a:off x="2898775" y="2900930"/>
            <a:ext cx="3078481" cy="430930"/>
          </a:xfrm>
          <a:prstGeom prst="rect">
            <a:avLst/>
          </a:prstGeom>
          <a:noFill/>
        </p:spPr>
        <p:txBody>
          <a:bodyPr wrap="square" lIns="121963" tIns="60981" rIns="121963" bIns="60981" rtlCol="0">
            <a:spAutoFit/>
          </a:bodyPr>
          <a:lstStyle/>
          <a:p>
            <a:pPr eaLnBrk="1" hangingPunct="1"/>
            <a:r>
              <a:rPr lang="zh-CN" altLang="en-US" sz="2000" dirty="0">
                <a:solidFill>
                  <a:schemeClr val="bg1"/>
                </a:solidFill>
                <a:latin typeface="华文行楷" panose="02010800040101010101" pitchFamily="2" charset="-122"/>
                <a:ea typeface="华文行楷" panose="02010800040101010101" pitchFamily="2" charset="-122"/>
              </a:rPr>
              <a:t>信息与软件工程学院</a:t>
            </a:r>
          </a:p>
        </p:txBody>
      </p:sp>
      <p:sp>
        <p:nvSpPr>
          <p:cNvPr id="2" name="矩形 1"/>
          <p:cNvSpPr/>
          <p:nvPr/>
        </p:nvSpPr>
        <p:spPr>
          <a:xfrm>
            <a:off x="5748656" y="2975515"/>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61D4B6-92A4-2694-E6E8-95CFA87880BA}"/>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8E7B5191-06FB-F833-E95D-DE79B4428DA1}"/>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1AD596A4-34A6-CC2D-BC1E-A462A57D963C}"/>
              </a:ext>
            </a:extLst>
          </p:cNvPr>
          <p:cNvPicPr>
            <a:picLocks noChangeAspect="1"/>
          </p:cNvPicPr>
          <p:nvPr/>
        </p:nvPicPr>
        <p:blipFill>
          <a:blip r:embed="rId2"/>
          <a:stretch>
            <a:fillRect/>
          </a:stretch>
        </p:blipFill>
        <p:spPr>
          <a:xfrm>
            <a:off x="536575" y="1122818"/>
            <a:ext cx="11326038" cy="5384346"/>
          </a:xfrm>
          <a:prstGeom prst="rect">
            <a:avLst/>
          </a:prstGeom>
        </p:spPr>
      </p:pic>
    </p:spTree>
    <p:extLst>
      <p:ext uri="{BB962C8B-B14F-4D97-AF65-F5344CB8AC3E}">
        <p14:creationId xmlns:p14="http://schemas.microsoft.com/office/powerpoint/2010/main" val="601068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a:extLst>
              <a:ext uri="{FF2B5EF4-FFF2-40B4-BE49-F238E27FC236}">
                <a16:creationId xmlns:a16="http://schemas.microsoft.com/office/drawing/2014/main" id="{E5043B12-891C-F941-3900-5E445E6155FE}"/>
              </a:ext>
            </a:extLst>
          </p:cNvPr>
          <p:cNvSpPr>
            <a:spLocks noGrp="1" noChangeArrowheads="1"/>
          </p:cNvSpPr>
          <p:nvPr>
            <p:ph type="title"/>
          </p:nvPr>
        </p:nvSpPr>
        <p:spPr/>
        <p:txBody>
          <a:bodyPr/>
          <a:lstStyle/>
          <a:p>
            <a:pPr eaLnBrk="1" hangingPunct="1"/>
            <a:r>
              <a:rPr lang="zh-CN" altLang="en-US"/>
              <a:t>上一讲内容回顾</a:t>
            </a:r>
          </a:p>
        </p:txBody>
      </p:sp>
      <p:sp>
        <p:nvSpPr>
          <p:cNvPr id="4" name="Rectangle 3">
            <a:extLst>
              <a:ext uri="{FF2B5EF4-FFF2-40B4-BE49-F238E27FC236}">
                <a16:creationId xmlns:a16="http://schemas.microsoft.com/office/drawing/2014/main" id="{B15869FB-5156-36DE-990D-D0A811B895BA}"/>
              </a:ext>
            </a:extLst>
          </p:cNvPr>
          <p:cNvSpPr txBox="1">
            <a:spLocks noChangeArrowheads="1"/>
          </p:cNvSpPr>
          <p:nvPr/>
        </p:nvSpPr>
        <p:spPr>
          <a:xfrm>
            <a:off x="399072" y="2468564"/>
            <a:ext cx="7469329" cy="4038600"/>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buFont typeface="Wingdings" panose="05000000000000000000" pitchFamily="2" charset="2"/>
              <a:buChar char="Ø"/>
            </a:pPr>
            <a:r>
              <a:rPr lang="zh-CN" altLang="en-US">
                <a:solidFill>
                  <a:srgbClr val="0000FF"/>
                </a:solidFill>
              </a:rPr>
              <a:t>随机变量的数字特征</a:t>
            </a:r>
          </a:p>
          <a:p>
            <a:pPr lvl="1">
              <a:buClr>
                <a:srgbClr val="FF0000"/>
              </a:buClr>
              <a:buFontTx/>
              <a:buChar char="•"/>
            </a:pPr>
            <a:r>
              <a:rPr lang="zh-CN" altLang="en-US">
                <a:solidFill>
                  <a:srgbClr val="CC00CC"/>
                </a:solidFill>
              </a:rPr>
              <a:t>数学期望</a:t>
            </a:r>
          </a:p>
          <a:p>
            <a:pPr lvl="1">
              <a:buClr>
                <a:srgbClr val="FF0000"/>
              </a:buClr>
              <a:buFontTx/>
              <a:buChar char="•"/>
            </a:pPr>
            <a:r>
              <a:rPr lang="zh-CN" altLang="en-US">
                <a:solidFill>
                  <a:srgbClr val="CC00CC"/>
                </a:solidFill>
              </a:rPr>
              <a:t>方差</a:t>
            </a:r>
          </a:p>
          <a:p>
            <a:pPr lvl="1">
              <a:buClr>
                <a:srgbClr val="FF0000"/>
              </a:buClr>
              <a:buFontTx/>
              <a:buChar char="•"/>
            </a:pPr>
            <a:r>
              <a:rPr lang="en-US" altLang="zh-CN">
                <a:solidFill>
                  <a:srgbClr val="CC00CC"/>
                </a:solidFill>
              </a:rPr>
              <a:t>k</a:t>
            </a:r>
            <a:r>
              <a:rPr lang="zh-CN" altLang="en-US">
                <a:solidFill>
                  <a:srgbClr val="CC00CC"/>
                </a:solidFill>
              </a:rPr>
              <a:t>阶矩</a:t>
            </a:r>
          </a:p>
          <a:p>
            <a:pPr lvl="1">
              <a:buClr>
                <a:srgbClr val="FF0000"/>
              </a:buClr>
              <a:buFontTx/>
              <a:buChar char="•"/>
            </a:pPr>
            <a:r>
              <a:rPr lang="zh-CN" altLang="en-US">
                <a:solidFill>
                  <a:srgbClr val="CC00CC"/>
                </a:solidFill>
              </a:rPr>
              <a:t>协方差</a:t>
            </a:r>
          </a:p>
          <a:p>
            <a:pPr>
              <a:buFont typeface="Wingdings" panose="05000000000000000000" pitchFamily="2" charset="2"/>
              <a:buChar char="Ø"/>
            </a:pPr>
            <a:r>
              <a:rPr lang="zh-CN" altLang="en-US">
                <a:solidFill>
                  <a:srgbClr val="0000FF"/>
                </a:solidFill>
              </a:rPr>
              <a:t>条件数学期望</a:t>
            </a:r>
          </a:p>
          <a:p>
            <a:pPr>
              <a:buFont typeface="Wingdings" panose="05000000000000000000" pitchFamily="2" charset="2"/>
              <a:buChar char="Ø"/>
            </a:pPr>
            <a:r>
              <a:rPr lang="zh-CN" altLang="en-US">
                <a:solidFill>
                  <a:srgbClr val="0000FF"/>
                </a:solidFill>
              </a:rPr>
              <a:t>随机变量的特征函数</a:t>
            </a:r>
            <a:endParaRPr lang="zh-CN" altLang="en-US" dirty="0">
              <a:solidFill>
                <a:srgbClr val="0000FF"/>
              </a:solidFill>
            </a:endParaRPr>
          </a:p>
        </p:txBody>
      </p:sp>
      <p:sp>
        <p:nvSpPr>
          <p:cNvPr id="5" name="Rectangle 3">
            <a:extLst>
              <a:ext uri="{FF2B5EF4-FFF2-40B4-BE49-F238E27FC236}">
                <a16:creationId xmlns:a16="http://schemas.microsoft.com/office/drawing/2014/main" id="{DB79105A-06EB-ED8D-906A-EF3871E13C0F}"/>
              </a:ext>
            </a:extLst>
          </p:cNvPr>
          <p:cNvSpPr txBox="1">
            <a:spLocks noChangeArrowheads="1"/>
          </p:cNvSpPr>
          <p:nvPr/>
        </p:nvSpPr>
        <p:spPr>
          <a:xfrm>
            <a:off x="399072" y="1173164"/>
            <a:ext cx="7469329" cy="1295400"/>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spcBef>
                <a:spcPts val="600"/>
              </a:spcBef>
              <a:buFont typeface="Wingdings" panose="05000000000000000000" pitchFamily="2" charset="2"/>
              <a:buChar char="Ø"/>
            </a:pPr>
            <a:r>
              <a:rPr lang="en-US" altLang="zh-CN" dirty="0">
                <a:solidFill>
                  <a:srgbClr val="0000FF"/>
                </a:solidFill>
                <a:latin typeface="黑体" panose="02010609060101010101" pitchFamily="49" charset="-122"/>
              </a:rPr>
              <a:t>n</a:t>
            </a:r>
            <a:r>
              <a:rPr lang="zh-CN" altLang="en-US" dirty="0">
                <a:solidFill>
                  <a:srgbClr val="0000FF"/>
                </a:solidFill>
                <a:latin typeface="黑体" panose="02010609060101010101" pitchFamily="49" charset="-122"/>
              </a:rPr>
              <a:t>维随机变量</a:t>
            </a:r>
          </a:p>
          <a:p>
            <a:pPr>
              <a:spcBef>
                <a:spcPts val="600"/>
              </a:spcBef>
              <a:buFont typeface="Wingdings" panose="05000000000000000000" pitchFamily="2" charset="2"/>
              <a:buChar char="Ø"/>
            </a:pPr>
            <a:r>
              <a:rPr lang="zh-CN" altLang="en-US" dirty="0">
                <a:solidFill>
                  <a:srgbClr val="0000FF"/>
                </a:solidFill>
                <a:latin typeface="黑体" panose="02010609060101010101" pitchFamily="49" charset="-122"/>
              </a:rPr>
              <a:t>随机变量函数的分布</a:t>
            </a:r>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 calcmode="lin" valueType="num">
                                      <p:cBhvr additive="base">
                                        <p:cTn id="3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anim calcmode="lin" valueType="num">
                                      <p:cBhvr additive="base">
                                        <p:cTn id="4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anim calcmode="lin" valueType="num">
                                      <p:cBhvr additive="base">
                                        <p:cTn id="4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a:extLst>
              <a:ext uri="{FF2B5EF4-FFF2-40B4-BE49-F238E27FC236}">
                <a16:creationId xmlns:a16="http://schemas.microsoft.com/office/drawing/2014/main" id="{C42366A7-8B8B-11B6-B172-932897628FED}"/>
              </a:ext>
            </a:extLst>
          </p:cNvPr>
          <p:cNvSpPr>
            <a:spLocks noGrp="1" noChangeArrowheads="1"/>
          </p:cNvSpPr>
          <p:nvPr>
            <p:ph type="title"/>
          </p:nvPr>
        </p:nvSpPr>
        <p:spPr/>
        <p:txBody>
          <a:bodyPr/>
          <a:lstStyle/>
          <a:p>
            <a:pPr eaLnBrk="1" hangingPunct="1"/>
            <a:r>
              <a:rPr lang="zh-CN" altLang="en-US"/>
              <a:t>本讲主要内容</a:t>
            </a:r>
          </a:p>
        </p:txBody>
      </p:sp>
      <p:sp>
        <p:nvSpPr>
          <p:cNvPr id="319491" name="Rectangle 3">
            <a:extLst>
              <a:ext uri="{FF2B5EF4-FFF2-40B4-BE49-F238E27FC236}">
                <a16:creationId xmlns:a16="http://schemas.microsoft.com/office/drawing/2014/main" id="{5654F0C9-5467-BE76-2D88-18A365ED7911}"/>
              </a:ext>
            </a:extLst>
          </p:cNvPr>
          <p:cNvSpPr>
            <a:spLocks noGrp="1" noChangeArrowheads="1"/>
          </p:cNvSpPr>
          <p:nvPr>
            <p:ph type="body" idx="1"/>
          </p:nvPr>
        </p:nvSpPr>
        <p:spPr>
          <a:xfrm>
            <a:off x="774700" y="1052758"/>
            <a:ext cx="9429113" cy="5806830"/>
          </a:xfrm>
        </p:spPr>
        <p:txBody>
          <a:bodyPr>
            <a:normAutofit/>
          </a:bodyPr>
          <a:lstStyle/>
          <a:p>
            <a:pPr eaLnBrk="1" hangingPunct="1">
              <a:buFont typeface="Wingdings" panose="05000000000000000000" pitchFamily="2" charset="2"/>
              <a:buChar char="Ø"/>
            </a:pPr>
            <a:r>
              <a:rPr lang="zh-CN" altLang="en-US" dirty="0">
                <a:solidFill>
                  <a:srgbClr val="0000FF"/>
                </a:solidFill>
              </a:rPr>
              <a:t>随机过程的基本概念</a:t>
            </a:r>
          </a:p>
          <a:p>
            <a:pPr lvl="1" eaLnBrk="1" hangingPunct="1">
              <a:buClr>
                <a:srgbClr val="FF0000"/>
              </a:buClr>
              <a:buFontTx/>
              <a:buChar char="•"/>
            </a:pPr>
            <a:r>
              <a:rPr lang="zh-CN" altLang="en-US" dirty="0">
                <a:solidFill>
                  <a:srgbClr val="CC00CC"/>
                </a:solidFill>
                <a:latin typeface="黑体" panose="02010609060101010101" pitchFamily="49" charset="-122"/>
              </a:rPr>
              <a:t>随机过程的定义</a:t>
            </a:r>
          </a:p>
          <a:p>
            <a:pPr lvl="1" eaLnBrk="1" hangingPunct="1">
              <a:buClr>
                <a:srgbClr val="FF0000"/>
              </a:buClr>
              <a:buFontTx/>
              <a:buChar char="•"/>
            </a:pPr>
            <a:r>
              <a:rPr lang="zh-CN" altLang="en-US" dirty="0">
                <a:solidFill>
                  <a:srgbClr val="CC00CC"/>
                </a:solidFill>
                <a:latin typeface="黑体" panose="02010609060101010101" pitchFamily="49" charset="-122"/>
              </a:rPr>
              <a:t>随机过程的分布</a:t>
            </a:r>
          </a:p>
          <a:p>
            <a:pPr lvl="1" eaLnBrk="1" hangingPunct="1">
              <a:buClr>
                <a:srgbClr val="FF0000"/>
              </a:buClr>
              <a:buFontTx/>
              <a:buChar char="•"/>
            </a:pPr>
            <a:r>
              <a:rPr lang="zh-CN" altLang="en-US" dirty="0">
                <a:solidFill>
                  <a:srgbClr val="CC00CC"/>
                </a:solidFill>
                <a:latin typeface="黑体" panose="02010609060101010101" pitchFamily="49" charset="-122"/>
              </a:rPr>
              <a:t>随机过程的数字特征</a:t>
            </a:r>
          </a:p>
          <a:p>
            <a:pPr eaLnBrk="1" hangingPunct="1">
              <a:buFont typeface="Wingdings" panose="05000000000000000000" pitchFamily="2" charset="2"/>
              <a:buChar char="Ø"/>
            </a:pPr>
            <a:r>
              <a:rPr lang="zh-CN" altLang="en-US" dirty="0">
                <a:solidFill>
                  <a:srgbClr val="0000FF"/>
                </a:solidFill>
              </a:rPr>
              <a:t>重要随机过程</a:t>
            </a:r>
          </a:p>
          <a:p>
            <a:pPr lvl="1" eaLnBrk="1" hangingPunct="1">
              <a:buClr>
                <a:srgbClr val="FF0000"/>
              </a:buClr>
              <a:buFontTx/>
              <a:buChar char="•"/>
            </a:pPr>
            <a:r>
              <a:rPr lang="zh-CN" altLang="en-US" dirty="0">
                <a:solidFill>
                  <a:srgbClr val="CC00CC"/>
                </a:solidFill>
                <a:latin typeface="黑体" panose="02010609060101010101" pitchFamily="49" charset="-122"/>
              </a:rPr>
              <a:t>独立过程</a:t>
            </a:r>
          </a:p>
          <a:p>
            <a:pPr lvl="1" eaLnBrk="1" hangingPunct="1">
              <a:buClr>
                <a:srgbClr val="FF0000"/>
              </a:buClr>
              <a:buFontTx/>
              <a:buChar char="•"/>
            </a:pPr>
            <a:r>
              <a:rPr lang="zh-CN" altLang="en-US" dirty="0">
                <a:solidFill>
                  <a:srgbClr val="CC00CC"/>
                </a:solidFill>
                <a:latin typeface="黑体" panose="02010609060101010101" pitchFamily="49" charset="-122"/>
              </a:rPr>
              <a:t>独立增量过程</a:t>
            </a:r>
            <a:endParaRPr lang="en-US" altLang="zh-CN" dirty="0">
              <a:solidFill>
                <a:srgbClr val="CC00CC"/>
              </a:solidFill>
              <a:latin typeface="黑体" panose="02010609060101010101" pitchFamily="49" charset="-122"/>
            </a:endParaRPr>
          </a:p>
          <a:p>
            <a:pPr lvl="1">
              <a:buClr>
                <a:srgbClr val="FF0000"/>
              </a:buClr>
              <a:buFontTx/>
              <a:buChar char="•"/>
            </a:pPr>
            <a:r>
              <a:rPr lang="zh-CN" altLang="en-US" dirty="0">
                <a:solidFill>
                  <a:srgbClr val="CC00CC"/>
                </a:solidFill>
                <a:latin typeface="黑体" panose="02010609060101010101" pitchFamily="49" charset="-122"/>
              </a:rPr>
              <a:t>正态过程</a:t>
            </a:r>
            <a:endParaRPr lang="en-US" altLang="zh-CN" dirty="0">
              <a:solidFill>
                <a:srgbClr val="CC00CC"/>
              </a:solidFill>
              <a:latin typeface="黑体" panose="02010609060101010101" pitchFamily="49" charset="-122"/>
            </a:endParaRPr>
          </a:p>
          <a:p>
            <a:pPr lvl="1">
              <a:buClr>
                <a:srgbClr val="FF0000"/>
              </a:buClr>
              <a:buFontTx/>
              <a:buChar char="•"/>
            </a:pPr>
            <a:r>
              <a:rPr lang="zh-CN" altLang="en-US" dirty="0">
                <a:solidFill>
                  <a:srgbClr val="CC00CC"/>
                </a:solidFill>
                <a:latin typeface="黑体" panose="02010609060101010101" pitchFamily="49" charset="-122"/>
              </a:rPr>
              <a:t>维纳过程</a:t>
            </a:r>
            <a:endParaRPr lang="en-US" altLang="zh-CN" dirty="0">
              <a:solidFill>
                <a:srgbClr val="CC00CC"/>
              </a:solidFill>
              <a:latin typeface="黑体" panose="02010609060101010101" pitchFamily="49" charset="-122"/>
            </a:endParaRPr>
          </a:p>
          <a:p>
            <a:pPr lvl="1" eaLnBrk="1" hangingPunct="1">
              <a:buClr>
                <a:srgbClr val="FF0000"/>
              </a:buClr>
              <a:buFontTx/>
              <a:buChar char="•"/>
            </a:pPr>
            <a:endParaRPr lang="zh-CN" altLang="en-US" dirty="0">
              <a:solidFill>
                <a:srgbClr val="CC00CC"/>
              </a:solidFill>
              <a:latin typeface="黑体" panose="02010609060101010101" pitchFamily="49" charset="-122"/>
            </a:endParaRPr>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 calcmode="lin" valueType="num">
                                      <p:cBhvr additive="base">
                                        <p:cTn id="7"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94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9491">
                                            <p:txEl>
                                              <p:pRg st="1" end="1"/>
                                            </p:txEl>
                                          </p:spTgt>
                                        </p:tgtEl>
                                        <p:attrNameLst>
                                          <p:attrName>style.visibility</p:attrName>
                                        </p:attrNameLst>
                                      </p:cBhvr>
                                      <p:to>
                                        <p:strVal val="visible"/>
                                      </p:to>
                                    </p:set>
                                    <p:anim calcmode="lin" valueType="num">
                                      <p:cBhvr additive="base">
                                        <p:cTn id="11" dur="500" fill="hold"/>
                                        <p:tgtEl>
                                          <p:spTgt spid="3194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949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9491">
                                            <p:txEl>
                                              <p:pRg st="2" end="2"/>
                                            </p:txEl>
                                          </p:spTgt>
                                        </p:tgtEl>
                                        <p:attrNameLst>
                                          <p:attrName>style.visibility</p:attrName>
                                        </p:attrNameLst>
                                      </p:cBhvr>
                                      <p:to>
                                        <p:strVal val="visible"/>
                                      </p:to>
                                    </p:set>
                                    <p:anim calcmode="lin" valueType="num">
                                      <p:cBhvr additive="base">
                                        <p:cTn id="15" dur="500" fill="hold"/>
                                        <p:tgtEl>
                                          <p:spTgt spid="31949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949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9491">
                                            <p:txEl>
                                              <p:pRg st="3" end="3"/>
                                            </p:txEl>
                                          </p:spTgt>
                                        </p:tgtEl>
                                        <p:attrNameLst>
                                          <p:attrName>style.visibility</p:attrName>
                                        </p:attrNameLst>
                                      </p:cBhvr>
                                      <p:to>
                                        <p:strVal val="visible"/>
                                      </p:to>
                                    </p:set>
                                    <p:anim calcmode="lin" valueType="num">
                                      <p:cBhvr additive="base">
                                        <p:cTn id="19" dur="500" fill="hold"/>
                                        <p:tgtEl>
                                          <p:spTgt spid="3194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94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9491">
                                            <p:txEl>
                                              <p:pRg st="4" end="4"/>
                                            </p:txEl>
                                          </p:spTgt>
                                        </p:tgtEl>
                                        <p:attrNameLst>
                                          <p:attrName>style.visibility</p:attrName>
                                        </p:attrNameLst>
                                      </p:cBhvr>
                                      <p:to>
                                        <p:strVal val="visible"/>
                                      </p:to>
                                    </p:set>
                                    <p:anim calcmode="lin" valueType="num">
                                      <p:cBhvr additive="base">
                                        <p:cTn id="25" dur="500" fill="hold"/>
                                        <p:tgtEl>
                                          <p:spTgt spid="31949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949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9491">
                                            <p:txEl>
                                              <p:pRg st="5" end="5"/>
                                            </p:txEl>
                                          </p:spTgt>
                                        </p:tgtEl>
                                        <p:attrNameLst>
                                          <p:attrName>style.visibility</p:attrName>
                                        </p:attrNameLst>
                                      </p:cBhvr>
                                      <p:to>
                                        <p:strVal val="visible"/>
                                      </p:to>
                                    </p:set>
                                    <p:anim calcmode="lin" valueType="num">
                                      <p:cBhvr additive="base">
                                        <p:cTn id="29" dur="500" fill="hold"/>
                                        <p:tgtEl>
                                          <p:spTgt spid="31949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1949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19491">
                                            <p:txEl>
                                              <p:pRg st="6" end="6"/>
                                            </p:txEl>
                                          </p:spTgt>
                                        </p:tgtEl>
                                        <p:attrNameLst>
                                          <p:attrName>style.visibility</p:attrName>
                                        </p:attrNameLst>
                                      </p:cBhvr>
                                      <p:to>
                                        <p:strVal val="visible"/>
                                      </p:to>
                                    </p:set>
                                    <p:anim calcmode="lin" valueType="num">
                                      <p:cBhvr additive="base">
                                        <p:cTn id="33" dur="500" fill="hold"/>
                                        <p:tgtEl>
                                          <p:spTgt spid="31949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949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9491">
                                            <p:txEl>
                                              <p:pRg st="7" end="7"/>
                                            </p:txEl>
                                          </p:spTgt>
                                        </p:tgtEl>
                                        <p:attrNameLst>
                                          <p:attrName>style.visibility</p:attrName>
                                        </p:attrNameLst>
                                      </p:cBhvr>
                                      <p:to>
                                        <p:strVal val="visible"/>
                                      </p:to>
                                    </p:set>
                                    <p:anim calcmode="lin" valueType="num">
                                      <p:cBhvr additive="base">
                                        <p:cTn id="37" dur="500" fill="hold"/>
                                        <p:tgtEl>
                                          <p:spTgt spid="31949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949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19491">
                                            <p:txEl>
                                              <p:pRg st="8" end="8"/>
                                            </p:txEl>
                                          </p:spTgt>
                                        </p:tgtEl>
                                        <p:attrNameLst>
                                          <p:attrName>style.visibility</p:attrName>
                                        </p:attrNameLst>
                                      </p:cBhvr>
                                      <p:to>
                                        <p:strVal val="visible"/>
                                      </p:to>
                                    </p:set>
                                    <p:anim calcmode="lin" valueType="num">
                                      <p:cBhvr additive="base">
                                        <p:cTn id="41" dur="500" fill="hold"/>
                                        <p:tgtEl>
                                          <p:spTgt spid="31949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1949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7AD2-0C9C-3D08-7225-D80C87FE18AA}"/>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B18B6EB7-AB4D-9BF2-128D-3CEA4D466C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18" name="TextBox 17">
            <a:extLst>
              <a:ext uri="{FF2B5EF4-FFF2-40B4-BE49-F238E27FC236}">
                <a16:creationId xmlns:a16="http://schemas.microsoft.com/office/drawing/2014/main" id="{50299986-34BE-0E61-7D56-546D71B947E7}"/>
              </a:ext>
            </a:extLst>
          </p:cNvPr>
          <p:cNvSpPr txBox="1"/>
          <p:nvPr/>
        </p:nvSpPr>
        <p:spPr>
          <a:xfrm>
            <a:off x="2593975" y="2667794"/>
            <a:ext cx="7421881"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rPr>
              <a:t>第</a:t>
            </a:r>
            <a:r>
              <a:rPr lang="en-US" altLang="zh-CN" sz="4800" dirty="0">
                <a:solidFill>
                  <a:schemeClr val="bg1"/>
                </a:solidFill>
              </a:rPr>
              <a:t>3.1</a:t>
            </a:r>
            <a:r>
              <a:rPr lang="zh-CN" altLang="en-US" sz="4800" dirty="0">
                <a:solidFill>
                  <a:schemeClr val="bg1"/>
                </a:solidFill>
              </a:rPr>
              <a:t>随机过程的基本概念</a:t>
            </a:r>
          </a:p>
        </p:txBody>
      </p:sp>
    </p:spTree>
    <p:extLst>
      <p:ext uri="{BB962C8B-B14F-4D97-AF65-F5344CB8AC3E}">
        <p14:creationId xmlns:p14="http://schemas.microsoft.com/office/powerpoint/2010/main" val="1857557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a:extLst>
              <a:ext uri="{FF2B5EF4-FFF2-40B4-BE49-F238E27FC236}">
                <a16:creationId xmlns:a16="http://schemas.microsoft.com/office/drawing/2014/main" id="{F77A9BB5-0C0F-3159-4BBB-E179E832639F}"/>
              </a:ext>
            </a:extLst>
          </p:cNvPr>
          <p:cNvSpPr>
            <a:spLocks noChangeArrowheads="1"/>
          </p:cNvSpPr>
          <p:nvPr/>
        </p:nvSpPr>
        <p:spPr bwMode="auto">
          <a:xfrm>
            <a:off x="993775" y="205074"/>
            <a:ext cx="5488199" cy="685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b="1" dirty="0">
                <a:solidFill>
                  <a:schemeClr val="bg1"/>
                </a:solidFill>
                <a:latin typeface="宋体" panose="02010600030101010101" pitchFamily="2" charset="-122"/>
                <a:ea typeface="+mj-ea"/>
                <a:cs typeface="+mj-cs"/>
              </a:rPr>
              <a:t>一、随机过程的引入</a:t>
            </a:r>
          </a:p>
        </p:txBody>
      </p:sp>
      <p:sp>
        <p:nvSpPr>
          <p:cNvPr id="339972" name="Text Box 4">
            <a:extLst>
              <a:ext uri="{FF2B5EF4-FFF2-40B4-BE49-F238E27FC236}">
                <a16:creationId xmlns:a16="http://schemas.microsoft.com/office/drawing/2014/main" id="{8F0623B6-CEA9-9FF7-1457-D04C702BE80E}"/>
              </a:ext>
            </a:extLst>
          </p:cNvPr>
          <p:cNvSpPr txBox="1">
            <a:spLocks noChangeArrowheads="1"/>
          </p:cNvSpPr>
          <p:nvPr/>
        </p:nvSpPr>
        <p:spPr bwMode="auto">
          <a:xfrm>
            <a:off x="688975" y="1219994"/>
            <a:ext cx="10899458"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solidFill>
                  <a:srgbClr val="000066"/>
                </a:solidFill>
                <a:latin typeface="+mn-ea"/>
                <a:ea typeface="+mn-ea"/>
                <a:cs typeface="楷体_GB2312"/>
              </a:rPr>
              <a:t>  </a:t>
            </a:r>
            <a:r>
              <a:rPr lang="zh-CN" altLang="en-US" b="1" dirty="0">
                <a:latin typeface="+mn-ea"/>
                <a:ea typeface="+mn-ea"/>
                <a:cs typeface="楷体_GB2312"/>
              </a:rPr>
              <a:t>在许多实际问题中，不仅需要对随机现象做</a:t>
            </a:r>
            <a:r>
              <a:rPr lang="zh-CN" altLang="en-US" b="1" dirty="0">
                <a:solidFill>
                  <a:srgbClr val="0000FF"/>
                </a:solidFill>
                <a:latin typeface="+mn-ea"/>
                <a:ea typeface="+mn-ea"/>
                <a:cs typeface="楷体_GB2312"/>
              </a:rPr>
              <a:t>特定时间点的一次观察</a:t>
            </a:r>
            <a:r>
              <a:rPr lang="zh-CN" altLang="en-US" b="1" dirty="0">
                <a:latin typeface="+mn-ea"/>
                <a:ea typeface="+mn-ea"/>
                <a:cs typeface="楷体_GB2312"/>
              </a:rPr>
              <a:t>，而且还需要做</a:t>
            </a:r>
            <a:r>
              <a:rPr lang="zh-CN" altLang="en-US" b="1" dirty="0">
                <a:solidFill>
                  <a:srgbClr val="0000FF"/>
                </a:solidFill>
                <a:latin typeface="+mn-ea"/>
                <a:ea typeface="+mn-ea"/>
                <a:cs typeface="楷体_GB2312"/>
              </a:rPr>
              <a:t>连续不断的观察</a:t>
            </a:r>
            <a:r>
              <a:rPr lang="zh-CN" altLang="en-US" b="1" dirty="0">
                <a:latin typeface="+mn-ea"/>
                <a:ea typeface="+mn-ea"/>
                <a:cs typeface="楷体_GB2312"/>
              </a:rPr>
              <a:t>，以</a:t>
            </a:r>
            <a:r>
              <a:rPr lang="zh-CN" altLang="en-US" b="1" dirty="0">
                <a:solidFill>
                  <a:srgbClr val="C00000"/>
                </a:solidFill>
                <a:latin typeface="+mn-ea"/>
                <a:ea typeface="+mn-ea"/>
                <a:cs typeface="楷体_GB2312"/>
              </a:rPr>
              <a:t>观察研究对象随时间推移的演变过程。</a:t>
            </a:r>
            <a:endParaRPr lang="en-US" altLang="zh-CN" dirty="0">
              <a:solidFill>
                <a:srgbClr val="C00000"/>
              </a:solidFill>
              <a:latin typeface="+mn-ea"/>
              <a:ea typeface="+mn-ea"/>
            </a:endParaRPr>
          </a:p>
        </p:txBody>
      </p:sp>
      <p:sp>
        <p:nvSpPr>
          <p:cNvPr id="4" name="Text Box 2">
            <a:extLst>
              <a:ext uri="{FF2B5EF4-FFF2-40B4-BE49-F238E27FC236}">
                <a16:creationId xmlns:a16="http://schemas.microsoft.com/office/drawing/2014/main" id="{481A8E1B-D830-1FF4-7AF6-C6D9538FFEFA}"/>
              </a:ext>
            </a:extLst>
          </p:cNvPr>
          <p:cNvSpPr txBox="1">
            <a:spLocks noChangeArrowheads="1"/>
          </p:cNvSpPr>
          <p:nvPr/>
        </p:nvSpPr>
        <p:spPr bwMode="auto">
          <a:xfrm>
            <a:off x="443886" y="4937537"/>
            <a:ext cx="10611959"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solidFill>
                  <a:srgbClr val="000066"/>
                </a:solidFill>
                <a:latin typeface="+mn-ea"/>
                <a:ea typeface="+mn-ea"/>
                <a:cs typeface="楷体_GB2312"/>
              </a:rPr>
              <a:t>     </a:t>
            </a:r>
            <a:r>
              <a:rPr lang="zh-CN" altLang="en-US" b="1" dirty="0">
                <a:solidFill>
                  <a:srgbClr val="800000"/>
                </a:solidFill>
                <a:latin typeface="+mn-ea"/>
                <a:ea typeface="+mn-ea"/>
                <a:cs typeface="楷体_GB2312"/>
              </a:rPr>
              <a:t>随机过程论：</a:t>
            </a:r>
            <a:r>
              <a:rPr lang="zh-CN" altLang="en-US" b="1" dirty="0">
                <a:solidFill>
                  <a:srgbClr val="000066"/>
                </a:solidFill>
                <a:latin typeface="+mn-ea"/>
                <a:ea typeface="+mn-ea"/>
                <a:cs typeface="楷体_GB2312"/>
              </a:rPr>
              <a:t>研究和描述</a:t>
            </a:r>
            <a:r>
              <a:rPr lang="zh-CN" altLang="en-US" b="1" dirty="0">
                <a:solidFill>
                  <a:srgbClr val="FF0000"/>
                </a:solidFill>
                <a:latin typeface="+mn-ea"/>
                <a:ea typeface="+mn-ea"/>
                <a:cs typeface="楷体_GB2312"/>
              </a:rPr>
              <a:t>随机现象演变的概率统计规律</a:t>
            </a:r>
            <a:r>
              <a:rPr lang="en-US" altLang="zh-CN" b="1" dirty="0">
                <a:solidFill>
                  <a:srgbClr val="000066"/>
                </a:solidFill>
                <a:latin typeface="+mn-ea"/>
                <a:ea typeface="+mn-ea"/>
                <a:cs typeface="楷体_GB2312"/>
              </a:rPr>
              <a:t>.</a:t>
            </a:r>
          </a:p>
        </p:txBody>
      </p:sp>
      <p:sp>
        <p:nvSpPr>
          <p:cNvPr id="5" name="Text Box 3">
            <a:extLst>
              <a:ext uri="{FF2B5EF4-FFF2-40B4-BE49-F238E27FC236}">
                <a16:creationId xmlns:a16="http://schemas.microsoft.com/office/drawing/2014/main" id="{03C53CE1-9289-B3D3-4482-F79A1003CDF2}"/>
              </a:ext>
            </a:extLst>
          </p:cNvPr>
          <p:cNvSpPr txBox="1">
            <a:spLocks noChangeArrowheads="1"/>
          </p:cNvSpPr>
          <p:nvPr/>
        </p:nvSpPr>
        <p:spPr bwMode="auto">
          <a:xfrm>
            <a:off x="406421" y="3124994"/>
            <a:ext cx="1120140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solidFill>
                  <a:srgbClr val="800000"/>
                </a:solidFill>
                <a:latin typeface="+mn-ea"/>
                <a:ea typeface="+mn-ea"/>
                <a:cs typeface="楷体_GB2312"/>
              </a:rPr>
              <a:t>      </a:t>
            </a:r>
            <a:r>
              <a:rPr lang="zh-CN" altLang="en-US" b="1" dirty="0">
                <a:solidFill>
                  <a:srgbClr val="800000"/>
                </a:solidFill>
                <a:latin typeface="+mn-ea"/>
                <a:ea typeface="+mn-ea"/>
                <a:cs typeface="楷体_GB2312"/>
              </a:rPr>
              <a:t>现象特点：</a:t>
            </a:r>
            <a:r>
              <a:rPr lang="zh-CN" altLang="en-US" b="1" dirty="0">
                <a:solidFill>
                  <a:srgbClr val="000066"/>
                </a:solidFill>
                <a:latin typeface="+mn-ea"/>
                <a:ea typeface="+mn-ea"/>
                <a:cs typeface="楷体_GB2312"/>
              </a:rPr>
              <a:t>关注</a:t>
            </a:r>
            <a:r>
              <a:rPr lang="zh-CN" altLang="en-US" b="1" dirty="0">
                <a:solidFill>
                  <a:srgbClr val="FF0000"/>
                </a:solidFill>
                <a:latin typeface="+mn-ea"/>
                <a:ea typeface="+mn-ea"/>
                <a:cs typeface="楷体_GB2312"/>
              </a:rPr>
              <a:t>一族随时间或地点变化的随机变量</a:t>
            </a:r>
            <a:r>
              <a:rPr lang="zh-CN" altLang="en-US" b="1" dirty="0">
                <a:solidFill>
                  <a:srgbClr val="000066"/>
                </a:solidFill>
                <a:latin typeface="+mn-ea"/>
                <a:ea typeface="+mn-ea"/>
                <a:cs typeface="楷体_GB2312"/>
              </a:rPr>
              <a:t>，有自身的统计规律，而且</a:t>
            </a:r>
            <a:endParaRPr lang="en-US" altLang="zh-CN" b="1" dirty="0">
              <a:solidFill>
                <a:srgbClr val="000066"/>
              </a:solidFill>
              <a:latin typeface="+mn-ea"/>
              <a:ea typeface="+mn-ea"/>
              <a:cs typeface="楷体_GB2312"/>
            </a:endParaRPr>
          </a:p>
          <a:p>
            <a:pPr eaLnBrk="1" hangingPunct="1">
              <a:lnSpc>
                <a:spcPct val="150000"/>
              </a:lnSpc>
            </a:pPr>
            <a:r>
              <a:rPr lang="en-US" altLang="zh-CN" b="1" dirty="0">
                <a:solidFill>
                  <a:srgbClr val="000066"/>
                </a:solidFill>
                <a:latin typeface="+mn-ea"/>
                <a:ea typeface="+mn-ea"/>
                <a:cs typeface="楷体_GB2312"/>
              </a:rPr>
              <a:t>                       </a:t>
            </a:r>
            <a:r>
              <a:rPr lang="zh-CN" altLang="en-US" b="1" dirty="0">
                <a:solidFill>
                  <a:srgbClr val="000066"/>
                </a:solidFill>
                <a:latin typeface="+mn-ea"/>
                <a:ea typeface="+mn-ea"/>
                <a:cs typeface="楷体_GB2312"/>
              </a:rPr>
              <a:t>变量间有着内在的关联关系。</a:t>
            </a:r>
            <a:endParaRPr lang="en-US" altLang="zh-CN" b="1" dirty="0">
              <a:solidFill>
                <a:srgbClr val="000066"/>
              </a:solidFill>
              <a:latin typeface="+mn-ea"/>
              <a:ea typeface="+mn-ea"/>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9972"/>
                                        </p:tgtEl>
                                        <p:attrNameLst>
                                          <p:attrName>style.visibility</p:attrName>
                                        </p:attrNameLst>
                                      </p:cBhvr>
                                      <p:to>
                                        <p:strVal val="visible"/>
                                      </p:to>
                                    </p:set>
                                    <p:animEffect transition="in" filter="dissolve">
                                      <p:cBhvr>
                                        <p:cTn id="7" dur="500"/>
                                        <p:tgtEl>
                                          <p:spTgt spid="339972"/>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ppt_x</p:attrName>
                                        </p:attrNameLst>
                                      </p:cBhvr>
                                      <p:tavLst>
                                        <p:tav tm="0">
                                          <p:val>
                                            <p:strVal val="#ppt_x-.2"/>
                                          </p:val>
                                        </p:tav>
                                        <p:tav tm="100000">
                                          <p:val>
                                            <p:strVal val="#ppt_x"/>
                                          </p:val>
                                        </p:tav>
                                      </p:tavLst>
                                    </p:anim>
                                    <p:anim calcmode="lin" valueType="num">
                                      <p:cBhvr>
                                        <p:cTn id="13" dur="10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14" dur="1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2" grpId="0" autoUpdateAnimBg="0"/>
      <p:bldP spid="4" grpId="0" autoUpdateAnimBg="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a:extLst>
              <a:ext uri="{FF2B5EF4-FFF2-40B4-BE49-F238E27FC236}">
                <a16:creationId xmlns:a16="http://schemas.microsoft.com/office/drawing/2014/main" id="{6C6E6695-C27E-B916-5044-A9CB61230429}"/>
              </a:ext>
            </a:extLst>
          </p:cNvPr>
          <p:cNvSpPr>
            <a:spLocks noGrp="1" noChangeArrowheads="1"/>
          </p:cNvSpPr>
          <p:nvPr>
            <p:ph type="title"/>
          </p:nvPr>
        </p:nvSpPr>
        <p:spPr/>
        <p:txBody>
          <a:bodyPr/>
          <a:lstStyle/>
          <a:p>
            <a:pPr eaLnBrk="1" hangingPunct="1"/>
            <a:r>
              <a:rPr lang="zh-CN" altLang="en-US"/>
              <a:t>随机过程的广泛应用</a:t>
            </a:r>
          </a:p>
        </p:txBody>
      </p:sp>
      <p:sp>
        <p:nvSpPr>
          <p:cNvPr id="260099" name="Rectangle 3">
            <a:extLst>
              <a:ext uri="{FF2B5EF4-FFF2-40B4-BE49-F238E27FC236}">
                <a16:creationId xmlns:a16="http://schemas.microsoft.com/office/drawing/2014/main" id="{40156AFF-E018-4BF6-A8AE-15534EC685F5}"/>
              </a:ext>
            </a:extLst>
          </p:cNvPr>
          <p:cNvSpPr>
            <a:spLocks noGrp="1" noChangeArrowheads="1"/>
          </p:cNvSpPr>
          <p:nvPr>
            <p:ph type="body" idx="1"/>
          </p:nvPr>
        </p:nvSpPr>
        <p:spPr>
          <a:xfrm>
            <a:off x="307975" y="1268707"/>
            <a:ext cx="11430000" cy="5030364"/>
          </a:xfrm>
        </p:spPr>
        <p:txBody>
          <a:bodyPr>
            <a:normAutofit/>
          </a:bodyPr>
          <a:lstStyle/>
          <a:p>
            <a:pPr eaLnBrk="1" hangingPunct="1">
              <a:buFont typeface="Wingdings" panose="05000000000000000000" pitchFamily="2" charset="2"/>
              <a:buNone/>
              <a:defRPr/>
            </a:pPr>
            <a:r>
              <a:rPr lang="en-US" altLang="zh-CN" dirty="0">
                <a:latin typeface="宋体" panose="02010600030101010101" pitchFamily="2" charset="-122"/>
              </a:rPr>
              <a:t>       </a:t>
            </a:r>
            <a:r>
              <a:rPr lang="zh-CN" altLang="en-US" dirty="0">
                <a:latin typeface="宋体" panose="02010600030101010101" pitchFamily="2" charset="-122"/>
              </a:rPr>
              <a:t>随机过程理论是近代数学的重要组成部分</a:t>
            </a:r>
            <a:r>
              <a:rPr lang="en-US" altLang="zh-CN" dirty="0">
                <a:latin typeface="宋体" panose="02010600030101010101" pitchFamily="2" charset="-122"/>
              </a:rPr>
              <a:t>,</a:t>
            </a:r>
            <a:r>
              <a:rPr lang="zh-CN" altLang="en-US" dirty="0">
                <a:latin typeface="宋体" panose="02010600030101010101" pitchFamily="2" charset="-122"/>
              </a:rPr>
              <a:t>应用非常广泛</a:t>
            </a:r>
            <a:r>
              <a:rPr lang="en-US" altLang="zh-CN" dirty="0">
                <a:latin typeface="宋体" panose="02010600030101010101" pitchFamily="2" charset="-122"/>
              </a:rPr>
              <a:t>,</a:t>
            </a:r>
            <a:r>
              <a:rPr lang="zh-CN" altLang="en-US" dirty="0">
                <a:latin typeface="宋体" panose="02010600030101010101" pitchFamily="2" charset="-122"/>
              </a:rPr>
              <a:t>实际工程背景强</a:t>
            </a:r>
            <a:r>
              <a:rPr lang="en-US" altLang="zh-CN" dirty="0">
                <a:latin typeface="宋体" panose="02010600030101010101" pitchFamily="2" charset="-122"/>
              </a:rPr>
              <a:t>.</a:t>
            </a:r>
            <a:r>
              <a:rPr lang="zh-CN" altLang="en-US" dirty="0">
                <a:latin typeface="宋体" panose="02010600030101010101" pitchFamily="2" charset="-122"/>
              </a:rPr>
              <a:t>起源于</a:t>
            </a:r>
            <a:r>
              <a:rPr lang="zh-CN" altLang="en-US" dirty="0">
                <a:solidFill>
                  <a:srgbClr val="FF0000"/>
                </a:solidFill>
                <a:latin typeface="宋体" panose="02010600030101010101" pitchFamily="2" charset="-122"/>
              </a:rPr>
              <a:t>统计物理学</a:t>
            </a:r>
            <a:r>
              <a:rPr lang="zh-CN" altLang="en-US" dirty="0">
                <a:latin typeface="宋体" panose="02010600030101010101" pitchFamily="2" charset="-122"/>
              </a:rPr>
              <a:t>领域，</a:t>
            </a:r>
            <a:r>
              <a:rPr lang="zh-CN" altLang="en-US" dirty="0">
                <a:solidFill>
                  <a:srgbClr val="0000FF"/>
                </a:solidFill>
                <a:latin typeface="宋体" panose="02010600030101010101" pitchFamily="2" charset="-122"/>
              </a:rPr>
              <a:t>布朗运动和热噪声</a:t>
            </a:r>
            <a:r>
              <a:rPr lang="zh-CN" altLang="en-US" dirty="0">
                <a:latin typeface="宋体" panose="02010600030101010101" pitchFamily="2" charset="-122"/>
              </a:rPr>
              <a:t>是随机过程的最早例子。</a:t>
            </a:r>
          </a:p>
          <a:p>
            <a:pPr eaLnBrk="1" hangingPunct="1">
              <a:buFont typeface="Wingdings" panose="05000000000000000000" pitchFamily="2" charset="2"/>
              <a:buNone/>
              <a:defRPr/>
            </a:pPr>
            <a:r>
              <a:rPr lang="zh-CN" altLang="en-US" dirty="0">
                <a:latin typeface="宋体" panose="02010600030101010101" pitchFamily="2" charset="-122"/>
              </a:rPr>
              <a:t>        随机过程理论在</a:t>
            </a:r>
            <a:r>
              <a:rPr lang="zh-CN" altLang="en-US" dirty="0">
                <a:solidFill>
                  <a:srgbClr val="0000FF"/>
                </a:solidFill>
                <a:latin typeface="宋体" panose="02010600030101010101" pitchFamily="2" charset="-122"/>
              </a:rPr>
              <a:t>社会科学</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自然科学</a:t>
            </a:r>
            <a:r>
              <a:rPr lang="zh-CN" altLang="en-US" dirty="0">
                <a:latin typeface="宋体" panose="02010600030101010101" pitchFamily="2" charset="-122"/>
              </a:rPr>
              <a:t>和</a:t>
            </a:r>
            <a:r>
              <a:rPr lang="zh-CN" altLang="en-US" dirty="0">
                <a:solidFill>
                  <a:srgbClr val="0000FF"/>
                </a:solidFill>
                <a:latin typeface="宋体" panose="02010600030101010101" pitchFamily="2" charset="-122"/>
              </a:rPr>
              <a:t>工程技术的各个领域</a:t>
            </a:r>
            <a:r>
              <a:rPr lang="zh-CN" altLang="en-US" dirty="0">
                <a:latin typeface="宋体" panose="02010600030101010101" pitchFamily="2" charset="-122"/>
              </a:rPr>
              <a:t>中都有着广泛的应用。例如：</a:t>
            </a:r>
            <a:r>
              <a:rPr lang="zh-CN" altLang="en-US" dirty="0">
                <a:solidFill>
                  <a:srgbClr val="0000FF"/>
                </a:solidFill>
                <a:latin typeface="宋体" panose="02010600030101010101" pitchFamily="2" charset="-122"/>
              </a:rPr>
              <a:t>现代电子技术</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现代通信</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自动控制</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系统工程的可靠性工程</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市场经济的预测和控制</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随机服务系统的排队论</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储存论</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生物医学工程</a:t>
            </a:r>
            <a:r>
              <a:rPr lang="zh-CN" altLang="en-US" dirty="0">
                <a:latin typeface="宋体" panose="02010600030101010101" pitchFamily="2" charset="-122"/>
              </a:rPr>
              <a:t>、</a:t>
            </a:r>
            <a:r>
              <a:rPr lang="zh-CN" altLang="en-US" dirty="0">
                <a:solidFill>
                  <a:srgbClr val="0000FF"/>
                </a:solidFill>
                <a:latin typeface="宋体" panose="02010600030101010101" pitchFamily="2" charset="-122"/>
              </a:rPr>
              <a:t>人口的预测和控制</a:t>
            </a:r>
            <a:r>
              <a:rPr lang="zh-CN" altLang="en-US" dirty="0">
                <a:latin typeface="宋体" panose="02010600030101010101" pitchFamily="2" charset="-122"/>
              </a:rPr>
              <a:t>等等。</a:t>
            </a:r>
          </a:p>
          <a:p>
            <a:pPr eaLnBrk="1" hangingPunct="1">
              <a:buFont typeface="Wingdings" panose="05000000000000000000" pitchFamily="2" charset="2"/>
              <a:buNone/>
              <a:defRPr/>
            </a:pPr>
            <a:r>
              <a:rPr lang="zh-CN" altLang="en-US" dirty="0">
                <a:latin typeface="宋体" panose="02010600030101010101" pitchFamily="2" charset="-122"/>
              </a:rPr>
              <a:t>	    </a:t>
            </a:r>
            <a:r>
              <a:rPr lang="zh-CN" altLang="en-US" dirty="0">
                <a:solidFill>
                  <a:srgbClr val="CC00CC"/>
                </a:solidFill>
                <a:latin typeface="宋体" panose="02010600030101010101" pitchFamily="2" charset="-122"/>
              </a:rPr>
              <a:t>只要研究</a:t>
            </a:r>
            <a:r>
              <a:rPr lang="zh-CN" altLang="en-US" dirty="0">
                <a:solidFill>
                  <a:srgbClr val="CC00CC"/>
                </a:solidFill>
                <a:effectLst>
                  <a:outerShdw blurRad="38100" dist="38100" dir="2700000" algn="tl">
                    <a:srgbClr val="C0C0C0"/>
                  </a:outerShdw>
                </a:effectLst>
                <a:latin typeface="宋体" panose="02010600030101010101" pitchFamily="2" charset="-122"/>
              </a:rPr>
              <a:t>随时间变化的动态系统的随机现象的统计规律</a:t>
            </a:r>
            <a:r>
              <a:rPr lang="zh-CN" altLang="en-US" dirty="0">
                <a:solidFill>
                  <a:srgbClr val="CC00CC"/>
                </a:solidFill>
                <a:latin typeface="宋体" panose="02010600030101010101" pitchFamily="2" charset="-122"/>
              </a:rPr>
              <a:t>，就要用到随机过程的理论。</a:t>
            </a:r>
          </a:p>
        </p:txBody>
      </p:sp>
      <p:sp>
        <p:nvSpPr>
          <p:cNvPr id="260100" name="Text Box 4">
            <a:extLst>
              <a:ext uri="{FF2B5EF4-FFF2-40B4-BE49-F238E27FC236}">
                <a16:creationId xmlns:a16="http://schemas.microsoft.com/office/drawing/2014/main" id="{79CC2692-4575-9C3B-84EF-E685C506674B}"/>
              </a:ext>
            </a:extLst>
          </p:cNvPr>
          <p:cNvSpPr txBox="1">
            <a:spLocks noChangeArrowheads="1"/>
          </p:cNvSpPr>
          <p:nvPr/>
        </p:nvSpPr>
        <p:spPr bwMode="auto">
          <a:xfrm>
            <a:off x="2713842" y="188957"/>
            <a:ext cx="7489971" cy="63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201" b="1">
                <a:solidFill>
                  <a:srgbClr val="000066"/>
                </a:solidFill>
                <a:ea typeface="楷体_GB2312"/>
                <a:cs typeface="楷体_GB231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0099">
                                            <p:txEl>
                                              <p:pRg st="0" end="0"/>
                                            </p:txEl>
                                          </p:spTgt>
                                        </p:tgtEl>
                                        <p:attrNameLst>
                                          <p:attrName>style.visibility</p:attrName>
                                        </p:attrNameLst>
                                      </p:cBhvr>
                                      <p:to>
                                        <p:strVal val="visible"/>
                                      </p:to>
                                    </p:set>
                                    <p:anim calcmode="lin" valueType="num">
                                      <p:cBhvr additive="base">
                                        <p:cTn id="7" dur="500" fill="hold"/>
                                        <p:tgtEl>
                                          <p:spTgt spid="260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0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0099">
                                            <p:txEl>
                                              <p:pRg st="1" end="1"/>
                                            </p:txEl>
                                          </p:spTgt>
                                        </p:tgtEl>
                                        <p:attrNameLst>
                                          <p:attrName>style.visibility</p:attrName>
                                        </p:attrNameLst>
                                      </p:cBhvr>
                                      <p:to>
                                        <p:strVal val="visible"/>
                                      </p:to>
                                    </p:set>
                                    <p:anim calcmode="lin" valueType="num">
                                      <p:cBhvr additive="base">
                                        <p:cTn id="13" dur="500" fill="hold"/>
                                        <p:tgtEl>
                                          <p:spTgt spid="260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0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0099">
                                            <p:txEl>
                                              <p:pRg st="2" end="2"/>
                                            </p:txEl>
                                          </p:spTgt>
                                        </p:tgtEl>
                                        <p:attrNameLst>
                                          <p:attrName>style.visibility</p:attrName>
                                        </p:attrNameLst>
                                      </p:cBhvr>
                                      <p:to>
                                        <p:strVal val="visible"/>
                                      </p:to>
                                    </p:set>
                                    <p:anim calcmode="lin" valueType="num">
                                      <p:cBhvr additive="base">
                                        <p:cTn id="19" dur="500" fill="hold"/>
                                        <p:tgtEl>
                                          <p:spTgt spid="2600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00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60100"/>
                                        </p:tgtEl>
                                        <p:attrNameLst>
                                          <p:attrName>style.visibility</p:attrName>
                                        </p:attrNameLst>
                                      </p:cBhvr>
                                      <p:to>
                                        <p:strVal val="visible"/>
                                      </p:to>
                                    </p:set>
                                    <p:animEffect transition="in" filter="wipe(left)">
                                      <p:cBhvr>
                                        <p:cTn id="25" dur="500"/>
                                        <p:tgtEl>
                                          <p:spTgt spid="260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build="p"/>
      <p:bldP spid="260100"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1130" name="Rectangle 10">
            <a:extLst>
              <a:ext uri="{FF2B5EF4-FFF2-40B4-BE49-F238E27FC236}">
                <a16:creationId xmlns:a16="http://schemas.microsoft.com/office/drawing/2014/main" id="{96908396-D170-B66D-CB88-DCD6B6BF6450}"/>
              </a:ext>
            </a:extLst>
          </p:cNvPr>
          <p:cNvSpPr>
            <a:spLocks noChangeArrowheads="1"/>
          </p:cNvSpPr>
          <p:nvPr/>
        </p:nvSpPr>
        <p:spPr bwMode="auto">
          <a:xfrm>
            <a:off x="575309" y="5042336"/>
            <a:ext cx="10948955" cy="1595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algn="just" eaLnBrk="1" hangingPunct="1">
              <a:lnSpc>
                <a:spcPct val="150000"/>
              </a:lnSpc>
              <a:buClr>
                <a:srgbClr val="FF0000"/>
              </a:buClr>
              <a:buFont typeface="Wingdings" panose="05000000000000000000" pitchFamily="2" charset="2"/>
              <a:buNone/>
            </a:pPr>
            <a:r>
              <a:rPr lang="en-US" altLang="zh-CN" dirty="0">
                <a:latin typeface="+mn-ea"/>
                <a:ea typeface="+mn-ea"/>
              </a:rPr>
              <a:t>	</a:t>
            </a:r>
            <a:r>
              <a:rPr lang="zh-CN" altLang="en-US" dirty="0">
                <a:latin typeface="+mn-ea"/>
                <a:ea typeface="+mn-ea"/>
              </a:rPr>
              <a:t>设有一个生物群体，由于繁殖而产生后代，对于固定的</a:t>
            </a:r>
            <a:r>
              <a:rPr lang="en-US" altLang="zh-CN" dirty="0">
                <a:latin typeface="+mn-ea"/>
                <a:ea typeface="+mn-ea"/>
              </a:rPr>
              <a:t>n(n≥1)</a:t>
            </a:r>
            <a:r>
              <a:rPr lang="zh-CN" altLang="en-US" dirty="0">
                <a:latin typeface="+mn-ea"/>
                <a:ea typeface="+mn-ea"/>
              </a:rPr>
              <a:t>，令</a:t>
            </a:r>
            <a:r>
              <a:rPr lang="en-US" altLang="zh-CN" dirty="0">
                <a:latin typeface="+mn-ea"/>
                <a:ea typeface="+mn-ea"/>
              </a:rPr>
              <a:t>X(n,</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表示第</a:t>
            </a:r>
            <a:r>
              <a:rPr lang="en-US" altLang="zh-CN" dirty="0">
                <a:latin typeface="+mn-ea"/>
                <a:ea typeface="+mn-ea"/>
              </a:rPr>
              <a:t>n</a:t>
            </a:r>
            <a:r>
              <a:rPr lang="zh-CN" altLang="en-US" dirty="0">
                <a:latin typeface="+mn-ea"/>
                <a:ea typeface="+mn-ea"/>
              </a:rPr>
              <a:t>代生物群体的个数，</a:t>
            </a:r>
            <a:r>
              <a:rPr lang="en-US" altLang="zh-CN" dirty="0">
                <a:latin typeface="+mn-ea"/>
                <a:ea typeface="+mn-ea"/>
              </a:rPr>
              <a:t>X(n,</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是随机变量，可取非负整数值</a:t>
            </a:r>
            <a:r>
              <a:rPr lang="en-US" altLang="zh-CN" dirty="0">
                <a:latin typeface="+mn-ea"/>
                <a:ea typeface="+mn-ea"/>
              </a:rPr>
              <a:t>0,1,2,…</a:t>
            </a:r>
            <a:r>
              <a:rPr lang="zh-CN" altLang="en-US" dirty="0">
                <a:latin typeface="+mn-ea"/>
                <a:ea typeface="+mn-ea"/>
              </a:rPr>
              <a:t>，而</a:t>
            </a:r>
            <a:r>
              <a:rPr lang="en-US" altLang="zh-CN" dirty="0">
                <a:latin typeface="+mn-ea"/>
                <a:ea typeface="+mn-ea"/>
              </a:rPr>
              <a:t>X(n,</a:t>
            </a:r>
            <a:r>
              <a:rPr lang="en-US" altLang="zh-CN" dirty="0">
                <a:latin typeface="+mn-ea"/>
                <a:ea typeface="+mn-ea"/>
                <a:sym typeface="Symbol" panose="05050102010706020507" pitchFamily="18" charset="2"/>
              </a:rPr>
              <a:t></a:t>
            </a:r>
            <a:r>
              <a:rPr lang="en-US" altLang="zh-CN" dirty="0">
                <a:latin typeface="+mn-ea"/>
                <a:ea typeface="+mn-ea"/>
              </a:rPr>
              <a:t>),n=0,1,2,…</a:t>
            </a:r>
            <a:r>
              <a:rPr lang="zh-CN" altLang="en-US" dirty="0">
                <a:latin typeface="+mn-ea"/>
                <a:ea typeface="+mn-ea"/>
              </a:rPr>
              <a:t>是一族随机变量，即一个随机过程。</a:t>
            </a:r>
          </a:p>
        </p:txBody>
      </p:sp>
      <p:sp>
        <p:nvSpPr>
          <p:cNvPr id="17414" name="Rectangle 2">
            <a:extLst>
              <a:ext uri="{FF2B5EF4-FFF2-40B4-BE49-F238E27FC236}">
                <a16:creationId xmlns:a16="http://schemas.microsoft.com/office/drawing/2014/main" id="{3481923E-7C44-F181-5349-AC0973F23584}"/>
              </a:ext>
            </a:extLst>
          </p:cNvPr>
          <p:cNvSpPr>
            <a:spLocks noGrp="1" noChangeArrowheads="1"/>
          </p:cNvSpPr>
          <p:nvPr>
            <p:ph type="title"/>
          </p:nvPr>
        </p:nvSpPr>
        <p:spPr/>
        <p:txBody>
          <a:bodyPr/>
          <a:lstStyle/>
          <a:p>
            <a:pPr algn="l" eaLnBrk="1" hangingPunct="1"/>
            <a:r>
              <a:rPr lang="zh-CN" altLang="en-US"/>
              <a:t>例</a:t>
            </a:r>
          </a:p>
        </p:txBody>
      </p:sp>
      <p:sp>
        <p:nvSpPr>
          <p:cNvPr id="261123" name="Rectangle 3">
            <a:extLst>
              <a:ext uri="{FF2B5EF4-FFF2-40B4-BE49-F238E27FC236}">
                <a16:creationId xmlns:a16="http://schemas.microsoft.com/office/drawing/2014/main" id="{6B6AB298-4AE9-A4DA-98DE-A50243CF18D4}"/>
              </a:ext>
            </a:extLst>
          </p:cNvPr>
          <p:cNvSpPr>
            <a:spLocks noGrp="1" noChangeArrowheads="1"/>
          </p:cNvSpPr>
          <p:nvPr>
            <p:ph type="body" idx="1"/>
          </p:nvPr>
        </p:nvSpPr>
        <p:spPr>
          <a:xfrm>
            <a:off x="305714" y="1025287"/>
            <a:ext cx="3074111" cy="658966"/>
          </a:xfrm>
        </p:spPr>
        <p:txBody>
          <a:bodyPr anchor="ctr">
            <a:noAutofit/>
          </a:bodyPr>
          <a:lstStyle/>
          <a:p>
            <a:pPr marL="342969" indent="-342969">
              <a:buClr>
                <a:srgbClr val="FF0000"/>
              </a:buClr>
              <a:buFont typeface="Wingdings" panose="05000000000000000000" pitchFamily="2" charset="2"/>
              <a:buChar char="v"/>
            </a:pPr>
            <a:r>
              <a:rPr lang="zh-CN" altLang="en-US" dirty="0">
                <a:solidFill>
                  <a:srgbClr val="0000FF"/>
                </a:solidFill>
              </a:rPr>
              <a:t>电话问题</a:t>
            </a:r>
            <a:endParaRPr lang="zh-CN" altLang="en-US" dirty="0"/>
          </a:p>
        </p:txBody>
      </p:sp>
      <p:sp>
        <p:nvSpPr>
          <p:cNvPr id="261124" name="Rectangle 4">
            <a:extLst>
              <a:ext uri="{FF2B5EF4-FFF2-40B4-BE49-F238E27FC236}">
                <a16:creationId xmlns:a16="http://schemas.microsoft.com/office/drawing/2014/main" id="{E11A87F7-C7DE-E960-DD58-8B4AD62EF671}"/>
              </a:ext>
            </a:extLst>
          </p:cNvPr>
          <p:cNvSpPr>
            <a:spLocks noChangeArrowheads="1"/>
          </p:cNvSpPr>
          <p:nvPr/>
        </p:nvSpPr>
        <p:spPr bwMode="auto">
          <a:xfrm>
            <a:off x="612775" y="1635298"/>
            <a:ext cx="10876916" cy="159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algn="just" eaLnBrk="1" hangingPunct="1">
              <a:lnSpc>
                <a:spcPct val="150000"/>
              </a:lnSpc>
              <a:buClr>
                <a:srgbClr val="FF0000"/>
              </a:buClr>
              <a:buFont typeface="Wingdings" panose="05000000000000000000" pitchFamily="2" charset="2"/>
              <a:buNone/>
            </a:pPr>
            <a:r>
              <a:rPr lang="en-US" altLang="zh-CN" dirty="0">
                <a:latin typeface="+mn-ea"/>
                <a:ea typeface="+mn-ea"/>
              </a:rPr>
              <a:t>	</a:t>
            </a:r>
            <a:r>
              <a:rPr lang="zh-CN" altLang="en-US" dirty="0">
                <a:latin typeface="+mn-ea"/>
                <a:ea typeface="+mn-ea"/>
              </a:rPr>
              <a:t>设</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表示某电话台在</a:t>
            </a:r>
            <a:r>
              <a:rPr lang="en-US" altLang="zh-CN" dirty="0">
                <a:latin typeface="+mn-ea"/>
                <a:ea typeface="+mn-ea"/>
              </a:rPr>
              <a:t>[0,t)</a:t>
            </a:r>
            <a:r>
              <a:rPr lang="zh-CN" altLang="en-US" dirty="0">
                <a:latin typeface="+mn-ea"/>
                <a:ea typeface="+mn-ea"/>
              </a:rPr>
              <a:t>时间内收到用户的呼唤次数。对某个固定的</a:t>
            </a:r>
            <a:r>
              <a:rPr lang="en-US" altLang="zh-CN" dirty="0">
                <a:latin typeface="+mn-ea"/>
                <a:ea typeface="+mn-ea"/>
              </a:rPr>
              <a:t>t(0</a:t>
            </a:r>
            <a:r>
              <a:rPr lang="en-US" altLang="zh-CN" dirty="0">
                <a:latin typeface="+mn-ea"/>
                <a:ea typeface="+mn-ea"/>
                <a:sym typeface="Symbol" panose="05050102010706020507" pitchFamily="18" charset="2"/>
              </a:rPr>
              <a:t>t</a:t>
            </a:r>
            <a:r>
              <a:rPr lang="en-US" altLang="zh-CN" dirty="0">
                <a:latin typeface="+mn-ea"/>
                <a:ea typeface="+mn-ea"/>
              </a:rPr>
              <a:t>)</a:t>
            </a:r>
            <a:r>
              <a:rPr lang="zh-CN" altLang="en-US" dirty="0">
                <a:latin typeface="+mn-ea"/>
                <a:ea typeface="+mn-ea"/>
              </a:rPr>
              <a:t>，</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是一个随机变量，它可以是任意非负整数，随着时间</a:t>
            </a:r>
            <a:r>
              <a:rPr lang="en-US" altLang="zh-CN" dirty="0">
                <a:latin typeface="+mn-ea"/>
                <a:ea typeface="+mn-ea"/>
              </a:rPr>
              <a:t>t</a:t>
            </a:r>
            <a:r>
              <a:rPr lang="zh-CN" altLang="en-US" dirty="0">
                <a:latin typeface="+mn-ea"/>
                <a:ea typeface="+mn-ea"/>
              </a:rPr>
              <a:t>的变化，就得到一族随机变量</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a:t>
            </a:r>
            <a:r>
              <a:rPr lang="en-US" altLang="zh-CN" dirty="0">
                <a:latin typeface="+mn-ea"/>
                <a:ea typeface="+mn-ea"/>
              </a:rPr>
              <a:t>0</a:t>
            </a:r>
            <a:r>
              <a:rPr lang="en-US" altLang="zh-CN" dirty="0">
                <a:latin typeface="+mn-ea"/>
                <a:ea typeface="+mn-ea"/>
                <a:sym typeface="Symbol" panose="05050102010706020507" pitchFamily="18" charset="2"/>
              </a:rPr>
              <a:t>t</a:t>
            </a:r>
            <a:r>
              <a:rPr lang="zh-CN" altLang="en-US" dirty="0">
                <a:latin typeface="+mn-ea"/>
                <a:ea typeface="+mn-ea"/>
                <a:sym typeface="Symbol" panose="05050102010706020507" pitchFamily="18" charset="2"/>
              </a:rPr>
              <a:t>，</a:t>
            </a:r>
            <a:r>
              <a:rPr lang="zh-CN" altLang="en-US" dirty="0">
                <a:latin typeface="+mn-ea"/>
                <a:ea typeface="+mn-ea"/>
              </a:rPr>
              <a:t>即一个随机过程。</a:t>
            </a:r>
          </a:p>
        </p:txBody>
      </p:sp>
      <p:sp>
        <p:nvSpPr>
          <p:cNvPr id="261125" name="Rectangle 5">
            <a:extLst>
              <a:ext uri="{FF2B5EF4-FFF2-40B4-BE49-F238E27FC236}">
                <a16:creationId xmlns:a16="http://schemas.microsoft.com/office/drawing/2014/main" id="{F2E0459E-CF5F-79D8-A457-4711BF62A214}"/>
              </a:ext>
            </a:extLst>
          </p:cNvPr>
          <p:cNvSpPr>
            <a:spLocks noChangeArrowheads="1"/>
          </p:cNvSpPr>
          <p:nvPr/>
        </p:nvSpPr>
        <p:spPr bwMode="auto">
          <a:xfrm>
            <a:off x="578201" y="2764650"/>
            <a:ext cx="10876916" cy="159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algn="just" eaLnBrk="1" hangingPunct="1">
              <a:lnSpc>
                <a:spcPct val="150000"/>
              </a:lnSpc>
              <a:buClr>
                <a:srgbClr val="FF0000"/>
              </a:buClr>
              <a:buFont typeface="Wingdings" panose="05000000000000000000" pitchFamily="2" charset="2"/>
              <a:buNone/>
            </a:pPr>
            <a:r>
              <a:rPr lang="en-US" altLang="zh-CN" dirty="0">
                <a:latin typeface="+mn-ea"/>
                <a:ea typeface="+mn-ea"/>
              </a:rPr>
              <a:t>	</a:t>
            </a:r>
            <a:r>
              <a:rPr lang="zh-CN" altLang="en-US" dirty="0">
                <a:latin typeface="+mn-ea"/>
                <a:ea typeface="+mn-ea"/>
              </a:rPr>
              <a:t>悬浮在液体中的微粒由于分子的随机碰撞而作布朗运动。设</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表示时刻</a:t>
            </a:r>
            <a:r>
              <a:rPr lang="en-US" altLang="zh-CN" dirty="0">
                <a:latin typeface="+mn-ea"/>
                <a:ea typeface="+mn-ea"/>
              </a:rPr>
              <a:t>t</a:t>
            </a:r>
            <a:r>
              <a:rPr lang="zh-CN" altLang="en-US" dirty="0">
                <a:latin typeface="+mn-ea"/>
                <a:ea typeface="+mn-ea"/>
              </a:rPr>
              <a:t>微粒所处位置的横座标，当</a:t>
            </a:r>
            <a:r>
              <a:rPr lang="en-US" altLang="zh-CN" dirty="0">
                <a:latin typeface="+mn-ea"/>
                <a:ea typeface="+mn-ea"/>
              </a:rPr>
              <a:t>t</a:t>
            </a:r>
            <a:r>
              <a:rPr lang="zh-CN" altLang="en-US" dirty="0">
                <a:latin typeface="+mn-ea"/>
                <a:ea typeface="+mn-ea"/>
              </a:rPr>
              <a:t>变化时，</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a:t>
            </a:r>
            <a:r>
              <a:rPr lang="en-US" altLang="zh-CN" dirty="0">
                <a:latin typeface="+mn-ea"/>
                <a:ea typeface="+mn-ea"/>
              </a:rPr>
              <a:t>0</a:t>
            </a:r>
            <a:r>
              <a:rPr lang="en-US" altLang="zh-CN" dirty="0">
                <a:latin typeface="+mn-ea"/>
                <a:ea typeface="+mn-ea"/>
                <a:sym typeface="Symbol" panose="05050102010706020507" pitchFamily="18" charset="2"/>
              </a:rPr>
              <a:t>t</a:t>
            </a:r>
            <a:r>
              <a:rPr lang="zh-CN" altLang="en-US" dirty="0">
                <a:latin typeface="+mn-ea"/>
                <a:ea typeface="+mn-ea"/>
                <a:sym typeface="Symbol" panose="05050102010706020507" pitchFamily="18" charset="2"/>
              </a:rPr>
              <a:t>，是</a:t>
            </a:r>
            <a:r>
              <a:rPr lang="zh-CN" altLang="en-US" dirty="0">
                <a:latin typeface="+mn-ea"/>
                <a:ea typeface="+mn-ea"/>
              </a:rPr>
              <a:t>一族随机变量</a:t>
            </a:r>
            <a:r>
              <a:rPr lang="zh-CN" altLang="en-US" dirty="0">
                <a:latin typeface="+mn-ea"/>
                <a:ea typeface="+mn-ea"/>
                <a:sym typeface="Symbol" panose="05050102010706020507" pitchFamily="18" charset="2"/>
              </a:rPr>
              <a:t>，</a:t>
            </a:r>
            <a:r>
              <a:rPr lang="zh-CN" altLang="en-US" dirty="0">
                <a:latin typeface="+mn-ea"/>
                <a:ea typeface="+mn-ea"/>
              </a:rPr>
              <a:t>即一个随机过程。</a:t>
            </a:r>
          </a:p>
        </p:txBody>
      </p:sp>
      <p:sp>
        <p:nvSpPr>
          <p:cNvPr id="261126" name="Rectangle 6">
            <a:extLst>
              <a:ext uri="{FF2B5EF4-FFF2-40B4-BE49-F238E27FC236}">
                <a16:creationId xmlns:a16="http://schemas.microsoft.com/office/drawing/2014/main" id="{E19EC466-AA7C-1B2D-6FE9-4EE57D6CBEFE}"/>
              </a:ext>
            </a:extLst>
          </p:cNvPr>
          <p:cNvSpPr>
            <a:spLocks noChangeArrowheads="1"/>
          </p:cNvSpPr>
          <p:nvPr/>
        </p:nvSpPr>
        <p:spPr bwMode="auto">
          <a:xfrm>
            <a:off x="612775" y="3811772"/>
            <a:ext cx="10876916" cy="159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42900" indent="-3429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algn="just" eaLnBrk="1" hangingPunct="1">
              <a:lnSpc>
                <a:spcPct val="150000"/>
              </a:lnSpc>
              <a:buClr>
                <a:srgbClr val="FF0000"/>
              </a:buClr>
              <a:buFont typeface="Wingdings" panose="05000000000000000000" pitchFamily="2" charset="2"/>
              <a:buNone/>
            </a:pPr>
            <a:r>
              <a:rPr lang="en-US" altLang="zh-CN" dirty="0">
                <a:latin typeface="+mn-ea"/>
                <a:ea typeface="+mn-ea"/>
              </a:rPr>
              <a:t>	</a:t>
            </a:r>
            <a:r>
              <a:rPr lang="zh-CN" altLang="en-US" dirty="0">
                <a:latin typeface="+mn-ea"/>
                <a:ea typeface="+mn-ea"/>
              </a:rPr>
              <a:t>电子元件或器件由于内部电子的随机热运动所引起的端电压</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称为热噪声电压。对于固定的</a:t>
            </a:r>
            <a:r>
              <a:rPr lang="en-US" altLang="zh-CN" dirty="0">
                <a:latin typeface="+mn-ea"/>
                <a:ea typeface="+mn-ea"/>
              </a:rPr>
              <a:t>t</a:t>
            </a:r>
            <a:r>
              <a:rPr lang="en-US" altLang="zh-CN" dirty="0">
                <a:latin typeface="+mn-ea"/>
                <a:ea typeface="+mn-ea"/>
                <a:sym typeface="Symbol" panose="05050102010706020507" pitchFamily="18" charset="2"/>
              </a:rPr>
              <a:t>0</a:t>
            </a:r>
            <a:r>
              <a:rPr lang="zh-CN" altLang="en-US" dirty="0">
                <a:latin typeface="+mn-ea"/>
                <a:ea typeface="+mn-ea"/>
                <a:sym typeface="Symbol" panose="05050102010706020507" pitchFamily="18" charset="2"/>
              </a:rPr>
              <a:t>，</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是一个随机变量，随着</a:t>
            </a:r>
            <a:r>
              <a:rPr lang="en-US" altLang="zh-CN" dirty="0">
                <a:latin typeface="+mn-ea"/>
                <a:ea typeface="+mn-ea"/>
              </a:rPr>
              <a:t>t</a:t>
            </a:r>
            <a:r>
              <a:rPr lang="zh-CN" altLang="en-US" dirty="0">
                <a:latin typeface="+mn-ea"/>
                <a:ea typeface="+mn-ea"/>
              </a:rPr>
              <a:t>的变化得到一族随机变量</a:t>
            </a:r>
            <a:r>
              <a:rPr lang="en-US" altLang="zh-CN" dirty="0">
                <a:latin typeface="+mn-ea"/>
                <a:ea typeface="+mn-ea"/>
              </a:rPr>
              <a:t>X(t,</a:t>
            </a:r>
            <a:r>
              <a:rPr lang="en-US" altLang="zh-CN" dirty="0">
                <a:latin typeface="+mn-ea"/>
                <a:ea typeface="+mn-ea"/>
                <a:sym typeface="Symbol" panose="05050102010706020507" pitchFamily="18" charset="2"/>
              </a:rPr>
              <a:t></a:t>
            </a:r>
            <a:r>
              <a:rPr lang="en-US" altLang="zh-CN" dirty="0">
                <a:latin typeface="+mn-ea"/>
                <a:ea typeface="+mn-ea"/>
              </a:rPr>
              <a:t>)</a:t>
            </a:r>
            <a:r>
              <a:rPr lang="zh-CN" altLang="en-US" dirty="0">
                <a:latin typeface="+mn-ea"/>
                <a:ea typeface="+mn-ea"/>
              </a:rPr>
              <a:t>，</a:t>
            </a:r>
            <a:r>
              <a:rPr lang="en-US" altLang="zh-CN" dirty="0">
                <a:latin typeface="+mn-ea"/>
                <a:ea typeface="+mn-ea"/>
                <a:sym typeface="Symbol" panose="05050102010706020507" pitchFamily="18" charset="2"/>
              </a:rPr>
              <a:t>t0</a:t>
            </a:r>
            <a:r>
              <a:rPr lang="zh-CN" altLang="en-US" dirty="0">
                <a:latin typeface="+mn-ea"/>
                <a:ea typeface="+mn-ea"/>
                <a:sym typeface="Symbol" panose="05050102010706020507" pitchFamily="18" charset="2"/>
              </a:rPr>
              <a:t>，是</a:t>
            </a:r>
            <a:r>
              <a:rPr lang="zh-CN" altLang="en-US" dirty="0">
                <a:latin typeface="+mn-ea"/>
                <a:ea typeface="+mn-ea"/>
              </a:rPr>
              <a:t>一个随机过程。</a:t>
            </a:r>
          </a:p>
        </p:txBody>
      </p:sp>
      <p:sp>
        <p:nvSpPr>
          <p:cNvPr id="261127" name="Rectangle 7">
            <a:extLst>
              <a:ext uri="{FF2B5EF4-FFF2-40B4-BE49-F238E27FC236}">
                <a16:creationId xmlns:a16="http://schemas.microsoft.com/office/drawing/2014/main" id="{4249EE70-5665-C7A9-523F-109B201860AA}"/>
              </a:ext>
            </a:extLst>
          </p:cNvPr>
          <p:cNvSpPr>
            <a:spLocks noChangeArrowheads="1"/>
          </p:cNvSpPr>
          <p:nvPr/>
        </p:nvSpPr>
        <p:spPr bwMode="auto">
          <a:xfrm>
            <a:off x="460375" y="2322299"/>
            <a:ext cx="3745779" cy="40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rgbClr val="FF0000"/>
              </a:buClr>
              <a:buFont typeface="Wingdings" panose="05000000000000000000" pitchFamily="2" charset="2"/>
              <a:buChar char="v"/>
            </a:pPr>
            <a:r>
              <a:rPr lang="zh-CN" altLang="en-US" sz="2400" dirty="0">
                <a:solidFill>
                  <a:srgbClr val="0000FF"/>
                </a:solidFill>
                <a:latin typeface="+mn-ea"/>
                <a:ea typeface="+mn-ea"/>
              </a:rPr>
              <a:t>布朗运动</a:t>
            </a:r>
            <a:endParaRPr lang="zh-CN" altLang="en-US" sz="2400" dirty="0">
              <a:latin typeface="+mn-ea"/>
              <a:ea typeface="+mn-ea"/>
            </a:endParaRPr>
          </a:p>
        </p:txBody>
      </p:sp>
      <p:sp>
        <p:nvSpPr>
          <p:cNvPr id="261128" name="Rectangle 8">
            <a:extLst>
              <a:ext uri="{FF2B5EF4-FFF2-40B4-BE49-F238E27FC236}">
                <a16:creationId xmlns:a16="http://schemas.microsoft.com/office/drawing/2014/main" id="{0256688B-8617-C66C-D975-1E8586E2953E}"/>
              </a:ext>
            </a:extLst>
          </p:cNvPr>
          <p:cNvSpPr>
            <a:spLocks noChangeArrowheads="1"/>
          </p:cNvSpPr>
          <p:nvPr/>
        </p:nvSpPr>
        <p:spPr bwMode="auto">
          <a:xfrm>
            <a:off x="460375" y="3457198"/>
            <a:ext cx="3385333" cy="40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rgbClr val="FF0000"/>
              </a:buClr>
              <a:buFont typeface="Wingdings" panose="05000000000000000000" pitchFamily="2" charset="2"/>
              <a:buChar char="v"/>
            </a:pPr>
            <a:r>
              <a:rPr lang="zh-CN" altLang="en-US" sz="2400" dirty="0">
                <a:solidFill>
                  <a:srgbClr val="0000FF"/>
                </a:solidFill>
                <a:latin typeface="+mn-ea"/>
                <a:ea typeface="+mn-ea"/>
              </a:rPr>
              <a:t>热噪声</a:t>
            </a:r>
            <a:endParaRPr lang="zh-CN" altLang="en-US" sz="2400" dirty="0">
              <a:latin typeface="+mn-ea"/>
              <a:ea typeface="+mn-ea"/>
            </a:endParaRPr>
          </a:p>
        </p:txBody>
      </p:sp>
      <p:sp>
        <p:nvSpPr>
          <p:cNvPr id="261129" name="Rectangle 9">
            <a:extLst>
              <a:ext uri="{FF2B5EF4-FFF2-40B4-BE49-F238E27FC236}">
                <a16:creationId xmlns:a16="http://schemas.microsoft.com/office/drawing/2014/main" id="{8F593E13-E019-5FE6-8F0C-0F442B28EBEA}"/>
              </a:ext>
            </a:extLst>
          </p:cNvPr>
          <p:cNvSpPr>
            <a:spLocks noChangeArrowheads="1"/>
          </p:cNvSpPr>
          <p:nvPr/>
        </p:nvSpPr>
        <p:spPr bwMode="auto">
          <a:xfrm>
            <a:off x="545816" y="4636712"/>
            <a:ext cx="3385333" cy="40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342900" indent="-3429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742950" indent="-28575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rgbClr val="FF0000"/>
              </a:buClr>
              <a:buFont typeface="Wingdings" panose="05000000000000000000" pitchFamily="2" charset="2"/>
              <a:buChar char="v"/>
            </a:pPr>
            <a:r>
              <a:rPr lang="zh-CN" altLang="en-US" sz="2400" dirty="0">
                <a:solidFill>
                  <a:srgbClr val="0000FF"/>
                </a:solidFill>
                <a:latin typeface="+mn-ea"/>
                <a:ea typeface="+mn-ea"/>
              </a:rPr>
              <a:t>生物群体</a:t>
            </a:r>
            <a:endParaRPr lang="zh-CN" altLang="en-US" sz="24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1123">
                                            <p:txEl>
                                              <p:pRg st="0" end="0"/>
                                            </p:txEl>
                                          </p:spTgt>
                                        </p:tgtEl>
                                        <p:attrNameLst>
                                          <p:attrName>style.visibility</p:attrName>
                                        </p:attrNameLst>
                                      </p:cBhvr>
                                      <p:to>
                                        <p:strVal val="visible"/>
                                      </p:to>
                                    </p:set>
                                    <p:anim calcmode="lin" valueType="num">
                                      <p:cBhvr additive="base">
                                        <p:cTn id="7" dur="500" fill="hold"/>
                                        <p:tgtEl>
                                          <p:spTgt spid="261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112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1124">
                                            <p:txEl>
                                              <p:pRg st="0" end="0"/>
                                            </p:txEl>
                                          </p:spTgt>
                                        </p:tgtEl>
                                        <p:attrNameLst>
                                          <p:attrName>style.visibility</p:attrName>
                                        </p:attrNameLst>
                                      </p:cBhvr>
                                      <p:to>
                                        <p:strVal val="visible"/>
                                      </p:to>
                                    </p:set>
                                    <p:anim calcmode="lin" valueType="num">
                                      <p:cBhvr additive="base">
                                        <p:cTn id="12" dur="500" fill="hold"/>
                                        <p:tgtEl>
                                          <p:spTgt spid="26112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11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61127">
                                            <p:txEl>
                                              <p:pRg st="0" end="0"/>
                                            </p:txEl>
                                          </p:spTgt>
                                        </p:tgtEl>
                                        <p:attrNameLst>
                                          <p:attrName>style.visibility</p:attrName>
                                        </p:attrNameLst>
                                      </p:cBhvr>
                                      <p:to>
                                        <p:strVal val="visible"/>
                                      </p:to>
                                    </p:set>
                                    <p:anim calcmode="lin" valueType="num">
                                      <p:cBhvr additive="base">
                                        <p:cTn id="18" dur="500" fill="hold"/>
                                        <p:tgtEl>
                                          <p:spTgt spid="26112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61127">
                                            <p:txEl>
                                              <p:pRg st="0" end="0"/>
                                            </p:txEl>
                                          </p:spTgt>
                                        </p:tgtEl>
                                        <p:attrNameLst>
                                          <p:attrName>ppt_y</p:attrName>
                                        </p:attrNameLst>
                                      </p:cBhvr>
                                      <p:tavLst>
                                        <p:tav tm="0">
                                          <p:val>
                                            <p:strVal val="1+#ppt_h/2"/>
                                          </p:val>
                                        </p:tav>
                                        <p:tav tm="100000">
                                          <p:val>
                                            <p:strVal val="#ppt_y"/>
                                          </p:val>
                                        </p:tav>
                                      </p:tavLst>
                                    </p:anim>
                                  </p:childTnLst>
                                </p:cTn>
                              </p:par>
                              <p:par>
                                <p:cTn id="20" presetID="2" presetClass="exit" presetSubtype="3" fill="hold" grpId="1" nodeType="withEffect">
                                  <p:stCondLst>
                                    <p:cond delay="0"/>
                                  </p:stCondLst>
                                  <p:childTnLst>
                                    <p:anim calcmode="lin" valueType="num">
                                      <p:cBhvr additive="base">
                                        <p:cTn id="21" dur="500"/>
                                        <p:tgtEl>
                                          <p:spTgt spid="261124">
                                            <p:txEl>
                                              <p:pRg st="0" end="0"/>
                                            </p:txEl>
                                          </p:spTgt>
                                        </p:tgtEl>
                                        <p:attrNameLst>
                                          <p:attrName>ppt_x</p:attrName>
                                        </p:attrNameLst>
                                      </p:cBhvr>
                                      <p:tavLst>
                                        <p:tav tm="0">
                                          <p:val>
                                            <p:strVal val="ppt_x"/>
                                          </p:val>
                                        </p:tav>
                                        <p:tav tm="100000">
                                          <p:val>
                                            <p:strVal val="1+ppt_w/2"/>
                                          </p:val>
                                        </p:tav>
                                      </p:tavLst>
                                    </p:anim>
                                    <p:anim calcmode="lin" valueType="num">
                                      <p:cBhvr additive="base">
                                        <p:cTn id="22" dur="500"/>
                                        <p:tgtEl>
                                          <p:spTgt spid="261124">
                                            <p:txEl>
                                              <p:pRg st="0" end="0"/>
                                            </p:txEl>
                                          </p:spTgt>
                                        </p:tgtEl>
                                        <p:attrNameLst>
                                          <p:attrName>ppt_y</p:attrName>
                                        </p:attrNameLst>
                                      </p:cBhvr>
                                      <p:tavLst>
                                        <p:tav tm="0">
                                          <p:val>
                                            <p:strVal val="ppt_y"/>
                                          </p:val>
                                        </p:tav>
                                        <p:tav tm="100000">
                                          <p:val>
                                            <p:strVal val="0-ppt_h/2"/>
                                          </p:val>
                                        </p:tav>
                                      </p:tavLst>
                                    </p:anim>
                                    <p:set>
                                      <p:cBhvr>
                                        <p:cTn id="23" dur="1" fill="hold">
                                          <p:stCondLst>
                                            <p:cond delay="499"/>
                                          </p:stCondLst>
                                        </p:cTn>
                                        <p:tgtEl>
                                          <p:spTgt spid="261124">
                                            <p:txEl>
                                              <p:pRg st="0" end="0"/>
                                            </p:txEl>
                                          </p:spTgt>
                                        </p:tgtEl>
                                        <p:attrNameLst>
                                          <p:attrName>style.visibility</p:attrName>
                                        </p:attrNameLst>
                                      </p:cBhvr>
                                      <p:to>
                                        <p:strVal val="hidden"/>
                                      </p:to>
                                    </p:set>
                                  </p:childTnLst>
                                </p:cTn>
                              </p:par>
                            </p:childTnLst>
                          </p:cTn>
                        </p:par>
                        <p:par>
                          <p:cTn id="24" fill="hold" nodeType="afterGroup">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261125">
                                            <p:txEl>
                                              <p:pRg st="0" end="0"/>
                                            </p:txEl>
                                          </p:spTgt>
                                        </p:tgtEl>
                                        <p:attrNameLst>
                                          <p:attrName>style.visibility</p:attrName>
                                        </p:attrNameLst>
                                      </p:cBhvr>
                                      <p:to>
                                        <p:strVal val="visible"/>
                                      </p:to>
                                    </p:set>
                                    <p:anim calcmode="lin" valueType="num">
                                      <p:cBhvr additive="base">
                                        <p:cTn id="27" dur="500" fill="hold"/>
                                        <p:tgtEl>
                                          <p:spTgt spid="261125">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11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1128">
                                            <p:txEl>
                                              <p:pRg st="0" end="0"/>
                                            </p:txEl>
                                          </p:spTgt>
                                        </p:tgtEl>
                                        <p:attrNameLst>
                                          <p:attrName>style.visibility</p:attrName>
                                        </p:attrNameLst>
                                      </p:cBhvr>
                                      <p:to>
                                        <p:strVal val="visible"/>
                                      </p:to>
                                    </p:set>
                                    <p:anim calcmode="lin" valueType="num">
                                      <p:cBhvr additive="base">
                                        <p:cTn id="33" dur="500" fill="hold"/>
                                        <p:tgtEl>
                                          <p:spTgt spid="261128">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1128">
                                            <p:txEl>
                                              <p:pRg st="0" end="0"/>
                                            </p:txEl>
                                          </p:spTgt>
                                        </p:tgtEl>
                                        <p:attrNameLst>
                                          <p:attrName>ppt_y</p:attrName>
                                        </p:attrNameLst>
                                      </p:cBhvr>
                                      <p:tavLst>
                                        <p:tav tm="0">
                                          <p:val>
                                            <p:strVal val="1+#ppt_h/2"/>
                                          </p:val>
                                        </p:tav>
                                        <p:tav tm="100000">
                                          <p:val>
                                            <p:strVal val="#ppt_y"/>
                                          </p:val>
                                        </p:tav>
                                      </p:tavLst>
                                    </p:anim>
                                  </p:childTnLst>
                                </p:cTn>
                              </p:par>
                              <p:par>
                                <p:cTn id="35" presetID="2" presetClass="exit" presetSubtype="3" fill="hold" grpId="1" nodeType="withEffect">
                                  <p:stCondLst>
                                    <p:cond delay="0"/>
                                  </p:stCondLst>
                                  <p:childTnLst>
                                    <p:anim calcmode="lin" valueType="num">
                                      <p:cBhvr additive="base">
                                        <p:cTn id="36" dur="500"/>
                                        <p:tgtEl>
                                          <p:spTgt spid="261125">
                                            <p:txEl>
                                              <p:pRg st="0" end="0"/>
                                            </p:txEl>
                                          </p:spTgt>
                                        </p:tgtEl>
                                        <p:attrNameLst>
                                          <p:attrName>ppt_x</p:attrName>
                                        </p:attrNameLst>
                                      </p:cBhvr>
                                      <p:tavLst>
                                        <p:tav tm="0">
                                          <p:val>
                                            <p:strVal val="ppt_x"/>
                                          </p:val>
                                        </p:tav>
                                        <p:tav tm="100000">
                                          <p:val>
                                            <p:strVal val="1+ppt_w/2"/>
                                          </p:val>
                                        </p:tav>
                                      </p:tavLst>
                                    </p:anim>
                                    <p:anim calcmode="lin" valueType="num">
                                      <p:cBhvr additive="base">
                                        <p:cTn id="37" dur="500"/>
                                        <p:tgtEl>
                                          <p:spTgt spid="261125">
                                            <p:txEl>
                                              <p:pRg st="0" end="0"/>
                                            </p:txEl>
                                          </p:spTgt>
                                        </p:tgtEl>
                                        <p:attrNameLst>
                                          <p:attrName>ppt_y</p:attrName>
                                        </p:attrNameLst>
                                      </p:cBhvr>
                                      <p:tavLst>
                                        <p:tav tm="0">
                                          <p:val>
                                            <p:strVal val="ppt_y"/>
                                          </p:val>
                                        </p:tav>
                                        <p:tav tm="100000">
                                          <p:val>
                                            <p:strVal val="0-ppt_h/2"/>
                                          </p:val>
                                        </p:tav>
                                      </p:tavLst>
                                    </p:anim>
                                    <p:set>
                                      <p:cBhvr>
                                        <p:cTn id="38" dur="1" fill="hold">
                                          <p:stCondLst>
                                            <p:cond delay="499"/>
                                          </p:stCondLst>
                                        </p:cTn>
                                        <p:tgtEl>
                                          <p:spTgt spid="261125">
                                            <p:txEl>
                                              <p:pRg st="0" end="0"/>
                                            </p:txEl>
                                          </p:spTgt>
                                        </p:tgtEl>
                                        <p:attrNameLst>
                                          <p:attrName>style.visibility</p:attrName>
                                        </p:attrNameLst>
                                      </p:cBhvr>
                                      <p:to>
                                        <p:strVal val="hidden"/>
                                      </p:to>
                                    </p:set>
                                  </p:childTnLst>
                                </p:cTn>
                              </p:par>
                            </p:childTnLst>
                          </p:cTn>
                        </p:par>
                        <p:par>
                          <p:cTn id="39" fill="hold" nodeType="afterGroup">
                            <p:stCondLst>
                              <p:cond delay="500"/>
                            </p:stCondLst>
                            <p:childTnLst>
                              <p:par>
                                <p:cTn id="40" presetID="2" presetClass="entr" presetSubtype="4" fill="hold" grpId="0" nodeType="afterEffect">
                                  <p:stCondLst>
                                    <p:cond delay="0"/>
                                  </p:stCondLst>
                                  <p:childTnLst>
                                    <p:set>
                                      <p:cBhvr>
                                        <p:cTn id="41" dur="1" fill="hold">
                                          <p:stCondLst>
                                            <p:cond delay="0"/>
                                          </p:stCondLst>
                                        </p:cTn>
                                        <p:tgtEl>
                                          <p:spTgt spid="261126">
                                            <p:txEl>
                                              <p:pRg st="0" end="0"/>
                                            </p:txEl>
                                          </p:spTgt>
                                        </p:tgtEl>
                                        <p:attrNameLst>
                                          <p:attrName>style.visibility</p:attrName>
                                        </p:attrNameLst>
                                      </p:cBhvr>
                                      <p:to>
                                        <p:strVal val="visible"/>
                                      </p:to>
                                    </p:set>
                                    <p:anim calcmode="lin" valueType="num">
                                      <p:cBhvr additive="base">
                                        <p:cTn id="42" dur="500" fill="hold"/>
                                        <p:tgtEl>
                                          <p:spTgt spid="261126">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611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61129">
                                            <p:txEl>
                                              <p:pRg st="0" end="0"/>
                                            </p:txEl>
                                          </p:spTgt>
                                        </p:tgtEl>
                                        <p:attrNameLst>
                                          <p:attrName>style.visibility</p:attrName>
                                        </p:attrNameLst>
                                      </p:cBhvr>
                                      <p:to>
                                        <p:strVal val="visible"/>
                                      </p:to>
                                    </p:set>
                                    <p:anim calcmode="lin" valueType="num">
                                      <p:cBhvr additive="base">
                                        <p:cTn id="48" dur="500" fill="hold"/>
                                        <p:tgtEl>
                                          <p:spTgt spid="261129">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61129">
                                            <p:txEl>
                                              <p:pRg st="0" end="0"/>
                                            </p:txEl>
                                          </p:spTgt>
                                        </p:tgtEl>
                                        <p:attrNameLst>
                                          <p:attrName>ppt_y</p:attrName>
                                        </p:attrNameLst>
                                      </p:cBhvr>
                                      <p:tavLst>
                                        <p:tav tm="0">
                                          <p:val>
                                            <p:strVal val="1+#ppt_h/2"/>
                                          </p:val>
                                        </p:tav>
                                        <p:tav tm="100000">
                                          <p:val>
                                            <p:strVal val="#ppt_y"/>
                                          </p:val>
                                        </p:tav>
                                      </p:tavLst>
                                    </p:anim>
                                  </p:childTnLst>
                                </p:cTn>
                              </p:par>
                              <p:par>
                                <p:cTn id="50" presetID="2" presetClass="exit" presetSubtype="3" fill="hold" grpId="1" nodeType="withEffect">
                                  <p:stCondLst>
                                    <p:cond delay="0"/>
                                  </p:stCondLst>
                                  <p:childTnLst>
                                    <p:anim calcmode="lin" valueType="num">
                                      <p:cBhvr additive="base">
                                        <p:cTn id="51" dur="500"/>
                                        <p:tgtEl>
                                          <p:spTgt spid="261126">
                                            <p:txEl>
                                              <p:pRg st="0" end="0"/>
                                            </p:txEl>
                                          </p:spTgt>
                                        </p:tgtEl>
                                        <p:attrNameLst>
                                          <p:attrName>ppt_x</p:attrName>
                                        </p:attrNameLst>
                                      </p:cBhvr>
                                      <p:tavLst>
                                        <p:tav tm="0">
                                          <p:val>
                                            <p:strVal val="ppt_x"/>
                                          </p:val>
                                        </p:tav>
                                        <p:tav tm="100000">
                                          <p:val>
                                            <p:strVal val="1+ppt_w/2"/>
                                          </p:val>
                                        </p:tav>
                                      </p:tavLst>
                                    </p:anim>
                                    <p:anim calcmode="lin" valueType="num">
                                      <p:cBhvr additive="base">
                                        <p:cTn id="52" dur="500"/>
                                        <p:tgtEl>
                                          <p:spTgt spid="261126">
                                            <p:txEl>
                                              <p:pRg st="0" end="0"/>
                                            </p:txEl>
                                          </p:spTgt>
                                        </p:tgtEl>
                                        <p:attrNameLst>
                                          <p:attrName>ppt_y</p:attrName>
                                        </p:attrNameLst>
                                      </p:cBhvr>
                                      <p:tavLst>
                                        <p:tav tm="0">
                                          <p:val>
                                            <p:strVal val="ppt_y"/>
                                          </p:val>
                                        </p:tav>
                                        <p:tav tm="100000">
                                          <p:val>
                                            <p:strVal val="0-ppt_h/2"/>
                                          </p:val>
                                        </p:tav>
                                      </p:tavLst>
                                    </p:anim>
                                    <p:set>
                                      <p:cBhvr>
                                        <p:cTn id="53" dur="1" fill="hold">
                                          <p:stCondLst>
                                            <p:cond delay="499"/>
                                          </p:stCondLst>
                                        </p:cTn>
                                        <p:tgtEl>
                                          <p:spTgt spid="261126">
                                            <p:txEl>
                                              <p:pRg st="0" end="0"/>
                                            </p:txEl>
                                          </p:spTgt>
                                        </p:tgtEl>
                                        <p:attrNameLst>
                                          <p:attrName>style.visibility</p:attrName>
                                        </p:attrNameLst>
                                      </p:cBhvr>
                                      <p:to>
                                        <p:strVal val="hidden"/>
                                      </p:to>
                                    </p:set>
                                  </p:childTnLst>
                                </p:cTn>
                              </p:par>
                            </p:childTnLst>
                          </p:cTn>
                        </p:par>
                        <p:par>
                          <p:cTn id="54" fill="hold" nodeType="afterGroup">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261130">
                                            <p:txEl>
                                              <p:pRg st="0" end="0"/>
                                            </p:txEl>
                                          </p:spTgt>
                                        </p:tgtEl>
                                        <p:attrNameLst>
                                          <p:attrName>style.visibility</p:attrName>
                                        </p:attrNameLst>
                                      </p:cBhvr>
                                      <p:to>
                                        <p:strVal val="visible"/>
                                      </p:to>
                                    </p:set>
                                    <p:anim calcmode="lin" valueType="num">
                                      <p:cBhvr additive="base">
                                        <p:cTn id="57" dur="500" fill="hold"/>
                                        <p:tgtEl>
                                          <p:spTgt spid="261130">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6113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30" grpId="0" build="p" autoUpdateAnimBg="0"/>
      <p:bldP spid="261123" grpId="0" build="p" autoUpdateAnimBg="0"/>
      <p:bldP spid="261124" grpId="0" build="p" autoUpdateAnimBg="0"/>
      <p:bldP spid="261124" grpId="1" build="allAtOnce"/>
      <p:bldP spid="261125" grpId="0" build="p" autoUpdateAnimBg="0"/>
      <p:bldP spid="261125" grpId="1" build="allAtOnce"/>
      <p:bldP spid="261126" grpId="0" build="p" autoUpdateAnimBg="0"/>
      <p:bldP spid="261126" grpId="1" build="allAtOnce"/>
      <p:bldP spid="261127" grpId="0" build="p" autoUpdateAnimBg="0"/>
      <p:bldP spid="261128" grpId="0" build="p" autoUpdateAnimBg="0"/>
      <p:bldP spid="261129"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7" name="Rectangle 2">
            <a:extLst>
              <a:ext uri="{FF2B5EF4-FFF2-40B4-BE49-F238E27FC236}">
                <a16:creationId xmlns:a16="http://schemas.microsoft.com/office/drawing/2014/main" id="{9457B712-0EA8-D0CE-CEF3-FF651DE31879}"/>
              </a:ext>
            </a:extLst>
          </p:cNvPr>
          <p:cNvSpPr>
            <a:spLocks noGrp="1" noChangeArrowheads="1"/>
          </p:cNvSpPr>
          <p:nvPr>
            <p:ph type="title"/>
          </p:nvPr>
        </p:nvSpPr>
        <p:spPr/>
        <p:txBody>
          <a:bodyPr/>
          <a:lstStyle/>
          <a:p>
            <a:pPr eaLnBrk="1" hangingPunct="1"/>
            <a:r>
              <a:rPr lang="zh-CN" altLang="en-US"/>
              <a:t>二、随机过程的定义</a:t>
            </a:r>
          </a:p>
        </p:txBody>
      </p:sp>
      <p:sp>
        <p:nvSpPr>
          <p:cNvPr id="262147" name="Rectangle 3">
            <a:extLst>
              <a:ext uri="{FF2B5EF4-FFF2-40B4-BE49-F238E27FC236}">
                <a16:creationId xmlns:a16="http://schemas.microsoft.com/office/drawing/2014/main" id="{5ECD52BE-673F-DF32-9EE1-1C1A26F3CE04}"/>
              </a:ext>
            </a:extLst>
          </p:cNvPr>
          <p:cNvSpPr>
            <a:spLocks noGrp="1" noChangeArrowheads="1"/>
          </p:cNvSpPr>
          <p:nvPr>
            <p:ph type="body" idx="1"/>
          </p:nvPr>
        </p:nvSpPr>
        <p:spPr>
          <a:xfrm>
            <a:off x="460375" y="1135326"/>
            <a:ext cx="10896599" cy="4674682"/>
          </a:xfrm>
        </p:spPr>
        <p:txBody>
          <a:bodyPr>
            <a:normAutofit/>
          </a:bodyPr>
          <a:lstStyle/>
          <a:p>
            <a:pPr algn="just" eaLnBrk="1" hangingPunct="1">
              <a:lnSpc>
                <a:spcPct val="200000"/>
              </a:lnSpc>
              <a:buClr>
                <a:srgbClr val="CC00CC"/>
              </a:buClr>
              <a:buFont typeface="Wingdings" panose="05000000000000000000" pitchFamily="2" charset="2"/>
              <a:buChar char="v"/>
            </a:pPr>
            <a:r>
              <a:rPr lang="zh-CN" altLang="en-US" dirty="0"/>
              <a:t>设</a:t>
            </a:r>
            <a:r>
              <a:rPr lang="en-US" altLang="zh-CN" dirty="0"/>
              <a:t>(Ω,F,P)</a:t>
            </a:r>
            <a:r>
              <a:rPr lang="zh-CN" altLang="en-US" dirty="0"/>
              <a:t>是一个概率空间，</a:t>
            </a:r>
            <a:r>
              <a:rPr lang="en-US" altLang="zh-CN" dirty="0"/>
              <a:t>T</a:t>
            </a:r>
            <a:r>
              <a:rPr lang="zh-CN" altLang="en-US" dirty="0"/>
              <a:t>是一个参数集</a:t>
            </a:r>
            <a:r>
              <a:rPr lang="en-US" altLang="zh-CN" dirty="0"/>
              <a:t>(T</a:t>
            </a:r>
            <a:r>
              <a:rPr lang="en-US" altLang="zh-CN" dirty="0">
                <a:sym typeface="Symbol" panose="05050102010706020507" pitchFamily="18" charset="2"/>
              </a:rPr>
              <a:t>R</a:t>
            </a:r>
            <a:r>
              <a:rPr lang="en-US" altLang="zh-CN" dirty="0"/>
              <a:t>)</a:t>
            </a:r>
            <a:r>
              <a:rPr lang="zh-CN" altLang="en-US" dirty="0"/>
              <a:t>，</a:t>
            </a:r>
            <a:r>
              <a:rPr lang="en-US" altLang="zh-CN" dirty="0"/>
              <a:t>X(t,</a:t>
            </a:r>
            <a:r>
              <a:rPr lang="en-US" altLang="zh-CN" dirty="0">
                <a:sym typeface="Symbol" panose="05050102010706020507" pitchFamily="18" charset="2"/>
              </a:rPr>
              <a:t></a:t>
            </a:r>
            <a:r>
              <a:rPr lang="en-US" altLang="zh-CN" dirty="0"/>
              <a:t>)</a:t>
            </a:r>
            <a:r>
              <a:rPr lang="zh-CN" altLang="en-US" dirty="0"/>
              <a:t>，</a:t>
            </a:r>
            <a:r>
              <a:rPr lang="en-US" altLang="zh-CN" dirty="0" err="1"/>
              <a:t>t</a:t>
            </a:r>
            <a:r>
              <a:rPr lang="en-US" altLang="zh-CN" dirty="0" err="1">
                <a:sym typeface="Symbol" panose="05050102010706020507" pitchFamily="18" charset="2"/>
              </a:rPr>
              <a:t></a:t>
            </a:r>
            <a:r>
              <a:rPr lang="en-US" altLang="zh-CN" dirty="0" err="1"/>
              <a:t>T</a:t>
            </a:r>
            <a:r>
              <a:rPr lang="zh-CN" altLang="en-US" dirty="0"/>
              <a:t>，</a:t>
            </a:r>
            <a:r>
              <a:rPr lang="zh-CN" altLang="en-US" dirty="0">
                <a:sym typeface="Symbol" panose="05050102010706020507" pitchFamily="18" charset="2"/>
              </a:rPr>
              <a:t></a:t>
            </a:r>
            <a:r>
              <a:rPr lang="en-US" altLang="zh-CN" dirty="0"/>
              <a:t>Ω</a:t>
            </a:r>
            <a:r>
              <a:rPr lang="zh-CN" altLang="en-US" dirty="0"/>
              <a:t>是</a:t>
            </a:r>
            <a:r>
              <a:rPr lang="en-US" altLang="zh-CN" dirty="0"/>
              <a:t>T</a:t>
            </a:r>
            <a:r>
              <a:rPr lang="en-US" altLang="zh-CN" dirty="0">
                <a:sym typeface="Symbol" panose="05050102010706020507" pitchFamily="18" charset="2"/>
              </a:rPr>
              <a:t></a:t>
            </a:r>
            <a:r>
              <a:rPr lang="en-US" altLang="zh-CN" dirty="0"/>
              <a:t>Ω</a:t>
            </a:r>
            <a:r>
              <a:rPr lang="zh-CN" altLang="en-US" dirty="0"/>
              <a:t>上的二元函数，如果对于每一个</a:t>
            </a:r>
            <a:r>
              <a:rPr lang="en-US" altLang="zh-CN" dirty="0" err="1"/>
              <a:t>t</a:t>
            </a:r>
            <a:r>
              <a:rPr lang="en-US" altLang="zh-CN" dirty="0" err="1">
                <a:sym typeface="Symbol" panose="05050102010706020507" pitchFamily="18" charset="2"/>
              </a:rPr>
              <a:t></a:t>
            </a:r>
            <a:r>
              <a:rPr lang="en-US" altLang="zh-CN" dirty="0" err="1"/>
              <a:t>T</a:t>
            </a:r>
            <a:r>
              <a:rPr lang="zh-CN" altLang="en-US" dirty="0"/>
              <a:t>，</a:t>
            </a:r>
            <a:r>
              <a:rPr lang="en-US" altLang="zh-CN" dirty="0"/>
              <a:t>X(t,</a:t>
            </a:r>
            <a:r>
              <a:rPr lang="en-US" altLang="zh-CN" dirty="0">
                <a:sym typeface="Symbol" panose="05050102010706020507" pitchFamily="18" charset="2"/>
              </a:rPr>
              <a:t></a:t>
            </a:r>
            <a:r>
              <a:rPr lang="en-US" altLang="zh-CN" dirty="0"/>
              <a:t>)</a:t>
            </a:r>
            <a:r>
              <a:rPr lang="zh-CN" altLang="en-US" dirty="0"/>
              <a:t>是</a:t>
            </a:r>
            <a:r>
              <a:rPr lang="en-US" altLang="zh-CN" dirty="0"/>
              <a:t>(Ω,F,P)</a:t>
            </a:r>
            <a:r>
              <a:rPr lang="zh-CN" altLang="en-US" dirty="0"/>
              <a:t>上的随机变量，则称</a:t>
            </a:r>
            <a:r>
              <a:rPr lang="zh-CN" altLang="en-US" dirty="0">
                <a:solidFill>
                  <a:srgbClr val="0000FF"/>
                </a:solidFill>
              </a:rPr>
              <a:t>随机变量族</a:t>
            </a:r>
            <a:r>
              <a:rPr lang="en-US" altLang="zh-CN" dirty="0">
                <a:solidFill>
                  <a:srgbClr val="0000FF"/>
                </a:solidFill>
              </a:rPr>
              <a:t>{X(t,</a:t>
            </a:r>
            <a:r>
              <a:rPr lang="en-US" altLang="zh-CN" dirty="0">
                <a:solidFill>
                  <a:srgbClr val="0000FF"/>
                </a:solidFill>
                <a:sym typeface="Symbol" panose="05050102010706020507" pitchFamily="18" charset="2"/>
              </a:rPr>
              <a:t></a:t>
            </a:r>
            <a:r>
              <a:rPr lang="en-US" altLang="zh-CN" dirty="0">
                <a:solidFill>
                  <a:srgbClr val="0000FF"/>
                </a:solidFill>
              </a:rPr>
              <a:t>)</a:t>
            </a:r>
            <a:r>
              <a:rPr lang="zh-CN" altLang="en-US" dirty="0">
                <a:solidFill>
                  <a:srgbClr val="0000FF"/>
                </a:solidFill>
              </a:rPr>
              <a:t>，</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r>
              <a:rPr lang="en-US" altLang="zh-CN" dirty="0">
                <a:solidFill>
                  <a:srgbClr val="0000FF"/>
                </a:solidFill>
              </a:rPr>
              <a:t>}</a:t>
            </a:r>
            <a:r>
              <a:rPr lang="zh-CN" altLang="en-US" dirty="0">
                <a:solidFill>
                  <a:srgbClr val="0000FF"/>
                </a:solidFill>
              </a:rPr>
              <a:t>为定义在</a:t>
            </a:r>
            <a:r>
              <a:rPr lang="en-US" altLang="zh-CN" dirty="0">
                <a:solidFill>
                  <a:srgbClr val="0000FF"/>
                </a:solidFill>
              </a:rPr>
              <a:t>(Ω,F,P)</a:t>
            </a:r>
            <a:r>
              <a:rPr lang="zh-CN" altLang="en-US" dirty="0">
                <a:solidFill>
                  <a:srgbClr val="0000FF"/>
                </a:solidFill>
              </a:rPr>
              <a:t>上的</a:t>
            </a:r>
            <a:r>
              <a:rPr lang="zh-CN" altLang="en-US" dirty="0">
                <a:solidFill>
                  <a:srgbClr val="CC00CC"/>
                </a:solidFill>
              </a:rPr>
              <a:t>随机过程</a:t>
            </a:r>
            <a:r>
              <a:rPr lang="en-US" altLang="zh-CN" dirty="0"/>
              <a:t>(</a:t>
            </a:r>
            <a:r>
              <a:rPr lang="zh-CN" altLang="en-US" dirty="0"/>
              <a:t>或</a:t>
            </a:r>
            <a:r>
              <a:rPr lang="zh-CN" altLang="en-US" dirty="0">
                <a:solidFill>
                  <a:srgbClr val="CC00CC"/>
                </a:solidFill>
              </a:rPr>
              <a:t>随机函数</a:t>
            </a:r>
            <a:r>
              <a:rPr lang="en-US" altLang="zh-CN" dirty="0"/>
              <a:t>)</a:t>
            </a:r>
            <a:r>
              <a:rPr lang="zh-CN" altLang="en-US" dirty="0"/>
              <a:t>。简记为</a:t>
            </a:r>
            <a:r>
              <a:rPr lang="en-US" altLang="zh-CN" dirty="0">
                <a:solidFill>
                  <a:srgbClr val="CC00CC"/>
                </a:solidFill>
              </a:rPr>
              <a:t>{X(t)</a:t>
            </a:r>
            <a:r>
              <a:rPr lang="zh-CN" altLang="en-US" dirty="0">
                <a:solidFill>
                  <a:srgbClr val="CC00CC"/>
                </a:solidFill>
              </a:rPr>
              <a:t>，</a:t>
            </a:r>
            <a:r>
              <a:rPr lang="en-US" altLang="zh-CN" dirty="0" err="1">
                <a:solidFill>
                  <a:srgbClr val="CC00CC"/>
                </a:solidFill>
              </a:rPr>
              <a:t>t</a:t>
            </a:r>
            <a:r>
              <a:rPr lang="en-US" altLang="zh-CN" dirty="0" err="1">
                <a:solidFill>
                  <a:srgbClr val="CC00CC"/>
                </a:solidFill>
                <a:sym typeface="Symbol" panose="05050102010706020507" pitchFamily="18" charset="2"/>
              </a:rPr>
              <a:t></a:t>
            </a:r>
            <a:r>
              <a:rPr lang="en-US" altLang="zh-CN" dirty="0" err="1">
                <a:solidFill>
                  <a:srgbClr val="CC00CC"/>
                </a:solidFill>
              </a:rPr>
              <a:t>T</a:t>
            </a:r>
            <a:r>
              <a:rPr lang="en-US" altLang="zh-CN" dirty="0">
                <a:solidFill>
                  <a:srgbClr val="CC00CC"/>
                </a:solidFill>
              </a:rPr>
              <a:t>}</a:t>
            </a:r>
            <a:r>
              <a:rPr lang="zh-CN" altLang="en-US" dirty="0"/>
              <a:t>，其中</a:t>
            </a:r>
            <a:r>
              <a:rPr lang="en-US" altLang="zh-CN" dirty="0"/>
              <a:t>t</a:t>
            </a:r>
            <a:r>
              <a:rPr lang="zh-CN" altLang="en-US" dirty="0"/>
              <a:t>称为</a:t>
            </a:r>
            <a:r>
              <a:rPr lang="zh-CN" altLang="en-US" dirty="0">
                <a:solidFill>
                  <a:srgbClr val="CC00CC"/>
                </a:solidFill>
              </a:rPr>
              <a:t>参数</a:t>
            </a:r>
            <a:r>
              <a:rPr lang="zh-CN" altLang="en-US" dirty="0"/>
              <a:t>，</a:t>
            </a:r>
            <a:r>
              <a:rPr lang="en-US" altLang="zh-CN" dirty="0"/>
              <a:t>T</a:t>
            </a:r>
            <a:r>
              <a:rPr lang="zh-CN" altLang="en-US" dirty="0"/>
              <a:t>称为</a:t>
            </a:r>
            <a:r>
              <a:rPr lang="zh-CN" altLang="en-US" dirty="0">
                <a:solidFill>
                  <a:srgbClr val="CC00CC"/>
                </a:solidFill>
              </a:rPr>
              <a:t>参数集</a:t>
            </a:r>
            <a:r>
              <a:rPr lang="zh-CN" altLang="en-US" dirty="0"/>
              <a:t>。</a:t>
            </a:r>
            <a:endParaRPr lang="zh-CN" altLang="en-US" dirty="0">
              <a:solidFill>
                <a:srgbClr val="CC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5000"/>
                                  </p:iterate>
                                  <p:childTnLst>
                                    <p:set>
                                      <p:cBhvr>
                                        <p:cTn id="6" dur="1" fill="hold">
                                          <p:stCondLst>
                                            <p:cond delay="0"/>
                                          </p:stCondLst>
                                        </p:cTn>
                                        <p:tgtEl>
                                          <p:spTgt spid="262147">
                                            <p:txEl>
                                              <p:pRg st="0" end="0"/>
                                            </p:txEl>
                                          </p:spTgt>
                                        </p:tgtEl>
                                        <p:attrNameLst>
                                          <p:attrName>style.visibility</p:attrName>
                                        </p:attrNameLst>
                                      </p:cBhvr>
                                      <p:to>
                                        <p:strVal val="visible"/>
                                      </p:to>
                                    </p:set>
                                    <p:animEffect transition="in" filter="wipe(left)">
                                      <p:cBhvr>
                                        <p:cTn id="7" dur="500"/>
                                        <p:tgtEl>
                                          <p:spTgt spid="2621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1" name="Rectangle 2">
            <a:extLst>
              <a:ext uri="{FF2B5EF4-FFF2-40B4-BE49-F238E27FC236}">
                <a16:creationId xmlns:a16="http://schemas.microsoft.com/office/drawing/2014/main" id="{0B2B44BE-5966-13B3-A7EB-82663945AC30}"/>
              </a:ext>
            </a:extLst>
          </p:cNvPr>
          <p:cNvSpPr>
            <a:spLocks noGrp="1" noChangeArrowheads="1"/>
          </p:cNvSpPr>
          <p:nvPr>
            <p:ph type="title"/>
          </p:nvPr>
        </p:nvSpPr>
        <p:spPr/>
        <p:txBody>
          <a:bodyPr/>
          <a:lstStyle/>
          <a:p>
            <a:pPr eaLnBrk="1" hangingPunct="1"/>
            <a:r>
              <a:rPr lang="zh-CN" altLang="en-US"/>
              <a:t>样本函数与状态空间</a:t>
            </a:r>
          </a:p>
        </p:txBody>
      </p:sp>
      <p:sp>
        <p:nvSpPr>
          <p:cNvPr id="320515" name="Rectangle 3">
            <a:extLst>
              <a:ext uri="{FF2B5EF4-FFF2-40B4-BE49-F238E27FC236}">
                <a16:creationId xmlns:a16="http://schemas.microsoft.com/office/drawing/2014/main" id="{0472AC1C-B583-C8C8-F6CD-BF3A146ECB05}"/>
              </a:ext>
            </a:extLst>
          </p:cNvPr>
          <p:cNvSpPr>
            <a:spLocks noGrp="1" noChangeArrowheads="1"/>
          </p:cNvSpPr>
          <p:nvPr>
            <p:ph type="body" idx="1"/>
          </p:nvPr>
        </p:nvSpPr>
        <p:spPr>
          <a:xfrm>
            <a:off x="536575" y="1097219"/>
            <a:ext cx="11277599" cy="4085176"/>
          </a:xfrm>
        </p:spPr>
        <p:txBody>
          <a:bodyPr>
            <a:normAutofit/>
          </a:bodyPr>
          <a:lstStyle/>
          <a:p>
            <a:pPr algn="just" eaLnBrk="1" hangingPunct="1">
              <a:spcBef>
                <a:spcPct val="50000"/>
              </a:spcBef>
              <a:buClr>
                <a:srgbClr val="CC00CC"/>
              </a:buClr>
              <a:buFont typeface="Wingdings" panose="05000000000000000000" pitchFamily="2" charset="2"/>
              <a:buChar char="v"/>
            </a:pPr>
            <a:r>
              <a:rPr lang="zh-CN" altLang="en-US" dirty="0">
                <a:solidFill>
                  <a:srgbClr val="CC00CC"/>
                </a:solidFill>
              </a:rPr>
              <a:t>随机过程</a:t>
            </a:r>
            <a:r>
              <a:rPr lang="en-US" altLang="zh-CN" dirty="0">
                <a:solidFill>
                  <a:srgbClr val="CC00CC"/>
                </a:solidFill>
              </a:rPr>
              <a:t>X(t,</a:t>
            </a:r>
            <a:r>
              <a:rPr lang="en-US" altLang="zh-CN" dirty="0">
                <a:solidFill>
                  <a:srgbClr val="CC00CC"/>
                </a:solidFill>
                <a:sym typeface="Symbol" panose="05050102010706020507" pitchFamily="18" charset="2"/>
              </a:rPr>
              <a:t></a:t>
            </a:r>
            <a:r>
              <a:rPr lang="en-US" altLang="zh-CN" dirty="0">
                <a:solidFill>
                  <a:srgbClr val="CC00CC"/>
                </a:solidFill>
              </a:rPr>
              <a:t>)</a:t>
            </a:r>
            <a:r>
              <a:rPr lang="zh-CN" altLang="en-US" dirty="0">
                <a:solidFill>
                  <a:srgbClr val="CC00CC"/>
                </a:solidFill>
              </a:rPr>
              <a:t>是定义在</a:t>
            </a:r>
            <a:r>
              <a:rPr lang="en-US" altLang="zh-CN" dirty="0">
                <a:solidFill>
                  <a:srgbClr val="CC00CC"/>
                </a:solidFill>
              </a:rPr>
              <a:t>T</a:t>
            </a:r>
            <a:r>
              <a:rPr lang="en-US" altLang="zh-CN" dirty="0">
                <a:solidFill>
                  <a:srgbClr val="CC00CC"/>
                </a:solidFill>
                <a:sym typeface="Symbol" panose="05050102010706020507" pitchFamily="18" charset="2"/>
              </a:rPr>
              <a:t></a:t>
            </a:r>
            <a:r>
              <a:rPr lang="en-US" altLang="zh-CN" dirty="0">
                <a:solidFill>
                  <a:srgbClr val="CC00CC"/>
                </a:solidFill>
              </a:rPr>
              <a:t>Ω</a:t>
            </a:r>
            <a:r>
              <a:rPr lang="zh-CN" altLang="en-US" dirty="0">
                <a:solidFill>
                  <a:srgbClr val="CC00CC"/>
                </a:solidFill>
              </a:rPr>
              <a:t>上的二元函数</a:t>
            </a:r>
            <a:r>
              <a:rPr lang="zh-CN" altLang="en-US" dirty="0"/>
              <a:t>：一方面，</a:t>
            </a:r>
            <a:r>
              <a:rPr lang="zh-CN" altLang="en-US" dirty="0">
                <a:solidFill>
                  <a:srgbClr val="0000FF"/>
                </a:solidFill>
              </a:rPr>
              <a:t>当</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r>
              <a:rPr lang="zh-CN" altLang="en-US" dirty="0">
                <a:solidFill>
                  <a:srgbClr val="0000FF"/>
                </a:solidFill>
              </a:rPr>
              <a:t>固定时，</a:t>
            </a:r>
            <a:r>
              <a:rPr lang="en-US" altLang="zh-CN" dirty="0">
                <a:solidFill>
                  <a:srgbClr val="0000FF"/>
                </a:solidFill>
              </a:rPr>
              <a:t>X(t,</a:t>
            </a:r>
            <a:r>
              <a:rPr lang="en-US" altLang="zh-CN" dirty="0">
                <a:solidFill>
                  <a:srgbClr val="0000FF"/>
                </a:solidFill>
                <a:sym typeface="Symbol" panose="05050102010706020507" pitchFamily="18" charset="2"/>
              </a:rPr>
              <a:t></a:t>
            </a:r>
            <a:r>
              <a:rPr lang="en-US" altLang="zh-CN" dirty="0">
                <a:solidFill>
                  <a:srgbClr val="0000FF"/>
                </a:solidFill>
              </a:rPr>
              <a:t>)</a:t>
            </a:r>
            <a:r>
              <a:rPr lang="zh-CN" altLang="en-US" dirty="0">
                <a:solidFill>
                  <a:srgbClr val="0000FF"/>
                </a:solidFill>
              </a:rPr>
              <a:t>是定义在</a:t>
            </a:r>
            <a:r>
              <a:rPr lang="en-US" altLang="zh-CN" dirty="0">
                <a:solidFill>
                  <a:srgbClr val="0000FF"/>
                </a:solidFill>
              </a:rPr>
              <a:t>Ω</a:t>
            </a:r>
            <a:r>
              <a:rPr lang="zh-CN" altLang="en-US" dirty="0">
                <a:solidFill>
                  <a:srgbClr val="0000FF"/>
                </a:solidFill>
              </a:rPr>
              <a:t>上的随机变量</a:t>
            </a:r>
            <a:r>
              <a:rPr lang="zh-CN" altLang="en-US" dirty="0"/>
              <a:t>；另一方面，</a:t>
            </a:r>
            <a:r>
              <a:rPr lang="zh-CN" altLang="en-US" dirty="0">
                <a:solidFill>
                  <a:srgbClr val="0000FF"/>
                </a:solidFill>
              </a:rPr>
              <a:t>当</a:t>
            </a:r>
            <a:r>
              <a:rPr lang="zh-CN" altLang="en-US" dirty="0">
                <a:solidFill>
                  <a:srgbClr val="0000FF"/>
                </a:solidFill>
                <a:sym typeface="Symbol" panose="05050102010706020507" pitchFamily="18" charset="2"/>
              </a:rPr>
              <a:t></a:t>
            </a:r>
            <a:r>
              <a:rPr lang="en-US" altLang="zh-CN" dirty="0">
                <a:solidFill>
                  <a:srgbClr val="0000FF"/>
                </a:solidFill>
              </a:rPr>
              <a:t>Ω</a:t>
            </a:r>
            <a:r>
              <a:rPr lang="zh-CN" altLang="en-US" dirty="0">
                <a:solidFill>
                  <a:srgbClr val="0000FF"/>
                </a:solidFill>
              </a:rPr>
              <a:t>固定时，</a:t>
            </a:r>
            <a:r>
              <a:rPr lang="en-US" altLang="zh-CN" dirty="0">
                <a:solidFill>
                  <a:srgbClr val="0000FF"/>
                </a:solidFill>
              </a:rPr>
              <a:t>X(t,</a:t>
            </a:r>
            <a:r>
              <a:rPr lang="en-US" altLang="zh-CN" dirty="0">
                <a:solidFill>
                  <a:srgbClr val="0000FF"/>
                </a:solidFill>
                <a:sym typeface="Symbol" panose="05050102010706020507" pitchFamily="18" charset="2"/>
              </a:rPr>
              <a:t></a:t>
            </a:r>
            <a:r>
              <a:rPr lang="en-US" altLang="zh-CN" dirty="0">
                <a:solidFill>
                  <a:srgbClr val="0000FF"/>
                </a:solidFill>
              </a:rPr>
              <a:t>)</a:t>
            </a:r>
            <a:r>
              <a:rPr lang="zh-CN" altLang="en-US" dirty="0">
                <a:solidFill>
                  <a:srgbClr val="0000FF"/>
                </a:solidFill>
              </a:rPr>
              <a:t>是定义在</a:t>
            </a:r>
            <a:r>
              <a:rPr lang="en-US" altLang="zh-CN" dirty="0">
                <a:solidFill>
                  <a:srgbClr val="0000FF"/>
                </a:solidFill>
              </a:rPr>
              <a:t>T</a:t>
            </a:r>
            <a:r>
              <a:rPr lang="zh-CN" altLang="en-US" dirty="0">
                <a:solidFill>
                  <a:srgbClr val="0000FF"/>
                </a:solidFill>
              </a:rPr>
              <a:t>上的函数</a:t>
            </a:r>
            <a:r>
              <a:rPr lang="zh-CN" altLang="en-US" dirty="0"/>
              <a:t>，称为随机过程的</a:t>
            </a:r>
            <a:r>
              <a:rPr lang="zh-CN" altLang="en-US" dirty="0">
                <a:solidFill>
                  <a:srgbClr val="CC00CC"/>
                </a:solidFill>
              </a:rPr>
              <a:t>样本函数</a:t>
            </a:r>
            <a:r>
              <a:rPr lang="zh-CN" altLang="en-US" dirty="0"/>
              <a:t>。</a:t>
            </a:r>
          </a:p>
          <a:p>
            <a:pPr algn="just" eaLnBrk="1" hangingPunct="1">
              <a:spcBef>
                <a:spcPct val="50000"/>
              </a:spcBef>
              <a:buClr>
                <a:srgbClr val="CC00CC"/>
              </a:buClr>
              <a:buFont typeface="Wingdings" panose="05000000000000000000" pitchFamily="2" charset="2"/>
              <a:buChar char="v"/>
            </a:pPr>
            <a:r>
              <a:rPr lang="zh-CN" altLang="en-US" dirty="0"/>
              <a:t>随机过程在时刻</a:t>
            </a:r>
            <a:r>
              <a:rPr lang="en-US" altLang="zh-CN" dirty="0"/>
              <a:t>t</a:t>
            </a:r>
            <a:r>
              <a:rPr lang="zh-CN" altLang="en-US" dirty="0"/>
              <a:t>所取的值</a:t>
            </a:r>
            <a:r>
              <a:rPr lang="en-US" altLang="zh-CN" dirty="0"/>
              <a:t>X(t)=x</a:t>
            </a:r>
            <a:r>
              <a:rPr lang="zh-CN" altLang="en-US" dirty="0"/>
              <a:t>称为时刻</a:t>
            </a:r>
            <a:r>
              <a:rPr lang="en-US" altLang="zh-CN" dirty="0"/>
              <a:t>t</a:t>
            </a:r>
            <a:r>
              <a:rPr lang="zh-CN" altLang="en-US" dirty="0"/>
              <a:t>时随机过程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处于</a:t>
            </a:r>
            <a:r>
              <a:rPr lang="zh-CN" altLang="en-US" dirty="0">
                <a:solidFill>
                  <a:srgbClr val="CC00CC"/>
                </a:solidFill>
              </a:rPr>
              <a:t>状态</a:t>
            </a:r>
            <a:r>
              <a:rPr lang="en-US" altLang="zh-CN" dirty="0"/>
              <a:t>x</a:t>
            </a:r>
            <a:r>
              <a:rPr lang="zh-CN" altLang="en-US" dirty="0"/>
              <a:t>，随机过程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所有状态构成的集合称为</a:t>
            </a:r>
            <a:r>
              <a:rPr lang="zh-CN" altLang="en-US" dirty="0">
                <a:solidFill>
                  <a:srgbClr val="CC00CC"/>
                </a:solidFill>
              </a:rPr>
              <a:t>状态空间</a:t>
            </a:r>
            <a:r>
              <a:rPr lang="zh-CN" altLang="en-US" dirty="0"/>
              <a:t>，记为</a:t>
            </a:r>
            <a:r>
              <a:rPr lang="en-US" altLang="zh-CN" dirty="0">
                <a:solidFill>
                  <a:srgbClr val="CC00CC"/>
                </a:solidFill>
              </a:rPr>
              <a:t>E</a:t>
            </a:r>
            <a:r>
              <a:rPr lang="zh-CN" altLang="en-US" dirty="0"/>
              <a:t>，即：</a:t>
            </a:r>
          </a:p>
          <a:p>
            <a:pPr lvl="1" algn="ctr" eaLnBrk="1" hangingPunct="1">
              <a:buFont typeface="Wingdings" panose="05000000000000000000" pitchFamily="2" charset="2"/>
              <a:buNone/>
            </a:pPr>
            <a:r>
              <a:rPr lang="en-US" altLang="zh-CN" dirty="0">
                <a:solidFill>
                  <a:srgbClr val="CC00CC"/>
                </a:solidFill>
              </a:rPr>
              <a:t>E</a:t>
            </a:r>
            <a:r>
              <a:rPr lang="zh-CN" altLang="en-US" dirty="0">
                <a:solidFill>
                  <a:srgbClr val="CC00CC"/>
                </a:solidFill>
              </a:rPr>
              <a:t>＝</a:t>
            </a:r>
            <a:r>
              <a:rPr lang="en-US" altLang="zh-CN" dirty="0">
                <a:solidFill>
                  <a:srgbClr val="CC00CC"/>
                </a:solidFill>
              </a:rPr>
              <a:t>{x</a:t>
            </a:r>
            <a:r>
              <a:rPr lang="zh-CN" altLang="en-US" dirty="0">
                <a:solidFill>
                  <a:srgbClr val="CC00CC"/>
                </a:solidFill>
              </a:rPr>
              <a:t>：</a:t>
            </a:r>
            <a:r>
              <a:rPr lang="en-US" altLang="zh-CN" dirty="0">
                <a:solidFill>
                  <a:srgbClr val="CC00CC"/>
                </a:solidFill>
              </a:rPr>
              <a:t>X(t)=</a:t>
            </a:r>
            <a:r>
              <a:rPr lang="en-US" altLang="zh-CN" dirty="0" err="1">
                <a:solidFill>
                  <a:srgbClr val="CC00CC"/>
                </a:solidFill>
              </a:rPr>
              <a:t>x,t</a:t>
            </a:r>
            <a:r>
              <a:rPr lang="en-US" altLang="zh-CN" dirty="0" err="1">
                <a:solidFill>
                  <a:srgbClr val="CC00CC"/>
                </a:solidFill>
                <a:sym typeface="Symbol" panose="05050102010706020507" pitchFamily="18" charset="2"/>
              </a:rPr>
              <a:t></a:t>
            </a:r>
            <a:r>
              <a:rPr lang="en-US" altLang="zh-CN" dirty="0" err="1">
                <a:solidFill>
                  <a:srgbClr val="CC00CC"/>
                </a:solidFill>
              </a:rPr>
              <a:t>T</a:t>
            </a:r>
            <a:r>
              <a:rPr lang="en-US" altLang="zh-CN" dirty="0">
                <a:solidFill>
                  <a:srgbClr val="CC00CC"/>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 calcmode="lin" valueType="num">
                                      <p:cBhvr additive="base">
                                        <p:cTn id="7" dur="500" fill="hold"/>
                                        <p:tgtEl>
                                          <p:spTgt spid="320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05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0515">
                                            <p:txEl>
                                              <p:pRg st="1" end="1"/>
                                            </p:txEl>
                                          </p:spTgt>
                                        </p:tgtEl>
                                        <p:attrNameLst>
                                          <p:attrName>style.visibility</p:attrName>
                                        </p:attrNameLst>
                                      </p:cBhvr>
                                      <p:to>
                                        <p:strVal val="visible"/>
                                      </p:to>
                                    </p:set>
                                    <p:anim calcmode="lin" valueType="num">
                                      <p:cBhvr additive="base">
                                        <p:cTn id="13" dur="500" fill="hold"/>
                                        <p:tgtEl>
                                          <p:spTgt spid="3205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051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 calcmode="lin" valueType="num">
                                      <p:cBhvr additive="base">
                                        <p:cTn id="17" dur="500" fill="hold"/>
                                        <p:tgtEl>
                                          <p:spTgt spid="32051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05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5" name="Picture 2">
            <a:extLst>
              <a:ext uri="{FF2B5EF4-FFF2-40B4-BE49-F238E27FC236}">
                <a16:creationId xmlns:a16="http://schemas.microsoft.com/office/drawing/2014/main" id="{789E8D7B-7D8D-023F-8127-4C413E8C1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7446" y="1125799"/>
            <a:ext cx="7774199" cy="49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235" name="Line 3">
            <a:extLst>
              <a:ext uri="{FF2B5EF4-FFF2-40B4-BE49-F238E27FC236}">
                <a16:creationId xmlns:a16="http://schemas.microsoft.com/office/drawing/2014/main" id="{FF4E397A-C473-D900-8E95-C9C1ABBD2DFA}"/>
              </a:ext>
            </a:extLst>
          </p:cNvPr>
          <p:cNvSpPr>
            <a:spLocks noChangeShapeType="1"/>
          </p:cNvSpPr>
          <p:nvPr/>
        </p:nvSpPr>
        <p:spPr bwMode="auto">
          <a:xfrm>
            <a:off x="2342280" y="5516252"/>
            <a:ext cx="6402282"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36" name="Line 4">
            <a:extLst>
              <a:ext uri="{FF2B5EF4-FFF2-40B4-BE49-F238E27FC236}">
                <a16:creationId xmlns:a16="http://schemas.microsoft.com/office/drawing/2014/main" id="{D975C27C-1469-D5E7-1699-54661143BDFF}"/>
              </a:ext>
            </a:extLst>
          </p:cNvPr>
          <p:cNvSpPr>
            <a:spLocks noChangeShapeType="1"/>
          </p:cNvSpPr>
          <p:nvPr/>
        </p:nvSpPr>
        <p:spPr bwMode="auto">
          <a:xfrm flipH="1" flipV="1">
            <a:off x="2569347" y="2421499"/>
            <a:ext cx="1587" cy="332499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37" name="Freeform 5">
            <a:extLst>
              <a:ext uri="{FF2B5EF4-FFF2-40B4-BE49-F238E27FC236}">
                <a16:creationId xmlns:a16="http://schemas.microsoft.com/office/drawing/2014/main" id="{ACE2BE8B-EEA6-507B-EC82-841D8B91BF43}"/>
              </a:ext>
            </a:extLst>
          </p:cNvPr>
          <p:cNvSpPr>
            <a:spLocks/>
          </p:cNvSpPr>
          <p:nvPr/>
        </p:nvSpPr>
        <p:spPr bwMode="auto">
          <a:xfrm>
            <a:off x="2569346" y="3285299"/>
            <a:ext cx="5640105" cy="812988"/>
          </a:xfrm>
          <a:custGeom>
            <a:avLst/>
            <a:gdLst>
              <a:gd name="T0" fmla="*/ 0 w 3552"/>
              <a:gd name="T1" fmla="*/ 660400 h 512"/>
              <a:gd name="T2" fmla="*/ 1524000 w 3552"/>
              <a:gd name="T3" fmla="*/ 279400 h 512"/>
              <a:gd name="T4" fmla="*/ 2209800 w 3552"/>
              <a:gd name="T5" fmla="*/ 355600 h 512"/>
              <a:gd name="T6" fmla="*/ 2895600 w 3552"/>
              <a:gd name="T7" fmla="*/ 584200 h 512"/>
              <a:gd name="T8" fmla="*/ 3429000 w 3552"/>
              <a:gd name="T9" fmla="*/ 736600 h 512"/>
              <a:gd name="T10" fmla="*/ 3810000 w 3552"/>
              <a:gd name="T11" fmla="*/ 736600 h 512"/>
              <a:gd name="T12" fmla="*/ 4191000 w 3552"/>
              <a:gd name="T13" fmla="*/ 508000 h 512"/>
              <a:gd name="T14" fmla="*/ 4343400 w 3552"/>
              <a:gd name="T15" fmla="*/ 508000 h 512"/>
              <a:gd name="T16" fmla="*/ 4724400 w 3552"/>
              <a:gd name="T17" fmla="*/ 50800 h 512"/>
              <a:gd name="T18" fmla="*/ 4953000 w 3552"/>
              <a:gd name="T19" fmla="*/ 203200 h 512"/>
              <a:gd name="T20" fmla="*/ 5105400 w 3552"/>
              <a:gd name="T21" fmla="*/ 508000 h 512"/>
              <a:gd name="T22" fmla="*/ 5334000 w 3552"/>
              <a:gd name="T23" fmla="*/ 660400 h 512"/>
              <a:gd name="T24" fmla="*/ 5562600 w 3552"/>
              <a:gd name="T25" fmla="*/ 660400 h 512"/>
              <a:gd name="T26" fmla="*/ 5638800 w 3552"/>
              <a:gd name="T27" fmla="*/ 812800 h 5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552" h="512">
                <a:moveTo>
                  <a:pt x="0" y="416"/>
                </a:moveTo>
                <a:cubicBezTo>
                  <a:pt x="364" y="312"/>
                  <a:pt x="728" y="208"/>
                  <a:pt x="960" y="176"/>
                </a:cubicBezTo>
                <a:cubicBezTo>
                  <a:pt x="1192" y="144"/>
                  <a:pt x="1248" y="192"/>
                  <a:pt x="1392" y="224"/>
                </a:cubicBezTo>
                <a:cubicBezTo>
                  <a:pt x="1536" y="256"/>
                  <a:pt x="1696" y="328"/>
                  <a:pt x="1824" y="368"/>
                </a:cubicBezTo>
                <a:cubicBezTo>
                  <a:pt x="1952" y="408"/>
                  <a:pt x="2064" y="448"/>
                  <a:pt x="2160" y="464"/>
                </a:cubicBezTo>
                <a:cubicBezTo>
                  <a:pt x="2256" y="480"/>
                  <a:pt x="2320" y="488"/>
                  <a:pt x="2400" y="464"/>
                </a:cubicBezTo>
                <a:cubicBezTo>
                  <a:pt x="2480" y="440"/>
                  <a:pt x="2584" y="344"/>
                  <a:pt x="2640" y="320"/>
                </a:cubicBezTo>
                <a:cubicBezTo>
                  <a:pt x="2696" y="296"/>
                  <a:pt x="2680" y="368"/>
                  <a:pt x="2736" y="320"/>
                </a:cubicBezTo>
                <a:cubicBezTo>
                  <a:pt x="2792" y="272"/>
                  <a:pt x="2912" y="64"/>
                  <a:pt x="2976" y="32"/>
                </a:cubicBezTo>
                <a:cubicBezTo>
                  <a:pt x="3040" y="0"/>
                  <a:pt x="3080" y="80"/>
                  <a:pt x="3120" y="128"/>
                </a:cubicBezTo>
                <a:cubicBezTo>
                  <a:pt x="3160" y="176"/>
                  <a:pt x="3176" y="272"/>
                  <a:pt x="3216" y="320"/>
                </a:cubicBezTo>
                <a:cubicBezTo>
                  <a:pt x="3256" y="368"/>
                  <a:pt x="3312" y="400"/>
                  <a:pt x="3360" y="416"/>
                </a:cubicBezTo>
                <a:cubicBezTo>
                  <a:pt x="3408" y="432"/>
                  <a:pt x="3472" y="400"/>
                  <a:pt x="3504" y="416"/>
                </a:cubicBezTo>
                <a:cubicBezTo>
                  <a:pt x="3536" y="432"/>
                  <a:pt x="3544" y="472"/>
                  <a:pt x="3552" y="512"/>
                </a:cubicBezTo>
              </a:path>
            </a:pathLst>
          </a:custGeom>
          <a:noFill/>
          <a:ln w="38100" cmpd="sng">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38" name="Freeform 6">
            <a:extLst>
              <a:ext uri="{FF2B5EF4-FFF2-40B4-BE49-F238E27FC236}">
                <a16:creationId xmlns:a16="http://schemas.microsoft.com/office/drawing/2014/main" id="{BA3B5374-6161-33EA-2970-559569F4C658}"/>
              </a:ext>
            </a:extLst>
          </p:cNvPr>
          <p:cNvSpPr>
            <a:spLocks/>
          </p:cNvSpPr>
          <p:nvPr/>
        </p:nvSpPr>
        <p:spPr bwMode="auto">
          <a:xfrm>
            <a:off x="2551879" y="2781944"/>
            <a:ext cx="5563888" cy="838394"/>
          </a:xfrm>
          <a:custGeom>
            <a:avLst/>
            <a:gdLst>
              <a:gd name="T0" fmla="*/ 0 w 3504"/>
              <a:gd name="T1" fmla="*/ 838200 h 528"/>
              <a:gd name="T2" fmla="*/ 228600 w 3504"/>
              <a:gd name="T3" fmla="*/ 381000 h 528"/>
              <a:gd name="T4" fmla="*/ 304800 w 3504"/>
              <a:gd name="T5" fmla="*/ 228600 h 528"/>
              <a:gd name="T6" fmla="*/ 685800 w 3504"/>
              <a:gd name="T7" fmla="*/ 76200 h 528"/>
              <a:gd name="T8" fmla="*/ 990600 w 3504"/>
              <a:gd name="T9" fmla="*/ 228600 h 528"/>
              <a:gd name="T10" fmla="*/ 1143000 w 3504"/>
              <a:gd name="T11" fmla="*/ 381000 h 528"/>
              <a:gd name="T12" fmla="*/ 1295400 w 3504"/>
              <a:gd name="T13" fmla="*/ 381000 h 528"/>
              <a:gd name="T14" fmla="*/ 1600200 w 3504"/>
              <a:gd name="T15" fmla="*/ 457200 h 528"/>
              <a:gd name="T16" fmla="*/ 1981200 w 3504"/>
              <a:gd name="T17" fmla="*/ 381000 h 528"/>
              <a:gd name="T18" fmla="*/ 2362200 w 3504"/>
              <a:gd name="T19" fmla="*/ 152400 h 528"/>
              <a:gd name="T20" fmla="*/ 2590800 w 3504"/>
              <a:gd name="T21" fmla="*/ 76200 h 528"/>
              <a:gd name="T22" fmla="*/ 2971800 w 3504"/>
              <a:gd name="T23" fmla="*/ 0 h 528"/>
              <a:gd name="T24" fmla="*/ 3124200 w 3504"/>
              <a:gd name="T25" fmla="*/ 76200 h 528"/>
              <a:gd name="T26" fmla="*/ 3276600 w 3504"/>
              <a:gd name="T27" fmla="*/ 152400 h 528"/>
              <a:gd name="T28" fmla="*/ 3429000 w 3504"/>
              <a:gd name="T29" fmla="*/ 228600 h 528"/>
              <a:gd name="T30" fmla="*/ 3810000 w 3504"/>
              <a:gd name="T31" fmla="*/ 381000 h 528"/>
              <a:gd name="T32" fmla="*/ 4038600 w 3504"/>
              <a:gd name="T33" fmla="*/ 304800 h 528"/>
              <a:gd name="T34" fmla="*/ 4419600 w 3504"/>
              <a:gd name="T35" fmla="*/ 381000 h 528"/>
              <a:gd name="T36" fmla="*/ 4800600 w 3504"/>
              <a:gd name="T37" fmla="*/ 381000 h 528"/>
              <a:gd name="T38" fmla="*/ 5334000 w 3504"/>
              <a:gd name="T39" fmla="*/ 152400 h 528"/>
              <a:gd name="T40" fmla="*/ 5562600 w 3504"/>
              <a:gd name="T41" fmla="*/ 152400 h 5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04" h="528">
                <a:moveTo>
                  <a:pt x="0" y="528"/>
                </a:moveTo>
                <a:cubicBezTo>
                  <a:pt x="56" y="416"/>
                  <a:pt x="112" y="304"/>
                  <a:pt x="144" y="240"/>
                </a:cubicBezTo>
                <a:cubicBezTo>
                  <a:pt x="176" y="176"/>
                  <a:pt x="144" y="176"/>
                  <a:pt x="192" y="144"/>
                </a:cubicBezTo>
                <a:cubicBezTo>
                  <a:pt x="240" y="112"/>
                  <a:pt x="360" y="48"/>
                  <a:pt x="432" y="48"/>
                </a:cubicBezTo>
                <a:cubicBezTo>
                  <a:pt x="504" y="48"/>
                  <a:pt x="576" y="112"/>
                  <a:pt x="624" y="144"/>
                </a:cubicBezTo>
                <a:cubicBezTo>
                  <a:pt x="672" y="176"/>
                  <a:pt x="688" y="224"/>
                  <a:pt x="720" y="240"/>
                </a:cubicBezTo>
                <a:cubicBezTo>
                  <a:pt x="752" y="256"/>
                  <a:pt x="768" y="232"/>
                  <a:pt x="816" y="240"/>
                </a:cubicBezTo>
                <a:cubicBezTo>
                  <a:pt x="864" y="248"/>
                  <a:pt x="936" y="288"/>
                  <a:pt x="1008" y="288"/>
                </a:cubicBezTo>
                <a:cubicBezTo>
                  <a:pt x="1080" y="288"/>
                  <a:pt x="1168" y="272"/>
                  <a:pt x="1248" y="240"/>
                </a:cubicBezTo>
                <a:cubicBezTo>
                  <a:pt x="1328" y="208"/>
                  <a:pt x="1424" y="128"/>
                  <a:pt x="1488" y="96"/>
                </a:cubicBezTo>
                <a:cubicBezTo>
                  <a:pt x="1552" y="64"/>
                  <a:pt x="1568" y="64"/>
                  <a:pt x="1632" y="48"/>
                </a:cubicBezTo>
                <a:cubicBezTo>
                  <a:pt x="1696" y="32"/>
                  <a:pt x="1816" y="0"/>
                  <a:pt x="1872" y="0"/>
                </a:cubicBezTo>
                <a:cubicBezTo>
                  <a:pt x="1928" y="0"/>
                  <a:pt x="1936" y="32"/>
                  <a:pt x="1968" y="48"/>
                </a:cubicBezTo>
                <a:cubicBezTo>
                  <a:pt x="2000" y="64"/>
                  <a:pt x="2032" y="80"/>
                  <a:pt x="2064" y="96"/>
                </a:cubicBezTo>
                <a:cubicBezTo>
                  <a:pt x="2096" y="112"/>
                  <a:pt x="2104" y="120"/>
                  <a:pt x="2160" y="144"/>
                </a:cubicBezTo>
                <a:cubicBezTo>
                  <a:pt x="2216" y="168"/>
                  <a:pt x="2336" y="232"/>
                  <a:pt x="2400" y="240"/>
                </a:cubicBezTo>
                <a:cubicBezTo>
                  <a:pt x="2464" y="248"/>
                  <a:pt x="2480" y="192"/>
                  <a:pt x="2544" y="192"/>
                </a:cubicBezTo>
                <a:cubicBezTo>
                  <a:pt x="2608" y="192"/>
                  <a:pt x="2704" y="232"/>
                  <a:pt x="2784" y="240"/>
                </a:cubicBezTo>
                <a:cubicBezTo>
                  <a:pt x="2864" y="248"/>
                  <a:pt x="2928" y="264"/>
                  <a:pt x="3024" y="240"/>
                </a:cubicBezTo>
                <a:cubicBezTo>
                  <a:pt x="3120" y="216"/>
                  <a:pt x="3280" y="120"/>
                  <a:pt x="3360" y="96"/>
                </a:cubicBezTo>
                <a:cubicBezTo>
                  <a:pt x="3440" y="72"/>
                  <a:pt x="3480" y="96"/>
                  <a:pt x="3504" y="96"/>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39" name="Freeform 7">
            <a:extLst>
              <a:ext uri="{FF2B5EF4-FFF2-40B4-BE49-F238E27FC236}">
                <a16:creationId xmlns:a16="http://schemas.microsoft.com/office/drawing/2014/main" id="{7546875B-F588-D1D5-1E69-A2DE34CFB20B}"/>
              </a:ext>
            </a:extLst>
          </p:cNvPr>
          <p:cNvSpPr>
            <a:spLocks/>
          </p:cNvSpPr>
          <p:nvPr/>
        </p:nvSpPr>
        <p:spPr bwMode="auto">
          <a:xfrm>
            <a:off x="2569346" y="3142390"/>
            <a:ext cx="5640105" cy="482712"/>
          </a:xfrm>
          <a:custGeom>
            <a:avLst/>
            <a:gdLst>
              <a:gd name="T0" fmla="*/ 0 w 3552"/>
              <a:gd name="T1" fmla="*/ 0 h 304"/>
              <a:gd name="T2" fmla="*/ 2514600 w 3552"/>
              <a:gd name="T3" fmla="*/ 457200 h 304"/>
              <a:gd name="T4" fmla="*/ 3810000 w 3552"/>
              <a:gd name="T5" fmla="*/ 152400 h 304"/>
              <a:gd name="T6" fmla="*/ 4267200 w 3552"/>
              <a:gd name="T7" fmla="*/ 76200 h 304"/>
              <a:gd name="T8" fmla="*/ 4572000 w 3552"/>
              <a:gd name="T9" fmla="*/ 76200 h 304"/>
              <a:gd name="T10" fmla="*/ 5181600 w 3552"/>
              <a:gd name="T11" fmla="*/ 228600 h 304"/>
              <a:gd name="T12" fmla="*/ 5638800 w 3552"/>
              <a:gd name="T13" fmla="*/ 304800 h 30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52" h="304">
                <a:moveTo>
                  <a:pt x="0" y="0"/>
                </a:moveTo>
                <a:cubicBezTo>
                  <a:pt x="592" y="136"/>
                  <a:pt x="1184" y="272"/>
                  <a:pt x="1584" y="288"/>
                </a:cubicBezTo>
                <a:cubicBezTo>
                  <a:pt x="1984" y="304"/>
                  <a:pt x="2216" y="136"/>
                  <a:pt x="2400" y="96"/>
                </a:cubicBezTo>
                <a:cubicBezTo>
                  <a:pt x="2584" y="56"/>
                  <a:pt x="2608" y="56"/>
                  <a:pt x="2688" y="48"/>
                </a:cubicBezTo>
                <a:cubicBezTo>
                  <a:pt x="2768" y="40"/>
                  <a:pt x="2784" y="32"/>
                  <a:pt x="2880" y="48"/>
                </a:cubicBezTo>
                <a:cubicBezTo>
                  <a:pt x="2976" y="64"/>
                  <a:pt x="3152" y="120"/>
                  <a:pt x="3264" y="144"/>
                </a:cubicBezTo>
                <a:cubicBezTo>
                  <a:pt x="3376" y="168"/>
                  <a:pt x="3464" y="180"/>
                  <a:pt x="3552" y="192"/>
                </a:cubicBezTo>
              </a:path>
            </a:pathLst>
          </a:custGeom>
          <a:noFill/>
          <a:ln w="38100" cmpd="sng">
            <a:solidFill>
              <a:srgbClr val="33CC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0" name="Line 8">
            <a:extLst>
              <a:ext uri="{FF2B5EF4-FFF2-40B4-BE49-F238E27FC236}">
                <a16:creationId xmlns:a16="http://schemas.microsoft.com/office/drawing/2014/main" id="{3EB06A69-47C4-6C2C-9973-DD43B27742CD}"/>
              </a:ext>
            </a:extLst>
          </p:cNvPr>
          <p:cNvSpPr>
            <a:spLocks noChangeShapeType="1"/>
          </p:cNvSpPr>
          <p:nvPr/>
        </p:nvSpPr>
        <p:spPr bwMode="auto">
          <a:xfrm flipH="1">
            <a:off x="3409327" y="2924852"/>
            <a:ext cx="25406" cy="25929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1" name="Text Box 9">
            <a:extLst>
              <a:ext uri="{FF2B5EF4-FFF2-40B4-BE49-F238E27FC236}">
                <a16:creationId xmlns:a16="http://schemas.microsoft.com/office/drawing/2014/main" id="{DB920B17-4412-9BA4-85D6-F2B343F40F69}"/>
              </a:ext>
            </a:extLst>
          </p:cNvPr>
          <p:cNvSpPr txBox="1">
            <a:spLocks noChangeArrowheads="1"/>
          </p:cNvSpPr>
          <p:nvPr/>
        </p:nvSpPr>
        <p:spPr bwMode="auto">
          <a:xfrm>
            <a:off x="3002834" y="1989599"/>
            <a:ext cx="1235361" cy="51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X</a:t>
            </a:r>
            <a:r>
              <a:rPr lang="en-US" altLang="zh-CN" sz="2801" b="1"/>
              <a:t>(</a:t>
            </a:r>
            <a:r>
              <a:rPr lang="en-US" altLang="zh-CN" sz="2801" b="1" i="1"/>
              <a:t>t</a:t>
            </a:r>
            <a:r>
              <a:rPr lang="en-US" altLang="zh-CN" sz="2801" b="1" baseline="-25000"/>
              <a:t>1</a:t>
            </a:r>
            <a:r>
              <a:rPr lang="en-US" altLang="zh-CN" sz="2801" b="1"/>
              <a:t>,ω)</a:t>
            </a:r>
          </a:p>
        </p:txBody>
      </p:sp>
      <p:sp>
        <p:nvSpPr>
          <p:cNvPr id="351242" name="Text Box 10">
            <a:extLst>
              <a:ext uri="{FF2B5EF4-FFF2-40B4-BE49-F238E27FC236}">
                <a16:creationId xmlns:a16="http://schemas.microsoft.com/office/drawing/2014/main" id="{0AD2FC39-09F0-7D7D-1A4F-A5578E6E9316}"/>
              </a:ext>
            </a:extLst>
          </p:cNvPr>
          <p:cNvSpPr txBox="1">
            <a:spLocks noChangeArrowheads="1"/>
          </p:cNvSpPr>
          <p:nvPr/>
        </p:nvSpPr>
        <p:spPr bwMode="auto">
          <a:xfrm>
            <a:off x="4946384" y="1989599"/>
            <a:ext cx="1235361" cy="51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X</a:t>
            </a:r>
            <a:r>
              <a:rPr lang="en-US" altLang="zh-CN" sz="2801" b="1"/>
              <a:t>(</a:t>
            </a:r>
            <a:r>
              <a:rPr lang="en-US" altLang="zh-CN" sz="2801" b="1" i="1"/>
              <a:t>t</a:t>
            </a:r>
            <a:r>
              <a:rPr lang="en-US" altLang="zh-CN" sz="2801" b="1" baseline="-25000"/>
              <a:t>2</a:t>
            </a:r>
            <a:r>
              <a:rPr lang="en-US" altLang="zh-CN" sz="2801" b="1"/>
              <a:t>,ω)</a:t>
            </a:r>
          </a:p>
        </p:txBody>
      </p:sp>
      <p:sp>
        <p:nvSpPr>
          <p:cNvPr id="351243" name="Line 11">
            <a:extLst>
              <a:ext uri="{FF2B5EF4-FFF2-40B4-BE49-F238E27FC236}">
                <a16:creationId xmlns:a16="http://schemas.microsoft.com/office/drawing/2014/main" id="{79EAA021-9F25-F0AD-E1E5-AF5878AC483F}"/>
              </a:ext>
            </a:extLst>
          </p:cNvPr>
          <p:cNvSpPr>
            <a:spLocks noChangeShapeType="1"/>
          </p:cNvSpPr>
          <p:nvPr/>
        </p:nvSpPr>
        <p:spPr bwMode="auto">
          <a:xfrm>
            <a:off x="5306830" y="2781945"/>
            <a:ext cx="7939" cy="27358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4" name="Text Box 12">
            <a:extLst>
              <a:ext uri="{FF2B5EF4-FFF2-40B4-BE49-F238E27FC236}">
                <a16:creationId xmlns:a16="http://schemas.microsoft.com/office/drawing/2014/main" id="{D696DECA-48B2-495A-E7E4-334605764DAE}"/>
              </a:ext>
            </a:extLst>
          </p:cNvPr>
          <p:cNvSpPr txBox="1">
            <a:spLocks noChangeArrowheads="1"/>
          </p:cNvSpPr>
          <p:nvPr/>
        </p:nvSpPr>
        <p:spPr bwMode="auto">
          <a:xfrm>
            <a:off x="8187221" y="2061053"/>
            <a:ext cx="1371918" cy="5192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x</a:t>
            </a:r>
            <a:r>
              <a:rPr lang="en-US" altLang="zh-CN" sz="2801" b="1"/>
              <a:t>(</a:t>
            </a:r>
            <a:r>
              <a:rPr lang="en-US" altLang="zh-CN" sz="2801" b="1" i="1"/>
              <a:t>t</a:t>
            </a:r>
            <a:r>
              <a:rPr lang="en-US" altLang="zh-CN" sz="2801" b="1"/>
              <a:t>,ω</a:t>
            </a:r>
            <a:r>
              <a:rPr lang="en-US" altLang="zh-CN" sz="2801" b="1" baseline="-25000"/>
              <a:t>1</a:t>
            </a:r>
            <a:r>
              <a:rPr lang="en-US" altLang="zh-CN" sz="2801" b="1"/>
              <a:t>)</a:t>
            </a:r>
          </a:p>
        </p:txBody>
      </p:sp>
      <p:sp>
        <p:nvSpPr>
          <p:cNvPr id="351245" name="Text Box 13">
            <a:extLst>
              <a:ext uri="{FF2B5EF4-FFF2-40B4-BE49-F238E27FC236}">
                <a16:creationId xmlns:a16="http://schemas.microsoft.com/office/drawing/2014/main" id="{B6078F5D-2297-0623-CCC3-7EE27927708F}"/>
              </a:ext>
            </a:extLst>
          </p:cNvPr>
          <p:cNvSpPr txBox="1">
            <a:spLocks noChangeArrowheads="1"/>
          </p:cNvSpPr>
          <p:nvPr/>
        </p:nvSpPr>
        <p:spPr bwMode="auto">
          <a:xfrm>
            <a:off x="8331716" y="2997895"/>
            <a:ext cx="1371918" cy="519233"/>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x</a:t>
            </a:r>
            <a:r>
              <a:rPr lang="en-US" altLang="zh-CN" sz="2801" b="1"/>
              <a:t>(</a:t>
            </a:r>
            <a:r>
              <a:rPr lang="en-US" altLang="zh-CN" sz="2801" b="1" i="1"/>
              <a:t>t</a:t>
            </a:r>
            <a:r>
              <a:rPr lang="en-US" altLang="zh-CN" sz="2801" b="1"/>
              <a:t>,ω</a:t>
            </a:r>
            <a:r>
              <a:rPr lang="en-US" altLang="zh-CN" sz="2801" b="1" baseline="-25000"/>
              <a:t>2</a:t>
            </a:r>
            <a:r>
              <a:rPr lang="en-US" altLang="zh-CN" sz="2801" b="1"/>
              <a:t>)</a:t>
            </a:r>
          </a:p>
        </p:txBody>
      </p:sp>
      <p:sp>
        <p:nvSpPr>
          <p:cNvPr id="351246" name="Text Box 14">
            <a:extLst>
              <a:ext uri="{FF2B5EF4-FFF2-40B4-BE49-F238E27FC236}">
                <a16:creationId xmlns:a16="http://schemas.microsoft.com/office/drawing/2014/main" id="{719399C4-B0C0-CC37-6ECA-2471DAB0E4AC}"/>
              </a:ext>
            </a:extLst>
          </p:cNvPr>
          <p:cNvSpPr txBox="1">
            <a:spLocks noChangeArrowheads="1"/>
          </p:cNvSpPr>
          <p:nvPr/>
        </p:nvSpPr>
        <p:spPr bwMode="auto">
          <a:xfrm>
            <a:off x="8331716" y="3717199"/>
            <a:ext cx="1371918" cy="519232"/>
          </a:xfrm>
          <a:prstGeom prst="rect">
            <a:avLst/>
          </a:prstGeom>
          <a:solidFill>
            <a:srgbClr val="FF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x</a:t>
            </a:r>
            <a:r>
              <a:rPr lang="en-US" altLang="zh-CN" sz="2801" b="1"/>
              <a:t>(</a:t>
            </a:r>
            <a:r>
              <a:rPr lang="en-US" altLang="zh-CN" sz="2801" b="1" i="1"/>
              <a:t>t</a:t>
            </a:r>
            <a:r>
              <a:rPr lang="en-US" altLang="zh-CN" sz="2801" b="1"/>
              <a:t>,ω</a:t>
            </a:r>
            <a:r>
              <a:rPr lang="en-US" altLang="zh-CN" sz="2801" b="1" baseline="-25000"/>
              <a:t>3</a:t>
            </a:r>
            <a:r>
              <a:rPr lang="en-US" altLang="zh-CN" sz="2801" b="1"/>
              <a:t>)</a:t>
            </a:r>
          </a:p>
        </p:txBody>
      </p:sp>
      <p:sp>
        <p:nvSpPr>
          <p:cNvPr id="351247" name="Text Box 15">
            <a:extLst>
              <a:ext uri="{FF2B5EF4-FFF2-40B4-BE49-F238E27FC236}">
                <a16:creationId xmlns:a16="http://schemas.microsoft.com/office/drawing/2014/main" id="{48391400-28F6-6764-38C6-FFD65D8784F2}"/>
              </a:ext>
            </a:extLst>
          </p:cNvPr>
          <p:cNvSpPr txBox="1">
            <a:spLocks noChangeArrowheads="1"/>
          </p:cNvSpPr>
          <p:nvPr/>
        </p:nvSpPr>
        <p:spPr bwMode="auto">
          <a:xfrm>
            <a:off x="3164797" y="5467029"/>
            <a:ext cx="403318" cy="51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t</a:t>
            </a:r>
            <a:r>
              <a:rPr lang="en-US" altLang="zh-CN" sz="2801" b="1" baseline="-25000"/>
              <a:t>1</a:t>
            </a:r>
            <a:endParaRPr lang="en-US" altLang="zh-CN" sz="2801" b="1"/>
          </a:p>
        </p:txBody>
      </p:sp>
      <p:sp>
        <p:nvSpPr>
          <p:cNvPr id="351248" name="Text Box 16">
            <a:extLst>
              <a:ext uri="{FF2B5EF4-FFF2-40B4-BE49-F238E27FC236}">
                <a16:creationId xmlns:a16="http://schemas.microsoft.com/office/drawing/2014/main" id="{E87F9CF1-9256-E379-0BD2-7BFFBD770660}"/>
              </a:ext>
            </a:extLst>
          </p:cNvPr>
          <p:cNvSpPr txBox="1">
            <a:spLocks noChangeArrowheads="1"/>
          </p:cNvSpPr>
          <p:nvPr/>
        </p:nvSpPr>
        <p:spPr bwMode="auto">
          <a:xfrm>
            <a:off x="5162334" y="5467029"/>
            <a:ext cx="403318" cy="51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t</a:t>
            </a:r>
            <a:r>
              <a:rPr lang="en-US" altLang="zh-CN" sz="2801" b="1" baseline="-25000"/>
              <a:t>2</a:t>
            </a:r>
            <a:endParaRPr lang="en-US" altLang="zh-CN" sz="2801" b="1"/>
          </a:p>
        </p:txBody>
      </p:sp>
      <p:sp>
        <p:nvSpPr>
          <p:cNvPr id="351249" name="Text Box 17">
            <a:extLst>
              <a:ext uri="{FF2B5EF4-FFF2-40B4-BE49-F238E27FC236}">
                <a16:creationId xmlns:a16="http://schemas.microsoft.com/office/drawing/2014/main" id="{B754D1AD-BB1B-76BC-7F7F-3C0BF79131EB}"/>
              </a:ext>
            </a:extLst>
          </p:cNvPr>
          <p:cNvSpPr txBox="1">
            <a:spLocks noChangeArrowheads="1"/>
          </p:cNvSpPr>
          <p:nvPr/>
        </p:nvSpPr>
        <p:spPr bwMode="auto">
          <a:xfrm>
            <a:off x="7126526" y="5467029"/>
            <a:ext cx="417609" cy="51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1" b="1" i="1"/>
              <a:t>t</a:t>
            </a:r>
            <a:r>
              <a:rPr lang="en-US" altLang="zh-CN" sz="2801" b="1" i="1" baseline="-25000"/>
              <a:t>n</a:t>
            </a:r>
            <a:endParaRPr lang="en-US" altLang="zh-CN" sz="2801" b="1" i="1"/>
          </a:p>
        </p:txBody>
      </p:sp>
      <p:sp>
        <p:nvSpPr>
          <p:cNvPr id="351250" name="Line 18">
            <a:extLst>
              <a:ext uri="{FF2B5EF4-FFF2-40B4-BE49-F238E27FC236}">
                <a16:creationId xmlns:a16="http://schemas.microsoft.com/office/drawing/2014/main" id="{47EC9D1D-ECA1-7FE9-61DF-107F946402A4}"/>
              </a:ext>
            </a:extLst>
          </p:cNvPr>
          <p:cNvSpPr>
            <a:spLocks noChangeShapeType="1"/>
          </p:cNvSpPr>
          <p:nvPr/>
        </p:nvSpPr>
        <p:spPr bwMode="auto">
          <a:xfrm flipV="1">
            <a:off x="7296427" y="3069349"/>
            <a:ext cx="26994" cy="24484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Rectangle 2">
            <a:extLst>
              <a:ext uri="{FF2B5EF4-FFF2-40B4-BE49-F238E27FC236}">
                <a16:creationId xmlns:a16="http://schemas.microsoft.com/office/drawing/2014/main" id="{FFCA3B46-F0EF-8F6D-6E57-5E99F8D3CCE0}"/>
              </a:ext>
            </a:extLst>
          </p:cNvPr>
          <p:cNvSpPr txBox="1">
            <a:spLocks noChangeArrowheads="1"/>
          </p:cNvSpPr>
          <p:nvPr/>
        </p:nvSpPr>
        <p:spPr>
          <a:xfrm>
            <a:off x="774700" y="352424"/>
            <a:ext cx="5334000" cy="429419"/>
          </a:xfrm>
          <a:prstGeom prst="rect">
            <a:avLst/>
          </a:prstGeom>
        </p:spPr>
        <p:txBody>
          <a:bodyPr/>
          <a:lstStyle>
            <a:lvl1pPr algn="l" defTabSz="1219835" rtl="0" eaLnBrk="1" latinLnBrk="0" hangingPunct="1">
              <a:spcBef>
                <a:spcPct val="0"/>
              </a:spcBef>
              <a:buNone/>
              <a:defRPr sz="2400" b="1" kern="1200">
                <a:solidFill>
                  <a:schemeClr val="bg1"/>
                </a:solidFill>
                <a:latin typeface="+mj-lt"/>
                <a:ea typeface="+mj-ea"/>
                <a:cs typeface="+mj-cs"/>
              </a:defRPr>
            </a:lvl1pPr>
          </a:lstStyle>
          <a:p>
            <a:r>
              <a:rPr lang="zh-CN" altLang="en-US" dirty="0"/>
              <a:t>实例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1235"/>
                                        </p:tgtEl>
                                        <p:attrNameLst>
                                          <p:attrName>style.visibility</p:attrName>
                                        </p:attrNameLst>
                                      </p:cBhvr>
                                      <p:to>
                                        <p:strVal val="visible"/>
                                      </p:to>
                                    </p:set>
                                    <p:animEffect transition="in" filter="dissolve">
                                      <p:cBhvr>
                                        <p:cTn id="7" dur="500"/>
                                        <p:tgtEl>
                                          <p:spTgt spid="351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51236"/>
                                        </p:tgtEl>
                                        <p:attrNameLst>
                                          <p:attrName>style.visibility</p:attrName>
                                        </p:attrNameLst>
                                      </p:cBhvr>
                                      <p:to>
                                        <p:strVal val="visible"/>
                                      </p:to>
                                    </p:set>
                                    <p:animEffect transition="in" filter="dissolve">
                                      <p:cBhvr>
                                        <p:cTn id="12" dur="500"/>
                                        <p:tgtEl>
                                          <p:spTgt spid="351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51238"/>
                                        </p:tgtEl>
                                        <p:attrNameLst>
                                          <p:attrName>style.visibility</p:attrName>
                                        </p:attrNameLst>
                                      </p:cBhvr>
                                      <p:to>
                                        <p:strVal val="visible"/>
                                      </p:to>
                                    </p:set>
                                    <p:animEffect transition="in" filter="dissolve">
                                      <p:cBhvr>
                                        <p:cTn id="17" dur="500"/>
                                        <p:tgtEl>
                                          <p:spTgt spid="3512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51244"/>
                                        </p:tgtEl>
                                        <p:attrNameLst>
                                          <p:attrName>style.visibility</p:attrName>
                                        </p:attrNameLst>
                                      </p:cBhvr>
                                      <p:to>
                                        <p:strVal val="visible"/>
                                      </p:to>
                                    </p:set>
                                    <p:animEffect transition="in" filter="dissolve">
                                      <p:cBhvr>
                                        <p:cTn id="22" dur="500"/>
                                        <p:tgtEl>
                                          <p:spTgt spid="3512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51239"/>
                                        </p:tgtEl>
                                        <p:attrNameLst>
                                          <p:attrName>style.visibility</p:attrName>
                                        </p:attrNameLst>
                                      </p:cBhvr>
                                      <p:to>
                                        <p:strVal val="visible"/>
                                      </p:to>
                                    </p:set>
                                    <p:animEffect transition="in" filter="dissolve">
                                      <p:cBhvr>
                                        <p:cTn id="27" dur="500"/>
                                        <p:tgtEl>
                                          <p:spTgt spid="3512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51245"/>
                                        </p:tgtEl>
                                        <p:attrNameLst>
                                          <p:attrName>style.visibility</p:attrName>
                                        </p:attrNameLst>
                                      </p:cBhvr>
                                      <p:to>
                                        <p:strVal val="visible"/>
                                      </p:to>
                                    </p:set>
                                    <p:animEffect transition="in" filter="dissolve">
                                      <p:cBhvr>
                                        <p:cTn id="32" dur="500"/>
                                        <p:tgtEl>
                                          <p:spTgt spid="3512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351237"/>
                                        </p:tgtEl>
                                        <p:attrNameLst>
                                          <p:attrName>style.visibility</p:attrName>
                                        </p:attrNameLst>
                                      </p:cBhvr>
                                      <p:to>
                                        <p:strVal val="visible"/>
                                      </p:to>
                                    </p:set>
                                    <p:animEffect transition="in" filter="dissolve">
                                      <p:cBhvr>
                                        <p:cTn id="37" dur="500"/>
                                        <p:tgtEl>
                                          <p:spTgt spid="3512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51246"/>
                                        </p:tgtEl>
                                        <p:attrNameLst>
                                          <p:attrName>style.visibility</p:attrName>
                                        </p:attrNameLst>
                                      </p:cBhvr>
                                      <p:to>
                                        <p:strVal val="visible"/>
                                      </p:to>
                                    </p:set>
                                    <p:animEffect transition="in" filter="dissolve">
                                      <p:cBhvr>
                                        <p:cTn id="42" dur="500"/>
                                        <p:tgtEl>
                                          <p:spTgt spid="35124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51247"/>
                                        </p:tgtEl>
                                        <p:attrNameLst>
                                          <p:attrName>style.visibility</p:attrName>
                                        </p:attrNameLst>
                                      </p:cBhvr>
                                      <p:to>
                                        <p:strVal val="visible"/>
                                      </p:to>
                                    </p:set>
                                    <p:animEffect transition="in" filter="dissolve">
                                      <p:cBhvr>
                                        <p:cTn id="47" dur="500"/>
                                        <p:tgtEl>
                                          <p:spTgt spid="35124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351240"/>
                                        </p:tgtEl>
                                        <p:attrNameLst>
                                          <p:attrName>style.visibility</p:attrName>
                                        </p:attrNameLst>
                                      </p:cBhvr>
                                      <p:to>
                                        <p:strVal val="visible"/>
                                      </p:to>
                                    </p:set>
                                    <p:animEffect transition="in" filter="dissolve">
                                      <p:cBhvr>
                                        <p:cTn id="52" dur="500"/>
                                        <p:tgtEl>
                                          <p:spTgt spid="35124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51241"/>
                                        </p:tgtEl>
                                        <p:attrNameLst>
                                          <p:attrName>style.visibility</p:attrName>
                                        </p:attrNameLst>
                                      </p:cBhvr>
                                      <p:to>
                                        <p:strVal val="visible"/>
                                      </p:to>
                                    </p:set>
                                    <p:animEffect transition="in" filter="dissolve">
                                      <p:cBhvr>
                                        <p:cTn id="57" dur="500"/>
                                        <p:tgtEl>
                                          <p:spTgt spid="35124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51248"/>
                                        </p:tgtEl>
                                        <p:attrNameLst>
                                          <p:attrName>style.visibility</p:attrName>
                                        </p:attrNameLst>
                                      </p:cBhvr>
                                      <p:to>
                                        <p:strVal val="visible"/>
                                      </p:to>
                                    </p:set>
                                    <p:animEffect transition="in" filter="dissolve">
                                      <p:cBhvr>
                                        <p:cTn id="62" dur="500"/>
                                        <p:tgtEl>
                                          <p:spTgt spid="35124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351243"/>
                                        </p:tgtEl>
                                        <p:attrNameLst>
                                          <p:attrName>style.visibility</p:attrName>
                                        </p:attrNameLst>
                                      </p:cBhvr>
                                      <p:to>
                                        <p:strVal val="visible"/>
                                      </p:to>
                                    </p:set>
                                    <p:animEffect transition="in" filter="dissolve">
                                      <p:cBhvr>
                                        <p:cTn id="67" dur="500"/>
                                        <p:tgtEl>
                                          <p:spTgt spid="35124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351242"/>
                                        </p:tgtEl>
                                        <p:attrNameLst>
                                          <p:attrName>style.visibility</p:attrName>
                                        </p:attrNameLst>
                                      </p:cBhvr>
                                      <p:to>
                                        <p:strVal val="visible"/>
                                      </p:to>
                                    </p:set>
                                    <p:animEffect transition="in" filter="dissolve">
                                      <p:cBhvr>
                                        <p:cTn id="72" dur="500"/>
                                        <p:tgtEl>
                                          <p:spTgt spid="35124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351249"/>
                                        </p:tgtEl>
                                        <p:attrNameLst>
                                          <p:attrName>style.visibility</p:attrName>
                                        </p:attrNameLst>
                                      </p:cBhvr>
                                      <p:to>
                                        <p:strVal val="visible"/>
                                      </p:to>
                                    </p:set>
                                    <p:animEffect transition="in" filter="dissolve">
                                      <p:cBhvr>
                                        <p:cTn id="77" dur="500"/>
                                        <p:tgtEl>
                                          <p:spTgt spid="35124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nodeType="clickEffect">
                                  <p:stCondLst>
                                    <p:cond delay="0"/>
                                  </p:stCondLst>
                                  <p:childTnLst>
                                    <p:set>
                                      <p:cBhvr>
                                        <p:cTn id="81" dur="1" fill="hold">
                                          <p:stCondLst>
                                            <p:cond delay="0"/>
                                          </p:stCondLst>
                                        </p:cTn>
                                        <p:tgtEl>
                                          <p:spTgt spid="351250"/>
                                        </p:tgtEl>
                                        <p:attrNameLst>
                                          <p:attrName>style.visibility</p:attrName>
                                        </p:attrNameLst>
                                      </p:cBhvr>
                                      <p:to>
                                        <p:strVal val="visible"/>
                                      </p:to>
                                    </p:set>
                                    <p:animEffect transition="in" filter="dissolve">
                                      <p:cBhvr>
                                        <p:cTn id="82" dur="500"/>
                                        <p:tgtEl>
                                          <p:spTgt spid="351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41" grpId="0" autoUpdateAnimBg="0"/>
      <p:bldP spid="351242" grpId="0" autoUpdateAnimBg="0"/>
      <p:bldP spid="351244" grpId="0" animBg="1" autoUpdateAnimBg="0"/>
      <p:bldP spid="351245" grpId="0" animBg="1" autoUpdateAnimBg="0"/>
      <p:bldP spid="351246" grpId="0" animBg="1" autoUpdateAnimBg="0"/>
      <p:bldP spid="351247" grpId="0" autoUpdateAnimBg="0"/>
      <p:bldP spid="351248" grpId="0" autoUpdateAnimBg="0"/>
      <p:bldP spid="35124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2258" name="Picture 2">
            <a:extLst>
              <a:ext uri="{FF2B5EF4-FFF2-40B4-BE49-F238E27FC236}">
                <a16:creationId xmlns:a16="http://schemas.microsoft.com/office/drawing/2014/main" id="{2C24F85A-E6BA-0A59-9AC1-762CDCBA7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1371" y="1700607"/>
            <a:ext cx="5905279" cy="4609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259" name="Text Box 3">
            <a:extLst>
              <a:ext uri="{FF2B5EF4-FFF2-40B4-BE49-F238E27FC236}">
                <a16:creationId xmlns:a16="http://schemas.microsoft.com/office/drawing/2014/main" id="{CC7A5638-661A-3B6C-54CD-BF997F7B2C54}"/>
              </a:ext>
            </a:extLst>
          </p:cNvPr>
          <p:cNvSpPr txBox="1">
            <a:spLocks noChangeArrowheads="1"/>
          </p:cNvSpPr>
          <p:nvPr/>
        </p:nvSpPr>
        <p:spPr bwMode="auto">
          <a:xfrm>
            <a:off x="623264" y="1177387"/>
            <a:ext cx="75745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C00000"/>
                </a:solidFill>
                <a:ea typeface="楷体_GB2312"/>
                <a:cs typeface="楷体_GB2312"/>
              </a:rPr>
              <a:t>例</a:t>
            </a:r>
            <a:r>
              <a:rPr lang="en-US" altLang="zh-CN" b="1" dirty="0">
                <a:solidFill>
                  <a:srgbClr val="C00000"/>
                </a:solidFill>
                <a:ea typeface="楷体_GB2312"/>
                <a:cs typeface="楷体_GB2312"/>
              </a:rPr>
              <a:t>1  </a:t>
            </a:r>
            <a:r>
              <a:rPr lang="zh-CN" altLang="en-US" b="1" dirty="0">
                <a:ea typeface="楷体_GB2312"/>
                <a:cs typeface="楷体_GB2312"/>
              </a:rPr>
              <a:t>随机相位正弦波  </a:t>
            </a:r>
            <a:r>
              <a:rPr lang="en-US" altLang="zh-CN" b="1" dirty="0">
                <a:solidFill>
                  <a:srgbClr val="800000"/>
                </a:solidFill>
                <a:ea typeface="楷体_GB2312"/>
                <a:cs typeface="楷体_GB2312"/>
              </a:rPr>
              <a:t>  </a:t>
            </a:r>
            <a:r>
              <a:rPr lang="en-US" altLang="zh-CN" b="1" i="1" dirty="0">
                <a:solidFill>
                  <a:srgbClr val="000066"/>
                </a:solidFill>
                <a:ea typeface="楷体_GB2312"/>
                <a:cs typeface="楷体_GB2312"/>
              </a:rPr>
              <a:t>X</a:t>
            </a:r>
            <a:r>
              <a:rPr lang="en-US" altLang="zh-CN" b="1" dirty="0">
                <a:solidFill>
                  <a:srgbClr val="000066"/>
                </a:solidFill>
                <a:ea typeface="楷体_GB2312"/>
                <a:cs typeface="楷体_GB2312"/>
              </a:rPr>
              <a:t>(</a:t>
            </a:r>
            <a:r>
              <a:rPr lang="en-US" altLang="zh-CN" b="1" i="1" dirty="0" err="1">
                <a:solidFill>
                  <a:srgbClr val="000066"/>
                </a:solidFill>
                <a:ea typeface="楷体_GB2312"/>
                <a:cs typeface="楷体_GB2312"/>
              </a:rPr>
              <a:t>t</a:t>
            </a:r>
            <a:r>
              <a:rPr lang="en-US" altLang="zh-CN" b="1" dirty="0" err="1">
                <a:solidFill>
                  <a:srgbClr val="000066"/>
                </a:solidFill>
                <a:ea typeface="楷体_GB2312"/>
                <a:cs typeface="楷体_GB2312"/>
              </a:rPr>
              <a:t>,ω</a:t>
            </a:r>
            <a:r>
              <a:rPr lang="en-US" altLang="zh-CN" b="1" dirty="0">
                <a:solidFill>
                  <a:srgbClr val="000066"/>
                </a:solidFill>
                <a:ea typeface="楷体_GB2312"/>
                <a:cs typeface="楷体_GB2312"/>
              </a:rPr>
              <a:t>) = </a:t>
            </a:r>
            <a:r>
              <a:rPr lang="en-US" altLang="zh-CN" b="1" i="1" dirty="0" err="1">
                <a:solidFill>
                  <a:srgbClr val="000066"/>
                </a:solidFill>
                <a:ea typeface="楷体_GB2312"/>
                <a:cs typeface="楷体_GB2312"/>
              </a:rPr>
              <a:t>a</a:t>
            </a:r>
            <a:r>
              <a:rPr lang="en-US" altLang="zh-CN" b="1" dirty="0" err="1">
                <a:solidFill>
                  <a:srgbClr val="000066"/>
                </a:solidFill>
                <a:ea typeface="楷体_GB2312"/>
                <a:cs typeface="楷体_GB2312"/>
              </a:rPr>
              <a:t>cos</a:t>
            </a:r>
            <a:r>
              <a:rPr lang="en-US" altLang="zh-CN" b="1" dirty="0">
                <a:solidFill>
                  <a:srgbClr val="000066"/>
                </a:solidFill>
                <a:ea typeface="楷体_GB2312"/>
                <a:cs typeface="楷体_GB2312"/>
              </a:rPr>
              <a:t>(</a:t>
            </a:r>
            <a:r>
              <a:rPr lang="en-US" altLang="zh-CN" b="1" i="1" dirty="0" err="1">
                <a:solidFill>
                  <a:srgbClr val="000066"/>
                </a:solidFill>
                <a:ea typeface="楷体_GB2312"/>
                <a:cs typeface="楷体_GB2312"/>
              </a:rPr>
              <a:t>bt</a:t>
            </a:r>
            <a:r>
              <a:rPr lang="en-US" altLang="zh-CN" b="1" dirty="0" err="1">
                <a:solidFill>
                  <a:srgbClr val="000066"/>
                </a:solidFill>
                <a:ea typeface="楷体_GB2312"/>
                <a:cs typeface="楷体_GB2312"/>
              </a:rPr>
              <a:t>+Θ</a:t>
            </a:r>
            <a:r>
              <a:rPr lang="en-US" altLang="zh-CN" b="1" dirty="0">
                <a:solidFill>
                  <a:srgbClr val="000066"/>
                </a:solidFill>
                <a:ea typeface="楷体_GB2312"/>
                <a:cs typeface="楷体_GB2312"/>
              </a:rPr>
              <a:t>), Θ~U(0,  2π) </a:t>
            </a:r>
          </a:p>
        </p:txBody>
      </p:sp>
      <p:sp>
        <p:nvSpPr>
          <p:cNvPr id="352260" name="AutoShape 4">
            <a:extLst>
              <a:ext uri="{FF2B5EF4-FFF2-40B4-BE49-F238E27FC236}">
                <a16:creationId xmlns:a16="http://schemas.microsoft.com/office/drawing/2014/main" id="{2B958A91-D67B-987B-9870-03DF8C0DF93A}"/>
              </a:ext>
            </a:extLst>
          </p:cNvPr>
          <p:cNvSpPr>
            <a:spLocks noChangeArrowheads="1"/>
          </p:cNvSpPr>
          <p:nvPr/>
        </p:nvSpPr>
        <p:spPr bwMode="auto">
          <a:xfrm>
            <a:off x="7574305" y="3213844"/>
            <a:ext cx="2592987" cy="609741"/>
          </a:xfrm>
          <a:prstGeom prst="wedgeRoundRectCallout">
            <a:avLst>
              <a:gd name="adj1" fmla="val -57593"/>
              <a:gd name="adj2" fmla="val 102083"/>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ea typeface="楷体_GB2312"/>
                <a:cs typeface="楷体_GB2312"/>
              </a:rPr>
              <a:t>ω</a:t>
            </a:r>
            <a:r>
              <a:rPr lang="en-US" altLang="zh-CN" sz="2800" b="1" baseline="-25000">
                <a:ea typeface="楷体_GB2312"/>
                <a:cs typeface="楷体_GB2312"/>
              </a:rPr>
              <a:t>2</a:t>
            </a:r>
            <a:r>
              <a:rPr lang="en-US" altLang="zh-CN" sz="2800" b="1">
                <a:ea typeface="楷体_GB2312"/>
                <a:cs typeface="楷体_GB2312"/>
              </a:rPr>
              <a:t> = 1.9164</a:t>
            </a:r>
          </a:p>
        </p:txBody>
      </p:sp>
      <p:sp>
        <p:nvSpPr>
          <p:cNvPr id="352261" name="AutoShape 5">
            <a:extLst>
              <a:ext uri="{FF2B5EF4-FFF2-40B4-BE49-F238E27FC236}">
                <a16:creationId xmlns:a16="http://schemas.microsoft.com/office/drawing/2014/main" id="{3BF903D7-8B09-950D-9786-30018047D156}"/>
              </a:ext>
            </a:extLst>
          </p:cNvPr>
          <p:cNvSpPr>
            <a:spLocks noChangeArrowheads="1"/>
          </p:cNvSpPr>
          <p:nvPr/>
        </p:nvSpPr>
        <p:spPr bwMode="auto">
          <a:xfrm>
            <a:off x="8150700" y="4150686"/>
            <a:ext cx="2521534" cy="609741"/>
          </a:xfrm>
          <a:prstGeom prst="wedgeRoundRectCallout">
            <a:avLst>
              <a:gd name="adj1" fmla="val -52708"/>
              <a:gd name="adj2" fmla="val 93750"/>
              <a:gd name="adj3" fmla="val 16667"/>
            </a:avLst>
          </a:prstGeom>
          <a:noFill/>
          <a:ln w="9525">
            <a:solidFill>
              <a:srgbClr val="000066"/>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000066"/>
                </a:solidFill>
                <a:ea typeface="楷体_GB2312"/>
                <a:cs typeface="楷体_GB2312"/>
              </a:rPr>
              <a:t>ω</a:t>
            </a:r>
            <a:r>
              <a:rPr lang="en-US" altLang="zh-CN" sz="2800" b="1" baseline="-25000">
                <a:solidFill>
                  <a:srgbClr val="000066"/>
                </a:solidFill>
                <a:ea typeface="楷体_GB2312"/>
                <a:cs typeface="楷体_GB2312"/>
              </a:rPr>
              <a:t>3</a:t>
            </a:r>
            <a:r>
              <a:rPr lang="en-US" altLang="zh-CN" sz="2800" b="1">
                <a:solidFill>
                  <a:srgbClr val="000066"/>
                </a:solidFill>
                <a:ea typeface="楷体_GB2312"/>
                <a:cs typeface="楷体_GB2312"/>
              </a:rPr>
              <a:t> = 2.6099</a:t>
            </a:r>
          </a:p>
        </p:txBody>
      </p:sp>
      <p:sp>
        <p:nvSpPr>
          <p:cNvPr id="352262" name="AutoShape 6">
            <a:extLst>
              <a:ext uri="{FF2B5EF4-FFF2-40B4-BE49-F238E27FC236}">
                <a16:creationId xmlns:a16="http://schemas.microsoft.com/office/drawing/2014/main" id="{D729B321-3C11-7CC6-48CB-653CFADA930D}"/>
              </a:ext>
            </a:extLst>
          </p:cNvPr>
          <p:cNvSpPr>
            <a:spLocks noChangeArrowheads="1"/>
          </p:cNvSpPr>
          <p:nvPr/>
        </p:nvSpPr>
        <p:spPr bwMode="auto">
          <a:xfrm>
            <a:off x="8150700" y="2134094"/>
            <a:ext cx="2377038" cy="609741"/>
          </a:xfrm>
          <a:prstGeom prst="wedgeRoundRectCallout">
            <a:avLst>
              <a:gd name="adj1" fmla="val -75718"/>
              <a:gd name="adj2" fmla="val -5727"/>
              <a:gd name="adj3" fmla="val 16667"/>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800000"/>
                </a:solidFill>
                <a:ea typeface="楷体_GB2312"/>
                <a:cs typeface="楷体_GB2312"/>
              </a:rPr>
              <a:t>ω</a:t>
            </a:r>
            <a:r>
              <a:rPr lang="en-US" altLang="zh-CN" sz="2800" b="1" baseline="-25000">
                <a:solidFill>
                  <a:srgbClr val="800000"/>
                </a:solidFill>
                <a:ea typeface="楷体_GB2312"/>
                <a:cs typeface="楷体_GB2312"/>
              </a:rPr>
              <a:t>1</a:t>
            </a:r>
            <a:r>
              <a:rPr lang="en-US" altLang="zh-CN" sz="2800" b="1">
                <a:solidFill>
                  <a:srgbClr val="800000"/>
                </a:solidFill>
                <a:ea typeface="楷体_GB2312"/>
                <a:cs typeface="楷体_GB2312"/>
              </a:rPr>
              <a:t> =5.4938</a:t>
            </a:r>
          </a:p>
        </p:txBody>
      </p:sp>
      <p:sp>
        <p:nvSpPr>
          <p:cNvPr id="2" name="Rectangle 2">
            <a:extLst>
              <a:ext uri="{FF2B5EF4-FFF2-40B4-BE49-F238E27FC236}">
                <a16:creationId xmlns:a16="http://schemas.microsoft.com/office/drawing/2014/main" id="{1D3257F6-14ED-EEC3-8356-16EF6FBDFBBD}"/>
              </a:ext>
            </a:extLst>
          </p:cNvPr>
          <p:cNvSpPr txBox="1">
            <a:spLocks noChangeArrowheads="1"/>
          </p:cNvSpPr>
          <p:nvPr/>
        </p:nvSpPr>
        <p:spPr>
          <a:xfrm>
            <a:off x="774700" y="352424"/>
            <a:ext cx="5334000" cy="429419"/>
          </a:xfrm>
          <a:prstGeom prst="rect">
            <a:avLst/>
          </a:prstGeom>
        </p:spPr>
        <p:txBody>
          <a:bodyPr/>
          <a:lstStyle>
            <a:lvl1pPr algn="l" defTabSz="1219835" rtl="0" eaLnBrk="1" latinLnBrk="0" hangingPunct="1">
              <a:spcBef>
                <a:spcPct val="0"/>
              </a:spcBef>
              <a:buNone/>
              <a:defRPr sz="2400" b="1" kern="1200">
                <a:solidFill>
                  <a:schemeClr val="bg1"/>
                </a:solidFill>
                <a:latin typeface="+mj-lt"/>
                <a:ea typeface="+mj-ea"/>
                <a:cs typeface="+mj-cs"/>
              </a:defRPr>
            </a:lvl1pPr>
          </a:lstStyle>
          <a:p>
            <a:r>
              <a:rPr lang="zh-CN" altLang="en-US" dirty="0"/>
              <a:t>实例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2259"/>
                                        </p:tgtEl>
                                        <p:attrNameLst>
                                          <p:attrName>style.visibility</p:attrName>
                                        </p:attrNameLst>
                                      </p:cBhvr>
                                      <p:to>
                                        <p:strVal val="visible"/>
                                      </p:to>
                                    </p:set>
                                    <p:animEffect transition="in" filter="wipe(left)">
                                      <p:cBhvr>
                                        <p:cTn id="7" dur="500"/>
                                        <p:tgtEl>
                                          <p:spTgt spid="3522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352258"/>
                                        </p:tgtEl>
                                        <p:attrNameLst>
                                          <p:attrName>style.visibility</p:attrName>
                                        </p:attrNameLst>
                                      </p:cBhvr>
                                      <p:to>
                                        <p:strVal val="visible"/>
                                      </p:to>
                                    </p:set>
                                    <p:animEffect transition="in" filter="wedge">
                                      <p:cBhvr>
                                        <p:cTn id="12" dur="2000"/>
                                        <p:tgtEl>
                                          <p:spTgt spid="3522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2262"/>
                                        </p:tgtEl>
                                        <p:attrNameLst>
                                          <p:attrName>style.visibility</p:attrName>
                                        </p:attrNameLst>
                                      </p:cBhvr>
                                      <p:to>
                                        <p:strVal val="visible"/>
                                      </p:to>
                                    </p:set>
                                    <p:animEffect transition="in" filter="wipe(left)">
                                      <p:cBhvr>
                                        <p:cTn id="17" dur="500"/>
                                        <p:tgtEl>
                                          <p:spTgt spid="3522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2260"/>
                                        </p:tgtEl>
                                        <p:attrNameLst>
                                          <p:attrName>style.visibility</p:attrName>
                                        </p:attrNameLst>
                                      </p:cBhvr>
                                      <p:to>
                                        <p:strVal val="visible"/>
                                      </p:to>
                                    </p:set>
                                    <p:animEffect transition="in" filter="wipe(left)">
                                      <p:cBhvr>
                                        <p:cTn id="22" dur="500"/>
                                        <p:tgtEl>
                                          <p:spTgt spid="3522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2261"/>
                                        </p:tgtEl>
                                        <p:attrNameLst>
                                          <p:attrName>style.visibility</p:attrName>
                                        </p:attrNameLst>
                                      </p:cBhvr>
                                      <p:to>
                                        <p:strVal val="visible"/>
                                      </p:to>
                                    </p:set>
                                    <p:animEffect transition="in" filter="wipe(left)">
                                      <p:cBhvr>
                                        <p:cTn id="27" dur="500"/>
                                        <p:tgtEl>
                                          <p:spTgt spid="352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p:bldP spid="352260" grpId="0" animBg="1"/>
      <p:bldP spid="352261" grpId="0" animBg="1"/>
      <p:bldP spid="35226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Text Box 2">
            <a:extLst>
              <a:ext uri="{FF2B5EF4-FFF2-40B4-BE49-F238E27FC236}">
                <a16:creationId xmlns:a16="http://schemas.microsoft.com/office/drawing/2014/main" id="{2C2D9448-61E4-F0CB-D239-160B3EEABCBB}"/>
              </a:ext>
            </a:extLst>
          </p:cNvPr>
          <p:cNvSpPr txBox="1">
            <a:spLocks noChangeArrowheads="1"/>
          </p:cNvSpPr>
          <p:nvPr/>
        </p:nvSpPr>
        <p:spPr bwMode="auto">
          <a:xfrm>
            <a:off x="460375" y="978701"/>
            <a:ext cx="7634467"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C00000"/>
                </a:solidFill>
                <a:latin typeface="+mn-ea"/>
                <a:ea typeface="+mn-ea"/>
                <a:cs typeface="楷体_GB2312"/>
              </a:rPr>
              <a:t>    </a:t>
            </a:r>
            <a:r>
              <a:rPr lang="zh-CN" altLang="en-US" b="1" dirty="0">
                <a:solidFill>
                  <a:srgbClr val="C00000"/>
                </a:solidFill>
                <a:latin typeface="+mn-ea"/>
                <a:ea typeface="+mn-ea"/>
                <a:cs typeface="楷体_GB2312"/>
              </a:rPr>
              <a:t>例</a:t>
            </a:r>
            <a:r>
              <a:rPr lang="en-US" altLang="zh-CN" b="1" dirty="0">
                <a:solidFill>
                  <a:srgbClr val="C00000"/>
                </a:solidFill>
                <a:latin typeface="+mn-ea"/>
                <a:ea typeface="+mn-ea"/>
                <a:cs typeface="楷体_GB2312"/>
              </a:rPr>
              <a:t>2  </a:t>
            </a:r>
            <a:r>
              <a:rPr lang="zh-CN" altLang="en-US" b="1" dirty="0">
                <a:solidFill>
                  <a:srgbClr val="000066"/>
                </a:solidFill>
                <a:latin typeface="+mn-ea"/>
                <a:ea typeface="+mn-ea"/>
                <a:cs typeface="楷体_GB2312"/>
              </a:rPr>
              <a:t>抛一次硬币定义一个随机过程如下</a:t>
            </a:r>
          </a:p>
        </p:txBody>
      </p:sp>
      <mc:AlternateContent xmlns:mc="http://schemas.openxmlformats.org/markup-compatibility/2006" xmlns:a14="http://schemas.microsoft.com/office/drawing/2010/main">
        <mc:Choice Requires="a14">
          <p:sp>
            <p:nvSpPr>
              <p:cNvPr id="353283" name="Object 3">
                <a:extLst>
                  <a:ext uri="{FF2B5EF4-FFF2-40B4-BE49-F238E27FC236}">
                    <a16:creationId xmlns:a16="http://schemas.microsoft.com/office/drawing/2014/main" id="{8208DDD5-CEE8-DB6B-86D3-3336249273E8}"/>
                  </a:ext>
                </a:extLst>
              </p:cNvPr>
              <p:cNvSpPr txBox="1"/>
              <p:nvPr/>
            </p:nvSpPr>
            <p:spPr bwMode="auto">
              <a:xfrm>
                <a:off x="1450975" y="1255106"/>
                <a:ext cx="6737350" cy="1555755"/>
              </a:xfrm>
              <a:prstGeom prst="rect">
                <a:avLst/>
              </a:prstGeom>
              <a:noFill/>
              <a:ln>
                <a:noFill/>
              </a:ln>
              <a:effectLst/>
            </p:spPr>
            <p:txBody>
              <a:bodyPr>
                <a:normAutofit/>
              </a:bodyPr>
              <a:lstStyle/>
              <a:p>
                <a:pPr>
                  <a:lnSpc>
                    <a:spcPct val="150000"/>
                  </a:lnSpc>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𝑋</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𝑡</m:t>
                      </m:r>
                      <m:r>
                        <a:rPr lang="zh-CN" altLang="en-US" i="1" smtClean="0">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𝐜𝐨𝐬</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m>
                                <m:mPr>
                                  <m:plcHide m:val="on"/>
                                  <m:mcs>
                                    <m:mc>
                                      <m:mcPr>
                                        <m:count m:val="2"/>
                                        <m:mcJc m:val="center"/>
                                      </m:mcPr>
                                    </m:mc>
                                  </m:mcs>
                                  <m:ctrlPr>
                                    <a:rPr lang="zh-CN" altLang="en-US" i="1">
                                      <a:solidFill>
                                        <a:srgbClr val="000000"/>
                                      </a:solidFill>
                                      <a:latin typeface="Cambria Math" panose="02040503050406030204" pitchFamily="18" charset="0"/>
                                    </a:rPr>
                                  </m:ctrlPr>
                                </m:mPr>
                                <m:mr>
                                  <m:e/>
                                  <m:e>
                                    <m:r>
                                      <a:rPr lang="zh-CN" altLang="en-US" i="1">
                                        <a:solidFill>
                                          <a:srgbClr val="000000"/>
                                        </a:solidFill>
                                        <a:latin typeface="Cambria Math" panose="02040503050406030204" pitchFamily="18" charset="0"/>
                                      </a:rPr>
                                      <m:t>出现正面；</m:t>
                                    </m:r>
                                  </m:e>
                                </m:mr>
                              </m:m>
                            </m:e>
                            <m:e>
                              <m:r>
                                <a:rPr lang="zh-CN" altLang="en-US" i="1">
                                  <a:solidFill>
                                    <a:srgbClr val="000000"/>
                                  </a:solidFill>
                                  <a:latin typeface="Cambria Math" panose="02040503050406030204" pitchFamily="18" charset="0"/>
                                </a:rPr>
                                <m:t>&amp;</m:t>
                              </m:r>
                              <m:r>
                                <a:rPr lang="zh-CN" altLang="en-US" i="1">
                                  <a:solidFill>
                                    <a:srgbClr val="000000"/>
                                  </a:solidFill>
                                  <a:latin typeface="Cambria Math" panose="02040503050406030204" pitchFamily="18" charset="0"/>
                                </a:rPr>
                                <m:t>𝟐</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m>
                                <m:mPr>
                                  <m:plcHide m:val="on"/>
                                  <m:mcs>
                                    <m:mc>
                                      <m:mcPr>
                                        <m:count m:val="2"/>
                                        <m:mcJc m:val="center"/>
                                      </m:mcPr>
                                    </m:mc>
                                  </m:mcs>
                                  <m:ctrlPr>
                                    <a:rPr lang="zh-CN" altLang="en-US" i="1">
                                      <a:solidFill>
                                        <a:srgbClr val="000000"/>
                                      </a:solidFill>
                                      <a:latin typeface="Cambria Math" panose="02040503050406030204" pitchFamily="18" charset="0"/>
                                    </a:rPr>
                                  </m:ctrlPr>
                                </m:mPr>
                                <m:mr>
                                  <m:e>
                                    <m:m>
                                      <m:mPr>
                                        <m:plcHide m:val="on"/>
                                        <m:mcs>
                                          <m:mc>
                                            <m:mcPr>
                                              <m:count m:val="2"/>
                                              <m:mcJc m:val="center"/>
                                            </m:mcPr>
                                          </m:mc>
                                        </m:mcs>
                                        <m:ctrlPr>
                                          <a:rPr lang="zh-CN" altLang="en-US" i="1">
                                            <a:solidFill>
                                              <a:srgbClr val="000000"/>
                                            </a:solidFill>
                                            <a:latin typeface="Cambria Math" panose="02040503050406030204" pitchFamily="18" charset="0"/>
                                          </a:rPr>
                                        </m:ctrlPr>
                                      </m:mPr>
                                      <m:mr>
                                        <m:e/>
                                        <m:e/>
                                      </m:mr>
                                    </m:m>
                                  </m:e>
                                  <m:e>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出现反面</m:t>
                                    </m:r>
                                    <m:r>
                                      <a:rPr lang="zh-CN" altLang="en-US" i="1">
                                        <a:solidFill>
                                          <a:srgbClr val="000000"/>
                                        </a:solidFill>
                                        <a:latin typeface="Cambria Math" panose="02040503050406030204" pitchFamily="18" charset="0"/>
                                      </a:rPr>
                                      <m:t>.</m:t>
                                    </m:r>
                                  </m:e>
                                </m:mr>
                              </m:m>
                            </m:e>
                          </m:eqArr>
                        </m:e>
                      </m:d>
                      <m:m>
                        <m:mPr>
                          <m:plcHide m:val="on"/>
                          <m:mcs>
                            <m:mc>
                              <m:mcPr>
                                <m:count m:val="2"/>
                                <m:mcJc m:val="center"/>
                              </m:mcPr>
                            </m:mc>
                          </m:mcs>
                          <m:ctrlPr>
                            <a:rPr lang="zh-CN" altLang="en-US" i="1">
                              <a:solidFill>
                                <a:srgbClr val="000000"/>
                              </a:solidFill>
                              <a:latin typeface="Cambria Math" panose="02040503050406030204" pitchFamily="18" charset="0"/>
                            </a:rPr>
                          </m:ctrlPr>
                        </m:mPr>
                        <m:mr>
                          <m:e/>
                          <m:e>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e>
                        </m:mr>
                      </m:m>
                    </m:oMath>
                  </m:oMathPara>
                </a14:m>
                <a:endParaRPr lang="zh-CN" altLang="en-US" dirty="0"/>
              </a:p>
            </p:txBody>
          </p:sp>
        </mc:Choice>
        <mc:Fallback xmlns="">
          <p:sp>
            <p:nvSpPr>
              <p:cNvPr id="353283" name="Object 3">
                <a:extLst>
                  <a:ext uri="{FF2B5EF4-FFF2-40B4-BE49-F238E27FC236}">
                    <a16:creationId xmlns:a16="http://schemas.microsoft.com/office/drawing/2014/main" id="{8208DDD5-CEE8-DB6B-86D3-3336249273E8}"/>
                  </a:ext>
                </a:extLst>
              </p:cNvPr>
              <p:cNvSpPr txBox="1">
                <a:spLocks noRot="1" noChangeAspect="1" noMove="1" noResize="1" noEditPoints="1" noAdjustHandles="1" noChangeArrowheads="1" noChangeShapeType="1" noTextEdit="1"/>
              </p:cNvSpPr>
              <p:nvPr/>
            </p:nvSpPr>
            <p:spPr bwMode="auto">
              <a:xfrm>
                <a:off x="1450975" y="1255106"/>
                <a:ext cx="6737350" cy="1555755"/>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353284" name="Text Box 4">
            <a:extLst>
              <a:ext uri="{FF2B5EF4-FFF2-40B4-BE49-F238E27FC236}">
                <a16:creationId xmlns:a16="http://schemas.microsoft.com/office/drawing/2014/main" id="{BF620D24-4096-9BF5-6F7D-C133128EE39D}"/>
              </a:ext>
            </a:extLst>
          </p:cNvPr>
          <p:cNvSpPr txBox="1">
            <a:spLocks noChangeArrowheads="1"/>
          </p:cNvSpPr>
          <p:nvPr/>
        </p:nvSpPr>
        <p:spPr bwMode="auto">
          <a:xfrm>
            <a:off x="384176" y="2677677"/>
            <a:ext cx="8458200"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000066"/>
                </a:solidFill>
                <a:latin typeface="+mn-ea"/>
                <a:ea typeface="+mn-ea"/>
                <a:cs typeface="楷体_GB2312"/>
              </a:rPr>
              <a:t>      </a:t>
            </a:r>
            <a:r>
              <a:rPr lang="zh-CN" altLang="en-US" b="1" dirty="0">
                <a:solidFill>
                  <a:srgbClr val="000066"/>
                </a:solidFill>
                <a:latin typeface="+mn-ea"/>
                <a:ea typeface="+mn-ea"/>
                <a:cs typeface="楷体_GB2312"/>
              </a:rPr>
              <a:t>设出现正反面的概率相同 </a:t>
            </a:r>
            <a:r>
              <a:rPr lang="en-US" altLang="zh-CN" b="1" dirty="0">
                <a:solidFill>
                  <a:srgbClr val="000066"/>
                </a:solidFill>
                <a:latin typeface="+mn-ea"/>
                <a:ea typeface="+mn-ea"/>
                <a:cs typeface="楷体_GB2312"/>
              </a:rPr>
              <a:t>, </a:t>
            </a:r>
            <a:r>
              <a:rPr lang="zh-CN" altLang="en-US" b="1" dirty="0">
                <a:solidFill>
                  <a:srgbClr val="000066"/>
                </a:solidFill>
                <a:latin typeface="+mn-ea"/>
                <a:ea typeface="+mn-ea"/>
                <a:cs typeface="楷体_GB2312"/>
              </a:rPr>
              <a:t>写出 </a:t>
            </a:r>
            <a:r>
              <a:rPr lang="en-US" altLang="zh-CN" b="1" i="1" dirty="0">
                <a:solidFill>
                  <a:srgbClr val="000066"/>
                </a:solidFill>
                <a:latin typeface="+mn-ea"/>
                <a:ea typeface="+mn-ea"/>
                <a:cs typeface="楷体_GB2312"/>
              </a:rPr>
              <a:t>X</a:t>
            </a:r>
            <a:r>
              <a:rPr lang="en-US" altLang="zh-CN" b="1" dirty="0">
                <a:solidFill>
                  <a:srgbClr val="000066"/>
                </a:solidFill>
                <a:latin typeface="+mn-ea"/>
                <a:ea typeface="+mn-ea"/>
                <a:cs typeface="楷体_GB2312"/>
              </a:rPr>
              <a:t>(</a:t>
            </a:r>
            <a:r>
              <a:rPr lang="en-US" altLang="zh-CN" b="1" i="1" dirty="0">
                <a:solidFill>
                  <a:srgbClr val="000066"/>
                </a:solidFill>
                <a:latin typeface="+mn-ea"/>
                <a:ea typeface="+mn-ea"/>
                <a:cs typeface="楷体_GB2312"/>
              </a:rPr>
              <a:t>t </a:t>
            </a:r>
            <a:r>
              <a:rPr lang="en-US" altLang="zh-CN" b="1" dirty="0">
                <a:solidFill>
                  <a:srgbClr val="000066"/>
                </a:solidFill>
                <a:latin typeface="+mn-ea"/>
                <a:ea typeface="+mn-ea"/>
                <a:cs typeface="楷体_GB2312"/>
              </a:rPr>
              <a:t>) </a:t>
            </a:r>
            <a:r>
              <a:rPr lang="zh-CN" altLang="en-US" b="1" dirty="0">
                <a:solidFill>
                  <a:srgbClr val="000066"/>
                </a:solidFill>
                <a:latin typeface="+mn-ea"/>
                <a:ea typeface="+mn-ea"/>
                <a:cs typeface="楷体_GB2312"/>
              </a:rPr>
              <a:t>的所有样本函数</a:t>
            </a:r>
            <a:r>
              <a:rPr lang="en-US" altLang="zh-CN" b="1" dirty="0">
                <a:solidFill>
                  <a:srgbClr val="000066"/>
                </a:solidFill>
                <a:latin typeface="+mn-ea"/>
                <a:ea typeface="+mn-ea"/>
                <a:cs typeface="楷体_GB2312"/>
              </a:rPr>
              <a:t>.</a:t>
            </a:r>
          </a:p>
        </p:txBody>
      </p:sp>
      <p:sp>
        <p:nvSpPr>
          <p:cNvPr id="353285" name="Text Box 5">
            <a:extLst>
              <a:ext uri="{FF2B5EF4-FFF2-40B4-BE49-F238E27FC236}">
                <a16:creationId xmlns:a16="http://schemas.microsoft.com/office/drawing/2014/main" id="{B920C0C9-E73C-B91E-3ABB-B242054E7FB0}"/>
              </a:ext>
            </a:extLst>
          </p:cNvPr>
          <p:cNvSpPr txBox="1">
            <a:spLocks noChangeArrowheads="1"/>
          </p:cNvSpPr>
          <p:nvPr/>
        </p:nvSpPr>
        <p:spPr bwMode="auto">
          <a:xfrm>
            <a:off x="903178" y="3443785"/>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800000"/>
                </a:solidFill>
                <a:latin typeface="+mn-ea"/>
                <a:ea typeface="+mn-ea"/>
                <a:cs typeface="楷体_GB2312"/>
              </a:rPr>
              <a:t>解</a:t>
            </a:r>
          </a:p>
        </p:txBody>
      </p:sp>
      <p:sp>
        <p:nvSpPr>
          <p:cNvPr id="353286" name="Text Box 6">
            <a:extLst>
              <a:ext uri="{FF2B5EF4-FFF2-40B4-BE49-F238E27FC236}">
                <a16:creationId xmlns:a16="http://schemas.microsoft.com/office/drawing/2014/main" id="{92274027-5478-1C4C-EEDF-3F6193846435}"/>
              </a:ext>
            </a:extLst>
          </p:cNvPr>
          <p:cNvSpPr txBox="1">
            <a:spLocks noChangeArrowheads="1"/>
          </p:cNvSpPr>
          <p:nvPr/>
        </p:nvSpPr>
        <p:spPr bwMode="auto">
          <a:xfrm>
            <a:off x="1374775" y="3467602"/>
            <a:ext cx="29626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latin typeface="+mn-ea"/>
                <a:ea typeface="+mn-ea"/>
                <a:cs typeface="楷体_GB2312"/>
              </a:rPr>
              <a:t>记  </a:t>
            </a:r>
            <a:r>
              <a:rPr lang="en-US" altLang="zh-CN" b="1" dirty="0">
                <a:solidFill>
                  <a:srgbClr val="000066"/>
                </a:solidFill>
                <a:latin typeface="+mn-ea"/>
                <a:ea typeface="+mn-ea"/>
                <a:cs typeface="楷体_GB2312"/>
              </a:rPr>
              <a:t>ω</a:t>
            </a:r>
            <a:r>
              <a:rPr lang="en-US" altLang="zh-CN" b="1" baseline="-25000" dirty="0">
                <a:solidFill>
                  <a:srgbClr val="000066"/>
                </a:solidFill>
                <a:latin typeface="+mn-ea"/>
                <a:ea typeface="+mn-ea"/>
                <a:cs typeface="楷体_GB2312"/>
              </a:rPr>
              <a:t>1</a:t>
            </a:r>
            <a:r>
              <a:rPr lang="en-US" altLang="zh-CN" b="1" dirty="0">
                <a:solidFill>
                  <a:srgbClr val="000066"/>
                </a:solidFill>
                <a:latin typeface="+mn-ea"/>
                <a:ea typeface="+mn-ea"/>
                <a:cs typeface="楷体_GB2312"/>
              </a:rPr>
              <a:t>= {</a:t>
            </a:r>
            <a:r>
              <a:rPr lang="zh-CN" altLang="en-US" b="1" dirty="0">
                <a:solidFill>
                  <a:srgbClr val="000066"/>
                </a:solidFill>
                <a:latin typeface="+mn-ea"/>
                <a:ea typeface="+mn-ea"/>
                <a:cs typeface="楷体_GB2312"/>
              </a:rPr>
              <a:t>出现正面</a:t>
            </a:r>
            <a:r>
              <a:rPr lang="en-US" altLang="zh-CN" b="1" dirty="0">
                <a:solidFill>
                  <a:srgbClr val="000066"/>
                </a:solidFill>
                <a:latin typeface="+mn-ea"/>
                <a:ea typeface="+mn-ea"/>
                <a:cs typeface="楷体_GB2312"/>
              </a:rPr>
              <a:t>},</a:t>
            </a:r>
          </a:p>
        </p:txBody>
      </p:sp>
      <p:sp>
        <p:nvSpPr>
          <p:cNvPr id="353287" name="Text Box 7">
            <a:extLst>
              <a:ext uri="{FF2B5EF4-FFF2-40B4-BE49-F238E27FC236}">
                <a16:creationId xmlns:a16="http://schemas.microsoft.com/office/drawing/2014/main" id="{DD05EBEC-4077-7CF8-CF79-74621227B5B1}"/>
              </a:ext>
            </a:extLst>
          </p:cNvPr>
          <p:cNvSpPr txBox="1">
            <a:spLocks noChangeArrowheads="1"/>
          </p:cNvSpPr>
          <p:nvPr/>
        </p:nvSpPr>
        <p:spPr bwMode="auto">
          <a:xfrm>
            <a:off x="1865294" y="4177805"/>
            <a:ext cx="24721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66"/>
                </a:solidFill>
                <a:latin typeface="+mn-ea"/>
                <a:ea typeface="+mn-ea"/>
                <a:cs typeface="楷体_GB2312"/>
              </a:rPr>
              <a:t>ω</a:t>
            </a:r>
            <a:r>
              <a:rPr lang="en-US" altLang="zh-CN" b="1" baseline="-25000" dirty="0">
                <a:solidFill>
                  <a:srgbClr val="000066"/>
                </a:solidFill>
                <a:latin typeface="+mn-ea"/>
                <a:ea typeface="+mn-ea"/>
                <a:cs typeface="楷体_GB2312"/>
              </a:rPr>
              <a:t>2</a:t>
            </a:r>
            <a:r>
              <a:rPr lang="en-US" altLang="zh-CN" b="1" dirty="0">
                <a:solidFill>
                  <a:srgbClr val="000066"/>
                </a:solidFill>
                <a:latin typeface="+mn-ea"/>
                <a:ea typeface="+mn-ea"/>
                <a:cs typeface="楷体_GB2312"/>
              </a:rPr>
              <a:t>= {</a:t>
            </a:r>
            <a:r>
              <a:rPr lang="zh-CN" altLang="en-US" b="1" dirty="0">
                <a:solidFill>
                  <a:srgbClr val="000066"/>
                </a:solidFill>
                <a:latin typeface="+mn-ea"/>
                <a:ea typeface="+mn-ea"/>
                <a:cs typeface="楷体_GB2312"/>
              </a:rPr>
              <a:t>出现反面</a:t>
            </a:r>
            <a:r>
              <a:rPr lang="en-US" altLang="zh-CN" b="1" dirty="0">
                <a:solidFill>
                  <a:srgbClr val="000066"/>
                </a:solidFill>
                <a:latin typeface="+mn-ea"/>
                <a:ea typeface="+mn-ea"/>
                <a:cs typeface="楷体_GB2312"/>
              </a:rPr>
              <a:t>},</a:t>
            </a:r>
          </a:p>
        </p:txBody>
      </p:sp>
      <p:sp>
        <p:nvSpPr>
          <p:cNvPr id="353288" name="Text Box 8">
            <a:extLst>
              <a:ext uri="{FF2B5EF4-FFF2-40B4-BE49-F238E27FC236}">
                <a16:creationId xmlns:a16="http://schemas.microsoft.com/office/drawing/2014/main" id="{230F24E4-A8DE-016F-DF36-6EAB5CC0926C}"/>
              </a:ext>
            </a:extLst>
          </p:cNvPr>
          <p:cNvSpPr txBox="1">
            <a:spLocks noChangeArrowheads="1"/>
          </p:cNvSpPr>
          <p:nvPr/>
        </p:nvSpPr>
        <p:spPr bwMode="auto">
          <a:xfrm>
            <a:off x="1397000" y="4909239"/>
            <a:ext cx="45497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latin typeface="+mn-ea"/>
                <a:ea typeface="+mn-ea"/>
                <a:cs typeface="楷体_GB2312"/>
              </a:rPr>
              <a:t>则</a:t>
            </a:r>
            <a:r>
              <a:rPr lang="en-US" altLang="zh-CN" b="1" i="1" dirty="0">
                <a:solidFill>
                  <a:srgbClr val="000066"/>
                </a:solidFill>
                <a:latin typeface="+mn-ea"/>
                <a:ea typeface="+mn-ea"/>
                <a:cs typeface="楷体_GB2312"/>
              </a:rPr>
              <a:t>X</a:t>
            </a:r>
            <a:r>
              <a:rPr lang="en-US" altLang="zh-CN" b="1" dirty="0">
                <a:solidFill>
                  <a:srgbClr val="000066"/>
                </a:solidFill>
                <a:latin typeface="+mn-ea"/>
                <a:ea typeface="+mn-ea"/>
                <a:cs typeface="楷体_GB2312"/>
              </a:rPr>
              <a:t>(</a:t>
            </a:r>
            <a:r>
              <a:rPr lang="en-US" altLang="zh-CN" b="1" i="1" dirty="0">
                <a:solidFill>
                  <a:srgbClr val="000066"/>
                </a:solidFill>
                <a:latin typeface="+mn-ea"/>
                <a:ea typeface="+mn-ea"/>
                <a:cs typeface="楷体_GB2312"/>
              </a:rPr>
              <a:t>t </a:t>
            </a:r>
            <a:r>
              <a:rPr lang="en-US" altLang="zh-CN" b="1" dirty="0">
                <a:solidFill>
                  <a:srgbClr val="000066"/>
                </a:solidFill>
                <a:latin typeface="+mn-ea"/>
                <a:ea typeface="+mn-ea"/>
                <a:cs typeface="楷体_GB2312"/>
              </a:rPr>
              <a:t>)</a:t>
            </a:r>
            <a:r>
              <a:rPr lang="zh-CN" altLang="en-US" b="1" dirty="0">
                <a:solidFill>
                  <a:srgbClr val="000066"/>
                </a:solidFill>
                <a:latin typeface="+mn-ea"/>
                <a:ea typeface="+mn-ea"/>
                <a:cs typeface="楷体_GB2312"/>
              </a:rPr>
              <a:t>的所有样本函数为两条</a:t>
            </a:r>
          </a:p>
        </p:txBody>
      </p:sp>
      <p:sp>
        <p:nvSpPr>
          <p:cNvPr id="353289" name="Text Box 9">
            <a:extLst>
              <a:ext uri="{FF2B5EF4-FFF2-40B4-BE49-F238E27FC236}">
                <a16:creationId xmlns:a16="http://schemas.microsoft.com/office/drawing/2014/main" id="{FC1A4208-4091-2925-68EE-A4BB9A8CD8E5}"/>
              </a:ext>
            </a:extLst>
          </p:cNvPr>
          <p:cNvSpPr txBox="1">
            <a:spLocks noChangeArrowheads="1"/>
          </p:cNvSpPr>
          <p:nvPr/>
        </p:nvSpPr>
        <p:spPr bwMode="auto">
          <a:xfrm>
            <a:off x="1360479" y="5595198"/>
            <a:ext cx="30877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dirty="0">
                <a:solidFill>
                  <a:srgbClr val="000066"/>
                </a:solidFill>
                <a:latin typeface="+mn-ea"/>
                <a:ea typeface="+mn-ea"/>
                <a:cs typeface="楷体_GB2312"/>
              </a:rPr>
              <a:t>x</a:t>
            </a:r>
            <a:r>
              <a:rPr lang="en-US" altLang="zh-CN" b="1" dirty="0">
                <a:solidFill>
                  <a:srgbClr val="000066"/>
                </a:solidFill>
                <a:latin typeface="+mn-ea"/>
                <a:ea typeface="+mn-ea"/>
                <a:cs typeface="楷体_GB2312"/>
              </a:rPr>
              <a:t>(ω</a:t>
            </a:r>
            <a:r>
              <a:rPr lang="en-US" altLang="zh-CN" b="1" baseline="-25000" dirty="0">
                <a:solidFill>
                  <a:srgbClr val="000066"/>
                </a:solidFill>
                <a:latin typeface="+mn-ea"/>
                <a:ea typeface="+mn-ea"/>
                <a:cs typeface="楷体_GB2312"/>
              </a:rPr>
              <a:t>1</a:t>
            </a:r>
            <a:r>
              <a:rPr lang="en-US" altLang="zh-CN" b="1" dirty="0">
                <a:solidFill>
                  <a:srgbClr val="000066"/>
                </a:solidFill>
                <a:latin typeface="+mn-ea"/>
                <a:ea typeface="+mn-ea"/>
                <a:cs typeface="楷体_GB2312"/>
              </a:rPr>
              <a:t>, </a:t>
            </a:r>
            <a:r>
              <a:rPr lang="en-US" altLang="zh-CN" b="1" i="1" dirty="0">
                <a:solidFill>
                  <a:srgbClr val="000066"/>
                </a:solidFill>
                <a:latin typeface="+mn-ea"/>
                <a:ea typeface="+mn-ea"/>
                <a:cs typeface="楷体_GB2312"/>
              </a:rPr>
              <a:t>t </a:t>
            </a:r>
            <a:r>
              <a:rPr lang="en-US" altLang="zh-CN" b="1" dirty="0">
                <a:solidFill>
                  <a:srgbClr val="000066"/>
                </a:solidFill>
                <a:latin typeface="+mn-ea"/>
                <a:ea typeface="+mn-ea"/>
                <a:cs typeface="楷体_GB2312"/>
              </a:rPr>
              <a:t>)= cosπ</a:t>
            </a:r>
            <a:r>
              <a:rPr lang="en-US" altLang="zh-CN" b="1" i="1" dirty="0">
                <a:solidFill>
                  <a:srgbClr val="000066"/>
                </a:solidFill>
                <a:latin typeface="+mn-ea"/>
                <a:ea typeface="+mn-ea"/>
                <a:cs typeface="楷体_GB2312"/>
              </a:rPr>
              <a:t>t</a:t>
            </a:r>
            <a:r>
              <a:rPr lang="en-US" altLang="zh-CN" b="1" dirty="0">
                <a:solidFill>
                  <a:srgbClr val="000066"/>
                </a:solidFill>
                <a:latin typeface="+mn-ea"/>
                <a:ea typeface="+mn-ea"/>
                <a:cs typeface="楷体_GB2312"/>
              </a:rPr>
              <a:t>, </a:t>
            </a:r>
            <a:r>
              <a:rPr lang="zh-CN" altLang="en-US" b="1" dirty="0">
                <a:solidFill>
                  <a:srgbClr val="000066"/>
                </a:solidFill>
                <a:latin typeface="+mn-ea"/>
                <a:ea typeface="+mn-ea"/>
                <a:cs typeface="楷体_GB2312"/>
              </a:rPr>
              <a:t>和</a:t>
            </a:r>
            <a:endParaRPr lang="en-US" altLang="zh-CN" b="1" dirty="0">
              <a:solidFill>
                <a:srgbClr val="000066"/>
              </a:solidFill>
              <a:latin typeface="+mn-ea"/>
              <a:ea typeface="+mn-ea"/>
              <a:cs typeface="楷体_GB2312"/>
            </a:endParaRPr>
          </a:p>
        </p:txBody>
      </p:sp>
      <p:sp>
        <p:nvSpPr>
          <p:cNvPr id="353290" name="Text Box 10">
            <a:extLst>
              <a:ext uri="{FF2B5EF4-FFF2-40B4-BE49-F238E27FC236}">
                <a16:creationId xmlns:a16="http://schemas.microsoft.com/office/drawing/2014/main" id="{01B57F6B-DB13-7870-3CB9-72D0C5FDDD27}"/>
              </a:ext>
            </a:extLst>
          </p:cNvPr>
          <p:cNvSpPr txBox="1">
            <a:spLocks noChangeArrowheads="1"/>
          </p:cNvSpPr>
          <p:nvPr/>
        </p:nvSpPr>
        <p:spPr bwMode="auto">
          <a:xfrm>
            <a:off x="1374775" y="6276331"/>
            <a:ext cx="22284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solidFill>
                  <a:srgbClr val="000066"/>
                </a:solidFill>
                <a:latin typeface="+mn-ea"/>
                <a:ea typeface="+mn-ea"/>
                <a:cs typeface="楷体_GB2312"/>
              </a:rPr>
              <a:t>x</a:t>
            </a:r>
            <a:r>
              <a:rPr lang="en-US" altLang="zh-CN" b="1" dirty="0">
                <a:solidFill>
                  <a:srgbClr val="000066"/>
                </a:solidFill>
                <a:latin typeface="+mn-ea"/>
                <a:ea typeface="+mn-ea"/>
                <a:cs typeface="楷体_GB2312"/>
              </a:rPr>
              <a:t>(ω</a:t>
            </a:r>
            <a:r>
              <a:rPr lang="en-US" altLang="zh-CN" b="1" baseline="-25000" dirty="0">
                <a:solidFill>
                  <a:srgbClr val="000066"/>
                </a:solidFill>
                <a:latin typeface="+mn-ea"/>
                <a:ea typeface="+mn-ea"/>
                <a:cs typeface="楷体_GB2312"/>
              </a:rPr>
              <a:t>2</a:t>
            </a:r>
            <a:r>
              <a:rPr lang="en-US" altLang="zh-CN" b="1" dirty="0">
                <a:solidFill>
                  <a:srgbClr val="000066"/>
                </a:solidFill>
                <a:latin typeface="+mn-ea"/>
                <a:ea typeface="+mn-ea"/>
                <a:cs typeface="楷体_GB2312"/>
              </a:rPr>
              <a:t>,  </a:t>
            </a:r>
            <a:r>
              <a:rPr lang="en-US" altLang="zh-CN" b="1" i="1" dirty="0">
                <a:solidFill>
                  <a:srgbClr val="000066"/>
                </a:solidFill>
                <a:latin typeface="+mn-ea"/>
                <a:ea typeface="+mn-ea"/>
                <a:cs typeface="楷体_GB2312"/>
              </a:rPr>
              <a:t>t </a:t>
            </a:r>
            <a:r>
              <a:rPr lang="en-US" altLang="zh-CN" b="1" dirty="0">
                <a:solidFill>
                  <a:srgbClr val="000066"/>
                </a:solidFill>
                <a:latin typeface="+mn-ea"/>
                <a:ea typeface="+mn-ea"/>
                <a:cs typeface="楷体_GB2312"/>
              </a:rPr>
              <a:t>)= 2</a:t>
            </a:r>
            <a:r>
              <a:rPr lang="en-US" altLang="zh-CN" b="1" i="1" dirty="0">
                <a:solidFill>
                  <a:srgbClr val="000066"/>
                </a:solidFill>
                <a:latin typeface="+mn-ea"/>
                <a:ea typeface="+mn-ea"/>
                <a:cs typeface="楷体_GB2312"/>
              </a:rPr>
              <a:t>t</a:t>
            </a:r>
            <a:r>
              <a:rPr lang="en-US" altLang="zh-CN" b="1" dirty="0">
                <a:solidFill>
                  <a:srgbClr val="000066"/>
                </a:solidFill>
                <a:latin typeface="+mn-ea"/>
                <a:ea typeface="+mn-ea"/>
                <a:cs typeface="楷体_GB2312"/>
              </a:rPr>
              <a:t>.</a:t>
            </a:r>
          </a:p>
        </p:txBody>
      </p:sp>
      <p:sp>
        <p:nvSpPr>
          <p:cNvPr id="2" name="Rectangle 2">
            <a:extLst>
              <a:ext uri="{FF2B5EF4-FFF2-40B4-BE49-F238E27FC236}">
                <a16:creationId xmlns:a16="http://schemas.microsoft.com/office/drawing/2014/main" id="{C2B483A9-9588-20C1-ABF8-7C743E1D47B8}"/>
              </a:ext>
            </a:extLst>
          </p:cNvPr>
          <p:cNvSpPr txBox="1">
            <a:spLocks noChangeArrowheads="1"/>
          </p:cNvSpPr>
          <p:nvPr/>
        </p:nvSpPr>
        <p:spPr>
          <a:xfrm>
            <a:off x="774700" y="352424"/>
            <a:ext cx="5334000" cy="429419"/>
          </a:xfrm>
          <a:prstGeom prst="rect">
            <a:avLst/>
          </a:prstGeom>
        </p:spPr>
        <p:txBody>
          <a:bodyPr/>
          <a:lstStyle>
            <a:lvl1pPr algn="l" defTabSz="1219835" rtl="0" eaLnBrk="1" latinLnBrk="0" hangingPunct="1">
              <a:spcBef>
                <a:spcPct val="0"/>
              </a:spcBef>
              <a:buNone/>
              <a:defRPr sz="2400" b="1" kern="1200">
                <a:solidFill>
                  <a:schemeClr val="bg1"/>
                </a:solidFill>
                <a:latin typeface="+mj-lt"/>
                <a:ea typeface="+mj-ea"/>
                <a:cs typeface="+mj-cs"/>
              </a:defRPr>
            </a:lvl1pPr>
          </a:lstStyle>
          <a:p>
            <a:r>
              <a:rPr lang="zh-CN" altLang="en-US" dirty="0"/>
              <a:t>实例</a:t>
            </a:r>
          </a:p>
        </p:txBody>
      </p:sp>
      <p:grpSp>
        <p:nvGrpSpPr>
          <p:cNvPr id="5" name="Group 2">
            <a:extLst>
              <a:ext uri="{FF2B5EF4-FFF2-40B4-BE49-F238E27FC236}">
                <a16:creationId xmlns:a16="http://schemas.microsoft.com/office/drawing/2014/main" id="{4DE2F965-0A3A-B2AB-6F5B-C37FBC1469A9}"/>
              </a:ext>
            </a:extLst>
          </p:cNvPr>
          <p:cNvGrpSpPr>
            <a:grpSpLocks/>
          </p:cNvGrpSpPr>
          <p:nvPr/>
        </p:nvGrpSpPr>
        <p:grpSpPr bwMode="auto">
          <a:xfrm>
            <a:off x="6711804" y="4328791"/>
            <a:ext cx="719303" cy="503353"/>
            <a:chOff x="1292" y="1344"/>
            <a:chExt cx="409" cy="181"/>
          </a:xfrm>
        </p:grpSpPr>
        <p:sp>
          <p:nvSpPr>
            <p:cNvPr id="6" name="Line 3">
              <a:extLst>
                <a:ext uri="{FF2B5EF4-FFF2-40B4-BE49-F238E27FC236}">
                  <a16:creationId xmlns:a16="http://schemas.microsoft.com/office/drawing/2014/main" id="{41571B3B-2294-EA60-E3B3-F773DE463917}"/>
                </a:ext>
              </a:extLst>
            </p:cNvPr>
            <p:cNvSpPr>
              <a:spLocks noChangeShapeType="1"/>
            </p:cNvSpPr>
            <p:nvPr/>
          </p:nvSpPr>
          <p:spPr bwMode="auto">
            <a:xfrm flipV="1">
              <a:off x="1292" y="1389"/>
              <a:ext cx="363" cy="136"/>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Oval 4">
              <a:extLst>
                <a:ext uri="{FF2B5EF4-FFF2-40B4-BE49-F238E27FC236}">
                  <a16:creationId xmlns:a16="http://schemas.microsoft.com/office/drawing/2014/main" id="{71E0BA9D-DE6D-047F-C14F-1F9EB5319742}"/>
                </a:ext>
              </a:extLst>
            </p:cNvPr>
            <p:cNvSpPr>
              <a:spLocks noChangeArrowheads="1"/>
            </p:cNvSpPr>
            <p:nvPr/>
          </p:nvSpPr>
          <p:spPr bwMode="auto">
            <a:xfrm>
              <a:off x="1655" y="1344"/>
              <a:ext cx="46" cy="9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8" name="Text Box 5">
            <a:extLst>
              <a:ext uri="{FF2B5EF4-FFF2-40B4-BE49-F238E27FC236}">
                <a16:creationId xmlns:a16="http://schemas.microsoft.com/office/drawing/2014/main" id="{A328381A-FB78-ABBA-4065-EF6D911860DC}"/>
              </a:ext>
            </a:extLst>
          </p:cNvPr>
          <p:cNvSpPr txBox="1">
            <a:spLocks noChangeArrowheads="1"/>
          </p:cNvSpPr>
          <p:nvPr/>
        </p:nvSpPr>
        <p:spPr bwMode="auto">
          <a:xfrm>
            <a:off x="8001533" y="3900699"/>
            <a:ext cx="1261884" cy="461665"/>
          </a:xfrm>
          <a:prstGeom prst="rect">
            <a:avLst/>
          </a:prstGeom>
          <a:gradFill rotWithShape="1">
            <a:gsLst>
              <a:gs pos="0">
                <a:srgbClr val="FFCC00"/>
              </a:gs>
              <a:gs pos="50000">
                <a:srgbClr val="FFFFFF"/>
              </a:gs>
              <a:gs pos="100000">
                <a:srgbClr val="FFCC00"/>
              </a:gs>
            </a:gsLst>
            <a:lin ang="5400000" scaled="1"/>
          </a:gra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000066"/>
                </a:solidFill>
                <a:ea typeface="楷体_GB2312"/>
                <a:cs typeface="楷体_GB2312"/>
              </a:rPr>
              <a:t>子系统</a:t>
            </a:r>
            <a:r>
              <a:rPr lang="en-US" altLang="zh-CN" b="1">
                <a:solidFill>
                  <a:srgbClr val="000066"/>
                </a:solidFill>
                <a:ea typeface="楷体_GB2312"/>
                <a:cs typeface="楷体_GB2312"/>
              </a:rPr>
              <a:t>1</a:t>
            </a:r>
          </a:p>
        </p:txBody>
      </p:sp>
      <p:sp>
        <p:nvSpPr>
          <p:cNvPr id="9" name="Line 6">
            <a:extLst>
              <a:ext uri="{FF2B5EF4-FFF2-40B4-BE49-F238E27FC236}">
                <a16:creationId xmlns:a16="http://schemas.microsoft.com/office/drawing/2014/main" id="{E19954B7-E9DE-B8B5-DF60-39793CA845F2}"/>
              </a:ext>
            </a:extLst>
          </p:cNvPr>
          <p:cNvSpPr>
            <a:spLocks noChangeShapeType="1"/>
          </p:cNvSpPr>
          <p:nvPr/>
        </p:nvSpPr>
        <p:spPr bwMode="auto">
          <a:xfrm flipV="1">
            <a:off x="7379335" y="4164308"/>
            <a:ext cx="630758"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7">
            <a:extLst>
              <a:ext uri="{FF2B5EF4-FFF2-40B4-BE49-F238E27FC236}">
                <a16:creationId xmlns:a16="http://schemas.microsoft.com/office/drawing/2014/main" id="{803D4BC1-11C9-27A7-5349-D00A82F1CDD9}"/>
              </a:ext>
            </a:extLst>
          </p:cNvPr>
          <p:cNvSpPr>
            <a:spLocks noChangeShapeType="1"/>
          </p:cNvSpPr>
          <p:nvPr/>
        </p:nvSpPr>
        <p:spPr bwMode="auto">
          <a:xfrm>
            <a:off x="9302401" y="4103014"/>
            <a:ext cx="1872096"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8">
            <a:extLst>
              <a:ext uri="{FF2B5EF4-FFF2-40B4-BE49-F238E27FC236}">
                <a16:creationId xmlns:a16="http://schemas.microsoft.com/office/drawing/2014/main" id="{5CDB6735-5F4F-E6A2-2969-974B0AB5A0E7}"/>
              </a:ext>
            </a:extLst>
          </p:cNvPr>
          <p:cNvSpPr txBox="1">
            <a:spLocks noChangeArrowheads="1"/>
          </p:cNvSpPr>
          <p:nvPr/>
        </p:nvSpPr>
        <p:spPr bwMode="auto">
          <a:xfrm>
            <a:off x="9340450" y="3566889"/>
            <a:ext cx="26917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ea typeface="楷体_GB2312"/>
                <a:cs typeface="楷体_GB2312"/>
              </a:rPr>
              <a:t>输出</a:t>
            </a:r>
            <a:r>
              <a:rPr lang="en-US" altLang="zh-CN" b="1" i="1" dirty="0">
                <a:solidFill>
                  <a:srgbClr val="000066"/>
                </a:solidFill>
                <a:ea typeface="楷体_GB2312"/>
                <a:cs typeface="楷体_GB2312"/>
              </a:rPr>
              <a:t>x </a:t>
            </a:r>
            <a:r>
              <a:rPr lang="en-US" altLang="zh-CN" b="1" dirty="0">
                <a:solidFill>
                  <a:srgbClr val="000066"/>
                </a:solidFill>
                <a:ea typeface="楷体_GB2312"/>
                <a:cs typeface="楷体_GB2312"/>
              </a:rPr>
              <a:t>(ω</a:t>
            </a:r>
            <a:r>
              <a:rPr lang="en-US" altLang="zh-CN" b="1" baseline="-25000" dirty="0">
                <a:solidFill>
                  <a:srgbClr val="000066"/>
                </a:solidFill>
                <a:ea typeface="楷体_GB2312"/>
                <a:cs typeface="楷体_GB2312"/>
              </a:rPr>
              <a:t>1 </a:t>
            </a:r>
            <a:r>
              <a:rPr lang="en-US" altLang="zh-CN" b="1" dirty="0">
                <a:solidFill>
                  <a:srgbClr val="000066"/>
                </a:solidFill>
                <a:ea typeface="楷体_GB2312"/>
                <a:cs typeface="楷体_GB2312"/>
              </a:rPr>
              <a:t>,</a:t>
            </a:r>
            <a:r>
              <a:rPr lang="en-US" altLang="zh-CN" b="1" i="1" dirty="0">
                <a:solidFill>
                  <a:srgbClr val="000066"/>
                </a:solidFill>
                <a:ea typeface="楷体_GB2312"/>
                <a:cs typeface="楷体_GB2312"/>
              </a:rPr>
              <a:t>t</a:t>
            </a:r>
            <a:r>
              <a:rPr lang="en-US" altLang="zh-CN" b="1" dirty="0">
                <a:solidFill>
                  <a:srgbClr val="000066"/>
                </a:solidFill>
                <a:ea typeface="楷体_GB2312"/>
                <a:cs typeface="楷体_GB2312"/>
              </a:rPr>
              <a:t>) =</a:t>
            </a:r>
            <a:r>
              <a:rPr lang="en-US" altLang="zh-CN" b="1" dirty="0" err="1">
                <a:solidFill>
                  <a:srgbClr val="000066"/>
                </a:solidFill>
                <a:ea typeface="楷体_GB2312"/>
                <a:cs typeface="楷体_GB2312"/>
              </a:rPr>
              <a:t>cos</a:t>
            </a:r>
            <a:r>
              <a:rPr lang="en-US" altLang="zh-CN" b="1" dirty="0" err="1">
                <a:solidFill>
                  <a:srgbClr val="000066"/>
                </a:solidFill>
                <a:latin typeface="Symbol" panose="05050102010706020507" pitchFamily="18" charset="2"/>
                <a:ea typeface="楷体_GB2312"/>
                <a:cs typeface="楷体_GB2312"/>
              </a:rPr>
              <a:t>p</a:t>
            </a:r>
            <a:r>
              <a:rPr lang="en-US" altLang="zh-CN" b="1" i="1" dirty="0" err="1">
                <a:solidFill>
                  <a:srgbClr val="000066"/>
                </a:solidFill>
                <a:ea typeface="楷体_GB2312"/>
                <a:cs typeface="楷体_GB2312"/>
              </a:rPr>
              <a:t>t</a:t>
            </a:r>
            <a:endParaRPr lang="en-US" altLang="zh-CN" b="1" i="1" dirty="0">
              <a:solidFill>
                <a:srgbClr val="000066"/>
              </a:solidFill>
              <a:ea typeface="楷体_GB2312"/>
              <a:cs typeface="楷体_GB2312"/>
            </a:endParaRPr>
          </a:p>
        </p:txBody>
      </p:sp>
      <p:sp>
        <p:nvSpPr>
          <p:cNvPr id="12" name="Text Box 9">
            <a:extLst>
              <a:ext uri="{FF2B5EF4-FFF2-40B4-BE49-F238E27FC236}">
                <a16:creationId xmlns:a16="http://schemas.microsoft.com/office/drawing/2014/main" id="{6695720E-648D-292F-A0D5-4AD2890377DD}"/>
              </a:ext>
            </a:extLst>
          </p:cNvPr>
          <p:cNvSpPr txBox="1">
            <a:spLocks noChangeArrowheads="1"/>
          </p:cNvSpPr>
          <p:nvPr/>
        </p:nvSpPr>
        <p:spPr bwMode="auto">
          <a:xfrm>
            <a:off x="8001533" y="5058254"/>
            <a:ext cx="1261884" cy="461665"/>
          </a:xfrm>
          <a:prstGeom prst="rect">
            <a:avLst/>
          </a:prstGeom>
          <a:gradFill rotWithShape="1">
            <a:gsLst>
              <a:gs pos="0">
                <a:srgbClr val="FFCC00"/>
              </a:gs>
              <a:gs pos="50000">
                <a:srgbClr val="FFFFFF"/>
              </a:gs>
              <a:gs pos="100000">
                <a:srgbClr val="FFCC00"/>
              </a:gs>
            </a:gsLst>
            <a:lin ang="5400000" scaled="1"/>
          </a:gra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000066"/>
                </a:solidFill>
                <a:ea typeface="楷体_GB2312"/>
                <a:cs typeface="楷体_GB2312"/>
              </a:rPr>
              <a:t>子系统</a:t>
            </a:r>
            <a:r>
              <a:rPr lang="en-US" altLang="zh-CN" b="1">
                <a:solidFill>
                  <a:srgbClr val="000066"/>
                </a:solidFill>
                <a:ea typeface="楷体_GB2312"/>
                <a:cs typeface="楷体_GB2312"/>
              </a:rPr>
              <a:t>2</a:t>
            </a:r>
          </a:p>
        </p:txBody>
      </p:sp>
      <p:sp>
        <p:nvSpPr>
          <p:cNvPr id="13" name="Line 10">
            <a:extLst>
              <a:ext uri="{FF2B5EF4-FFF2-40B4-BE49-F238E27FC236}">
                <a16:creationId xmlns:a16="http://schemas.microsoft.com/office/drawing/2014/main" id="{9A681461-BED6-656E-B224-978A465B8153}"/>
              </a:ext>
            </a:extLst>
          </p:cNvPr>
          <p:cNvSpPr>
            <a:spLocks noChangeShapeType="1"/>
          </p:cNvSpPr>
          <p:nvPr/>
        </p:nvSpPr>
        <p:spPr bwMode="auto">
          <a:xfrm>
            <a:off x="7359015" y="5317100"/>
            <a:ext cx="630758"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1">
            <a:extLst>
              <a:ext uri="{FF2B5EF4-FFF2-40B4-BE49-F238E27FC236}">
                <a16:creationId xmlns:a16="http://schemas.microsoft.com/office/drawing/2014/main" id="{9BC8B571-7749-6F5E-2D4A-6DF42944C748}"/>
              </a:ext>
            </a:extLst>
          </p:cNvPr>
          <p:cNvSpPr>
            <a:spLocks noChangeShapeType="1"/>
          </p:cNvSpPr>
          <p:nvPr/>
        </p:nvSpPr>
        <p:spPr bwMode="auto">
          <a:xfrm>
            <a:off x="9292241" y="5306941"/>
            <a:ext cx="1872096"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Text Box 12">
            <a:extLst>
              <a:ext uri="{FF2B5EF4-FFF2-40B4-BE49-F238E27FC236}">
                <a16:creationId xmlns:a16="http://schemas.microsoft.com/office/drawing/2014/main" id="{A1F26231-2386-A61F-830F-879CB7A11EA6}"/>
              </a:ext>
            </a:extLst>
          </p:cNvPr>
          <p:cNvSpPr txBox="1">
            <a:spLocks noChangeArrowheads="1"/>
          </p:cNvSpPr>
          <p:nvPr/>
        </p:nvSpPr>
        <p:spPr bwMode="auto">
          <a:xfrm>
            <a:off x="9411905" y="4799074"/>
            <a:ext cx="22669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ea typeface="楷体_GB2312"/>
                <a:cs typeface="楷体_GB2312"/>
              </a:rPr>
              <a:t>输出</a:t>
            </a:r>
            <a:r>
              <a:rPr lang="en-US" altLang="zh-CN" b="1" i="1" dirty="0">
                <a:solidFill>
                  <a:srgbClr val="000066"/>
                </a:solidFill>
                <a:ea typeface="楷体_GB2312"/>
                <a:cs typeface="楷体_GB2312"/>
              </a:rPr>
              <a:t>x </a:t>
            </a:r>
            <a:r>
              <a:rPr lang="en-US" altLang="zh-CN" b="1" dirty="0">
                <a:solidFill>
                  <a:srgbClr val="000066"/>
                </a:solidFill>
                <a:ea typeface="楷体_GB2312"/>
                <a:cs typeface="楷体_GB2312"/>
              </a:rPr>
              <a:t>(ω</a:t>
            </a:r>
            <a:r>
              <a:rPr lang="en-US" altLang="zh-CN" b="1" baseline="-25000" dirty="0">
                <a:solidFill>
                  <a:srgbClr val="000066"/>
                </a:solidFill>
                <a:ea typeface="楷体_GB2312"/>
                <a:cs typeface="楷体_GB2312"/>
              </a:rPr>
              <a:t>2 </a:t>
            </a:r>
            <a:r>
              <a:rPr lang="en-US" altLang="zh-CN" b="1" dirty="0">
                <a:ea typeface="楷体_GB2312"/>
                <a:cs typeface="楷体_GB2312"/>
              </a:rPr>
              <a:t>,</a:t>
            </a:r>
            <a:r>
              <a:rPr lang="en-US" altLang="zh-CN" b="1" i="1" dirty="0">
                <a:solidFill>
                  <a:srgbClr val="000066"/>
                </a:solidFill>
                <a:ea typeface="楷体_GB2312"/>
                <a:cs typeface="楷体_GB2312"/>
              </a:rPr>
              <a:t>t</a:t>
            </a:r>
            <a:r>
              <a:rPr lang="en-US" altLang="zh-CN" b="1" dirty="0">
                <a:solidFill>
                  <a:srgbClr val="000066"/>
                </a:solidFill>
                <a:ea typeface="楷体_GB2312"/>
                <a:cs typeface="楷体_GB2312"/>
              </a:rPr>
              <a:t>) =2</a:t>
            </a:r>
            <a:r>
              <a:rPr lang="en-US" altLang="zh-CN" b="1" i="1" dirty="0">
                <a:solidFill>
                  <a:srgbClr val="000066"/>
                </a:solidFill>
                <a:ea typeface="楷体_GB2312"/>
                <a:cs typeface="楷体_GB2312"/>
              </a:rPr>
              <a:t>t</a:t>
            </a:r>
          </a:p>
        </p:txBody>
      </p:sp>
      <p:grpSp>
        <p:nvGrpSpPr>
          <p:cNvPr id="16" name="Group 13">
            <a:extLst>
              <a:ext uri="{FF2B5EF4-FFF2-40B4-BE49-F238E27FC236}">
                <a16:creationId xmlns:a16="http://schemas.microsoft.com/office/drawing/2014/main" id="{0972ACE9-1EFF-946E-6C86-BBFDDB6E2715}"/>
              </a:ext>
            </a:extLst>
          </p:cNvPr>
          <p:cNvGrpSpPr>
            <a:grpSpLocks/>
          </p:cNvGrpSpPr>
          <p:nvPr/>
        </p:nvGrpSpPr>
        <p:grpSpPr bwMode="auto">
          <a:xfrm>
            <a:off x="5904892" y="4344672"/>
            <a:ext cx="1183981" cy="630384"/>
            <a:chOff x="638" y="1127"/>
            <a:chExt cx="628" cy="397"/>
          </a:xfrm>
        </p:grpSpPr>
        <p:sp>
          <p:nvSpPr>
            <p:cNvPr id="17" name="Line 14">
              <a:extLst>
                <a:ext uri="{FF2B5EF4-FFF2-40B4-BE49-F238E27FC236}">
                  <a16:creationId xmlns:a16="http://schemas.microsoft.com/office/drawing/2014/main" id="{396EA8FA-3EB7-B4B9-D783-BB427739136A}"/>
                </a:ext>
              </a:extLst>
            </p:cNvPr>
            <p:cNvSpPr>
              <a:spLocks noChangeShapeType="1"/>
            </p:cNvSpPr>
            <p:nvPr/>
          </p:nvSpPr>
          <p:spPr bwMode="auto">
            <a:xfrm flipV="1">
              <a:off x="660" y="1434"/>
              <a:ext cx="405" cy="0"/>
            </a:xfrm>
            <a:prstGeom prst="line">
              <a:avLst/>
            </a:prstGeom>
            <a:noFill/>
            <a:ln w="381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5">
              <a:extLst>
                <a:ext uri="{FF2B5EF4-FFF2-40B4-BE49-F238E27FC236}">
                  <a16:creationId xmlns:a16="http://schemas.microsoft.com/office/drawing/2014/main" id="{0C4866D5-C62C-B4BB-9275-F64272992413}"/>
                </a:ext>
              </a:extLst>
            </p:cNvPr>
            <p:cNvSpPr>
              <a:spLocks noChangeShapeType="1"/>
            </p:cNvSpPr>
            <p:nvPr/>
          </p:nvSpPr>
          <p:spPr bwMode="auto">
            <a:xfrm>
              <a:off x="1065" y="1298"/>
              <a:ext cx="1" cy="226"/>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6">
              <a:extLst>
                <a:ext uri="{FF2B5EF4-FFF2-40B4-BE49-F238E27FC236}">
                  <a16:creationId xmlns:a16="http://schemas.microsoft.com/office/drawing/2014/main" id="{399532B7-7889-2F4D-828B-5B2BA20BF276}"/>
                </a:ext>
              </a:extLst>
            </p:cNvPr>
            <p:cNvSpPr txBox="1">
              <a:spLocks noChangeArrowheads="1"/>
            </p:cNvSpPr>
            <p:nvPr/>
          </p:nvSpPr>
          <p:spPr bwMode="auto">
            <a:xfrm>
              <a:off x="638" y="1127"/>
              <a:ext cx="6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ea typeface="楷体_GB2312"/>
                  <a:cs typeface="楷体_GB2312"/>
                </a:rPr>
                <a:t>输入</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3282"/>
                                        </p:tgtEl>
                                        <p:attrNameLst>
                                          <p:attrName>style.visibility</p:attrName>
                                        </p:attrNameLst>
                                      </p:cBhvr>
                                      <p:to>
                                        <p:strVal val="visible"/>
                                      </p:to>
                                    </p:set>
                                    <p:animEffect transition="in" filter="dissolve">
                                      <p:cBhvr>
                                        <p:cTn id="7" dur="500"/>
                                        <p:tgtEl>
                                          <p:spTgt spid="35328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53283"/>
                                        </p:tgtEl>
                                        <p:attrNameLst>
                                          <p:attrName>style.visibility</p:attrName>
                                        </p:attrNameLst>
                                      </p:cBhvr>
                                      <p:to>
                                        <p:strVal val="visible"/>
                                      </p:to>
                                    </p:set>
                                    <p:animEffect transition="in" filter="randombar(horizontal)">
                                      <p:cBhvr>
                                        <p:cTn id="12" dur="500"/>
                                        <p:tgtEl>
                                          <p:spTgt spid="3532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53284"/>
                                        </p:tgtEl>
                                        <p:attrNameLst>
                                          <p:attrName>style.visibility</p:attrName>
                                        </p:attrNameLst>
                                      </p:cBhvr>
                                      <p:to>
                                        <p:strVal val="visible"/>
                                      </p:to>
                                    </p:set>
                                    <p:animEffect transition="in" filter="dissolve">
                                      <p:cBhvr>
                                        <p:cTn id="17" dur="500"/>
                                        <p:tgtEl>
                                          <p:spTgt spid="3532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53285"/>
                                        </p:tgtEl>
                                        <p:attrNameLst>
                                          <p:attrName>style.visibility</p:attrName>
                                        </p:attrNameLst>
                                      </p:cBhvr>
                                      <p:to>
                                        <p:strVal val="visible"/>
                                      </p:to>
                                    </p:set>
                                    <p:animEffect transition="in" filter="dissolve">
                                      <p:cBhvr>
                                        <p:cTn id="22" dur="500"/>
                                        <p:tgtEl>
                                          <p:spTgt spid="3532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53286"/>
                                        </p:tgtEl>
                                        <p:attrNameLst>
                                          <p:attrName>style.visibility</p:attrName>
                                        </p:attrNameLst>
                                      </p:cBhvr>
                                      <p:to>
                                        <p:strVal val="visible"/>
                                      </p:to>
                                    </p:set>
                                    <p:animEffect transition="in" filter="dissolve">
                                      <p:cBhvr>
                                        <p:cTn id="27" dur="500"/>
                                        <p:tgtEl>
                                          <p:spTgt spid="3532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53287"/>
                                        </p:tgtEl>
                                        <p:attrNameLst>
                                          <p:attrName>style.visibility</p:attrName>
                                        </p:attrNameLst>
                                      </p:cBhvr>
                                      <p:to>
                                        <p:strVal val="visible"/>
                                      </p:to>
                                    </p:set>
                                    <p:animEffect transition="in" filter="dissolve">
                                      <p:cBhvr>
                                        <p:cTn id="32" dur="500"/>
                                        <p:tgtEl>
                                          <p:spTgt spid="3532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53288"/>
                                        </p:tgtEl>
                                        <p:attrNameLst>
                                          <p:attrName>style.visibility</p:attrName>
                                        </p:attrNameLst>
                                      </p:cBhvr>
                                      <p:to>
                                        <p:strVal val="visible"/>
                                      </p:to>
                                    </p:set>
                                    <p:animEffect transition="in" filter="dissolve">
                                      <p:cBhvr>
                                        <p:cTn id="37" dur="500"/>
                                        <p:tgtEl>
                                          <p:spTgt spid="3532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53289"/>
                                        </p:tgtEl>
                                        <p:attrNameLst>
                                          <p:attrName>style.visibility</p:attrName>
                                        </p:attrNameLst>
                                      </p:cBhvr>
                                      <p:to>
                                        <p:strVal val="visible"/>
                                      </p:to>
                                    </p:set>
                                    <p:animEffect transition="in" filter="dissolve">
                                      <p:cBhvr>
                                        <p:cTn id="42" dur="500"/>
                                        <p:tgtEl>
                                          <p:spTgt spid="35328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53290"/>
                                        </p:tgtEl>
                                        <p:attrNameLst>
                                          <p:attrName>style.visibility</p:attrName>
                                        </p:attrNameLst>
                                      </p:cBhvr>
                                      <p:to>
                                        <p:strVal val="visible"/>
                                      </p:to>
                                    </p:set>
                                    <p:animEffect transition="in" filter="dissolve">
                                      <p:cBhvr>
                                        <p:cTn id="47" dur="500"/>
                                        <p:tgtEl>
                                          <p:spTgt spid="35329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par>
                                <p:cTn id="58" presetID="22" presetClass="entr" presetSubtype="8" fill="hold" nodeType="with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wipe(left)">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wipe(left)">
                                      <p:cBhvr>
                                        <p:cTn id="65" dur="500"/>
                                        <p:tgtEl>
                                          <p:spTgt spid="8"/>
                                        </p:tgtEl>
                                      </p:cBhvr>
                                    </p:animEffect>
                                  </p:childTnLst>
                                </p:cTn>
                              </p:par>
                              <p:par>
                                <p:cTn id="66" presetID="22" presetClass="entr" presetSubtype="8" fill="hold" nodeType="with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wipe(left)">
                                      <p:cBhvr>
                                        <p:cTn id="68" dur="500"/>
                                        <p:tgtEl>
                                          <p:spTgt spid="1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wipe(left)">
                                      <p:cBhvr>
                                        <p:cTn id="73" dur="500"/>
                                        <p:tgtEl>
                                          <p:spTgt spid="1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wipe(left)">
                                      <p:cBhvr>
                                        <p:cTn id="78" dur="500"/>
                                        <p:tgtEl>
                                          <p:spTgt spid="12"/>
                                        </p:tgtEl>
                                      </p:cBhvr>
                                    </p:animEffect>
                                  </p:childTnLst>
                                </p:cTn>
                              </p:par>
                              <p:par>
                                <p:cTn id="79" presetID="22" presetClass="entr" presetSubtype="8" fill="hold" nodeType="with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wipe(left)">
                                      <p:cBhvr>
                                        <p:cTn id="81" dur="500"/>
                                        <p:tgtEl>
                                          <p:spTgt spid="13"/>
                                        </p:tgtEl>
                                      </p:cBhvr>
                                    </p:animEffect>
                                  </p:childTnLst>
                                </p:cTn>
                              </p:par>
                              <p:par>
                                <p:cTn id="82" presetID="22" presetClass="entr" presetSubtype="8" fill="hold"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ipe(left)">
                                      <p:cBhvr>
                                        <p:cTn id="84" dur="500"/>
                                        <p:tgtEl>
                                          <p:spTgt spid="1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wipe(left)">
                                      <p:cBhvr>
                                        <p:cTn id="89" dur="500"/>
                                        <p:tgtEl>
                                          <p:spTgt spid="15"/>
                                        </p:tgtEl>
                                      </p:cBhvr>
                                    </p:animEffect>
                                  </p:childTnLst>
                                </p:cTn>
                              </p:par>
                            </p:childTnLst>
                          </p:cTn>
                        </p:par>
                      </p:childTnLst>
                    </p:cTn>
                  </p:par>
                  <p:par>
                    <p:cTn id="90" fill="hold">
                      <p:stCondLst>
                        <p:cond delay="indefinite"/>
                      </p:stCondLst>
                      <p:childTnLst>
                        <p:par>
                          <p:cTn id="91" fill="hold">
                            <p:stCondLst>
                              <p:cond delay="0"/>
                            </p:stCondLst>
                            <p:childTnLst>
                              <p:par>
                                <p:cTn id="92" presetID="8" presetClass="emph" presetSubtype="0" fill="hold" nodeType="clickEffect">
                                  <p:stCondLst>
                                    <p:cond delay="0"/>
                                  </p:stCondLst>
                                  <p:childTnLst>
                                    <p:animRot by="21600000">
                                      <p:cBhvr>
                                        <p:cTn id="93" dur="2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2" grpId="0" autoUpdateAnimBg="0"/>
      <p:bldP spid="353283" grpId="0"/>
      <p:bldP spid="353284" grpId="0" autoUpdateAnimBg="0"/>
      <p:bldP spid="353285" grpId="0" autoUpdateAnimBg="0"/>
      <p:bldP spid="353286" grpId="0" autoUpdateAnimBg="0"/>
      <p:bldP spid="353287" grpId="0" autoUpdateAnimBg="0"/>
      <p:bldP spid="353288" grpId="0" autoUpdateAnimBg="0"/>
      <p:bldP spid="353289" grpId="0" autoUpdateAnimBg="0"/>
      <p:bldP spid="353290" grpId="0" autoUpdateAnimBg="0"/>
      <p:bldP spid="8" grpId="0" animBg="1"/>
      <p:bldP spid="11" grpId="0"/>
      <p:bldP spid="12" grpId="0" animBg="1"/>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5330" name="Object 2">
                <a:extLst>
                  <a:ext uri="{FF2B5EF4-FFF2-40B4-BE49-F238E27FC236}">
                    <a16:creationId xmlns:a16="http://schemas.microsoft.com/office/drawing/2014/main" id="{05724242-CCE3-1031-BC50-93810AA90883}"/>
                  </a:ext>
                </a:extLst>
              </p:cNvPr>
              <p:cNvSpPr txBox="1"/>
              <p:nvPr/>
            </p:nvSpPr>
            <p:spPr bwMode="auto">
              <a:xfrm>
                <a:off x="1554790" y="2930985"/>
                <a:ext cx="7058071" cy="149894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𝛚</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&amp;1,</m:t>
                              </m:r>
                              <m:m>
                                <m:mPr>
                                  <m:plcHide m:val="on"/>
                                  <m:mcs>
                                    <m:mc>
                                      <m:mcPr>
                                        <m:count m:val="2"/>
                                        <m:mcJc m:val="center"/>
                                      </m:mcPr>
                                    </m:mc>
                                  </m:mcs>
                                  <m:ctrlPr>
                                    <a:rPr lang="zh-CN" altLang="en-US" i="1">
                                      <a:solidFill>
                                        <a:srgbClr val="000000"/>
                                      </a:solidFill>
                                      <a:latin typeface="Cambria Math" panose="02040503050406030204" pitchFamily="18" charset="0"/>
                                    </a:rPr>
                                  </m:ctrlPr>
                                </m:mPr>
                                <m:mr>
                                  <m:e/>
                                  <m:e>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𝛚</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𝛚</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e>
                                </m:mr>
                              </m:m>
                            </m:e>
                            <m:e>
                              <m:r>
                                <a:rPr lang="zh-CN" altLang="en-US" i="1">
                                  <a:solidFill>
                                    <a:srgbClr val="000000"/>
                                  </a:solidFill>
                                  <a:latin typeface="Cambria Math" panose="02040503050406030204" pitchFamily="18" charset="0"/>
                                </a:rPr>
                                <m:t>&amp;−1,</m:t>
                              </m:r>
                              <m:m>
                                <m:mPr>
                                  <m:plcHide m:val="on"/>
                                  <m:mcs>
                                    <m:mc>
                                      <m:mcPr>
                                        <m:count m:val="2"/>
                                        <m:mcJc m:val="center"/>
                                      </m:mcPr>
                                    </m:mc>
                                  </m:mcs>
                                  <m:ctrlPr>
                                    <a:rPr lang="zh-CN" altLang="en-US" i="1">
                                      <a:solidFill>
                                        <a:srgbClr val="000000"/>
                                      </a:solidFill>
                                      <a:latin typeface="Cambria Math" panose="02040503050406030204" pitchFamily="18" charset="0"/>
                                    </a:rPr>
                                  </m:ctrlPr>
                                </m:mPr>
                                <m:mr>
                                  <m:e/>
                                  <m:e>
                                    <m:r>
                                      <a:rPr lang="zh-CN" altLang="en-US" i="1">
                                        <a:solidFill>
                                          <a:srgbClr val="000000"/>
                                        </a:solidFill>
                                        <a:latin typeface="Cambria Math" panose="02040503050406030204" pitchFamily="18" charset="0"/>
                                      </a:rPr>
                                      <m:t>𝛚</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𝛚</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e>
                                </m:mr>
                              </m:m>
                            </m:e>
                          </m:eqArr>
                        </m:e>
                      </m:d>
                      <m:m>
                        <m:mPr>
                          <m:plcHide m:val="on"/>
                          <m:mcs>
                            <m:mc>
                              <m:mcPr>
                                <m:count m:val="2"/>
                                <m:mcJc m:val="center"/>
                              </m:mcPr>
                            </m:mc>
                          </m:mcs>
                          <m:ctrlPr>
                            <a:rPr lang="zh-CN" altLang="en-US" i="1">
                              <a:solidFill>
                                <a:srgbClr val="000000"/>
                              </a:solidFill>
                              <a:latin typeface="Cambria Math" panose="02040503050406030204" pitchFamily="18" charset="0"/>
                            </a:rPr>
                          </m:ctrlPr>
                        </m:mPr>
                        <m:mr>
                          <m:e/>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𝟐</m:t>
                            </m:r>
                            <m:r>
                              <a:rPr lang="zh-CN" altLang="en-US" i="1">
                                <a:solidFill>
                                  <a:srgbClr val="000000"/>
                                </a:solidFill>
                                <a:latin typeface="Cambria Math" panose="02040503050406030204" pitchFamily="18" charset="0"/>
                              </a:rPr>
                              <m:t>,⋯)</m:t>
                            </m:r>
                          </m:e>
                        </m:mr>
                      </m:m>
                    </m:oMath>
                  </m:oMathPara>
                </a14:m>
                <a:endParaRPr lang="zh-CN" altLang="en-US" dirty="0"/>
              </a:p>
            </p:txBody>
          </p:sp>
        </mc:Choice>
        <mc:Fallback xmlns="">
          <p:sp>
            <p:nvSpPr>
              <p:cNvPr id="355330" name="Object 2">
                <a:extLst>
                  <a:ext uri="{FF2B5EF4-FFF2-40B4-BE49-F238E27FC236}">
                    <a16:creationId xmlns:a16="http://schemas.microsoft.com/office/drawing/2014/main" id="{05724242-CCE3-1031-BC50-93810AA90883}"/>
                  </a:ext>
                </a:extLst>
              </p:cNvPr>
              <p:cNvSpPr txBox="1">
                <a:spLocks noRot="1" noChangeAspect="1" noMove="1" noResize="1" noEditPoints="1" noAdjustHandles="1" noChangeArrowheads="1" noChangeShapeType="1" noTextEdit="1"/>
              </p:cNvSpPr>
              <p:nvPr/>
            </p:nvSpPr>
            <p:spPr bwMode="auto">
              <a:xfrm>
                <a:off x="1554790" y="2930985"/>
                <a:ext cx="7058071" cy="1498947"/>
              </a:xfrm>
              <a:prstGeom prst="rect">
                <a:avLst/>
              </a:prstGeom>
              <a:blipFill>
                <a:blip r:embed="rId3"/>
                <a:stretch>
                  <a:fillRect l="-10772" t="-178151" b="-240336"/>
                </a:stretch>
              </a:blipFill>
              <a:ln>
                <a:noFill/>
              </a:ln>
            </p:spPr>
            <p:txBody>
              <a:bodyPr/>
              <a:lstStyle/>
              <a:p>
                <a:r>
                  <a:rPr lang="zh-CN" altLang="en-US">
                    <a:noFill/>
                  </a:rPr>
                  <a:t> </a:t>
                </a:r>
              </a:p>
            </p:txBody>
          </p:sp>
        </mc:Fallback>
      </mc:AlternateContent>
      <p:sp>
        <p:nvSpPr>
          <p:cNvPr id="355331" name="Text Box 3">
            <a:extLst>
              <a:ext uri="{FF2B5EF4-FFF2-40B4-BE49-F238E27FC236}">
                <a16:creationId xmlns:a16="http://schemas.microsoft.com/office/drawing/2014/main" id="{D096AD50-FBF5-E1F7-9B88-1412EDC19A50}"/>
              </a:ext>
            </a:extLst>
          </p:cNvPr>
          <p:cNvSpPr txBox="1">
            <a:spLocks noChangeArrowheads="1"/>
          </p:cNvSpPr>
          <p:nvPr/>
        </p:nvSpPr>
        <p:spPr bwMode="auto">
          <a:xfrm>
            <a:off x="536575" y="3350579"/>
            <a:ext cx="30963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latin typeface="+mn-ea"/>
                <a:ea typeface="+mn-ea"/>
                <a:cs typeface="楷体_GB2312"/>
              </a:rPr>
              <a:t>即有</a:t>
            </a:r>
          </a:p>
        </p:txBody>
      </p:sp>
      <mc:AlternateContent xmlns:mc="http://schemas.openxmlformats.org/markup-compatibility/2006" xmlns:a14="http://schemas.microsoft.com/office/drawing/2010/main">
        <mc:Choice Requires="a14">
          <p:sp>
            <p:nvSpPr>
              <p:cNvPr id="355332" name="Object 4">
                <a:extLst>
                  <a:ext uri="{FF2B5EF4-FFF2-40B4-BE49-F238E27FC236}">
                    <a16:creationId xmlns:a16="http://schemas.microsoft.com/office/drawing/2014/main" id="{5E13870D-BB8A-CDD1-9226-B98EF7F5E711}"/>
                  </a:ext>
                </a:extLst>
              </p:cNvPr>
              <p:cNvSpPr txBox="1"/>
              <p:nvPr/>
            </p:nvSpPr>
            <p:spPr bwMode="auto">
              <a:xfrm>
                <a:off x="536575" y="4461636"/>
                <a:ext cx="11288641" cy="70642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b="1" i="1">
                          <a:solidFill>
                            <a:srgbClr val="000000"/>
                          </a:solidFill>
                          <a:latin typeface="Cambria Math" panose="02040503050406030204" pitchFamily="18" charset="0"/>
                        </a:rPr>
                        <m:t>其中</m:t>
                      </m:r>
                      <m:r>
                        <a:rPr lang="zh-CN" altLang="en-US" b="1" i="1">
                          <a:solidFill>
                            <a:srgbClr val="000000"/>
                          </a:solidFill>
                          <a:latin typeface="Cambria Math" panose="02040503050406030204" pitchFamily="18" charset="0"/>
                        </a:rPr>
                        <m:t> {</m:t>
                      </m:r>
                      <m:sSubSup>
                        <m:sSubSupPr>
                          <m:ctrlPr>
                            <a:rPr lang="zh-CN" altLang="en-US" b="1" i="1">
                              <a:solidFill>
                                <a:srgbClr val="000000"/>
                              </a:solidFill>
                              <a:latin typeface="Cambria Math" panose="02040503050406030204" pitchFamily="18" charset="0"/>
                            </a:rPr>
                          </m:ctrlPr>
                        </m:sSubSupPr>
                        <m:e>
                          <m:r>
                            <a:rPr lang="zh-CN" altLang="en-US" b="1" i="1">
                              <a:solidFill>
                                <a:srgbClr val="000000"/>
                              </a:solidFill>
                              <a:latin typeface="Cambria Math" panose="02040503050406030204" pitchFamily="18" charset="0"/>
                            </a:rPr>
                            <m:t>𝝎</m:t>
                          </m:r>
                        </m:e>
                        <m:sub>
                          <m:r>
                            <a:rPr lang="zh-CN" altLang="en-US" b="1" i="1">
                              <a:solidFill>
                                <a:srgbClr val="000000"/>
                              </a:solidFill>
                              <a:latin typeface="Cambria Math" panose="02040503050406030204" pitchFamily="18" charset="0"/>
                            </a:rPr>
                            <m:t>𝟏</m:t>
                          </m:r>
                        </m:sub>
                        <m:sup>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𝒏</m:t>
                          </m:r>
                          <m:r>
                            <a:rPr lang="zh-CN" altLang="en-US" b="1" i="1">
                              <a:solidFill>
                                <a:srgbClr val="000000"/>
                              </a:solidFill>
                              <a:latin typeface="Cambria Math" panose="02040503050406030204" pitchFamily="18" charset="0"/>
                            </a:rPr>
                            <m:t>)</m:t>
                          </m:r>
                        </m:sup>
                      </m:sSubSup>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第</m:t>
                      </m:r>
                      <m:r>
                        <a:rPr lang="zh-CN" altLang="en-US" b="1" i="1">
                          <a:solidFill>
                            <a:srgbClr val="000000"/>
                          </a:solidFill>
                          <a:latin typeface="Cambria Math" panose="02040503050406030204" pitchFamily="18" charset="0"/>
                        </a:rPr>
                        <m:t>𝒏</m:t>
                      </m:r>
                      <m:r>
                        <a:rPr lang="zh-CN" altLang="en-US" b="1" i="1">
                          <a:solidFill>
                            <a:srgbClr val="000000"/>
                          </a:solidFill>
                          <a:latin typeface="Cambria Math" panose="02040503050406030204" pitchFamily="18" charset="0"/>
                        </a:rPr>
                        <m:t>次出现正面</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    {</m:t>
                      </m:r>
                      <m:sSubSup>
                        <m:sSubSupPr>
                          <m:ctrlPr>
                            <a:rPr lang="zh-CN" altLang="en-US" b="1" i="1">
                              <a:solidFill>
                                <a:srgbClr val="000000"/>
                              </a:solidFill>
                              <a:latin typeface="Cambria Math" panose="02040503050406030204" pitchFamily="18" charset="0"/>
                            </a:rPr>
                          </m:ctrlPr>
                        </m:sSubSupPr>
                        <m:e>
                          <m:r>
                            <a:rPr lang="zh-CN" altLang="en-US" b="1" i="1">
                              <a:solidFill>
                                <a:srgbClr val="000000"/>
                              </a:solidFill>
                              <a:latin typeface="Cambria Math" panose="02040503050406030204" pitchFamily="18" charset="0"/>
                            </a:rPr>
                            <m:t>𝝎</m:t>
                          </m:r>
                        </m:e>
                        <m:sub>
                          <m:r>
                            <a:rPr lang="zh-CN" altLang="en-US" b="1" i="1">
                              <a:solidFill>
                                <a:srgbClr val="000000"/>
                              </a:solidFill>
                              <a:latin typeface="Cambria Math" panose="02040503050406030204" pitchFamily="18" charset="0"/>
                            </a:rPr>
                            <m:t>𝟐</m:t>
                          </m:r>
                        </m:sub>
                        <m:sup>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𝒏</m:t>
                          </m:r>
                          <m:r>
                            <a:rPr lang="zh-CN" altLang="en-US" b="1" i="1">
                              <a:solidFill>
                                <a:srgbClr val="000000"/>
                              </a:solidFill>
                              <a:latin typeface="Cambria Math" panose="02040503050406030204" pitchFamily="18" charset="0"/>
                            </a:rPr>
                            <m:t>)</m:t>
                          </m:r>
                        </m:sup>
                      </m:sSubSup>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第</m:t>
                      </m:r>
                      <m:r>
                        <a:rPr lang="zh-CN" altLang="en-US" b="1" i="1">
                          <a:solidFill>
                            <a:srgbClr val="000000"/>
                          </a:solidFill>
                          <a:latin typeface="Cambria Math" panose="02040503050406030204" pitchFamily="18" charset="0"/>
                        </a:rPr>
                        <m:t>𝒏</m:t>
                      </m:r>
                      <m:r>
                        <a:rPr lang="zh-CN" altLang="en-US" b="1" i="1">
                          <a:solidFill>
                            <a:srgbClr val="000000"/>
                          </a:solidFill>
                          <a:latin typeface="Cambria Math" panose="02040503050406030204" pitchFamily="18" charset="0"/>
                        </a:rPr>
                        <m:t>次出现反面</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m:t>
                      </m:r>
                    </m:oMath>
                  </m:oMathPara>
                </a14:m>
                <a:endParaRPr lang="zh-CN" altLang="en-US" b="1" dirty="0"/>
              </a:p>
            </p:txBody>
          </p:sp>
        </mc:Choice>
        <mc:Fallback xmlns="">
          <p:sp>
            <p:nvSpPr>
              <p:cNvPr id="355332" name="Object 4">
                <a:extLst>
                  <a:ext uri="{FF2B5EF4-FFF2-40B4-BE49-F238E27FC236}">
                    <a16:creationId xmlns:a16="http://schemas.microsoft.com/office/drawing/2014/main" id="{5E13870D-BB8A-CDD1-9226-B98EF7F5E711}"/>
                  </a:ext>
                </a:extLst>
              </p:cNvPr>
              <p:cNvSpPr txBox="1">
                <a:spLocks noRot="1" noChangeAspect="1" noMove="1" noResize="1" noEditPoints="1" noAdjustHandles="1" noChangeArrowheads="1" noChangeShapeType="1" noTextEdit="1"/>
              </p:cNvSpPr>
              <p:nvPr/>
            </p:nvSpPr>
            <p:spPr bwMode="auto">
              <a:xfrm>
                <a:off x="536575" y="4461636"/>
                <a:ext cx="11288641" cy="706424"/>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5333" name="Object 5">
                <a:extLst>
                  <a:ext uri="{FF2B5EF4-FFF2-40B4-BE49-F238E27FC236}">
                    <a16:creationId xmlns:a16="http://schemas.microsoft.com/office/drawing/2014/main" id="{5BCF29BD-0476-BBA6-0B19-222B37D7A219}"/>
                  </a:ext>
                </a:extLst>
              </p:cNvPr>
              <p:cNvSpPr txBox="1"/>
              <p:nvPr/>
            </p:nvSpPr>
            <p:spPr bwMode="auto">
              <a:xfrm>
                <a:off x="612775" y="5400643"/>
                <a:ext cx="4434914" cy="50811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b="1" i="1">
                          <a:solidFill>
                            <a:srgbClr val="000000"/>
                          </a:solidFill>
                          <a:latin typeface="Cambria Math" panose="02040503050406030204" pitchFamily="18" charset="0"/>
                        </a:rPr>
                        <m:t>𝟏</m:t>
                      </m:r>
                      <m:r>
                        <a:rPr lang="zh-CN" altLang="en-US" b="1" i="1">
                          <a:solidFill>
                            <a:srgbClr val="000000"/>
                          </a:solidFill>
                          <a:latin typeface="Cambria Math" panose="02040503050406030204" pitchFamily="18" charset="0"/>
                        </a:rPr>
                        <m:t>) </m:t>
                      </m:r>
                      <m:r>
                        <a:rPr lang="zh-CN" altLang="en-US" b="1" i="1">
                          <a:solidFill>
                            <a:srgbClr val="000000"/>
                          </a:solidFill>
                          <a:latin typeface="Cambria Math" panose="02040503050406030204" pitchFamily="18" charset="0"/>
                        </a:rPr>
                        <m:t>对所有</m:t>
                      </m:r>
                      <m:r>
                        <a:rPr lang="zh-CN" altLang="en-US" b="1" i="1">
                          <a:solidFill>
                            <a:srgbClr val="000000"/>
                          </a:solidFill>
                          <a:latin typeface="Cambria Math" panose="02040503050406030204" pitchFamily="18" charset="0"/>
                        </a:rPr>
                        <m:t>  </m:t>
                      </m:r>
                      <m:r>
                        <a:rPr lang="zh-CN" altLang="en-US" b="1" i="1">
                          <a:solidFill>
                            <a:srgbClr val="000000"/>
                          </a:solidFill>
                          <a:latin typeface="Cambria Math" panose="02040503050406030204" pitchFamily="18" charset="0"/>
                        </a:rPr>
                        <m:t>𝒏</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𝟏</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𝟐</m:t>
                      </m:r>
                      <m:r>
                        <a:rPr lang="zh-CN" altLang="en-US" b="1" i="1">
                          <a:solidFill>
                            <a:srgbClr val="000000"/>
                          </a:solidFill>
                          <a:latin typeface="Cambria Math" panose="02040503050406030204" pitchFamily="18" charset="0"/>
                        </a:rPr>
                        <m:t>,⋯, </m:t>
                      </m:r>
                      <m:r>
                        <a:rPr lang="zh-CN" altLang="en-US" b="1" i="1">
                          <a:solidFill>
                            <a:srgbClr val="000000"/>
                          </a:solidFill>
                          <a:latin typeface="Cambria Math" panose="02040503050406030204" pitchFamily="18" charset="0"/>
                        </a:rPr>
                        <m:t>有</m:t>
                      </m:r>
                    </m:oMath>
                  </m:oMathPara>
                </a14:m>
                <a:endParaRPr lang="zh-CN" altLang="en-US" b="1" dirty="0"/>
              </a:p>
            </p:txBody>
          </p:sp>
        </mc:Choice>
        <mc:Fallback xmlns="">
          <p:sp>
            <p:nvSpPr>
              <p:cNvPr id="355333" name="Object 5">
                <a:extLst>
                  <a:ext uri="{FF2B5EF4-FFF2-40B4-BE49-F238E27FC236}">
                    <a16:creationId xmlns:a16="http://schemas.microsoft.com/office/drawing/2014/main" id="{5BCF29BD-0476-BBA6-0B19-222B37D7A219}"/>
                  </a:ext>
                </a:extLst>
              </p:cNvPr>
              <p:cNvSpPr txBox="1">
                <a:spLocks noRot="1" noChangeAspect="1" noMove="1" noResize="1" noEditPoints="1" noAdjustHandles="1" noChangeArrowheads="1" noChangeShapeType="1" noTextEdit="1"/>
              </p:cNvSpPr>
              <p:nvPr/>
            </p:nvSpPr>
            <p:spPr bwMode="auto">
              <a:xfrm>
                <a:off x="612775" y="5400643"/>
                <a:ext cx="4434914" cy="508118"/>
              </a:xfrm>
              <a:prstGeom prst="rect">
                <a:avLst/>
              </a:prstGeom>
              <a:blipFill>
                <a:blip r:embed="rId5"/>
                <a:stretch>
                  <a:fillRect/>
                </a:stretch>
              </a:blipFill>
              <a:ln>
                <a:noFill/>
              </a:ln>
              <a:effectLst/>
            </p:spPr>
            <p:txBody>
              <a:bodyPr/>
              <a:lstStyle/>
              <a:p>
                <a:r>
                  <a:rPr lang="zh-CN" altLang="en-US">
                    <a:noFill/>
                  </a:rPr>
                  <a:t> </a:t>
                </a:r>
              </a:p>
            </p:txBody>
          </p:sp>
        </mc:Fallback>
      </mc:AlternateContent>
      <p:graphicFrame>
        <p:nvGraphicFramePr>
          <p:cNvPr id="355334" name="Group 6">
            <a:extLst>
              <a:ext uri="{FF2B5EF4-FFF2-40B4-BE49-F238E27FC236}">
                <a16:creationId xmlns:a16="http://schemas.microsoft.com/office/drawing/2014/main" id="{A26A67BD-29F9-4234-9E7D-AD781192D097}"/>
              </a:ext>
            </a:extLst>
          </p:cNvPr>
          <p:cNvGraphicFramePr>
            <a:graphicFrameLocks noGrp="1"/>
          </p:cNvGraphicFramePr>
          <p:nvPr>
            <p:extLst>
              <p:ext uri="{D42A27DB-BD31-4B8C-83A1-F6EECF244321}">
                <p14:modId xmlns:p14="http://schemas.microsoft.com/office/powerpoint/2010/main" val="637474255"/>
              </p:ext>
            </p:extLst>
          </p:nvPr>
        </p:nvGraphicFramePr>
        <p:xfrm>
          <a:off x="4896473" y="5369369"/>
          <a:ext cx="3789057" cy="1114650"/>
        </p:xfrm>
        <a:graphic>
          <a:graphicData uri="http://schemas.openxmlformats.org/drawingml/2006/table">
            <a:tbl>
              <a:tblPr/>
              <a:tblGrid>
                <a:gridCol w="844361">
                  <a:extLst>
                    <a:ext uri="{9D8B030D-6E8A-4147-A177-3AD203B41FA5}">
                      <a16:colId xmlns:a16="http://schemas.microsoft.com/office/drawing/2014/main" val="2170822888"/>
                    </a:ext>
                  </a:extLst>
                </a:gridCol>
                <a:gridCol w="2944696">
                  <a:extLst>
                    <a:ext uri="{9D8B030D-6E8A-4147-A177-3AD203B41FA5}">
                      <a16:colId xmlns:a16="http://schemas.microsoft.com/office/drawing/2014/main" val="2523450910"/>
                    </a:ext>
                  </a:extLst>
                </a:gridCol>
              </a:tblGrid>
              <a:tr h="622566">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0" i="0" u="none" strike="noStrike" cap="none" normalizeH="0" baseline="0" dirty="0">
                          <a:ln>
                            <a:noFill/>
                          </a:ln>
                          <a:solidFill>
                            <a:srgbClr val="000066"/>
                          </a:solidFill>
                          <a:effectLst/>
                          <a:latin typeface="Times New Roman" panose="02020603050405020304" pitchFamily="18" charset="0"/>
                          <a:ea typeface="+mn-ea"/>
                          <a:cs typeface="Times New Roman" panose="02020603050405020304" pitchFamily="18" charset="0"/>
                        </a:rPr>
                        <a:t>X(n)</a:t>
                      </a:r>
                    </a:p>
                  </a:txBody>
                  <a:tcPr marL="91461" marR="91461" marT="45731" marB="45731"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0" i="0" u="none" strike="noStrike" cap="none" normalizeH="0" baseline="0" dirty="0">
                          <a:ln>
                            <a:noFill/>
                          </a:ln>
                          <a:solidFill>
                            <a:srgbClr val="000066"/>
                          </a:solidFill>
                          <a:effectLst/>
                          <a:latin typeface="Times New Roman" panose="02020603050405020304" pitchFamily="18" charset="0"/>
                          <a:ea typeface="+mn-ea"/>
                          <a:cs typeface="Times New Roman" panose="02020603050405020304" pitchFamily="18" charset="0"/>
                        </a:rPr>
                        <a:t>     </a:t>
                      </a:r>
                      <a:r>
                        <a:rPr kumimoji="1" lang="zh-CN" altLang="en-US" sz="2400" b="0" i="0" u="none" strike="noStrike" cap="none" normalizeH="0" baseline="0" dirty="0">
                          <a:ln>
                            <a:noFill/>
                          </a:ln>
                          <a:solidFill>
                            <a:srgbClr val="000066"/>
                          </a:solidFill>
                          <a:effectLst/>
                          <a:latin typeface="Times New Roman" panose="02020603050405020304" pitchFamily="18" charset="0"/>
                          <a:ea typeface="+mn-ea"/>
                          <a:cs typeface="Times New Roman" panose="02020603050405020304" pitchFamily="18" charset="0"/>
                        </a:rPr>
                        <a:t>－</a:t>
                      </a:r>
                      <a:r>
                        <a:rPr kumimoji="1" lang="en-US" altLang="zh-CN" sz="2400" b="0" i="0" u="none" strike="noStrike" cap="none" normalizeH="0" baseline="0" dirty="0">
                          <a:ln>
                            <a:noFill/>
                          </a:ln>
                          <a:solidFill>
                            <a:srgbClr val="000066"/>
                          </a:solidFill>
                          <a:effectLst/>
                          <a:latin typeface="Times New Roman" panose="02020603050405020304" pitchFamily="18" charset="0"/>
                          <a:ea typeface="+mn-ea"/>
                          <a:cs typeface="Times New Roman" panose="02020603050405020304" pitchFamily="18" charset="0"/>
                        </a:rPr>
                        <a:t>1            1</a:t>
                      </a:r>
                    </a:p>
                  </a:txBody>
                  <a:tcPr marL="91461" marR="91461" marT="45731" marB="45731"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5544830"/>
                  </a:ext>
                </a:extLst>
              </a:tr>
              <a:tr h="456549">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0" i="1" u="none" strike="noStrike" cap="none" normalizeH="0" baseline="0" dirty="0">
                          <a:ln>
                            <a:noFill/>
                          </a:ln>
                          <a:solidFill>
                            <a:srgbClr val="000066"/>
                          </a:solidFill>
                          <a:effectLst/>
                          <a:latin typeface="Times New Roman" panose="02020603050405020304" pitchFamily="18" charset="0"/>
                          <a:ea typeface="+mn-ea"/>
                          <a:cs typeface="Times New Roman" panose="02020603050405020304" pitchFamily="18" charset="0"/>
                        </a:rPr>
                        <a:t>p</a:t>
                      </a:r>
                    </a:p>
                  </a:txBody>
                  <a:tcPr marL="91461" marR="91461" marT="45731" marB="4573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0" i="0" u="none" strike="noStrike" cap="none" normalizeH="0" baseline="0" dirty="0">
                          <a:ln>
                            <a:noFill/>
                          </a:ln>
                          <a:solidFill>
                            <a:srgbClr val="000066"/>
                          </a:solidFill>
                          <a:effectLst/>
                          <a:latin typeface="Times New Roman" panose="02020603050405020304" pitchFamily="18" charset="0"/>
                          <a:ea typeface="+mn-ea"/>
                          <a:cs typeface="Times New Roman" panose="02020603050405020304" pitchFamily="18" charset="0"/>
                        </a:rPr>
                        <a:t>      1/2        1/2</a:t>
                      </a:r>
                    </a:p>
                  </a:txBody>
                  <a:tcPr marL="91461" marR="91461" marT="45731" marB="4573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967145002"/>
                  </a:ext>
                </a:extLst>
              </a:tr>
            </a:tbl>
          </a:graphicData>
        </a:graphic>
      </p:graphicFrame>
      <p:sp>
        <p:nvSpPr>
          <p:cNvPr id="355349" name="AutoShape 21">
            <a:extLst>
              <a:ext uri="{FF2B5EF4-FFF2-40B4-BE49-F238E27FC236}">
                <a16:creationId xmlns:a16="http://schemas.microsoft.com/office/drawing/2014/main" id="{1EF8B95F-ECEB-9627-D141-C23BE9F26BCE}"/>
              </a:ext>
            </a:extLst>
          </p:cNvPr>
          <p:cNvSpPr>
            <a:spLocks noChangeArrowheads="1"/>
          </p:cNvSpPr>
          <p:nvPr/>
        </p:nvSpPr>
        <p:spPr bwMode="auto">
          <a:xfrm>
            <a:off x="2685758" y="6200080"/>
            <a:ext cx="2187870" cy="567877"/>
          </a:xfrm>
          <a:prstGeom prst="wedgeRoundRectCallout">
            <a:avLst>
              <a:gd name="adj1" fmla="val 57137"/>
              <a:gd name="adj2" fmla="val -129851"/>
              <a:gd name="adj3" fmla="val 16667"/>
            </a:avLst>
          </a:prstGeom>
          <a:gradFill rotWithShape="0">
            <a:gsLst>
              <a:gs pos="0">
                <a:srgbClr val="FFCC00"/>
              </a:gs>
              <a:gs pos="50000">
                <a:srgbClr val="FFFFFF"/>
              </a:gs>
              <a:gs pos="100000">
                <a:srgbClr val="FFCC00"/>
              </a:gs>
            </a:gsLst>
            <a:lin ang="5400000" scaled="1"/>
          </a:gradFill>
          <a:ln w="38100">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rgbClr val="000066"/>
                </a:solidFill>
                <a:latin typeface="+mn-ea"/>
                <a:ea typeface="+mn-ea"/>
                <a:cs typeface="楷体_GB2312"/>
              </a:rPr>
              <a:t>均为随机变量</a:t>
            </a:r>
          </a:p>
        </p:txBody>
      </p:sp>
      <p:sp>
        <p:nvSpPr>
          <p:cNvPr id="8" name="Rectangle 2">
            <a:extLst>
              <a:ext uri="{FF2B5EF4-FFF2-40B4-BE49-F238E27FC236}">
                <a16:creationId xmlns:a16="http://schemas.microsoft.com/office/drawing/2014/main" id="{7ECE4F49-A168-CA38-8DA8-3AFD98826B9E}"/>
              </a:ext>
            </a:extLst>
          </p:cNvPr>
          <p:cNvSpPr txBox="1">
            <a:spLocks noChangeArrowheads="1"/>
          </p:cNvSpPr>
          <p:nvPr/>
        </p:nvSpPr>
        <p:spPr>
          <a:xfrm>
            <a:off x="774700" y="352424"/>
            <a:ext cx="5334000" cy="429419"/>
          </a:xfrm>
          <a:prstGeom prst="rect">
            <a:avLst/>
          </a:prstGeom>
        </p:spPr>
        <p:txBody>
          <a:bodyPr/>
          <a:lstStyle>
            <a:lvl1pPr algn="l" defTabSz="1219835" rtl="0" eaLnBrk="1" latinLnBrk="0" hangingPunct="1">
              <a:spcBef>
                <a:spcPct val="0"/>
              </a:spcBef>
              <a:buNone/>
              <a:defRPr sz="2400" b="1" kern="1200">
                <a:solidFill>
                  <a:schemeClr val="bg1"/>
                </a:solidFill>
                <a:latin typeface="+mj-lt"/>
                <a:ea typeface="+mj-ea"/>
                <a:cs typeface="+mj-cs"/>
              </a:defRPr>
            </a:lvl1pPr>
          </a:lstStyle>
          <a:p>
            <a:r>
              <a:rPr lang="zh-CN" altLang="en-US" dirty="0"/>
              <a:t>实例</a:t>
            </a:r>
          </a:p>
        </p:txBody>
      </p:sp>
      <p:sp>
        <p:nvSpPr>
          <p:cNvPr id="9" name="Text Box 17">
            <a:extLst>
              <a:ext uri="{FF2B5EF4-FFF2-40B4-BE49-F238E27FC236}">
                <a16:creationId xmlns:a16="http://schemas.microsoft.com/office/drawing/2014/main" id="{62C5EB58-A006-F4F9-3C22-FC8800518702}"/>
              </a:ext>
            </a:extLst>
          </p:cNvPr>
          <p:cNvSpPr txBox="1">
            <a:spLocks noChangeArrowheads="1"/>
          </p:cNvSpPr>
          <p:nvPr/>
        </p:nvSpPr>
        <p:spPr bwMode="auto">
          <a:xfrm>
            <a:off x="500203" y="1169733"/>
            <a:ext cx="8067954"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b="1" dirty="0">
                <a:solidFill>
                  <a:srgbClr val="C00000"/>
                </a:solidFill>
                <a:latin typeface="+mn-ea"/>
                <a:ea typeface="+mn-ea"/>
                <a:cs typeface="楷体_GB2312"/>
              </a:rPr>
              <a:t>例</a:t>
            </a:r>
            <a:r>
              <a:rPr lang="en-US" altLang="zh-CN" b="1" dirty="0">
                <a:solidFill>
                  <a:srgbClr val="C00000"/>
                </a:solidFill>
                <a:latin typeface="+mn-ea"/>
                <a:ea typeface="+mn-ea"/>
                <a:cs typeface="楷体_GB2312"/>
              </a:rPr>
              <a:t>3  </a:t>
            </a:r>
            <a:r>
              <a:rPr lang="zh-CN" altLang="en-US" b="1" dirty="0">
                <a:solidFill>
                  <a:srgbClr val="000066"/>
                </a:solidFill>
                <a:latin typeface="+mn-ea"/>
                <a:ea typeface="+mn-ea"/>
                <a:cs typeface="楷体_GB2312"/>
              </a:rPr>
              <a:t>独立重复抛一个均匀硬币，定义一个随机过程如下</a:t>
            </a:r>
          </a:p>
        </p:txBody>
      </p:sp>
      <mc:AlternateContent xmlns:mc="http://schemas.openxmlformats.org/markup-compatibility/2006" xmlns:a14="http://schemas.microsoft.com/office/drawing/2010/main">
        <mc:Choice Requires="a14">
          <p:sp>
            <p:nvSpPr>
              <p:cNvPr id="10" name="Object 18">
                <a:extLst>
                  <a:ext uri="{FF2B5EF4-FFF2-40B4-BE49-F238E27FC236}">
                    <a16:creationId xmlns:a16="http://schemas.microsoft.com/office/drawing/2014/main" id="{746D03AA-420A-8765-44A6-234DD22E4D84}"/>
                  </a:ext>
                </a:extLst>
              </p:cNvPr>
              <p:cNvSpPr txBox="1"/>
              <p:nvPr/>
            </p:nvSpPr>
            <p:spPr bwMode="auto">
              <a:xfrm>
                <a:off x="2289175" y="1705340"/>
                <a:ext cx="5690917" cy="1241712"/>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&amp;1,  </m:t>
                              </m:r>
                              <m:r>
                                <a:rPr lang="zh-CN" altLang="en-US" i="1">
                                  <a:solidFill>
                                    <a:srgbClr val="000000"/>
                                  </a:solidFill>
                                  <a:latin typeface="Cambria Math" panose="02040503050406030204" pitchFamily="18" charset="0"/>
                                </a:rPr>
                                <m:t>第</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次出现正面</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&amp;−1, </m:t>
                              </m:r>
                              <m:r>
                                <a:rPr lang="zh-CN" altLang="en-US" i="1">
                                  <a:solidFill>
                                    <a:srgbClr val="000000"/>
                                  </a:solidFill>
                                  <a:latin typeface="Cambria Math" panose="02040503050406030204" pitchFamily="18" charset="0"/>
                                </a:rPr>
                                <m:t>第</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次出现反面</m:t>
                              </m:r>
                              <m:r>
                                <a:rPr lang="zh-CN" altLang="en-US" i="1">
                                  <a:solidFill>
                                    <a:srgbClr val="000000"/>
                                  </a:solidFill>
                                  <a:latin typeface="Cambria Math" panose="02040503050406030204" pitchFamily="18" charset="0"/>
                                </a:rPr>
                                <m:t>.</m:t>
                              </m:r>
                            </m:e>
                          </m:eqArr>
                        </m:e>
                      </m:d>
                    </m:oMath>
                  </m:oMathPara>
                </a14:m>
                <a:endParaRPr lang="zh-CN" altLang="en-US" dirty="0"/>
              </a:p>
            </p:txBody>
          </p:sp>
        </mc:Choice>
        <mc:Fallback xmlns="">
          <p:sp>
            <p:nvSpPr>
              <p:cNvPr id="10" name="Object 18">
                <a:extLst>
                  <a:ext uri="{FF2B5EF4-FFF2-40B4-BE49-F238E27FC236}">
                    <a16:creationId xmlns:a16="http://schemas.microsoft.com/office/drawing/2014/main" id="{746D03AA-420A-8765-44A6-234DD22E4D84}"/>
                  </a:ext>
                </a:extLst>
              </p:cNvPr>
              <p:cNvSpPr txBox="1">
                <a:spLocks noRot="1" noChangeAspect="1" noMove="1" noResize="1" noEditPoints="1" noAdjustHandles="1" noChangeArrowheads="1" noChangeShapeType="1" noTextEdit="1"/>
              </p:cNvSpPr>
              <p:nvPr/>
            </p:nvSpPr>
            <p:spPr bwMode="auto">
              <a:xfrm>
                <a:off x="2289175" y="1705340"/>
                <a:ext cx="5690917" cy="1241712"/>
              </a:xfrm>
              <a:prstGeom prst="rect">
                <a:avLst/>
              </a:prstGeom>
              <a:blipFill>
                <a:blip r:embed="rId6"/>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55331"/>
                                        </p:tgtEl>
                                        <p:attrNameLst>
                                          <p:attrName>style.visibility</p:attrName>
                                        </p:attrNameLst>
                                      </p:cBhvr>
                                      <p:to>
                                        <p:strVal val="visible"/>
                                      </p:to>
                                    </p:set>
                                    <p:animEffect transition="in" filter="wipe(left)">
                                      <p:cBhvr>
                                        <p:cTn id="16" dur="500"/>
                                        <p:tgtEl>
                                          <p:spTgt spid="355331"/>
                                        </p:tgtEl>
                                      </p:cBhvr>
                                    </p:animEffect>
                                  </p:childTnLst>
                                </p:cTn>
                              </p:par>
                            </p:childTnLst>
                          </p:cTn>
                        </p:par>
                        <p:par>
                          <p:cTn id="17" fill="hold" nodeType="withGroup">
                            <p:stCondLst>
                              <p:cond delay="500"/>
                            </p:stCondLst>
                            <p:childTnLst>
                              <p:par>
                                <p:cTn id="18" presetID="14" presetClass="entr" presetSubtype="10" fill="hold" grpId="0" nodeType="afterEffect">
                                  <p:stCondLst>
                                    <p:cond delay="0"/>
                                  </p:stCondLst>
                                  <p:childTnLst>
                                    <p:set>
                                      <p:cBhvr>
                                        <p:cTn id="19" dur="1" fill="hold">
                                          <p:stCondLst>
                                            <p:cond delay="0"/>
                                          </p:stCondLst>
                                        </p:cTn>
                                        <p:tgtEl>
                                          <p:spTgt spid="355330"/>
                                        </p:tgtEl>
                                        <p:attrNameLst>
                                          <p:attrName>style.visibility</p:attrName>
                                        </p:attrNameLst>
                                      </p:cBhvr>
                                      <p:to>
                                        <p:strVal val="visible"/>
                                      </p:to>
                                    </p:set>
                                    <p:animEffect transition="in" filter="randombar(horizontal)">
                                      <p:cBhvr>
                                        <p:cTn id="20" dur="500"/>
                                        <p:tgtEl>
                                          <p:spTgt spid="355330"/>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55332"/>
                                        </p:tgtEl>
                                        <p:attrNameLst>
                                          <p:attrName>style.visibility</p:attrName>
                                        </p:attrNameLst>
                                      </p:cBhvr>
                                      <p:to>
                                        <p:strVal val="visible"/>
                                      </p:to>
                                    </p:set>
                                    <p:anim calcmode="lin" valueType="num">
                                      <p:cBhvr>
                                        <p:cTn id="25" dur="500" fill="hold"/>
                                        <p:tgtEl>
                                          <p:spTgt spid="355332"/>
                                        </p:tgtEl>
                                        <p:attrNameLst>
                                          <p:attrName>ppt_w</p:attrName>
                                        </p:attrNameLst>
                                      </p:cBhvr>
                                      <p:tavLst>
                                        <p:tav tm="0">
                                          <p:val>
                                            <p:fltVal val="0"/>
                                          </p:val>
                                        </p:tav>
                                        <p:tav tm="100000">
                                          <p:val>
                                            <p:strVal val="#ppt_w"/>
                                          </p:val>
                                        </p:tav>
                                      </p:tavLst>
                                    </p:anim>
                                    <p:anim calcmode="lin" valueType="num">
                                      <p:cBhvr>
                                        <p:cTn id="26" dur="500" fill="hold"/>
                                        <p:tgtEl>
                                          <p:spTgt spid="355332"/>
                                        </p:tgtEl>
                                        <p:attrNameLst>
                                          <p:attrName>ppt_h</p:attrName>
                                        </p:attrNameLst>
                                      </p:cBhvr>
                                      <p:tavLst>
                                        <p:tav tm="0">
                                          <p:val>
                                            <p:fltVal val="0"/>
                                          </p:val>
                                        </p:tav>
                                        <p:tav tm="100000">
                                          <p:val>
                                            <p:strVal val="#ppt_h"/>
                                          </p:val>
                                        </p:tav>
                                      </p:tavLst>
                                    </p:anim>
                                    <p:animEffect transition="in" filter="fade">
                                      <p:cBhvr>
                                        <p:cTn id="27" dur="500"/>
                                        <p:tgtEl>
                                          <p:spTgt spid="35533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55333"/>
                                        </p:tgtEl>
                                        <p:attrNameLst>
                                          <p:attrName>style.visibility</p:attrName>
                                        </p:attrNameLst>
                                      </p:cBhvr>
                                      <p:to>
                                        <p:strVal val="visible"/>
                                      </p:to>
                                    </p:set>
                                    <p:animEffect transition="in" filter="randombar(horizontal)">
                                      <p:cBhvr>
                                        <p:cTn id="32" dur="500"/>
                                        <p:tgtEl>
                                          <p:spTgt spid="3553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55334"/>
                                        </p:tgtEl>
                                        <p:attrNameLst>
                                          <p:attrName>style.visibility</p:attrName>
                                        </p:attrNameLst>
                                      </p:cBhvr>
                                      <p:to>
                                        <p:strVal val="visible"/>
                                      </p:to>
                                    </p:set>
                                    <p:animEffect transition="in" filter="wipe(left)">
                                      <p:cBhvr>
                                        <p:cTn id="37" dur="500"/>
                                        <p:tgtEl>
                                          <p:spTgt spid="3553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55349"/>
                                        </p:tgtEl>
                                        <p:attrNameLst>
                                          <p:attrName>style.visibility</p:attrName>
                                        </p:attrNameLst>
                                      </p:cBhvr>
                                      <p:to>
                                        <p:strVal val="visible"/>
                                      </p:to>
                                    </p:set>
                                    <p:animEffect transition="in" filter="dissolve">
                                      <p:cBhvr>
                                        <p:cTn id="42" dur="500"/>
                                        <p:tgtEl>
                                          <p:spTgt spid="355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p:bldP spid="355331" grpId="0" autoUpdateAnimBg="0"/>
      <p:bldP spid="355332" grpId="0"/>
      <p:bldP spid="355333" grpId="0"/>
      <p:bldP spid="355349" grpId="0" animBg="1" autoUpdateAnimBg="0"/>
      <p:bldP spid="9" grpId="0" autoUpdateAnimBg="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Text Box 2">
            <a:extLst>
              <a:ext uri="{FF2B5EF4-FFF2-40B4-BE49-F238E27FC236}">
                <a16:creationId xmlns:a16="http://schemas.microsoft.com/office/drawing/2014/main" id="{7E875CE2-920B-6ABA-176A-BFFA19FBEA03}"/>
              </a:ext>
            </a:extLst>
          </p:cNvPr>
          <p:cNvSpPr txBox="1">
            <a:spLocks noChangeArrowheads="1"/>
          </p:cNvSpPr>
          <p:nvPr/>
        </p:nvSpPr>
        <p:spPr bwMode="auto">
          <a:xfrm>
            <a:off x="688975" y="991394"/>
            <a:ext cx="40575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66"/>
                </a:solidFill>
                <a:ea typeface="楷体_GB2312"/>
                <a:cs typeface="楷体_GB2312"/>
              </a:rPr>
              <a:t>2)   </a:t>
            </a:r>
            <a:r>
              <a:rPr lang="zh-CN" altLang="en-US" b="1" dirty="0">
                <a:solidFill>
                  <a:srgbClr val="000066"/>
                </a:solidFill>
                <a:ea typeface="楷体_GB2312"/>
                <a:cs typeface="楷体_GB2312"/>
              </a:rPr>
              <a:t>该过程有无穷条样本函数</a:t>
            </a:r>
            <a:endParaRPr lang="en-US" altLang="zh-CN" sz="3201" b="1" dirty="0">
              <a:solidFill>
                <a:srgbClr val="000066"/>
              </a:solidFill>
              <a:ea typeface="楷体_GB2312"/>
              <a:cs typeface="楷体_GB2312"/>
            </a:endParaRPr>
          </a:p>
        </p:txBody>
      </p:sp>
      <p:sp>
        <p:nvSpPr>
          <p:cNvPr id="356355" name="Text Box 3">
            <a:extLst>
              <a:ext uri="{FF2B5EF4-FFF2-40B4-BE49-F238E27FC236}">
                <a16:creationId xmlns:a16="http://schemas.microsoft.com/office/drawing/2014/main" id="{E2F699C4-0DF6-0796-F5E5-4DF021828D36}"/>
              </a:ext>
            </a:extLst>
          </p:cNvPr>
          <p:cNvSpPr txBox="1">
            <a:spLocks noChangeArrowheads="1"/>
          </p:cNvSpPr>
          <p:nvPr/>
        </p:nvSpPr>
        <p:spPr bwMode="auto">
          <a:xfrm>
            <a:off x="460375" y="1678644"/>
            <a:ext cx="9816480"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000066"/>
                </a:solidFill>
                <a:ea typeface="楷体_GB2312"/>
                <a:cs typeface="楷体_GB2312"/>
              </a:rPr>
              <a:t>    </a:t>
            </a:r>
            <a:r>
              <a:rPr lang="zh-CN" altLang="en-US" b="1" dirty="0">
                <a:solidFill>
                  <a:srgbClr val="000066"/>
                </a:solidFill>
                <a:ea typeface="楷体_GB2312"/>
                <a:cs typeface="楷体_GB2312"/>
              </a:rPr>
              <a:t>将抛第</a:t>
            </a:r>
            <a:r>
              <a:rPr lang="en-US" altLang="zh-CN" b="1" i="1" dirty="0">
                <a:solidFill>
                  <a:srgbClr val="000066"/>
                </a:solidFill>
                <a:ea typeface="楷体_GB2312"/>
                <a:cs typeface="楷体_GB2312"/>
              </a:rPr>
              <a:t>n </a:t>
            </a:r>
            <a:r>
              <a:rPr lang="zh-CN" altLang="en-US" b="1" dirty="0">
                <a:solidFill>
                  <a:srgbClr val="000066"/>
                </a:solidFill>
                <a:ea typeface="楷体_GB2312"/>
                <a:cs typeface="楷体_GB2312"/>
              </a:rPr>
              <a:t>次硬币的试验记为</a:t>
            </a:r>
            <a:r>
              <a:rPr lang="en-US" altLang="zh-CN" b="1" i="1" dirty="0" err="1">
                <a:solidFill>
                  <a:srgbClr val="000066"/>
                </a:solidFill>
                <a:ea typeface="楷体_GB2312"/>
                <a:cs typeface="楷体_GB2312"/>
              </a:rPr>
              <a:t>E</a:t>
            </a:r>
            <a:r>
              <a:rPr lang="en-US" altLang="zh-CN" b="1" i="1" baseline="-25000" dirty="0" err="1">
                <a:solidFill>
                  <a:srgbClr val="000066"/>
                </a:solidFill>
                <a:ea typeface="楷体_GB2312"/>
                <a:cs typeface="楷体_GB2312"/>
              </a:rPr>
              <a:t>n</a:t>
            </a:r>
            <a:r>
              <a:rPr lang="en-US" altLang="zh-CN" b="1" i="1" baseline="-25000" dirty="0">
                <a:solidFill>
                  <a:srgbClr val="000066"/>
                </a:solidFill>
                <a:ea typeface="楷体_GB2312"/>
                <a:cs typeface="楷体_GB2312"/>
              </a:rPr>
              <a:t> </a:t>
            </a:r>
            <a:r>
              <a:rPr lang="en-US" altLang="zh-CN" b="1" i="1" dirty="0">
                <a:solidFill>
                  <a:srgbClr val="000066"/>
                </a:solidFill>
                <a:ea typeface="楷体_GB2312"/>
                <a:cs typeface="楷体_GB2312"/>
              </a:rPr>
              <a:t>, </a:t>
            </a:r>
            <a:r>
              <a:rPr lang="zh-CN" altLang="en-US" b="1" dirty="0">
                <a:solidFill>
                  <a:srgbClr val="000066"/>
                </a:solidFill>
                <a:ea typeface="楷体_GB2312"/>
                <a:cs typeface="楷体_GB2312"/>
              </a:rPr>
              <a:t>则对应的样本空间为</a:t>
            </a:r>
          </a:p>
        </p:txBody>
      </p:sp>
      <mc:AlternateContent xmlns:mc="http://schemas.openxmlformats.org/markup-compatibility/2006" xmlns:a14="http://schemas.microsoft.com/office/drawing/2010/main">
        <mc:Choice Requires="a14">
          <p:sp>
            <p:nvSpPr>
              <p:cNvPr id="356356" name="Object 4">
                <a:extLst>
                  <a:ext uri="{FF2B5EF4-FFF2-40B4-BE49-F238E27FC236}">
                    <a16:creationId xmlns:a16="http://schemas.microsoft.com/office/drawing/2014/main" id="{E9117E68-ED67-762C-D1C8-FE900FD47992}"/>
                  </a:ext>
                </a:extLst>
              </p:cNvPr>
              <p:cNvSpPr txBox="1"/>
              <p:nvPr/>
            </p:nvSpPr>
            <p:spPr bwMode="auto">
              <a:xfrm>
                <a:off x="921469" y="2485494"/>
                <a:ext cx="5527367" cy="63356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Ω</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=1,2,⋯)</m:t>
                      </m:r>
                    </m:oMath>
                  </m:oMathPara>
                </a14:m>
                <a:endParaRPr lang="zh-CN" altLang="en-US"/>
              </a:p>
            </p:txBody>
          </p:sp>
        </mc:Choice>
        <mc:Fallback xmlns="">
          <p:sp>
            <p:nvSpPr>
              <p:cNvPr id="356356" name="Object 4">
                <a:extLst>
                  <a:ext uri="{FF2B5EF4-FFF2-40B4-BE49-F238E27FC236}">
                    <a16:creationId xmlns:a16="http://schemas.microsoft.com/office/drawing/2014/main" id="{E9117E68-ED67-762C-D1C8-FE900FD47992}"/>
                  </a:ext>
                </a:extLst>
              </p:cNvPr>
              <p:cNvSpPr txBox="1">
                <a:spLocks noRot="1" noChangeAspect="1" noMove="1" noResize="1" noEditPoints="1" noAdjustHandles="1" noChangeArrowheads="1" noChangeShapeType="1" noTextEdit="1"/>
              </p:cNvSpPr>
              <p:nvPr/>
            </p:nvSpPr>
            <p:spPr bwMode="auto">
              <a:xfrm>
                <a:off x="921469" y="2485494"/>
                <a:ext cx="5527367" cy="63356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6357" name="Object 5">
                <a:extLst>
                  <a:ext uri="{FF2B5EF4-FFF2-40B4-BE49-F238E27FC236}">
                    <a16:creationId xmlns:a16="http://schemas.microsoft.com/office/drawing/2014/main" id="{4242AFD1-3BB7-C700-B0FC-90CE335F71AF}"/>
                  </a:ext>
                </a:extLst>
              </p:cNvPr>
              <p:cNvSpPr txBox="1"/>
              <p:nvPr/>
            </p:nvSpPr>
            <p:spPr bwMode="auto">
              <a:xfrm>
                <a:off x="845269" y="3271454"/>
                <a:ext cx="6611880" cy="64149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其中</m:t>
                      </m:r>
                      <m:r>
                        <a:rPr lang="zh-CN" altLang="en-US" i="1" smtClean="0">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第</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次出现正面</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56357" name="Object 5">
                <a:extLst>
                  <a:ext uri="{FF2B5EF4-FFF2-40B4-BE49-F238E27FC236}">
                    <a16:creationId xmlns:a16="http://schemas.microsoft.com/office/drawing/2014/main" id="{4242AFD1-3BB7-C700-B0FC-90CE335F71AF}"/>
                  </a:ext>
                </a:extLst>
              </p:cNvPr>
              <p:cNvSpPr txBox="1">
                <a:spLocks noRot="1" noChangeAspect="1" noMove="1" noResize="1" noEditPoints="1" noAdjustHandles="1" noChangeArrowheads="1" noChangeShapeType="1" noTextEdit="1"/>
              </p:cNvSpPr>
              <p:nvPr/>
            </p:nvSpPr>
            <p:spPr bwMode="auto">
              <a:xfrm>
                <a:off x="845269" y="3271454"/>
                <a:ext cx="6611880" cy="641498"/>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6358" name="Object 6">
                <a:extLst>
                  <a:ext uri="{FF2B5EF4-FFF2-40B4-BE49-F238E27FC236}">
                    <a16:creationId xmlns:a16="http://schemas.microsoft.com/office/drawing/2014/main" id="{143EC5CF-8192-3C9C-955E-D85646653D10}"/>
                  </a:ext>
                </a:extLst>
              </p:cNvPr>
              <p:cNvSpPr txBox="1"/>
              <p:nvPr/>
            </p:nvSpPr>
            <p:spPr bwMode="auto">
              <a:xfrm>
                <a:off x="5184775" y="3232719"/>
                <a:ext cx="4920801" cy="639911"/>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第</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次出现反面</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56358" name="Object 6">
                <a:extLst>
                  <a:ext uri="{FF2B5EF4-FFF2-40B4-BE49-F238E27FC236}">
                    <a16:creationId xmlns:a16="http://schemas.microsoft.com/office/drawing/2014/main" id="{143EC5CF-8192-3C9C-955E-D85646653D10}"/>
                  </a:ext>
                </a:extLst>
              </p:cNvPr>
              <p:cNvSpPr txBox="1">
                <a:spLocks noRot="1" noChangeAspect="1" noMove="1" noResize="1" noEditPoints="1" noAdjustHandles="1" noChangeArrowheads="1" noChangeShapeType="1" noTextEdit="1"/>
              </p:cNvSpPr>
              <p:nvPr/>
            </p:nvSpPr>
            <p:spPr bwMode="auto">
              <a:xfrm>
                <a:off x="5184775" y="3232719"/>
                <a:ext cx="4920801" cy="639911"/>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8" name="Rectangle 2">
            <a:extLst>
              <a:ext uri="{FF2B5EF4-FFF2-40B4-BE49-F238E27FC236}">
                <a16:creationId xmlns:a16="http://schemas.microsoft.com/office/drawing/2014/main" id="{350738C9-5C68-2344-92EE-F737F2731CFC}"/>
              </a:ext>
            </a:extLst>
          </p:cNvPr>
          <p:cNvSpPr txBox="1">
            <a:spLocks noChangeArrowheads="1"/>
          </p:cNvSpPr>
          <p:nvPr/>
        </p:nvSpPr>
        <p:spPr>
          <a:xfrm>
            <a:off x="774700" y="352424"/>
            <a:ext cx="5334000" cy="429419"/>
          </a:xfrm>
          <a:prstGeom prst="rect">
            <a:avLst/>
          </a:prstGeom>
        </p:spPr>
        <p:txBody>
          <a:bodyPr/>
          <a:lstStyle>
            <a:lvl1pPr algn="l" defTabSz="1219835" rtl="0" eaLnBrk="1" latinLnBrk="0" hangingPunct="1">
              <a:spcBef>
                <a:spcPct val="0"/>
              </a:spcBef>
              <a:buNone/>
              <a:defRPr sz="2400" b="1" kern="1200">
                <a:solidFill>
                  <a:schemeClr val="bg1"/>
                </a:solidFill>
                <a:latin typeface="+mj-lt"/>
                <a:ea typeface="+mj-ea"/>
                <a:cs typeface="+mj-cs"/>
              </a:defRPr>
            </a:lvl1pPr>
          </a:lstStyle>
          <a:p>
            <a:r>
              <a:rPr lang="zh-CN" altLang="en-US" dirty="0"/>
              <a:t>实例</a:t>
            </a:r>
            <a:r>
              <a:rPr lang="en-US" altLang="zh-CN" dirty="0"/>
              <a:t>3</a:t>
            </a:r>
            <a:r>
              <a:rPr lang="zh-CN" altLang="en-US" dirty="0"/>
              <a:t>（续）</a:t>
            </a:r>
          </a:p>
        </p:txBody>
      </p:sp>
      <p:sp>
        <p:nvSpPr>
          <p:cNvPr id="9" name="Text Box 2">
            <a:extLst>
              <a:ext uri="{FF2B5EF4-FFF2-40B4-BE49-F238E27FC236}">
                <a16:creationId xmlns:a16="http://schemas.microsoft.com/office/drawing/2014/main" id="{68F92DDC-6369-C014-6BE7-0EA36010D874}"/>
              </a:ext>
            </a:extLst>
          </p:cNvPr>
          <p:cNvSpPr txBox="1">
            <a:spLocks noChangeArrowheads="1"/>
          </p:cNvSpPr>
          <p:nvPr/>
        </p:nvSpPr>
        <p:spPr bwMode="auto">
          <a:xfrm>
            <a:off x="845269" y="4065352"/>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C00000"/>
                </a:solidFill>
                <a:ea typeface="楷体_GB2312"/>
                <a:cs typeface="楷体_GB2312"/>
              </a:rPr>
              <a:t>过程样本空间为无穷积集</a:t>
            </a:r>
          </a:p>
        </p:txBody>
      </p:sp>
      <mc:AlternateContent xmlns:mc="http://schemas.openxmlformats.org/markup-compatibility/2006" xmlns:a14="http://schemas.microsoft.com/office/drawing/2010/main">
        <mc:Choice Requires="a14">
          <p:sp>
            <p:nvSpPr>
              <p:cNvPr id="10" name="Object 3">
                <a:extLst>
                  <a:ext uri="{FF2B5EF4-FFF2-40B4-BE49-F238E27FC236}">
                    <a16:creationId xmlns:a16="http://schemas.microsoft.com/office/drawing/2014/main" id="{D36E3C32-8C9B-0A72-4D7D-2ED69CE4AFF3}"/>
                  </a:ext>
                </a:extLst>
              </p:cNvPr>
              <p:cNvSpPr txBox="1"/>
              <p:nvPr/>
            </p:nvSpPr>
            <p:spPr bwMode="auto">
              <a:xfrm>
                <a:off x="993775" y="4952594"/>
                <a:ext cx="4384102" cy="4890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Ω</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Ω</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Ω</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0" name="Object 3">
                <a:extLst>
                  <a:ext uri="{FF2B5EF4-FFF2-40B4-BE49-F238E27FC236}">
                    <a16:creationId xmlns:a16="http://schemas.microsoft.com/office/drawing/2014/main" id="{D36E3C32-8C9B-0A72-4D7D-2ED69CE4AFF3}"/>
                  </a:ext>
                </a:extLst>
              </p:cNvPr>
              <p:cNvSpPr txBox="1">
                <a:spLocks noRot="1" noChangeAspect="1" noMove="1" noResize="1" noEditPoints="1" noAdjustHandles="1" noChangeArrowheads="1" noChangeShapeType="1" noTextEdit="1"/>
              </p:cNvSpPr>
              <p:nvPr/>
            </p:nvSpPr>
            <p:spPr bwMode="auto">
              <a:xfrm>
                <a:off x="993775" y="4952594"/>
                <a:ext cx="4384102" cy="489063"/>
              </a:xfrm>
              <a:prstGeom prst="rect">
                <a:avLst/>
              </a:prstGeom>
              <a:blipFill>
                <a:blip r:embed="rId5"/>
                <a:stretch>
                  <a:fillRect l="-27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4">
                <a:extLst>
                  <a:ext uri="{FF2B5EF4-FFF2-40B4-BE49-F238E27FC236}">
                    <a16:creationId xmlns:a16="http://schemas.microsoft.com/office/drawing/2014/main" id="{E69DF4E8-C0A9-58AA-F1FF-2201CF3C955F}"/>
                  </a:ext>
                </a:extLst>
              </p:cNvPr>
              <p:cNvSpPr txBox="1"/>
              <p:nvPr/>
            </p:nvSpPr>
            <p:spPr bwMode="auto">
              <a:xfrm>
                <a:off x="4746496" y="4891634"/>
                <a:ext cx="5617875" cy="77805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2</m:t>
                              </m:r>
                            </m:sub>
                          </m:sSub>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𝑛</m:t>
                              </m:r>
                            </m:sub>
                          </m:sSub>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=1,2}</m:t>
                      </m:r>
                    </m:oMath>
                  </m:oMathPara>
                </a14:m>
                <a:endParaRPr lang="zh-CN" altLang="en-US" dirty="0"/>
              </a:p>
            </p:txBody>
          </p:sp>
        </mc:Choice>
        <mc:Fallback xmlns="">
          <p:sp>
            <p:nvSpPr>
              <p:cNvPr id="11" name="Object 4">
                <a:extLst>
                  <a:ext uri="{FF2B5EF4-FFF2-40B4-BE49-F238E27FC236}">
                    <a16:creationId xmlns:a16="http://schemas.microsoft.com/office/drawing/2014/main" id="{E69DF4E8-C0A9-58AA-F1FF-2201CF3C955F}"/>
                  </a:ext>
                </a:extLst>
              </p:cNvPr>
              <p:cNvSpPr txBox="1">
                <a:spLocks noRot="1" noChangeAspect="1" noMove="1" noResize="1" noEditPoints="1" noAdjustHandles="1" noChangeArrowheads="1" noChangeShapeType="1" noTextEdit="1"/>
              </p:cNvSpPr>
              <p:nvPr/>
            </p:nvSpPr>
            <p:spPr bwMode="auto">
              <a:xfrm>
                <a:off x="4746496" y="4891634"/>
                <a:ext cx="5617875" cy="778055"/>
              </a:xfrm>
              <a:prstGeom prst="rect">
                <a:avLst/>
              </a:prstGeom>
              <a:blipFill>
                <a:blip r:embed="rId6"/>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6354"/>
                                        </p:tgtEl>
                                        <p:attrNameLst>
                                          <p:attrName>style.visibility</p:attrName>
                                        </p:attrNameLst>
                                      </p:cBhvr>
                                      <p:to>
                                        <p:strVal val="visible"/>
                                      </p:to>
                                    </p:set>
                                    <p:animEffect transition="in" filter="wipe(left)">
                                      <p:cBhvr>
                                        <p:cTn id="7" dur="500"/>
                                        <p:tgtEl>
                                          <p:spTgt spid="3563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6355"/>
                                        </p:tgtEl>
                                        <p:attrNameLst>
                                          <p:attrName>style.visibility</p:attrName>
                                        </p:attrNameLst>
                                      </p:cBhvr>
                                      <p:to>
                                        <p:strVal val="visible"/>
                                      </p:to>
                                    </p:set>
                                    <p:animEffect transition="in" filter="wipe(left)">
                                      <p:cBhvr>
                                        <p:cTn id="12" dur="500"/>
                                        <p:tgtEl>
                                          <p:spTgt spid="35635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56356"/>
                                        </p:tgtEl>
                                        <p:attrNameLst>
                                          <p:attrName>style.visibility</p:attrName>
                                        </p:attrNameLst>
                                      </p:cBhvr>
                                      <p:to>
                                        <p:strVal val="visible"/>
                                      </p:to>
                                    </p:set>
                                    <p:animEffect transition="in" filter="randombar(horizontal)">
                                      <p:cBhvr>
                                        <p:cTn id="17" dur="500"/>
                                        <p:tgtEl>
                                          <p:spTgt spid="35635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56357"/>
                                        </p:tgtEl>
                                        <p:attrNameLst>
                                          <p:attrName>style.visibility</p:attrName>
                                        </p:attrNameLst>
                                      </p:cBhvr>
                                      <p:to>
                                        <p:strVal val="visible"/>
                                      </p:to>
                                    </p:set>
                                    <p:animEffect transition="in" filter="randombar(horizontal)">
                                      <p:cBhvr>
                                        <p:cTn id="22" dur="500"/>
                                        <p:tgtEl>
                                          <p:spTgt spid="35635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56358"/>
                                        </p:tgtEl>
                                        <p:attrNameLst>
                                          <p:attrName>style.visibility</p:attrName>
                                        </p:attrNameLst>
                                      </p:cBhvr>
                                      <p:to>
                                        <p:strVal val="visible"/>
                                      </p:to>
                                    </p:set>
                                    <p:animEffect transition="in" filter="randombar(horizontal)">
                                      <p:cBhvr>
                                        <p:cTn id="27" dur="500"/>
                                        <p:tgtEl>
                                          <p:spTgt spid="35635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randombar(horizontal)">
                                      <p:cBhvr>
                                        <p:cTn id="37" dur="500"/>
                                        <p:tgtEl>
                                          <p:spTgt spid="10"/>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randombar(horizontal)">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4" grpId="0" autoUpdateAnimBg="0"/>
      <p:bldP spid="356355" grpId="0" autoUpdateAnimBg="0"/>
      <p:bldP spid="356356" grpId="0"/>
      <p:bldP spid="356357" grpId="0"/>
      <p:bldP spid="356358" grpId="0"/>
      <p:bldP spid="9" grpId="0" autoUpdateAnimBg="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a:extLst>
              <a:ext uri="{FF2B5EF4-FFF2-40B4-BE49-F238E27FC236}">
                <a16:creationId xmlns:a16="http://schemas.microsoft.com/office/drawing/2014/main" id="{D38E053D-CFB7-346C-F9E1-2CF4700E1D67}"/>
              </a:ext>
            </a:extLst>
          </p:cNvPr>
          <p:cNvSpPr txBox="1">
            <a:spLocks noChangeArrowheads="1"/>
          </p:cNvSpPr>
          <p:nvPr/>
        </p:nvSpPr>
        <p:spPr bwMode="auto">
          <a:xfrm>
            <a:off x="924811" y="298999"/>
            <a:ext cx="41344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chemeClr val="bg1"/>
                </a:solidFill>
                <a:ea typeface="楷体_GB2312"/>
                <a:cs typeface="楷体_GB2312"/>
              </a:rPr>
              <a:t>过程样本空间为无穷积集</a:t>
            </a:r>
          </a:p>
        </p:txBody>
      </p:sp>
      <mc:AlternateContent xmlns:mc="http://schemas.openxmlformats.org/markup-compatibility/2006" xmlns:a14="http://schemas.microsoft.com/office/drawing/2010/main">
        <mc:Choice Requires="a14">
          <p:sp>
            <p:nvSpPr>
              <p:cNvPr id="357379" name="Object 3">
                <a:extLst>
                  <a:ext uri="{FF2B5EF4-FFF2-40B4-BE49-F238E27FC236}">
                    <a16:creationId xmlns:a16="http://schemas.microsoft.com/office/drawing/2014/main" id="{0C16041D-FEAD-3AF6-7F7C-E6A0B3188C43}"/>
                  </a:ext>
                </a:extLst>
              </p:cNvPr>
              <p:cNvSpPr txBox="1"/>
              <p:nvPr/>
            </p:nvSpPr>
            <p:spPr bwMode="auto">
              <a:xfrm>
                <a:off x="778232" y="1121354"/>
                <a:ext cx="4384102" cy="4890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Ω</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Ω</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Ω</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57379" name="Object 3">
                <a:extLst>
                  <a:ext uri="{FF2B5EF4-FFF2-40B4-BE49-F238E27FC236}">
                    <a16:creationId xmlns:a16="http://schemas.microsoft.com/office/drawing/2014/main" id="{0C16041D-FEAD-3AF6-7F7C-E6A0B3188C43}"/>
                  </a:ext>
                </a:extLst>
              </p:cNvPr>
              <p:cNvSpPr txBox="1">
                <a:spLocks noRot="1" noChangeAspect="1" noMove="1" noResize="1" noEditPoints="1" noAdjustHandles="1" noChangeArrowheads="1" noChangeShapeType="1" noTextEdit="1"/>
              </p:cNvSpPr>
              <p:nvPr/>
            </p:nvSpPr>
            <p:spPr bwMode="auto">
              <a:xfrm>
                <a:off x="778232" y="1121354"/>
                <a:ext cx="4384102" cy="489063"/>
              </a:xfrm>
              <a:prstGeom prst="rect">
                <a:avLst/>
              </a:prstGeom>
              <a:blipFill>
                <a:blip r:embed="rId2"/>
                <a:stretch>
                  <a:fillRect l="-41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7380" name="Object 4">
                <a:extLst>
                  <a:ext uri="{FF2B5EF4-FFF2-40B4-BE49-F238E27FC236}">
                    <a16:creationId xmlns:a16="http://schemas.microsoft.com/office/drawing/2014/main" id="{9D6DA2D9-9EE2-9148-647F-208A934E1CB6}"/>
                  </a:ext>
                </a:extLst>
              </p:cNvPr>
              <p:cNvSpPr txBox="1"/>
              <p:nvPr/>
            </p:nvSpPr>
            <p:spPr bwMode="auto">
              <a:xfrm>
                <a:off x="4418719" y="1049825"/>
                <a:ext cx="5617875" cy="77805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2</m:t>
                              </m:r>
                            </m:sub>
                          </m:sSub>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𝑛</m:t>
                              </m:r>
                            </m:sub>
                          </m:sSub>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=1,2}</m:t>
                      </m:r>
                    </m:oMath>
                  </m:oMathPara>
                </a14:m>
                <a:endParaRPr lang="zh-CN" altLang="en-US" dirty="0"/>
              </a:p>
            </p:txBody>
          </p:sp>
        </mc:Choice>
        <mc:Fallback xmlns="">
          <p:sp>
            <p:nvSpPr>
              <p:cNvPr id="357380" name="Object 4">
                <a:extLst>
                  <a:ext uri="{FF2B5EF4-FFF2-40B4-BE49-F238E27FC236}">
                    <a16:creationId xmlns:a16="http://schemas.microsoft.com/office/drawing/2014/main" id="{9D6DA2D9-9EE2-9148-647F-208A934E1CB6}"/>
                  </a:ext>
                </a:extLst>
              </p:cNvPr>
              <p:cNvSpPr txBox="1">
                <a:spLocks noRot="1" noChangeAspect="1" noMove="1" noResize="1" noEditPoints="1" noAdjustHandles="1" noChangeArrowheads="1" noChangeShapeType="1" noTextEdit="1"/>
              </p:cNvSpPr>
              <p:nvPr/>
            </p:nvSpPr>
            <p:spPr bwMode="auto">
              <a:xfrm>
                <a:off x="4418719" y="1049825"/>
                <a:ext cx="5617875" cy="778055"/>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6" name="Text Box 2">
            <a:extLst>
              <a:ext uri="{FF2B5EF4-FFF2-40B4-BE49-F238E27FC236}">
                <a16:creationId xmlns:a16="http://schemas.microsoft.com/office/drawing/2014/main" id="{0CB8F784-C64F-FD76-E0FC-6A382AC53ED6}"/>
              </a:ext>
            </a:extLst>
          </p:cNvPr>
          <p:cNvSpPr txBox="1">
            <a:spLocks noChangeArrowheads="1"/>
          </p:cNvSpPr>
          <p:nvPr/>
        </p:nvSpPr>
        <p:spPr bwMode="auto">
          <a:xfrm>
            <a:off x="1388921" y="4838922"/>
            <a:ext cx="39601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ea typeface="楷体_GB2312"/>
                <a:cs typeface="楷体_GB2312"/>
              </a:rPr>
              <a:t>是对应</a:t>
            </a:r>
            <a:r>
              <a:rPr lang="en-US" altLang="zh-CN" b="1" dirty="0">
                <a:solidFill>
                  <a:srgbClr val="000066"/>
                </a:solidFill>
                <a:ea typeface="楷体_GB2312"/>
                <a:cs typeface="楷体_GB2312"/>
              </a:rPr>
              <a:t>Ω</a:t>
            </a:r>
            <a:r>
              <a:rPr lang="zh-CN" altLang="en-US" b="1" dirty="0">
                <a:solidFill>
                  <a:srgbClr val="000066"/>
                </a:solidFill>
                <a:ea typeface="楷体_GB2312"/>
                <a:cs typeface="楷体_GB2312"/>
              </a:rPr>
              <a:t>的样本点</a:t>
            </a:r>
          </a:p>
        </p:txBody>
      </p:sp>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C9A8B201-6130-0F7F-37ED-EDAD37A66D1C}"/>
                  </a:ext>
                </a:extLst>
              </p:cNvPr>
              <p:cNvSpPr txBox="1"/>
              <p:nvPr/>
            </p:nvSpPr>
            <p:spPr bwMode="auto">
              <a:xfrm>
                <a:off x="750927" y="5528193"/>
                <a:ext cx="8139409" cy="75264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2</m:t>
                              </m:r>
                            </m:sub>
                          </m:sSub>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𝜔</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𝑛</m:t>
                              </m:r>
                            </m:sub>
                          </m:sSub>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反</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反</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反</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正</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7" name="Object 3">
                <a:extLst>
                  <a:ext uri="{FF2B5EF4-FFF2-40B4-BE49-F238E27FC236}">
                    <a16:creationId xmlns:a16="http://schemas.microsoft.com/office/drawing/2014/main" id="{C9A8B201-6130-0F7F-37ED-EDAD37A66D1C}"/>
                  </a:ext>
                </a:extLst>
              </p:cNvPr>
              <p:cNvSpPr txBox="1">
                <a:spLocks noRot="1" noChangeAspect="1" noMove="1" noResize="1" noEditPoints="1" noAdjustHandles="1" noChangeArrowheads="1" noChangeShapeType="1" noTextEdit="1"/>
              </p:cNvSpPr>
              <p:nvPr/>
            </p:nvSpPr>
            <p:spPr bwMode="auto">
              <a:xfrm>
                <a:off x="750927" y="5528193"/>
                <a:ext cx="8139409" cy="752649"/>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8" name="Text Box 4">
            <a:extLst>
              <a:ext uri="{FF2B5EF4-FFF2-40B4-BE49-F238E27FC236}">
                <a16:creationId xmlns:a16="http://schemas.microsoft.com/office/drawing/2014/main" id="{230EC758-25A5-BC37-67E4-03DD679E8779}"/>
              </a:ext>
            </a:extLst>
          </p:cNvPr>
          <p:cNvSpPr txBox="1">
            <a:spLocks noChangeArrowheads="1"/>
          </p:cNvSpPr>
          <p:nvPr/>
        </p:nvSpPr>
        <p:spPr bwMode="auto">
          <a:xfrm>
            <a:off x="8308975" y="5563394"/>
            <a:ext cx="2416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66"/>
                </a:solidFill>
                <a:ea typeface="楷体_GB2312"/>
                <a:cs typeface="楷体_GB2312"/>
              </a:rPr>
              <a:t>的一条样本函数</a:t>
            </a:r>
            <a:r>
              <a:rPr lang="en-US" altLang="zh-CN" b="1" dirty="0">
                <a:solidFill>
                  <a:srgbClr val="000066"/>
                </a:solidFill>
                <a:ea typeface="楷体_GB2312"/>
                <a:cs typeface="楷体_GB2312"/>
              </a:rPr>
              <a:t>.</a:t>
            </a:r>
          </a:p>
        </p:txBody>
      </p:sp>
      <p:grpSp>
        <p:nvGrpSpPr>
          <p:cNvPr id="9" name="Group 5">
            <a:extLst>
              <a:ext uri="{FF2B5EF4-FFF2-40B4-BE49-F238E27FC236}">
                <a16:creationId xmlns:a16="http://schemas.microsoft.com/office/drawing/2014/main" id="{5CE0F584-8DC5-BDFC-0B57-9F0D1BB0521D}"/>
              </a:ext>
            </a:extLst>
          </p:cNvPr>
          <p:cNvGrpSpPr>
            <a:grpSpLocks/>
          </p:cNvGrpSpPr>
          <p:nvPr/>
        </p:nvGrpSpPr>
        <p:grpSpPr bwMode="auto">
          <a:xfrm>
            <a:off x="810860" y="1676640"/>
            <a:ext cx="6995272" cy="3201141"/>
            <a:chOff x="445" y="672"/>
            <a:chExt cx="4931" cy="2400"/>
          </a:xfrm>
        </p:grpSpPr>
        <p:sp>
          <p:nvSpPr>
            <p:cNvPr id="10" name="Line 6">
              <a:extLst>
                <a:ext uri="{FF2B5EF4-FFF2-40B4-BE49-F238E27FC236}">
                  <a16:creationId xmlns:a16="http://schemas.microsoft.com/office/drawing/2014/main" id="{4AE22D65-96BD-1B54-9BC7-1663C591C118}"/>
                </a:ext>
              </a:extLst>
            </p:cNvPr>
            <p:cNvSpPr>
              <a:spLocks noChangeShapeType="1"/>
            </p:cNvSpPr>
            <p:nvPr/>
          </p:nvSpPr>
          <p:spPr bwMode="auto">
            <a:xfrm>
              <a:off x="720" y="1968"/>
              <a:ext cx="4656"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7">
              <a:extLst>
                <a:ext uri="{FF2B5EF4-FFF2-40B4-BE49-F238E27FC236}">
                  <a16:creationId xmlns:a16="http://schemas.microsoft.com/office/drawing/2014/main" id="{262068E9-F8C1-FFF1-1F5A-D9FE65B0E8B9}"/>
                </a:ext>
              </a:extLst>
            </p:cNvPr>
            <p:cNvSpPr>
              <a:spLocks noChangeShapeType="1"/>
            </p:cNvSpPr>
            <p:nvPr/>
          </p:nvSpPr>
          <p:spPr bwMode="auto">
            <a:xfrm flipV="1">
              <a:off x="720" y="672"/>
              <a:ext cx="0" cy="2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Text Box 8">
              <a:extLst>
                <a:ext uri="{FF2B5EF4-FFF2-40B4-BE49-F238E27FC236}">
                  <a16:creationId xmlns:a16="http://schemas.microsoft.com/office/drawing/2014/main" id="{AF96F29C-215F-F632-4CD6-91E90AAD48A4}"/>
                </a:ext>
              </a:extLst>
            </p:cNvPr>
            <p:cNvSpPr txBox="1">
              <a:spLocks noChangeArrowheads="1"/>
            </p:cNvSpPr>
            <p:nvPr/>
          </p:nvSpPr>
          <p:spPr bwMode="auto">
            <a:xfrm>
              <a:off x="1104" y="1920"/>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a:cs typeface="楷体_GB2312"/>
                </a:rPr>
                <a:t>1</a:t>
              </a:r>
            </a:p>
          </p:txBody>
        </p:sp>
        <p:sp>
          <p:nvSpPr>
            <p:cNvPr id="13" name="Text Box 9">
              <a:extLst>
                <a:ext uri="{FF2B5EF4-FFF2-40B4-BE49-F238E27FC236}">
                  <a16:creationId xmlns:a16="http://schemas.microsoft.com/office/drawing/2014/main" id="{D15C851A-47ED-B8F9-8BC6-323914F7DD81}"/>
                </a:ext>
              </a:extLst>
            </p:cNvPr>
            <p:cNvSpPr txBox="1">
              <a:spLocks noChangeArrowheads="1"/>
            </p:cNvSpPr>
            <p:nvPr/>
          </p:nvSpPr>
          <p:spPr bwMode="auto">
            <a:xfrm>
              <a:off x="1776" y="1920"/>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a:cs typeface="楷体_GB2312"/>
                </a:rPr>
                <a:t>2</a:t>
              </a:r>
            </a:p>
          </p:txBody>
        </p:sp>
        <p:sp>
          <p:nvSpPr>
            <p:cNvPr id="14" name="Text Box 10">
              <a:extLst>
                <a:ext uri="{FF2B5EF4-FFF2-40B4-BE49-F238E27FC236}">
                  <a16:creationId xmlns:a16="http://schemas.microsoft.com/office/drawing/2014/main" id="{614BA471-46CE-AD41-45AE-EBD1FB79C7EA}"/>
                </a:ext>
              </a:extLst>
            </p:cNvPr>
            <p:cNvSpPr txBox="1">
              <a:spLocks noChangeArrowheads="1"/>
            </p:cNvSpPr>
            <p:nvPr/>
          </p:nvSpPr>
          <p:spPr bwMode="auto">
            <a:xfrm>
              <a:off x="2448" y="1920"/>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a:cs typeface="楷体_GB2312"/>
                </a:rPr>
                <a:t>3</a:t>
              </a:r>
            </a:p>
          </p:txBody>
        </p:sp>
        <p:sp>
          <p:nvSpPr>
            <p:cNvPr id="15" name="Text Box 11">
              <a:extLst>
                <a:ext uri="{FF2B5EF4-FFF2-40B4-BE49-F238E27FC236}">
                  <a16:creationId xmlns:a16="http://schemas.microsoft.com/office/drawing/2014/main" id="{EB91A4A0-8F3E-C8C0-5774-90F65757709C}"/>
                </a:ext>
              </a:extLst>
            </p:cNvPr>
            <p:cNvSpPr txBox="1">
              <a:spLocks noChangeArrowheads="1"/>
            </p:cNvSpPr>
            <p:nvPr/>
          </p:nvSpPr>
          <p:spPr bwMode="auto">
            <a:xfrm>
              <a:off x="3072" y="1920"/>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a:cs typeface="楷体_GB2312"/>
                </a:rPr>
                <a:t>4</a:t>
              </a:r>
            </a:p>
          </p:txBody>
        </p:sp>
        <p:sp>
          <p:nvSpPr>
            <p:cNvPr id="16" name="Text Box 12">
              <a:extLst>
                <a:ext uri="{FF2B5EF4-FFF2-40B4-BE49-F238E27FC236}">
                  <a16:creationId xmlns:a16="http://schemas.microsoft.com/office/drawing/2014/main" id="{69E69853-4DB6-0B2F-CC45-DDB12FB73350}"/>
                </a:ext>
              </a:extLst>
            </p:cNvPr>
            <p:cNvSpPr txBox="1">
              <a:spLocks noChangeArrowheads="1"/>
            </p:cNvSpPr>
            <p:nvPr/>
          </p:nvSpPr>
          <p:spPr bwMode="auto">
            <a:xfrm>
              <a:off x="3644" y="1920"/>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a:cs typeface="楷体_GB2312"/>
                </a:rPr>
                <a:t>5</a:t>
              </a:r>
            </a:p>
          </p:txBody>
        </p:sp>
        <p:sp>
          <p:nvSpPr>
            <p:cNvPr id="17" name="Text Box 13">
              <a:extLst>
                <a:ext uri="{FF2B5EF4-FFF2-40B4-BE49-F238E27FC236}">
                  <a16:creationId xmlns:a16="http://schemas.microsoft.com/office/drawing/2014/main" id="{D20E1F8C-BBB0-A6AB-4EEE-3B28FE17E99B}"/>
                </a:ext>
              </a:extLst>
            </p:cNvPr>
            <p:cNvSpPr txBox="1">
              <a:spLocks noChangeArrowheads="1"/>
            </p:cNvSpPr>
            <p:nvPr/>
          </p:nvSpPr>
          <p:spPr bwMode="auto">
            <a:xfrm>
              <a:off x="445" y="2305"/>
              <a:ext cx="311"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ea typeface="楷体_GB2312"/>
                  <a:cs typeface="楷体_GB2312"/>
                </a:rPr>
                <a:t>-1</a:t>
              </a:r>
            </a:p>
          </p:txBody>
        </p:sp>
        <p:sp>
          <p:nvSpPr>
            <p:cNvPr id="18" name="Text Box 14">
              <a:extLst>
                <a:ext uri="{FF2B5EF4-FFF2-40B4-BE49-F238E27FC236}">
                  <a16:creationId xmlns:a16="http://schemas.microsoft.com/office/drawing/2014/main" id="{229D5190-A5F7-BE85-50FD-CFCBFAD0FD92}"/>
                </a:ext>
              </a:extLst>
            </p:cNvPr>
            <p:cNvSpPr txBox="1">
              <a:spLocks noChangeArrowheads="1"/>
            </p:cNvSpPr>
            <p:nvPr/>
          </p:nvSpPr>
          <p:spPr bwMode="auto">
            <a:xfrm>
              <a:off x="481" y="1291"/>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ea typeface="楷体_GB2312"/>
                  <a:cs typeface="楷体_GB2312"/>
                </a:rPr>
                <a:t>1</a:t>
              </a:r>
            </a:p>
          </p:txBody>
        </p:sp>
        <p:sp>
          <p:nvSpPr>
            <p:cNvPr id="19" name="Text Box 15">
              <a:extLst>
                <a:ext uri="{FF2B5EF4-FFF2-40B4-BE49-F238E27FC236}">
                  <a16:creationId xmlns:a16="http://schemas.microsoft.com/office/drawing/2014/main" id="{1F35C984-DE29-10F0-A66D-654A380DCC60}"/>
                </a:ext>
              </a:extLst>
            </p:cNvPr>
            <p:cNvSpPr txBox="1">
              <a:spLocks noChangeArrowheads="1"/>
            </p:cNvSpPr>
            <p:nvPr/>
          </p:nvSpPr>
          <p:spPr bwMode="auto">
            <a:xfrm>
              <a:off x="4128" y="1920"/>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a:cs typeface="楷体_GB2312"/>
                </a:rPr>
                <a:t>6</a:t>
              </a:r>
            </a:p>
          </p:txBody>
        </p:sp>
        <p:sp>
          <p:nvSpPr>
            <p:cNvPr id="20" name="Text Box 16">
              <a:extLst>
                <a:ext uri="{FF2B5EF4-FFF2-40B4-BE49-F238E27FC236}">
                  <a16:creationId xmlns:a16="http://schemas.microsoft.com/office/drawing/2014/main" id="{BF559D43-1663-46FA-51F9-56D1835E528C}"/>
                </a:ext>
              </a:extLst>
            </p:cNvPr>
            <p:cNvSpPr txBox="1">
              <a:spLocks noChangeArrowheads="1"/>
            </p:cNvSpPr>
            <p:nvPr/>
          </p:nvSpPr>
          <p:spPr bwMode="auto">
            <a:xfrm>
              <a:off x="4656" y="1920"/>
              <a:ext cx="23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a:cs typeface="楷体_GB2312"/>
                </a:rPr>
                <a:t>7</a:t>
              </a:r>
            </a:p>
          </p:txBody>
        </p:sp>
      </p:grpSp>
      <p:sp>
        <p:nvSpPr>
          <p:cNvPr id="21" name="Line 17">
            <a:extLst>
              <a:ext uri="{FF2B5EF4-FFF2-40B4-BE49-F238E27FC236}">
                <a16:creationId xmlns:a16="http://schemas.microsoft.com/office/drawing/2014/main" id="{E0B938ED-3E92-7AA8-D0A8-5E46FBB013EB}"/>
              </a:ext>
            </a:extLst>
          </p:cNvPr>
          <p:cNvSpPr>
            <a:spLocks noChangeShapeType="1"/>
          </p:cNvSpPr>
          <p:nvPr/>
        </p:nvSpPr>
        <p:spPr bwMode="auto">
          <a:xfrm>
            <a:off x="1251417" y="2738161"/>
            <a:ext cx="6468972" cy="0"/>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8">
            <a:extLst>
              <a:ext uri="{FF2B5EF4-FFF2-40B4-BE49-F238E27FC236}">
                <a16:creationId xmlns:a16="http://schemas.microsoft.com/office/drawing/2014/main" id="{329422B7-8E22-DAD5-B428-1F341895EC5A}"/>
              </a:ext>
            </a:extLst>
          </p:cNvPr>
          <p:cNvSpPr>
            <a:spLocks noChangeShapeType="1"/>
          </p:cNvSpPr>
          <p:nvPr/>
        </p:nvSpPr>
        <p:spPr bwMode="auto">
          <a:xfrm>
            <a:off x="1224423" y="4096984"/>
            <a:ext cx="6332415" cy="1588"/>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Oval 19">
            <a:extLst>
              <a:ext uri="{FF2B5EF4-FFF2-40B4-BE49-F238E27FC236}">
                <a16:creationId xmlns:a16="http://schemas.microsoft.com/office/drawing/2014/main" id="{F1D2C20B-6513-AA84-BDC0-0A24A126F114}"/>
              </a:ext>
            </a:extLst>
          </p:cNvPr>
          <p:cNvSpPr>
            <a:spLocks noChangeArrowheads="1"/>
          </p:cNvSpPr>
          <p:nvPr/>
        </p:nvSpPr>
        <p:spPr bwMode="auto">
          <a:xfrm>
            <a:off x="1872273" y="2627011"/>
            <a:ext cx="80981" cy="17466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 name="Oval 20">
            <a:extLst>
              <a:ext uri="{FF2B5EF4-FFF2-40B4-BE49-F238E27FC236}">
                <a16:creationId xmlns:a16="http://schemas.microsoft.com/office/drawing/2014/main" id="{11C1C724-8F73-7E50-F230-C4AB3217E0AA}"/>
              </a:ext>
            </a:extLst>
          </p:cNvPr>
          <p:cNvSpPr>
            <a:spLocks noChangeArrowheads="1"/>
          </p:cNvSpPr>
          <p:nvPr/>
        </p:nvSpPr>
        <p:spPr bwMode="auto">
          <a:xfrm>
            <a:off x="5545010" y="2627011"/>
            <a:ext cx="80982" cy="17466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 name="Oval 21">
            <a:extLst>
              <a:ext uri="{FF2B5EF4-FFF2-40B4-BE49-F238E27FC236}">
                <a16:creationId xmlns:a16="http://schemas.microsoft.com/office/drawing/2014/main" id="{6E3AC4B3-AE2A-7A14-F240-84D490EEAB5B}"/>
              </a:ext>
            </a:extLst>
          </p:cNvPr>
          <p:cNvSpPr>
            <a:spLocks noChangeArrowheads="1"/>
          </p:cNvSpPr>
          <p:nvPr/>
        </p:nvSpPr>
        <p:spPr bwMode="auto">
          <a:xfrm>
            <a:off x="6913752" y="2627011"/>
            <a:ext cx="80982" cy="17466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 name="Oval 22">
            <a:extLst>
              <a:ext uri="{FF2B5EF4-FFF2-40B4-BE49-F238E27FC236}">
                <a16:creationId xmlns:a16="http://schemas.microsoft.com/office/drawing/2014/main" id="{8AE27FC8-7325-4558-E0C3-6C32914A6EE5}"/>
              </a:ext>
            </a:extLst>
          </p:cNvPr>
          <p:cNvSpPr>
            <a:spLocks noChangeArrowheads="1"/>
          </p:cNvSpPr>
          <p:nvPr/>
        </p:nvSpPr>
        <p:spPr bwMode="auto">
          <a:xfrm>
            <a:off x="4660568" y="2627011"/>
            <a:ext cx="80981" cy="17466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 name="Oval 23">
            <a:extLst>
              <a:ext uri="{FF2B5EF4-FFF2-40B4-BE49-F238E27FC236}">
                <a16:creationId xmlns:a16="http://schemas.microsoft.com/office/drawing/2014/main" id="{928CE129-85EE-4CD2-F4D6-CA70AF563863}"/>
              </a:ext>
            </a:extLst>
          </p:cNvPr>
          <p:cNvSpPr>
            <a:spLocks noChangeArrowheads="1"/>
          </p:cNvSpPr>
          <p:nvPr/>
        </p:nvSpPr>
        <p:spPr bwMode="auto">
          <a:xfrm>
            <a:off x="2857708" y="4023942"/>
            <a:ext cx="80982" cy="17466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 name="Oval 24">
            <a:extLst>
              <a:ext uri="{FF2B5EF4-FFF2-40B4-BE49-F238E27FC236}">
                <a16:creationId xmlns:a16="http://schemas.microsoft.com/office/drawing/2014/main" id="{A5F6F458-F052-C573-B321-851E26265708}"/>
              </a:ext>
            </a:extLst>
          </p:cNvPr>
          <p:cNvSpPr>
            <a:spLocks noChangeArrowheads="1"/>
          </p:cNvSpPr>
          <p:nvPr/>
        </p:nvSpPr>
        <p:spPr bwMode="auto">
          <a:xfrm>
            <a:off x="3744368" y="4023942"/>
            <a:ext cx="80982" cy="17466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 name="Oval 25">
            <a:extLst>
              <a:ext uri="{FF2B5EF4-FFF2-40B4-BE49-F238E27FC236}">
                <a16:creationId xmlns:a16="http://schemas.microsoft.com/office/drawing/2014/main" id="{9CC97D1F-7AC5-7E87-C5E7-90514B84EF3C}"/>
              </a:ext>
            </a:extLst>
          </p:cNvPr>
          <p:cNvSpPr>
            <a:spLocks noChangeArrowheads="1"/>
          </p:cNvSpPr>
          <p:nvPr/>
        </p:nvSpPr>
        <p:spPr bwMode="auto">
          <a:xfrm>
            <a:off x="6194448" y="4023942"/>
            <a:ext cx="80981" cy="174665"/>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a:extLst>
              <a:ext uri="{FF2B5EF4-FFF2-40B4-BE49-F238E27FC236}">
                <a16:creationId xmlns:a16="http://schemas.microsoft.com/office/drawing/2014/main" id="{7EFD7DC9-9A66-E253-3D81-AAA013B0EEE6}"/>
              </a:ext>
            </a:extLst>
          </p:cNvPr>
          <p:cNvSpPr>
            <a:spLocks noGrp="1" noChangeArrowheads="1"/>
          </p:cNvSpPr>
          <p:nvPr>
            <p:ph type="title"/>
          </p:nvPr>
        </p:nvSpPr>
        <p:spPr>
          <a:xfrm>
            <a:off x="841375" y="234366"/>
            <a:ext cx="9961986" cy="609741"/>
          </a:xfrm>
        </p:spPr>
        <p:txBody>
          <a:bodyPr/>
          <a:lstStyle/>
          <a:p>
            <a:pPr eaLnBrk="1" hangingPunct="1"/>
            <a:r>
              <a:rPr lang="zh-CN" altLang="en-US" dirty="0"/>
              <a:t>随机过程的分类</a:t>
            </a:r>
          </a:p>
        </p:txBody>
      </p:sp>
      <p:sp>
        <p:nvSpPr>
          <p:cNvPr id="263171" name="Rectangle 3">
            <a:extLst>
              <a:ext uri="{FF2B5EF4-FFF2-40B4-BE49-F238E27FC236}">
                <a16:creationId xmlns:a16="http://schemas.microsoft.com/office/drawing/2014/main" id="{CBE12D54-AD05-9148-BFE8-1054A335DE5B}"/>
              </a:ext>
            </a:extLst>
          </p:cNvPr>
          <p:cNvSpPr>
            <a:spLocks noGrp="1" noChangeArrowheads="1"/>
          </p:cNvSpPr>
          <p:nvPr>
            <p:ph type="body" sz="half" idx="1"/>
          </p:nvPr>
        </p:nvSpPr>
        <p:spPr>
          <a:xfrm>
            <a:off x="460375" y="1069051"/>
            <a:ext cx="7534432" cy="536699"/>
          </a:xfrm>
        </p:spPr>
        <p:txBody>
          <a:bodyPr>
            <a:normAutofit/>
          </a:bodyPr>
          <a:lstStyle/>
          <a:p>
            <a:pPr algn="just" eaLnBrk="1" hangingPunct="1">
              <a:lnSpc>
                <a:spcPct val="110000"/>
              </a:lnSpc>
              <a:buClr>
                <a:srgbClr val="FF9900"/>
              </a:buClr>
              <a:buSzPct val="100000"/>
            </a:pPr>
            <a:r>
              <a:rPr lang="zh-CN" altLang="en-US" dirty="0">
                <a:solidFill>
                  <a:srgbClr val="0000FF"/>
                </a:solidFill>
              </a:rPr>
              <a:t>按状态空间和参数集分类</a:t>
            </a:r>
          </a:p>
        </p:txBody>
      </p:sp>
      <p:sp>
        <p:nvSpPr>
          <p:cNvPr id="263172" name="Rectangle 4">
            <a:extLst>
              <a:ext uri="{FF2B5EF4-FFF2-40B4-BE49-F238E27FC236}">
                <a16:creationId xmlns:a16="http://schemas.microsoft.com/office/drawing/2014/main" id="{A6CD0ED9-A04F-0483-82A0-AC225474F038}"/>
              </a:ext>
            </a:extLst>
          </p:cNvPr>
          <p:cNvSpPr>
            <a:spLocks noChangeArrowheads="1"/>
          </p:cNvSpPr>
          <p:nvPr/>
        </p:nvSpPr>
        <p:spPr bwMode="auto">
          <a:xfrm>
            <a:off x="765175" y="4344194"/>
            <a:ext cx="7799605" cy="377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533400" indent="-5334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gn="just" eaLnBrk="1" hangingPunct="1">
              <a:lnSpc>
                <a:spcPct val="110000"/>
              </a:lnSpc>
              <a:buClr>
                <a:srgbClr val="FF9900"/>
              </a:buClr>
              <a:buFont typeface="Wingdings" panose="05000000000000000000" pitchFamily="2" charset="2"/>
              <a:buChar char="l"/>
            </a:pPr>
            <a:r>
              <a:rPr lang="zh-CN" altLang="en-US" sz="2400" dirty="0">
                <a:solidFill>
                  <a:srgbClr val="0000FF"/>
                </a:solidFill>
                <a:latin typeface="+mn-ea"/>
                <a:ea typeface="+mn-ea"/>
              </a:rPr>
              <a:t> 按概率分布规律分类</a:t>
            </a:r>
          </a:p>
        </p:txBody>
      </p:sp>
      <p:sp>
        <p:nvSpPr>
          <p:cNvPr id="263174" name="Rectangle 6">
            <a:extLst>
              <a:ext uri="{FF2B5EF4-FFF2-40B4-BE49-F238E27FC236}">
                <a16:creationId xmlns:a16="http://schemas.microsoft.com/office/drawing/2014/main" id="{3E66F370-7745-2250-E25E-D701D06F13AE}"/>
              </a:ext>
            </a:extLst>
          </p:cNvPr>
          <p:cNvSpPr>
            <a:spLocks noChangeArrowheads="1"/>
          </p:cNvSpPr>
          <p:nvPr/>
        </p:nvSpPr>
        <p:spPr bwMode="auto">
          <a:xfrm>
            <a:off x="1222375" y="4940978"/>
            <a:ext cx="3169383"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buClr>
                <a:srgbClr val="CC00CC"/>
              </a:buClr>
              <a:buFont typeface="Wingdings" panose="05000000000000000000" pitchFamily="2" charset="2"/>
              <a:buChar char="Ø"/>
            </a:pPr>
            <a:r>
              <a:rPr lang="zh-CN" altLang="en-US" b="1" dirty="0">
                <a:latin typeface="+mn-ea"/>
                <a:ea typeface="+mn-ea"/>
              </a:rPr>
              <a:t>独立过程</a:t>
            </a:r>
          </a:p>
          <a:p>
            <a:pPr algn="just" eaLnBrk="1" hangingPunct="1">
              <a:lnSpc>
                <a:spcPct val="150000"/>
              </a:lnSpc>
              <a:buClr>
                <a:srgbClr val="CC00CC"/>
              </a:buClr>
              <a:buFont typeface="Wingdings" panose="05000000000000000000" pitchFamily="2" charset="2"/>
              <a:buChar char="Ø"/>
            </a:pPr>
            <a:r>
              <a:rPr lang="zh-CN" altLang="en-US" b="1" dirty="0">
                <a:latin typeface="+mn-ea"/>
                <a:ea typeface="+mn-ea"/>
              </a:rPr>
              <a:t>独立增量过程</a:t>
            </a:r>
          </a:p>
          <a:p>
            <a:pPr algn="just" eaLnBrk="1" hangingPunct="1">
              <a:lnSpc>
                <a:spcPct val="150000"/>
              </a:lnSpc>
              <a:buClr>
                <a:srgbClr val="CC00CC"/>
              </a:buClr>
              <a:buFont typeface="Wingdings" panose="05000000000000000000" pitchFamily="2" charset="2"/>
              <a:buChar char="Ø"/>
            </a:pPr>
            <a:r>
              <a:rPr lang="zh-CN" altLang="en-US" b="1" dirty="0">
                <a:latin typeface="+mn-ea"/>
                <a:ea typeface="+mn-ea"/>
              </a:rPr>
              <a:t>正态过程</a:t>
            </a:r>
          </a:p>
        </p:txBody>
      </p:sp>
      <p:graphicFrame>
        <p:nvGraphicFramePr>
          <p:cNvPr id="263350" name="Group 182">
            <a:extLst>
              <a:ext uri="{FF2B5EF4-FFF2-40B4-BE49-F238E27FC236}">
                <a16:creationId xmlns:a16="http://schemas.microsoft.com/office/drawing/2014/main" id="{17705B0D-6CCC-405E-AAA8-1F69BCED54B7}"/>
              </a:ext>
            </a:extLst>
          </p:cNvPr>
          <p:cNvGraphicFramePr>
            <a:graphicFrameLocks noGrp="1"/>
          </p:cNvGraphicFramePr>
          <p:nvPr>
            <p:ph sz="half" idx="2"/>
            <p:extLst>
              <p:ext uri="{D42A27DB-BD31-4B8C-83A1-F6EECF244321}">
                <p14:modId xmlns:p14="http://schemas.microsoft.com/office/powerpoint/2010/main" val="2900659814"/>
              </p:ext>
            </p:extLst>
          </p:nvPr>
        </p:nvGraphicFramePr>
        <p:xfrm>
          <a:off x="1527175" y="1795464"/>
          <a:ext cx="8317781" cy="2139272"/>
        </p:xfrm>
        <a:graphic>
          <a:graphicData uri="http://schemas.openxmlformats.org/drawingml/2006/table">
            <a:tbl>
              <a:tblPr/>
              <a:tblGrid>
                <a:gridCol w="2100749">
                  <a:extLst>
                    <a:ext uri="{9D8B030D-6E8A-4147-A177-3AD203B41FA5}">
                      <a16:colId xmlns:a16="http://schemas.microsoft.com/office/drawing/2014/main" val="1559667825"/>
                    </a:ext>
                  </a:extLst>
                </a:gridCol>
                <a:gridCol w="1092983">
                  <a:extLst>
                    <a:ext uri="{9D8B030D-6E8A-4147-A177-3AD203B41FA5}">
                      <a16:colId xmlns:a16="http://schemas.microsoft.com/office/drawing/2014/main" val="2178856130"/>
                    </a:ext>
                  </a:extLst>
                </a:gridCol>
                <a:gridCol w="2602780">
                  <a:extLst>
                    <a:ext uri="{9D8B030D-6E8A-4147-A177-3AD203B41FA5}">
                      <a16:colId xmlns:a16="http://schemas.microsoft.com/office/drawing/2014/main" val="1618646475"/>
                    </a:ext>
                  </a:extLst>
                </a:gridCol>
                <a:gridCol w="2521269">
                  <a:extLst>
                    <a:ext uri="{9D8B030D-6E8A-4147-A177-3AD203B41FA5}">
                      <a16:colId xmlns:a16="http://schemas.microsoft.com/office/drawing/2014/main" val="3181244836"/>
                    </a:ext>
                  </a:extLst>
                </a:gridCol>
              </a:tblGrid>
              <a:tr h="534818">
                <a:tc rowSpan="2" gridSpan="2">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endParaRPr kumimoji="1" lang="zh-CN" altLang="zh-CN" sz="2200" b="1" i="0" u="none" strike="noStrike" cap="none" normalizeH="0" baseline="0" dirty="0">
                        <a:ln>
                          <a:noFill/>
                        </a:ln>
                        <a:solidFill>
                          <a:schemeClr val="tx1"/>
                        </a:solidFill>
                        <a:effectLst/>
                        <a:latin typeface="+mn-ea"/>
                        <a:ea typeface="+mn-ea"/>
                      </a:endParaRPr>
                    </a:p>
                  </a:txBody>
                  <a:tcPr marL="0" marR="0" marT="53999" marB="53999" anchor="ctr" anchorCtr="1"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2">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200" b="1" i="0" u="none" strike="noStrike" cap="none" normalizeH="0" baseline="0">
                          <a:ln>
                            <a:noFill/>
                          </a:ln>
                          <a:solidFill>
                            <a:srgbClr val="0000FF"/>
                          </a:solidFill>
                          <a:effectLst/>
                          <a:latin typeface="+mn-ea"/>
                          <a:ea typeface="+mn-ea"/>
                          <a:cs typeface="Times New Roman" panose="02020603050405020304" pitchFamily="18" charset="0"/>
                        </a:rPr>
                        <a:t>参数集</a:t>
                      </a:r>
                      <a:r>
                        <a:rPr kumimoji="1" lang="en-US" altLang="zh-CN" sz="2200" b="1" i="0" u="none" strike="noStrike" cap="none" normalizeH="0" baseline="0">
                          <a:ln>
                            <a:noFill/>
                          </a:ln>
                          <a:solidFill>
                            <a:srgbClr val="0000FF"/>
                          </a:solidFill>
                          <a:effectLst/>
                          <a:latin typeface="+mn-ea"/>
                          <a:ea typeface="+mn-ea"/>
                          <a:cs typeface="Times New Roman" panose="02020603050405020304" pitchFamily="18" charset="0"/>
                        </a:rPr>
                        <a:t>T</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435525135"/>
                  </a:ext>
                </a:extLst>
              </a:tr>
              <a:tr h="534818">
                <a:tc gridSpan="2" vMerge="1">
                  <a:txBody>
                    <a:bodyPr/>
                    <a:lstStyle/>
                    <a:p>
                      <a:endParaRPr lang="zh-CN" altLang="en-US"/>
                    </a:p>
                  </a:txBody>
                  <a:tcPr/>
                </a:tc>
                <a:tc hMerge="1" vMerge="1">
                  <a:txBody>
                    <a:bodyPr/>
                    <a:lstStyle/>
                    <a:p>
                      <a:endParaRPr lang="zh-CN" altLang="en-US"/>
                    </a:p>
                  </a:txBody>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rgbClr val="CC00CC"/>
                          </a:solidFill>
                          <a:effectLst/>
                          <a:latin typeface="+mn-ea"/>
                          <a:ea typeface="+mn-ea"/>
                          <a:cs typeface="Times New Roman" panose="02020603050405020304" pitchFamily="18" charset="0"/>
                        </a:rPr>
                        <a:t> </a:t>
                      </a:r>
                      <a:r>
                        <a:rPr kumimoji="1" lang="zh-CN" altLang="en-US" sz="2200" b="1" i="0" u="none" strike="noStrike" cap="none" normalizeH="0" baseline="0">
                          <a:ln>
                            <a:noFill/>
                          </a:ln>
                          <a:solidFill>
                            <a:srgbClr val="CC00CC"/>
                          </a:solidFill>
                          <a:effectLst/>
                          <a:latin typeface="+mn-ea"/>
                          <a:ea typeface="+mn-ea"/>
                          <a:cs typeface="Times New Roman" panose="02020603050405020304" pitchFamily="18" charset="0"/>
                        </a:rPr>
                        <a:t>离散</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200" b="1" i="0" u="none" strike="noStrike" cap="none" normalizeH="0" baseline="0">
                          <a:ln>
                            <a:noFill/>
                          </a:ln>
                          <a:solidFill>
                            <a:srgbClr val="CC00CC"/>
                          </a:solidFill>
                          <a:effectLst/>
                          <a:latin typeface="+mn-ea"/>
                          <a:ea typeface="+mn-ea"/>
                          <a:cs typeface="Times New Roman" panose="02020603050405020304" pitchFamily="18" charset="0"/>
                        </a:rPr>
                        <a:t>连续</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6511993"/>
                  </a:ext>
                </a:extLst>
              </a:tr>
              <a:tr h="534818">
                <a:tc rowSpan="2">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1" lang="zh-CN" altLang="en-US" sz="2200" b="1" i="0" u="none" strike="noStrike" cap="none" normalizeH="0" baseline="0">
                          <a:ln>
                            <a:noFill/>
                          </a:ln>
                          <a:solidFill>
                            <a:srgbClr val="0000FF"/>
                          </a:solidFill>
                          <a:effectLst/>
                          <a:latin typeface="+mn-ea"/>
                          <a:ea typeface="+mn-ea"/>
                          <a:cs typeface="Times New Roman" panose="02020603050405020304" pitchFamily="18" charset="0"/>
                        </a:rPr>
                        <a:t>状态空间</a:t>
                      </a:r>
                      <a:r>
                        <a:rPr kumimoji="1" lang="en-US" altLang="zh-CN" sz="2200" b="1" i="0" u="none" strike="noStrike" cap="none" normalizeH="0" baseline="0">
                          <a:ln>
                            <a:noFill/>
                          </a:ln>
                          <a:solidFill>
                            <a:srgbClr val="0000FF"/>
                          </a:solidFill>
                          <a:effectLst/>
                          <a:latin typeface="+mn-ea"/>
                          <a:ea typeface="+mn-ea"/>
                          <a:cs typeface="Times New Roman" panose="02020603050405020304" pitchFamily="18" charset="0"/>
                        </a:rPr>
                        <a:t>E</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rgbClr val="CC00CC"/>
                          </a:solidFill>
                          <a:effectLst/>
                          <a:latin typeface="+mn-ea"/>
                          <a:ea typeface="+mn-ea"/>
                          <a:cs typeface="Times New Roman" panose="02020603050405020304" pitchFamily="18" charset="0"/>
                        </a:rPr>
                        <a:t> </a:t>
                      </a:r>
                      <a:r>
                        <a:rPr kumimoji="1" lang="zh-CN" altLang="en-US" sz="2200" b="1" i="0" u="none" strike="noStrike" cap="none" normalizeH="0" baseline="0">
                          <a:ln>
                            <a:noFill/>
                          </a:ln>
                          <a:solidFill>
                            <a:srgbClr val="CC00CC"/>
                          </a:solidFill>
                          <a:effectLst/>
                          <a:latin typeface="+mn-ea"/>
                          <a:ea typeface="+mn-ea"/>
                          <a:cs typeface="Times New Roman" panose="02020603050405020304" pitchFamily="18" charset="0"/>
                        </a:rPr>
                        <a:t>离散</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dirty="0">
                          <a:ln>
                            <a:noFill/>
                          </a:ln>
                          <a:solidFill>
                            <a:srgbClr val="6600CC"/>
                          </a:solidFill>
                          <a:effectLst/>
                          <a:latin typeface="+mn-ea"/>
                          <a:ea typeface="+mn-ea"/>
                          <a:cs typeface="Times New Roman" panose="02020603050405020304" pitchFamily="18" charset="0"/>
                        </a:rPr>
                        <a:t>(</a:t>
                      </a:r>
                      <a:r>
                        <a:rPr kumimoji="1" lang="zh-CN" altLang="en-US" sz="2200" b="1" i="0" u="none" strike="noStrike" cap="none" normalizeH="0" baseline="0" dirty="0">
                          <a:ln>
                            <a:noFill/>
                          </a:ln>
                          <a:solidFill>
                            <a:srgbClr val="6600CC"/>
                          </a:solidFill>
                          <a:effectLst/>
                          <a:latin typeface="+mn-ea"/>
                          <a:ea typeface="+mn-ea"/>
                          <a:cs typeface="Times New Roman" panose="02020603050405020304" pitchFamily="18" charset="0"/>
                        </a:rPr>
                        <a:t>离散参数</a:t>
                      </a:r>
                      <a:r>
                        <a:rPr kumimoji="1" lang="en-US" altLang="zh-CN" sz="2200" b="1" i="0" u="none" strike="noStrike" cap="none" normalizeH="0" baseline="0" dirty="0">
                          <a:ln>
                            <a:noFill/>
                          </a:ln>
                          <a:solidFill>
                            <a:srgbClr val="6600CC"/>
                          </a:solidFill>
                          <a:effectLst/>
                          <a:latin typeface="+mn-ea"/>
                          <a:ea typeface="+mn-ea"/>
                          <a:cs typeface="Times New Roman" panose="02020603050405020304" pitchFamily="18" charset="0"/>
                        </a:rPr>
                        <a:t>)</a:t>
                      </a:r>
                      <a:r>
                        <a:rPr kumimoji="1" lang="zh-CN" altLang="en-US" sz="2200" b="1" i="0" u="none" strike="noStrike" cap="none" normalizeH="0" baseline="0" dirty="0">
                          <a:ln>
                            <a:noFill/>
                          </a:ln>
                          <a:solidFill>
                            <a:srgbClr val="6600CC"/>
                          </a:solidFill>
                          <a:effectLst/>
                          <a:latin typeface="+mn-ea"/>
                          <a:ea typeface="+mn-ea"/>
                          <a:cs typeface="Times New Roman" panose="02020603050405020304" pitchFamily="18" charset="0"/>
                        </a:rPr>
                        <a:t>链</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rgbClr val="6600CC"/>
                          </a:solidFill>
                          <a:effectLst/>
                          <a:latin typeface="+mn-ea"/>
                          <a:ea typeface="+mn-ea"/>
                          <a:cs typeface="Times New Roman" panose="02020603050405020304" pitchFamily="18" charset="0"/>
                        </a:rPr>
                        <a:t>(</a:t>
                      </a:r>
                      <a:r>
                        <a:rPr kumimoji="1" lang="zh-CN" altLang="en-US" sz="2200" b="1" i="0" u="none" strike="noStrike" cap="none" normalizeH="0" baseline="0">
                          <a:ln>
                            <a:noFill/>
                          </a:ln>
                          <a:solidFill>
                            <a:srgbClr val="6600CC"/>
                          </a:solidFill>
                          <a:effectLst/>
                          <a:latin typeface="+mn-ea"/>
                          <a:ea typeface="+mn-ea"/>
                          <a:cs typeface="Times New Roman" panose="02020603050405020304" pitchFamily="18" charset="0"/>
                        </a:rPr>
                        <a:t>连续参数</a:t>
                      </a:r>
                      <a:r>
                        <a:rPr kumimoji="1" lang="en-US" altLang="zh-CN" sz="2200" b="1" i="0" u="none" strike="noStrike" cap="none" normalizeH="0" baseline="0">
                          <a:ln>
                            <a:noFill/>
                          </a:ln>
                          <a:solidFill>
                            <a:srgbClr val="6600CC"/>
                          </a:solidFill>
                          <a:effectLst/>
                          <a:latin typeface="+mn-ea"/>
                          <a:ea typeface="+mn-ea"/>
                          <a:cs typeface="Times New Roman" panose="02020603050405020304" pitchFamily="18" charset="0"/>
                        </a:rPr>
                        <a:t>)</a:t>
                      </a:r>
                      <a:r>
                        <a:rPr kumimoji="1" lang="zh-CN" altLang="en-US" sz="2200" b="1" i="0" u="none" strike="noStrike" cap="none" normalizeH="0" baseline="0">
                          <a:ln>
                            <a:noFill/>
                          </a:ln>
                          <a:solidFill>
                            <a:srgbClr val="6600CC"/>
                          </a:solidFill>
                          <a:effectLst/>
                          <a:latin typeface="+mn-ea"/>
                          <a:ea typeface="+mn-ea"/>
                          <a:cs typeface="Times New Roman" panose="02020603050405020304" pitchFamily="18" charset="0"/>
                        </a:rPr>
                        <a:t>链</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0436327"/>
                  </a:ext>
                </a:extLst>
              </a:tr>
              <a:tr h="534818">
                <a:tc vMerge="1">
                  <a:txBody>
                    <a:bodyPr/>
                    <a:lstStyle/>
                    <a:p>
                      <a:endParaRPr lang="zh-CN" altLang="en-US"/>
                    </a:p>
                  </a:txBody>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200" b="1" i="0" u="none" strike="noStrike" cap="none" normalizeH="0" baseline="0">
                          <a:ln>
                            <a:noFill/>
                          </a:ln>
                          <a:solidFill>
                            <a:srgbClr val="CC00CC"/>
                          </a:solidFill>
                          <a:effectLst/>
                          <a:latin typeface="+mn-ea"/>
                          <a:ea typeface="+mn-ea"/>
                          <a:cs typeface="Times New Roman" panose="02020603050405020304" pitchFamily="18" charset="0"/>
                        </a:rPr>
                        <a:t> </a:t>
                      </a:r>
                      <a:r>
                        <a:rPr kumimoji="1" lang="zh-CN" altLang="en-US" sz="2200" b="1" i="0" u="none" strike="noStrike" cap="none" normalizeH="0" baseline="0">
                          <a:ln>
                            <a:noFill/>
                          </a:ln>
                          <a:solidFill>
                            <a:srgbClr val="CC00CC"/>
                          </a:solidFill>
                          <a:effectLst/>
                          <a:latin typeface="+mn-ea"/>
                          <a:ea typeface="+mn-ea"/>
                          <a:cs typeface="Times New Roman" panose="02020603050405020304" pitchFamily="18" charset="0"/>
                        </a:rPr>
                        <a:t>连续</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200" b="1" i="0" u="none" strike="noStrike" cap="none" normalizeH="0" baseline="0" dirty="0">
                          <a:ln>
                            <a:noFill/>
                          </a:ln>
                          <a:solidFill>
                            <a:srgbClr val="6600CC"/>
                          </a:solidFill>
                          <a:effectLst/>
                          <a:latin typeface="+mn-ea"/>
                          <a:ea typeface="+mn-ea"/>
                          <a:cs typeface="Times New Roman" panose="02020603050405020304" pitchFamily="18" charset="0"/>
                        </a:rPr>
                        <a:t>随机序列</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200" b="1" i="0" u="none" strike="noStrike" cap="none" normalizeH="0" baseline="0" dirty="0">
                          <a:ln>
                            <a:noFill/>
                          </a:ln>
                          <a:solidFill>
                            <a:srgbClr val="6600CC"/>
                          </a:solidFill>
                          <a:effectLst/>
                          <a:latin typeface="+mn-ea"/>
                          <a:ea typeface="+mn-ea"/>
                          <a:cs typeface="Times New Roman" panose="02020603050405020304" pitchFamily="18" charset="0"/>
                        </a:rPr>
                        <a:t>随机过程</a:t>
                      </a:r>
                    </a:p>
                  </a:txBody>
                  <a:tcPr marL="0" marR="0" marT="53999" marB="53999"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9421727"/>
                  </a:ext>
                </a:extLst>
              </a:tr>
            </a:tbl>
          </a:graphicData>
        </a:graphic>
      </p:graphicFrame>
      <p:sp>
        <p:nvSpPr>
          <p:cNvPr id="263345" name="Rectangle 177">
            <a:extLst>
              <a:ext uri="{FF2B5EF4-FFF2-40B4-BE49-F238E27FC236}">
                <a16:creationId xmlns:a16="http://schemas.microsoft.com/office/drawing/2014/main" id="{C4279B42-FF91-42DF-C3AE-DF68567AF549}"/>
              </a:ext>
            </a:extLst>
          </p:cNvPr>
          <p:cNvSpPr>
            <a:spLocks noChangeArrowheads="1"/>
          </p:cNvSpPr>
          <p:nvPr/>
        </p:nvSpPr>
        <p:spPr bwMode="auto">
          <a:xfrm>
            <a:off x="8156575" y="4940978"/>
            <a:ext cx="3096342" cy="113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buClr>
                <a:srgbClr val="CC00CC"/>
              </a:buClr>
              <a:buFont typeface="Wingdings" panose="05000000000000000000" pitchFamily="2" charset="2"/>
              <a:buChar char="Ø"/>
            </a:pPr>
            <a:r>
              <a:rPr lang="zh-CN" altLang="en-US" b="1" dirty="0">
                <a:latin typeface="+mn-ea"/>
                <a:ea typeface="+mn-ea"/>
              </a:rPr>
              <a:t>马尔可夫过程</a:t>
            </a:r>
          </a:p>
          <a:p>
            <a:pPr algn="just" eaLnBrk="1" hangingPunct="1">
              <a:lnSpc>
                <a:spcPct val="150000"/>
              </a:lnSpc>
              <a:buClr>
                <a:srgbClr val="CC00CC"/>
              </a:buClr>
              <a:buFont typeface="Wingdings" panose="05000000000000000000" pitchFamily="2" charset="2"/>
              <a:buChar char="Ø"/>
            </a:pPr>
            <a:r>
              <a:rPr lang="en-US" altLang="zh-CN" b="1" dirty="0">
                <a:latin typeface="+mn-ea"/>
                <a:ea typeface="+mn-ea"/>
              </a:rPr>
              <a:t>……</a:t>
            </a:r>
          </a:p>
        </p:txBody>
      </p:sp>
      <p:sp>
        <p:nvSpPr>
          <p:cNvPr id="2" name="Rectangle 177">
            <a:extLst>
              <a:ext uri="{FF2B5EF4-FFF2-40B4-BE49-F238E27FC236}">
                <a16:creationId xmlns:a16="http://schemas.microsoft.com/office/drawing/2014/main" id="{647B81B7-4EC8-EFEC-C48D-C69AF53332DE}"/>
              </a:ext>
            </a:extLst>
          </p:cNvPr>
          <p:cNvSpPr>
            <a:spLocks noChangeArrowheads="1"/>
          </p:cNvSpPr>
          <p:nvPr/>
        </p:nvSpPr>
        <p:spPr bwMode="auto">
          <a:xfrm>
            <a:off x="4774832" y="4940978"/>
            <a:ext cx="3096342"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50000"/>
              </a:lnSpc>
              <a:buClr>
                <a:srgbClr val="CC00CC"/>
              </a:buClr>
              <a:buFont typeface="Wingdings" panose="05000000000000000000" pitchFamily="2" charset="2"/>
              <a:buChar char="Ø"/>
            </a:pPr>
            <a:r>
              <a:rPr lang="zh-CN" altLang="en-US" b="1" dirty="0">
                <a:latin typeface="+mn-ea"/>
                <a:ea typeface="+mn-ea"/>
              </a:rPr>
              <a:t>泊松过程</a:t>
            </a:r>
            <a:endParaRPr lang="zh-CN" altLang="en-US" b="1" dirty="0">
              <a:latin typeface="+mn-ea"/>
              <a:ea typeface="+mn-ea"/>
              <a:sym typeface="Symbol" panose="05050102010706020507" pitchFamily="18" charset="2"/>
            </a:endParaRPr>
          </a:p>
          <a:p>
            <a:pPr algn="just" eaLnBrk="1" hangingPunct="1">
              <a:lnSpc>
                <a:spcPct val="150000"/>
              </a:lnSpc>
              <a:buClr>
                <a:srgbClr val="CC00CC"/>
              </a:buClr>
              <a:buFont typeface="Wingdings" panose="05000000000000000000" pitchFamily="2" charset="2"/>
              <a:buChar char="Ø"/>
            </a:pPr>
            <a:r>
              <a:rPr lang="zh-CN" altLang="en-US" b="1" dirty="0">
                <a:latin typeface="+mn-ea"/>
                <a:ea typeface="+mn-ea"/>
              </a:rPr>
              <a:t>维纳过程</a:t>
            </a:r>
          </a:p>
          <a:p>
            <a:pPr algn="just" eaLnBrk="1" hangingPunct="1">
              <a:lnSpc>
                <a:spcPct val="150000"/>
              </a:lnSpc>
              <a:buClr>
                <a:srgbClr val="CC00CC"/>
              </a:buClr>
              <a:buFont typeface="Wingdings" panose="05000000000000000000" pitchFamily="2" charset="2"/>
              <a:buChar char="Ø"/>
            </a:pPr>
            <a:r>
              <a:rPr lang="zh-CN" altLang="en-US" b="1" dirty="0">
                <a:latin typeface="+mn-ea"/>
                <a:ea typeface="+mn-ea"/>
              </a:rPr>
              <a:t>平稳过程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3171">
                                            <p:txEl>
                                              <p:pRg st="0" end="0"/>
                                            </p:txEl>
                                          </p:spTgt>
                                        </p:tgtEl>
                                        <p:attrNameLst>
                                          <p:attrName>style.visibility</p:attrName>
                                        </p:attrNameLst>
                                      </p:cBhvr>
                                      <p:to>
                                        <p:strVal val="visible"/>
                                      </p:to>
                                    </p:set>
                                    <p:anim calcmode="lin" valueType="num">
                                      <p:cBhvr additive="base">
                                        <p:cTn id="7" dur="500" fill="hold"/>
                                        <p:tgtEl>
                                          <p:spTgt spid="263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3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1" presetClass="entr" presetSubtype="0" fill="hold" nodeType="clickEffect">
                                  <p:stCondLst>
                                    <p:cond delay="0"/>
                                  </p:stCondLst>
                                  <p:childTnLst>
                                    <p:set>
                                      <p:cBhvr>
                                        <p:cTn id="12" dur="1" fill="hold">
                                          <p:stCondLst>
                                            <p:cond delay="0"/>
                                          </p:stCondLst>
                                        </p:cTn>
                                        <p:tgtEl>
                                          <p:spTgt spid="263350"/>
                                        </p:tgtEl>
                                        <p:attrNameLst>
                                          <p:attrName>style.visibility</p:attrName>
                                        </p:attrNameLst>
                                      </p:cBhvr>
                                      <p:to>
                                        <p:strVal val="visible"/>
                                      </p:to>
                                    </p:set>
                                    <p:animEffect transition="in" filter="fade">
                                      <p:cBhvr>
                                        <p:cTn id="13" dur="770" decel="100000"/>
                                        <p:tgtEl>
                                          <p:spTgt spid="263350"/>
                                        </p:tgtEl>
                                      </p:cBhvr>
                                    </p:animEffect>
                                    <p:animScale>
                                      <p:cBhvr>
                                        <p:cTn id="14" dur="770" decel="100000"/>
                                        <p:tgtEl>
                                          <p:spTgt spid="263350"/>
                                        </p:tgtEl>
                                      </p:cBhvr>
                                      <p:from x="10000" y="10000"/>
                                      <p:to x="200000" y="450000"/>
                                    </p:animScale>
                                    <p:animScale>
                                      <p:cBhvr>
                                        <p:cTn id="15" dur="1230" accel="100000" fill="hold">
                                          <p:stCondLst>
                                            <p:cond delay="770"/>
                                          </p:stCondLst>
                                        </p:cTn>
                                        <p:tgtEl>
                                          <p:spTgt spid="263350"/>
                                        </p:tgtEl>
                                      </p:cBhvr>
                                      <p:from x="200000" y="450000"/>
                                      <p:to x="100000" y="100000"/>
                                    </p:animScale>
                                    <p:set>
                                      <p:cBhvr>
                                        <p:cTn id="16" dur="770" fill="hold"/>
                                        <p:tgtEl>
                                          <p:spTgt spid="263350"/>
                                        </p:tgtEl>
                                        <p:attrNameLst>
                                          <p:attrName>ppt_x</p:attrName>
                                        </p:attrNameLst>
                                      </p:cBhvr>
                                      <p:to>
                                        <p:strVal val="(0.5)"/>
                                      </p:to>
                                    </p:set>
                                    <p:anim from="(0.5)" to="(#ppt_x)" calcmode="lin" valueType="num">
                                      <p:cBhvr>
                                        <p:cTn id="17" dur="1230" accel="100000" fill="hold">
                                          <p:stCondLst>
                                            <p:cond delay="770"/>
                                          </p:stCondLst>
                                        </p:cTn>
                                        <p:tgtEl>
                                          <p:spTgt spid="263350"/>
                                        </p:tgtEl>
                                        <p:attrNameLst>
                                          <p:attrName>ppt_x</p:attrName>
                                        </p:attrNameLst>
                                      </p:cBhvr>
                                    </p:anim>
                                    <p:set>
                                      <p:cBhvr>
                                        <p:cTn id="18" dur="770" fill="hold"/>
                                        <p:tgtEl>
                                          <p:spTgt spid="263350"/>
                                        </p:tgtEl>
                                        <p:attrNameLst>
                                          <p:attrName>ppt_y</p:attrName>
                                        </p:attrNameLst>
                                      </p:cBhvr>
                                      <p:to>
                                        <p:strVal val="(#ppt_y+0.4)"/>
                                      </p:to>
                                    </p:set>
                                    <p:anim from="(#ppt_y+0.4)" to="(#ppt_y)" calcmode="lin" valueType="num">
                                      <p:cBhvr>
                                        <p:cTn id="19" dur="1230" accel="100000" fill="hold">
                                          <p:stCondLst>
                                            <p:cond delay="770"/>
                                          </p:stCondLst>
                                        </p:cTn>
                                        <p:tgtEl>
                                          <p:spTgt spid="263350"/>
                                        </p:tgtEl>
                                        <p:attrNameLst>
                                          <p:attrName>ppt_y</p:attrName>
                                        </p:attrNameLst>
                                      </p:cBhvr>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63172"/>
                                        </p:tgtEl>
                                        <p:attrNameLst>
                                          <p:attrName>style.visibility</p:attrName>
                                        </p:attrNameLst>
                                      </p:cBhvr>
                                      <p:to>
                                        <p:strVal val="visible"/>
                                      </p:to>
                                    </p:set>
                                    <p:anim calcmode="lin" valueType="num">
                                      <p:cBhvr additive="base">
                                        <p:cTn id="24" dur="500" fill="hold"/>
                                        <p:tgtEl>
                                          <p:spTgt spid="263172"/>
                                        </p:tgtEl>
                                        <p:attrNameLst>
                                          <p:attrName>ppt_x</p:attrName>
                                        </p:attrNameLst>
                                      </p:cBhvr>
                                      <p:tavLst>
                                        <p:tav tm="0">
                                          <p:val>
                                            <p:strVal val="0-#ppt_w/2"/>
                                          </p:val>
                                        </p:tav>
                                        <p:tav tm="100000">
                                          <p:val>
                                            <p:strVal val="#ppt_x"/>
                                          </p:val>
                                        </p:tav>
                                      </p:tavLst>
                                    </p:anim>
                                    <p:anim calcmode="lin" valueType="num">
                                      <p:cBhvr additive="base">
                                        <p:cTn id="25" dur="500" fill="hold"/>
                                        <p:tgtEl>
                                          <p:spTgt spid="263172"/>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263174">
                                            <p:txEl>
                                              <p:pRg st="0" end="0"/>
                                            </p:txEl>
                                          </p:spTgt>
                                        </p:tgtEl>
                                        <p:attrNameLst>
                                          <p:attrName>style.visibility</p:attrName>
                                        </p:attrNameLst>
                                      </p:cBhvr>
                                      <p:to>
                                        <p:strVal val="visible"/>
                                      </p:to>
                                    </p:set>
                                  </p:childTnLst>
                                </p:cTn>
                              </p:par>
                            </p:childTnLst>
                          </p:cTn>
                        </p:par>
                        <p:par>
                          <p:cTn id="30" fill="hold" nodeType="afterGroup">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263174">
                                            <p:txEl>
                                              <p:pRg st="1" end="1"/>
                                            </p:txEl>
                                          </p:spTgt>
                                        </p:tgtEl>
                                        <p:attrNameLst>
                                          <p:attrName>style.visibility</p:attrName>
                                        </p:attrNameLst>
                                      </p:cBhvr>
                                      <p:to>
                                        <p:strVal val="visible"/>
                                      </p:to>
                                    </p:set>
                                  </p:childTnLst>
                                </p:cTn>
                              </p:par>
                            </p:childTnLst>
                          </p:cTn>
                        </p:par>
                        <p:par>
                          <p:cTn id="33" fill="hold" nodeType="afterGroup">
                            <p:stCondLst>
                              <p:cond delay="1000"/>
                            </p:stCondLst>
                            <p:childTnLst>
                              <p:par>
                                <p:cTn id="34" presetID="1" presetClass="entr" presetSubtype="0" fill="hold" grpId="0" nodeType="afterEffect">
                                  <p:stCondLst>
                                    <p:cond delay="0"/>
                                  </p:stCondLst>
                                  <p:childTnLst>
                                    <p:set>
                                      <p:cBhvr>
                                        <p:cTn id="35" dur="1" fill="hold">
                                          <p:stCondLst>
                                            <p:cond delay="499"/>
                                          </p:stCondLst>
                                        </p:cTn>
                                        <p:tgtEl>
                                          <p:spTgt spid="263174">
                                            <p:txEl>
                                              <p:pRg st="2" end="2"/>
                                            </p:txEl>
                                          </p:spTgt>
                                        </p:tgtEl>
                                        <p:attrNameLst>
                                          <p:attrName>style.visibility</p:attrName>
                                        </p:attrNameLst>
                                      </p:cBhvr>
                                      <p:to>
                                        <p:strVal val="visible"/>
                                      </p:to>
                                    </p:set>
                                  </p:childTnLst>
                                </p:cTn>
                              </p:par>
                            </p:childTnLst>
                          </p:cTn>
                        </p:par>
                        <p:par>
                          <p:cTn id="36" fill="hold" nodeType="afterGroup">
                            <p:stCondLst>
                              <p:cond delay="1500"/>
                            </p:stCondLst>
                            <p:childTnLst>
                              <p:par>
                                <p:cTn id="37" presetID="1" presetClass="entr" presetSubtype="0" fill="hold" grpId="0" nodeType="afterEffect">
                                  <p:stCondLst>
                                    <p:cond delay="0"/>
                                  </p:stCondLst>
                                  <p:childTnLst>
                                    <p:set>
                                      <p:cBhvr>
                                        <p:cTn id="38" dur="1" fill="hold">
                                          <p:stCondLst>
                                            <p:cond delay="499"/>
                                          </p:stCondLst>
                                        </p:cTn>
                                        <p:tgtEl>
                                          <p:spTgt spid="263345">
                                            <p:txEl>
                                              <p:pRg st="0" end="0"/>
                                            </p:txEl>
                                          </p:spTgt>
                                        </p:tgtEl>
                                        <p:attrNameLst>
                                          <p:attrName>style.visibility</p:attrName>
                                        </p:attrNameLst>
                                      </p:cBhvr>
                                      <p:to>
                                        <p:strVal val="visible"/>
                                      </p:to>
                                    </p:set>
                                  </p:childTnLst>
                                </p:cTn>
                              </p:par>
                            </p:childTnLst>
                          </p:cTn>
                        </p:par>
                        <p:par>
                          <p:cTn id="39" fill="hold" nodeType="afterGroup">
                            <p:stCondLst>
                              <p:cond delay="2000"/>
                            </p:stCondLst>
                            <p:childTnLst>
                              <p:par>
                                <p:cTn id="40" presetID="1" presetClass="entr" presetSubtype="0" fill="hold" grpId="0" nodeType="afterEffect">
                                  <p:stCondLst>
                                    <p:cond delay="0"/>
                                  </p:stCondLst>
                                  <p:childTnLst>
                                    <p:set>
                                      <p:cBhvr>
                                        <p:cTn id="41" dur="1" fill="hold">
                                          <p:stCondLst>
                                            <p:cond delay="499"/>
                                          </p:stCondLst>
                                        </p:cTn>
                                        <p:tgtEl>
                                          <p:spTgt spid="263345">
                                            <p:txEl>
                                              <p:pRg st="1" end="1"/>
                                            </p:txEl>
                                          </p:spTgt>
                                        </p:tgtEl>
                                        <p:attrNameLst>
                                          <p:attrName>style.visibility</p:attrName>
                                        </p:attrNameLst>
                                      </p:cBhvr>
                                      <p:to>
                                        <p:strVal val="visible"/>
                                      </p:to>
                                    </p:set>
                                  </p:childTnLst>
                                </p:cTn>
                              </p:par>
                            </p:childTnLst>
                          </p:cTn>
                        </p:par>
                        <p:par>
                          <p:cTn id="42" fill="hold">
                            <p:stCondLst>
                              <p:cond delay="2500"/>
                            </p:stCondLst>
                            <p:childTnLst>
                              <p:par>
                                <p:cTn id="43" presetID="1" presetClass="entr" presetSubtype="0" fill="hold" grpId="0" nodeType="afterEffect">
                                  <p:stCondLst>
                                    <p:cond delay="0"/>
                                  </p:stCondLst>
                                  <p:childTnLst>
                                    <p:set>
                                      <p:cBhvr>
                                        <p:cTn id="44" dur="1" fill="hold">
                                          <p:stCondLst>
                                            <p:cond delay="499"/>
                                          </p:stCondLst>
                                        </p:cTn>
                                        <p:tgtEl>
                                          <p:spTgt spid="2">
                                            <p:txEl>
                                              <p:pRg st="0" end="0"/>
                                            </p:txEl>
                                          </p:spTgt>
                                        </p:tgtEl>
                                        <p:attrNameLst>
                                          <p:attrName>style.visibility</p:attrName>
                                        </p:attrNameLst>
                                      </p:cBhvr>
                                      <p:to>
                                        <p:strVal val="visible"/>
                                      </p:to>
                                    </p:set>
                                  </p:childTnLst>
                                </p:cTn>
                              </p:par>
                            </p:childTnLst>
                          </p:cTn>
                        </p:par>
                        <p:par>
                          <p:cTn id="45" fill="hold">
                            <p:stCondLst>
                              <p:cond delay="3000"/>
                            </p:stCondLst>
                            <p:childTnLst>
                              <p:par>
                                <p:cTn id="46" presetID="1" presetClass="entr" presetSubtype="0" fill="hold" grpId="0" nodeType="afterEffect">
                                  <p:stCondLst>
                                    <p:cond delay="0"/>
                                  </p:stCondLst>
                                  <p:childTnLst>
                                    <p:set>
                                      <p:cBhvr>
                                        <p:cTn id="47" dur="1" fill="hold">
                                          <p:stCondLst>
                                            <p:cond delay="499"/>
                                          </p:stCondLst>
                                        </p:cTn>
                                        <p:tgtEl>
                                          <p:spTgt spid="2">
                                            <p:txEl>
                                              <p:pRg st="1" end="1"/>
                                            </p:txEl>
                                          </p:spTgt>
                                        </p:tgtEl>
                                        <p:attrNameLst>
                                          <p:attrName>style.visibility</p:attrName>
                                        </p:attrNameLst>
                                      </p:cBhvr>
                                      <p:to>
                                        <p:strVal val="visible"/>
                                      </p:to>
                                    </p:set>
                                  </p:childTnLst>
                                </p:cTn>
                              </p:par>
                            </p:childTnLst>
                          </p:cTn>
                        </p:par>
                        <p:par>
                          <p:cTn id="48" fill="hold">
                            <p:stCondLst>
                              <p:cond delay="3500"/>
                            </p:stCondLst>
                            <p:childTnLst>
                              <p:par>
                                <p:cTn id="49" presetID="1" presetClass="entr" presetSubtype="0" fill="hold" grpId="0" nodeType="afterEffect">
                                  <p:stCondLst>
                                    <p:cond delay="0"/>
                                  </p:stCondLst>
                                  <p:childTnLst>
                                    <p:set>
                                      <p:cBhvr>
                                        <p:cTn id="50" dur="1" fill="hold">
                                          <p:stCondLst>
                                            <p:cond delay="499"/>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uiExpand="1" build="p"/>
      <p:bldP spid="263172" grpId="0" autoUpdateAnimBg="0"/>
      <p:bldP spid="263174" grpId="0" uiExpand="1" build="p" autoUpdateAnimBg="0"/>
      <p:bldP spid="263345" grpId="0" build="p" autoUpdateAnimBg="0"/>
      <p:bldP spid="2"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a:extLst>
              <a:ext uri="{FF2B5EF4-FFF2-40B4-BE49-F238E27FC236}">
                <a16:creationId xmlns:a16="http://schemas.microsoft.com/office/drawing/2014/main" id="{9AD59DB1-4382-7F29-CF04-5FFF883D1224}"/>
              </a:ext>
            </a:extLst>
          </p:cNvPr>
          <p:cNvSpPr>
            <a:spLocks noGrp="1" noChangeArrowheads="1"/>
          </p:cNvSpPr>
          <p:nvPr>
            <p:ph type="title"/>
          </p:nvPr>
        </p:nvSpPr>
        <p:spPr/>
        <p:txBody>
          <a:bodyPr/>
          <a:lstStyle/>
          <a:p>
            <a:pPr eaLnBrk="1" hangingPunct="1"/>
            <a:r>
              <a:rPr lang="zh-CN" altLang="en-US" dirty="0"/>
              <a:t>三、随机过程的分布</a:t>
            </a:r>
          </a:p>
        </p:txBody>
      </p:sp>
      <p:sp>
        <p:nvSpPr>
          <p:cNvPr id="328707" name="Rectangle 3">
            <a:extLst>
              <a:ext uri="{FF2B5EF4-FFF2-40B4-BE49-F238E27FC236}">
                <a16:creationId xmlns:a16="http://schemas.microsoft.com/office/drawing/2014/main" id="{C7C0B6E1-5FEA-DD52-175E-1364653F7B63}"/>
              </a:ext>
            </a:extLst>
          </p:cNvPr>
          <p:cNvSpPr>
            <a:spLocks noGrp="1" noChangeArrowheads="1"/>
          </p:cNvSpPr>
          <p:nvPr>
            <p:ph type="body" idx="1"/>
          </p:nvPr>
        </p:nvSpPr>
        <p:spPr>
          <a:xfrm>
            <a:off x="373323" y="1064874"/>
            <a:ext cx="11506200" cy="1753129"/>
          </a:xfrm>
        </p:spPr>
        <p:txBody>
          <a:bodyPr>
            <a:normAutofit fontScale="92500"/>
          </a:bodyPr>
          <a:lstStyle/>
          <a:p>
            <a:pPr algn="just" eaLnBrk="1" hangingPunct="1">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设</a:t>
            </a:r>
            <a:r>
              <a:rPr lang="en-US" altLang="zh-CN" dirty="0">
                <a:latin typeface="Times New Roman" panose="02020603050405020304" pitchFamily="18" charset="0"/>
                <a:cs typeface="Times New Roman" panose="02020603050405020304" pitchFamily="18" charset="0"/>
              </a:rPr>
              <a:t>{X(t),</a:t>
            </a:r>
            <a:r>
              <a:rPr lang="en-US" altLang="zh-CN" dirty="0" err="1">
                <a:latin typeface="Times New Roman" panose="02020603050405020304" pitchFamily="18" charset="0"/>
                <a:cs typeface="Times New Roman" panose="02020603050405020304" pitchFamily="18" charset="0"/>
              </a:rPr>
              <a:t>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是一个随机过程，对于每一个</a:t>
            </a:r>
            <a:r>
              <a:rPr lang="en-US" altLang="zh-CN" dirty="0" err="1">
                <a:latin typeface="Times New Roman" panose="02020603050405020304" pitchFamily="18" charset="0"/>
                <a:cs typeface="Times New Roman" panose="02020603050405020304" pitchFamily="18" charset="0"/>
              </a:rPr>
              <a:t>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X(t)</a:t>
            </a:r>
            <a:r>
              <a:rPr lang="zh-CN" altLang="en-US" dirty="0">
                <a:latin typeface="Times New Roman" panose="02020603050405020304" pitchFamily="18" charset="0"/>
                <a:cs typeface="Times New Roman" panose="02020603050405020304" pitchFamily="18" charset="0"/>
              </a:rPr>
              <a:t>是一个随机变量，它的分布函数</a:t>
            </a:r>
          </a:p>
          <a:p>
            <a:pPr algn="ctr" eaLnBrk="1" hangingPunct="1">
              <a:buFont typeface="Wingdings" panose="05000000000000000000" pitchFamily="2" charset="2"/>
              <a:buNone/>
            </a:pPr>
            <a:r>
              <a:rPr lang="en-US" altLang="zh-CN" dirty="0">
                <a:solidFill>
                  <a:srgbClr val="CC00CC"/>
                </a:solidFill>
                <a:latin typeface="Times New Roman" panose="02020603050405020304" pitchFamily="18" charset="0"/>
                <a:cs typeface="Times New Roman" panose="02020603050405020304" pitchFamily="18" charset="0"/>
              </a:rPr>
              <a:t>F(</a:t>
            </a:r>
            <a:r>
              <a:rPr lang="en-US" altLang="zh-CN" dirty="0" err="1">
                <a:solidFill>
                  <a:srgbClr val="CC00CC"/>
                </a:solidFill>
                <a:latin typeface="Times New Roman" panose="02020603050405020304" pitchFamily="18" charset="0"/>
                <a:cs typeface="Times New Roman" panose="02020603050405020304" pitchFamily="18" charset="0"/>
              </a:rPr>
              <a:t>t,x</a:t>
            </a:r>
            <a:r>
              <a:rPr lang="en-US" altLang="zh-CN" dirty="0">
                <a:solidFill>
                  <a:srgbClr val="CC00CC"/>
                </a:solidFill>
                <a:latin typeface="Times New Roman" panose="02020603050405020304" pitchFamily="18" charset="0"/>
                <a:cs typeface="Times New Roman" panose="02020603050405020304" pitchFamily="18" charset="0"/>
              </a:rPr>
              <a:t>)</a:t>
            </a:r>
            <a:r>
              <a:rPr lang="zh-CN" altLang="en-US" dirty="0">
                <a:solidFill>
                  <a:srgbClr val="CC00CC"/>
                </a:solidFill>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P{X(t)&lt;x}</a:t>
            </a:r>
            <a:r>
              <a:rPr lang="zh-CN" altLang="en-US" dirty="0">
                <a:solidFill>
                  <a:srgbClr val="CC00CC"/>
                </a:solidFill>
                <a:latin typeface="Times New Roman" panose="02020603050405020304" pitchFamily="18" charset="0"/>
                <a:cs typeface="Times New Roman" panose="02020603050405020304" pitchFamily="18" charset="0"/>
              </a:rPr>
              <a:t>，</a:t>
            </a:r>
            <a:r>
              <a:rPr lang="en-US" altLang="zh-CN" dirty="0" err="1">
                <a:solidFill>
                  <a:srgbClr val="CC00CC"/>
                </a:solidFill>
                <a:latin typeface="Times New Roman" panose="02020603050405020304" pitchFamily="18" charset="0"/>
                <a:cs typeface="Times New Roman" panose="02020603050405020304" pitchFamily="18" charset="0"/>
              </a:rPr>
              <a:t>t</a:t>
            </a:r>
            <a:r>
              <a:rPr lang="en-US" altLang="zh-CN" dirty="0" err="1">
                <a:solidFill>
                  <a:srgbClr val="CC00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solidFill>
                  <a:srgbClr val="CC00CC"/>
                </a:solidFill>
                <a:latin typeface="Times New Roman" panose="02020603050405020304" pitchFamily="18" charset="0"/>
                <a:cs typeface="Times New Roman" panose="02020603050405020304" pitchFamily="18" charset="0"/>
              </a:rPr>
              <a:t>T</a:t>
            </a:r>
            <a:r>
              <a:rPr lang="zh-CN" altLang="en-US" dirty="0">
                <a:solidFill>
                  <a:srgbClr val="CC00CC"/>
                </a:solidFill>
                <a:latin typeface="Times New Roman" panose="02020603050405020304" pitchFamily="18" charset="0"/>
                <a:cs typeface="Times New Roman" panose="02020603050405020304" pitchFamily="18" charset="0"/>
              </a:rPr>
              <a:t>，</a:t>
            </a:r>
            <a:r>
              <a:rPr lang="en-US" altLang="zh-CN" dirty="0" err="1">
                <a:solidFill>
                  <a:srgbClr val="CC00CC"/>
                </a:solidFill>
                <a:latin typeface="Times New Roman" panose="02020603050405020304" pitchFamily="18" charset="0"/>
                <a:cs typeface="Times New Roman" panose="02020603050405020304" pitchFamily="18" charset="0"/>
              </a:rPr>
              <a:t>x</a:t>
            </a:r>
            <a:r>
              <a:rPr lang="en-US" altLang="zh-CN" dirty="0" err="1">
                <a:solidFill>
                  <a:srgbClr val="CC00CC"/>
                </a:solidFill>
                <a:latin typeface="Times New Roman" panose="02020603050405020304" pitchFamily="18" charset="0"/>
                <a:cs typeface="Times New Roman" panose="02020603050405020304" pitchFamily="18" charset="0"/>
                <a:sym typeface="Symbol" panose="05050102010706020507" pitchFamily="18" charset="2"/>
              </a:rPr>
              <a:t>R</a:t>
            </a:r>
            <a:r>
              <a:rPr lang="en-US" altLang="zh-CN" dirty="0">
                <a:solidFill>
                  <a:srgbClr val="CC00CC"/>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dirty="0">
              <a:solidFill>
                <a:srgbClr val="CC00CC"/>
              </a:solidFill>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称为</a:t>
            </a:r>
            <a:r>
              <a:rPr lang="zh-CN" altLang="en-US" dirty="0">
                <a:solidFill>
                  <a:srgbClr val="0000FF"/>
                </a:solidFill>
                <a:latin typeface="Times New Roman" panose="02020603050405020304" pitchFamily="18" charset="0"/>
                <a:cs typeface="Times New Roman" panose="02020603050405020304" pitchFamily="18" charset="0"/>
              </a:rPr>
              <a:t>随机过程</a:t>
            </a:r>
            <a:r>
              <a:rPr lang="en-US" altLang="zh-CN" dirty="0">
                <a:solidFill>
                  <a:srgbClr val="0000FF"/>
                </a:solidFill>
                <a:latin typeface="Times New Roman" panose="02020603050405020304" pitchFamily="18" charset="0"/>
                <a:cs typeface="Times New Roman" panose="02020603050405020304" pitchFamily="18" charset="0"/>
              </a:rPr>
              <a:t>{X(t),</a:t>
            </a:r>
            <a:r>
              <a:rPr lang="en-US" altLang="zh-CN" dirty="0" err="1">
                <a:solidFill>
                  <a:srgbClr val="0000FF"/>
                </a:solidFill>
                <a:latin typeface="Times New Roman" panose="02020603050405020304" pitchFamily="18" charset="0"/>
                <a:cs typeface="Times New Roman" panose="02020603050405020304" pitchFamily="18" charset="0"/>
              </a:rPr>
              <a:t>t</a:t>
            </a:r>
            <a:r>
              <a:rPr lang="en-US" altLang="zh-CN" dirty="0" err="1">
                <a:solidFill>
                  <a:srgbClr val="0000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solidFill>
                  <a:srgbClr val="0000FF"/>
                </a:solidFill>
                <a:latin typeface="Times New Roman" panose="02020603050405020304" pitchFamily="18" charset="0"/>
                <a:cs typeface="Times New Roman" panose="02020603050405020304" pitchFamily="18" charset="0"/>
              </a:rPr>
              <a:t>T</a:t>
            </a:r>
            <a:r>
              <a:rPr lang="en-US" altLang="zh-CN" dirty="0">
                <a:solidFill>
                  <a:srgbClr val="0000FF"/>
                </a:solidFill>
                <a:latin typeface="Times New Roman" panose="02020603050405020304" pitchFamily="18" charset="0"/>
                <a:cs typeface="Times New Roman" panose="02020603050405020304" pitchFamily="18" charset="0"/>
              </a:rPr>
              <a:t>}</a:t>
            </a:r>
            <a:r>
              <a:rPr lang="zh-CN" altLang="en-US" dirty="0">
                <a:solidFill>
                  <a:srgbClr val="0000FF"/>
                </a:solidFill>
                <a:latin typeface="Times New Roman" panose="02020603050405020304" pitchFamily="18" charset="0"/>
                <a:cs typeface="Times New Roman" panose="02020603050405020304" pitchFamily="18" charset="0"/>
              </a:rPr>
              <a:t>的</a:t>
            </a:r>
            <a:r>
              <a:rPr lang="zh-CN" altLang="en-US" dirty="0">
                <a:solidFill>
                  <a:srgbClr val="FF0000"/>
                </a:solidFill>
                <a:latin typeface="Times New Roman" panose="02020603050405020304" pitchFamily="18" charset="0"/>
                <a:cs typeface="Times New Roman" panose="02020603050405020304" pitchFamily="18" charset="0"/>
              </a:rPr>
              <a:t>一维分布函数</a:t>
            </a:r>
            <a:r>
              <a:rPr lang="zh-CN" altLang="en-US" dirty="0">
                <a:latin typeface="Times New Roman" panose="02020603050405020304" pitchFamily="18" charset="0"/>
                <a:cs typeface="Times New Roman" panose="02020603050405020304" pitchFamily="18" charset="0"/>
              </a:rPr>
              <a:t>。</a:t>
            </a:r>
          </a:p>
        </p:txBody>
      </p:sp>
      <p:sp>
        <p:nvSpPr>
          <p:cNvPr id="328708" name="Rectangle 4">
            <a:extLst>
              <a:ext uri="{FF2B5EF4-FFF2-40B4-BE49-F238E27FC236}">
                <a16:creationId xmlns:a16="http://schemas.microsoft.com/office/drawing/2014/main" id="{6FD81C5F-C39C-F596-BACC-F652AA6F411A}"/>
              </a:ext>
            </a:extLst>
          </p:cNvPr>
          <p:cNvSpPr>
            <a:spLocks noChangeArrowheads="1"/>
          </p:cNvSpPr>
          <p:nvPr/>
        </p:nvSpPr>
        <p:spPr bwMode="auto">
          <a:xfrm>
            <a:off x="347288" y="3048794"/>
            <a:ext cx="10731712"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lang="zh-CN" altLang="en-US" b="1" dirty="0">
                <a:ea typeface="+mn-ea"/>
                <a:cs typeface="Times New Roman" panose="02020603050405020304" pitchFamily="18" charset="0"/>
              </a:rPr>
              <a:t>如果对于每一个</a:t>
            </a:r>
            <a:r>
              <a:rPr lang="en-US" altLang="zh-CN" b="1" dirty="0" err="1">
                <a:ea typeface="+mn-ea"/>
                <a:cs typeface="Times New Roman" panose="02020603050405020304" pitchFamily="18" charset="0"/>
              </a:rPr>
              <a:t>t</a:t>
            </a:r>
            <a:r>
              <a:rPr lang="en-US" altLang="zh-CN" b="1" dirty="0" err="1">
                <a:ea typeface="+mn-ea"/>
                <a:cs typeface="Times New Roman" panose="02020603050405020304" pitchFamily="18" charset="0"/>
                <a:sym typeface="Symbol" panose="05050102010706020507" pitchFamily="18" charset="2"/>
              </a:rPr>
              <a:t></a:t>
            </a:r>
            <a:r>
              <a:rPr lang="en-US" altLang="zh-CN" b="1" dirty="0" err="1">
                <a:ea typeface="+mn-ea"/>
                <a:cs typeface="Times New Roman" panose="02020603050405020304" pitchFamily="18" charset="0"/>
              </a:rPr>
              <a:t>T</a:t>
            </a:r>
            <a:r>
              <a:rPr lang="zh-CN" altLang="en-US" b="1" dirty="0">
                <a:ea typeface="+mn-ea"/>
                <a:cs typeface="Times New Roman" panose="02020603050405020304" pitchFamily="18" charset="0"/>
              </a:rPr>
              <a:t>，随机变量</a:t>
            </a:r>
            <a:r>
              <a:rPr lang="en-US" altLang="zh-CN" b="1" dirty="0">
                <a:ea typeface="+mn-ea"/>
                <a:cs typeface="Times New Roman" panose="02020603050405020304" pitchFamily="18" charset="0"/>
              </a:rPr>
              <a:t>X(t)</a:t>
            </a:r>
            <a:r>
              <a:rPr lang="zh-CN" altLang="en-US" b="1" dirty="0">
                <a:ea typeface="+mn-ea"/>
                <a:cs typeface="Times New Roman" panose="02020603050405020304" pitchFamily="18" charset="0"/>
              </a:rPr>
              <a:t>是连续型随机变量，存在非负可积函数</a:t>
            </a:r>
            <a:r>
              <a:rPr lang="en-US" altLang="zh-CN" b="1" dirty="0">
                <a:ea typeface="+mn-ea"/>
                <a:cs typeface="Times New Roman" panose="02020603050405020304" pitchFamily="18" charset="0"/>
              </a:rPr>
              <a:t>f(</a:t>
            </a:r>
            <a:r>
              <a:rPr lang="en-US" altLang="zh-CN" b="1" dirty="0" err="1">
                <a:ea typeface="+mn-ea"/>
                <a:cs typeface="Times New Roman" panose="02020603050405020304" pitchFamily="18" charset="0"/>
              </a:rPr>
              <a:t>t,x</a:t>
            </a:r>
            <a:r>
              <a:rPr lang="en-US" altLang="zh-CN" b="1" dirty="0">
                <a:ea typeface="+mn-ea"/>
                <a:cs typeface="Times New Roman" panose="02020603050405020304" pitchFamily="18" charset="0"/>
              </a:rPr>
              <a:t>)</a:t>
            </a:r>
            <a:r>
              <a:rPr lang="zh-CN" altLang="en-US" b="1" dirty="0">
                <a:ea typeface="+mn-ea"/>
                <a:cs typeface="Times New Roman" panose="02020603050405020304" pitchFamily="18" charset="0"/>
              </a:rPr>
              <a:t>，使得</a:t>
            </a:r>
          </a:p>
        </p:txBody>
      </p:sp>
      <mc:AlternateContent xmlns:mc="http://schemas.openxmlformats.org/markup-compatibility/2006" xmlns:a14="http://schemas.microsoft.com/office/drawing/2010/main">
        <mc:Choice Requires="a14">
          <p:sp>
            <p:nvSpPr>
              <p:cNvPr id="328709" name="Object 5">
                <a:extLst>
                  <a:ext uri="{FF2B5EF4-FFF2-40B4-BE49-F238E27FC236}">
                    <a16:creationId xmlns:a16="http://schemas.microsoft.com/office/drawing/2014/main" id="{55DF5DD4-23AC-2811-FC36-832CF10F8C56}"/>
                  </a:ext>
                </a:extLst>
              </p:cNvPr>
              <p:cNvSpPr txBox="1"/>
              <p:nvPr/>
            </p:nvSpPr>
            <p:spPr bwMode="auto">
              <a:xfrm>
                <a:off x="4104813" y="3810794"/>
                <a:ext cx="5042362" cy="1219571"/>
              </a:xfrm>
              <a:prstGeom prst="rect">
                <a:avLst/>
              </a:prstGeom>
              <a:noFill/>
              <a:ln>
                <a:noFill/>
              </a:ln>
              <a:effectLst/>
            </p:spPr>
            <p:txBody>
              <a:bodyPr>
                <a:normAutofit fontScale="92500"/>
              </a:bodyPr>
              <a:lstStyle/>
              <a:p>
                <a:pPr>
                  <a:lnSpc>
                    <a:spcPct val="150000"/>
                  </a:lnSpc>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𝑥</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𝑑𝑦</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328709" name="Object 5">
                <a:extLst>
                  <a:ext uri="{FF2B5EF4-FFF2-40B4-BE49-F238E27FC236}">
                    <a16:creationId xmlns:a16="http://schemas.microsoft.com/office/drawing/2014/main" id="{55DF5DD4-23AC-2811-FC36-832CF10F8C56}"/>
                  </a:ext>
                </a:extLst>
              </p:cNvPr>
              <p:cNvSpPr txBox="1">
                <a:spLocks noRot="1" noChangeAspect="1" noMove="1" noResize="1" noEditPoints="1" noAdjustHandles="1" noChangeArrowheads="1" noChangeShapeType="1" noTextEdit="1"/>
              </p:cNvSpPr>
              <p:nvPr/>
            </p:nvSpPr>
            <p:spPr bwMode="auto">
              <a:xfrm>
                <a:off x="4104813" y="3810794"/>
                <a:ext cx="5042362" cy="1219571"/>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8710" name="Rectangle 6">
                <a:extLst>
                  <a:ext uri="{FF2B5EF4-FFF2-40B4-BE49-F238E27FC236}">
                    <a16:creationId xmlns:a16="http://schemas.microsoft.com/office/drawing/2014/main" id="{0C6B69F3-C5E4-E8C8-910F-5431C92EA68C}"/>
                  </a:ext>
                </a:extLst>
              </p:cNvPr>
              <p:cNvSpPr>
                <a:spLocks noChangeArrowheads="1"/>
              </p:cNvSpPr>
              <p:nvPr/>
            </p:nvSpPr>
            <p:spPr bwMode="auto">
              <a:xfrm>
                <a:off x="373323" y="5225511"/>
                <a:ext cx="10907452" cy="116974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lang="zh-CN" altLang="en-US" b="1" dirty="0">
                    <a:ea typeface="+mn-ea"/>
                    <a:cs typeface="Times New Roman" panose="02020603050405020304" pitchFamily="18" charset="0"/>
                  </a:rPr>
                  <a:t>则称</a:t>
                </a:r>
                <a:r>
                  <a:rPr lang="en-US" altLang="zh-CN" b="1" dirty="0">
                    <a:ea typeface="+mn-ea"/>
                    <a:cs typeface="Times New Roman" panose="02020603050405020304" pitchFamily="18" charset="0"/>
                  </a:rPr>
                  <a:t>f(</a:t>
                </a:r>
                <a:r>
                  <a:rPr lang="en-US" altLang="zh-CN" b="1" dirty="0" err="1">
                    <a:ea typeface="+mn-ea"/>
                    <a:cs typeface="Times New Roman" panose="02020603050405020304" pitchFamily="18" charset="0"/>
                  </a:rPr>
                  <a:t>t,x</a:t>
                </a:r>
                <a:r>
                  <a:rPr lang="en-US" altLang="zh-CN" b="1" dirty="0">
                    <a:ea typeface="+mn-ea"/>
                    <a:cs typeface="Times New Roman" panose="02020603050405020304" pitchFamily="18" charset="0"/>
                  </a:rPr>
                  <a:t>)</a:t>
                </a:r>
                <a:r>
                  <a:rPr lang="zh-CN" altLang="en-US" b="1" dirty="0">
                    <a:ea typeface="+mn-ea"/>
                    <a:cs typeface="Times New Roman" panose="02020603050405020304" pitchFamily="18" charset="0"/>
                  </a:rPr>
                  <a:t>，</a:t>
                </a:r>
                <a:r>
                  <a:rPr lang="en-US" altLang="zh-CN" b="1" dirty="0" err="1">
                    <a:ea typeface="+mn-ea"/>
                    <a:cs typeface="Times New Roman" panose="02020603050405020304" pitchFamily="18" charset="0"/>
                  </a:rPr>
                  <a:t>t</a:t>
                </a:r>
                <a:r>
                  <a:rPr lang="en-US" altLang="zh-CN" b="1" dirty="0" err="1">
                    <a:ea typeface="+mn-ea"/>
                    <a:cs typeface="Times New Roman" panose="02020603050405020304" pitchFamily="18" charset="0"/>
                    <a:sym typeface="Symbol" panose="05050102010706020507" pitchFamily="18" charset="2"/>
                  </a:rPr>
                  <a:t></a:t>
                </a:r>
                <a:r>
                  <a:rPr lang="en-US" altLang="zh-CN" b="1" dirty="0" err="1">
                    <a:ea typeface="+mn-ea"/>
                    <a:cs typeface="Times New Roman" panose="02020603050405020304" pitchFamily="18" charset="0"/>
                  </a:rPr>
                  <a:t>T,x</a:t>
                </a:r>
                <a:r>
                  <a:rPr lang="en-US" altLang="zh-CN" b="1" dirty="0" err="1">
                    <a:ea typeface="+mn-ea"/>
                    <a:cs typeface="Times New Roman" panose="02020603050405020304" pitchFamily="18" charset="0"/>
                    <a:sym typeface="Symbol" panose="05050102010706020507" pitchFamily="18" charset="2"/>
                  </a:rPr>
                  <a:t>R</a:t>
                </a:r>
                <a:r>
                  <a:rPr lang="zh-CN" altLang="en-US" b="1" dirty="0">
                    <a:ea typeface="+mn-ea"/>
                    <a:cs typeface="Times New Roman" panose="02020603050405020304" pitchFamily="18" charset="0"/>
                  </a:rPr>
                  <a:t>为随机过程</a:t>
                </a:r>
                <a:r>
                  <a:rPr lang="en-US" altLang="zh-CN" b="1" dirty="0">
                    <a:ea typeface="+mn-ea"/>
                    <a:cs typeface="Times New Roman" panose="02020603050405020304" pitchFamily="18" charset="0"/>
                  </a:rPr>
                  <a:t>{X(t),</a:t>
                </a:r>
                <a:r>
                  <a:rPr lang="en-US" altLang="zh-CN" b="1" dirty="0" err="1">
                    <a:ea typeface="+mn-ea"/>
                    <a:cs typeface="Times New Roman" panose="02020603050405020304" pitchFamily="18" charset="0"/>
                  </a:rPr>
                  <a:t>t</a:t>
                </a:r>
                <a:r>
                  <a:rPr lang="en-US" altLang="zh-CN" b="1" dirty="0" err="1">
                    <a:ea typeface="+mn-ea"/>
                    <a:cs typeface="Times New Roman" panose="02020603050405020304" pitchFamily="18" charset="0"/>
                    <a:sym typeface="Symbol" panose="05050102010706020507" pitchFamily="18" charset="2"/>
                  </a:rPr>
                  <a:t></a:t>
                </a:r>
                <a:r>
                  <a:rPr lang="en-US" altLang="zh-CN" b="1" dirty="0" err="1">
                    <a:ea typeface="+mn-ea"/>
                    <a:cs typeface="Times New Roman" panose="02020603050405020304" pitchFamily="18" charset="0"/>
                  </a:rPr>
                  <a:t>T</a:t>
                </a:r>
                <a:r>
                  <a:rPr lang="en-US" altLang="zh-CN" b="1" dirty="0">
                    <a:ea typeface="+mn-ea"/>
                    <a:cs typeface="Times New Roman" panose="02020603050405020304" pitchFamily="18" charset="0"/>
                  </a:rPr>
                  <a:t>}</a:t>
                </a:r>
                <a:r>
                  <a:rPr lang="zh-CN" altLang="en-US" b="1" dirty="0">
                    <a:ea typeface="+mn-ea"/>
                    <a:cs typeface="Times New Roman" panose="02020603050405020304" pitchFamily="18" charset="0"/>
                  </a:rPr>
                  <a:t>的</a:t>
                </a:r>
                <a:r>
                  <a:rPr lang="zh-CN" altLang="en-US" b="1" dirty="0">
                    <a:solidFill>
                      <a:srgbClr val="FF0000"/>
                    </a:solidFill>
                    <a:ea typeface="+mn-ea"/>
                    <a:cs typeface="Times New Roman" panose="02020603050405020304" pitchFamily="18" charset="0"/>
                  </a:rPr>
                  <a:t>一维概率密度</a:t>
                </a:r>
                <a:r>
                  <a:rPr lang="en-US" altLang="zh-CN" b="1" dirty="0">
                    <a:solidFill>
                      <a:srgbClr val="FF0000"/>
                    </a:solidFill>
                    <a:ea typeface="+mn-ea"/>
                    <a:cs typeface="Times New Roman" panose="02020603050405020304" pitchFamily="18" charset="0"/>
                  </a:rPr>
                  <a:t>(</a:t>
                </a:r>
                <a:r>
                  <a:rPr lang="zh-CN" altLang="en-US" b="1" dirty="0">
                    <a:solidFill>
                      <a:srgbClr val="FF0000"/>
                    </a:solidFill>
                    <a:ea typeface="+mn-ea"/>
                    <a:cs typeface="Times New Roman" panose="02020603050405020304" pitchFamily="18" charset="0"/>
                  </a:rPr>
                  <a:t>函数</a:t>
                </a:r>
                <a:r>
                  <a:rPr lang="en-US" altLang="zh-CN" b="1" dirty="0">
                    <a:solidFill>
                      <a:srgbClr val="FF0000"/>
                    </a:solidFill>
                    <a:ea typeface="+mn-ea"/>
                    <a:cs typeface="Times New Roman" panose="02020603050405020304" pitchFamily="18" charset="0"/>
                  </a:rPr>
                  <a:t>)</a:t>
                </a:r>
                <a:r>
                  <a:rPr lang="zh-CN" altLang="en-US" b="1" dirty="0">
                    <a:ea typeface="+mn-ea"/>
                    <a:cs typeface="Times New Roman" panose="02020603050405020304" pitchFamily="18" charset="0"/>
                  </a:rPr>
                  <a:t>。此时</a:t>
                </a:r>
              </a:p>
              <a:p>
                <a:pPr algn="ctr" eaLnBrk="1" hangingPunct="1">
                  <a:lnSpc>
                    <a:spcPct val="150000"/>
                  </a:lnSpc>
                </a:pPr>
                <a14:m>
                  <m:oMath xmlns:m="http://schemas.openxmlformats.org/officeDocument/2006/math">
                    <m:sSup>
                      <m:sSupPr>
                        <m:ctrlPr>
                          <a:rPr lang="en-US" altLang="zh-CN" b="1" i="1" smtClean="0">
                            <a:latin typeface="Cambria Math" panose="02040503050406030204" pitchFamily="18" charset="0"/>
                            <a:ea typeface="+mn-ea"/>
                            <a:cs typeface="Times New Roman" panose="02020603050405020304" pitchFamily="18" charset="0"/>
                          </a:rPr>
                        </m:ctrlPr>
                      </m:sSupPr>
                      <m:e>
                        <m:r>
                          <a:rPr lang="en-US" altLang="zh-CN" b="1" i="1" smtClean="0">
                            <a:latin typeface="Cambria Math" panose="02040503050406030204" pitchFamily="18" charset="0"/>
                            <a:ea typeface="+mn-ea"/>
                            <a:cs typeface="Times New Roman" panose="02020603050405020304" pitchFamily="18" charset="0"/>
                          </a:rPr>
                          <m:t>𝒇</m:t>
                        </m:r>
                        <m:d>
                          <m:dPr>
                            <m:ctrlPr>
                              <a:rPr lang="en-US" altLang="zh-CN" b="1" i="1" smtClean="0">
                                <a:latin typeface="Cambria Math" panose="02040503050406030204" pitchFamily="18" charset="0"/>
                                <a:ea typeface="+mn-ea"/>
                                <a:cs typeface="Times New Roman" panose="02020603050405020304" pitchFamily="18" charset="0"/>
                              </a:rPr>
                            </m:ctrlPr>
                          </m:dPr>
                          <m:e>
                            <m:r>
                              <a:rPr lang="en-US" altLang="zh-CN" b="1" i="1" smtClean="0">
                                <a:latin typeface="Cambria Math" panose="02040503050406030204" pitchFamily="18" charset="0"/>
                                <a:ea typeface="+mn-ea"/>
                                <a:cs typeface="Times New Roman" panose="02020603050405020304" pitchFamily="18" charset="0"/>
                              </a:rPr>
                              <m:t>𝒕</m:t>
                            </m:r>
                            <m:r>
                              <a:rPr lang="en-US" altLang="zh-CN" b="1" i="1" smtClean="0">
                                <a:latin typeface="Cambria Math" panose="02040503050406030204" pitchFamily="18" charset="0"/>
                                <a:ea typeface="+mn-ea"/>
                                <a:cs typeface="Times New Roman" panose="02020603050405020304" pitchFamily="18" charset="0"/>
                              </a:rPr>
                              <m:t>,</m:t>
                            </m:r>
                            <m:r>
                              <a:rPr lang="en-US" altLang="zh-CN" b="1" i="1" smtClean="0">
                                <a:latin typeface="Cambria Math" panose="02040503050406030204" pitchFamily="18" charset="0"/>
                                <a:ea typeface="+mn-ea"/>
                                <a:cs typeface="Times New Roman" panose="02020603050405020304" pitchFamily="18" charset="0"/>
                              </a:rPr>
                              <m:t>𝒙</m:t>
                            </m:r>
                          </m:e>
                        </m:d>
                        <m:r>
                          <a:rPr lang="en-US" altLang="zh-CN" b="1" i="1" smtClean="0">
                            <a:latin typeface="Cambria Math" panose="02040503050406030204" pitchFamily="18" charset="0"/>
                            <a:ea typeface="+mn-ea"/>
                            <a:cs typeface="Times New Roman" panose="02020603050405020304" pitchFamily="18" charset="0"/>
                          </a:rPr>
                          <m:t>=</m:t>
                        </m:r>
                        <m:r>
                          <m:rPr>
                            <m:sty m:val="p"/>
                          </m:rPr>
                          <a:rPr lang="en-US" altLang="zh-CN" b="1" i="1">
                            <a:latin typeface="Cambria Math" panose="02040503050406030204" pitchFamily="18" charset="0"/>
                            <a:ea typeface="+mn-ea"/>
                            <a:cs typeface="Times New Roman" panose="02020603050405020304" pitchFamily="18" charset="0"/>
                          </a:rPr>
                          <m:t>F</m:t>
                        </m:r>
                      </m:e>
                      <m:sup>
                        <m:r>
                          <a:rPr lang="en-US" altLang="zh-CN" b="1" i="1" smtClean="0">
                            <a:latin typeface="Cambria Math" panose="02040503050406030204" pitchFamily="18" charset="0"/>
                            <a:ea typeface="+mn-ea"/>
                            <a:cs typeface="Times New Roman" panose="02020603050405020304" pitchFamily="18" charset="0"/>
                          </a:rPr>
                          <m:t>′</m:t>
                        </m:r>
                      </m:sup>
                    </m:sSup>
                    <m:r>
                      <a:rPr lang="en-US" altLang="zh-CN" b="1" i="1" smtClean="0">
                        <a:latin typeface="Cambria Math" panose="02040503050406030204" pitchFamily="18" charset="0"/>
                        <a:ea typeface="+mn-ea"/>
                        <a:cs typeface="Times New Roman" panose="02020603050405020304" pitchFamily="18" charset="0"/>
                      </a:rPr>
                      <m:t>(</m:t>
                    </m:r>
                    <m:r>
                      <a:rPr lang="en-US" altLang="zh-CN" b="1" i="1" smtClean="0">
                        <a:latin typeface="Cambria Math" panose="02040503050406030204" pitchFamily="18" charset="0"/>
                        <a:ea typeface="+mn-ea"/>
                        <a:cs typeface="Times New Roman" panose="02020603050405020304" pitchFamily="18" charset="0"/>
                      </a:rPr>
                      <m:t>𝒕</m:t>
                    </m:r>
                    <m:r>
                      <a:rPr lang="en-US" altLang="zh-CN" b="1" i="1" smtClean="0">
                        <a:latin typeface="Cambria Math" panose="02040503050406030204" pitchFamily="18" charset="0"/>
                        <a:ea typeface="+mn-ea"/>
                        <a:cs typeface="Times New Roman" panose="02020603050405020304" pitchFamily="18" charset="0"/>
                      </a:rPr>
                      <m:t>,</m:t>
                    </m:r>
                    <m:r>
                      <a:rPr lang="en-US" altLang="zh-CN" b="1" i="1" smtClean="0">
                        <a:latin typeface="Cambria Math" panose="02040503050406030204" pitchFamily="18" charset="0"/>
                        <a:ea typeface="+mn-ea"/>
                        <a:cs typeface="Times New Roman" panose="02020603050405020304" pitchFamily="18" charset="0"/>
                      </a:rPr>
                      <m:t>𝒙</m:t>
                    </m:r>
                    <m:r>
                      <a:rPr lang="en-US" altLang="zh-CN" b="1" i="1" smtClean="0">
                        <a:latin typeface="Cambria Math" panose="02040503050406030204" pitchFamily="18" charset="0"/>
                        <a:ea typeface="+mn-ea"/>
                        <a:cs typeface="Times New Roman" panose="02020603050405020304" pitchFamily="18" charset="0"/>
                      </a:rPr>
                      <m:t>)</m:t>
                    </m:r>
                  </m:oMath>
                </a14:m>
                <a:r>
                  <a:rPr lang="zh-CN" altLang="en-US" b="1" dirty="0">
                    <a:ea typeface="+mn-ea"/>
                    <a:cs typeface="Times New Roman" panose="02020603050405020304" pitchFamily="18" charset="0"/>
                  </a:rPr>
                  <a:t>，</a:t>
                </a:r>
                <a:r>
                  <a:rPr lang="en-US" altLang="zh-CN" b="1" dirty="0" err="1">
                    <a:ea typeface="+mn-ea"/>
                    <a:cs typeface="Times New Roman" panose="02020603050405020304" pitchFamily="18" charset="0"/>
                  </a:rPr>
                  <a:t>t</a:t>
                </a:r>
                <a:r>
                  <a:rPr lang="en-US" altLang="zh-CN" b="1" dirty="0" err="1">
                    <a:ea typeface="+mn-ea"/>
                    <a:cs typeface="Times New Roman" panose="02020603050405020304" pitchFamily="18" charset="0"/>
                    <a:sym typeface="Symbol" panose="05050102010706020507" pitchFamily="18" charset="2"/>
                  </a:rPr>
                  <a:t></a:t>
                </a:r>
                <a:r>
                  <a:rPr lang="en-US" altLang="zh-CN" b="1" dirty="0" err="1">
                    <a:ea typeface="+mn-ea"/>
                    <a:cs typeface="Times New Roman" panose="02020603050405020304" pitchFamily="18" charset="0"/>
                  </a:rPr>
                  <a:t>T</a:t>
                </a:r>
                <a:r>
                  <a:rPr lang="zh-CN" altLang="en-US" b="1" dirty="0">
                    <a:ea typeface="+mn-ea"/>
                    <a:cs typeface="Times New Roman" panose="02020603050405020304" pitchFamily="18" charset="0"/>
                  </a:rPr>
                  <a:t>，</a:t>
                </a:r>
                <a:r>
                  <a:rPr lang="en-US" altLang="zh-CN" b="1" dirty="0" err="1">
                    <a:ea typeface="+mn-ea"/>
                    <a:cs typeface="Times New Roman" panose="02020603050405020304" pitchFamily="18" charset="0"/>
                  </a:rPr>
                  <a:t>x</a:t>
                </a:r>
                <a:r>
                  <a:rPr lang="en-US" altLang="zh-CN" b="1" dirty="0" err="1">
                    <a:ea typeface="+mn-ea"/>
                    <a:cs typeface="Times New Roman" panose="02020603050405020304" pitchFamily="18" charset="0"/>
                    <a:sym typeface="Symbol" panose="05050102010706020507" pitchFamily="18" charset="2"/>
                  </a:rPr>
                  <a:t>R</a:t>
                </a:r>
                <a:endParaRPr lang="en-US" altLang="zh-CN" b="1" dirty="0">
                  <a:ea typeface="+mn-ea"/>
                  <a:cs typeface="Times New Roman" panose="02020603050405020304" pitchFamily="18" charset="0"/>
                  <a:sym typeface="Symbol" panose="05050102010706020507" pitchFamily="18" charset="2"/>
                </a:endParaRPr>
              </a:p>
            </p:txBody>
          </p:sp>
        </mc:Choice>
        <mc:Fallback>
          <p:sp>
            <p:nvSpPr>
              <p:cNvPr id="328710" name="Rectangle 6">
                <a:extLst>
                  <a:ext uri="{FF2B5EF4-FFF2-40B4-BE49-F238E27FC236}">
                    <a16:creationId xmlns:a16="http://schemas.microsoft.com/office/drawing/2014/main" id="{0C6B69F3-C5E4-E8C8-910F-5431C92EA68C}"/>
                  </a:ext>
                </a:extLst>
              </p:cNvPr>
              <p:cNvSpPr>
                <a:spLocks noRot="1" noChangeAspect="1" noMove="1" noResize="1" noEditPoints="1" noAdjustHandles="1" noChangeArrowheads="1" noChangeShapeType="1" noTextEdit="1"/>
              </p:cNvSpPr>
              <p:nvPr/>
            </p:nvSpPr>
            <p:spPr bwMode="auto">
              <a:xfrm>
                <a:off x="373323" y="5225511"/>
                <a:ext cx="10907452" cy="1169744"/>
              </a:xfrm>
              <a:prstGeom prst="rect">
                <a:avLst/>
              </a:prstGeom>
              <a:blipFill>
                <a:blip r:embed="rId3"/>
                <a:stretch>
                  <a:fillRect l="-814" b="-860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28707">
                                            <p:txEl>
                                              <p:pRg st="1" end="1"/>
                                            </p:txEl>
                                          </p:spTgt>
                                        </p:tgtEl>
                                        <p:attrNameLst>
                                          <p:attrName>style.visibility</p:attrName>
                                        </p:attrNameLst>
                                      </p:cBhvr>
                                      <p:to>
                                        <p:strVal val="visible"/>
                                      </p:to>
                                    </p:set>
                                    <p:anim calcmode="lin" valueType="num">
                                      <p:cBhvr additive="base">
                                        <p:cTn id="12" dur="500" fill="hold"/>
                                        <p:tgtEl>
                                          <p:spTgt spid="32870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28707">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28707">
                                            <p:txEl>
                                              <p:pRg st="2" end="2"/>
                                            </p:txEl>
                                          </p:spTgt>
                                        </p:tgtEl>
                                        <p:attrNameLst>
                                          <p:attrName>style.visibility</p:attrName>
                                        </p:attrNameLst>
                                      </p:cBhvr>
                                      <p:to>
                                        <p:strVal val="visible"/>
                                      </p:to>
                                    </p:set>
                                    <p:anim calcmode="lin" valueType="num">
                                      <p:cBhvr additive="base">
                                        <p:cTn id="17" dur="500" fill="hold"/>
                                        <p:tgtEl>
                                          <p:spTgt spid="32870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87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28708"/>
                                        </p:tgtEl>
                                        <p:attrNameLst>
                                          <p:attrName>style.visibility</p:attrName>
                                        </p:attrNameLst>
                                      </p:cBhvr>
                                      <p:to>
                                        <p:strVal val="visible"/>
                                      </p:to>
                                    </p:set>
                                    <p:anim calcmode="lin" valueType="num">
                                      <p:cBhvr additive="base">
                                        <p:cTn id="23" dur="500" fill="hold"/>
                                        <p:tgtEl>
                                          <p:spTgt spid="328708"/>
                                        </p:tgtEl>
                                        <p:attrNameLst>
                                          <p:attrName>ppt_x</p:attrName>
                                        </p:attrNameLst>
                                      </p:cBhvr>
                                      <p:tavLst>
                                        <p:tav tm="0">
                                          <p:val>
                                            <p:strVal val="0-#ppt_w/2"/>
                                          </p:val>
                                        </p:tav>
                                        <p:tav tm="100000">
                                          <p:val>
                                            <p:strVal val="#ppt_x"/>
                                          </p:val>
                                        </p:tav>
                                      </p:tavLst>
                                    </p:anim>
                                    <p:anim calcmode="lin" valueType="num">
                                      <p:cBhvr additive="base">
                                        <p:cTn id="24" dur="500" fill="hold"/>
                                        <p:tgtEl>
                                          <p:spTgt spid="32870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nodeType="afterGroup">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328709"/>
                                        </p:tgtEl>
                                        <p:attrNameLst>
                                          <p:attrName>style.visibility</p:attrName>
                                        </p:attrNameLst>
                                      </p:cBhvr>
                                      <p:to>
                                        <p:strVal val="visible"/>
                                      </p:to>
                                    </p:set>
                                    <p:animEffect transition="in" filter="randombar(horizontal)">
                                      <p:cBhvr>
                                        <p:cTn id="29" dur="500"/>
                                        <p:tgtEl>
                                          <p:spTgt spid="32870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287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p:bldP spid="328708" grpId="0" autoUpdateAnimBg="0"/>
      <p:bldP spid="328709" grpId="0"/>
      <p:bldP spid="32871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a:extLst>
              <a:ext uri="{FF2B5EF4-FFF2-40B4-BE49-F238E27FC236}">
                <a16:creationId xmlns:a16="http://schemas.microsoft.com/office/drawing/2014/main" id="{22B81DBD-B3B9-BB75-EAD2-296800E8683D}"/>
              </a:ext>
            </a:extLst>
          </p:cNvPr>
          <p:cNvSpPr>
            <a:spLocks noGrp="1" noChangeArrowheads="1"/>
          </p:cNvSpPr>
          <p:nvPr>
            <p:ph type="title"/>
          </p:nvPr>
        </p:nvSpPr>
        <p:spPr/>
        <p:txBody>
          <a:bodyPr/>
          <a:lstStyle/>
          <a:p>
            <a:pPr eaLnBrk="1" hangingPunct="1"/>
            <a:r>
              <a:rPr lang="zh-CN" altLang="en-US"/>
              <a:t>二维分布函数</a:t>
            </a:r>
          </a:p>
        </p:txBody>
      </p:sp>
      <p:sp>
        <p:nvSpPr>
          <p:cNvPr id="321539" name="Rectangle 3">
            <a:extLst>
              <a:ext uri="{FF2B5EF4-FFF2-40B4-BE49-F238E27FC236}">
                <a16:creationId xmlns:a16="http://schemas.microsoft.com/office/drawing/2014/main" id="{8E42DCC4-60ED-22C6-C825-F6F5AE056E65}"/>
              </a:ext>
            </a:extLst>
          </p:cNvPr>
          <p:cNvSpPr>
            <a:spLocks noGrp="1" noChangeArrowheads="1"/>
          </p:cNvSpPr>
          <p:nvPr>
            <p:ph type="body" idx="1"/>
          </p:nvPr>
        </p:nvSpPr>
        <p:spPr>
          <a:xfrm>
            <a:off x="0" y="1531498"/>
            <a:ext cx="11658600" cy="3796591"/>
          </a:xfrm>
        </p:spPr>
        <p:txBody>
          <a:bodyPr>
            <a:normAutofit/>
          </a:bodyPr>
          <a:lstStyle/>
          <a:p>
            <a:pPr algn="just" eaLnBrk="1" hangingPunct="1">
              <a:spcBef>
                <a:spcPct val="20000"/>
              </a:spcBef>
              <a:buFont typeface="Wingdings" panose="05000000000000000000" pitchFamily="2" charset="2"/>
              <a:buNone/>
            </a:pPr>
            <a:r>
              <a:rPr lang="en-US" altLang="zh-CN" dirty="0"/>
              <a:t>	    </a:t>
            </a:r>
            <a:r>
              <a:rPr lang="zh-CN" altLang="en-US" dirty="0"/>
              <a:t>设</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是一个随机过程，对任意</a:t>
            </a:r>
            <a:r>
              <a:rPr lang="en-US" altLang="zh-CN" dirty="0" err="1"/>
              <a:t>s,t</a:t>
            </a:r>
            <a:r>
              <a:rPr lang="en-US" altLang="zh-CN" dirty="0" err="1">
                <a:sym typeface="Symbol" panose="05050102010706020507" pitchFamily="18" charset="2"/>
              </a:rPr>
              <a:t></a:t>
            </a:r>
            <a:r>
              <a:rPr lang="en-US" altLang="zh-CN" dirty="0" err="1"/>
              <a:t>T</a:t>
            </a:r>
            <a:r>
              <a:rPr lang="zh-CN" altLang="en-US" dirty="0"/>
              <a:t>，</a:t>
            </a:r>
            <a:r>
              <a:rPr lang="en-US" altLang="zh-CN" dirty="0"/>
              <a:t>(X(s),X(t))</a:t>
            </a:r>
            <a:r>
              <a:rPr lang="zh-CN" altLang="en-US" dirty="0"/>
              <a:t>是一个二维随机变量，它的联合分布函数</a:t>
            </a:r>
          </a:p>
          <a:p>
            <a:pPr algn="ctr" eaLnBrk="1" hangingPunct="1">
              <a:spcBef>
                <a:spcPct val="20000"/>
              </a:spcBef>
              <a:buFont typeface="Wingdings" panose="05000000000000000000" pitchFamily="2" charset="2"/>
              <a:buNone/>
            </a:pPr>
            <a:r>
              <a:rPr lang="en-US" altLang="zh-CN" dirty="0">
                <a:solidFill>
                  <a:srgbClr val="CC00CC"/>
                </a:solidFill>
              </a:rPr>
              <a:t>F(</a:t>
            </a:r>
            <a:r>
              <a:rPr lang="en-US" altLang="zh-CN" dirty="0" err="1">
                <a:solidFill>
                  <a:srgbClr val="CC00CC"/>
                </a:solidFill>
              </a:rPr>
              <a:t>s,t;x,y</a:t>
            </a:r>
            <a:r>
              <a:rPr lang="en-US" altLang="zh-CN" dirty="0">
                <a:solidFill>
                  <a:srgbClr val="CC00CC"/>
                </a:solidFill>
              </a:rPr>
              <a:t>)</a:t>
            </a:r>
            <a:r>
              <a:rPr lang="zh-CN" altLang="en-US" dirty="0">
                <a:solidFill>
                  <a:srgbClr val="CC00CC"/>
                </a:solidFill>
              </a:rPr>
              <a:t>＝</a:t>
            </a:r>
            <a:r>
              <a:rPr lang="en-US" altLang="zh-CN" dirty="0">
                <a:solidFill>
                  <a:srgbClr val="CC00CC"/>
                </a:solidFill>
              </a:rPr>
              <a:t>P{X(s)&lt;</a:t>
            </a:r>
            <a:r>
              <a:rPr lang="en-US" altLang="zh-CN" dirty="0" err="1">
                <a:solidFill>
                  <a:srgbClr val="CC00CC"/>
                </a:solidFill>
              </a:rPr>
              <a:t>x,X</a:t>
            </a:r>
            <a:r>
              <a:rPr lang="en-US" altLang="zh-CN" dirty="0">
                <a:solidFill>
                  <a:srgbClr val="CC00CC"/>
                </a:solidFill>
              </a:rPr>
              <a:t>(t)&lt;y}</a:t>
            </a:r>
            <a:r>
              <a:rPr lang="zh-CN" altLang="en-US" dirty="0">
                <a:solidFill>
                  <a:srgbClr val="CC00CC"/>
                </a:solidFill>
              </a:rPr>
              <a:t>，</a:t>
            </a:r>
          </a:p>
          <a:p>
            <a:pPr algn="ctr" eaLnBrk="1" hangingPunct="1">
              <a:spcBef>
                <a:spcPct val="20000"/>
              </a:spcBef>
              <a:buFont typeface="Wingdings" panose="05000000000000000000" pitchFamily="2" charset="2"/>
              <a:buNone/>
            </a:pPr>
            <a:r>
              <a:rPr lang="en-US" altLang="zh-CN" dirty="0" err="1">
                <a:solidFill>
                  <a:srgbClr val="CC00CC"/>
                </a:solidFill>
              </a:rPr>
              <a:t>t</a:t>
            </a:r>
            <a:r>
              <a:rPr lang="en-US" altLang="zh-CN" dirty="0" err="1">
                <a:solidFill>
                  <a:srgbClr val="CC00CC"/>
                </a:solidFill>
                <a:sym typeface="Symbol" panose="05050102010706020507" pitchFamily="18" charset="2"/>
              </a:rPr>
              <a:t></a:t>
            </a:r>
            <a:r>
              <a:rPr lang="en-US" altLang="zh-CN" dirty="0" err="1">
                <a:solidFill>
                  <a:srgbClr val="CC00CC"/>
                </a:solidFill>
              </a:rPr>
              <a:t>T</a:t>
            </a:r>
            <a:r>
              <a:rPr lang="zh-CN" altLang="en-US" dirty="0">
                <a:solidFill>
                  <a:srgbClr val="CC00CC"/>
                </a:solidFill>
              </a:rPr>
              <a:t>，</a:t>
            </a:r>
            <a:r>
              <a:rPr lang="en-US" altLang="zh-CN" dirty="0" err="1">
                <a:solidFill>
                  <a:srgbClr val="CC00CC"/>
                </a:solidFill>
              </a:rPr>
              <a:t>x</a:t>
            </a:r>
            <a:r>
              <a:rPr lang="en-US" altLang="zh-CN" dirty="0" err="1">
                <a:solidFill>
                  <a:srgbClr val="CC00CC"/>
                </a:solidFill>
                <a:sym typeface="Symbol" panose="05050102010706020507" pitchFamily="18" charset="2"/>
              </a:rPr>
              <a:t>R</a:t>
            </a:r>
            <a:endParaRPr lang="en-US" altLang="zh-CN" dirty="0">
              <a:solidFill>
                <a:srgbClr val="CC00CC"/>
              </a:solidFill>
            </a:endParaRPr>
          </a:p>
          <a:p>
            <a:pPr algn="just" eaLnBrk="1" hangingPunct="1">
              <a:spcBef>
                <a:spcPct val="20000"/>
              </a:spcBef>
              <a:buFont typeface="Wingdings" panose="05000000000000000000" pitchFamily="2" charset="2"/>
              <a:buNone/>
            </a:pPr>
            <a:r>
              <a:rPr lang="en-US" altLang="zh-CN" dirty="0"/>
              <a:t>     	</a:t>
            </a:r>
            <a:r>
              <a:rPr lang="zh-CN" altLang="en-US" dirty="0"/>
              <a:t>称为</a:t>
            </a:r>
            <a:r>
              <a:rPr lang="zh-CN" altLang="en-US" dirty="0">
                <a:solidFill>
                  <a:srgbClr val="0000FF"/>
                </a:solidFill>
              </a:rPr>
              <a:t>随机过程</a:t>
            </a:r>
            <a:r>
              <a:rPr lang="en-US" altLang="zh-CN" dirty="0">
                <a:solidFill>
                  <a:srgbClr val="0000FF"/>
                </a:solidFill>
              </a:rPr>
              <a:t>{X(t),</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r>
              <a:rPr lang="en-US" altLang="zh-CN" dirty="0">
                <a:solidFill>
                  <a:srgbClr val="0000FF"/>
                </a:solidFill>
              </a:rPr>
              <a:t>}</a:t>
            </a:r>
            <a:r>
              <a:rPr lang="zh-CN" altLang="en-US" dirty="0">
                <a:solidFill>
                  <a:srgbClr val="0000FF"/>
                </a:solidFill>
              </a:rPr>
              <a:t>的</a:t>
            </a:r>
            <a:r>
              <a:rPr lang="zh-CN" altLang="en-US" dirty="0">
                <a:solidFill>
                  <a:srgbClr val="CC00CC"/>
                </a:solidFill>
              </a:rPr>
              <a:t>二维分布函数</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21539">
                                            <p:txEl>
                                              <p:pRg st="0" end="0"/>
                                            </p:txEl>
                                          </p:spTgt>
                                        </p:tgtEl>
                                        <p:attrNameLst>
                                          <p:attrName>style.visibility</p:attrName>
                                        </p:attrNameLst>
                                      </p:cBhvr>
                                      <p:to>
                                        <p:strVal val="visible"/>
                                      </p:to>
                                    </p:set>
                                    <p:anim calcmode="lin" valueType="num">
                                      <p:cBhvr additive="base">
                                        <p:cTn id="7" dur="500" fill="hold"/>
                                        <p:tgtEl>
                                          <p:spTgt spid="321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153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21539">
                                            <p:txEl>
                                              <p:pRg st="1" end="1"/>
                                            </p:txEl>
                                          </p:spTgt>
                                        </p:tgtEl>
                                        <p:attrNameLst>
                                          <p:attrName>style.visibility</p:attrName>
                                        </p:attrNameLst>
                                      </p:cBhvr>
                                      <p:to>
                                        <p:strVal val="visible"/>
                                      </p:to>
                                    </p:set>
                                    <p:anim calcmode="lin" valueType="num">
                                      <p:cBhvr additive="base">
                                        <p:cTn id="12" dur="500" fill="hold"/>
                                        <p:tgtEl>
                                          <p:spTgt spid="32153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2153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21539">
                                            <p:txEl>
                                              <p:pRg st="2" end="2"/>
                                            </p:txEl>
                                          </p:spTgt>
                                        </p:tgtEl>
                                        <p:attrNameLst>
                                          <p:attrName>style.visibility</p:attrName>
                                        </p:attrNameLst>
                                      </p:cBhvr>
                                      <p:to>
                                        <p:strVal val="visible"/>
                                      </p:to>
                                    </p:set>
                                    <p:anim calcmode="lin" valueType="num">
                                      <p:cBhvr additive="base">
                                        <p:cTn id="17" dur="500" fill="hold"/>
                                        <p:tgtEl>
                                          <p:spTgt spid="32153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1539">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21539">
                                            <p:txEl>
                                              <p:pRg st="3" end="3"/>
                                            </p:txEl>
                                          </p:spTgt>
                                        </p:tgtEl>
                                        <p:attrNameLst>
                                          <p:attrName>style.visibility</p:attrName>
                                        </p:attrNameLst>
                                      </p:cBhvr>
                                      <p:to>
                                        <p:strVal val="visible"/>
                                      </p:to>
                                    </p:set>
                                    <p:anim calcmode="lin" valueType="num">
                                      <p:cBhvr additive="base">
                                        <p:cTn id="22" dur="500" fill="hold"/>
                                        <p:tgtEl>
                                          <p:spTgt spid="32153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215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a:extLst>
              <a:ext uri="{FF2B5EF4-FFF2-40B4-BE49-F238E27FC236}">
                <a16:creationId xmlns:a16="http://schemas.microsoft.com/office/drawing/2014/main" id="{27180F70-9698-7790-DFD8-92B80731EDBA}"/>
              </a:ext>
            </a:extLst>
          </p:cNvPr>
          <p:cNvSpPr>
            <a:spLocks noGrp="1" noChangeArrowheads="1"/>
          </p:cNvSpPr>
          <p:nvPr>
            <p:ph type="title"/>
          </p:nvPr>
        </p:nvSpPr>
        <p:spPr/>
        <p:txBody>
          <a:bodyPr/>
          <a:lstStyle/>
          <a:p>
            <a:pPr eaLnBrk="1" hangingPunct="1"/>
            <a:r>
              <a:rPr lang="zh-CN" altLang="en-US"/>
              <a:t>二维概率密度</a:t>
            </a:r>
          </a:p>
        </p:txBody>
      </p:sp>
      <p:sp>
        <p:nvSpPr>
          <p:cNvPr id="264196" name="Rectangle 4">
            <a:extLst>
              <a:ext uri="{FF2B5EF4-FFF2-40B4-BE49-F238E27FC236}">
                <a16:creationId xmlns:a16="http://schemas.microsoft.com/office/drawing/2014/main" id="{20B2D24E-56FC-2709-6AF7-24064E19A7B9}"/>
              </a:ext>
            </a:extLst>
          </p:cNvPr>
          <p:cNvSpPr>
            <a:spLocks noChangeArrowheads="1"/>
          </p:cNvSpPr>
          <p:nvPr/>
        </p:nvSpPr>
        <p:spPr bwMode="auto">
          <a:xfrm>
            <a:off x="307975" y="1125799"/>
            <a:ext cx="11353799"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lang="en-US" altLang="zh-CN" b="1" dirty="0">
                <a:latin typeface="+mn-ea"/>
                <a:ea typeface="+mn-ea"/>
              </a:rPr>
              <a:t>    </a:t>
            </a:r>
            <a:r>
              <a:rPr lang="zh-CN" altLang="en-US" b="1" dirty="0">
                <a:latin typeface="+mn-ea"/>
                <a:ea typeface="+mn-ea"/>
              </a:rPr>
              <a:t>如果</a:t>
            </a:r>
            <a:r>
              <a:rPr lang="en-US" altLang="zh-CN" b="1" dirty="0">
                <a:latin typeface="+mn-ea"/>
                <a:ea typeface="+mn-ea"/>
              </a:rPr>
              <a:t>(X(s),X(t))</a:t>
            </a:r>
            <a:r>
              <a:rPr lang="zh-CN" altLang="en-US" b="1" dirty="0">
                <a:latin typeface="+mn-ea"/>
                <a:ea typeface="+mn-ea"/>
              </a:rPr>
              <a:t>是连续型二维随机变量，存在非负可积函数</a:t>
            </a:r>
            <a:r>
              <a:rPr lang="en-US" altLang="zh-CN" b="1" dirty="0">
                <a:latin typeface="+mn-ea"/>
                <a:ea typeface="+mn-ea"/>
              </a:rPr>
              <a:t>f(</a:t>
            </a:r>
            <a:r>
              <a:rPr lang="en-US" altLang="zh-CN" b="1" dirty="0" err="1">
                <a:latin typeface="+mn-ea"/>
                <a:ea typeface="+mn-ea"/>
              </a:rPr>
              <a:t>s,t;x,y</a:t>
            </a:r>
            <a:r>
              <a:rPr lang="en-US" altLang="zh-CN" b="1" dirty="0">
                <a:latin typeface="+mn-ea"/>
                <a:ea typeface="+mn-ea"/>
              </a:rPr>
              <a:t>)</a:t>
            </a:r>
            <a:r>
              <a:rPr lang="zh-CN" altLang="en-US" b="1" dirty="0">
                <a:latin typeface="+mn-ea"/>
                <a:ea typeface="+mn-ea"/>
              </a:rPr>
              <a:t>，使得</a:t>
            </a:r>
          </a:p>
        </p:txBody>
      </p:sp>
      <mc:AlternateContent xmlns:mc="http://schemas.openxmlformats.org/markup-compatibility/2006" xmlns:a14="http://schemas.microsoft.com/office/drawing/2010/main">
        <mc:Choice Requires="a14">
          <p:sp>
            <p:nvSpPr>
              <p:cNvPr id="264197" name="Object 5">
                <a:extLst>
                  <a:ext uri="{FF2B5EF4-FFF2-40B4-BE49-F238E27FC236}">
                    <a16:creationId xmlns:a16="http://schemas.microsoft.com/office/drawing/2014/main" id="{74D38161-00F4-379D-DB62-7ACE7D5835A6}"/>
                  </a:ext>
                </a:extLst>
              </p:cNvPr>
              <p:cNvSpPr txBox="1"/>
              <p:nvPr/>
            </p:nvSpPr>
            <p:spPr bwMode="auto">
              <a:xfrm>
                <a:off x="2670175" y="1981771"/>
                <a:ext cx="7543959" cy="1221071"/>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𝑥</m:t>
                          </m:r>
                        </m:sup>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𝑦</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𝑑𝑢</m:t>
                              </m:r>
                            </m:e>
                          </m:nary>
                          <m:r>
                            <a:rPr lang="zh-CN" altLang="en-US" i="1">
                              <a:solidFill>
                                <a:srgbClr val="000000"/>
                              </a:solidFill>
                              <a:latin typeface="Cambria Math" panose="02040503050406030204" pitchFamily="18" charset="0"/>
                            </a:rPr>
                            <m:t>𝑑𝑣</m:t>
                          </m:r>
                        </m:e>
                      </m:nary>
                      <m:r>
                        <a:rPr lang="zh-CN" altLang="en-US" i="1">
                          <a:solidFill>
                            <a:srgbClr val="000000"/>
                          </a:solidFill>
                          <a:latin typeface="Cambria Math" panose="02040503050406030204" pitchFamily="18" charset="0"/>
                        </a:rPr>
                        <m:t>,</m:t>
                      </m:r>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e>
                        </m:mr>
                        <m:m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e>
                        </m:mr>
                      </m:m>
                    </m:oMath>
                  </m:oMathPara>
                </a14:m>
                <a:endParaRPr lang="zh-CN" altLang="en-US" dirty="0"/>
              </a:p>
            </p:txBody>
          </p:sp>
        </mc:Choice>
        <mc:Fallback xmlns="">
          <p:sp>
            <p:nvSpPr>
              <p:cNvPr id="264197" name="Object 5">
                <a:extLst>
                  <a:ext uri="{FF2B5EF4-FFF2-40B4-BE49-F238E27FC236}">
                    <a16:creationId xmlns:a16="http://schemas.microsoft.com/office/drawing/2014/main" id="{74D38161-00F4-379D-DB62-7ACE7D5835A6}"/>
                  </a:ext>
                </a:extLst>
              </p:cNvPr>
              <p:cNvSpPr txBox="1">
                <a:spLocks noRot="1" noChangeAspect="1" noMove="1" noResize="1" noEditPoints="1" noAdjustHandles="1" noChangeArrowheads="1" noChangeShapeType="1" noTextEdit="1"/>
              </p:cNvSpPr>
              <p:nvPr/>
            </p:nvSpPr>
            <p:spPr bwMode="auto">
              <a:xfrm>
                <a:off x="2670175" y="1981771"/>
                <a:ext cx="7543959" cy="1221071"/>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264198" name="Rectangle 6">
            <a:extLst>
              <a:ext uri="{FF2B5EF4-FFF2-40B4-BE49-F238E27FC236}">
                <a16:creationId xmlns:a16="http://schemas.microsoft.com/office/drawing/2014/main" id="{4ADCFCD8-13A3-AD95-7702-6891F1B543C2}"/>
              </a:ext>
            </a:extLst>
          </p:cNvPr>
          <p:cNvSpPr>
            <a:spLocks noChangeArrowheads="1"/>
          </p:cNvSpPr>
          <p:nvPr/>
        </p:nvSpPr>
        <p:spPr bwMode="auto">
          <a:xfrm>
            <a:off x="688975" y="3537924"/>
            <a:ext cx="11346864"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lang="zh-CN" altLang="en-US" b="1" dirty="0">
                <a:latin typeface="+mn-ea"/>
                <a:ea typeface="+mn-ea"/>
              </a:rPr>
              <a:t>成立，则称</a:t>
            </a:r>
            <a:r>
              <a:rPr lang="en-US" altLang="zh-CN" b="1" dirty="0">
                <a:latin typeface="+mn-ea"/>
                <a:ea typeface="+mn-ea"/>
              </a:rPr>
              <a:t>f(</a:t>
            </a:r>
            <a:r>
              <a:rPr lang="en-US" altLang="zh-CN" b="1" dirty="0" err="1">
                <a:latin typeface="+mn-ea"/>
                <a:ea typeface="+mn-ea"/>
              </a:rPr>
              <a:t>s,t;x,y</a:t>
            </a:r>
            <a:r>
              <a:rPr lang="en-US" altLang="zh-CN" b="1" dirty="0">
                <a:latin typeface="+mn-ea"/>
                <a:ea typeface="+mn-ea"/>
              </a:rPr>
              <a:t>)</a:t>
            </a:r>
            <a:r>
              <a:rPr lang="zh-CN" altLang="en-US" b="1" dirty="0">
                <a:latin typeface="+mn-ea"/>
                <a:ea typeface="+mn-ea"/>
              </a:rPr>
              <a:t>，</a:t>
            </a:r>
            <a:r>
              <a:rPr lang="en-US" altLang="zh-CN" b="1" dirty="0" err="1">
                <a:latin typeface="+mn-ea"/>
                <a:ea typeface="+mn-ea"/>
              </a:rPr>
              <a:t>s,t</a:t>
            </a:r>
            <a:r>
              <a:rPr lang="en-US" altLang="zh-CN" b="1" dirty="0" err="1">
                <a:latin typeface="+mn-ea"/>
                <a:ea typeface="+mn-ea"/>
                <a:sym typeface="Symbol" panose="05050102010706020507" pitchFamily="18" charset="2"/>
              </a:rPr>
              <a:t></a:t>
            </a:r>
            <a:r>
              <a:rPr lang="en-US" altLang="zh-CN" b="1" dirty="0" err="1">
                <a:latin typeface="+mn-ea"/>
                <a:ea typeface="+mn-ea"/>
              </a:rPr>
              <a:t>T</a:t>
            </a:r>
            <a:r>
              <a:rPr lang="zh-CN" altLang="en-US" b="1" dirty="0">
                <a:latin typeface="+mn-ea"/>
                <a:ea typeface="+mn-ea"/>
              </a:rPr>
              <a:t>，</a:t>
            </a:r>
            <a:r>
              <a:rPr lang="en-US" altLang="zh-CN" b="1" dirty="0" err="1">
                <a:latin typeface="+mn-ea"/>
                <a:ea typeface="+mn-ea"/>
              </a:rPr>
              <a:t>x,y</a:t>
            </a:r>
            <a:r>
              <a:rPr lang="en-US" altLang="zh-CN" b="1" dirty="0" err="1">
                <a:latin typeface="+mn-ea"/>
                <a:ea typeface="+mn-ea"/>
                <a:sym typeface="Symbol" panose="05050102010706020507" pitchFamily="18" charset="2"/>
              </a:rPr>
              <a:t>R</a:t>
            </a:r>
            <a:r>
              <a:rPr lang="zh-CN" altLang="en-US" b="1" dirty="0">
                <a:latin typeface="+mn-ea"/>
                <a:ea typeface="+mn-ea"/>
              </a:rPr>
              <a:t>为随机过程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的</a:t>
            </a:r>
            <a:r>
              <a:rPr lang="zh-CN" altLang="en-US" b="1" dirty="0">
                <a:solidFill>
                  <a:srgbClr val="CC00CC"/>
                </a:solidFill>
                <a:latin typeface="+mn-ea"/>
                <a:ea typeface="+mn-ea"/>
              </a:rPr>
              <a:t>二维概率密度</a:t>
            </a:r>
            <a:r>
              <a:rPr lang="en-US" altLang="zh-CN" b="1" dirty="0">
                <a:solidFill>
                  <a:srgbClr val="CC00CC"/>
                </a:solidFill>
                <a:latin typeface="+mn-ea"/>
                <a:ea typeface="+mn-ea"/>
              </a:rPr>
              <a:t>(</a:t>
            </a:r>
            <a:r>
              <a:rPr lang="zh-CN" altLang="en-US" b="1" dirty="0">
                <a:solidFill>
                  <a:srgbClr val="CC00CC"/>
                </a:solidFill>
                <a:latin typeface="+mn-ea"/>
                <a:ea typeface="+mn-ea"/>
              </a:rPr>
              <a:t>函数</a:t>
            </a:r>
            <a:r>
              <a:rPr lang="en-US" altLang="zh-CN" b="1" dirty="0">
                <a:solidFill>
                  <a:srgbClr val="CC00CC"/>
                </a:solidFill>
                <a:latin typeface="+mn-ea"/>
                <a:ea typeface="+mn-ea"/>
              </a:rPr>
              <a:t>)</a:t>
            </a:r>
            <a:r>
              <a:rPr lang="zh-CN" altLang="en-US" b="1" dirty="0">
                <a:latin typeface="+mn-ea"/>
                <a:ea typeface="+mn-ea"/>
              </a:rPr>
              <a:t>。此时</a:t>
            </a:r>
          </a:p>
        </p:txBody>
      </p:sp>
      <mc:AlternateContent xmlns:mc="http://schemas.openxmlformats.org/markup-compatibility/2006" xmlns:a14="http://schemas.microsoft.com/office/drawing/2010/main">
        <mc:Choice Requires="a14">
          <p:sp>
            <p:nvSpPr>
              <p:cNvPr id="264199" name="Object 7">
                <a:extLst>
                  <a:ext uri="{FF2B5EF4-FFF2-40B4-BE49-F238E27FC236}">
                    <a16:creationId xmlns:a16="http://schemas.microsoft.com/office/drawing/2014/main" id="{9F19449E-A156-4930-E735-E547111ED140}"/>
                  </a:ext>
                </a:extLst>
              </p:cNvPr>
              <p:cNvSpPr txBox="1"/>
              <p:nvPr/>
            </p:nvSpPr>
            <p:spPr bwMode="auto">
              <a:xfrm>
                <a:off x="3584575" y="4672978"/>
                <a:ext cx="4504781" cy="1221071"/>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den>
                      </m:f>
                    </m:oMath>
                  </m:oMathPara>
                </a14:m>
                <a:endParaRPr lang="zh-CN" altLang="en-US" dirty="0"/>
              </a:p>
            </p:txBody>
          </p:sp>
        </mc:Choice>
        <mc:Fallback xmlns="">
          <p:sp>
            <p:nvSpPr>
              <p:cNvPr id="264199" name="Object 7">
                <a:extLst>
                  <a:ext uri="{FF2B5EF4-FFF2-40B4-BE49-F238E27FC236}">
                    <a16:creationId xmlns:a16="http://schemas.microsoft.com/office/drawing/2014/main" id="{9F19449E-A156-4930-E735-E547111ED140}"/>
                  </a:ext>
                </a:extLst>
              </p:cNvPr>
              <p:cNvSpPr txBox="1">
                <a:spLocks noRot="1" noChangeAspect="1" noMove="1" noResize="1" noEditPoints="1" noAdjustHandles="1" noChangeArrowheads="1" noChangeShapeType="1" noTextEdit="1"/>
              </p:cNvSpPr>
              <p:nvPr/>
            </p:nvSpPr>
            <p:spPr bwMode="auto">
              <a:xfrm>
                <a:off x="3584575" y="4672978"/>
                <a:ext cx="4504781" cy="1221071"/>
              </a:xfrm>
              <a:prstGeom prst="rect">
                <a:avLst/>
              </a:prstGeom>
              <a:blipFill>
                <a:blip r:embed="rId3"/>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4196"/>
                                        </p:tgtEl>
                                        <p:attrNameLst>
                                          <p:attrName>style.visibility</p:attrName>
                                        </p:attrNameLst>
                                      </p:cBhvr>
                                      <p:to>
                                        <p:strVal val="visible"/>
                                      </p:to>
                                    </p:set>
                                    <p:anim calcmode="lin" valueType="num">
                                      <p:cBhvr additive="base">
                                        <p:cTn id="7" dur="500" fill="hold"/>
                                        <p:tgtEl>
                                          <p:spTgt spid="264196"/>
                                        </p:tgtEl>
                                        <p:attrNameLst>
                                          <p:attrName>ppt_x</p:attrName>
                                        </p:attrNameLst>
                                      </p:cBhvr>
                                      <p:tavLst>
                                        <p:tav tm="0">
                                          <p:val>
                                            <p:strVal val="0-#ppt_w/2"/>
                                          </p:val>
                                        </p:tav>
                                        <p:tav tm="100000">
                                          <p:val>
                                            <p:strVal val="#ppt_x"/>
                                          </p:val>
                                        </p:tav>
                                      </p:tavLst>
                                    </p:anim>
                                    <p:anim calcmode="lin" valueType="num">
                                      <p:cBhvr additive="base">
                                        <p:cTn id="8" dur="500" fill="hold"/>
                                        <p:tgtEl>
                                          <p:spTgt spid="2641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264197"/>
                                        </p:tgtEl>
                                        <p:attrNameLst>
                                          <p:attrName>style.visibility</p:attrName>
                                        </p:attrNameLst>
                                      </p:cBhvr>
                                      <p:to>
                                        <p:strVal val="visible"/>
                                      </p:to>
                                    </p:set>
                                    <p:animEffect transition="in" filter="randombar(horizontal)">
                                      <p:cBhvr>
                                        <p:cTn id="13" dur="500"/>
                                        <p:tgtEl>
                                          <p:spTgt spid="26419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26419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64199"/>
                                        </p:tgtEl>
                                        <p:attrNameLst>
                                          <p:attrName>style.visibility</p:attrName>
                                        </p:attrNameLst>
                                      </p:cBhvr>
                                      <p:to>
                                        <p:strVal val="visible"/>
                                      </p:to>
                                    </p:set>
                                    <p:animEffect transition="in" filter="randombar(horizontal)">
                                      <p:cBhvr>
                                        <p:cTn id="22" dur="500"/>
                                        <p:tgtEl>
                                          <p:spTgt spid="264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6" grpId="0" autoUpdateAnimBg="0"/>
      <p:bldP spid="264197" grpId="0"/>
      <p:bldP spid="264198" grpId="0" autoUpdateAnimBg="0"/>
      <p:bldP spid="26419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a:extLst>
              <a:ext uri="{FF2B5EF4-FFF2-40B4-BE49-F238E27FC236}">
                <a16:creationId xmlns:a16="http://schemas.microsoft.com/office/drawing/2014/main" id="{EF808532-987E-DC6D-43FB-62875149BA04}"/>
              </a:ext>
            </a:extLst>
          </p:cNvPr>
          <p:cNvSpPr>
            <a:spLocks noGrp="1" noChangeArrowheads="1"/>
          </p:cNvSpPr>
          <p:nvPr>
            <p:ph type="title"/>
          </p:nvPr>
        </p:nvSpPr>
        <p:spPr/>
        <p:txBody>
          <a:bodyPr/>
          <a:lstStyle/>
          <a:p>
            <a:pPr eaLnBrk="1" hangingPunct="1"/>
            <a:r>
              <a:rPr lang="en-US" altLang="zh-CN"/>
              <a:t>n</a:t>
            </a:r>
            <a:r>
              <a:rPr lang="zh-CN" altLang="en-US"/>
              <a:t>维分布函数</a:t>
            </a:r>
          </a:p>
        </p:txBody>
      </p:sp>
      <p:sp>
        <p:nvSpPr>
          <p:cNvPr id="265219" name="Rectangle 3">
            <a:extLst>
              <a:ext uri="{FF2B5EF4-FFF2-40B4-BE49-F238E27FC236}">
                <a16:creationId xmlns:a16="http://schemas.microsoft.com/office/drawing/2014/main" id="{8D5A3BB9-EC25-1883-22C2-F8AF19BDAFFF}"/>
              </a:ext>
            </a:extLst>
          </p:cNvPr>
          <p:cNvSpPr>
            <a:spLocks noGrp="1" noChangeArrowheads="1"/>
          </p:cNvSpPr>
          <p:nvPr>
            <p:ph type="body" idx="1"/>
          </p:nvPr>
        </p:nvSpPr>
        <p:spPr>
          <a:xfrm>
            <a:off x="384175" y="1132151"/>
            <a:ext cx="11353800" cy="4434913"/>
          </a:xfrm>
        </p:spPr>
        <p:txBody>
          <a:bodyPr>
            <a:normAutofit/>
          </a:bodyPr>
          <a:lstStyle/>
          <a:p>
            <a:pPr algn="dist" eaLnBrk="1" hangingPunct="1">
              <a:buFont typeface="Wingdings" panose="05000000000000000000" pitchFamily="2" charset="2"/>
              <a:buNone/>
            </a:pPr>
            <a:r>
              <a:rPr lang="en-US" altLang="zh-CN" dirty="0"/>
              <a:t>	    </a:t>
            </a:r>
            <a:r>
              <a:rPr lang="zh-CN" altLang="en-US" dirty="0"/>
              <a:t>设</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是一个随机过程，对任意</a:t>
            </a:r>
            <a:r>
              <a:rPr lang="en-US" altLang="zh-CN" dirty="0"/>
              <a:t>t</a:t>
            </a:r>
            <a:r>
              <a:rPr lang="en-US" altLang="zh-CN" baseline="-25000" dirty="0"/>
              <a:t>1</a:t>
            </a:r>
            <a:r>
              <a:rPr lang="en-US" altLang="zh-CN" dirty="0"/>
              <a:t>,t</a:t>
            </a:r>
            <a:r>
              <a:rPr lang="en-US" altLang="zh-CN" baseline="-25000" dirty="0"/>
              <a:t>2</a:t>
            </a:r>
            <a:r>
              <a:rPr lang="en-US" altLang="zh-CN" dirty="0"/>
              <a:t>,…,</a:t>
            </a:r>
            <a:r>
              <a:rPr lang="en-US" altLang="zh-CN" dirty="0" err="1"/>
              <a:t>t</a:t>
            </a:r>
            <a:r>
              <a:rPr lang="en-US" altLang="zh-CN" baseline="-25000" dirty="0" err="1"/>
              <a:t>n</a:t>
            </a:r>
            <a:r>
              <a:rPr lang="en-US" altLang="zh-CN" dirty="0" err="1">
                <a:sym typeface="Symbol" panose="05050102010706020507" pitchFamily="18" charset="2"/>
              </a:rPr>
              <a:t></a:t>
            </a:r>
            <a:r>
              <a:rPr lang="en-US" altLang="zh-CN" dirty="0" err="1"/>
              <a:t>T</a:t>
            </a:r>
            <a:r>
              <a:rPr lang="zh-CN" altLang="en-US" dirty="0"/>
              <a:t>，</a:t>
            </a:r>
            <a:r>
              <a:rPr lang="en-US" altLang="zh-CN" dirty="0"/>
              <a:t>n</a:t>
            </a:r>
            <a:r>
              <a:rPr lang="zh-CN" altLang="en-US" dirty="0"/>
              <a:t>维随机变量</a:t>
            </a:r>
            <a:r>
              <a:rPr lang="en-US" altLang="zh-CN" dirty="0"/>
              <a:t>(X(t</a:t>
            </a:r>
            <a:r>
              <a:rPr lang="en-US" altLang="zh-CN" baseline="-25000" dirty="0"/>
              <a:t>1</a:t>
            </a:r>
            <a:r>
              <a:rPr lang="en-US" altLang="zh-CN" dirty="0"/>
              <a:t>),</a:t>
            </a:r>
          </a:p>
          <a:p>
            <a:pPr algn="just" eaLnBrk="1" hangingPunct="1">
              <a:buFont typeface="Wingdings" panose="05000000000000000000" pitchFamily="2" charset="2"/>
              <a:buNone/>
            </a:pPr>
            <a:r>
              <a:rPr lang="en-US" altLang="zh-CN" dirty="0"/>
              <a:t>	X(t</a:t>
            </a:r>
            <a:r>
              <a:rPr lang="en-US" altLang="zh-CN" baseline="-25000" dirty="0"/>
              <a:t>2</a:t>
            </a:r>
            <a:r>
              <a:rPr lang="en-US" altLang="zh-CN" dirty="0"/>
              <a:t>),…,X(</a:t>
            </a:r>
            <a:r>
              <a:rPr lang="en-US" altLang="zh-CN" dirty="0" err="1"/>
              <a:t>t</a:t>
            </a:r>
            <a:r>
              <a:rPr lang="en-US" altLang="zh-CN" baseline="-25000" dirty="0" err="1"/>
              <a:t>n</a:t>
            </a:r>
            <a:r>
              <a:rPr lang="en-US" altLang="zh-CN" dirty="0"/>
              <a:t>))</a:t>
            </a:r>
            <a:r>
              <a:rPr lang="zh-CN" altLang="en-US" dirty="0"/>
              <a:t>的联合分布函数</a:t>
            </a:r>
          </a:p>
          <a:p>
            <a:pPr algn="just" eaLnBrk="1" hangingPunct="1">
              <a:buFont typeface="Wingdings" panose="05000000000000000000" pitchFamily="2" charset="2"/>
              <a:buNone/>
            </a:pPr>
            <a:r>
              <a:rPr lang="zh-CN" altLang="en-US" dirty="0">
                <a:solidFill>
                  <a:srgbClr val="CC00CC"/>
                </a:solidFill>
              </a:rPr>
              <a:t>		  </a:t>
            </a:r>
            <a:r>
              <a:rPr lang="en-US" altLang="zh-CN" dirty="0">
                <a:solidFill>
                  <a:srgbClr val="CC00CC"/>
                </a:solidFill>
              </a:rPr>
              <a:t>F(t</a:t>
            </a:r>
            <a:r>
              <a:rPr lang="en-US" altLang="zh-CN" baseline="-25000" dirty="0">
                <a:solidFill>
                  <a:srgbClr val="CC00CC"/>
                </a:solidFill>
              </a:rPr>
              <a:t>1</a:t>
            </a:r>
            <a:r>
              <a:rPr lang="en-US" altLang="zh-CN" dirty="0">
                <a:solidFill>
                  <a:srgbClr val="CC00CC"/>
                </a:solidFill>
              </a:rPr>
              <a:t>,t</a:t>
            </a:r>
            <a:r>
              <a:rPr lang="en-US" altLang="zh-CN" baseline="-25000" dirty="0">
                <a:solidFill>
                  <a:srgbClr val="CC00CC"/>
                </a:solidFill>
              </a:rPr>
              <a:t>2</a:t>
            </a:r>
            <a:r>
              <a:rPr lang="en-US" altLang="zh-CN" dirty="0">
                <a:solidFill>
                  <a:srgbClr val="CC00CC"/>
                </a:solidFill>
              </a:rPr>
              <a:t>,…,t</a:t>
            </a:r>
            <a:r>
              <a:rPr lang="en-US" altLang="zh-CN" baseline="-25000" dirty="0">
                <a:solidFill>
                  <a:srgbClr val="CC00CC"/>
                </a:solidFill>
              </a:rPr>
              <a:t>n</a:t>
            </a:r>
            <a:r>
              <a:rPr lang="en-US" altLang="zh-CN" dirty="0">
                <a:solidFill>
                  <a:srgbClr val="CC00CC"/>
                </a:solidFill>
              </a:rPr>
              <a:t>;x</a:t>
            </a:r>
            <a:r>
              <a:rPr lang="en-US" altLang="zh-CN" baseline="-25000" dirty="0">
                <a:solidFill>
                  <a:srgbClr val="CC00CC"/>
                </a:solidFill>
              </a:rPr>
              <a:t>1</a:t>
            </a:r>
            <a:r>
              <a:rPr lang="en-US" altLang="zh-CN" dirty="0">
                <a:solidFill>
                  <a:srgbClr val="CC00CC"/>
                </a:solidFill>
              </a:rPr>
              <a:t>,x</a:t>
            </a:r>
            <a:r>
              <a:rPr lang="en-US" altLang="zh-CN" baseline="-25000" dirty="0">
                <a:solidFill>
                  <a:srgbClr val="CC00CC"/>
                </a:solidFill>
              </a:rPr>
              <a:t>2</a:t>
            </a:r>
            <a:r>
              <a:rPr lang="en-US" altLang="zh-CN" dirty="0">
                <a:solidFill>
                  <a:srgbClr val="CC00CC"/>
                </a:solidFill>
              </a:rPr>
              <a:t>,…,</a:t>
            </a:r>
            <a:r>
              <a:rPr lang="en-US" altLang="zh-CN" dirty="0" err="1">
                <a:solidFill>
                  <a:srgbClr val="CC00CC"/>
                </a:solidFill>
              </a:rPr>
              <a:t>x</a:t>
            </a:r>
            <a:r>
              <a:rPr lang="en-US" altLang="zh-CN" baseline="-25000" dirty="0" err="1">
                <a:solidFill>
                  <a:srgbClr val="CC00CC"/>
                </a:solidFill>
              </a:rPr>
              <a:t>n</a:t>
            </a:r>
            <a:r>
              <a:rPr lang="en-US" altLang="zh-CN" dirty="0">
                <a:solidFill>
                  <a:srgbClr val="CC00CC"/>
                </a:solidFill>
              </a:rPr>
              <a:t>)	</a:t>
            </a:r>
          </a:p>
          <a:p>
            <a:pPr algn="ctr" eaLnBrk="1" hangingPunct="1">
              <a:buFont typeface="Wingdings" panose="05000000000000000000" pitchFamily="2" charset="2"/>
              <a:buNone/>
            </a:pPr>
            <a:r>
              <a:rPr lang="en-US" altLang="zh-CN" dirty="0">
                <a:solidFill>
                  <a:srgbClr val="CC00CC"/>
                </a:solidFill>
              </a:rPr>
              <a:t>	</a:t>
            </a:r>
            <a:r>
              <a:rPr lang="zh-CN" altLang="en-US" dirty="0">
                <a:solidFill>
                  <a:srgbClr val="CC00CC"/>
                </a:solidFill>
              </a:rPr>
              <a:t>＝</a:t>
            </a:r>
            <a:r>
              <a:rPr lang="en-US" altLang="zh-CN" dirty="0">
                <a:solidFill>
                  <a:srgbClr val="CC00CC"/>
                </a:solidFill>
              </a:rPr>
              <a:t>P{X(t</a:t>
            </a:r>
            <a:r>
              <a:rPr lang="en-US" altLang="zh-CN" baseline="-25000" dirty="0">
                <a:solidFill>
                  <a:srgbClr val="CC00CC"/>
                </a:solidFill>
              </a:rPr>
              <a:t>1</a:t>
            </a:r>
            <a:r>
              <a:rPr lang="en-US" altLang="zh-CN" dirty="0">
                <a:solidFill>
                  <a:srgbClr val="CC00CC"/>
                </a:solidFill>
              </a:rPr>
              <a:t>)&lt;x</a:t>
            </a:r>
            <a:r>
              <a:rPr lang="en-US" altLang="zh-CN" baseline="-25000" dirty="0">
                <a:solidFill>
                  <a:srgbClr val="CC00CC"/>
                </a:solidFill>
              </a:rPr>
              <a:t>1</a:t>
            </a:r>
            <a:r>
              <a:rPr lang="en-US" altLang="zh-CN" dirty="0">
                <a:solidFill>
                  <a:srgbClr val="CC00CC"/>
                </a:solidFill>
              </a:rPr>
              <a:t>,X(t</a:t>
            </a:r>
            <a:r>
              <a:rPr lang="en-US" altLang="zh-CN" baseline="-25000" dirty="0">
                <a:solidFill>
                  <a:srgbClr val="CC00CC"/>
                </a:solidFill>
              </a:rPr>
              <a:t>2</a:t>
            </a:r>
            <a:r>
              <a:rPr lang="en-US" altLang="zh-CN" dirty="0">
                <a:solidFill>
                  <a:srgbClr val="CC00CC"/>
                </a:solidFill>
              </a:rPr>
              <a:t>)&lt;x</a:t>
            </a:r>
            <a:r>
              <a:rPr lang="en-US" altLang="zh-CN" baseline="-25000" dirty="0">
                <a:solidFill>
                  <a:srgbClr val="CC00CC"/>
                </a:solidFill>
              </a:rPr>
              <a:t>2</a:t>
            </a:r>
            <a:r>
              <a:rPr lang="en-US" altLang="zh-CN" dirty="0">
                <a:solidFill>
                  <a:srgbClr val="CC00CC"/>
                </a:solidFill>
              </a:rPr>
              <a:t>,…,X(</a:t>
            </a:r>
            <a:r>
              <a:rPr lang="en-US" altLang="zh-CN" dirty="0" err="1">
                <a:solidFill>
                  <a:srgbClr val="CC00CC"/>
                </a:solidFill>
              </a:rPr>
              <a:t>t</a:t>
            </a:r>
            <a:r>
              <a:rPr lang="en-US" altLang="zh-CN" baseline="-25000" dirty="0" err="1">
                <a:solidFill>
                  <a:srgbClr val="CC00CC"/>
                </a:solidFill>
              </a:rPr>
              <a:t>n</a:t>
            </a:r>
            <a:r>
              <a:rPr lang="en-US" altLang="zh-CN" dirty="0">
                <a:solidFill>
                  <a:srgbClr val="CC00CC"/>
                </a:solidFill>
              </a:rPr>
              <a:t>)&lt;</a:t>
            </a:r>
            <a:r>
              <a:rPr lang="en-US" altLang="zh-CN" dirty="0" err="1">
                <a:solidFill>
                  <a:srgbClr val="CC00CC"/>
                </a:solidFill>
              </a:rPr>
              <a:t>x</a:t>
            </a:r>
            <a:r>
              <a:rPr lang="en-US" altLang="zh-CN" baseline="-25000" dirty="0" err="1">
                <a:solidFill>
                  <a:srgbClr val="CC00CC"/>
                </a:solidFill>
              </a:rPr>
              <a:t>n</a:t>
            </a:r>
            <a:r>
              <a:rPr lang="en-US" altLang="zh-CN" dirty="0">
                <a:solidFill>
                  <a:srgbClr val="CC00CC"/>
                </a:solidFill>
              </a:rPr>
              <a:t>}</a:t>
            </a:r>
            <a:r>
              <a:rPr lang="zh-CN" altLang="en-US" dirty="0">
                <a:solidFill>
                  <a:srgbClr val="CC00CC"/>
                </a:solidFill>
              </a:rPr>
              <a:t>，</a:t>
            </a:r>
          </a:p>
          <a:p>
            <a:pPr algn="ctr" eaLnBrk="1" hangingPunct="1">
              <a:buFont typeface="Wingdings" panose="05000000000000000000" pitchFamily="2" charset="2"/>
              <a:buNone/>
            </a:pPr>
            <a:r>
              <a:rPr lang="en-US" altLang="zh-CN" dirty="0">
                <a:solidFill>
                  <a:srgbClr val="CC00CC"/>
                </a:solidFill>
              </a:rPr>
              <a:t>t</a:t>
            </a:r>
            <a:r>
              <a:rPr lang="en-US" altLang="zh-CN" baseline="-25000" dirty="0">
                <a:solidFill>
                  <a:srgbClr val="CC00CC"/>
                </a:solidFill>
              </a:rPr>
              <a:t>1</a:t>
            </a:r>
            <a:r>
              <a:rPr lang="en-US" altLang="zh-CN" dirty="0">
                <a:solidFill>
                  <a:srgbClr val="CC00CC"/>
                </a:solidFill>
              </a:rPr>
              <a:t>,t</a:t>
            </a:r>
            <a:r>
              <a:rPr lang="en-US" altLang="zh-CN" baseline="-25000" dirty="0">
                <a:solidFill>
                  <a:srgbClr val="CC00CC"/>
                </a:solidFill>
              </a:rPr>
              <a:t>2</a:t>
            </a:r>
            <a:r>
              <a:rPr lang="en-US" altLang="zh-CN" dirty="0">
                <a:solidFill>
                  <a:srgbClr val="CC00CC"/>
                </a:solidFill>
              </a:rPr>
              <a:t>,…,</a:t>
            </a:r>
            <a:r>
              <a:rPr lang="en-US" altLang="zh-CN" dirty="0" err="1">
                <a:solidFill>
                  <a:srgbClr val="CC00CC"/>
                </a:solidFill>
              </a:rPr>
              <a:t>t</a:t>
            </a:r>
            <a:r>
              <a:rPr lang="en-US" altLang="zh-CN" baseline="-25000" dirty="0" err="1">
                <a:solidFill>
                  <a:srgbClr val="CC00CC"/>
                </a:solidFill>
              </a:rPr>
              <a:t>n</a:t>
            </a:r>
            <a:r>
              <a:rPr lang="en-US" altLang="zh-CN" dirty="0" err="1">
                <a:solidFill>
                  <a:srgbClr val="CC00CC"/>
                </a:solidFill>
                <a:sym typeface="Symbol" panose="05050102010706020507" pitchFamily="18" charset="2"/>
              </a:rPr>
              <a:t></a:t>
            </a:r>
            <a:r>
              <a:rPr lang="en-US" altLang="zh-CN" dirty="0" err="1">
                <a:solidFill>
                  <a:srgbClr val="CC00CC"/>
                </a:solidFill>
              </a:rPr>
              <a:t>T</a:t>
            </a:r>
            <a:r>
              <a:rPr lang="zh-CN" altLang="en-US" dirty="0">
                <a:solidFill>
                  <a:srgbClr val="CC00CC"/>
                </a:solidFill>
              </a:rPr>
              <a:t>，</a:t>
            </a:r>
            <a:r>
              <a:rPr lang="en-US" altLang="zh-CN" dirty="0">
                <a:solidFill>
                  <a:srgbClr val="CC00CC"/>
                </a:solidFill>
              </a:rPr>
              <a:t>x</a:t>
            </a:r>
            <a:r>
              <a:rPr lang="en-US" altLang="zh-CN" baseline="-25000" dirty="0">
                <a:solidFill>
                  <a:srgbClr val="CC00CC"/>
                </a:solidFill>
              </a:rPr>
              <a:t>1</a:t>
            </a:r>
            <a:r>
              <a:rPr lang="en-US" altLang="zh-CN" dirty="0">
                <a:solidFill>
                  <a:srgbClr val="CC00CC"/>
                </a:solidFill>
              </a:rPr>
              <a:t>,x</a:t>
            </a:r>
            <a:r>
              <a:rPr lang="en-US" altLang="zh-CN" baseline="-25000" dirty="0">
                <a:solidFill>
                  <a:srgbClr val="CC00CC"/>
                </a:solidFill>
              </a:rPr>
              <a:t>2</a:t>
            </a:r>
            <a:r>
              <a:rPr lang="en-US" altLang="zh-CN" dirty="0">
                <a:solidFill>
                  <a:srgbClr val="CC00CC"/>
                </a:solidFill>
              </a:rPr>
              <a:t>,…,</a:t>
            </a:r>
            <a:r>
              <a:rPr lang="en-US" altLang="zh-CN" dirty="0" err="1">
                <a:solidFill>
                  <a:srgbClr val="CC00CC"/>
                </a:solidFill>
              </a:rPr>
              <a:t>x</a:t>
            </a:r>
            <a:r>
              <a:rPr lang="en-US" altLang="zh-CN" baseline="-25000" dirty="0" err="1">
                <a:solidFill>
                  <a:srgbClr val="CC00CC"/>
                </a:solidFill>
              </a:rPr>
              <a:t>n</a:t>
            </a:r>
            <a:r>
              <a:rPr lang="en-US" altLang="zh-CN" dirty="0" err="1">
                <a:solidFill>
                  <a:srgbClr val="CC00CC"/>
                </a:solidFill>
                <a:sym typeface="Symbol" panose="05050102010706020507" pitchFamily="18" charset="2"/>
              </a:rPr>
              <a:t>R</a:t>
            </a:r>
            <a:endParaRPr lang="en-US" altLang="zh-CN" dirty="0">
              <a:solidFill>
                <a:srgbClr val="CC00CC"/>
              </a:solidFill>
            </a:endParaRPr>
          </a:p>
          <a:p>
            <a:pPr algn="just" eaLnBrk="1" hangingPunct="1">
              <a:buFont typeface="Wingdings" panose="05000000000000000000" pitchFamily="2" charset="2"/>
              <a:buNone/>
            </a:pPr>
            <a:r>
              <a:rPr lang="en-US" altLang="zh-CN" dirty="0"/>
              <a:t>	</a:t>
            </a:r>
            <a:r>
              <a:rPr lang="zh-CN" altLang="en-US" dirty="0"/>
              <a:t>称为</a:t>
            </a:r>
            <a:r>
              <a:rPr lang="zh-CN" altLang="en-US" dirty="0">
                <a:solidFill>
                  <a:srgbClr val="0000FF"/>
                </a:solidFill>
              </a:rPr>
              <a:t>随机过程</a:t>
            </a:r>
            <a:r>
              <a:rPr lang="en-US" altLang="zh-CN" dirty="0">
                <a:solidFill>
                  <a:srgbClr val="0000FF"/>
                </a:solidFill>
              </a:rPr>
              <a:t>{X(t),</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r>
              <a:rPr lang="en-US" altLang="zh-CN" dirty="0">
                <a:solidFill>
                  <a:srgbClr val="0000FF"/>
                </a:solidFill>
              </a:rPr>
              <a:t>}</a:t>
            </a:r>
            <a:r>
              <a:rPr lang="zh-CN" altLang="en-US" dirty="0">
                <a:solidFill>
                  <a:srgbClr val="0000FF"/>
                </a:solidFill>
              </a:rPr>
              <a:t>的</a:t>
            </a:r>
            <a:r>
              <a:rPr lang="en-US" altLang="zh-CN" dirty="0">
                <a:solidFill>
                  <a:srgbClr val="CC00CC"/>
                </a:solidFill>
              </a:rPr>
              <a:t>n</a:t>
            </a:r>
            <a:r>
              <a:rPr lang="zh-CN" altLang="en-US" dirty="0">
                <a:solidFill>
                  <a:srgbClr val="CC00CC"/>
                </a:solidFill>
              </a:rPr>
              <a:t>维分布函数</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5219">
                                            <p:txEl>
                                              <p:pRg st="0" end="0"/>
                                            </p:txEl>
                                          </p:spTgt>
                                        </p:tgtEl>
                                        <p:attrNameLst>
                                          <p:attrName>style.visibility</p:attrName>
                                        </p:attrNameLst>
                                      </p:cBhvr>
                                      <p:to>
                                        <p:strVal val="visible"/>
                                      </p:to>
                                    </p:set>
                                    <p:anim calcmode="lin" valueType="num">
                                      <p:cBhvr additive="base">
                                        <p:cTn id="7" dur="500" fill="hold"/>
                                        <p:tgtEl>
                                          <p:spTgt spid="265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521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5219">
                                            <p:txEl>
                                              <p:pRg st="1" end="1"/>
                                            </p:txEl>
                                          </p:spTgt>
                                        </p:tgtEl>
                                        <p:attrNameLst>
                                          <p:attrName>style.visibility</p:attrName>
                                        </p:attrNameLst>
                                      </p:cBhvr>
                                      <p:to>
                                        <p:strVal val="visible"/>
                                      </p:to>
                                    </p:set>
                                    <p:anim calcmode="lin" valueType="num">
                                      <p:cBhvr additive="base">
                                        <p:cTn id="12" dur="500" fill="hold"/>
                                        <p:tgtEl>
                                          <p:spTgt spid="26521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521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65219">
                                            <p:txEl>
                                              <p:pRg st="2" end="2"/>
                                            </p:txEl>
                                          </p:spTgt>
                                        </p:tgtEl>
                                        <p:attrNameLst>
                                          <p:attrName>style.visibility</p:attrName>
                                        </p:attrNameLst>
                                      </p:cBhvr>
                                      <p:to>
                                        <p:strVal val="visible"/>
                                      </p:to>
                                    </p:set>
                                    <p:anim calcmode="lin" valueType="num">
                                      <p:cBhvr additive="base">
                                        <p:cTn id="17" dur="500" fill="hold"/>
                                        <p:tgtEl>
                                          <p:spTgt spid="26521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5219">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65219">
                                            <p:txEl>
                                              <p:pRg st="3" end="3"/>
                                            </p:txEl>
                                          </p:spTgt>
                                        </p:tgtEl>
                                        <p:attrNameLst>
                                          <p:attrName>style.visibility</p:attrName>
                                        </p:attrNameLst>
                                      </p:cBhvr>
                                      <p:to>
                                        <p:strVal val="visible"/>
                                      </p:to>
                                    </p:set>
                                    <p:anim calcmode="lin" valueType="num">
                                      <p:cBhvr additive="base">
                                        <p:cTn id="22" dur="500" fill="hold"/>
                                        <p:tgtEl>
                                          <p:spTgt spid="26521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65219">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65219">
                                            <p:txEl>
                                              <p:pRg st="4" end="4"/>
                                            </p:txEl>
                                          </p:spTgt>
                                        </p:tgtEl>
                                        <p:attrNameLst>
                                          <p:attrName>style.visibility</p:attrName>
                                        </p:attrNameLst>
                                      </p:cBhvr>
                                      <p:to>
                                        <p:strVal val="visible"/>
                                      </p:to>
                                    </p:set>
                                    <p:anim calcmode="lin" valueType="num">
                                      <p:cBhvr additive="base">
                                        <p:cTn id="27" dur="500" fill="hold"/>
                                        <p:tgtEl>
                                          <p:spTgt spid="26521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5219">
                                            <p:txEl>
                                              <p:pRg st="4" end="4"/>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65219">
                                            <p:txEl>
                                              <p:pRg st="5" end="5"/>
                                            </p:txEl>
                                          </p:spTgt>
                                        </p:tgtEl>
                                        <p:attrNameLst>
                                          <p:attrName>style.visibility</p:attrName>
                                        </p:attrNameLst>
                                      </p:cBhvr>
                                      <p:to>
                                        <p:strVal val="visible"/>
                                      </p:to>
                                    </p:set>
                                    <p:anim calcmode="lin" valueType="num">
                                      <p:cBhvr additive="base">
                                        <p:cTn id="32" dur="500" fill="hold"/>
                                        <p:tgtEl>
                                          <p:spTgt spid="265219">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6521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a:extLst>
              <a:ext uri="{FF2B5EF4-FFF2-40B4-BE49-F238E27FC236}">
                <a16:creationId xmlns:a16="http://schemas.microsoft.com/office/drawing/2014/main" id="{8C0D7D67-D607-4881-5FEB-DDDA71B57609}"/>
              </a:ext>
            </a:extLst>
          </p:cNvPr>
          <p:cNvSpPr>
            <a:spLocks noGrp="1" noChangeArrowheads="1"/>
          </p:cNvSpPr>
          <p:nvPr>
            <p:ph type="title"/>
          </p:nvPr>
        </p:nvSpPr>
        <p:spPr/>
        <p:txBody>
          <a:bodyPr/>
          <a:lstStyle/>
          <a:p>
            <a:pPr eaLnBrk="1" hangingPunct="1"/>
            <a:r>
              <a:rPr lang="en-US" altLang="zh-CN"/>
              <a:t>n</a:t>
            </a:r>
            <a:r>
              <a:rPr lang="zh-CN" altLang="en-US"/>
              <a:t>维概率密度</a:t>
            </a:r>
          </a:p>
        </p:txBody>
      </p:sp>
      <p:sp>
        <p:nvSpPr>
          <p:cNvPr id="322563" name="Rectangle 3">
            <a:extLst>
              <a:ext uri="{FF2B5EF4-FFF2-40B4-BE49-F238E27FC236}">
                <a16:creationId xmlns:a16="http://schemas.microsoft.com/office/drawing/2014/main" id="{2CD83F0C-CFB9-B2B5-F07A-5DE4F7E7B8BB}"/>
              </a:ext>
            </a:extLst>
          </p:cNvPr>
          <p:cNvSpPr>
            <a:spLocks noGrp="1" noChangeArrowheads="1"/>
          </p:cNvSpPr>
          <p:nvPr>
            <p:ph type="body" idx="1"/>
          </p:nvPr>
        </p:nvSpPr>
        <p:spPr>
          <a:xfrm>
            <a:off x="307975" y="1136913"/>
            <a:ext cx="11734800" cy="1429081"/>
          </a:xfrm>
        </p:spPr>
        <p:txBody>
          <a:bodyPr>
            <a:noAutofit/>
          </a:bodyPr>
          <a:lstStyle/>
          <a:p>
            <a:pPr eaLnBrk="1" hangingPunct="1">
              <a:lnSpc>
                <a:spcPct val="160000"/>
              </a:lnSpc>
              <a:buFont typeface="Wingdings" panose="05000000000000000000" pitchFamily="2" charset="2"/>
              <a:buNone/>
            </a:pPr>
            <a:r>
              <a:rPr lang="en-US" altLang="zh-CN" dirty="0"/>
              <a:t>	 </a:t>
            </a:r>
            <a:r>
              <a:rPr lang="zh-CN" altLang="en-US" dirty="0"/>
              <a:t>如果</a:t>
            </a:r>
            <a:r>
              <a:rPr lang="en-US" altLang="zh-CN" dirty="0"/>
              <a:t>(X(t</a:t>
            </a:r>
            <a:r>
              <a:rPr lang="en-US" altLang="zh-CN" baseline="-25000" dirty="0"/>
              <a:t>1</a:t>
            </a:r>
            <a:r>
              <a:rPr lang="en-US" altLang="zh-CN" dirty="0"/>
              <a:t>),X(t</a:t>
            </a:r>
            <a:r>
              <a:rPr lang="en-US" altLang="zh-CN" baseline="-25000" dirty="0"/>
              <a:t>2</a:t>
            </a:r>
            <a:r>
              <a:rPr lang="en-US" altLang="zh-CN" dirty="0"/>
              <a:t>),…,X(</a:t>
            </a:r>
            <a:r>
              <a:rPr lang="en-US" altLang="zh-CN" dirty="0" err="1"/>
              <a:t>t</a:t>
            </a:r>
            <a:r>
              <a:rPr lang="en-US" altLang="zh-CN" baseline="-25000" dirty="0" err="1"/>
              <a:t>n</a:t>
            </a:r>
            <a:r>
              <a:rPr lang="en-US" altLang="zh-CN" dirty="0"/>
              <a:t>))</a:t>
            </a:r>
            <a:r>
              <a:rPr lang="zh-CN" altLang="en-US" dirty="0"/>
              <a:t>是连续型</a:t>
            </a:r>
            <a:r>
              <a:rPr lang="en-US" altLang="zh-CN" dirty="0"/>
              <a:t>n</a:t>
            </a:r>
            <a:r>
              <a:rPr lang="zh-CN" altLang="en-US" dirty="0"/>
              <a:t>维随机变量，存在非负可积函数</a:t>
            </a:r>
            <a:r>
              <a:rPr lang="en-US" altLang="zh-CN" dirty="0"/>
              <a:t>f(t</a:t>
            </a:r>
            <a:r>
              <a:rPr lang="en-US" altLang="zh-CN" baseline="-25000" dirty="0"/>
              <a:t>1</a:t>
            </a:r>
            <a:r>
              <a:rPr lang="en-US" altLang="zh-CN" dirty="0"/>
              <a:t>,t</a:t>
            </a:r>
            <a:r>
              <a:rPr lang="en-US" altLang="zh-CN" baseline="-25000" dirty="0"/>
              <a:t>2</a:t>
            </a:r>
            <a:r>
              <a:rPr lang="en-US" altLang="zh-CN" dirty="0"/>
              <a:t>,…,t</a:t>
            </a:r>
            <a:r>
              <a:rPr lang="en-US" altLang="zh-CN" baseline="-25000" dirty="0"/>
              <a:t>n</a:t>
            </a:r>
            <a:r>
              <a:rPr lang="en-US" altLang="zh-CN" dirty="0"/>
              <a:t>;x</a:t>
            </a:r>
            <a:r>
              <a:rPr lang="en-US" altLang="zh-CN" baseline="-25000" dirty="0"/>
              <a:t>1</a:t>
            </a:r>
            <a:r>
              <a:rPr lang="en-US" altLang="zh-CN" dirty="0"/>
              <a:t>,x</a:t>
            </a:r>
            <a:r>
              <a:rPr lang="en-US" altLang="zh-CN" baseline="-25000" dirty="0"/>
              <a:t>2</a:t>
            </a:r>
            <a:r>
              <a:rPr lang="en-US" altLang="zh-CN" dirty="0"/>
              <a:t>,…,	</a:t>
            </a:r>
            <a:r>
              <a:rPr lang="en-US" altLang="zh-CN" dirty="0" err="1"/>
              <a:t>x</a:t>
            </a:r>
            <a:r>
              <a:rPr lang="en-US" altLang="zh-CN" baseline="-25000" dirty="0" err="1"/>
              <a:t>n</a:t>
            </a:r>
            <a:r>
              <a:rPr lang="en-US" altLang="zh-CN" dirty="0"/>
              <a:t>)</a:t>
            </a:r>
            <a:r>
              <a:rPr lang="zh-CN" altLang="en-US" dirty="0"/>
              <a:t>，使得</a:t>
            </a:r>
          </a:p>
        </p:txBody>
      </p:sp>
      <mc:AlternateContent xmlns:mc="http://schemas.openxmlformats.org/markup-compatibility/2006" xmlns:a14="http://schemas.microsoft.com/office/drawing/2010/main">
        <mc:Choice Requires="a14">
          <p:sp>
            <p:nvSpPr>
              <p:cNvPr id="322565" name="Object 5">
                <a:extLst>
                  <a:ext uri="{FF2B5EF4-FFF2-40B4-BE49-F238E27FC236}">
                    <a16:creationId xmlns:a16="http://schemas.microsoft.com/office/drawing/2014/main" id="{966BA50F-91CC-343C-1C88-33377EB456C7}"/>
                  </a:ext>
                </a:extLst>
              </p:cNvPr>
              <p:cNvSpPr txBox="1"/>
              <p:nvPr/>
            </p:nvSpPr>
            <p:spPr bwMode="auto">
              <a:xfrm>
                <a:off x="698500" y="2661882"/>
                <a:ext cx="10820400" cy="1173434"/>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sup>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sup>
                            <m:e>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e>
                              </m:nary>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e>
                      </m:nary>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22565" name="Object 5">
                <a:extLst>
                  <a:ext uri="{FF2B5EF4-FFF2-40B4-BE49-F238E27FC236}">
                    <a16:creationId xmlns:a16="http://schemas.microsoft.com/office/drawing/2014/main" id="{966BA50F-91CC-343C-1C88-33377EB456C7}"/>
                  </a:ext>
                </a:extLst>
              </p:cNvPr>
              <p:cNvSpPr txBox="1">
                <a:spLocks noRot="1" noChangeAspect="1" noMove="1" noResize="1" noEditPoints="1" noAdjustHandles="1" noChangeArrowheads="1" noChangeShapeType="1" noTextEdit="1"/>
              </p:cNvSpPr>
              <p:nvPr/>
            </p:nvSpPr>
            <p:spPr bwMode="auto">
              <a:xfrm>
                <a:off x="698500" y="2661882"/>
                <a:ext cx="10820400" cy="1173434"/>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322566" name="Rectangle 6">
            <a:extLst>
              <a:ext uri="{FF2B5EF4-FFF2-40B4-BE49-F238E27FC236}">
                <a16:creationId xmlns:a16="http://schemas.microsoft.com/office/drawing/2014/main" id="{E748C4C1-6FCC-34A6-2F60-47DD9652A506}"/>
              </a:ext>
            </a:extLst>
          </p:cNvPr>
          <p:cNvSpPr>
            <a:spLocks noChangeArrowheads="1"/>
          </p:cNvSpPr>
          <p:nvPr/>
        </p:nvSpPr>
        <p:spPr bwMode="auto">
          <a:xfrm>
            <a:off x="612775" y="4197706"/>
            <a:ext cx="11542518"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b="1" dirty="0">
                <a:latin typeface="+mn-ea"/>
                <a:ea typeface="+mn-ea"/>
              </a:rPr>
              <a:t>成立，则称</a:t>
            </a:r>
            <a:r>
              <a:rPr lang="en-US" altLang="zh-CN" b="1" dirty="0">
                <a:latin typeface="+mn-ea"/>
                <a:ea typeface="+mn-ea"/>
              </a:rPr>
              <a:t>f(t</a:t>
            </a:r>
            <a:r>
              <a:rPr lang="en-US" altLang="zh-CN" b="1" baseline="-25000" dirty="0">
                <a:latin typeface="+mn-ea"/>
                <a:ea typeface="+mn-ea"/>
              </a:rPr>
              <a:t>1</a:t>
            </a:r>
            <a:r>
              <a:rPr lang="en-US" altLang="zh-CN" b="1" dirty="0">
                <a:latin typeface="+mn-ea"/>
                <a:ea typeface="+mn-ea"/>
              </a:rPr>
              <a:t>,t</a:t>
            </a:r>
            <a:r>
              <a:rPr lang="en-US" altLang="zh-CN" b="1" baseline="-25000" dirty="0">
                <a:latin typeface="+mn-ea"/>
                <a:ea typeface="+mn-ea"/>
              </a:rPr>
              <a:t>2</a:t>
            </a:r>
            <a:r>
              <a:rPr lang="en-US" altLang="zh-CN" b="1" dirty="0">
                <a:latin typeface="+mn-ea"/>
                <a:ea typeface="+mn-ea"/>
              </a:rPr>
              <a:t>,…,</a:t>
            </a:r>
            <a:r>
              <a:rPr lang="en-US" altLang="zh-CN" b="1" dirty="0" err="1">
                <a:latin typeface="+mn-ea"/>
                <a:ea typeface="+mn-ea"/>
              </a:rPr>
              <a:t>t</a:t>
            </a:r>
            <a:r>
              <a:rPr lang="en-US" altLang="zh-CN" b="1" baseline="-25000" dirty="0" err="1">
                <a:latin typeface="+mn-ea"/>
                <a:ea typeface="+mn-ea"/>
              </a:rPr>
              <a:t>n</a:t>
            </a:r>
            <a:r>
              <a:rPr lang="en-US" altLang="zh-CN" b="1" dirty="0" err="1">
                <a:latin typeface="+mn-ea"/>
                <a:ea typeface="+mn-ea"/>
                <a:sym typeface="Symbol" panose="05050102010706020507" pitchFamily="18" charset="2"/>
              </a:rPr>
              <a:t></a:t>
            </a:r>
            <a:r>
              <a:rPr lang="en-US" altLang="zh-CN" b="1" dirty="0" err="1">
                <a:latin typeface="+mn-ea"/>
                <a:ea typeface="+mn-ea"/>
              </a:rPr>
              <a:t>T</a:t>
            </a:r>
            <a:r>
              <a:rPr lang="zh-CN" altLang="en-US" b="1" dirty="0">
                <a:latin typeface="+mn-ea"/>
                <a:ea typeface="+mn-ea"/>
              </a:rPr>
              <a:t>；</a:t>
            </a:r>
            <a:r>
              <a:rPr lang="en-US" altLang="zh-CN" b="1" dirty="0">
                <a:latin typeface="+mn-ea"/>
                <a:ea typeface="+mn-ea"/>
              </a:rPr>
              <a:t>x</a:t>
            </a:r>
            <a:r>
              <a:rPr lang="en-US" altLang="zh-CN" b="1" baseline="-25000" dirty="0">
                <a:latin typeface="+mn-ea"/>
                <a:ea typeface="+mn-ea"/>
              </a:rPr>
              <a:t>1</a:t>
            </a:r>
            <a:r>
              <a:rPr lang="en-US" altLang="zh-CN" b="1" dirty="0">
                <a:latin typeface="+mn-ea"/>
                <a:ea typeface="+mn-ea"/>
              </a:rPr>
              <a:t>,x</a:t>
            </a:r>
            <a:r>
              <a:rPr lang="en-US" altLang="zh-CN" b="1" baseline="-25000" dirty="0">
                <a:latin typeface="+mn-ea"/>
                <a:ea typeface="+mn-ea"/>
              </a:rPr>
              <a:t>2</a:t>
            </a:r>
            <a:r>
              <a:rPr lang="en-US" altLang="zh-CN" b="1" dirty="0">
                <a:latin typeface="+mn-ea"/>
                <a:ea typeface="+mn-ea"/>
              </a:rPr>
              <a:t>,…,</a:t>
            </a:r>
            <a:r>
              <a:rPr lang="en-US" altLang="zh-CN" b="1" dirty="0" err="1">
                <a:latin typeface="+mn-ea"/>
                <a:ea typeface="+mn-ea"/>
              </a:rPr>
              <a:t>x</a:t>
            </a:r>
            <a:r>
              <a:rPr lang="en-US" altLang="zh-CN" b="1" baseline="-25000" dirty="0" err="1">
                <a:latin typeface="+mn-ea"/>
                <a:ea typeface="+mn-ea"/>
              </a:rPr>
              <a:t>n</a:t>
            </a:r>
            <a:r>
              <a:rPr lang="en-US" altLang="zh-CN" b="1" dirty="0">
                <a:latin typeface="+mn-ea"/>
                <a:ea typeface="+mn-ea"/>
              </a:rPr>
              <a:t>)</a:t>
            </a:r>
            <a:r>
              <a:rPr lang="zh-CN" altLang="en-US" b="1" dirty="0">
                <a:latin typeface="+mn-ea"/>
                <a:ea typeface="+mn-ea"/>
              </a:rPr>
              <a:t>为随机过程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的</a:t>
            </a:r>
            <a:r>
              <a:rPr lang="en-US" altLang="zh-CN" b="1" dirty="0">
                <a:solidFill>
                  <a:srgbClr val="CC00CC"/>
                </a:solidFill>
                <a:latin typeface="+mn-ea"/>
                <a:ea typeface="+mn-ea"/>
              </a:rPr>
              <a:t>n</a:t>
            </a:r>
            <a:r>
              <a:rPr lang="zh-CN" altLang="en-US" b="1" dirty="0">
                <a:solidFill>
                  <a:srgbClr val="CC00CC"/>
                </a:solidFill>
                <a:latin typeface="+mn-ea"/>
                <a:ea typeface="+mn-ea"/>
              </a:rPr>
              <a:t>维概率密度</a:t>
            </a:r>
            <a:r>
              <a:rPr lang="en-US" altLang="zh-CN" b="1" dirty="0">
                <a:solidFill>
                  <a:srgbClr val="CC00CC"/>
                </a:solidFill>
                <a:latin typeface="+mn-ea"/>
                <a:ea typeface="+mn-ea"/>
              </a:rPr>
              <a:t>(</a:t>
            </a:r>
            <a:r>
              <a:rPr lang="zh-CN" altLang="en-US" b="1" dirty="0">
                <a:solidFill>
                  <a:srgbClr val="CC00CC"/>
                </a:solidFill>
                <a:latin typeface="+mn-ea"/>
                <a:ea typeface="+mn-ea"/>
              </a:rPr>
              <a:t>函数</a:t>
            </a:r>
            <a:r>
              <a:rPr lang="en-US" altLang="zh-CN" b="1" dirty="0">
                <a:solidFill>
                  <a:srgbClr val="CC00CC"/>
                </a:solidFill>
                <a:latin typeface="+mn-ea"/>
                <a:ea typeface="+mn-ea"/>
              </a:rPr>
              <a:t>)</a:t>
            </a:r>
            <a:r>
              <a:rPr lang="zh-CN" altLang="en-US" b="1" dirty="0">
                <a:latin typeface="+mn-ea"/>
                <a:ea typeface="+mn-ea"/>
              </a:rPr>
              <a:t>。</a:t>
            </a:r>
            <a:endParaRPr lang="en-US" altLang="zh-CN" b="1" dirty="0">
              <a:latin typeface="+mn-ea"/>
              <a:ea typeface="+mn-ea"/>
            </a:endParaRPr>
          </a:p>
          <a:p>
            <a:pPr eaLnBrk="1" hangingPunct="1">
              <a:lnSpc>
                <a:spcPct val="150000"/>
              </a:lnSpc>
            </a:pPr>
            <a:r>
              <a:rPr lang="zh-CN" altLang="en-US" b="1" dirty="0">
                <a:latin typeface="+mn-ea"/>
                <a:ea typeface="+mn-ea"/>
              </a:rPr>
              <a:t>此时</a:t>
            </a:r>
          </a:p>
        </p:txBody>
      </p:sp>
      <mc:AlternateContent xmlns:mc="http://schemas.openxmlformats.org/markup-compatibility/2006" xmlns:a14="http://schemas.microsoft.com/office/drawing/2010/main">
        <mc:Choice Requires="a14">
          <p:sp>
            <p:nvSpPr>
              <p:cNvPr id="322567" name="Object 7">
                <a:extLst>
                  <a:ext uri="{FF2B5EF4-FFF2-40B4-BE49-F238E27FC236}">
                    <a16:creationId xmlns:a16="http://schemas.microsoft.com/office/drawing/2014/main" id="{F2B0BD2D-FB2B-8135-B579-D5C002C2544A}"/>
                  </a:ext>
                </a:extLst>
              </p:cNvPr>
              <p:cNvSpPr txBox="1"/>
              <p:nvPr/>
            </p:nvSpPr>
            <p:spPr bwMode="auto">
              <a:xfrm>
                <a:off x="2201752" y="5593199"/>
                <a:ext cx="7813896" cy="96066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den>
                      </m:f>
                    </m:oMath>
                  </m:oMathPara>
                </a14:m>
                <a:endParaRPr lang="zh-CN" altLang="en-US" dirty="0"/>
              </a:p>
            </p:txBody>
          </p:sp>
        </mc:Choice>
        <mc:Fallback xmlns="">
          <p:sp>
            <p:nvSpPr>
              <p:cNvPr id="322567" name="Object 7">
                <a:extLst>
                  <a:ext uri="{FF2B5EF4-FFF2-40B4-BE49-F238E27FC236}">
                    <a16:creationId xmlns:a16="http://schemas.microsoft.com/office/drawing/2014/main" id="{F2B0BD2D-FB2B-8135-B579-D5C002C2544A}"/>
                  </a:ext>
                </a:extLst>
              </p:cNvPr>
              <p:cNvSpPr txBox="1">
                <a:spLocks noRot="1" noChangeAspect="1" noMove="1" noResize="1" noEditPoints="1" noAdjustHandles="1" noChangeArrowheads="1" noChangeShapeType="1" noTextEdit="1"/>
              </p:cNvSpPr>
              <p:nvPr/>
            </p:nvSpPr>
            <p:spPr bwMode="auto">
              <a:xfrm>
                <a:off x="2201752" y="5593199"/>
                <a:ext cx="7813896" cy="960660"/>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6" name="Rectangle 6">
            <a:extLst>
              <a:ext uri="{FF2B5EF4-FFF2-40B4-BE49-F238E27FC236}">
                <a16:creationId xmlns:a16="http://schemas.microsoft.com/office/drawing/2014/main" id="{C64134B0-1FF2-1438-02BA-91B02CED2462}"/>
              </a:ext>
            </a:extLst>
          </p:cNvPr>
          <p:cNvSpPr>
            <a:spLocks noChangeArrowheads="1"/>
          </p:cNvSpPr>
          <p:nvPr/>
        </p:nvSpPr>
        <p:spPr bwMode="auto">
          <a:xfrm>
            <a:off x="7664190" y="3382923"/>
            <a:ext cx="4283970"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ea typeface="黑体" panose="02010609060101010101" pitchFamily="49" charset="-122"/>
              </a:rPr>
              <a:t>t</a:t>
            </a:r>
            <a:r>
              <a:rPr lang="en-US" altLang="zh-CN" b="1" baseline="-25000" dirty="0">
                <a:ea typeface="黑体" panose="02010609060101010101" pitchFamily="49" charset="-122"/>
              </a:rPr>
              <a:t>1</a:t>
            </a:r>
            <a:r>
              <a:rPr lang="en-US" altLang="zh-CN" b="1" dirty="0">
                <a:ea typeface="黑体" panose="02010609060101010101" pitchFamily="49" charset="-122"/>
              </a:rPr>
              <a:t>,t</a:t>
            </a:r>
            <a:r>
              <a:rPr lang="en-US" altLang="zh-CN" b="1" baseline="-25000" dirty="0">
                <a:ea typeface="黑体" panose="02010609060101010101" pitchFamily="49" charset="-122"/>
              </a:rPr>
              <a:t>2</a:t>
            </a:r>
            <a:r>
              <a:rPr lang="en-US" altLang="zh-CN" b="1" dirty="0">
                <a:ea typeface="黑体" panose="02010609060101010101" pitchFamily="49" charset="-122"/>
              </a:rPr>
              <a:t>,…,</a:t>
            </a:r>
            <a:r>
              <a:rPr lang="en-US" altLang="zh-CN" b="1" dirty="0" err="1">
                <a:ea typeface="黑体" panose="02010609060101010101" pitchFamily="49" charset="-122"/>
              </a:rPr>
              <a:t>t</a:t>
            </a:r>
            <a:r>
              <a:rPr lang="en-US" altLang="zh-CN" b="1" baseline="-25000" dirty="0" err="1">
                <a:ea typeface="黑体" panose="02010609060101010101" pitchFamily="49" charset="-122"/>
              </a:rPr>
              <a:t>n</a:t>
            </a:r>
            <a:r>
              <a:rPr lang="en-US" altLang="zh-CN" b="1" dirty="0" err="1">
                <a:ea typeface="黑体" panose="02010609060101010101" pitchFamily="49" charset="-122"/>
                <a:sym typeface="Symbol" panose="05050102010706020507" pitchFamily="18" charset="2"/>
              </a:rPr>
              <a:t></a:t>
            </a:r>
            <a:r>
              <a:rPr lang="en-US" altLang="zh-CN" b="1" dirty="0" err="1">
                <a:ea typeface="黑体" panose="02010609060101010101" pitchFamily="49" charset="-122"/>
              </a:rPr>
              <a:t>T</a:t>
            </a:r>
            <a:r>
              <a:rPr lang="zh-CN" altLang="en-US" b="1" dirty="0">
                <a:ea typeface="黑体" panose="02010609060101010101" pitchFamily="49" charset="-122"/>
              </a:rPr>
              <a:t>；</a:t>
            </a:r>
            <a:r>
              <a:rPr lang="en-US" altLang="zh-CN" b="1" dirty="0">
                <a:ea typeface="黑体" panose="02010609060101010101" pitchFamily="49" charset="-122"/>
              </a:rPr>
              <a:t>x</a:t>
            </a:r>
            <a:r>
              <a:rPr lang="en-US" altLang="zh-CN" b="1" baseline="-25000" dirty="0">
                <a:ea typeface="黑体" panose="02010609060101010101" pitchFamily="49" charset="-122"/>
              </a:rPr>
              <a:t>1</a:t>
            </a:r>
            <a:r>
              <a:rPr lang="en-US" altLang="zh-CN" b="1" dirty="0">
                <a:ea typeface="黑体" panose="02010609060101010101" pitchFamily="49" charset="-122"/>
              </a:rPr>
              <a:t>,x</a:t>
            </a:r>
            <a:r>
              <a:rPr lang="en-US" altLang="zh-CN" b="1" baseline="-25000" dirty="0">
                <a:ea typeface="黑体" panose="02010609060101010101" pitchFamily="49" charset="-122"/>
              </a:rPr>
              <a:t>2</a:t>
            </a:r>
            <a:r>
              <a:rPr lang="en-US" altLang="zh-CN" b="1" dirty="0">
                <a:ea typeface="黑体" panose="02010609060101010101" pitchFamily="49" charset="-122"/>
              </a:rPr>
              <a:t>,…,</a:t>
            </a:r>
            <a:r>
              <a:rPr lang="en-US" altLang="zh-CN" b="1" dirty="0" err="1">
                <a:ea typeface="黑体" panose="02010609060101010101" pitchFamily="49" charset="-122"/>
              </a:rPr>
              <a:t>x</a:t>
            </a:r>
            <a:r>
              <a:rPr lang="en-US" altLang="zh-CN" b="1" baseline="-25000" dirty="0" err="1">
                <a:ea typeface="黑体" panose="02010609060101010101" pitchFamily="49" charset="-122"/>
              </a:rPr>
              <a:t>n</a:t>
            </a:r>
            <a:r>
              <a:rPr lang="en-US" altLang="zh-CN" b="1" dirty="0" err="1">
                <a:ea typeface="黑体" panose="02010609060101010101" pitchFamily="49" charset="-122"/>
                <a:sym typeface="Symbol" panose="05050102010706020507" pitchFamily="18" charset="2"/>
              </a:rPr>
              <a:t>R</a:t>
            </a:r>
            <a:endParaRPr lang="zh-CN" altLang="en-US" b="1"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 calcmode="lin" valueType="num">
                                      <p:cBhvr additive="base">
                                        <p:cTn id="7" dur="500" fill="hold"/>
                                        <p:tgtEl>
                                          <p:spTgt spid="322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25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322565"/>
                                        </p:tgtEl>
                                        <p:attrNameLst>
                                          <p:attrName>style.visibility</p:attrName>
                                        </p:attrNameLst>
                                      </p:cBhvr>
                                      <p:to>
                                        <p:strVal val="visible"/>
                                      </p:to>
                                    </p:set>
                                    <p:animEffect transition="in" filter="randombar(horizontal)">
                                      <p:cBhvr>
                                        <p:cTn id="13" dur="500"/>
                                        <p:tgtEl>
                                          <p:spTgt spid="322565"/>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322566"/>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322567"/>
                                        </p:tgtEl>
                                        <p:attrNameLst>
                                          <p:attrName>style.visibility</p:attrName>
                                        </p:attrNameLst>
                                      </p:cBhvr>
                                      <p:to>
                                        <p:strVal val="visible"/>
                                      </p:to>
                                    </p:set>
                                    <p:animEffect transition="in" filter="randombar(horizontal)">
                                      <p:cBhvr>
                                        <p:cTn id="24" dur="500"/>
                                        <p:tgtEl>
                                          <p:spTgt spid="322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P spid="322565" grpId="0"/>
      <p:bldP spid="322566" grpId="0" autoUpdateAnimBg="0"/>
      <p:bldP spid="322567" grpId="0"/>
      <p:bldP spid="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a:extLst>
              <a:ext uri="{FF2B5EF4-FFF2-40B4-BE49-F238E27FC236}">
                <a16:creationId xmlns:a16="http://schemas.microsoft.com/office/drawing/2014/main" id="{CC2C8C76-B37D-25C1-B124-954ABE982D48}"/>
              </a:ext>
            </a:extLst>
          </p:cNvPr>
          <p:cNvSpPr>
            <a:spLocks noGrp="1" noChangeArrowheads="1"/>
          </p:cNvSpPr>
          <p:nvPr>
            <p:ph type="title"/>
          </p:nvPr>
        </p:nvSpPr>
        <p:spPr/>
        <p:txBody>
          <a:bodyPr/>
          <a:lstStyle/>
          <a:p>
            <a:pPr eaLnBrk="1" hangingPunct="1"/>
            <a:r>
              <a:rPr lang="en-US" altLang="zh-CN"/>
              <a:t>n+m</a:t>
            </a:r>
            <a:r>
              <a:rPr lang="zh-CN" altLang="en-US"/>
              <a:t>维联合分布函数</a:t>
            </a:r>
          </a:p>
        </p:txBody>
      </p:sp>
      <p:sp>
        <p:nvSpPr>
          <p:cNvPr id="266243" name="Rectangle 3">
            <a:extLst>
              <a:ext uri="{FF2B5EF4-FFF2-40B4-BE49-F238E27FC236}">
                <a16:creationId xmlns:a16="http://schemas.microsoft.com/office/drawing/2014/main" id="{440FDB91-A7DC-3077-D36A-4124AB9DAEAD}"/>
              </a:ext>
            </a:extLst>
          </p:cNvPr>
          <p:cNvSpPr>
            <a:spLocks noGrp="1" noChangeArrowheads="1"/>
          </p:cNvSpPr>
          <p:nvPr>
            <p:ph type="body" idx="1"/>
          </p:nvPr>
        </p:nvSpPr>
        <p:spPr>
          <a:xfrm>
            <a:off x="460375" y="1143794"/>
            <a:ext cx="11125200" cy="5222496"/>
          </a:xfrm>
        </p:spPr>
        <p:txBody>
          <a:bodyPr>
            <a:normAutofit/>
          </a:bodyPr>
          <a:lstStyle/>
          <a:p>
            <a:pPr marL="342969" indent="-342969">
              <a:lnSpc>
                <a:spcPct val="200000"/>
              </a:lnSpc>
              <a:spcBef>
                <a:spcPct val="10000"/>
              </a:spcBef>
              <a:buNone/>
            </a:pPr>
            <a:r>
              <a:rPr lang="en-US" altLang="zh-CN" kern="0" dirty="0"/>
              <a:t>    </a:t>
            </a:r>
            <a:r>
              <a:rPr lang="zh-CN" altLang="en-US" kern="0" dirty="0"/>
              <a:t>设</a:t>
            </a:r>
            <a:r>
              <a:rPr lang="en-US" altLang="zh-CN" kern="0" dirty="0"/>
              <a:t>{X(t),</a:t>
            </a:r>
            <a:r>
              <a:rPr lang="en-US" altLang="zh-CN" kern="0" dirty="0" err="1"/>
              <a:t>t</a:t>
            </a:r>
            <a:r>
              <a:rPr lang="en-US" altLang="zh-CN" kern="0" dirty="0" err="1">
                <a:sym typeface="Symbol" panose="05050102010706020507" pitchFamily="18" charset="2"/>
              </a:rPr>
              <a:t></a:t>
            </a:r>
            <a:r>
              <a:rPr lang="en-US" altLang="zh-CN" kern="0" dirty="0" err="1"/>
              <a:t>T</a:t>
            </a:r>
            <a:r>
              <a:rPr lang="en-US" altLang="zh-CN" kern="0" dirty="0"/>
              <a:t>}</a:t>
            </a:r>
            <a:r>
              <a:rPr lang="zh-CN" altLang="en-US" kern="0" dirty="0"/>
              <a:t>和</a:t>
            </a:r>
            <a:r>
              <a:rPr lang="en-US" altLang="zh-CN" kern="0" dirty="0"/>
              <a:t>{Y(t),</a:t>
            </a:r>
            <a:r>
              <a:rPr lang="en-US" altLang="zh-CN" kern="0" dirty="0" err="1"/>
              <a:t>t</a:t>
            </a:r>
            <a:r>
              <a:rPr lang="en-US" altLang="zh-CN" kern="0" dirty="0" err="1">
                <a:sym typeface="Symbol" panose="05050102010706020507" pitchFamily="18" charset="2"/>
              </a:rPr>
              <a:t></a:t>
            </a:r>
            <a:r>
              <a:rPr lang="en-US" altLang="zh-CN" kern="0" dirty="0" err="1"/>
              <a:t>T</a:t>
            </a:r>
            <a:r>
              <a:rPr lang="en-US" altLang="zh-CN" kern="0" dirty="0"/>
              <a:t>}</a:t>
            </a:r>
            <a:r>
              <a:rPr lang="zh-CN" altLang="en-US" kern="0" dirty="0"/>
              <a:t>是两个随机过程，对任意</a:t>
            </a:r>
            <a:r>
              <a:rPr lang="en-US" altLang="zh-CN" kern="0" dirty="0"/>
              <a:t>s</a:t>
            </a:r>
            <a:r>
              <a:rPr lang="en-US" altLang="zh-CN" kern="0" baseline="-25000" dirty="0"/>
              <a:t>1</a:t>
            </a:r>
            <a:r>
              <a:rPr lang="en-US" altLang="zh-CN" kern="0" dirty="0"/>
              <a:t>,s</a:t>
            </a:r>
            <a:r>
              <a:rPr lang="en-US" altLang="zh-CN" kern="0" baseline="-25000" dirty="0"/>
              <a:t>2</a:t>
            </a:r>
            <a:r>
              <a:rPr lang="en-US" altLang="zh-CN" kern="0" dirty="0"/>
              <a:t>,…,s</a:t>
            </a:r>
            <a:r>
              <a:rPr lang="en-US" altLang="zh-CN" kern="0" baseline="-25000" dirty="0"/>
              <a:t>n</a:t>
            </a:r>
            <a:r>
              <a:rPr lang="en-US" altLang="zh-CN" kern="0" dirty="0">
                <a:sym typeface="Symbol" panose="05050102010706020507" pitchFamily="18" charset="2"/>
              </a:rPr>
              <a:t>,</a:t>
            </a:r>
            <a:r>
              <a:rPr lang="en-US" altLang="zh-CN" kern="0" dirty="0"/>
              <a:t>t</a:t>
            </a:r>
            <a:r>
              <a:rPr lang="en-US" altLang="zh-CN" kern="0" baseline="-25000" dirty="0"/>
              <a:t>1</a:t>
            </a:r>
            <a:r>
              <a:rPr lang="en-US" altLang="zh-CN" kern="0" dirty="0"/>
              <a:t>,t</a:t>
            </a:r>
            <a:r>
              <a:rPr lang="en-US" altLang="zh-CN" kern="0" baseline="-25000" dirty="0"/>
              <a:t>2</a:t>
            </a:r>
            <a:r>
              <a:rPr lang="en-US" altLang="zh-CN" kern="0" dirty="0"/>
              <a:t>,…,</a:t>
            </a:r>
            <a:r>
              <a:rPr lang="en-US" altLang="zh-CN" kern="0" dirty="0" err="1"/>
              <a:t>t</a:t>
            </a:r>
            <a:r>
              <a:rPr lang="en-US" altLang="zh-CN" kern="0" baseline="-25000" dirty="0" err="1"/>
              <a:t>m</a:t>
            </a:r>
            <a:r>
              <a:rPr lang="en-US" altLang="zh-CN" kern="0" dirty="0" err="1">
                <a:sym typeface="Symbol" panose="05050102010706020507" pitchFamily="18" charset="2"/>
              </a:rPr>
              <a:t></a:t>
            </a:r>
            <a:r>
              <a:rPr lang="en-US" altLang="zh-CN" kern="0" dirty="0" err="1"/>
              <a:t>T</a:t>
            </a:r>
            <a:r>
              <a:rPr lang="zh-CN" altLang="en-US" kern="0" dirty="0"/>
              <a:t>，</a:t>
            </a:r>
            <a:endParaRPr lang="en-US" altLang="zh-CN" kern="0" dirty="0"/>
          </a:p>
          <a:p>
            <a:pPr marL="342969" indent="-342969">
              <a:lnSpc>
                <a:spcPct val="200000"/>
              </a:lnSpc>
              <a:spcBef>
                <a:spcPct val="10000"/>
              </a:spcBef>
              <a:buNone/>
            </a:pPr>
            <a:r>
              <a:rPr lang="zh-CN" altLang="en-US" kern="0" dirty="0"/>
              <a:t>把</a:t>
            </a:r>
            <a:r>
              <a:rPr lang="en-US" altLang="zh-CN" kern="0" dirty="0" err="1"/>
              <a:t>n+m</a:t>
            </a:r>
            <a:r>
              <a:rPr lang="zh-CN" altLang="en-US" kern="0" dirty="0"/>
              <a:t>维随机变量</a:t>
            </a:r>
            <a:r>
              <a:rPr lang="en-US" altLang="zh-CN" kern="0" dirty="0"/>
              <a:t>(X(s</a:t>
            </a:r>
            <a:r>
              <a:rPr lang="en-US" altLang="zh-CN" kern="0" baseline="-25000" dirty="0"/>
              <a:t>1</a:t>
            </a:r>
            <a:r>
              <a:rPr lang="en-US" altLang="zh-CN" kern="0" dirty="0"/>
              <a:t>),X(s</a:t>
            </a:r>
            <a:r>
              <a:rPr lang="en-US" altLang="zh-CN" kern="0" baseline="-25000" dirty="0"/>
              <a:t>2</a:t>
            </a:r>
            <a:r>
              <a:rPr lang="en-US" altLang="zh-CN" kern="0" dirty="0"/>
              <a:t>),…,X(</a:t>
            </a:r>
            <a:r>
              <a:rPr lang="en-US" altLang="zh-CN" kern="0" dirty="0" err="1"/>
              <a:t>s</a:t>
            </a:r>
            <a:r>
              <a:rPr lang="en-US" altLang="zh-CN" kern="0" baseline="-25000" dirty="0" err="1"/>
              <a:t>n</a:t>
            </a:r>
            <a:r>
              <a:rPr lang="en-US" altLang="zh-CN" kern="0" dirty="0"/>
              <a:t>),Y(t</a:t>
            </a:r>
            <a:r>
              <a:rPr lang="en-US" altLang="zh-CN" kern="0" baseline="-25000" dirty="0"/>
              <a:t>1</a:t>
            </a:r>
            <a:r>
              <a:rPr lang="en-US" altLang="zh-CN" kern="0" dirty="0"/>
              <a:t>),Y(t</a:t>
            </a:r>
            <a:r>
              <a:rPr lang="en-US" altLang="zh-CN" kern="0" baseline="-25000" dirty="0"/>
              <a:t>2</a:t>
            </a:r>
            <a:r>
              <a:rPr lang="en-US" altLang="zh-CN" kern="0" dirty="0"/>
              <a:t>),…,Y(t</a:t>
            </a:r>
            <a:r>
              <a:rPr lang="en-US" altLang="zh-CN" kern="0" baseline="-25000" dirty="0"/>
              <a:t>m</a:t>
            </a:r>
            <a:r>
              <a:rPr lang="en-US" altLang="zh-CN" kern="0" dirty="0"/>
              <a:t>))</a:t>
            </a:r>
            <a:r>
              <a:rPr lang="zh-CN" altLang="en-US" kern="0" dirty="0"/>
              <a:t>的联合分布函数</a:t>
            </a:r>
          </a:p>
          <a:p>
            <a:pPr marL="342969" indent="-342969">
              <a:lnSpc>
                <a:spcPct val="200000"/>
              </a:lnSpc>
              <a:spcBef>
                <a:spcPct val="10000"/>
              </a:spcBef>
              <a:buNone/>
            </a:pPr>
            <a:r>
              <a:rPr lang="zh-CN" altLang="en-US" kern="0" dirty="0">
                <a:solidFill>
                  <a:srgbClr val="FF9900"/>
                </a:solidFill>
              </a:rPr>
              <a:t>	</a:t>
            </a:r>
            <a:r>
              <a:rPr lang="en-US" altLang="zh-CN" kern="0" dirty="0">
                <a:solidFill>
                  <a:srgbClr val="CC00CC"/>
                </a:solidFill>
              </a:rPr>
              <a:t>F</a:t>
            </a:r>
            <a:r>
              <a:rPr lang="en-US" altLang="zh-CN" kern="0" baseline="-25000" dirty="0">
                <a:solidFill>
                  <a:srgbClr val="CC00CC"/>
                </a:solidFill>
              </a:rPr>
              <a:t>XY</a:t>
            </a:r>
            <a:r>
              <a:rPr lang="en-US" altLang="zh-CN" kern="0" dirty="0">
                <a:solidFill>
                  <a:srgbClr val="CC00CC"/>
                </a:solidFill>
              </a:rPr>
              <a:t>(s</a:t>
            </a:r>
            <a:r>
              <a:rPr lang="en-US" altLang="zh-CN" kern="0" baseline="-25000" dirty="0">
                <a:solidFill>
                  <a:srgbClr val="CC00CC"/>
                </a:solidFill>
              </a:rPr>
              <a:t>1</a:t>
            </a:r>
            <a:r>
              <a:rPr lang="en-US" altLang="zh-CN" kern="0" dirty="0">
                <a:solidFill>
                  <a:srgbClr val="CC00CC"/>
                </a:solidFill>
              </a:rPr>
              <a:t>,s</a:t>
            </a:r>
            <a:r>
              <a:rPr lang="en-US" altLang="zh-CN" kern="0" baseline="-25000" dirty="0">
                <a:solidFill>
                  <a:srgbClr val="CC00CC"/>
                </a:solidFill>
              </a:rPr>
              <a:t>2</a:t>
            </a:r>
            <a:r>
              <a:rPr lang="en-US" altLang="zh-CN" kern="0" dirty="0">
                <a:solidFill>
                  <a:srgbClr val="CC00CC"/>
                </a:solidFill>
              </a:rPr>
              <a:t>,…,s</a:t>
            </a:r>
            <a:r>
              <a:rPr lang="en-US" altLang="zh-CN" kern="0" baseline="-25000" dirty="0">
                <a:solidFill>
                  <a:srgbClr val="CC00CC"/>
                </a:solidFill>
              </a:rPr>
              <a:t>n</a:t>
            </a:r>
            <a:r>
              <a:rPr lang="en-US" altLang="zh-CN" kern="0" dirty="0">
                <a:solidFill>
                  <a:srgbClr val="CC00CC"/>
                </a:solidFill>
                <a:sym typeface="Symbol" panose="05050102010706020507" pitchFamily="18" charset="2"/>
              </a:rPr>
              <a:t>,</a:t>
            </a:r>
            <a:r>
              <a:rPr lang="en-US" altLang="zh-CN" kern="0" dirty="0">
                <a:solidFill>
                  <a:srgbClr val="CC00CC"/>
                </a:solidFill>
              </a:rPr>
              <a:t>t</a:t>
            </a:r>
            <a:r>
              <a:rPr lang="en-US" altLang="zh-CN" kern="0" baseline="-25000" dirty="0">
                <a:solidFill>
                  <a:srgbClr val="CC00CC"/>
                </a:solidFill>
              </a:rPr>
              <a:t>1</a:t>
            </a:r>
            <a:r>
              <a:rPr lang="en-US" altLang="zh-CN" kern="0" dirty="0">
                <a:solidFill>
                  <a:srgbClr val="CC00CC"/>
                </a:solidFill>
              </a:rPr>
              <a:t>,t</a:t>
            </a:r>
            <a:r>
              <a:rPr lang="en-US" altLang="zh-CN" kern="0" baseline="-25000" dirty="0">
                <a:solidFill>
                  <a:srgbClr val="CC00CC"/>
                </a:solidFill>
              </a:rPr>
              <a:t>2</a:t>
            </a:r>
            <a:r>
              <a:rPr lang="en-US" altLang="zh-CN" kern="0" dirty="0">
                <a:solidFill>
                  <a:srgbClr val="CC00CC"/>
                </a:solidFill>
              </a:rPr>
              <a:t>,…,t</a:t>
            </a:r>
            <a:r>
              <a:rPr lang="en-US" altLang="zh-CN" kern="0" baseline="-25000" dirty="0">
                <a:solidFill>
                  <a:srgbClr val="CC00CC"/>
                </a:solidFill>
              </a:rPr>
              <a:t>m</a:t>
            </a:r>
            <a:r>
              <a:rPr lang="en-US" altLang="zh-CN" kern="0" dirty="0">
                <a:solidFill>
                  <a:srgbClr val="CC00CC"/>
                </a:solidFill>
              </a:rPr>
              <a:t>;x</a:t>
            </a:r>
            <a:r>
              <a:rPr lang="en-US" altLang="zh-CN" kern="0" baseline="-25000" dirty="0">
                <a:solidFill>
                  <a:srgbClr val="CC00CC"/>
                </a:solidFill>
              </a:rPr>
              <a:t>1</a:t>
            </a:r>
            <a:r>
              <a:rPr lang="en-US" altLang="zh-CN" kern="0" dirty="0">
                <a:solidFill>
                  <a:srgbClr val="CC00CC"/>
                </a:solidFill>
              </a:rPr>
              <a:t>,x</a:t>
            </a:r>
            <a:r>
              <a:rPr lang="en-US" altLang="zh-CN" kern="0" baseline="-25000" dirty="0">
                <a:solidFill>
                  <a:srgbClr val="CC00CC"/>
                </a:solidFill>
              </a:rPr>
              <a:t>2</a:t>
            </a:r>
            <a:r>
              <a:rPr lang="en-US" altLang="zh-CN" kern="0" dirty="0">
                <a:solidFill>
                  <a:srgbClr val="CC00CC"/>
                </a:solidFill>
              </a:rPr>
              <a:t>,…,x</a:t>
            </a:r>
            <a:r>
              <a:rPr lang="en-US" altLang="zh-CN" kern="0" baseline="-25000" dirty="0">
                <a:solidFill>
                  <a:srgbClr val="CC00CC"/>
                </a:solidFill>
              </a:rPr>
              <a:t>n</a:t>
            </a:r>
            <a:r>
              <a:rPr lang="en-US" altLang="zh-CN" kern="0" dirty="0">
                <a:solidFill>
                  <a:srgbClr val="CC00CC"/>
                </a:solidFill>
              </a:rPr>
              <a:t>,y</a:t>
            </a:r>
            <a:r>
              <a:rPr lang="en-US" altLang="zh-CN" kern="0" baseline="-25000" dirty="0">
                <a:solidFill>
                  <a:srgbClr val="CC00CC"/>
                </a:solidFill>
              </a:rPr>
              <a:t>1</a:t>
            </a:r>
            <a:r>
              <a:rPr lang="en-US" altLang="zh-CN" kern="0" dirty="0">
                <a:solidFill>
                  <a:srgbClr val="CC00CC"/>
                </a:solidFill>
              </a:rPr>
              <a:t>,y</a:t>
            </a:r>
            <a:r>
              <a:rPr lang="en-US" altLang="zh-CN" kern="0" baseline="-25000" dirty="0">
                <a:solidFill>
                  <a:srgbClr val="CC00CC"/>
                </a:solidFill>
              </a:rPr>
              <a:t>2</a:t>
            </a:r>
            <a:r>
              <a:rPr lang="en-US" altLang="zh-CN" kern="0" dirty="0">
                <a:solidFill>
                  <a:srgbClr val="CC00CC"/>
                </a:solidFill>
              </a:rPr>
              <a:t>,…,</a:t>
            </a:r>
            <a:r>
              <a:rPr lang="en-US" altLang="zh-CN" kern="0" dirty="0" err="1">
                <a:solidFill>
                  <a:srgbClr val="CC00CC"/>
                </a:solidFill>
              </a:rPr>
              <a:t>y</a:t>
            </a:r>
            <a:r>
              <a:rPr lang="en-US" altLang="zh-CN" kern="0" baseline="-25000" dirty="0" err="1">
                <a:solidFill>
                  <a:srgbClr val="CC00CC"/>
                </a:solidFill>
              </a:rPr>
              <a:t>m</a:t>
            </a:r>
            <a:r>
              <a:rPr lang="en-US" altLang="zh-CN" kern="0" dirty="0">
                <a:solidFill>
                  <a:srgbClr val="CC00CC"/>
                </a:solidFill>
              </a:rPr>
              <a:t>)</a:t>
            </a:r>
          </a:p>
          <a:p>
            <a:pPr marL="342969" indent="-342969">
              <a:lnSpc>
                <a:spcPct val="200000"/>
              </a:lnSpc>
              <a:spcBef>
                <a:spcPct val="10000"/>
              </a:spcBef>
              <a:buNone/>
            </a:pPr>
            <a:r>
              <a:rPr lang="zh-CN" altLang="en-US" kern="0" dirty="0">
                <a:solidFill>
                  <a:srgbClr val="CC00CC"/>
                </a:solidFill>
              </a:rPr>
              <a:t>    ＝</a:t>
            </a:r>
            <a:r>
              <a:rPr lang="en-US" altLang="zh-CN" kern="0" dirty="0">
                <a:solidFill>
                  <a:srgbClr val="CC00CC"/>
                </a:solidFill>
              </a:rPr>
              <a:t>P{X(s</a:t>
            </a:r>
            <a:r>
              <a:rPr lang="en-US" altLang="zh-CN" kern="0" baseline="-25000" dirty="0">
                <a:solidFill>
                  <a:srgbClr val="CC00CC"/>
                </a:solidFill>
              </a:rPr>
              <a:t>1</a:t>
            </a:r>
            <a:r>
              <a:rPr lang="en-US" altLang="zh-CN" kern="0" dirty="0">
                <a:solidFill>
                  <a:srgbClr val="CC00CC"/>
                </a:solidFill>
              </a:rPr>
              <a:t>)&lt;x</a:t>
            </a:r>
            <a:r>
              <a:rPr lang="en-US" altLang="zh-CN" kern="0" baseline="-25000" dirty="0">
                <a:solidFill>
                  <a:srgbClr val="CC00CC"/>
                </a:solidFill>
              </a:rPr>
              <a:t>1</a:t>
            </a:r>
            <a:r>
              <a:rPr lang="en-US" altLang="zh-CN" kern="0" dirty="0">
                <a:solidFill>
                  <a:srgbClr val="CC00CC"/>
                </a:solidFill>
              </a:rPr>
              <a:t>,X(s</a:t>
            </a:r>
            <a:r>
              <a:rPr lang="en-US" altLang="zh-CN" kern="0" baseline="-25000" dirty="0">
                <a:solidFill>
                  <a:srgbClr val="CC00CC"/>
                </a:solidFill>
              </a:rPr>
              <a:t>2</a:t>
            </a:r>
            <a:r>
              <a:rPr lang="en-US" altLang="zh-CN" kern="0" dirty="0">
                <a:solidFill>
                  <a:srgbClr val="CC00CC"/>
                </a:solidFill>
              </a:rPr>
              <a:t>)&lt;x</a:t>
            </a:r>
            <a:r>
              <a:rPr lang="en-US" altLang="zh-CN" kern="0" baseline="-25000" dirty="0">
                <a:solidFill>
                  <a:srgbClr val="CC00CC"/>
                </a:solidFill>
              </a:rPr>
              <a:t>2</a:t>
            </a:r>
            <a:r>
              <a:rPr lang="en-US" altLang="zh-CN" kern="0" dirty="0">
                <a:solidFill>
                  <a:srgbClr val="CC00CC"/>
                </a:solidFill>
              </a:rPr>
              <a:t>,…,X(</a:t>
            </a:r>
            <a:r>
              <a:rPr lang="en-US" altLang="zh-CN" kern="0" dirty="0" err="1">
                <a:solidFill>
                  <a:srgbClr val="CC00CC"/>
                </a:solidFill>
              </a:rPr>
              <a:t>s</a:t>
            </a:r>
            <a:r>
              <a:rPr lang="en-US" altLang="zh-CN" kern="0" baseline="-25000" dirty="0" err="1">
                <a:solidFill>
                  <a:srgbClr val="CC00CC"/>
                </a:solidFill>
              </a:rPr>
              <a:t>n</a:t>
            </a:r>
            <a:r>
              <a:rPr lang="en-US" altLang="zh-CN" kern="0" dirty="0">
                <a:solidFill>
                  <a:srgbClr val="CC00CC"/>
                </a:solidFill>
              </a:rPr>
              <a:t>)&lt;</a:t>
            </a:r>
            <a:r>
              <a:rPr lang="en-US" altLang="zh-CN" kern="0" dirty="0" err="1">
                <a:solidFill>
                  <a:srgbClr val="CC00CC"/>
                </a:solidFill>
              </a:rPr>
              <a:t>x</a:t>
            </a:r>
            <a:r>
              <a:rPr lang="en-US" altLang="zh-CN" kern="0" baseline="-25000" dirty="0" err="1">
                <a:solidFill>
                  <a:srgbClr val="CC00CC"/>
                </a:solidFill>
              </a:rPr>
              <a:t>n</a:t>
            </a:r>
            <a:r>
              <a:rPr lang="en-US" altLang="zh-CN" kern="0" dirty="0" err="1">
                <a:solidFill>
                  <a:srgbClr val="CC00CC"/>
                </a:solidFill>
              </a:rPr>
              <a:t>,Y</a:t>
            </a:r>
            <a:r>
              <a:rPr lang="en-US" altLang="zh-CN" kern="0" dirty="0">
                <a:solidFill>
                  <a:srgbClr val="CC00CC"/>
                </a:solidFill>
              </a:rPr>
              <a:t>(t</a:t>
            </a:r>
            <a:r>
              <a:rPr lang="en-US" altLang="zh-CN" kern="0" baseline="-25000" dirty="0">
                <a:solidFill>
                  <a:srgbClr val="CC00CC"/>
                </a:solidFill>
              </a:rPr>
              <a:t>1</a:t>
            </a:r>
            <a:r>
              <a:rPr lang="en-US" altLang="zh-CN" kern="0" dirty="0">
                <a:solidFill>
                  <a:srgbClr val="CC00CC"/>
                </a:solidFill>
              </a:rPr>
              <a:t>)&lt;y</a:t>
            </a:r>
            <a:r>
              <a:rPr lang="en-US" altLang="zh-CN" kern="0" baseline="-25000" dirty="0">
                <a:solidFill>
                  <a:srgbClr val="CC00CC"/>
                </a:solidFill>
              </a:rPr>
              <a:t>1</a:t>
            </a:r>
            <a:r>
              <a:rPr lang="en-US" altLang="zh-CN" kern="0" dirty="0">
                <a:solidFill>
                  <a:srgbClr val="CC00CC"/>
                </a:solidFill>
              </a:rPr>
              <a:t>,Y(t</a:t>
            </a:r>
            <a:r>
              <a:rPr lang="en-US" altLang="zh-CN" kern="0" baseline="-25000" dirty="0">
                <a:solidFill>
                  <a:srgbClr val="CC00CC"/>
                </a:solidFill>
              </a:rPr>
              <a:t>2</a:t>
            </a:r>
            <a:r>
              <a:rPr lang="en-US" altLang="zh-CN" kern="0" dirty="0">
                <a:solidFill>
                  <a:srgbClr val="CC00CC"/>
                </a:solidFill>
              </a:rPr>
              <a:t>)&lt;y</a:t>
            </a:r>
            <a:r>
              <a:rPr lang="en-US" altLang="zh-CN" kern="0" baseline="-25000" dirty="0">
                <a:solidFill>
                  <a:srgbClr val="CC00CC"/>
                </a:solidFill>
              </a:rPr>
              <a:t>2</a:t>
            </a:r>
            <a:r>
              <a:rPr lang="en-US" altLang="zh-CN" kern="0" dirty="0">
                <a:solidFill>
                  <a:srgbClr val="CC00CC"/>
                </a:solidFill>
              </a:rPr>
              <a:t>,…,Y(t</a:t>
            </a:r>
            <a:r>
              <a:rPr lang="en-US" altLang="zh-CN" kern="0" baseline="-25000" dirty="0">
                <a:solidFill>
                  <a:srgbClr val="CC00CC"/>
                </a:solidFill>
              </a:rPr>
              <a:t>m</a:t>
            </a:r>
            <a:r>
              <a:rPr lang="en-US" altLang="zh-CN" kern="0" dirty="0">
                <a:solidFill>
                  <a:srgbClr val="CC00CC"/>
                </a:solidFill>
              </a:rPr>
              <a:t>)&lt;</a:t>
            </a:r>
            <a:r>
              <a:rPr lang="en-US" altLang="zh-CN" kern="0" dirty="0" err="1">
                <a:solidFill>
                  <a:srgbClr val="CC00CC"/>
                </a:solidFill>
              </a:rPr>
              <a:t>y</a:t>
            </a:r>
            <a:r>
              <a:rPr lang="en-US" altLang="zh-CN" kern="0" baseline="-25000" dirty="0" err="1">
                <a:solidFill>
                  <a:srgbClr val="CC00CC"/>
                </a:solidFill>
              </a:rPr>
              <a:t>m</a:t>
            </a:r>
            <a:r>
              <a:rPr lang="en-US" altLang="zh-CN" kern="0" dirty="0">
                <a:solidFill>
                  <a:srgbClr val="CC00CC"/>
                </a:solidFill>
              </a:rPr>
              <a:t>}</a:t>
            </a:r>
            <a:r>
              <a:rPr lang="zh-CN" altLang="en-US" kern="0" dirty="0">
                <a:solidFill>
                  <a:srgbClr val="CC00CC"/>
                </a:solidFill>
              </a:rPr>
              <a:t>，</a:t>
            </a:r>
          </a:p>
          <a:p>
            <a:pPr marL="342969" indent="-342969">
              <a:lnSpc>
                <a:spcPct val="200000"/>
              </a:lnSpc>
              <a:spcBef>
                <a:spcPct val="10000"/>
              </a:spcBef>
              <a:buNone/>
            </a:pPr>
            <a:r>
              <a:rPr lang="en-US" altLang="zh-CN" kern="0" dirty="0">
                <a:solidFill>
                  <a:srgbClr val="CC00CC"/>
                </a:solidFill>
              </a:rPr>
              <a:t>                                                                      t</a:t>
            </a:r>
            <a:r>
              <a:rPr lang="en-US" altLang="zh-CN" kern="0" baseline="-25000" dirty="0">
                <a:solidFill>
                  <a:srgbClr val="CC00CC"/>
                </a:solidFill>
              </a:rPr>
              <a:t>1</a:t>
            </a:r>
            <a:r>
              <a:rPr lang="en-US" altLang="zh-CN" kern="0" dirty="0">
                <a:solidFill>
                  <a:srgbClr val="CC00CC"/>
                </a:solidFill>
              </a:rPr>
              <a:t>,t</a:t>
            </a:r>
            <a:r>
              <a:rPr lang="en-US" altLang="zh-CN" kern="0" baseline="-25000" dirty="0">
                <a:solidFill>
                  <a:srgbClr val="CC00CC"/>
                </a:solidFill>
              </a:rPr>
              <a:t>2</a:t>
            </a:r>
            <a:r>
              <a:rPr lang="en-US" altLang="zh-CN" kern="0" dirty="0">
                <a:solidFill>
                  <a:srgbClr val="CC00CC"/>
                </a:solidFill>
              </a:rPr>
              <a:t>,…,</a:t>
            </a:r>
            <a:r>
              <a:rPr lang="en-US" altLang="zh-CN" kern="0" dirty="0" err="1">
                <a:solidFill>
                  <a:srgbClr val="CC00CC"/>
                </a:solidFill>
              </a:rPr>
              <a:t>t</a:t>
            </a:r>
            <a:r>
              <a:rPr lang="en-US" altLang="zh-CN" kern="0" baseline="-25000" dirty="0" err="1">
                <a:solidFill>
                  <a:srgbClr val="CC00CC"/>
                </a:solidFill>
              </a:rPr>
              <a:t>n</a:t>
            </a:r>
            <a:r>
              <a:rPr lang="en-US" altLang="zh-CN" kern="0" dirty="0" err="1">
                <a:solidFill>
                  <a:srgbClr val="CC00CC"/>
                </a:solidFill>
                <a:sym typeface="Symbol" panose="05050102010706020507" pitchFamily="18" charset="2"/>
              </a:rPr>
              <a:t></a:t>
            </a:r>
            <a:r>
              <a:rPr lang="en-US" altLang="zh-CN" kern="0" dirty="0" err="1">
                <a:solidFill>
                  <a:srgbClr val="CC00CC"/>
                </a:solidFill>
              </a:rPr>
              <a:t>T</a:t>
            </a:r>
            <a:r>
              <a:rPr lang="zh-CN" altLang="en-US" kern="0" dirty="0">
                <a:solidFill>
                  <a:srgbClr val="CC00CC"/>
                </a:solidFill>
              </a:rPr>
              <a:t>，</a:t>
            </a:r>
            <a:r>
              <a:rPr lang="en-US" altLang="zh-CN" kern="0" dirty="0">
                <a:solidFill>
                  <a:srgbClr val="CC00CC"/>
                </a:solidFill>
              </a:rPr>
              <a:t>x</a:t>
            </a:r>
            <a:r>
              <a:rPr lang="en-US" altLang="zh-CN" kern="0" baseline="-25000" dirty="0">
                <a:solidFill>
                  <a:srgbClr val="CC00CC"/>
                </a:solidFill>
              </a:rPr>
              <a:t>1</a:t>
            </a:r>
            <a:r>
              <a:rPr lang="en-US" altLang="zh-CN" kern="0" dirty="0">
                <a:solidFill>
                  <a:srgbClr val="CC00CC"/>
                </a:solidFill>
              </a:rPr>
              <a:t>,x</a:t>
            </a:r>
            <a:r>
              <a:rPr lang="en-US" altLang="zh-CN" kern="0" baseline="-25000" dirty="0">
                <a:solidFill>
                  <a:srgbClr val="CC00CC"/>
                </a:solidFill>
              </a:rPr>
              <a:t>2</a:t>
            </a:r>
            <a:r>
              <a:rPr lang="en-US" altLang="zh-CN" kern="0" dirty="0">
                <a:solidFill>
                  <a:srgbClr val="CC00CC"/>
                </a:solidFill>
              </a:rPr>
              <a:t>,…,</a:t>
            </a:r>
            <a:r>
              <a:rPr lang="en-US" altLang="zh-CN" kern="0" dirty="0" err="1">
                <a:solidFill>
                  <a:srgbClr val="CC00CC"/>
                </a:solidFill>
              </a:rPr>
              <a:t>x</a:t>
            </a:r>
            <a:r>
              <a:rPr lang="en-US" altLang="zh-CN" kern="0" baseline="-25000" dirty="0" err="1">
                <a:solidFill>
                  <a:srgbClr val="CC00CC"/>
                </a:solidFill>
              </a:rPr>
              <a:t>n</a:t>
            </a:r>
            <a:r>
              <a:rPr lang="en-US" altLang="zh-CN" kern="0" dirty="0" err="1">
                <a:solidFill>
                  <a:srgbClr val="CC00CC"/>
                </a:solidFill>
                <a:sym typeface="Symbol" panose="05050102010706020507" pitchFamily="18" charset="2"/>
              </a:rPr>
              <a:t>R</a:t>
            </a:r>
            <a:endParaRPr lang="en-US" altLang="zh-CN" kern="0" dirty="0">
              <a:solidFill>
                <a:srgbClr val="CC00CC"/>
              </a:solidFill>
            </a:endParaRPr>
          </a:p>
          <a:p>
            <a:pPr marL="342969" indent="-342969">
              <a:lnSpc>
                <a:spcPct val="200000"/>
              </a:lnSpc>
              <a:spcBef>
                <a:spcPct val="10000"/>
              </a:spcBef>
              <a:buNone/>
            </a:pPr>
            <a:r>
              <a:rPr lang="zh-CN" altLang="en-US" kern="0" dirty="0"/>
              <a:t>称为</a:t>
            </a:r>
            <a:r>
              <a:rPr lang="zh-CN" altLang="en-US" kern="0" dirty="0">
                <a:solidFill>
                  <a:srgbClr val="0000FF"/>
                </a:solidFill>
              </a:rPr>
              <a:t>随机过程</a:t>
            </a:r>
            <a:r>
              <a:rPr lang="en-US" altLang="zh-CN" kern="0" dirty="0">
                <a:solidFill>
                  <a:srgbClr val="0000FF"/>
                </a:solidFill>
              </a:rPr>
              <a:t>{X(t),</a:t>
            </a:r>
            <a:r>
              <a:rPr lang="en-US" altLang="zh-CN" kern="0" dirty="0" err="1">
                <a:solidFill>
                  <a:srgbClr val="0000FF"/>
                </a:solidFill>
              </a:rPr>
              <a:t>t</a:t>
            </a:r>
            <a:r>
              <a:rPr lang="en-US" altLang="zh-CN" kern="0" dirty="0" err="1">
                <a:solidFill>
                  <a:srgbClr val="0000FF"/>
                </a:solidFill>
                <a:sym typeface="Symbol" panose="05050102010706020507" pitchFamily="18" charset="2"/>
              </a:rPr>
              <a:t></a:t>
            </a:r>
            <a:r>
              <a:rPr lang="en-US" altLang="zh-CN" kern="0" dirty="0" err="1">
                <a:solidFill>
                  <a:srgbClr val="0000FF"/>
                </a:solidFill>
              </a:rPr>
              <a:t>T</a:t>
            </a:r>
            <a:r>
              <a:rPr lang="en-US" altLang="zh-CN" kern="0" dirty="0">
                <a:solidFill>
                  <a:srgbClr val="0000FF"/>
                </a:solidFill>
              </a:rPr>
              <a:t>}</a:t>
            </a:r>
            <a:r>
              <a:rPr lang="zh-CN" altLang="en-US" kern="0" dirty="0">
                <a:solidFill>
                  <a:srgbClr val="0000FF"/>
                </a:solidFill>
              </a:rPr>
              <a:t>和</a:t>
            </a:r>
            <a:r>
              <a:rPr lang="en-US" altLang="zh-CN" kern="0" dirty="0">
                <a:solidFill>
                  <a:srgbClr val="0000FF"/>
                </a:solidFill>
              </a:rPr>
              <a:t>{Y(t),</a:t>
            </a:r>
            <a:r>
              <a:rPr lang="en-US" altLang="zh-CN" kern="0" dirty="0" err="1">
                <a:solidFill>
                  <a:srgbClr val="0000FF"/>
                </a:solidFill>
              </a:rPr>
              <a:t>t</a:t>
            </a:r>
            <a:r>
              <a:rPr lang="en-US" altLang="zh-CN" kern="0" dirty="0" err="1">
                <a:solidFill>
                  <a:srgbClr val="0000FF"/>
                </a:solidFill>
                <a:sym typeface="Symbol" panose="05050102010706020507" pitchFamily="18" charset="2"/>
              </a:rPr>
              <a:t></a:t>
            </a:r>
            <a:r>
              <a:rPr lang="en-US" altLang="zh-CN" kern="0" dirty="0" err="1">
                <a:solidFill>
                  <a:srgbClr val="0000FF"/>
                </a:solidFill>
              </a:rPr>
              <a:t>T</a:t>
            </a:r>
            <a:r>
              <a:rPr lang="en-US" altLang="zh-CN" kern="0" dirty="0">
                <a:solidFill>
                  <a:srgbClr val="0000FF"/>
                </a:solidFill>
              </a:rPr>
              <a:t>}</a:t>
            </a:r>
            <a:r>
              <a:rPr lang="zh-CN" altLang="en-US" kern="0" dirty="0">
                <a:solidFill>
                  <a:srgbClr val="0000FF"/>
                </a:solidFill>
              </a:rPr>
              <a:t>的</a:t>
            </a:r>
            <a:r>
              <a:rPr lang="en-US" altLang="zh-CN" kern="0" dirty="0" err="1">
                <a:solidFill>
                  <a:srgbClr val="CC00CC"/>
                </a:solidFill>
              </a:rPr>
              <a:t>n+m</a:t>
            </a:r>
            <a:r>
              <a:rPr lang="zh-CN" altLang="en-US" kern="0" dirty="0">
                <a:solidFill>
                  <a:srgbClr val="CC00CC"/>
                </a:solidFill>
              </a:rPr>
              <a:t>维联合分布函数</a:t>
            </a:r>
            <a:r>
              <a:rPr lang="zh-CN" altLang="en-US" kern="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6243">
                                            <p:txEl>
                                              <p:pRg st="0" end="0"/>
                                            </p:txEl>
                                          </p:spTgt>
                                        </p:tgtEl>
                                        <p:attrNameLst>
                                          <p:attrName>style.visibility</p:attrName>
                                        </p:attrNameLst>
                                      </p:cBhvr>
                                      <p:to>
                                        <p:strVal val="visible"/>
                                      </p:to>
                                    </p:set>
                                    <p:anim calcmode="lin" valueType="num">
                                      <p:cBhvr additive="base">
                                        <p:cTn id="7" dur="500" fill="hold"/>
                                        <p:tgtEl>
                                          <p:spTgt spid="266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4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6243">
                                            <p:txEl>
                                              <p:pRg st="1" end="1"/>
                                            </p:txEl>
                                          </p:spTgt>
                                        </p:tgtEl>
                                        <p:attrNameLst>
                                          <p:attrName>style.visibility</p:attrName>
                                        </p:attrNameLst>
                                      </p:cBhvr>
                                      <p:to>
                                        <p:strVal val="visible"/>
                                      </p:to>
                                    </p:set>
                                    <p:anim calcmode="lin" valueType="num">
                                      <p:cBhvr additive="base">
                                        <p:cTn id="12" dur="500" fill="hold"/>
                                        <p:tgtEl>
                                          <p:spTgt spid="26624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6243">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66243">
                                            <p:txEl>
                                              <p:pRg st="2" end="2"/>
                                            </p:txEl>
                                          </p:spTgt>
                                        </p:tgtEl>
                                        <p:attrNameLst>
                                          <p:attrName>style.visibility</p:attrName>
                                        </p:attrNameLst>
                                      </p:cBhvr>
                                      <p:to>
                                        <p:strVal val="visible"/>
                                      </p:to>
                                    </p:set>
                                    <p:anim calcmode="lin" valueType="num">
                                      <p:cBhvr additive="base">
                                        <p:cTn id="17" dur="500" fill="hold"/>
                                        <p:tgtEl>
                                          <p:spTgt spid="26624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43">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66243">
                                            <p:txEl>
                                              <p:pRg st="3" end="3"/>
                                            </p:txEl>
                                          </p:spTgt>
                                        </p:tgtEl>
                                        <p:attrNameLst>
                                          <p:attrName>style.visibility</p:attrName>
                                        </p:attrNameLst>
                                      </p:cBhvr>
                                      <p:to>
                                        <p:strVal val="visible"/>
                                      </p:to>
                                    </p:set>
                                    <p:anim calcmode="lin" valueType="num">
                                      <p:cBhvr additive="base">
                                        <p:cTn id="22" dur="500" fill="hold"/>
                                        <p:tgtEl>
                                          <p:spTgt spid="26624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66243">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66243">
                                            <p:txEl>
                                              <p:pRg st="4" end="4"/>
                                            </p:txEl>
                                          </p:spTgt>
                                        </p:tgtEl>
                                        <p:attrNameLst>
                                          <p:attrName>style.visibility</p:attrName>
                                        </p:attrNameLst>
                                      </p:cBhvr>
                                      <p:to>
                                        <p:strVal val="visible"/>
                                      </p:to>
                                    </p:set>
                                    <p:anim calcmode="lin" valueType="num">
                                      <p:cBhvr additive="base">
                                        <p:cTn id="27" dur="500" fill="hold"/>
                                        <p:tgtEl>
                                          <p:spTgt spid="26624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6243">
                                            <p:txEl>
                                              <p:pRg st="4" end="4"/>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66243">
                                            <p:txEl>
                                              <p:pRg st="5" end="5"/>
                                            </p:txEl>
                                          </p:spTgt>
                                        </p:tgtEl>
                                        <p:attrNameLst>
                                          <p:attrName>style.visibility</p:attrName>
                                        </p:attrNameLst>
                                      </p:cBhvr>
                                      <p:to>
                                        <p:strVal val="visible"/>
                                      </p:to>
                                    </p:set>
                                    <p:anim calcmode="lin" valueType="num">
                                      <p:cBhvr additive="base">
                                        <p:cTn id="32" dur="500" fill="hold"/>
                                        <p:tgtEl>
                                          <p:spTgt spid="26624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662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a:extLst>
              <a:ext uri="{FF2B5EF4-FFF2-40B4-BE49-F238E27FC236}">
                <a16:creationId xmlns:a16="http://schemas.microsoft.com/office/drawing/2014/main" id="{2F6201EC-3BB0-E147-B23D-39A9475F89B6}"/>
              </a:ext>
            </a:extLst>
          </p:cNvPr>
          <p:cNvSpPr>
            <a:spLocks noGrp="1" noChangeArrowheads="1"/>
          </p:cNvSpPr>
          <p:nvPr>
            <p:ph type="title"/>
          </p:nvPr>
        </p:nvSpPr>
        <p:spPr/>
        <p:txBody>
          <a:bodyPr/>
          <a:lstStyle/>
          <a:p>
            <a:pPr eaLnBrk="1" hangingPunct="1"/>
            <a:r>
              <a:rPr lang="en-US" altLang="zh-CN"/>
              <a:t>n+m</a:t>
            </a:r>
            <a:r>
              <a:rPr lang="zh-CN" altLang="en-US"/>
              <a:t>维联合概率密度</a:t>
            </a:r>
          </a:p>
        </p:txBody>
      </p:sp>
      <mc:AlternateContent xmlns:mc="http://schemas.openxmlformats.org/markup-compatibility/2006" xmlns:a14="http://schemas.microsoft.com/office/drawing/2010/main">
        <mc:Choice Requires="a14">
          <p:sp>
            <p:nvSpPr>
              <p:cNvPr id="267267" name="Object 3">
                <a:extLst>
                  <a:ext uri="{FF2B5EF4-FFF2-40B4-BE49-F238E27FC236}">
                    <a16:creationId xmlns:a16="http://schemas.microsoft.com/office/drawing/2014/main" id="{5AE755AE-A6F2-533D-EE3C-62CF24D3895D}"/>
                  </a:ext>
                </a:extLst>
              </p:cNvPr>
              <p:cNvSpPr txBox="1"/>
              <p:nvPr/>
            </p:nvSpPr>
            <p:spPr bwMode="auto">
              <a:xfrm>
                <a:off x="1146175" y="3008013"/>
                <a:ext cx="5640105" cy="47636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𝑋𝑌</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𝑚</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𝑚</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67267" name="Object 3">
                <a:extLst>
                  <a:ext uri="{FF2B5EF4-FFF2-40B4-BE49-F238E27FC236}">
                    <a16:creationId xmlns:a16="http://schemas.microsoft.com/office/drawing/2014/main" id="{5AE755AE-A6F2-533D-EE3C-62CF24D3895D}"/>
                  </a:ext>
                </a:extLst>
              </p:cNvPr>
              <p:cNvSpPr txBox="1">
                <a:spLocks noRot="1" noChangeAspect="1" noMove="1" noResize="1" noEditPoints="1" noAdjustHandles="1" noChangeArrowheads="1" noChangeShapeType="1" noTextEdit="1"/>
              </p:cNvSpPr>
              <p:nvPr/>
            </p:nvSpPr>
            <p:spPr bwMode="auto">
              <a:xfrm>
                <a:off x="1146175" y="3008013"/>
                <a:ext cx="5640105" cy="476360"/>
              </a:xfrm>
              <a:prstGeom prst="rect">
                <a:avLst/>
              </a:prstGeom>
              <a:blipFill>
                <a:blip r:embed="rId2"/>
                <a:stretch>
                  <a:fillRect l="-216" r="-2054" b="-15190"/>
                </a:stretch>
              </a:blipFill>
              <a:ln>
                <a:noFill/>
              </a:ln>
              <a:effectLst/>
            </p:spPr>
            <p:txBody>
              <a:bodyPr/>
              <a:lstStyle/>
              <a:p>
                <a:r>
                  <a:rPr lang="zh-CN" altLang="en-US">
                    <a:noFill/>
                  </a:rPr>
                  <a:t> </a:t>
                </a:r>
              </a:p>
            </p:txBody>
          </p:sp>
        </mc:Fallback>
      </mc:AlternateContent>
      <p:sp>
        <p:nvSpPr>
          <p:cNvPr id="267268" name="Rectangle 4">
            <a:extLst>
              <a:ext uri="{FF2B5EF4-FFF2-40B4-BE49-F238E27FC236}">
                <a16:creationId xmlns:a16="http://schemas.microsoft.com/office/drawing/2014/main" id="{3E3D4090-E3DB-CE4C-7788-5345EEF8E8A1}"/>
              </a:ext>
            </a:extLst>
          </p:cNvPr>
          <p:cNvSpPr>
            <a:spLocks noChangeArrowheads="1"/>
          </p:cNvSpPr>
          <p:nvPr/>
        </p:nvSpPr>
        <p:spPr bwMode="auto">
          <a:xfrm>
            <a:off x="497120" y="4573059"/>
            <a:ext cx="9967103" cy="1527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ea typeface="黑体" panose="02010609060101010101" pitchFamily="49" charset="-122"/>
              </a:rPr>
              <a:t>成立，则称</a:t>
            </a:r>
          </a:p>
          <a:p>
            <a:pPr algn="ctr" eaLnBrk="1" hangingPunct="1">
              <a:lnSpc>
                <a:spcPct val="120000"/>
              </a:lnSpc>
              <a:spcAft>
                <a:spcPct val="40000"/>
              </a:spcAft>
            </a:pPr>
            <a:r>
              <a:rPr lang="en-US" altLang="zh-CN" b="1" dirty="0" err="1">
                <a:ea typeface="黑体" panose="02010609060101010101" pitchFamily="49" charset="-122"/>
              </a:rPr>
              <a:t>f</a:t>
            </a:r>
            <a:r>
              <a:rPr lang="en-US" altLang="zh-CN" b="1" baseline="-25000" dirty="0" err="1">
                <a:ea typeface="黑体" panose="02010609060101010101" pitchFamily="49" charset="-122"/>
              </a:rPr>
              <a:t>XY</a:t>
            </a:r>
            <a:r>
              <a:rPr lang="en-US" altLang="zh-CN" b="1" dirty="0">
                <a:ea typeface="黑体" panose="02010609060101010101" pitchFamily="49" charset="-122"/>
              </a:rPr>
              <a:t>(s</a:t>
            </a:r>
            <a:r>
              <a:rPr lang="en-US" altLang="zh-CN" b="1" baseline="-25000" dirty="0">
                <a:ea typeface="黑体" panose="02010609060101010101" pitchFamily="49" charset="-122"/>
              </a:rPr>
              <a:t>1</a:t>
            </a:r>
            <a:r>
              <a:rPr lang="en-US" altLang="zh-CN" b="1" dirty="0">
                <a:ea typeface="黑体" panose="02010609060101010101" pitchFamily="49" charset="-122"/>
              </a:rPr>
              <a:t>,s</a:t>
            </a:r>
            <a:r>
              <a:rPr lang="en-US" altLang="zh-CN" b="1" baseline="-25000" dirty="0">
                <a:ea typeface="黑体" panose="02010609060101010101" pitchFamily="49" charset="-122"/>
              </a:rPr>
              <a:t>2</a:t>
            </a:r>
            <a:r>
              <a:rPr lang="en-US" altLang="zh-CN" b="1" dirty="0">
                <a:ea typeface="黑体" panose="02010609060101010101" pitchFamily="49" charset="-122"/>
              </a:rPr>
              <a:t>,…,s</a:t>
            </a:r>
            <a:r>
              <a:rPr lang="en-US" altLang="zh-CN" b="1" baseline="-25000" dirty="0">
                <a:ea typeface="黑体" panose="02010609060101010101" pitchFamily="49" charset="-122"/>
              </a:rPr>
              <a:t>n</a:t>
            </a:r>
            <a:r>
              <a:rPr lang="en-US" altLang="zh-CN" b="1" dirty="0">
                <a:ea typeface="黑体" panose="02010609060101010101" pitchFamily="49" charset="-122"/>
              </a:rPr>
              <a:t>,t</a:t>
            </a:r>
            <a:r>
              <a:rPr lang="en-US" altLang="zh-CN" b="1" baseline="-25000" dirty="0">
                <a:ea typeface="黑体" panose="02010609060101010101" pitchFamily="49" charset="-122"/>
              </a:rPr>
              <a:t>1</a:t>
            </a:r>
            <a:r>
              <a:rPr lang="en-US" altLang="zh-CN" b="1" dirty="0">
                <a:ea typeface="黑体" panose="02010609060101010101" pitchFamily="49" charset="-122"/>
              </a:rPr>
              <a:t>,t</a:t>
            </a:r>
            <a:r>
              <a:rPr lang="en-US" altLang="zh-CN" b="1" baseline="-25000" dirty="0">
                <a:ea typeface="黑体" panose="02010609060101010101" pitchFamily="49" charset="-122"/>
              </a:rPr>
              <a:t>2</a:t>
            </a:r>
            <a:r>
              <a:rPr lang="en-US" altLang="zh-CN" b="1" dirty="0">
                <a:ea typeface="黑体" panose="02010609060101010101" pitchFamily="49" charset="-122"/>
              </a:rPr>
              <a:t>,…,t</a:t>
            </a:r>
            <a:r>
              <a:rPr lang="en-US" altLang="zh-CN" b="1" baseline="-25000" dirty="0">
                <a:ea typeface="黑体" panose="02010609060101010101" pitchFamily="49" charset="-122"/>
              </a:rPr>
              <a:t>m</a:t>
            </a:r>
            <a:r>
              <a:rPr lang="en-US" altLang="zh-CN" b="1" dirty="0">
                <a:ea typeface="黑体" panose="02010609060101010101" pitchFamily="49" charset="-122"/>
              </a:rPr>
              <a:t>;x</a:t>
            </a:r>
            <a:r>
              <a:rPr lang="en-US" altLang="zh-CN" b="1" baseline="-25000" dirty="0">
                <a:ea typeface="黑体" panose="02010609060101010101" pitchFamily="49" charset="-122"/>
              </a:rPr>
              <a:t>1</a:t>
            </a:r>
            <a:r>
              <a:rPr lang="en-US" altLang="zh-CN" b="1" dirty="0">
                <a:ea typeface="黑体" panose="02010609060101010101" pitchFamily="49" charset="-122"/>
              </a:rPr>
              <a:t>,x</a:t>
            </a:r>
            <a:r>
              <a:rPr lang="en-US" altLang="zh-CN" b="1" baseline="-25000" dirty="0">
                <a:ea typeface="黑体" panose="02010609060101010101" pitchFamily="49" charset="-122"/>
              </a:rPr>
              <a:t>2</a:t>
            </a:r>
            <a:r>
              <a:rPr lang="en-US" altLang="zh-CN" b="1" dirty="0">
                <a:ea typeface="黑体" panose="02010609060101010101" pitchFamily="49" charset="-122"/>
              </a:rPr>
              <a:t>,…,x</a:t>
            </a:r>
            <a:r>
              <a:rPr lang="en-US" altLang="zh-CN" b="1" baseline="-25000" dirty="0">
                <a:ea typeface="黑体" panose="02010609060101010101" pitchFamily="49" charset="-122"/>
              </a:rPr>
              <a:t>n,</a:t>
            </a:r>
            <a:r>
              <a:rPr lang="en-US" altLang="zh-CN" b="1" dirty="0">
                <a:ea typeface="黑体" panose="02010609060101010101" pitchFamily="49" charset="-122"/>
              </a:rPr>
              <a:t>y</a:t>
            </a:r>
            <a:r>
              <a:rPr lang="en-US" altLang="zh-CN" b="1" baseline="-25000" dirty="0">
                <a:ea typeface="黑体" panose="02010609060101010101" pitchFamily="49" charset="-122"/>
              </a:rPr>
              <a:t>1</a:t>
            </a:r>
            <a:r>
              <a:rPr lang="en-US" altLang="zh-CN" b="1" dirty="0">
                <a:ea typeface="黑体" panose="02010609060101010101" pitchFamily="49" charset="-122"/>
              </a:rPr>
              <a:t>,y</a:t>
            </a:r>
            <a:r>
              <a:rPr lang="en-US" altLang="zh-CN" b="1" baseline="-25000" dirty="0">
                <a:ea typeface="黑体" panose="02010609060101010101" pitchFamily="49" charset="-122"/>
              </a:rPr>
              <a:t>2</a:t>
            </a:r>
            <a:r>
              <a:rPr lang="en-US" altLang="zh-CN" b="1" dirty="0">
                <a:ea typeface="黑体" panose="02010609060101010101" pitchFamily="49" charset="-122"/>
              </a:rPr>
              <a:t>,…,</a:t>
            </a:r>
            <a:r>
              <a:rPr lang="en-US" altLang="zh-CN" b="1" dirty="0" err="1">
                <a:ea typeface="黑体" panose="02010609060101010101" pitchFamily="49" charset="-122"/>
              </a:rPr>
              <a:t>y</a:t>
            </a:r>
            <a:r>
              <a:rPr lang="en-US" altLang="zh-CN" b="1" baseline="-25000" dirty="0" err="1">
                <a:ea typeface="黑体" panose="02010609060101010101" pitchFamily="49" charset="-122"/>
              </a:rPr>
              <a:t>m</a:t>
            </a:r>
            <a:r>
              <a:rPr lang="en-US" altLang="zh-CN" b="1" dirty="0">
                <a:ea typeface="黑体" panose="02010609060101010101" pitchFamily="49" charset="-122"/>
              </a:rPr>
              <a:t>)</a:t>
            </a:r>
          </a:p>
          <a:p>
            <a:pPr eaLnBrk="1" hangingPunct="1">
              <a:lnSpc>
                <a:spcPct val="120000"/>
              </a:lnSpc>
            </a:pPr>
            <a:r>
              <a:rPr lang="zh-CN" altLang="en-US" b="1" dirty="0">
                <a:ea typeface="黑体" panose="02010609060101010101" pitchFamily="49" charset="-122"/>
              </a:rPr>
              <a:t>为随机过程</a:t>
            </a:r>
            <a:r>
              <a:rPr lang="en-US" altLang="zh-CN" b="1" dirty="0">
                <a:ea typeface="黑体" panose="02010609060101010101" pitchFamily="49" charset="-122"/>
              </a:rPr>
              <a:t>{X(t),</a:t>
            </a:r>
            <a:r>
              <a:rPr lang="en-US" altLang="zh-CN" b="1" dirty="0" err="1">
                <a:ea typeface="黑体" panose="02010609060101010101" pitchFamily="49" charset="-122"/>
              </a:rPr>
              <a:t>t</a:t>
            </a:r>
            <a:r>
              <a:rPr lang="en-US" altLang="zh-CN" b="1" dirty="0" err="1">
                <a:ea typeface="黑体" panose="02010609060101010101" pitchFamily="49" charset="-122"/>
                <a:sym typeface="Symbol" panose="05050102010706020507" pitchFamily="18" charset="2"/>
              </a:rPr>
              <a:t></a:t>
            </a:r>
            <a:r>
              <a:rPr lang="en-US" altLang="zh-CN" b="1" dirty="0" err="1">
                <a:ea typeface="黑体" panose="02010609060101010101" pitchFamily="49" charset="-122"/>
              </a:rPr>
              <a:t>T</a:t>
            </a:r>
            <a:r>
              <a:rPr lang="en-US" altLang="zh-CN" b="1" dirty="0">
                <a:ea typeface="黑体" panose="02010609060101010101" pitchFamily="49" charset="-122"/>
              </a:rPr>
              <a:t>}</a:t>
            </a:r>
            <a:r>
              <a:rPr lang="zh-CN" altLang="en-US" b="1" dirty="0">
                <a:ea typeface="黑体" panose="02010609060101010101" pitchFamily="49" charset="-122"/>
              </a:rPr>
              <a:t>和</a:t>
            </a:r>
            <a:r>
              <a:rPr lang="en-US" altLang="zh-CN" b="1" dirty="0">
                <a:ea typeface="黑体" panose="02010609060101010101" pitchFamily="49" charset="-122"/>
              </a:rPr>
              <a:t>{Y(t),</a:t>
            </a:r>
            <a:r>
              <a:rPr lang="en-US" altLang="zh-CN" b="1" dirty="0" err="1">
                <a:ea typeface="黑体" panose="02010609060101010101" pitchFamily="49" charset="-122"/>
              </a:rPr>
              <a:t>t</a:t>
            </a:r>
            <a:r>
              <a:rPr lang="en-US" altLang="zh-CN" b="1" dirty="0" err="1">
                <a:ea typeface="黑体" panose="02010609060101010101" pitchFamily="49" charset="-122"/>
                <a:sym typeface="Symbol" panose="05050102010706020507" pitchFamily="18" charset="2"/>
              </a:rPr>
              <a:t></a:t>
            </a:r>
            <a:r>
              <a:rPr lang="en-US" altLang="zh-CN" b="1" dirty="0" err="1">
                <a:ea typeface="黑体" panose="02010609060101010101" pitchFamily="49" charset="-122"/>
              </a:rPr>
              <a:t>T</a:t>
            </a:r>
            <a:r>
              <a:rPr lang="en-US" altLang="zh-CN" b="1" dirty="0">
                <a:ea typeface="黑体" panose="02010609060101010101" pitchFamily="49" charset="-122"/>
              </a:rPr>
              <a:t>}</a:t>
            </a:r>
            <a:r>
              <a:rPr lang="zh-CN" altLang="en-US" b="1" dirty="0">
                <a:ea typeface="黑体" panose="02010609060101010101" pitchFamily="49" charset="-122"/>
              </a:rPr>
              <a:t>的</a:t>
            </a:r>
            <a:r>
              <a:rPr lang="en-US" altLang="zh-CN" b="1" dirty="0" err="1">
                <a:solidFill>
                  <a:srgbClr val="CC00CC"/>
                </a:solidFill>
                <a:ea typeface="黑体" panose="02010609060101010101" pitchFamily="49" charset="-122"/>
              </a:rPr>
              <a:t>n+m</a:t>
            </a:r>
            <a:r>
              <a:rPr lang="zh-CN" altLang="en-US" b="1" dirty="0">
                <a:solidFill>
                  <a:srgbClr val="CC00CC"/>
                </a:solidFill>
                <a:ea typeface="黑体" panose="02010609060101010101" pitchFamily="49" charset="-122"/>
              </a:rPr>
              <a:t>维联合概率密度</a:t>
            </a:r>
            <a:r>
              <a:rPr lang="en-US" altLang="zh-CN" b="1" dirty="0">
                <a:solidFill>
                  <a:srgbClr val="CC00CC"/>
                </a:solidFill>
                <a:ea typeface="黑体" panose="02010609060101010101" pitchFamily="49" charset="-122"/>
              </a:rPr>
              <a:t>(</a:t>
            </a:r>
            <a:r>
              <a:rPr lang="zh-CN" altLang="en-US" b="1" dirty="0">
                <a:solidFill>
                  <a:srgbClr val="CC00CC"/>
                </a:solidFill>
                <a:ea typeface="黑体" panose="02010609060101010101" pitchFamily="49" charset="-122"/>
              </a:rPr>
              <a:t>函数</a:t>
            </a:r>
            <a:r>
              <a:rPr lang="en-US" altLang="zh-CN" b="1" dirty="0">
                <a:solidFill>
                  <a:srgbClr val="CC00CC"/>
                </a:solidFill>
                <a:ea typeface="黑体" panose="02010609060101010101" pitchFamily="49" charset="-122"/>
              </a:rPr>
              <a:t>)</a:t>
            </a:r>
            <a:r>
              <a:rPr lang="zh-CN" altLang="en-US" b="1" dirty="0">
                <a:ea typeface="黑体" panose="02010609060101010101" pitchFamily="49" charset="-122"/>
              </a:rPr>
              <a:t>。</a:t>
            </a:r>
          </a:p>
        </p:txBody>
      </p:sp>
      <p:sp>
        <p:nvSpPr>
          <p:cNvPr id="267269" name="Rectangle 5">
            <a:extLst>
              <a:ext uri="{FF2B5EF4-FFF2-40B4-BE49-F238E27FC236}">
                <a16:creationId xmlns:a16="http://schemas.microsoft.com/office/drawing/2014/main" id="{05B49C65-E101-CFB6-2C40-98EAE4101B1F}"/>
              </a:ext>
            </a:extLst>
          </p:cNvPr>
          <p:cNvSpPr>
            <a:spLocks noGrp="1" noChangeArrowheads="1"/>
          </p:cNvSpPr>
          <p:nvPr>
            <p:ph type="body" idx="1"/>
          </p:nvPr>
        </p:nvSpPr>
        <p:spPr>
          <a:xfrm>
            <a:off x="384175" y="1167084"/>
            <a:ext cx="11201400" cy="1862568"/>
          </a:xfrm>
        </p:spPr>
        <p:txBody>
          <a:bodyPr>
            <a:normAutofit fontScale="85000" lnSpcReduction="10000"/>
          </a:bodyPr>
          <a:lstStyle/>
          <a:p>
            <a:pPr eaLnBrk="1" hangingPunct="1">
              <a:lnSpc>
                <a:spcPct val="160000"/>
              </a:lnSpc>
              <a:buClrTx/>
              <a:buFontTx/>
              <a:buNone/>
            </a:pPr>
            <a:r>
              <a:rPr lang="zh-CN" altLang="en-US" dirty="0"/>
              <a:t>如果</a:t>
            </a:r>
            <a:r>
              <a:rPr lang="en-US" altLang="zh-CN" dirty="0"/>
              <a:t>(X(s</a:t>
            </a:r>
            <a:r>
              <a:rPr lang="en-US" altLang="zh-CN" baseline="-25000" dirty="0"/>
              <a:t>1</a:t>
            </a:r>
            <a:r>
              <a:rPr lang="en-US" altLang="zh-CN" dirty="0"/>
              <a:t>),X(s</a:t>
            </a:r>
            <a:r>
              <a:rPr lang="en-US" altLang="zh-CN" baseline="-25000" dirty="0"/>
              <a:t>2</a:t>
            </a:r>
            <a:r>
              <a:rPr lang="en-US" altLang="zh-CN" dirty="0"/>
              <a:t>),…,X(</a:t>
            </a:r>
            <a:r>
              <a:rPr lang="en-US" altLang="zh-CN" dirty="0" err="1"/>
              <a:t>s</a:t>
            </a:r>
            <a:r>
              <a:rPr lang="en-US" altLang="zh-CN" baseline="-25000" dirty="0" err="1"/>
              <a:t>n</a:t>
            </a:r>
            <a:r>
              <a:rPr lang="en-US" altLang="zh-CN" dirty="0"/>
              <a:t>),Y(t</a:t>
            </a:r>
            <a:r>
              <a:rPr lang="en-US" altLang="zh-CN" baseline="-25000" dirty="0"/>
              <a:t>1</a:t>
            </a:r>
            <a:r>
              <a:rPr lang="en-US" altLang="zh-CN" dirty="0"/>
              <a:t>),Y(t</a:t>
            </a:r>
            <a:r>
              <a:rPr lang="en-US" altLang="zh-CN" baseline="-25000" dirty="0"/>
              <a:t>2</a:t>
            </a:r>
            <a:r>
              <a:rPr lang="en-US" altLang="zh-CN" dirty="0"/>
              <a:t>),…,Y(t</a:t>
            </a:r>
            <a:r>
              <a:rPr lang="en-US" altLang="zh-CN" baseline="-25000" dirty="0"/>
              <a:t>m</a:t>
            </a:r>
            <a:r>
              <a:rPr lang="en-US" altLang="zh-CN" dirty="0"/>
              <a:t>))</a:t>
            </a:r>
            <a:r>
              <a:rPr lang="zh-CN" altLang="en-US" dirty="0"/>
              <a:t>是连续型</a:t>
            </a:r>
            <a:r>
              <a:rPr lang="en-US" altLang="zh-CN" dirty="0" err="1"/>
              <a:t>n+m</a:t>
            </a:r>
            <a:r>
              <a:rPr lang="zh-CN" altLang="en-US" dirty="0"/>
              <a:t>维随机变量，存在非负可积函数</a:t>
            </a:r>
          </a:p>
          <a:p>
            <a:pPr algn="ctr" eaLnBrk="1" hangingPunct="1">
              <a:lnSpc>
                <a:spcPct val="160000"/>
              </a:lnSpc>
              <a:spcAft>
                <a:spcPct val="30000"/>
              </a:spcAft>
              <a:buClrTx/>
              <a:buFontTx/>
              <a:buNone/>
            </a:pPr>
            <a:r>
              <a:rPr lang="en-US" altLang="zh-CN" dirty="0" err="1"/>
              <a:t>f</a:t>
            </a:r>
            <a:r>
              <a:rPr lang="en-US" altLang="zh-CN" baseline="-25000" dirty="0" err="1"/>
              <a:t>XY</a:t>
            </a:r>
            <a:r>
              <a:rPr lang="en-US" altLang="zh-CN" dirty="0"/>
              <a:t>(s</a:t>
            </a:r>
            <a:r>
              <a:rPr lang="en-US" altLang="zh-CN" baseline="-25000" dirty="0"/>
              <a:t>1</a:t>
            </a:r>
            <a:r>
              <a:rPr lang="en-US" altLang="zh-CN" dirty="0"/>
              <a:t>,s</a:t>
            </a:r>
            <a:r>
              <a:rPr lang="en-US" altLang="zh-CN" baseline="-25000" dirty="0"/>
              <a:t>2</a:t>
            </a:r>
            <a:r>
              <a:rPr lang="en-US" altLang="zh-CN" dirty="0"/>
              <a:t>,…,s</a:t>
            </a:r>
            <a:r>
              <a:rPr lang="en-US" altLang="zh-CN" baseline="-25000" dirty="0"/>
              <a:t>n</a:t>
            </a:r>
            <a:r>
              <a:rPr lang="en-US" altLang="zh-CN" dirty="0"/>
              <a:t>,t</a:t>
            </a:r>
            <a:r>
              <a:rPr lang="en-US" altLang="zh-CN" baseline="-25000" dirty="0"/>
              <a:t>1</a:t>
            </a:r>
            <a:r>
              <a:rPr lang="en-US" altLang="zh-CN" dirty="0"/>
              <a:t>,t</a:t>
            </a:r>
            <a:r>
              <a:rPr lang="en-US" altLang="zh-CN" baseline="-25000" dirty="0"/>
              <a:t>2</a:t>
            </a:r>
            <a:r>
              <a:rPr lang="en-US" altLang="zh-CN" dirty="0"/>
              <a:t>,…,t</a:t>
            </a:r>
            <a:r>
              <a:rPr lang="en-US" altLang="zh-CN" baseline="-25000" dirty="0"/>
              <a:t>m</a:t>
            </a:r>
            <a:r>
              <a:rPr lang="en-US" altLang="zh-CN" dirty="0"/>
              <a:t>;x</a:t>
            </a:r>
            <a:r>
              <a:rPr lang="en-US" altLang="zh-CN" baseline="-25000" dirty="0"/>
              <a:t>1</a:t>
            </a:r>
            <a:r>
              <a:rPr lang="en-US" altLang="zh-CN" dirty="0"/>
              <a:t>,x</a:t>
            </a:r>
            <a:r>
              <a:rPr lang="en-US" altLang="zh-CN" baseline="-25000" dirty="0"/>
              <a:t>2</a:t>
            </a:r>
            <a:r>
              <a:rPr lang="en-US" altLang="zh-CN" dirty="0"/>
              <a:t>,…,x</a:t>
            </a:r>
            <a:r>
              <a:rPr lang="en-US" altLang="zh-CN" baseline="-25000" dirty="0"/>
              <a:t>n,</a:t>
            </a:r>
            <a:r>
              <a:rPr lang="en-US" altLang="zh-CN" dirty="0"/>
              <a:t>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m</a:t>
            </a:r>
            <a:r>
              <a:rPr lang="en-US" altLang="zh-CN" dirty="0"/>
              <a:t>)</a:t>
            </a:r>
            <a:r>
              <a:rPr lang="zh-CN" altLang="en-US" dirty="0"/>
              <a:t>，</a:t>
            </a:r>
          </a:p>
          <a:p>
            <a:pPr eaLnBrk="1" hangingPunct="1">
              <a:lnSpc>
                <a:spcPct val="160000"/>
              </a:lnSpc>
              <a:buClrTx/>
              <a:buFontTx/>
              <a:buNone/>
            </a:pPr>
            <a:r>
              <a:rPr lang="zh-CN" altLang="en-US" dirty="0"/>
              <a:t>使得</a:t>
            </a:r>
          </a:p>
        </p:txBody>
      </p:sp>
      <mc:AlternateContent xmlns:mc="http://schemas.openxmlformats.org/markup-compatibility/2006" xmlns:a14="http://schemas.microsoft.com/office/drawing/2010/main">
        <mc:Choice Requires="a14">
          <p:sp>
            <p:nvSpPr>
              <p:cNvPr id="267270" name="Object 6">
                <a:extLst>
                  <a:ext uri="{FF2B5EF4-FFF2-40B4-BE49-F238E27FC236}">
                    <a16:creationId xmlns:a16="http://schemas.microsoft.com/office/drawing/2014/main" id="{725CE936-07B3-82D0-9F8A-047F1C660A7F}"/>
                  </a:ext>
                </a:extLst>
              </p:cNvPr>
              <p:cNvSpPr txBox="1"/>
              <p:nvPr/>
            </p:nvSpPr>
            <p:spPr bwMode="auto">
              <a:xfrm>
                <a:off x="1146175" y="3662713"/>
                <a:ext cx="5667099" cy="732006"/>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sup>
                        <m:e>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sup>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1</m:t>
                                      </m:r>
                                    </m:sub>
                                  </m:sSub>
                                </m:sup>
                                <m:e>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𝑚</m:t>
                                          </m:r>
                                        </m:sub>
                                      </m:s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𝑋𝑌</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𝑚</m:t>
                                          </m:r>
                                        </m:sub>
                                      </m:sSub>
                                      <m:r>
                                        <a:rPr lang="zh-CN" altLang="en-US" i="1">
                                          <a:solidFill>
                                            <a:srgbClr val="000000"/>
                                          </a:solidFill>
                                          <a:latin typeface="Cambria Math" panose="02040503050406030204" pitchFamily="18" charset="0"/>
                                        </a:rPr>
                                        <m:t>;</m:t>
                                      </m:r>
                                    </m:e>
                                  </m:nary>
                                </m:e>
                              </m:nary>
                            </m:e>
                          </m:nary>
                        </m:e>
                      </m:nary>
                    </m:oMath>
                  </m:oMathPara>
                </a14:m>
                <a:endParaRPr lang="zh-CN" altLang="en-US" dirty="0"/>
              </a:p>
            </p:txBody>
          </p:sp>
        </mc:Choice>
        <mc:Fallback xmlns="">
          <p:sp>
            <p:nvSpPr>
              <p:cNvPr id="267270" name="Object 6">
                <a:extLst>
                  <a:ext uri="{FF2B5EF4-FFF2-40B4-BE49-F238E27FC236}">
                    <a16:creationId xmlns:a16="http://schemas.microsoft.com/office/drawing/2014/main" id="{725CE936-07B3-82D0-9F8A-047F1C660A7F}"/>
                  </a:ext>
                </a:extLst>
              </p:cNvPr>
              <p:cNvSpPr txBox="1">
                <a:spLocks noRot="1" noChangeAspect="1" noMove="1" noResize="1" noEditPoints="1" noAdjustHandles="1" noChangeArrowheads="1" noChangeShapeType="1" noTextEdit="1"/>
              </p:cNvSpPr>
              <p:nvPr/>
            </p:nvSpPr>
            <p:spPr bwMode="auto">
              <a:xfrm>
                <a:off x="1146175" y="3662713"/>
                <a:ext cx="5667099" cy="732006"/>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7271" name="Object 7">
                <a:extLst>
                  <a:ext uri="{FF2B5EF4-FFF2-40B4-BE49-F238E27FC236}">
                    <a16:creationId xmlns:a16="http://schemas.microsoft.com/office/drawing/2014/main" id="{C67E61A5-7733-DC84-815C-51FF438BD2DC}"/>
                  </a:ext>
                </a:extLst>
              </p:cNvPr>
              <p:cNvSpPr txBox="1"/>
              <p:nvPr/>
            </p:nvSpPr>
            <p:spPr bwMode="auto">
              <a:xfrm>
                <a:off x="6039796" y="3797681"/>
                <a:ext cx="5343175" cy="46207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𝑚</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𝑚</m:t>
                          </m:r>
                        </m:sub>
                      </m:sSub>
                    </m:oMath>
                  </m:oMathPara>
                </a14:m>
                <a:endParaRPr lang="zh-CN" altLang="en-US" dirty="0"/>
              </a:p>
            </p:txBody>
          </p:sp>
        </mc:Choice>
        <mc:Fallback xmlns="">
          <p:sp>
            <p:nvSpPr>
              <p:cNvPr id="267271" name="Object 7">
                <a:extLst>
                  <a:ext uri="{FF2B5EF4-FFF2-40B4-BE49-F238E27FC236}">
                    <a16:creationId xmlns:a16="http://schemas.microsoft.com/office/drawing/2014/main" id="{C67E61A5-7733-DC84-815C-51FF438BD2DC}"/>
                  </a:ext>
                </a:extLst>
              </p:cNvPr>
              <p:cNvSpPr txBox="1">
                <a:spLocks noRot="1" noChangeAspect="1" noMove="1" noResize="1" noEditPoints="1" noAdjustHandles="1" noChangeArrowheads="1" noChangeShapeType="1" noTextEdit="1"/>
              </p:cNvSpPr>
              <p:nvPr/>
            </p:nvSpPr>
            <p:spPr bwMode="auto">
              <a:xfrm>
                <a:off x="6039796" y="3797681"/>
                <a:ext cx="5343175" cy="462070"/>
              </a:xfrm>
              <a:prstGeom prst="rect">
                <a:avLst/>
              </a:prstGeom>
              <a:blipFill>
                <a:blip r:embed="rId4"/>
                <a:stretch>
                  <a:fillRect b="-10526"/>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7269">
                                            <p:txEl>
                                              <p:pRg st="0" end="0"/>
                                            </p:txEl>
                                          </p:spTgt>
                                        </p:tgtEl>
                                        <p:attrNameLst>
                                          <p:attrName>style.visibility</p:attrName>
                                        </p:attrNameLst>
                                      </p:cBhvr>
                                      <p:to>
                                        <p:strVal val="visible"/>
                                      </p:to>
                                    </p:set>
                                    <p:anim calcmode="lin" valueType="num">
                                      <p:cBhvr additive="base">
                                        <p:cTn id="7" dur="500" fill="hold"/>
                                        <p:tgtEl>
                                          <p:spTgt spid="26726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726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7269">
                                            <p:txEl>
                                              <p:pRg st="1" end="1"/>
                                            </p:txEl>
                                          </p:spTgt>
                                        </p:tgtEl>
                                        <p:attrNameLst>
                                          <p:attrName>style.visibility</p:attrName>
                                        </p:attrNameLst>
                                      </p:cBhvr>
                                      <p:to>
                                        <p:strVal val="visible"/>
                                      </p:to>
                                    </p:set>
                                    <p:anim calcmode="lin" valueType="num">
                                      <p:cBhvr additive="base">
                                        <p:cTn id="12" dur="500" fill="hold"/>
                                        <p:tgtEl>
                                          <p:spTgt spid="26726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726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67269">
                                            <p:txEl>
                                              <p:pRg st="2" end="2"/>
                                            </p:txEl>
                                          </p:spTgt>
                                        </p:tgtEl>
                                        <p:attrNameLst>
                                          <p:attrName>style.visibility</p:attrName>
                                        </p:attrNameLst>
                                      </p:cBhvr>
                                      <p:to>
                                        <p:strVal val="visible"/>
                                      </p:to>
                                    </p:set>
                                    <p:anim calcmode="lin" valueType="num">
                                      <p:cBhvr additive="base">
                                        <p:cTn id="17" dur="500" fill="hold"/>
                                        <p:tgtEl>
                                          <p:spTgt spid="26726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726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267267"/>
                                        </p:tgtEl>
                                        <p:attrNameLst>
                                          <p:attrName>style.visibility</p:attrName>
                                        </p:attrNameLst>
                                      </p:cBhvr>
                                      <p:to>
                                        <p:strVal val="visible"/>
                                      </p:to>
                                    </p:set>
                                    <p:animEffect transition="in" filter="randombar(horizontal)">
                                      <p:cBhvr>
                                        <p:cTn id="23" dur="500"/>
                                        <p:tgtEl>
                                          <p:spTgt spid="267267"/>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267270"/>
                                        </p:tgtEl>
                                        <p:attrNameLst>
                                          <p:attrName>style.visibility</p:attrName>
                                        </p:attrNameLst>
                                      </p:cBhvr>
                                      <p:to>
                                        <p:strVal val="visible"/>
                                      </p:to>
                                    </p:set>
                                    <p:animEffect transition="in" filter="randombar(horizontal)">
                                      <p:cBhvr>
                                        <p:cTn id="26" dur="500"/>
                                        <p:tgtEl>
                                          <p:spTgt spid="267270"/>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267271"/>
                                        </p:tgtEl>
                                        <p:attrNameLst>
                                          <p:attrName>style.visibility</p:attrName>
                                        </p:attrNameLst>
                                      </p:cBhvr>
                                      <p:to>
                                        <p:strVal val="visible"/>
                                      </p:to>
                                    </p:set>
                                    <p:animEffect transition="in" filter="randombar(horizontal)">
                                      <p:cBhvr>
                                        <p:cTn id="29" dur="500"/>
                                        <p:tgtEl>
                                          <p:spTgt spid="267271"/>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267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7" grpId="0"/>
      <p:bldP spid="267268" grpId="0" autoUpdateAnimBg="0"/>
      <p:bldP spid="267269" grpId="0" build="p"/>
      <p:bldP spid="267270" grpId="0"/>
      <p:bldP spid="26727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AA01DC94-8495-C31A-804E-5F70E4FF8D3D}"/>
              </a:ext>
            </a:extLst>
          </p:cNvPr>
          <p:cNvSpPr>
            <a:spLocks noGrp="1" noChangeArrowheads="1"/>
          </p:cNvSpPr>
          <p:nvPr>
            <p:ph type="title"/>
          </p:nvPr>
        </p:nvSpPr>
        <p:spPr/>
        <p:txBody>
          <a:bodyPr/>
          <a:lstStyle/>
          <a:p>
            <a:pPr eaLnBrk="1" hangingPunct="1"/>
            <a:r>
              <a:rPr lang="zh-CN" altLang="en-US"/>
              <a:t>相互独立的随机过程</a:t>
            </a:r>
          </a:p>
        </p:txBody>
      </p:sp>
      <p:sp>
        <p:nvSpPr>
          <p:cNvPr id="268291" name="Rectangle 3">
            <a:extLst>
              <a:ext uri="{FF2B5EF4-FFF2-40B4-BE49-F238E27FC236}">
                <a16:creationId xmlns:a16="http://schemas.microsoft.com/office/drawing/2014/main" id="{EFDFBC5D-60AD-6390-6128-8327A14A5B71}"/>
              </a:ext>
            </a:extLst>
          </p:cNvPr>
          <p:cNvSpPr>
            <a:spLocks noGrp="1" noChangeArrowheads="1"/>
          </p:cNvSpPr>
          <p:nvPr>
            <p:ph type="body" idx="1"/>
          </p:nvPr>
        </p:nvSpPr>
        <p:spPr>
          <a:xfrm>
            <a:off x="384175" y="1125799"/>
            <a:ext cx="11430000" cy="5275796"/>
          </a:xfrm>
        </p:spPr>
        <p:txBody>
          <a:bodyPr>
            <a:normAutofit/>
          </a:bodyPr>
          <a:lstStyle/>
          <a:p>
            <a:pPr marL="342969" indent="-342969" algn="just">
              <a:lnSpc>
                <a:spcPct val="160000"/>
              </a:lnSpc>
              <a:buNone/>
            </a:pPr>
            <a:r>
              <a:rPr lang="en-US" altLang="zh-CN" dirty="0"/>
              <a:t>    </a:t>
            </a:r>
            <a:r>
              <a:rPr lang="zh-CN" altLang="en-US" dirty="0"/>
              <a:t>设</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和</a:t>
            </a:r>
            <a:r>
              <a:rPr lang="en-US" altLang="zh-CN" dirty="0"/>
              <a:t>{Y(t),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是两个随机过程，如果对任意</a:t>
            </a:r>
            <a:r>
              <a:rPr lang="en-US" altLang="zh-CN" dirty="0"/>
              <a:t>n,m</a:t>
            </a:r>
            <a:r>
              <a:rPr lang="en-US" altLang="zh-CN" dirty="0">
                <a:sym typeface="Symbol" panose="05050102010706020507" pitchFamily="18" charset="2"/>
              </a:rPr>
              <a:t>1</a:t>
            </a:r>
            <a:r>
              <a:rPr lang="zh-CN" altLang="en-US" dirty="0">
                <a:sym typeface="Symbol" panose="05050102010706020507" pitchFamily="18" charset="2"/>
              </a:rPr>
              <a:t>，</a:t>
            </a:r>
            <a:r>
              <a:rPr lang="zh-CN" altLang="en-US" dirty="0"/>
              <a:t>其</a:t>
            </a:r>
            <a:r>
              <a:rPr lang="en-US" altLang="zh-CN" dirty="0" err="1"/>
              <a:t>n+m</a:t>
            </a:r>
            <a:r>
              <a:rPr lang="zh-CN" altLang="en-US" dirty="0"/>
              <a:t>维联合分布满足</a:t>
            </a:r>
          </a:p>
          <a:p>
            <a:pPr marL="342969" indent="-342969" algn="ctr">
              <a:lnSpc>
                <a:spcPct val="160000"/>
              </a:lnSpc>
              <a:buNone/>
            </a:pPr>
            <a:r>
              <a:rPr lang="en-US" altLang="zh-CN" dirty="0">
                <a:solidFill>
                  <a:srgbClr val="6600CC"/>
                </a:solidFill>
              </a:rPr>
              <a:t>F</a:t>
            </a:r>
            <a:r>
              <a:rPr lang="en-US" altLang="zh-CN" baseline="-25000" dirty="0">
                <a:solidFill>
                  <a:srgbClr val="6600CC"/>
                </a:solidFill>
              </a:rPr>
              <a:t>XY</a:t>
            </a:r>
            <a:r>
              <a:rPr lang="en-US" altLang="zh-CN" dirty="0">
                <a:solidFill>
                  <a:srgbClr val="6600CC"/>
                </a:solidFill>
              </a:rPr>
              <a:t>(s</a:t>
            </a:r>
            <a:r>
              <a:rPr lang="en-US" altLang="zh-CN" baseline="-25000" dirty="0">
                <a:solidFill>
                  <a:srgbClr val="6600CC"/>
                </a:solidFill>
              </a:rPr>
              <a:t>1</a:t>
            </a:r>
            <a:r>
              <a:rPr lang="en-US" altLang="zh-CN" dirty="0">
                <a:solidFill>
                  <a:srgbClr val="6600CC"/>
                </a:solidFill>
              </a:rPr>
              <a:t>,s</a:t>
            </a:r>
            <a:r>
              <a:rPr lang="en-US" altLang="zh-CN" baseline="-25000" dirty="0">
                <a:solidFill>
                  <a:srgbClr val="6600CC"/>
                </a:solidFill>
              </a:rPr>
              <a:t>2</a:t>
            </a:r>
            <a:r>
              <a:rPr lang="en-US" altLang="zh-CN" dirty="0">
                <a:solidFill>
                  <a:srgbClr val="6600CC"/>
                </a:solidFill>
              </a:rPr>
              <a:t>,…,s</a:t>
            </a:r>
            <a:r>
              <a:rPr lang="en-US" altLang="zh-CN" baseline="-25000" dirty="0">
                <a:solidFill>
                  <a:srgbClr val="6600CC"/>
                </a:solidFill>
              </a:rPr>
              <a:t>n</a:t>
            </a:r>
            <a:r>
              <a:rPr lang="en-US" altLang="zh-CN" dirty="0">
                <a:solidFill>
                  <a:srgbClr val="6600CC"/>
                </a:solidFill>
                <a:sym typeface="Symbol" panose="05050102010706020507" pitchFamily="18" charset="2"/>
              </a:rPr>
              <a:t>,</a:t>
            </a:r>
            <a:r>
              <a:rPr lang="en-US" altLang="zh-CN" dirty="0">
                <a:solidFill>
                  <a:srgbClr val="6600CC"/>
                </a:solidFill>
              </a:rPr>
              <a:t>t</a:t>
            </a:r>
            <a:r>
              <a:rPr lang="en-US" altLang="zh-CN" baseline="-25000" dirty="0">
                <a:solidFill>
                  <a:srgbClr val="6600CC"/>
                </a:solidFill>
              </a:rPr>
              <a:t>1</a:t>
            </a:r>
            <a:r>
              <a:rPr lang="en-US" altLang="zh-CN" dirty="0">
                <a:solidFill>
                  <a:srgbClr val="6600CC"/>
                </a:solidFill>
              </a:rPr>
              <a:t>,t</a:t>
            </a:r>
            <a:r>
              <a:rPr lang="en-US" altLang="zh-CN" baseline="-25000" dirty="0">
                <a:solidFill>
                  <a:srgbClr val="6600CC"/>
                </a:solidFill>
              </a:rPr>
              <a:t>2</a:t>
            </a:r>
            <a:r>
              <a:rPr lang="en-US" altLang="zh-CN" dirty="0">
                <a:solidFill>
                  <a:srgbClr val="6600CC"/>
                </a:solidFill>
              </a:rPr>
              <a:t>,…,t</a:t>
            </a:r>
            <a:r>
              <a:rPr lang="en-US" altLang="zh-CN" baseline="-25000" dirty="0">
                <a:solidFill>
                  <a:srgbClr val="6600CC"/>
                </a:solidFill>
              </a:rPr>
              <a:t>m</a:t>
            </a:r>
            <a:r>
              <a:rPr lang="en-US" altLang="zh-CN" dirty="0">
                <a:solidFill>
                  <a:srgbClr val="6600CC"/>
                </a:solidFill>
              </a:rPr>
              <a:t>;x</a:t>
            </a:r>
            <a:r>
              <a:rPr lang="en-US" altLang="zh-CN" baseline="-25000" dirty="0">
                <a:solidFill>
                  <a:srgbClr val="6600CC"/>
                </a:solidFill>
              </a:rPr>
              <a:t>1</a:t>
            </a:r>
            <a:r>
              <a:rPr lang="en-US" altLang="zh-CN" dirty="0">
                <a:solidFill>
                  <a:srgbClr val="6600CC"/>
                </a:solidFill>
              </a:rPr>
              <a:t>,x</a:t>
            </a:r>
            <a:r>
              <a:rPr lang="en-US" altLang="zh-CN" baseline="-25000" dirty="0">
                <a:solidFill>
                  <a:srgbClr val="6600CC"/>
                </a:solidFill>
              </a:rPr>
              <a:t>2</a:t>
            </a:r>
            <a:r>
              <a:rPr lang="en-US" altLang="zh-CN" dirty="0">
                <a:solidFill>
                  <a:srgbClr val="6600CC"/>
                </a:solidFill>
              </a:rPr>
              <a:t>,…,x</a:t>
            </a:r>
            <a:r>
              <a:rPr lang="en-US" altLang="zh-CN" baseline="-25000" dirty="0">
                <a:solidFill>
                  <a:srgbClr val="6600CC"/>
                </a:solidFill>
              </a:rPr>
              <a:t>n</a:t>
            </a:r>
            <a:r>
              <a:rPr lang="en-US" altLang="zh-CN" dirty="0">
                <a:solidFill>
                  <a:srgbClr val="6600CC"/>
                </a:solidFill>
              </a:rPr>
              <a:t>,y</a:t>
            </a:r>
            <a:r>
              <a:rPr lang="en-US" altLang="zh-CN" baseline="-25000" dirty="0">
                <a:solidFill>
                  <a:srgbClr val="6600CC"/>
                </a:solidFill>
              </a:rPr>
              <a:t>1</a:t>
            </a:r>
            <a:r>
              <a:rPr lang="en-US" altLang="zh-CN" dirty="0">
                <a:solidFill>
                  <a:srgbClr val="6600CC"/>
                </a:solidFill>
              </a:rPr>
              <a:t>,y</a:t>
            </a:r>
            <a:r>
              <a:rPr lang="en-US" altLang="zh-CN" baseline="-25000" dirty="0">
                <a:solidFill>
                  <a:srgbClr val="6600CC"/>
                </a:solidFill>
              </a:rPr>
              <a:t>2</a:t>
            </a:r>
            <a:r>
              <a:rPr lang="en-US" altLang="zh-CN" dirty="0">
                <a:solidFill>
                  <a:srgbClr val="6600CC"/>
                </a:solidFill>
              </a:rPr>
              <a:t>,…,</a:t>
            </a:r>
            <a:r>
              <a:rPr lang="en-US" altLang="zh-CN" dirty="0" err="1">
                <a:solidFill>
                  <a:srgbClr val="6600CC"/>
                </a:solidFill>
              </a:rPr>
              <a:t>y</a:t>
            </a:r>
            <a:r>
              <a:rPr lang="en-US" altLang="zh-CN" baseline="-25000" dirty="0" err="1">
                <a:solidFill>
                  <a:srgbClr val="6600CC"/>
                </a:solidFill>
              </a:rPr>
              <a:t>m</a:t>
            </a:r>
            <a:r>
              <a:rPr lang="en-US" altLang="zh-CN" dirty="0">
                <a:solidFill>
                  <a:srgbClr val="6600CC"/>
                </a:solidFill>
              </a:rPr>
              <a:t>)</a:t>
            </a:r>
          </a:p>
          <a:p>
            <a:pPr marL="342969" indent="-342969" algn="ctr">
              <a:lnSpc>
                <a:spcPct val="160000"/>
              </a:lnSpc>
              <a:buNone/>
            </a:pPr>
            <a:r>
              <a:rPr lang="zh-CN" altLang="en-US" dirty="0">
                <a:solidFill>
                  <a:srgbClr val="6600CC"/>
                </a:solidFill>
              </a:rPr>
              <a:t>＝</a:t>
            </a:r>
            <a:r>
              <a:rPr lang="en-US" altLang="zh-CN" dirty="0">
                <a:solidFill>
                  <a:srgbClr val="6600CC"/>
                </a:solidFill>
              </a:rPr>
              <a:t>F</a:t>
            </a:r>
            <a:r>
              <a:rPr lang="en-US" altLang="zh-CN" baseline="-25000" dirty="0">
                <a:solidFill>
                  <a:srgbClr val="6600CC"/>
                </a:solidFill>
              </a:rPr>
              <a:t>X</a:t>
            </a:r>
            <a:r>
              <a:rPr lang="en-US" altLang="zh-CN" dirty="0">
                <a:solidFill>
                  <a:srgbClr val="6600CC"/>
                </a:solidFill>
              </a:rPr>
              <a:t>(s</a:t>
            </a:r>
            <a:r>
              <a:rPr lang="en-US" altLang="zh-CN" baseline="-25000" dirty="0">
                <a:solidFill>
                  <a:srgbClr val="6600CC"/>
                </a:solidFill>
              </a:rPr>
              <a:t>1</a:t>
            </a:r>
            <a:r>
              <a:rPr lang="en-US" altLang="zh-CN" dirty="0">
                <a:solidFill>
                  <a:srgbClr val="6600CC"/>
                </a:solidFill>
              </a:rPr>
              <a:t>,s</a:t>
            </a:r>
            <a:r>
              <a:rPr lang="en-US" altLang="zh-CN" baseline="-25000" dirty="0">
                <a:solidFill>
                  <a:srgbClr val="6600CC"/>
                </a:solidFill>
              </a:rPr>
              <a:t>2</a:t>
            </a:r>
            <a:r>
              <a:rPr lang="en-US" altLang="zh-CN" dirty="0">
                <a:solidFill>
                  <a:srgbClr val="6600CC"/>
                </a:solidFill>
              </a:rPr>
              <a:t>,…,s</a:t>
            </a:r>
            <a:r>
              <a:rPr lang="en-US" altLang="zh-CN" baseline="-25000" dirty="0">
                <a:solidFill>
                  <a:srgbClr val="6600CC"/>
                </a:solidFill>
              </a:rPr>
              <a:t>n</a:t>
            </a:r>
            <a:r>
              <a:rPr lang="en-US" altLang="zh-CN" dirty="0">
                <a:solidFill>
                  <a:srgbClr val="6600CC"/>
                </a:solidFill>
              </a:rPr>
              <a:t>;x</a:t>
            </a:r>
            <a:r>
              <a:rPr lang="en-US" altLang="zh-CN" baseline="-25000" dirty="0">
                <a:solidFill>
                  <a:srgbClr val="6600CC"/>
                </a:solidFill>
              </a:rPr>
              <a:t>1</a:t>
            </a:r>
            <a:r>
              <a:rPr lang="en-US" altLang="zh-CN" dirty="0">
                <a:solidFill>
                  <a:srgbClr val="6600CC"/>
                </a:solidFill>
              </a:rPr>
              <a:t>,x</a:t>
            </a:r>
            <a:r>
              <a:rPr lang="en-US" altLang="zh-CN" baseline="-25000" dirty="0">
                <a:solidFill>
                  <a:srgbClr val="6600CC"/>
                </a:solidFill>
              </a:rPr>
              <a:t>2</a:t>
            </a:r>
            <a:r>
              <a:rPr lang="en-US" altLang="zh-CN" dirty="0">
                <a:solidFill>
                  <a:srgbClr val="6600CC"/>
                </a:solidFill>
              </a:rPr>
              <a:t>,…,</a:t>
            </a:r>
            <a:r>
              <a:rPr lang="en-US" altLang="zh-CN" dirty="0" err="1">
                <a:solidFill>
                  <a:srgbClr val="6600CC"/>
                </a:solidFill>
              </a:rPr>
              <a:t>x</a:t>
            </a:r>
            <a:r>
              <a:rPr lang="en-US" altLang="zh-CN" baseline="-25000" dirty="0" err="1">
                <a:solidFill>
                  <a:srgbClr val="6600CC"/>
                </a:solidFill>
              </a:rPr>
              <a:t>n</a:t>
            </a:r>
            <a:r>
              <a:rPr lang="en-US" altLang="zh-CN" dirty="0">
                <a:solidFill>
                  <a:srgbClr val="6600CC"/>
                </a:solidFill>
              </a:rPr>
              <a:t>)·F</a:t>
            </a:r>
            <a:r>
              <a:rPr lang="en-US" altLang="zh-CN" baseline="-25000" dirty="0">
                <a:solidFill>
                  <a:srgbClr val="6600CC"/>
                </a:solidFill>
              </a:rPr>
              <a:t>Y</a:t>
            </a:r>
            <a:r>
              <a:rPr lang="en-US" altLang="zh-CN" dirty="0">
                <a:solidFill>
                  <a:srgbClr val="6600CC"/>
                </a:solidFill>
              </a:rPr>
              <a:t>(t</a:t>
            </a:r>
            <a:r>
              <a:rPr lang="en-US" altLang="zh-CN" baseline="-25000" dirty="0">
                <a:solidFill>
                  <a:srgbClr val="6600CC"/>
                </a:solidFill>
              </a:rPr>
              <a:t>1</a:t>
            </a:r>
            <a:r>
              <a:rPr lang="en-US" altLang="zh-CN" dirty="0">
                <a:solidFill>
                  <a:srgbClr val="6600CC"/>
                </a:solidFill>
              </a:rPr>
              <a:t>,t</a:t>
            </a:r>
            <a:r>
              <a:rPr lang="en-US" altLang="zh-CN" baseline="-25000" dirty="0">
                <a:solidFill>
                  <a:srgbClr val="6600CC"/>
                </a:solidFill>
              </a:rPr>
              <a:t>2</a:t>
            </a:r>
            <a:r>
              <a:rPr lang="en-US" altLang="zh-CN" dirty="0">
                <a:solidFill>
                  <a:srgbClr val="6600CC"/>
                </a:solidFill>
              </a:rPr>
              <a:t>,…,t</a:t>
            </a:r>
            <a:r>
              <a:rPr lang="en-US" altLang="zh-CN" baseline="-25000" dirty="0">
                <a:solidFill>
                  <a:srgbClr val="6600CC"/>
                </a:solidFill>
              </a:rPr>
              <a:t>m</a:t>
            </a:r>
            <a:r>
              <a:rPr lang="en-US" altLang="zh-CN" dirty="0">
                <a:solidFill>
                  <a:srgbClr val="6600CC"/>
                </a:solidFill>
              </a:rPr>
              <a:t>;y</a:t>
            </a:r>
            <a:r>
              <a:rPr lang="en-US" altLang="zh-CN" baseline="-25000" dirty="0">
                <a:solidFill>
                  <a:srgbClr val="6600CC"/>
                </a:solidFill>
              </a:rPr>
              <a:t>1</a:t>
            </a:r>
            <a:r>
              <a:rPr lang="en-US" altLang="zh-CN" dirty="0">
                <a:solidFill>
                  <a:srgbClr val="6600CC"/>
                </a:solidFill>
              </a:rPr>
              <a:t>,y</a:t>
            </a:r>
            <a:r>
              <a:rPr lang="en-US" altLang="zh-CN" baseline="-25000" dirty="0">
                <a:solidFill>
                  <a:srgbClr val="6600CC"/>
                </a:solidFill>
              </a:rPr>
              <a:t>2</a:t>
            </a:r>
            <a:r>
              <a:rPr lang="en-US" altLang="zh-CN" dirty="0">
                <a:solidFill>
                  <a:srgbClr val="6600CC"/>
                </a:solidFill>
              </a:rPr>
              <a:t>,…,</a:t>
            </a:r>
            <a:r>
              <a:rPr lang="en-US" altLang="zh-CN" dirty="0" err="1">
                <a:solidFill>
                  <a:srgbClr val="6600CC"/>
                </a:solidFill>
              </a:rPr>
              <a:t>y</a:t>
            </a:r>
            <a:r>
              <a:rPr lang="en-US" altLang="zh-CN" baseline="-25000" dirty="0" err="1">
                <a:solidFill>
                  <a:srgbClr val="6600CC"/>
                </a:solidFill>
              </a:rPr>
              <a:t>m</a:t>
            </a:r>
            <a:r>
              <a:rPr lang="en-US" altLang="zh-CN" dirty="0">
                <a:solidFill>
                  <a:srgbClr val="6600CC"/>
                </a:solidFill>
              </a:rPr>
              <a:t>)</a:t>
            </a:r>
          </a:p>
          <a:p>
            <a:pPr marL="342969" indent="-342969">
              <a:lnSpc>
                <a:spcPct val="160000"/>
              </a:lnSpc>
              <a:buNone/>
            </a:pPr>
            <a:r>
              <a:rPr lang="zh-CN" altLang="en-US" dirty="0"/>
              <a:t>或者其</a:t>
            </a:r>
            <a:r>
              <a:rPr lang="en-US" altLang="zh-CN" dirty="0" err="1"/>
              <a:t>n+m</a:t>
            </a:r>
            <a:r>
              <a:rPr lang="zh-CN" altLang="en-US" dirty="0"/>
              <a:t>维联合概率密度满足</a:t>
            </a:r>
          </a:p>
          <a:p>
            <a:pPr marL="342969" indent="-342969" algn="ctr">
              <a:lnSpc>
                <a:spcPct val="160000"/>
              </a:lnSpc>
              <a:buNone/>
            </a:pPr>
            <a:r>
              <a:rPr lang="en-US" altLang="zh-CN" dirty="0" err="1">
                <a:solidFill>
                  <a:srgbClr val="6600CC"/>
                </a:solidFill>
              </a:rPr>
              <a:t>f</a:t>
            </a:r>
            <a:r>
              <a:rPr lang="en-US" altLang="zh-CN" baseline="-25000" dirty="0" err="1">
                <a:solidFill>
                  <a:srgbClr val="6600CC"/>
                </a:solidFill>
              </a:rPr>
              <a:t>XY</a:t>
            </a:r>
            <a:r>
              <a:rPr lang="en-US" altLang="zh-CN" dirty="0">
                <a:solidFill>
                  <a:srgbClr val="6600CC"/>
                </a:solidFill>
              </a:rPr>
              <a:t>(s</a:t>
            </a:r>
            <a:r>
              <a:rPr lang="en-US" altLang="zh-CN" baseline="-25000" dirty="0">
                <a:solidFill>
                  <a:srgbClr val="6600CC"/>
                </a:solidFill>
              </a:rPr>
              <a:t>1</a:t>
            </a:r>
            <a:r>
              <a:rPr lang="en-US" altLang="zh-CN" dirty="0">
                <a:solidFill>
                  <a:srgbClr val="6600CC"/>
                </a:solidFill>
              </a:rPr>
              <a:t>,s</a:t>
            </a:r>
            <a:r>
              <a:rPr lang="en-US" altLang="zh-CN" baseline="-25000" dirty="0">
                <a:solidFill>
                  <a:srgbClr val="6600CC"/>
                </a:solidFill>
              </a:rPr>
              <a:t>2</a:t>
            </a:r>
            <a:r>
              <a:rPr lang="en-US" altLang="zh-CN" dirty="0">
                <a:solidFill>
                  <a:srgbClr val="6600CC"/>
                </a:solidFill>
              </a:rPr>
              <a:t>,…,s</a:t>
            </a:r>
            <a:r>
              <a:rPr lang="en-US" altLang="zh-CN" baseline="-25000" dirty="0">
                <a:solidFill>
                  <a:srgbClr val="6600CC"/>
                </a:solidFill>
              </a:rPr>
              <a:t>n</a:t>
            </a:r>
            <a:r>
              <a:rPr lang="en-US" altLang="zh-CN" dirty="0">
                <a:solidFill>
                  <a:srgbClr val="6600CC"/>
                </a:solidFill>
                <a:sym typeface="Symbol" panose="05050102010706020507" pitchFamily="18" charset="2"/>
              </a:rPr>
              <a:t>,</a:t>
            </a:r>
            <a:r>
              <a:rPr lang="en-US" altLang="zh-CN" dirty="0">
                <a:solidFill>
                  <a:srgbClr val="6600CC"/>
                </a:solidFill>
              </a:rPr>
              <a:t>t</a:t>
            </a:r>
            <a:r>
              <a:rPr lang="en-US" altLang="zh-CN" baseline="-25000" dirty="0">
                <a:solidFill>
                  <a:srgbClr val="6600CC"/>
                </a:solidFill>
              </a:rPr>
              <a:t>1</a:t>
            </a:r>
            <a:r>
              <a:rPr lang="en-US" altLang="zh-CN" dirty="0">
                <a:solidFill>
                  <a:srgbClr val="6600CC"/>
                </a:solidFill>
              </a:rPr>
              <a:t>,t</a:t>
            </a:r>
            <a:r>
              <a:rPr lang="en-US" altLang="zh-CN" baseline="-25000" dirty="0">
                <a:solidFill>
                  <a:srgbClr val="6600CC"/>
                </a:solidFill>
              </a:rPr>
              <a:t>2</a:t>
            </a:r>
            <a:r>
              <a:rPr lang="en-US" altLang="zh-CN" dirty="0">
                <a:solidFill>
                  <a:srgbClr val="6600CC"/>
                </a:solidFill>
              </a:rPr>
              <a:t>,…,t</a:t>
            </a:r>
            <a:r>
              <a:rPr lang="en-US" altLang="zh-CN" baseline="-25000" dirty="0">
                <a:solidFill>
                  <a:srgbClr val="6600CC"/>
                </a:solidFill>
              </a:rPr>
              <a:t>m</a:t>
            </a:r>
            <a:r>
              <a:rPr lang="en-US" altLang="zh-CN" dirty="0">
                <a:solidFill>
                  <a:srgbClr val="6600CC"/>
                </a:solidFill>
              </a:rPr>
              <a:t>;x</a:t>
            </a:r>
            <a:r>
              <a:rPr lang="en-US" altLang="zh-CN" baseline="-25000" dirty="0">
                <a:solidFill>
                  <a:srgbClr val="6600CC"/>
                </a:solidFill>
              </a:rPr>
              <a:t>1</a:t>
            </a:r>
            <a:r>
              <a:rPr lang="en-US" altLang="zh-CN" dirty="0">
                <a:solidFill>
                  <a:srgbClr val="6600CC"/>
                </a:solidFill>
              </a:rPr>
              <a:t>,x</a:t>
            </a:r>
            <a:r>
              <a:rPr lang="en-US" altLang="zh-CN" baseline="-25000" dirty="0">
                <a:solidFill>
                  <a:srgbClr val="6600CC"/>
                </a:solidFill>
              </a:rPr>
              <a:t>2</a:t>
            </a:r>
            <a:r>
              <a:rPr lang="en-US" altLang="zh-CN" dirty="0">
                <a:solidFill>
                  <a:srgbClr val="6600CC"/>
                </a:solidFill>
              </a:rPr>
              <a:t>,…,x</a:t>
            </a:r>
            <a:r>
              <a:rPr lang="en-US" altLang="zh-CN" baseline="-25000" dirty="0">
                <a:solidFill>
                  <a:srgbClr val="6600CC"/>
                </a:solidFill>
              </a:rPr>
              <a:t>n</a:t>
            </a:r>
            <a:r>
              <a:rPr lang="en-US" altLang="zh-CN" dirty="0">
                <a:solidFill>
                  <a:srgbClr val="6600CC"/>
                </a:solidFill>
              </a:rPr>
              <a:t>,y</a:t>
            </a:r>
            <a:r>
              <a:rPr lang="en-US" altLang="zh-CN" baseline="-25000" dirty="0">
                <a:solidFill>
                  <a:srgbClr val="6600CC"/>
                </a:solidFill>
              </a:rPr>
              <a:t>1</a:t>
            </a:r>
            <a:r>
              <a:rPr lang="en-US" altLang="zh-CN" dirty="0">
                <a:solidFill>
                  <a:srgbClr val="6600CC"/>
                </a:solidFill>
              </a:rPr>
              <a:t>,y</a:t>
            </a:r>
            <a:r>
              <a:rPr lang="en-US" altLang="zh-CN" baseline="-25000" dirty="0">
                <a:solidFill>
                  <a:srgbClr val="6600CC"/>
                </a:solidFill>
              </a:rPr>
              <a:t>2</a:t>
            </a:r>
            <a:r>
              <a:rPr lang="en-US" altLang="zh-CN" dirty="0">
                <a:solidFill>
                  <a:srgbClr val="6600CC"/>
                </a:solidFill>
              </a:rPr>
              <a:t>,…,</a:t>
            </a:r>
            <a:r>
              <a:rPr lang="en-US" altLang="zh-CN" dirty="0" err="1">
                <a:solidFill>
                  <a:srgbClr val="6600CC"/>
                </a:solidFill>
              </a:rPr>
              <a:t>y</a:t>
            </a:r>
            <a:r>
              <a:rPr lang="en-US" altLang="zh-CN" baseline="-25000" dirty="0" err="1">
                <a:solidFill>
                  <a:srgbClr val="6600CC"/>
                </a:solidFill>
              </a:rPr>
              <a:t>m</a:t>
            </a:r>
            <a:r>
              <a:rPr lang="en-US" altLang="zh-CN" dirty="0">
                <a:solidFill>
                  <a:srgbClr val="6600CC"/>
                </a:solidFill>
              </a:rPr>
              <a:t>)</a:t>
            </a:r>
          </a:p>
          <a:p>
            <a:pPr marL="342969" indent="-342969" algn="ctr">
              <a:lnSpc>
                <a:spcPct val="160000"/>
              </a:lnSpc>
              <a:buNone/>
            </a:pPr>
            <a:r>
              <a:rPr lang="zh-CN" altLang="en-US" dirty="0">
                <a:solidFill>
                  <a:srgbClr val="6600CC"/>
                </a:solidFill>
              </a:rPr>
              <a:t>＝</a:t>
            </a:r>
            <a:r>
              <a:rPr lang="en-US" altLang="zh-CN" dirty="0" err="1">
                <a:solidFill>
                  <a:srgbClr val="6600CC"/>
                </a:solidFill>
              </a:rPr>
              <a:t>f</a:t>
            </a:r>
            <a:r>
              <a:rPr lang="en-US" altLang="zh-CN" baseline="-25000" dirty="0" err="1">
                <a:solidFill>
                  <a:srgbClr val="6600CC"/>
                </a:solidFill>
              </a:rPr>
              <a:t>X</a:t>
            </a:r>
            <a:r>
              <a:rPr lang="en-US" altLang="zh-CN" dirty="0">
                <a:solidFill>
                  <a:srgbClr val="6600CC"/>
                </a:solidFill>
              </a:rPr>
              <a:t>(s</a:t>
            </a:r>
            <a:r>
              <a:rPr lang="en-US" altLang="zh-CN" baseline="-25000" dirty="0">
                <a:solidFill>
                  <a:srgbClr val="6600CC"/>
                </a:solidFill>
              </a:rPr>
              <a:t>1</a:t>
            </a:r>
            <a:r>
              <a:rPr lang="en-US" altLang="zh-CN" dirty="0">
                <a:solidFill>
                  <a:srgbClr val="6600CC"/>
                </a:solidFill>
              </a:rPr>
              <a:t>,s</a:t>
            </a:r>
            <a:r>
              <a:rPr lang="en-US" altLang="zh-CN" baseline="-25000" dirty="0">
                <a:solidFill>
                  <a:srgbClr val="6600CC"/>
                </a:solidFill>
              </a:rPr>
              <a:t>2</a:t>
            </a:r>
            <a:r>
              <a:rPr lang="en-US" altLang="zh-CN" dirty="0">
                <a:solidFill>
                  <a:srgbClr val="6600CC"/>
                </a:solidFill>
              </a:rPr>
              <a:t>,…,s</a:t>
            </a:r>
            <a:r>
              <a:rPr lang="en-US" altLang="zh-CN" baseline="-25000" dirty="0">
                <a:solidFill>
                  <a:srgbClr val="6600CC"/>
                </a:solidFill>
              </a:rPr>
              <a:t>n</a:t>
            </a:r>
            <a:r>
              <a:rPr lang="en-US" altLang="zh-CN" dirty="0">
                <a:solidFill>
                  <a:srgbClr val="6600CC"/>
                </a:solidFill>
              </a:rPr>
              <a:t>;x</a:t>
            </a:r>
            <a:r>
              <a:rPr lang="en-US" altLang="zh-CN" baseline="-25000" dirty="0">
                <a:solidFill>
                  <a:srgbClr val="6600CC"/>
                </a:solidFill>
              </a:rPr>
              <a:t>1</a:t>
            </a:r>
            <a:r>
              <a:rPr lang="en-US" altLang="zh-CN" dirty="0">
                <a:solidFill>
                  <a:srgbClr val="6600CC"/>
                </a:solidFill>
              </a:rPr>
              <a:t>,x</a:t>
            </a:r>
            <a:r>
              <a:rPr lang="en-US" altLang="zh-CN" baseline="-25000" dirty="0">
                <a:solidFill>
                  <a:srgbClr val="6600CC"/>
                </a:solidFill>
              </a:rPr>
              <a:t>2</a:t>
            </a:r>
            <a:r>
              <a:rPr lang="en-US" altLang="zh-CN" dirty="0">
                <a:solidFill>
                  <a:srgbClr val="6600CC"/>
                </a:solidFill>
              </a:rPr>
              <a:t>,…,</a:t>
            </a:r>
            <a:r>
              <a:rPr lang="en-US" altLang="zh-CN" dirty="0" err="1">
                <a:solidFill>
                  <a:srgbClr val="6600CC"/>
                </a:solidFill>
              </a:rPr>
              <a:t>x</a:t>
            </a:r>
            <a:r>
              <a:rPr lang="en-US" altLang="zh-CN" baseline="-25000" dirty="0" err="1">
                <a:solidFill>
                  <a:srgbClr val="6600CC"/>
                </a:solidFill>
              </a:rPr>
              <a:t>n</a:t>
            </a:r>
            <a:r>
              <a:rPr lang="en-US" altLang="zh-CN" dirty="0">
                <a:solidFill>
                  <a:srgbClr val="6600CC"/>
                </a:solidFill>
              </a:rPr>
              <a:t>)·</a:t>
            </a:r>
            <a:r>
              <a:rPr lang="en-US" altLang="zh-CN" dirty="0" err="1">
                <a:solidFill>
                  <a:srgbClr val="6600CC"/>
                </a:solidFill>
              </a:rPr>
              <a:t>f</a:t>
            </a:r>
            <a:r>
              <a:rPr lang="en-US" altLang="zh-CN" baseline="-25000" dirty="0" err="1">
                <a:solidFill>
                  <a:srgbClr val="6600CC"/>
                </a:solidFill>
              </a:rPr>
              <a:t>Y</a:t>
            </a:r>
            <a:r>
              <a:rPr lang="en-US" altLang="zh-CN" dirty="0">
                <a:solidFill>
                  <a:srgbClr val="6600CC"/>
                </a:solidFill>
              </a:rPr>
              <a:t>(t</a:t>
            </a:r>
            <a:r>
              <a:rPr lang="en-US" altLang="zh-CN" baseline="-25000" dirty="0">
                <a:solidFill>
                  <a:srgbClr val="6600CC"/>
                </a:solidFill>
              </a:rPr>
              <a:t>1</a:t>
            </a:r>
            <a:r>
              <a:rPr lang="en-US" altLang="zh-CN" dirty="0">
                <a:solidFill>
                  <a:srgbClr val="6600CC"/>
                </a:solidFill>
              </a:rPr>
              <a:t>,t</a:t>
            </a:r>
            <a:r>
              <a:rPr lang="en-US" altLang="zh-CN" baseline="-25000" dirty="0">
                <a:solidFill>
                  <a:srgbClr val="6600CC"/>
                </a:solidFill>
              </a:rPr>
              <a:t>2</a:t>
            </a:r>
            <a:r>
              <a:rPr lang="en-US" altLang="zh-CN" dirty="0">
                <a:solidFill>
                  <a:srgbClr val="6600CC"/>
                </a:solidFill>
              </a:rPr>
              <a:t>,…,t</a:t>
            </a:r>
            <a:r>
              <a:rPr lang="en-US" altLang="zh-CN" baseline="-25000" dirty="0">
                <a:solidFill>
                  <a:srgbClr val="6600CC"/>
                </a:solidFill>
              </a:rPr>
              <a:t>m</a:t>
            </a:r>
            <a:r>
              <a:rPr lang="en-US" altLang="zh-CN" dirty="0">
                <a:solidFill>
                  <a:srgbClr val="6600CC"/>
                </a:solidFill>
              </a:rPr>
              <a:t>;y</a:t>
            </a:r>
            <a:r>
              <a:rPr lang="en-US" altLang="zh-CN" baseline="-25000" dirty="0">
                <a:solidFill>
                  <a:srgbClr val="6600CC"/>
                </a:solidFill>
              </a:rPr>
              <a:t>1</a:t>
            </a:r>
            <a:r>
              <a:rPr lang="en-US" altLang="zh-CN" dirty="0">
                <a:solidFill>
                  <a:srgbClr val="6600CC"/>
                </a:solidFill>
              </a:rPr>
              <a:t>,y</a:t>
            </a:r>
            <a:r>
              <a:rPr lang="en-US" altLang="zh-CN" baseline="-25000" dirty="0">
                <a:solidFill>
                  <a:srgbClr val="6600CC"/>
                </a:solidFill>
              </a:rPr>
              <a:t>2</a:t>
            </a:r>
            <a:r>
              <a:rPr lang="en-US" altLang="zh-CN" dirty="0">
                <a:solidFill>
                  <a:srgbClr val="6600CC"/>
                </a:solidFill>
              </a:rPr>
              <a:t>,…,</a:t>
            </a:r>
            <a:r>
              <a:rPr lang="en-US" altLang="zh-CN" dirty="0" err="1">
                <a:solidFill>
                  <a:srgbClr val="6600CC"/>
                </a:solidFill>
              </a:rPr>
              <a:t>y</a:t>
            </a:r>
            <a:r>
              <a:rPr lang="en-US" altLang="zh-CN" baseline="-25000" dirty="0" err="1">
                <a:solidFill>
                  <a:srgbClr val="6600CC"/>
                </a:solidFill>
              </a:rPr>
              <a:t>m</a:t>
            </a:r>
            <a:r>
              <a:rPr lang="en-US" altLang="zh-CN" dirty="0">
                <a:solidFill>
                  <a:srgbClr val="6600CC"/>
                </a:solidFill>
              </a:rPr>
              <a:t>)</a:t>
            </a:r>
          </a:p>
          <a:p>
            <a:pPr marL="342969" indent="-342969">
              <a:lnSpc>
                <a:spcPct val="160000"/>
              </a:lnSpc>
              <a:buNone/>
            </a:pPr>
            <a:r>
              <a:rPr lang="zh-CN" altLang="en-US" dirty="0"/>
              <a:t>则称</a:t>
            </a:r>
            <a:r>
              <a:rPr lang="zh-CN" altLang="en-US" dirty="0">
                <a:solidFill>
                  <a:srgbClr val="0000FF"/>
                </a:solidFill>
              </a:rPr>
              <a:t>随机过程</a:t>
            </a:r>
            <a:r>
              <a:rPr lang="en-US" altLang="zh-CN" dirty="0">
                <a:solidFill>
                  <a:srgbClr val="0000FF"/>
                </a:solidFill>
              </a:rPr>
              <a:t>{X(t),</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r>
              <a:rPr lang="en-US" altLang="zh-CN" dirty="0">
                <a:solidFill>
                  <a:srgbClr val="0000FF"/>
                </a:solidFill>
              </a:rPr>
              <a:t>}</a:t>
            </a:r>
            <a:r>
              <a:rPr lang="zh-CN" altLang="en-US" dirty="0"/>
              <a:t>和</a:t>
            </a:r>
            <a:r>
              <a:rPr lang="en-US" altLang="zh-CN" dirty="0">
                <a:solidFill>
                  <a:srgbClr val="0000FF"/>
                </a:solidFill>
              </a:rPr>
              <a:t>{Y(t),</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r>
              <a:rPr lang="en-US" altLang="zh-CN" dirty="0">
                <a:solidFill>
                  <a:srgbClr val="0000FF"/>
                </a:solidFill>
              </a:rPr>
              <a:t>}</a:t>
            </a:r>
            <a:r>
              <a:rPr lang="zh-CN" altLang="en-US" dirty="0">
                <a:solidFill>
                  <a:srgbClr val="0000FF"/>
                </a:solidFill>
              </a:rPr>
              <a:t>的</a:t>
            </a:r>
            <a:r>
              <a:rPr lang="zh-CN" altLang="en-US" dirty="0">
                <a:solidFill>
                  <a:srgbClr val="CC00CC"/>
                </a:solidFill>
              </a:rPr>
              <a:t>相互独立</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8291">
                                            <p:txEl>
                                              <p:pRg st="0" end="0"/>
                                            </p:txEl>
                                          </p:spTgt>
                                        </p:tgtEl>
                                        <p:attrNameLst>
                                          <p:attrName>style.visibility</p:attrName>
                                        </p:attrNameLst>
                                      </p:cBhvr>
                                      <p:to>
                                        <p:strVal val="visible"/>
                                      </p:to>
                                    </p:set>
                                    <p:anim calcmode="lin" valueType="num">
                                      <p:cBhvr additive="base">
                                        <p:cTn id="7" dur="500" fill="hold"/>
                                        <p:tgtEl>
                                          <p:spTgt spid="268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829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8291">
                                            <p:txEl>
                                              <p:pRg st="1" end="1"/>
                                            </p:txEl>
                                          </p:spTgt>
                                        </p:tgtEl>
                                        <p:attrNameLst>
                                          <p:attrName>style.visibility</p:attrName>
                                        </p:attrNameLst>
                                      </p:cBhvr>
                                      <p:to>
                                        <p:strVal val="visible"/>
                                      </p:to>
                                    </p:set>
                                    <p:anim calcmode="lin" valueType="num">
                                      <p:cBhvr additive="base">
                                        <p:cTn id="12" dur="500" fill="hold"/>
                                        <p:tgtEl>
                                          <p:spTgt spid="26829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8291">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68291">
                                            <p:txEl>
                                              <p:pRg st="2" end="2"/>
                                            </p:txEl>
                                          </p:spTgt>
                                        </p:tgtEl>
                                        <p:attrNameLst>
                                          <p:attrName>style.visibility</p:attrName>
                                        </p:attrNameLst>
                                      </p:cBhvr>
                                      <p:to>
                                        <p:strVal val="visible"/>
                                      </p:to>
                                    </p:set>
                                    <p:anim calcmode="lin" valueType="num">
                                      <p:cBhvr additive="base">
                                        <p:cTn id="17" dur="500" fill="hold"/>
                                        <p:tgtEl>
                                          <p:spTgt spid="26829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8291">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68291">
                                            <p:txEl>
                                              <p:pRg st="3" end="3"/>
                                            </p:txEl>
                                          </p:spTgt>
                                        </p:tgtEl>
                                        <p:attrNameLst>
                                          <p:attrName>style.visibility</p:attrName>
                                        </p:attrNameLst>
                                      </p:cBhvr>
                                      <p:to>
                                        <p:strVal val="visible"/>
                                      </p:to>
                                    </p:set>
                                    <p:anim calcmode="lin" valueType="num">
                                      <p:cBhvr additive="base">
                                        <p:cTn id="22" dur="500" fill="hold"/>
                                        <p:tgtEl>
                                          <p:spTgt spid="268291">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68291">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68291">
                                            <p:txEl>
                                              <p:pRg st="4" end="4"/>
                                            </p:txEl>
                                          </p:spTgt>
                                        </p:tgtEl>
                                        <p:attrNameLst>
                                          <p:attrName>style.visibility</p:attrName>
                                        </p:attrNameLst>
                                      </p:cBhvr>
                                      <p:to>
                                        <p:strVal val="visible"/>
                                      </p:to>
                                    </p:set>
                                    <p:anim calcmode="lin" valueType="num">
                                      <p:cBhvr additive="base">
                                        <p:cTn id="27" dur="500" fill="hold"/>
                                        <p:tgtEl>
                                          <p:spTgt spid="26829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8291">
                                            <p:txEl>
                                              <p:pRg st="4" end="4"/>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68291">
                                            <p:txEl>
                                              <p:pRg st="5" end="5"/>
                                            </p:txEl>
                                          </p:spTgt>
                                        </p:tgtEl>
                                        <p:attrNameLst>
                                          <p:attrName>style.visibility</p:attrName>
                                        </p:attrNameLst>
                                      </p:cBhvr>
                                      <p:to>
                                        <p:strVal val="visible"/>
                                      </p:to>
                                    </p:set>
                                    <p:anim calcmode="lin" valueType="num">
                                      <p:cBhvr additive="base">
                                        <p:cTn id="32" dur="500" fill="hold"/>
                                        <p:tgtEl>
                                          <p:spTgt spid="268291">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68291">
                                            <p:txEl>
                                              <p:pRg st="5" end="5"/>
                                            </p:txEl>
                                          </p:spTgt>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268291">
                                            <p:txEl>
                                              <p:pRg st="6" end="6"/>
                                            </p:txEl>
                                          </p:spTgt>
                                        </p:tgtEl>
                                        <p:attrNameLst>
                                          <p:attrName>style.visibility</p:attrName>
                                        </p:attrNameLst>
                                      </p:cBhvr>
                                      <p:to>
                                        <p:strVal val="visible"/>
                                      </p:to>
                                    </p:set>
                                    <p:anim calcmode="lin" valueType="num">
                                      <p:cBhvr additive="base">
                                        <p:cTn id="37" dur="500" fill="hold"/>
                                        <p:tgtEl>
                                          <p:spTgt spid="26829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829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6147B5E2-46A9-A4D5-7379-238FB95615B9}"/>
              </a:ext>
            </a:extLst>
          </p:cNvPr>
          <p:cNvSpPr>
            <a:spLocks noGrp="1" noChangeArrowheads="1"/>
          </p:cNvSpPr>
          <p:nvPr>
            <p:ph type="title"/>
          </p:nvPr>
        </p:nvSpPr>
        <p:spPr/>
        <p:txBody>
          <a:bodyPr/>
          <a:lstStyle/>
          <a:p>
            <a:pPr eaLnBrk="1" hangingPunct="1"/>
            <a:r>
              <a:rPr lang="en-US" altLang="zh-CN"/>
              <a:t>n</a:t>
            </a:r>
            <a:r>
              <a:rPr lang="zh-CN" altLang="en-US"/>
              <a:t>维特征函数</a:t>
            </a:r>
          </a:p>
        </p:txBody>
      </p:sp>
      <p:sp>
        <p:nvSpPr>
          <p:cNvPr id="269315" name="Rectangle 3">
            <a:extLst>
              <a:ext uri="{FF2B5EF4-FFF2-40B4-BE49-F238E27FC236}">
                <a16:creationId xmlns:a16="http://schemas.microsoft.com/office/drawing/2014/main" id="{E6AA141B-6F80-C6E6-DC8F-DFE4878F0CB3}"/>
              </a:ext>
            </a:extLst>
          </p:cNvPr>
          <p:cNvSpPr>
            <a:spLocks noGrp="1" noChangeArrowheads="1"/>
          </p:cNvSpPr>
          <p:nvPr>
            <p:ph type="body" idx="1"/>
          </p:nvPr>
        </p:nvSpPr>
        <p:spPr>
          <a:xfrm>
            <a:off x="536576" y="1167084"/>
            <a:ext cx="9907006" cy="673589"/>
          </a:xfrm>
        </p:spPr>
        <p:txBody>
          <a:bodyPr>
            <a:normAutofit/>
          </a:bodyPr>
          <a:lstStyle/>
          <a:p>
            <a:pPr eaLnBrk="1" hangingPunct="1">
              <a:buFont typeface="Wingdings" panose="05000000000000000000" pitchFamily="2" charset="2"/>
              <a:buNone/>
            </a:pPr>
            <a:r>
              <a:rPr lang="zh-CN" altLang="en-US" dirty="0"/>
              <a:t>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的</a:t>
            </a:r>
            <a:r>
              <a:rPr lang="en-US" altLang="zh-CN" dirty="0">
                <a:solidFill>
                  <a:srgbClr val="CC00CC"/>
                </a:solidFill>
              </a:rPr>
              <a:t>n</a:t>
            </a:r>
            <a:r>
              <a:rPr lang="zh-CN" altLang="en-US" dirty="0">
                <a:solidFill>
                  <a:srgbClr val="CC00CC"/>
                </a:solidFill>
              </a:rPr>
              <a:t>维特征函数</a:t>
            </a:r>
            <a:r>
              <a:rPr lang="zh-CN" altLang="en-US" dirty="0"/>
              <a:t>定义为</a:t>
            </a:r>
          </a:p>
        </p:txBody>
      </p:sp>
      <mc:AlternateContent xmlns:mc="http://schemas.openxmlformats.org/markup-compatibility/2006" xmlns:a14="http://schemas.microsoft.com/office/drawing/2010/main">
        <mc:Choice Requires="a14">
          <p:sp>
            <p:nvSpPr>
              <p:cNvPr id="269316" name="Object 4">
                <a:extLst>
                  <a:ext uri="{FF2B5EF4-FFF2-40B4-BE49-F238E27FC236}">
                    <a16:creationId xmlns:a16="http://schemas.microsoft.com/office/drawing/2014/main" id="{509E2C44-6919-A910-66B2-58F96E7AC484}"/>
                  </a:ext>
                </a:extLst>
              </p:cNvPr>
              <p:cNvSpPr txBox="1"/>
              <p:nvPr/>
            </p:nvSpPr>
            <p:spPr bwMode="auto">
              <a:xfrm>
                <a:off x="4270375" y="2150616"/>
                <a:ext cx="5189151" cy="74153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69316" name="Object 4">
                <a:extLst>
                  <a:ext uri="{FF2B5EF4-FFF2-40B4-BE49-F238E27FC236}">
                    <a16:creationId xmlns:a16="http://schemas.microsoft.com/office/drawing/2014/main" id="{509E2C44-6919-A910-66B2-58F96E7AC484}"/>
                  </a:ext>
                </a:extLst>
              </p:cNvPr>
              <p:cNvSpPr txBox="1">
                <a:spLocks noRot="1" noChangeAspect="1" noMove="1" noResize="1" noEditPoints="1" noAdjustHandles="1" noChangeArrowheads="1" noChangeShapeType="1" noTextEdit="1"/>
              </p:cNvSpPr>
              <p:nvPr/>
            </p:nvSpPr>
            <p:spPr bwMode="auto">
              <a:xfrm>
                <a:off x="4270375" y="2150616"/>
                <a:ext cx="5189151" cy="741534"/>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269317" name="Rectangle 5">
            <a:extLst>
              <a:ext uri="{FF2B5EF4-FFF2-40B4-BE49-F238E27FC236}">
                <a16:creationId xmlns:a16="http://schemas.microsoft.com/office/drawing/2014/main" id="{E7E80C78-B277-E8F4-5160-1011D2A9EC8D}"/>
              </a:ext>
            </a:extLst>
          </p:cNvPr>
          <p:cNvSpPr>
            <a:spLocks noChangeArrowheads="1"/>
          </p:cNvSpPr>
          <p:nvPr/>
        </p:nvSpPr>
        <p:spPr bwMode="auto">
          <a:xfrm>
            <a:off x="612775" y="3000667"/>
            <a:ext cx="9220200" cy="208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latin typeface="+mn-ea"/>
                <a:ea typeface="+mn-ea"/>
              </a:rPr>
              <a:t>称</a:t>
            </a:r>
          </a:p>
          <a:p>
            <a:pPr algn="ctr" eaLnBrk="1" hangingPunct="1">
              <a:lnSpc>
                <a:spcPct val="150000"/>
              </a:lnSpc>
              <a:spcAft>
                <a:spcPct val="30000"/>
              </a:spcAft>
            </a:pPr>
            <a:r>
              <a:rPr lang="en-US" altLang="zh-CN" b="1" dirty="0">
                <a:latin typeface="+mn-ea"/>
                <a:ea typeface="+mn-ea"/>
                <a:sym typeface="Symbol" panose="05050102010706020507" pitchFamily="18" charset="2"/>
              </a:rPr>
              <a:t>{(</a:t>
            </a:r>
            <a:r>
              <a:rPr lang="en-US" altLang="zh-CN" b="1" dirty="0">
                <a:latin typeface="+mn-ea"/>
                <a:ea typeface="+mn-ea"/>
              </a:rPr>
              <a:t>t</a:t>
            </a:r>
            <a:r>
              <a:rPr lang="en-US" altLang="zh-CN" b="1" baseline="-25000" dirty="0">
                <a:latin typeface="+mn-ea"/>
                <a:ea typeface="+mn-ea"/>
              </a:rPr>
              <a:t>1</a:t>
            </a:r>
            <a:r>
              <a:rPr lang="en-US" altLang="zh-CN" b="1" dirty="0">
                <a:latin typeface="+mn-ea"/>
                <a:ea typeface="+mn-ea"/>
              </a:rPr>
              <a:t>,t</a:t>
            </a:r>
            <a:r>
              <a:rPr lang="en-US" altLang="zh-CN" b="1" baseline="-25000" dirty="0">
                <a:latin typeface="+mn-ea"/>
                <a:ea typeface="+mn-ea"/>
              </a:rPr>
              <a:t>2</a:t>
            </a:r>
            <a:r>
              <a:rPr lang="en-US" altLang="zh-CN" b="1" dirty="0">
                <a:latin typeface="+mn-ea"/>
                <a:ea typeface="+mn-ea"/>
              </a:rPr>
              <a:t>,…,t</a:t>
            </a:r>
            <a:r>
              <a:rPr lang="en-US" altLang="zh-CN" b="1" baseline="-25000" dirty="0">
                <a:latin typeface="+mn-ea"/>
                <a:ea typeface="+mn-ea"/>
              </a:rPr>
              <a:t>n</a:t>
            </a:r>
            <a:r>
              <a:rPr lang="en-US" altLang="zh-CN" b="1" dirty="0">
                <a:latin typeface="+mn-ea"/>
                <a:ea typeface="+mn-ea"/>
              </a:rPr>
              <a:t>;u</a:t>
            </a:r>
            <a:r>
              <a:rPr lang="en-US" altLang="zh-CN" b="1" baseline="-25000" dirty="0">
                <a:latin typeface="+mn-ea"/>
                <a:ea typeface="+mn-ea"/>
              </a:rPr>
              <a:t>1</a:t>
            </a:r>
            <a:r>
              <a:rPr lang="en-US" altLang="zh-CN" b="1" dirty="0">
                <a:latin typeface="+mn-ea"/>
                <a:ea typeface="+mn-ea"/>
              </a:rPr>
              <a:t>,u</a:t>
            </a:r>
            <a:r>
              <a:rPr lang="en-US" altLang="zh-CN" b="1" baseline="-25000" dirty="0">
                <a:latin typeface="+mn-ea"/>
                <a:ea typeface="+mn-ea"/>
              </a:rPr>
              <a:t>2</a:t>
            </a:r>
            <a:r>
              <a:rPr lang="en-US" altLang="zh-CN" b="1" dirty="0">
                <a:latin typeface="+mn-ea"/>
                <a:ea typeface="+mn-ea"/>
              </a:rPr>
              <a:t>,…,u</a:t>
            </a:r>
            <a:r>
              <a:rPr lang="en-US" altLang="zh-CN" b="1" baseline="-25000" dirty="0">
                <a:latin typeface="+mn-ea"/>
                <a:ea typeface="+mn-ea"/>
              </a:rPr>
              <a:t>n</a:t>
            </a:r>
            <a:r>
              <a:rPr lang="en-US" altLang="zh-CN" b="1" dirty="0">
                <a:latin typeface="+mn-ea"/>
                <a:ea typeface="+mn-ea"/>
              </a:rPr>
              <a:t>)</a:t>
            </a:r>
            <a:r>
              <a:rPr lang="zh-CN" altLang="en-US" b="1" dirty="0">
                <a:latin typeface="+mn-ea"/>
                <a:ea typeface="+mn-ea"/>
              </a:rPr>
              <a:t>，</a:t>
            </a:r>
            <a:r>
              <a:rPr lang="en-US" altLang="zh-CN" b="1" dirty="0">
                <a:latin typeface="+mn-ea"/>
                <a:ea typeface="+mn-ea"/>
              </a:rPr>
              <a:t>t</a:t>
            </a:r>
            <a:r>
              <a:rPr lang="en-US" altLang="zh-CN" b="1" baseline="-25000" dirty="0">
                <a:latin typeface="+mn-ea"/>
                <a:ea typeface="+mn-ea"/>
              </a:rPr>
              <a:t>1</a:t>
            </a:r>
            <a:r>
              <a:rPr lang="en-US" altLang="zh-CN" b="1" dirty="0">
                <a:latin typeface="+mn-ea"/>
                <a:ea typeface="+mn-ea"/>
              </a:rPr>
              <a:t>,t</a:t>
            </a:r>
            <a:r>
              <a:rPr lang="en-US" altLang="zh-CN" b="1" baseline="-25000" dirty="0">
                <a:latin typeface="+mn-ea"/>
                <a:ea typeface="+mn-ea"/>
              </a:rPr>
              <a:t>2</a:t>
            </a:r>
            <a:r>
              <a:rPr lang="en-US" altLang="zh-CN" b="1" dirty="0">
                <a:latin typeface="+mn-ea"/>
                <a:ea typeface="+mn-ea"/>
              </a:rPr>
              <a:t>,…,</a:t>
            </a:r>
            <a:r>
              <a:rPr lang="en-US" altLang="zh-CN" b="1" dirty="0" err="1">
                <a:latin typeface="+mn-ea"/>
                <a:ea typeface="+mn-ea"/>
              </a:rPr>
              <a:t>t</a:t>
            </a:r>
            <a:r>
              <a:rPr lang="en-US" altLang="zh-CN" b="1" baseline="-25000" dirty="0" err="1">
                <a:latin typeface="+mn-ea"/>
                <a:ea typeface="+mn-ea"/>
              </a:rPr>
              <a:t>n</a:t>
            </a:r>
            <a:r>
              <a:rPr lang="en-US" altLang="zh-CN" b="1" dirty="0" err="1">
                <a:latin typeface="+mn-ea"/>
                <a:ea typeface="+mn-ea"/>
                <a:sym typeface="Symbol" panose="05050102010706020507" pitchFamily="18" charset="2"/>
              </a:rPr>
              <a:t>T</a:t>
            </a:r>
            <a:r>
              <a:rPr lang="zh-CN" altLang="en-US" b="1" dirty="0">
                <a:latin typeface="+mn-ea"/>
                <a:ea typeface="+mn-ea"/>
                <a:sym typeface="Symbol" panose="05050102010706020507" pitchFamily="18" charset="2"/>
              </a:rPr>
              <a:t>，</a:t>
            </a:r>
            <a:r>
              <a:rPr lang="en-US" altLang="zh-CN" b="1" dirty="0">
                <a:latin typeface="+mn-ea"/>
                <a:ea typeface="+mn-ea"/>
                <a:sym typeface="Symbol" panose="05050102010706020507" pitchFamily="18" charset="2"/>
              </a:rPr>
              <a:t>n1}</a:t>
            </a:r>
          </a:p>
          <a:p>
            <a:pPr algn="ctr" eaLnBrk="1" hangingPunct="1">
              <a:spcAft>
                <a:spcPct val="30000"/>
              </a:spcAft>
            </a:pPr>
            <a:endParaRPr lang="en-US" altLang="zh-CN" b="1" dirty="0">
              <a:latin typeface="+mn-ea"/>
              <a:ea typeface="+mn-ea"/>
              <a:sym typeface="Symbol" panose="05050102010706020507" pitchFamily="18" charset="2"/>
            </a:endParaRPr>
          </a:p>
          <a:p>
            <a:pPr eaLnBrk="1" hangingPunct="1">
              <a:lnSpc>
                <a:spcPct val="120000"/>
              </a:lnSpc>
            </a:pPr>
            <a:r>
              <a:rPr lang="zh-CN" altLang="en-US" b="1" dirty="0">
                <a:latin typeface="+mn-ea"/>
                <a:ea typeface="+mn-ea"/>
              </a:rPr>
              <a:t>为随机过程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的</a:t>
            </a:r>
            <a:r>
              <a:rPr lang="zh-CN" altLang="en-US" b="1" dirty="0">
                <a:solidFill>
                  <a:srgbClr val="CC00CC"/>
                </a:solidFill>
                <a:latin typeface="+mn-ea"/>
                <a:ea typeface="+mn-ea"/>
              </a:rPr>
              <a:t>有限维特征函数族</a:t>
            </a:r>
            <a:r>
              <a:rPr lang="zh-CN" altLang="en-US" b="1" dirty="0">
                <a:latin typeface="+mn-ea"/>
                <a:ea typeface="+mn-ea"/>
              </a:rPr>
              <a:t>。</a:t>
            </a:r>
          </a:p>
        </p:txBody>
      </p:sp>
      <p:sp>
        <p:nvSpPr>
          <p:cNvPr id="4" name="Rectangle 3">
            <a:extLst>
              <a:ext uri="{FF2B5EF4-FFF2-40B4-BE49-F238E27FC236}">
                <a16:creationId xmlns:a16="http://schemas.microsoft.com/office/drawing/2014/main" id="{09AE544B-91BF-F703-81E0-BCC1D9A0956C}"/>
              </a:ext>
            </a:extLst>
          </p:cNvPr>
          <p:cNvSpPr txBox="1">
            <a:spLocks noChangeArrowheads="1"/>
          </p:cNvSpPr>
          <p:nvPr/>
        </p:nvSpPr>
        <p:spPr>
          <a:xfrm>
            <a:off x="501650" y="1981994"/>
            <a:ext cx="4225925" cy="1168670"/>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gn="ctr">
              <a:buFont typeface="Wingdings" panose="05000000000000000000" pitchFamily="2" charset="2"/>
              <a:buNone/>
            </a:pPr>
            <a:r>
              <a:rPr lang="zh-CN" altLang="en-US" dirty="0">
                <a:sym typeface="Symbol" panose="05050102010706020507" pitchFamily="18" charset="2"/>
              </a:rPr>
              <a:t></a:t>
            </a:r>
            <a:r>
              <a:rPr lang="en-US" altLang="zh-CN" dirty="0">
                <a:sym typeface="Symbol" panose="05050102010706020507" pitchFamily="18" charset="2"/>
              </a:rPr>
              <a:t>(</a:t>
            </a:r>
            <a:r>
              <a:rPr lang="en-US" altLang="zh-CN" dirty="0"/>
              <a:t>t</a:t>
            </a:r>
            <a:r>
              <a:rPr lang="en-US" altLang="zh-CN" baseline="-25000" dirty="0"/>
              <a:t>1</a:t>
            </a:r>
            <a:r>
              <a:rPr lang="en-US" altLang="zh-CN" dirty="0"/>
              <a:t>,t</a:t>
            </a:r>
            <a:r>
              <a:rPr lang="en-US" altLang="zh-CN" baseline="-25000" dirty="0"/>
              <a:t>2</a:t>
            </a:r>
            <a:r>
              <a:rPr lang="en-US" altLang="zh-CN" dirty="0"/>
              <a:t>,…,t</a:t>
            </a:r>
            <a:r>
              <a:rPr lang="en-US" altLang="zh-CN" baseline="-25000" dirty="0"/>
              <a:t>n</a:t>
            </a:r>
            <a:r>
              <a:rPr lang="en-US" altLang="zh-CN" dirty="0"/>
              <a:t>;u</a:t>
            </a:r>
            <a:r>
              <a:rPr lang="en-US" altLang="zh-CN" baseline="-25000" dirty="0"/>
              <a:t>1</a:t>
            </a:r>
            <a:r>
              <a:rPr lang="en-US" altLang="zh-CN" dirty="0"/>
              <a:t>,u</a:t>
            </a:r>
            <a:r>
              <a:rPr lang="en-US" altLang="zh-CN" baseline="-25000" dirty="0"/>
              <a:t>2</a:t>
            </a:r>
            <a:r>
              <a:rPr lang="en-US" altLang="zh-CN" dirty="0"/>
              <a:t>,…,u</a:t>
            </a:r>
            <a:r>
              <a:rPr lang="en-US" altLang="zh-CN" baseline="-25000" dirty="0"/>
              <a:t>n</a:t>
            </a:r>
            <a:r>
              <a:rPr lang="en-US" altLang="zh-CN"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anim calcmode="lin" valueType="num">
                                      <p:cBhvr additive="base">
                                        <p:cTn id="7" dur="500" fill="hold"/>
                                        <p:tgtEl>
                                          <p:spTgt spid="269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931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269316"/>
                                        </p:tgtEl>
                                        <p:attrNameLst>
                                          <p:attrName>style.visibility</p:attrName>
                                        </p:attrNameLst>
                                      </p:cBhvr>
                                      <p:to>
                                        <p:strVal val="visible"/>
                                      </p:to>
                                    </p:set>
                                    <p:animEffect transition="in" filter="randombar(horizontal)">
                                      <p:cBhvr>
                                        <p:cTn id="18" dur="500"/>
                                        <p:tgtEl>
                                          <p:spTgt spid="26931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69317">
                                            <p:txEl>
                                              <p:pRg st="0" end="0"/>
                                            </p:txEl>
                                          </p:spTgt>
                                        </p:tgtEl>
                                        <p:attrNameLst>
                                          <p:attrName>style.visibility</p:attrName>
                                        </p:attrNameLst>
                                      </p:cBhvr>
                                      <p:to>
                                        <p:strVal val="visible"/>
                                      </p:to>
                                    </p:set>
                                    <p:anim calcmode="lin" valueType="num">
                                      <p:cBhvr additive="base">
                                        <p:cTn id="23" dur="500" fill="hold"/>
                                        <p:tgtEl>
                                          <p:spTgt spid="269317">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9317">
                                            <p:txEl>
                                              <p:pRg st="0" end="0"/>
                                            </p:txEl>
                                          </p:spTgt>
                                        </p:tgtEl>
                                        <p:attrNameLst>
                                          <p:attrName>ppt_y</p:attrName>
                                        </p:attrNameLst>
                                      </p:cBhvr>
                                      <p:tavLst>
                                        <p:tav tm="0">
                                          <p:val>
                                            <p:strVal val="1+#ppt_h/2"/>
                                          </p:val>
                                        </p:tav>
                                        <p:tav tm="100000">
                                          <p:val>
                                            <p:strVal val="#ppt_y"/>
                                          </p:val>
                                        </p:tav>
                                      </p:tavLst>
                                    </p:anim>
                                  </p:childTnLst>
                                </p:cTn>
                              </p:par>
                            </p:childTnLst>
                          </p:cTn>
                        </p:par>
                        <p:par>
                          <p:cTn id="25" fill="hold" nodeType="afterGroup">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269317">
                                            <p:txEl>
                                              <p:pRg st="1" end="1"/>
                                            </p:txEl>
                                          </p:spTgt>
                                        </p:tgtEl>
                                        <p:attrNameLst>
                                          <p:attrName>style.visibility</p:attrName>
                                        </p:attrNameLst>
                                      </p:cBhvr>
                                      <p:to>
                                        <p:strVal val="visible"/>
                                      </p:to>
                                    </p:set>
                                    <p:anim calcmode="lin" valueType="num">
                                      <p:cBhvr additive="base">
                                        <p:cTn id="28" dur="500" fill="hold"/>
                                        <p:tgtEl>
                                          <p:spTgt spid="269317">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69317">
                                            <p:txEl>
                                              <p:pRg st="1" end="1"/>
                                            </p:txEl>
                                          </p:spTgt>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1000"/>
                            </p:stCondLst>
                            <p:childTnLst>
                              <p:par>
                                <p:cTn id="31" presetID="2" presetClass="entr" presetSubtype="4" fill="hold" grpId="0" nodeType="afterEffect">
                                  <p:stCondLst>
                                    <p:cond delay="0"/>
                                  </p:stCondLst>
                                  <p:childTnLst>
                                    <p:set>
                                      <p:cBhvr>
                                        <p:cTn id="32" dur="1" fill="hold">
                                          <p:stCondLst>
                                            <p:cond delay="0"/>
                                          </p:stCondLst>
                                        </p:cTn>
                                        <p:tgtEl>
                                          <p:spTgt spid="269317">
                                            <p:txEl>
                                              <p:pRg st="3" end="3"/>
                                            </p:txEl>
                                          </p:spTgt>
                                        </p:tgtEl>
                                        <p:attrNameLst>
                                          <p:attrName>style.visibility</p:attrName>
                                        </p:attrNameLst>
                                      </p:cBhvr>
                                      <p:to>
                                        <p:strVal val="visible"/>
                                      </p:to>
                                    </p:set>
                                    <p:anim calcmode="lin" valueType="num">
                                      <p:cBhvr additive="base">
                                        <p:cTn id="33" dur="500" fill="hold"/>
                                        <p:tgtEl>
                                          <p:spTgt spid="269317">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931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5" grpId="0" build="p"/>
      <p:bldP spid="269316" grpId="0"/>
      <p:bldP spid="269317" grpId="0" uiExpand="1" build="p"/>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a:extLst>
              <a:ext uri="{FF2B5EF4-FFF2-40B4-BE49-F238E27FC236}">
                <a16:creationId xmlns:a16="http://schemas.microsoft.com/office/drawing/2014/main" id="{49CC724B-9868-7F52-7AA8-153DC648754F}"/>
              </a:ext>
            </a:extLst>
          </p:cNvPr>
          <p:cNvSpPr>
            <a:spLocks noGrp="1" noChangeArrowheads="1"/>
          </p:cNvSpPr>
          <p:nvPr>
            <p:ph type="title"/>
          </p:nvPr>
        </p:nvSpPr>
        <p:spPr/>
        <p:txBody>
          <a:bodyPr/>
          <a:lstStyle/>
          <a:p>
            <a:pPr algn="l" eaLnBrk="1" hangingPunct="1"/>
            <a:r>
              <a:rPr lang="zh-CN" altLang="en-US" dirty="0"/>
              <a:t>实例</a:t>
            </a:r>
            <a:endParaRPr lang="en-US" altLang="zh-CN" dirty="0"/>
          </a:p>
        </p:txBody>
      </p:sp>
      <p:sp>
        <p:nvSpPr>
          <p:cNvPr id="270339" name="Rectangle 3">
            <a:extLst>
              <a:ext uri="{FF2B5EF4-FFF2-40B4-BE49-F238E27FC236}">
                <a16:creationId xmlns:a16="http://schemas.microsoft.com/office/drawing/2014/main" id="{2C68C332-E38E-3340-26E0-917C35978A18}"/>
              </a:ext>
            </a:extLst>
          </p:cNvPr>
          <p:cNvSpPr>
            <a:spLocks noGrp="1" noChangeArrowheads="1"/>
          </p:cNvSpPr>
          <p:nvPr>
            <p:ph type="body" idx="1"/>
          </p:nvPr>
        </p:nvSpPr>
        <p:spPr>
          <a:xfrm>
            <a:off x="384175" y="1163251"/>
            <a:ext cx="7399462" cy="584335"/>
          </a:xfrm>
        </p:spPr>
        <p:txBody>
          <a:bodyPr>
            <a:noAutofit/>
          </a:bodyPr>
          <a:lstStyle/>
          <a:p>
            <a:pPr>
              <a:buNone/>
            </a:pPr>
            <a:r>
              <a:rPr lang="zh-CN" altLang="en-US" dirty="0">
                <a:solidFill>
                  <a:srgbClr val="C00000"/>
                </a:solidFill>
              </a:rPr>
              <a:t>例</a:t>
            </a:r>
            <a:r>
              <a:rPr lang="en-US" altLang="zh-CN" dirty="0">
                <a:solidFill>
                  <a:srgbClr val="C00000"/>
                </a:solidFill>
              </a:rPr>
              <a:t>4  </a:t>
            </a:r>
            <a:r>
              <a:rPr lang="zh-CN" altLang="en-US" dirty="0"/>
              <a:t>利用投掷一枚硬币的试验，定义随机过程</a:t>
            </a:r>
          </a:p>
        </p:txBody>
      </p:sp>
      <mc:AlternateContent xmlns:mc="http://schemas.openxmlformats.org/markup-compatibility/2006" xmlns:a14="http://schemas.microsoft.com/office/drawing/2010/main">
        <mc:Choice Requires="a14">
          <p:sp>
            <p:nvSpPr>
              <p:cNvPr id="270340" name="Object 4">
                <a:extLst>
                  <a:ext uri="{FF2B5EF4-FFF2-40B4-BE49-F238E27FC236}">
                    <a16:creationId xmlns:a16="http://schemas.microsoft.com/office/drawing/2014/main" id="{0CD9A677-1E2E-B276-DC05-A3FA39A9AE70}"/>
                  </a:ext>
                </a:extLst>
              </p:cNvPr>
              <p:cNvSpPr txBox="1"/>
              <p:nvPr/>
            </p:nvSpPr>
            <p:spPr bwMode="auto">
              <a:xfrm>
                <a:off x="3045707" y="1859394"/>
                <a:ext cx="6799249" cy="120201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𝜋</m:t>
                                    </m:r>
                                  </m:e>
                                </m:func>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出现正面</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1</m:t>
                                    </m:r>
                                  </m:sub>
                                </m:sSub>
                              </m:e>
                            </m:mr>
                            <m:mr>
                              <m:e>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出现反面</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2</m:t>
                                    </m:r>
                                  </m:sub>
                                </m:sSub>
                              </m:e>
                            </m:mr>
                          </m:m>
                        </m:e>
                      </m:d>
                    </m:oMath>
                  </m:oMathPara>
                </a14:m>
                <a:endParaRPr lang="zh-CN" altLang="en-US" dirty="0"/>
              </a:p>
            </p:txBody>
          </p:sp>
        </mc:Choice>
        <mc:Fallback xmlns="">
          <p:sp>
            <p:nvSpPr>
              <p:cNvPr id="270340" name="Object 4">
                <a:extLst>
                  <a:ext uri="{FF2B5EF4-FFF2-40B4-BE49-F238E27FC236}">
                    <a16:creationId xmlns:a16="http://schemas.microsoft.com/office/drawing/2014/main" id="{0CD9A677-1E2E-B276-DC05-A3FA39A9AE70}"/>
                  </a:ext>
                </a:extLst>
              </p:cNvPr>
              <p:cNvSpPr txBox="1">
                <a:spLocks noRot="1" noChangeAspect="1" noMove="1" noResize="1" noEditPoints="1" noAdjustHandles="1" noChangeArrowheads="1" noChangeShapeType="1" noTextEdit="1"/>
              </p:cNvSpPr>
              <p:nvPr/>
            </p:nvSpPr>
            <p:spPr bwMode="auto">
              <a:xfrm>
                <a:off x="3045707" y="1859394"/>
                <a:ext cx="6799249" cy="1202015"/>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270341" name="Rectangle 5">
            <a:extLst>
              <a:ext uri="{FF2B5EF4-FFF2-40B4-BE49-F238E27FC236}">
                <a16:creationId xmlns:a16="http://schemas.microsoft.com/office/drawing/2014/main" id="{AD456064-0FCB-D39F-C420-2067D13E530E}"/>
              </a:ext>
            </a:extLst>
          </p:cNvPr>
          <p:cNvSpPr>
            <a:spLocks noChangeArrowheads="1"/>
          </p:cNvSpPr>
          <p:nvPr/>
        </p:nvSpPr>
        <p:spPr bwMode="auto">
          <a:xfrm>
            <a:off x="688976" y="3056646"/>
            <a:ext cx="9732376" cy="1596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457200" indent="-4572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zh-CN" altLang="en-US" sz="2400" dirty="0">
                <a:latin typeface="+mn-ea"/>
                <a:ea typeface="+mn-ea"/>
              </a:rPr>
              <a:t>假定“出现正面”和“出现反面”的概率各为</a:t>
            </a:r>
            <a:r>
              <a:rPr lang="en-US" altLang="zh-CN" sz="2400" dirty="0">
                <a:latin typeface="+mn-ea"/>
                <a:ea typeface="+mn-ea"/>
              </a:rPr>
              <a:t>0.5</a:t>
            </a:r>
            <a:r>
              <a:rPr lang="zh-CN" altLang="en-US" sz="2400" dirty="0">
                <a:latin typeface="+mn-ea"/>
                <a:ea typeface="+mn-ea"/>
              </a:rPr>
              <a:t>，试求：</a:t>
            </a:r>
          </a:p>
          <a:p>
            <a:pPr lvl="1" eaLnBrk="1" hangingPunct="1">
              <a:lnSpc>
                <a:spcPct val="150000"/>
              </a:lnSpc>
              <a:buClr>
                <a:srgbClr val="6600CC"/>
              </a:buClr>
              <a:buFontTx/>
              <a:buAutoNum type="arabicPeriod"/>
            </a:pPr>
            <a:r>
              <a:rPr lang="en-US" altLang="zh-CN" dirty="0">
                <a:latin typeface="+mn-ea"/>
                <a:ea typeface="+mn-ea"/>
              </a:rPr>
              <a:t>X(t)</a:t>
            </a:r>
            <a:r>
              <a:rPr lang="zh-CN" altLang="en-US" dirty="0">
                <a:latin typeface="+mn-ea"/>
                <a:ea typeface="+mn-ea"/>
              </a:rPr>
              <a:t>的一维分布函数</a:t>
            </a:r>
            <a:r>
              <a:rPr lang="en-US" altLang="zh-CN" dirty="0">
                <a:latin typeface="+mn-ea"/>
                <a:ea typeface="+mn-ea"/>
              </a:rPr>
              <a:t>F(0.5,x)</a:t>
            </a:r>
            <a:r>
              <a:rPr lang="zh-CN" altLang="en-US" dirty="0">
                <a:latin typeface="+mn-ea"/>
                <a:ea typeface="+mn-ea"/>
              </a:rPr>
              <a:t>和</a:t>
            </a:r>
            <a:r>
              <a:rPr lang="en-US" altLang="zh-CN" dirty="0">
                <a:latin typeface="+mn-ea"/>
                <a:ea typeface="+mn-ea"/>
              </a:rPr>
              <a:t>F(1,x)</a:t>
            </a:r>
            <a:r>
              <a:rPr lang="zh-CN" altLang="en-US" dirty="0">
                <a:latin typeface="+mn-ea"/>
                <a:ea typeface="+mn-ea"/>
              </a:rPr>
              <a:t>；</a:t>
            </a:r>
          </a:p>
          <a:p>
            <a:pPr lvl="1" eaLnBrk="1" hangingPunct="1">
              <a:lnSpc>
                <a:spcPct val="150000"/>
              </a:lnSpc>
              <a:buClr>
                <a:srgbClr val="6600CC"/>
              </a:buClr>
              <a:buFontTx/>
              <a:buAutoNum type="arabicPeriod"/>
            </a:pPr>
            <a:r>
              <a:rPr lang="en-US" altLang="zh-CN" dirty="0">
                <a:latin typeface="+mn-ea"/>
                <a:ea typeface="+mn-ea"/>
              </a:rPr>
              <a:t>X(t)</a:t>
            </a:r>
            <a:r>
              <a:rPr lang="zh-CN" altLang="en-US" dirty="0">
                <a:latin typeface="+mn-ea"/>
                <a:ea typeface="+mn-ea"/>
              </a:rPr>
              <a:t>的二维分布函数</a:t>
            </a:r>
            <a:r>
              <a:rPr lang="en-US" altLang="zh-CN" dirty="0">
                <a:latin typeface="+mn-ea"/>
                <a:ea typeface="+mn-ea"/>
              </a:rPr>
              <a:t>F(0.5,1;x,y)</a:t>
            </a:r>
            <a:r>
              <a:rPr lang="zh-CN" altLang="en-US" dirty="0">
                <a:latin typeface="+mn-ea"/>
                <a:ea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0339">
                                            <p:txEl>
                                              <p:pRg st="0" end="0"/>
                                            </p:txEl>
                                          </p:spTgt>
                                        </p:tgtEl>
                                        <p:attrNameLst>
                                          <p:attrName>style.visibility</p:attrName>
                                        </p:attrNameLst>
                                      </p:cBhvr>
                                      <p:to>
                                        <p:strVal val="visible"/>
                                      </p:to>
                                    </p:set>
                                    <p:anim calcmode="lin" valueType="num">
                                      <p:cBhvr additive="base">
                                        <p:cTn id="7" dur="500" fill="hold"/>
                                        <p:tgtEl>
                                          <p:spTgt spid="270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03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270340"/>
                                        </p:tgtEl>
                                        <p:attrNameLst>
                                          <p:attrName>style.visibility</p:attrName>
                                        </p:attrNameLst>
                                      </p:cBhvr>
                                      <p:to>
                                        <p:strVal val="visible"/>
                                      </p:to>
                                    </p:set>
                                    <p:animEffect transition="in" filter="randombar(horizontal)">
                                      <p:cBhvr>
                                        <p:cTn id="13" dur="500"/>
                                        <p:tgtEl>
                                          <p:spTgt spid="270340"/>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270341">
                                            <p:txEl>
                                              <p:pRg st="0" end="0"/>
                                            </p:txEl>
                                          </p:spTgt>
                                        </p:tgtEl>
                                        <p:attrNameLst>
                                          <p:attrName>style.visibility</p:attrName>
                                        </p:attrNameLst>
                                      </p:cBhvr>
                                      <p:to>
                                        <p:strVal val="visible"/>
                                      </p:to>
                                    </p:set>
                                    <p:anim calcmode="lin" valueType="num">
                                      <p:cBhvr additive="base">
                                        <p:cTn id="17" dur="500" fill="hold"/>
                                        <p:tgtEl>
                                          <p:spTgt spid="270341">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0341">
                                            <p:txEl>
                                              <p:pRg st="0" end="0"/>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270341">
                                            <p:txEl>
                                              <p:pRg st="1" end="1"/>
                                            </p:txEl>
                                          </p:spTgt>
                                        </p:tgtEl>
                                        <p:attrNameLst>
                                          <p:attrName>style.visibility</p:attrName>
                                        </p:attrNameLst>
                                      </p:cBhvr>
                                      <p:to>
                                        <p:strVal val="visible"/>
                                      </p:to>
                                    </p:set>
                                    <p:anim calcmode="lin" valueType="num">
                                      <p:cBhvr additive="base">
                                        <p:cTn id="22" dur="500" fill="hold"/>
                                        <p:tgtEl>
                                          <p:spTgt spid="270341">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0341">
                                            <p:txEl>
                                              <p:pRg st="1" end="1"/>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1500"/>
                            </p:stCondLst>
                            <p:childTnLst>
                              <p:par>
                                <p:cTn id="25" presetID="2" presetClass="entr" presetSubtype="4" fill="hold" grpId="0" nodeType="afterEffect">
                                  <p:stCondLst>
                                    <p:cond delay="0"/>
                                  </p:stCondLst>
                                  <p:childTnLst>
                                    <p:set>
                                      <p:cBhvr>
                                        <p:cTn id="26" dur="1" fill="hold">
                                          <p:stCondLst>
                                            <p:cond delay="0"/>
                                          </p:stCondLst>
                                        </p:cTn>
                                        <p:tgtEl>
                                          <p:spTgt spid="270341">
                                            <p:txEl>
                                              <p:pRg st="2" end="2"/>
                                            </p:txEl>
                                          </p:spTgt>
                                        </p:tgtEl>
                                        <p:attrNameLst>
                                          <p:attrName>style.visibility</p:attrName>
                                        </p:attrNameLst>
                                      </p:cBhvr>
                                      <p:to>
                                        <p:strVal val="visible"/>
                                      </p:to>
                                    </p:set>
                                    <p:anim calcmode="lin" valueType="num">
                                      <p:cBhvr additive="base">
                                        <p:cTn id="27" dur="500" fill="hold"/>
                                        <p:tgtEl>
                                          <p:spTgt spid="270341">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034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build="p"/>
      <p:bldP spid="270340" grpId="0"/>
      <p:bldP spid="270341" grpId="0"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00CBD2B8-5ACC-B3AC-70FE-608C20B59C3F}"/>
              </a:ext>
            </a:extLst>
          </p:cNvPr>
          <p:cNvSpPr>
            <a:spLocks noGrp="1" noChangeArrowheads="1"/>
          </p:cNvSpPr>
          <p:nvPr>
            <p:ph type="title"/>
          </p:nvPr>
        </p:nvSpPr>
        <p:spPr/>
        <p:txBody>
          <a:bodyPr/>
          <a:lstStyle/>
          <a:p>
            <a:pPr algn="l" eaLnBrk="1" hangingPunct="1"/>
            <a:r>
              <a:rPr lang="zh-CN" altLang="en-US" dirty="0"/>
              <a:t>例</a:t>
            </a:r>
            <a:r>
              <a:rPr lang="en-US" altLang="zh-CN" dirty="0"/>
              <a:t>4(</a:t>
            </a:r>
            <a:r>
              <a:rPr lang="zh-CN" altLang="en-US" dirty="0"/>
              <a:t>续</a:t>
            </a:r>
            <a:r>
              <a:rPr lang="en-US" altLang="zh-CN" dirty="0"/>
              <a:t>1)</a:t>
            </a:r>
          </a:p>
        </p:txBody>
      </p:sp>
      <p:sp>
        <p:nvSpPr>
          <p:cNvPr id="271363" name="Rectangle 3">
            <a:extLst>
              <a:ext uri="{FF2B5EF4-FFF2-40B4-BE49-F238E27FC236}">
                <a16:creationId xmlns:a16="http://schemas.microsoft.com/office/drawing/2014/main" id="{2C8B2AEA-FA2D-9D5D-0F88-E000490C4014}"/>
              </a:ext>
            </a:extLst>
          </p:cNvPr>
          <p:cNvSpPr>
            <a:spLocks noGrp="1" noChangeArrowheads="1"/>
          </p:cNvSpPr>
          <p:nvPr>
            <p:ph type="body" idx="1"/>
          </p:nvPr>
        </p:nvSpPr>
        <p:spPr>
          <a:xfrm>
            <a:off x="612775" y="999778"/>
            <a:ext cx="7697982" cy="691711"/>
          </a:xfrm>
        </p:spPr>
        <p:txBody>
          <a:bodyPr>
            <a:normAutofit/>
          </a:bodyPr>
          <a:lstStyle/>
          <a:p>
            <a:pPr eaLnBrk="1" hangingPunct="1">
              <a:buFont typeface="Wingdings" panose="05000000000000000000" pitchFamily="2" charset="2"/>
              <a:buNone/>
            </a:pPr>
            <a:r>
              <a:rPr lang="zh-CN" altLang="en-US" dirty="0">
                <a:solidFill>
                  <a:srgbClr val="C00000"/>
                </a:solidFill>
              </a:rPr>
              <a:t>解</a:t>
            </a:r>
            <a:r>
              <a:rPr lang="zh-CN" altLang="en-US" dirty="0"/>
              <a:t>：</a:t>
            </a:r>
            <a:r>
              <a:rPr lang="en-US" altLang="zh-CN" dirty="0">
                <a:solidFill>
                  <a:srgbClr val="6600CC"/>
                </a:solidFill>
              </a:rPr>
              <a:t>1. </a:t>
            </a:r>
            <a:r>
              <a:rPr lang="zh-CN" altLang="en-US" dirty="0"/>
              <a:t>由</a:t>
            </a:r>
            <a:r>
              <a:rPr lang="en-US" altLang="zh-CN" dirty="0"/>
              <a:t>X(t)</a:t>
            </a:r>
            <a:r>
              <a:rPr lang="zh-CN" altLang="en-US" dirty="0"/>
              <a:t>的定义求得概率分布为：</a:t>
            </a:r>
          </a:p>
        </p:txBody>
      </p:sp>
      <p:graphicFrame>
        <p:nvGraphicFramePr>
          <p:cNvPr id="271398" name="Group 38">
            <a:extLst>
              <a:ext uri="{FF2B5EF4-FFF2-40B4-BE49-F238E27FC236}">
                <a16:creationId xmlns:a16="http://schemas.microsoft.com/office/drawing/2014/main" id="{515C3806-02A1-4067-A338-4808BF67154C}"/>
              </a:ext>
            </a:extLst>
          </p:cNvPr>
          <p:cNvGraphicFramePr>
            <a:graphicFrameLocks noGrp="1"/>
          </p:cNvGraphicFramePr>
          <p:nvPr>
            <p:extLst>
              <p:ext uri="{D42A27DB-BD31-4B8C-83A1-F6EECF244321}">
                <p14:modId xmlns:p14="http://schemas.microsoft.com/office/powerpoint/2010/main" val="2365132728"/>
              </p:ext>
            </p:extLst>
          </p:nvPr>
        </p:nvGraphicFramePr>
        <p:xfrm>
          <a:off x="2670175" y="1856789"/>
          <a:ext cx="6097411" cy="1059108"/>
        </p:xfrm>
        <a:graphic>
          <a:graphicData uri="http://schemas.openxmlformats.org/drawingml/2006/table">
            <a:tbl>
              <a:tblPr/>
              <a:tblGrid>
                <a:gridCol w="990829">
                  <a:extLst>
                    <a:ext uri="{9D8B030D-6E8A-4147-A177-3AD203B41FA5}">
                      <a16:colId xmlns:a16="http://schemas.microsoft.com/office/drawing/2014/main" val="1699701969"/>
                    </a:ext>
                  </a:extLst>
                </a:gridCol>
                <a:gridCol w="838394">
                  <a:extLst>
                    <a:ext uri="{9D8B030D-6E8A-4147-A177-3AD203B41FA5}">
                      <a16:colId xmlns:a16="http://schemas.microsoft.com/office/drawing/2014/main" val="1011561079"/>
                    </a:ext>
                  </a:extLst>
                </a:gridCol>
                <a:gridCol w="784407">
                  <a:extLst>
                    <a:ext uri="{9D8B030D-6E8A-4147-A177-3AD203B41FA5}">
                      <a16:colId xmlns:a16="http://schemas.microsoft.com/office/drawing/2014/main" val="3479839878"/>
                    </a:ext>
                  </a:extLst>
                </a:gridCol>
                <a:gridCol w="870151">
                  <a:extLst>
                    <a:ext uri="{9D8B030D-6E8A-4147-A177-3AD203B41FA5}">
                      <a16:colId xmlns:a16="http://schemas.microsoft.com/office/drawing/2014/main" val="3659532326"/>
                    </a:ext>
                  </a:extLst>
                </a:gridCol>
                <a:gridCol w="871740">
                  <a:extLst>
                    <a:ext uri="{9D8B030D-6E8A-4147-A177-3AD203B41FA5}">
                      <a16:colId xmlns:a16="http://schemas.microsoft.com/office/drawing/2014/main" val="1926673510"/>
                    </a:ext>
                  </a:extLst>
                </a:gridCol>
                <a:gridCol w="870151">
                  <a:extLst>
                    <a:ext uri="{9D8B030D-6E8A-4147-A177-3AD203B41FA5}">
                      <a16:colId xmlns:a16="http://schemas.microsoft.com/office/drawing/2014/main" val="3386452916"/>
                    </a:ext>
                  </a:extLst>
                </a:gridCol>
                <a:gridCol w="871739">
                  <a:extLst>
                    <a:ext uri="{9D8B030D-6E8A-4147-A177-3AD203B41FA5}">
                      <a16:colId xmlns:a16="http://schemas.microsoft.com/office/drawing/2014/main" val="1296066339"/>
                    </a:ext>
                  </a:extLst>
                </a:gridCol>
              </a:tblGrid>
              <a:tr h="492205">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X(0.5)</a:t>
                      </a:r>
                    </a:p>
                  </a:txBody>
                  <a:tcPr marL="91461" marR="91461"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91461" marR="91461"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91461" marR="91461"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91461" marR="91461"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X(1)</a:t>
                      </a:r>
                    </a:p>
                  </a:txBody>
                  <a:tcPr marL="91461" marR="91461"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91461" marR="91461"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marL="91461" marR="91461"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33967946"/>
                  </a:ext>
                </a:extLst>
              </a:tr>
              <a:tr h="566903">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p>
                  </a:txBody>
                  <a:tcPr marL="91461" marR="91461"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0.5</a:t>
                      </a:r>
                    </a:p>
                  </a:txBody>
                  <a:tcPr marL="91461" marR="91461"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0.5</a:t>
                      </a:r>
                    </a:p>
                  </a:txBody>
                  <a:tcPr marL="91461" marR="91461"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endParaRPr kumimoji="1" lang="zh-CN"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91461" marR="91461" marT="45734" marB="4573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p>
                  </a:txBody>
                  <a:tcPr marL="91461" marR="91461"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0.5</a:t>
                      </a:r>
                    </a:p>
                  </a:txBody>
                  <a:tcPr marL="91461" marR="91461"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0.5</a:t>
                      </a:r>
                    </a:p>
                  </a:txBody>
                  <a:tcPr marL="91461" marR="91461"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9439703"/>
                  </a:ext>
                </a:extLst>
              </a:tr>
            </a:tbl>
          </a:graphicData>
        </a:graphic>
      </p:graphicFrame>
      <p:sp>
        <p:nvSpPr>
          <p:cNvPr id="271395" name="Rectangle 35">
            <a:extLst>
              <a:ext uri="{FF2B5EF4-FFF2-40B4-BE49-F238E27FC236}">
                <a16:creationId xmlns:a16="http://schemas.microsoft.com/office/drawing/2014/main" id="{F318AC8E-24F2-D16F-C751-A7B59493D722}"/>
              </a:ext>
            </a:extLst>
          </p:cNvPr>
          <p:cNvSpPr>
            <a:spLocks noChangeArrowheads="1"/>
          </p:cNvSpPr>
          <p:nvPr/>
        </p:nvSpPr>
        <p:spPr bwMode="auto">
          <a:xfrm>
            <a:off x="1146175" y="3376943"/>
            <a:ext cx="327846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Clr>
                <a:srgbClr val="00FF00"/>
              </a:buClr>
              <a:buFont typeface="Wingdings" panose="05000000000000000000" pitchFamily="2" charset="2"/>
              <a:buNone/>
            </a:pPr>
            <a:r>
              <a:rPr lang="zh-CN" altLang="en-US" b="1" dirty="0">
                <a:latin typeface="+mn-ea"/>
                <a:ea typeface="+mn-ea"/>
              </a:rPr>
              <a:t>所以一维分布函数为：</a:t>
            </a:r>
          </a:p>
        </p:txBody>
      </p:sp>
      <mc:AlternateContent xmlns:mc="http://schemas.openxmlformats.org/markup-compatibility/2006" xmlns:a14="http://schemas.microsoft.com/office/drawing/2010/main">
        <mc:Choice Requires="a14">
          <p:sp>
            <p:nvSpPr>
              <p:cNvPr id="271396" name="Object 36">
                <a:extLst>
                  <a:ext uri="{FF2B5EF4-FFF2-40B4-BE49-F238E27FC236}">
                    <a16:creationId xmlns:a16="http://schemas.microsoft.com/office/drawing/2014/main" id="{72F55542-B7C8-723B-C233-FCA9D524892E}"/>
                  </a:ext>
                </a:extLst>
              </p:cNvPr>
              <p:cNvSpPr txBox="1"/>
              <p:nvPr/>
            </p:nvSpPr>
            <p:spPr bwMode="auto">
              <a:xfrm>
                <a:off x="2365375" y="4106409"/>
                <a:ext cx="5640105" cy="1383032"/>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(0.5,</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(0.5)&lt;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0.5</m:t>
                                </m:r>
                              </m:e>
                              <m:e>
                                <m:r>
                                  <a:rPr lang="zh-CN" altLang="en-US" i="1">
                                    <a:solidFill>
                                      <a:srgbClr val="000000"/>
                                    </a:solidFill>
                                    <a:latin typeface="Cambria Math" panose="02040503050406030204" pitchFamily="18" charset="0"/>
                                  </a:rPr>
                                  <m:t>0&lt;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1&lt;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&lt;+∞</m:t>
                                </m:r>
                              </m:e>
                            </m:mr>
                          </m:m>
                        </m:e>
                      </m:d>
                    </m:oMath>
                  </m:oMathPara>
                </a14:m>
                <a:endParaRPr lang="zh-CN" altLang="en-US" dirty="0"/>
              </a:p>
            </p:txBody>
          </p:sp>
        </mc:Choice>
        <mc:Fallback xmlns="">
          <p:sp>
            <p:nvSpPr>
              <p:cNvPr id="271396" name="Object 36">
                <a:extLst>
                  <a:ext uri="{FF2B5EF4-FFF2-40B4-BE49-F238E27FC236}">
                    <a16:creationId xmlns:a16="http://schemas.microsoft.com/office/drawing/2014/main" id="{72F55542-B7C8-723B-C233-FCA9D524892E}"/>
                  </a:ext>
                </a:extLst>
              </p:cNvPr>
              <p:cNvSpPr txBox="1">
                <a:spLocks noRot="1" noChangeAspect="1" noMove="1" noResize="1" noEditPoints="1" noAdjustHandles="1" noChangeArrowheads="1" noChangeShapeType="1" noTextEdit="1"/>
              </p:cNvSpPr>
              <p:nvPr/>
            </p:nvSpPr>
            <p:spPr bwMode="auto">
              <a:xfrm>
                <a:off x="2365375" y="4106409"/>
                <a:ext cx="5640105" cy="1383032"/>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1397" name="Object 37">
                <a:extLst>
                  <a:ext uri="{FF2B5EF4-FFF2-40B4-BE49-F238E27FC236}">
                    <a16:creationId xmlns:a16="http://schemas.microsoft.com/office/drawing/2014/main" id="{AD96E917-630E-11CB-0ADD-51F59043DDFD}"/>
                  </a:ext>
                </a:extLst>
              </p:cNvPr>
              <p:cNvSpPr txBox="1"/>
              <p:nvPr/>
            </p:nvSpPr>
            <p:spPr bwMode="auto">
              <a:xfrm>
                <a:off x="2822576" y="5357720"/>
                <a:ext cx="5287599" cy="1383033"/>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(1)&lt;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m:t>
                                </m:r>
                              </m:e>
                            </m:mr>
                            <m:mr>
                              <m:e>
                                <m:r>
                                  <a:rPr lang="zh-CN" altLang="en-US" i="1">
                                    <a:solidFill>
                                      <a:srgbClr val="000000"/>
                                    </a:solidFill>
                                    <a:latin typeface="Cambria Math" panose="02040503050406030204" pitchFamily="18" charset="0"/>
                                  </a:rPr>
                                  <m:t>0.5</m:t>
                                </m:r>
                              </m:e>
                              <m:e>
                                <m:r>
                                  <a:rPr lang="zh-CN" altLang="en-US" i="1">
                                    <a:solidFill>
                                      <a:srgbClr val="000000"/>
                                    </a:solidFill>
                                    <a:latin typeface="Cambria Math" panose="02040503050406030204" pitchFamily="18" charset="0"/>
                                  </a:rPr>
                                  <m:t>−1&lt;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2&lt;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&lt;+∞</m:t>
                                </m:r>
                              </m:e>
                            </m:mr>
                          </m:m>
                        </m:e>
                      </m:d>
                    </m:oMath>
                  </m:oMathPara>
                </a14:m>
                <a:endParaRPr lang="zh-CN" altLang="en-US" dirty="0"/>
              </a:p>
            </p:txBody>
          </p:sp>
        </mc:Choice>
        <mc:Fallback xmlns="">
          <p:sp>
            <p:nvSpPr>
              <p:cNvPr id="271397" name="Object 37">
                <a:extLst>
                  <a:ext uri="{FF2B5EF4-FFF2-40B4-BE49-F238E27FC236}">
                    <a16:creationId xmlns:a16="http://schemas.microsoft.com/office/drawing/2014/main" id="{AD96E917-630E-11CB-0ADD-51F59043DDFD}"/>
                  </a:ext>
                </a:extLst>
              </p:cNvPr>
              <p:cNvSpPr txBox="1">
                <a:spLocks noRot="1" noChangeAspect="1" noMove="1" noResize="1" noEditPoints="1" noAdjustHandles="1" noChangeArrowheads="1" noChangeShapeType="1" noTextEdit="1"/>
              </p:cNvSpPr>
              <p:nvPr/>
            </p:nvSpPr>
            <p:spPr bwMode="auto">
              <a:xfrm>
                <a:off x="2822576" y="5357720"/>
                <a:ext cx="5287599" cy="1383033"/>
              </a:xfrm>
              <a:prstGeom prst="rect">
                <a:avLst/>
              </a:prstGeom>
              <a:blipFill>
                <a:blip r:embed="rId3"/>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1363">
                                            <p:txEl>
                                              <p:pRg st="0" end="0"/>
                                            </p:txEl>
                                          </p:spTgt>
                                        </p:tgtEl>
                                        <p:attrNameLst>
                                          <p:attrName>style.visibility</p:attrName>
                                        </p:attrNameLst>
                                      </p:cBhvr>
                                      <p:to>
                                        <p:strVal val="visible"/>
                                      </p:to>
                                    </p:set>
                                    <p:anim calcmode="lin" valueType="num">
                                      <p:cBhvr additive="base">
                                        <p:cTn id="7" dur="500" fill="hold"/>
                                        <p:tgtEl>
                                          <p:spTgt spid="271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136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 presetClass="entr" presetSubtype="16" fill="hold" nodeType="afterEffect">
                                  <p:stCondLst>
                                    <p:cond delay="0"/>
                                  </p:stCondLst>
                                  <p:childTnLst>
                                    <p:set>
                                      <p:cBhvr>
                                        <p:cTn id="11" dur="1" fill="hold">
                                          <p:stCondLst>
                                            <p:cond delay="0"/>
                                          </p:stCondLst>
                                        </p:cTn>
                                        <p:tgtEl>
                                          <p:spTgt spid="271398"/>
                                        </p:tgtEl>
                                        <p:attrNameLst>
                                          <p:attrName>style.visibility</p:attrName>
                                        </p:attrNameLst>
                                      </p:cBhvr>
                                      <p:to>
                                        <p:strVal val="visible"/>
                                      </p:to>
                                    </p:set>
                                    <p:animEffect transition="in" filter="box(in)">
                                      <p:cBhvr>
                                        <p:cTn id="12" dur="500"/>
                                        <p:tgtEl>
                                          <p:spTgt spid="271398"/>
                                        </p:tgtEl>
                                      </p:cBhvr>
                                    </p:animEffect>
                                  </p:childTnLst>
                                </p:cTn>
                              </p:par>
                            </p:childTnLst>
                          </p:cTn>
                        </p:par>
                        <p:par>
                          <p:cTn id="13" fill="hold" nodeType="afterGroup">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271395"/>
                                        </p:tgtEl>
                                        <p:attrNameLst>
                                          <p:attrName>style.visibility</p:attrName>
                                        </p:attrNameLst>
                                      </p:cBhvr>
                                      <p:to>
                                        <p:strVal val="visible"/>
                                      </p:to>
                                    </p:set>
                                    <p:anim calcmode="lin" valueType="num">
                                      <p:cBhvr additive="base">
                                        <p:cTn id="16" dur="500" fill="hold"/>
                                        <p:tgtEl>
                                          <p:spTgt spid="271395"/>
                                        </p:tgtEl>
                                        <p:attrNameLst>
                                          <p:attrName>ppt_x</p:attrName>
                                        </p:attrNameLst>
                                      </p:cBhvr>
                                      <p:tavLst>
                                        <p:tav tm="0">
                                          <p:val>
                                            <p:strVal val="#ppt_x"/>
                                          </p:val>
                                        </p:tav>
                                        <p:tav tm="100000">
                                          <p:val>
                                            <p:strVal val="#ppt_x"/>
                                          </p:val>
                                        </p:tav>
                                      </p:tavLst>
                                    </p:anim>
                                    <p:anim calcmode="lin" valueType="num">
                                      <p:cBhvr additive="base">
                                        <p:cTn id="17" dur="500" fill="hold"/>
                                        <p:tgtEl>
                                          <p:spTgt spid="27139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71396"/>
                                        </p:tgtEl>
                                        <p:attrNameLst>
                                          <p:attrName>style.visibility</p:attrName>
                                        </p:attrNameLst>
                                      </p:cBhvr>
                                      <p:to>
                                        <p:strVal val="visible"/>
                                      </p:to>
                                    </p:set>
                                    <p:animEffect transition="in" filter="randombar(horizontal)">
                                      <p:cBhvr>
                                        <p:cTn id="22" dur="500"/>
                                        <p:tgtEl>
                                          <p:spTgt spid="27139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71397"/>
                                        </p:tgtEl>
                                        <p:attrNameLst>
                                          <p:attrName>style.visibility</p:attrName>
                                        </p:attrNameLst>
                                      </p:cBhvr>
                                      <p:to>
                                        <p:strVal val="visible"/>
                                      </p:to>
                                    </p:set>
                                    <p:animEffect transition="in" filter="randombar(horizontal)">
                                      <p:cBhvr>
                                        <p:cTn id="27" dur="500"/>
                                        <p:tgtEl>
                                          <p:spTgt spid="271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build="p"/>
      <p:bldP spid="271395" grpId="0"/>
      <p:bldP spid="271396" grpId="0"/>
      <p:bldP spid="27139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a:extLst>
              <a:ext uri="{FF2B5EF4-FFF2-40B4-BE49-F238E27FC236}">
                <a16:creationId xmlns:a16="http://schemas.microsoft.com/office/drawing/2014/main" id="{5C98C66C-7C1E-53FB-0C64-C42917D552AD}"/>
              </a:ext>
            </a:extLst>
          </p:cNvPr>
          <p:cNvSpPr>
            <a:spLocks noGrp="1" noChangeArrowheads="1"/>
          </p:cNvSpPr>
          <p:nvPr>
            <p:ph type="title"/>
          </p:nvPr>
        </p:nvSpPr>
        <p:spPr/>
        <p:txBody>
          <a:bodyPr/>
          <a:lstStyle/>
          <a:p>
            <a:pPr algn="l" eaLnBrk="1" hangingPunct="1"/>
            <a:r>
              <a:rPr lang="zh-CN" altLang="en-US" dirty="0"/>
              <a:t>例</a:t>
            </a:r>
            <a:r>
              <a:rPr lang="en-US" altLang="zh-CN" dirty="0"/>
              <a:t>4(</a:t>
            </a:r>
            <a:r>
              <a:rPr lang="zh-CN" altLang="en-US" dirty="0"/>
              <a:t>续</a:t>
            </a:r>
            <a:r>
              <a:rPr lang="en-US" altLang="zh-CN" dirty="0"/>
              <a:t>2)</a:t>
            </a:r>
          </a:p>
        </p:txBody>
      </p:sp>
      <p:sp>
        <p:nvSpPr>
          <p:cNvPr id="272387" name="Rectangle 3">
            <a:extLst>
              <a:ext uri="{FF2B5EF4-FFF2-40B4-BE49-F238E27FC236}">
                <a16:creationId xmlns:a16="http://schemas.microsoft.com/office/drawing/2014/main" id="{2F87C35C-BA12-FF20-BC8B-AD611FE567A2}"/>
              </a:ext>
            </a:extLst>
          </p:cNvPr>
          <p:cNvSpPr>
            <a:spLocks noGrp="1" noChangeArrowheads="1"/>
          </p:cNvSpPr>
          <p:nvPr>
            <p:ph type="body" idx="1"/>
          </p:nvPr>
        </p:nvSpPr>
        <p:spPr>
          <a:xfrm>
            <a:off x="485105" y="1140404"/>
            <a:ext cx="10109870" cy="854273"/>
          </a:xfrm>
        </p:spPr>
        <p:txBody>
          <a:bodyPr>
            <a:normAutofit/>
          </a:bodyPr>
          <a:lstStyle/>
          <a:p>
            <a:pPr eaLnBrk="1" hangingPunct="1">
              <a:buFont typeface="Wingdings" panose="05000000000000000000" pitchFamily="2" charset="2"/>
              <a:buNone/>
            </a:pPr>
            <a:r>
              <a:rPr lang="en-US" altLang="zh-CN" dirty="0">
                <a:solidFill>
                  <a:srgbClr val="6600CC"/>
                </a:solidFill>
              </a:rPr>
              <a:t>2.</a:t>
            </a:r>
            <a:r>
              <a:rPr lang="en-US" altLang="zh-CN" dirty="0">
                <a:solidFill>
                  <a:srgbClr val="00FF00"/>
                </a:solidFill>
              </a:rPr>
              <a:t> </a:t>
            </a:r>
            <a:r>
              <a:rPr lang="zh-CN" altLang="en-US" dirty="0"/>
              <a:t>由于掷硬币试验是相互独立的，故</a:t>
            </a:r>
            <a:r>
              <a:rPr lang="en-US" altLang="zh-CN" dirty="0"/>
              <a:t>(X(0.5),X(1))</a:t>
            </a:r>
            <a:r>
              <a:rPr lang="zh-CN" altLang="en-US" dirty="0"/>
              <a:t>的联合概率密度为：</a:t>
            </a:r>
          </a:p>
        </p:txBody>
      </p:sp>
      <p:graphicFrame>
        <p:nvGraphicFramePr>
          <p:cNvPr id="272388" name="Group 4">
            <a:extLst>
              <a:ext uri="{FF2B5EF4-FFF2-40B4-BE49-F238E27FC236}">
                <a16:creationId xmlns:a16="http://schemas.microsoft.com/office/drawing/2014/main" id="{0E64A126-4945-4417-A2B9-CD972F5B9A85}"/>
              </a:ext>
            </a:extLst>
          </p:cNvPr>
          <p:cNvGraphicFramePr>
            <a:graphicFrameLocks noGrp="1"/>
          </p:cNvGraphicFramePr>
          <p:nvPr/>
        </p:nvGraphicFramePr>
        <p:xfrm>
          <a:off x="4422387" y="2134095"/>
          <a:ext cx="3887100" cy="1591359"/>
        </p:xfrm>
        <a:graphic>
          <a:graphicData uri="http://schemas.openxmlformats.org/drawingml/2006/table">
            <a:tbl>
              <a:tblPr/>
              <a:tblGrid>
                <a:gridCol w="1981659">
                  <a:extLst>
                    <a:ext uri="{9D8B030D-6E8A-4147-A177-3AD203B41FA5}">
                      <a16:colId xmlns:a16="http://schemas.microsoft.com/office/drawing/2014/main" val="2051489246"/>
                    </a:ext>
                  </a:extLst>
                </a:gridCol>
                <a:gridCol w="914612">
                  <a:extLst>
                    <a:ext uri="{9D8B030D-6E8A-4147-A177-3AD203B41FA5}">
                      <a16:colId xmlns:a16="http://schemas.microsoft.com/office/drawing/2014/main" val="1380411357"/>
                    </a:ext>
                  </a:extLst>
                </a:gridCol>
                <a:gridCol w="990829">
                  <a:extLst>
                    <a:ext uri="{9D8B030D-6E8A-4147-A177-3AD203B41FA5}">
                      <a16:colId xmlns:a16="http://schemas.microsoft.com/office/drawing/2014/main" val="3214006312"/>
                    </a:ext>
                  </a:extLst>
                </a:gridCol>
              </a:tblGrid>
              <a:tr h="676791">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8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X(1)</a:t>
                      </a:r>
                    </a:p>
                    <a:p>
                      <a:pPr marL="0" marR="0" lvl="0" indent="0" algn="l" defTabSz="914400" rtl="0" eaLnBrk="1" fontAlgn="base" latinLnBrk="0" hangingPunct="1">
                        <a:lnSpc>
                          <a:spcPct val="8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X(0.5)</a:t>
                      </a:r>
                    </a:p>
                  </a:txBody>
                  <a:tcPr marL="91461" marR="914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91461" marR="914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marL="91461" marR="914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4082009"/>
                  </a:ext>
                </a:extLst>
              </a:tr>
              <a:tr h="457284">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91461" marR="914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0.25</a:t>
                      </a:r>
                    </a:p>
                  </a:txBody>
                  <a:tcPr marL="91461" marR="914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0.25</a:t>
                      </a:r>
                    </a:p>
                  </a:txBody>
                  <a:tcPr marL="91461" marR="914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46170598"/>
                  </a:ext>
                </a:extLst>
              </a:tr>
              <a:tr h="457284">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91461" marR="914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0.25</a:t>
                      </a:r>
                    </a:p>
                  </a:txBody>
                  <a:tcPr marL="91461" marR="914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0.25</a:t>
                      </a:r>
                    </a:p>
                  </a:txBody>
                  <a:tcPr marL="91461" marR="914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8481662"/>
                  </a:ext>
                </a:extLst>
              </a:tr>
            </a:tbl>
          </a:graphicData>
        </a:graphic>
      </p:graphicFrame>
      <p:sp>
        <p:nvSpPr>
          <p:cNvPr id="272406" name="Rectangle 22">
            <a:extLst>
              <a:ext uri="{FF2B5EF4-FFF2-40B4-BE49-F238E27FC236}">
                <a16:creationId xmlns:a16="http://schemas.microsoft.com/office/drawing/2014/main" id="{084C9A70-00E3-1C83-034B-6484B1C12CCA}"/>
              </a:ext>
            </a:extLst>
          </p:cNvPr>
          <p:cNvSpPr>
            <a:spLocks noChangeArrowheads="1"/>
          </p:cNvSpPr>
          <p:nvPr/>
        </p:nvSpPr>
        <p:spPr bwMode="auto">
          <a:xfrm>
            <a:off x="774700" y="3810794"/>
            <a:ext cx="3315331" cy="560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Clr>
                <a:srgbClr val="00FF00"/>
              </a:buClr>
              <a:buFont typeface="Wingdings" panose="05000000000000000000" pitchFamily="2" charset="2"/>
              <a:buNone/>
            </a:pPr>
            <a:r>
              <a:rPr lang="zh-CN" altLang="en-US" b="1" dirty="0">
                <a:latin typeface="+mn-ea"/>
                <a:ea typeface="+mn-ea"/>
              </a:rPr>
              <a:t>所以二维分布函数为</a:t>
            </a:r>
            <a:r>
              <a:rPr lang="zh-CN" altLang="en-US" sz="2801" b="1" dirty="0">
                <a:ea typeface="黑体" panose="02010609060101010101" pitchFamily="49" charset="-122"/>
              </a:rPr>
              <a:t>：</a:t>
            </a:r>
          </a:p>
        </p:txBody>
      </p:sp>
      <mc:AlternateContent xmlns:mc="http://schemas.openxmlformats.org/markup-compatibility/2006">
        <mc:Choice xmlns:a14="http://schemas.microsoft.com/office/drawing/2010/main" Requires="a14">
          <p:sp>
            <p:nvSpPr>
              <p:cNvPr id="272407" name="Object 23">
                <a:extLst>
                  <a:ext uri="{FF2B5EF4-FFF2-40B4-BE49-F238E27FC236}">
                    <a16:creationId xmlns:a16="http://schemas.microsoft.com/office/drawing/2014/main" id="{01E73124-0199-5CFB-C71C-F4310332F6B7}"/>
                  </a:ext>
                </a:extLst>
              </p:cNvPr>
              <p:cNvSpPr txBox="1"/>
              <p:nvPr/>
            </p:nvSpPr>
            <p:spPr bwMode="auto">
              <a:xfrm>
                <a:off x="688975" y="4122420"/>
                <a:ext cx="11582400" cy="2332085"/>
              </a:xfrm>
              <a:prstGeom prst="rect">
                <a:avLst/>
              </a:prstGeom>
              <a:noFill/>
              <a:ln>
                <a:noFill/>
              </a:ln>
              <a:effectLst/>
            </p:spPr>
            <p:txBody>
              <a:bodyPr>
                <a:normAutofit fontScale="92500" lnSpcReduction="20000"/>
              </a:bodyPr>
              <a:lstStyle/>
              <a:p>
                <a:pPr>
                  <a:lnSpc>
                    <a:spcPct val="160000"/>
                  </a:lnSpc>
                </a:pPr>
                <a14:m>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(0.5,1;</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(0.5)&lt;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(1)&lt;</m:t>
                    </m:r>
                    <m:r>
                      <a:rPr lang="zh-CN" altLang="en-US" i="1">
                        <a:solidFill>
                          <a:srgbClr val="000000"/>
                        </a:solidFill>
                        <a:latin typeface="Cambria Math" panose="02040503050406030204" pitchFamily="18" charset="0"/>
                      </a:rPr>
                      <m:t>𝑦</m:t>
                    </m:r>
                  </m:oMath>
                </a14:m>
                <a:r>
                  <a:rPr lang="en-US" altLang="zh-CN" dirty="0"/>
                  <a:t>}</a:t>
                </a:r>
                <a:r>
                  <a:rPr lang="zh-CN" altLang="en-US" dirty="0">
                    <a:solidFill>
                      <a:srgbClr val="000000"/>
                    </a:solidFill>
                  </a:rPr>
                  <a:t> </a:t>
                </a:r>
                <a14:m>
                  <m:oMath xmlns:m="http://schemas.openxmlformats.org/officeDocument/2006/math">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或</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≤−1)</m:t>
                              </m:r>
                            </m:e>
                          </m:mr>
                          <m:mr>
                            <m:e>
                              <m:r>
                                <a:rPr lang="zh-CN" altLang="en-US" i="1">
                                  <a:solidFill>
                                    <a:srgbClr val="000000"/>
                                  </a:solidFill>
                                  <a:latin typeface="Cambria Math" panose="02040503050406030204" pitchFamily="18" charset="0"/>
                                </a:rPr>
                                <m:t>0.25</m:t>
                              </m:r>
                            </m:e>
                            <m:e>
                              <m:r>
                                <a:rPr lang="zh-CN" altLang="en-US" i="1">
                                  <a:solidFill>
                                    <a:srgbClr val="000000"/>
                                  </a:solidFill>
                                  <a:latin typeface="Cambria Math" panose="02040503050406030204" pitchFamily="18" charset="0"/>
                                </a:rPr>
                                <m:t>0&lt;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≤1,−1&lt;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0.5</m:t>
                              </m:r>
                            </m:e>
                            <m:e>
                              <m:r>
                                <a:rPr lang="zh-CN" altLang="en-US" i="1">
                                  <a:solidFill>
                                    <a:srgbClr val="000000"/>
                                  </a:solidFill>
                                  <a:latin typeface="Cambria Math" panose="02040503050406030204" pitchFamily="18" charset="0"/>
                                </a:rPr>
                                <m:t>(0&lt;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&gt;2)</m:t>
                              </m:r>
                              <m:r>
                                <a:rPr lang="zh-CN" altLang="en-US" i="1">
                                  <a:solidFill>
                                    <a:srgbClr val="000000"/>
                                  </a:solidFill>
                                  <a:latin typeface="Cambria Math" panose="02040503050406030204" pitchFamily="18" charset="0"/>
                                </a:rPr>
                                <m:t>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&gt;1,−1&lt;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1&lt;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2&lt;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&lt;+∞</m:t>
                              </m:r>
                            </m:e>
                          </m:mr>
                        </m:m>
                      </m:e>
                    </m:d>
                  </m:oMath>
                </a14:m>
                <a:endParaRPr lang="zh-CN" altLang="en-US" dirty="0"/>
              </a:p>
            </p:txBody>
          </p:sp>
        </mc:Choice>
        <mc:Fallback>
          <p:sp>
            <p:nvSpPr>
              <p:cNvPr id="272407" name="Object 23">
                <a:extLst>
                  <a:ext uri="{FF2B5EF4-FFF2-40B4-BE49-F238E27FC236}">
                    <a16:creationId xmlns:a16="http://schemas.microsoft.com/office/drawing/2014/main" id="{01E73124-0199-5CFB-C71C-F4310332F6B7}"/>
                  </a:ext>
                </a:extLst>
              </p:cNvPr>
              <p:cNvSpPr txBox="1">
                <a:spLocks noRot="1" noChangeAspect="1" noMove="1" noResize="1" noEditPoints="1" noAdjustHandles="1" noChangeArrowheads="1" noChangeShapeType="1" noTextEdit="1"/>
              </p:cNvSpPr>
              <p:nvPr/>
            </p:nvSpPr>
            <p:spPr bwMode="auto">
              <a:xfrm>
                <a:off x="688975" y="4122420"/>
                <a:ext cx="11582400" cy="2332085"/>
              </a:xfrm>
              <a:prstGeom prst="rect">
                <a:avLst/>
              </a:prstGeom>
              <a:blipFill>
                <a:blip r:embed="rId2"/>
                <a:stretch>
                  <a:fillRect l="-110"/>
                </a:stretch>
              </a:blipFill>
              <a:ln>
                <a:noFill/>
              </a:ln>
              <a:effectLst/>
            </p:spPr>
            <p:txBody>
              <a:bodyPr/>
              <a:lstStyle/>
              <a:p>
                <a:r>
                  <a:rPr lang="zh-CN" altLang="en-US">
                    <a:noFill/>
                  </a:rPr>
                  <a:t> </a:t>
                </a:r>
              </a:p>
            </p:txBody>
          </p:sp>
        </mc:Fallback>
      </mc:AlternateContent>
      <p:sp>
        <p:nvSpPr>
          <p:cNvPr id="40986" name="Line 24">
            <a:extLst>
              <a:ext uri="{FF2B5EF4-FFF2-40B4-BE49-F238E27FC236}">
                <a16:creationId xmlns:a16="http://schemas.microsoft.com/office/drawing/2014/main" id="{F33AA1BD-9B52-F11D-7C2C-01497A7CDAA9}"/>
              </a:ext>
            </a:extLst>
          </p:cNvPr>
          <p:cNvSpPr>
            <a:spLocks noChangeShapeType="1"/>
          </p:cNvSpPr>
          <p:nvPr/>
        </p:nvSpPr>
        <p:spPr bwMode="auto">
          <a:xfrm>
            <a:off x="4422388" y="2134094"/>
            <a:ext cx="1980071" cy="647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anim calcmode="lin" valueType="num">
                                      <p:cBhvr additive="base">
                                        <p:cTn id="7" dur="500" fill="hold"/>
                                        <p:tgtEl>
                                          <p:spTgt spid="272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238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 presetClass="entr" presetSubtype="16" fill="hold" nodeType="afterEffect">
                                  <p:stCondLst>
                                    <p:cond delay="0"/>
                                  </p:stCondLst>
                                  <p:childTnLst>
                                    <p:set>
                                      <p:cBhvr>
                                        <p:cTn id="11" dur="1" fill="hold">
                                          <p:stCondLst>
                                            <p:cond delay="0"/>
                                          </p:stCondLst>
                                        </p:cTn>
                                        <p:tgtEl>
                                          <p:spTgt spid="272388"/>
                                        </p:tgtEl>
                                        <p:attrNameLst>
                                          <p:attrName>style.visibility</p:attrName>
                                        </p:attrNameLst>
                                      </p:cBhvr>
                                      <p:to>
                                        <p:strVal val="visible"/>
                                      </p:to>
                                    </p:set>
                                    <p:animEffect transition="in" filter="box(in)">
                                      <p:cBhvr>
                                        <p:cTn id="12" dur="500"/>
                                        <p:tgtEl>
                                          <p:spTgt spid="272388"/>
                                        </p:tgtEl>
                                      </p:cBhvr>
                                    </p:animEffect>
                                  </p:childTnLst>
                                </p:cTn>
                              </p:par>
                            </p:childTnLst>
                          </p:cTn>
                        </p:par>
                        <p:par>
                          <p:cTn id="13" fill="hold" nodeType="afterGroup">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272406"/>
                                        </p:tgtEl>
                                        <p:attrNameLst>
                                          <p:attrName>style.visibility</p:attrName>
                                        </p:attrNameLst>
                                      </p:cBhvr>
                                      <p:to>
                                        <p:strVal val="visible"/>
                                      </p:to>
                                    </p:set>
                                    <p:anim calcmode="lin" valueType="num">
                                      <p:cBhvr additive="base">
                                        <p:cTn id="16" dur="500" fill="hold"/>
                                        <p:tgtEl>
                                          <p:spTgt spid="272406"/>
                                        </p:tgtEl>
                                        <p:attrNameLst>
                                          <p:attrName>ppt_x</p:attrName>
                                        </p:attrNameLst>
                                      </p:cBhvr>
                                      <p:tavLst>
                                        <p:tav tm="0">
                                          <p:val>
                                            <p:strVal val="#ppt_x"/>
                                          </p:val>
                                        </p:tav>
                                        <p:tav tm="100000">
                                          <p:val>
                                            <p:strVal val="#ppt_x"/>
                                          </p:val>
                                        </p:tav>
                                      </p:tavLst>
                                    </p:anim>
                                    <p:anim calcmode="lin" valueType="num">
                                      <p:cBhvr additive="base">
                                        <p:cTn id="17" dur="500" fill="hold"/>
                                        <p:tgtEl>
                                          <p:spTgt spid="27240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272407"/>
                                        </p:tgtEl>
                                        <p:attrNameLst>
                                          <p:attrName>style.visibility</p:attrName>
                                        </p:attrNameLst>
                                      </p:cBhvr>
                                      <p:to>
                                        <p:strVal val="visible"/>
                                      </p:to>
                                    </p:set>
                                    <p:anim calcmode="lin" valueType="num">
                                      <p:cBhvr>
                                        <p:cTn id="22" dur="1000" fill="hold"/>
                                        <p:tgtEl>
                                          <p:spTgt spid="272407"/>
                                        </p:tgtEl>
                                        <p:attrNameLst>
                                          <p:attrName>ppt_w</p:attrName>
                                        </p:attrNameLst>
                                      </p:cBhvr>
                                      <p:tavLst>
                                        <p:tav tm="0">
                                          <p:val>
                                            <p:fltVal val="0"/>
                                          </p:val>
                                        </p:tav>
                                        <p:tav tm="100000">
                                          <p:val>
                                            <p:strVal val="#ppt_w"/>
                                          </p:val>
                                        </p:tav>
                                      </p:tavLst>
                                    </p:anim>
                                    <p:anim calcmode="lin" valueType="num">
                                      <p:cBhvr>
                                        <p:cTn id="23" dur="1000" fill="hold"/>
                                        <p:tgtEl>
                                          <p:spTgt spid="272407"/>
                                        </p:tgtEl>
                                        <p:attrNameLst>
                                          <p:attrName>ppt_h</p:attrName>
                                        </p:attrNameLst>
                                      </p:cBhvr>
                                      <p:tavLst>
                                        <p:tav tm="0">
                                          <p:val>
                                            <p:fltVal val="0"/>
                                          </p:val>
                                        </p:tav>
                                        <p:tav tm="100000">
                                          <p:val>
                                            <p:strVal val="#ppt_h"/>
                                          </p:val>
                                        </p:tav>
                                      </p:tavLst>
                                    </p:anim>
                                    <p:anim calcmode="lin" valueType="num">
                                      <p:cBhvr>
                                        <p:cTn id="24" dur="1000" fill="hold"/>
                                        <p:tgtEl>
                                          <p:spTgt spid="272407"/>
                                        </p:tgtEl>
                                        <p:attrNameLst>
                                          <p:attrName>style.rotation</p:attrName>
                                        </p:attrNameLst>
                                      </p:cBhvr>
                                      <p:tavLst>
                                        <p:tav tm="0">
                                          <p:val>
                                            <p:fltVal val="90"/>
                                          </p:val>
                                        </p:tav>
                                        <p:tav tm="100000">
                                          <p:val>
                                            <p:fltVal val="0"/>
                                          </p:val>
                                        </p:tav>
                                      </p:tavLst>
                                    </p:anim>
                                    <p:animEffect transition="in" filter="fade">
                                      <p:cBhvr>
                                        <p:cTn id="25" dur="1000"/>
                                        <p:tgtEl>
                                          <p:spTgt spid="272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7" grpId="0" build="p"/>
      <p:bldP spid="272406" grpId="0"/>
      <p:bldP spid="27240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D896E569-F195-386D-8543-285BC51E0943}"/>
              </a:ext>
            </a:extLst>
          </p:cNvPr>
          <p:cNvSpPr>
            <a:spLocks noGrp="1" noChangeArrowheads="1"/>
          </p:cNvSpPr>
          <p:nvPr>
            <p:ph type="title"/>
          </p:nvPr>
        </p:nvSpPr>
        <p:spPr/>
        <p:txBody>
          <a:bodyPr/>
          <a:lstStyle/>
          <a:p>
            <a:pPr eaLnBrk="1" hangingPunct="1"/>
            <a:r>
              <a:rPr lang="zh-CN" altLang="en-US"/>
              <a:t>四、随机过程的数字特征</a:t>
            </a:r>
          </a:p>
        </p:txBody>
      </p:sp>
      <p:sp>
        <p:nvSpPr>
          <p:cNvPr id="273411" name="Rectangle 3">
            <a:extLst>
              <a:ext uri="{FF2B5EF4-FFF2-40B4-BE49-F238E27FC236}">
                <a16:creationId xmlns:a16="http://schemas.microsoft.com/office/drawing/2014/main" id="{163ABF71-BEB2-40C0-17A5-66B5A9068152}"/>
              </a:ext>
            </a:extLst>
          </p:cNvPr>
          <p:cNvSpPr>
            <a:spLocks noGrp="1" noChangeArrowheads="1"/>
          </p:cNvSpPr>
          <p:nvPr>
            <p:ph type="body" idx="1"/>
          </p:nvPr>
        </p:nvSpPr>
        <p:spPr>
          <a:xfrm>
            <a:off x="536575" y="944523"/>
            <a:ext cx="9907006" cy="1281410"/>
          </a:xfrm>
        </p:spPr>
        <p:txBody>
          <a:bodyPr>
            <a:noAutofit/>
          </a:bodyPr>
          <a:lstStyle/>
          <a:p>
            <a:pPr eaLnBrk="1" hangingPunct="1">
              <a:buFont typeface="Wingdings" panose="05000000000000000000" pitchFamily="2" charset="2"/>
              <a:buNone/>
            </a:pPr>
            <a:r>
              <a:rPr lang="en-US" altLang="zh-CN" dirty="0"/>
              <a:t>	</a:t>
            </a:r>
            <a:r>
              <a:rPr lang="zh-CN" altLang="en-US" dirty="0"/>
              <a:t>给定随机过程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，称</a:t>
            </a:r>
          </a:p>
          <a:p>
            <a:pPr algn="ctr" eaLnBrk="1" hangingPunct="1">
              <a:buFont typeface="Wingdings" panose="05000000000000000000" pitchFamily="2" charset="2"/>
              <a:buNone/>
            </a:pPr>
            <a:r>
              <a:rPr lang="en-US" altLang="zh-CN" dirty="0">
                <a:solidFill>
                  <a:srgbClr val="0000FF"/>
                </a:solidFill>
              </a:rPr>
              <a:t>m(t)</a:t>
            </a:r>
            <a:r>
              <a:rPr lang="zh-CN" altLang="en-US" dirty="0">
                <a:solidFill>
                  <a:srgbClr val="0000FF"/>
                </a:solidFill>
              </a:rPr>
              <a:t>＝</a:t>
            </a:r>
            <a:r>
              <a:rPr lang="en-US" altLang="zh-CN" dirty="0">
                <a:solidFill>
                  <a:srgbClr val="0000FF"/>
                </a:solidFill>
              </a:rPr>
              <a:t>E[X(t)]</a:t>
            </a:r>
            <a:r>
              <a:rPr lang="zh-CN" altLang="en-US" dirty="0">
                <a:solidFill>
                  <a:srgbClr val="0000FF"/>
                </a:solidFill>
              </a:rPr>
              <a:t>，</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endParaRPr lang="en-US" altLang="zh-CN" dirty="0">
              <a:solidFill>
                <a:srgbClr val="0000FF"/>
              </a:solidFill>
            </a:endParaRPr>
          </a:p>
          <a:p>
            <a:pPr eaLnBrk="1" hangingPunct="1">
              <a:buFont typeface="Wingdings" panose="05000000000000000000" pitchFamily="2" charset="2"/>
              <a:buNone/>
            </a:pPr>
            <a:r>
              <a:rPr lang="zh-CN" altLang="en-US" dirty="0"/>
              <a:t>为随机过程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的</a:t>
            </a:r>
            <a:r>
              <a:rPr lang="zh-CN" altLang="en-US" dirty="0">
                <a:solidFill>
                  <a:srgbClr val="CC00CC"/>
                </a:solidFill>
              </a:rPr>
              <a:t>均值函数</a:t>
            </a:r>
            <a:r>
              <a:rPr lang="en-US" altLang="zh-CN" dirty="0"/>
              <a:t>(</a:t>
            </a:r>
            <a:r>
              <a:rPr lang="zh-CN" altLang="en-US" dirty="0">
                <a:solidFill>
                  <a:srgbClr val="CC00CC"/>
                </a:solidFill>
              </a:rPr>
              <a:t>数学期望</a:t>
            </a:r>
            <a:r>
              <a:rPr lang="en-US" altLang="zh-CN" dirty="0"/>
              <a:t>)</a:t>
            </a:r>
            <a:r>
              <a:rPr lang="zh-CN" altLang="en-US" dirty="0"/>
              <a:t>。</a:t>
            </a:r>
          </a:p>
        </p:txBody>
      </p:sp>
      <p:sp>
        <p:nvSpPr>
          <p:cNvPr id="273412" name="Rectangle 4">
            <a:extLst>
              <a:ext uri="{FF2B5EF4-FFF2-40B4-BE49-F238E27FC236}">
                <a16:creationId xmlns:a16="http://schemas.microsoft.com/office/drawing/2014/main" id="{621BDD87-7163-F127-22A5-EAB6C6A34E8D}"/>
              </a:ext>
            </a:extLst>
          </p:cNvPr>
          <p:cNvSpPr>
            <a:spLocks noChangeArrowheads="1"/>
          </p:cNvSpPr>
          <p:nvPr/>
        </p:nvSpPr>
        <p:spPr bwMode="auto">
          <a:xfrm>
            <a:off x="659095" y="2786097"/>
            <a:ext cx="11078880"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latin typeface="+mn-ea"/>
                <a:ea typeface="+mn-ea"/>
              </a:rPr>
              <a:t>    </a:t>
            </a:r>
            <a:r>
              <a:rPr lang="zh-CN" altLang="en-US" b="1" dirty="0">
                <a:latin typeface="+mn-ea"/>
                <a:ea typeface="+mn-ea"/>
              </a:rPr>
              <a:t>若</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的状态空间是离散的，则</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zh-CN" altLang="en-US" b="1" dirty="0">
                <a:latin typeface="+mn-ea"/>
                <a:ea typeface="+mn-ea"/>
              </a:rPr>
              <a:t>是离散型随机变量，</a:t>
            </a:r>
            <a:r>
              <a:rPr lang="en-US" altLang="zh-CN" b="1" dirty="0">
                <a:latin typeface="+mn-ea"/>
                <a:ea typeface="+mn-ea"/>
              </a:rPr>
              <a:t>X(t)</a:t>
            </a:r>
            <a:r>
              <a:rPr lang="zh-CN" altLang="en-US" b="1" dirty="0">
                <a:latin typeface="+mn-ea"/>
                <a:ea typeface="+mn-ea"/>
              </a:rPr>
              <a:t>的概率分布为</a:t>
            </a:r>
            <a:r>
              <a:rPr lang="en-US" altLang="zh-CN" b="1" dirty="0">
                <a:latin typeface="+mn-ea"/>
                <a:ea typeface="+mn-ea"/>
              </a:rPr>
              <a:t>p</a:t>
            </a:r>
            <a:r>
              <a:rPr lang="en-US" altLang="zh-CN" b="1" baseline="-25000" dirty="0">
                <a:latin typeface="+mn-ea"/>
                <a:ea typeface="+mn-ea"/>
              </a:rPr>
              <a:t>k</a:t>
            </a:r>
            <a:r>
              <a:rPr lang="en-US" altLang="zh-CN" b="1" dirty="0">
                <a:latin typeface="+mn-ea"/>
                <a:ea typeface="+mn-ea"/>
              </a:rPr>
              <a:t>(t)</a:t>
            </a:r>
            <a:r>
              <a:rPr lang="zh-CN" altLang="en-US" b="1" dirty="0">
                <a:latin typeface="+mn-ea"/>
                <a:ea typeface="+mn-ea"/>
              </a:rPr>
              <a:t>＝</a:t>
            </a:r>
            <a:r>
              <a:rPr lang="en-US" altLang="zh-CN" b="1" dirty="0">
                <a:latin typeface="+mn-ea"/>
                <a:ea typeface="+mn-ea"/>
              </a:rPr>
              <a:t>P{X(t)=</a:t>
            </a:r>
            <a:r>
              <a:rPr lang="en-US" altLang="zh-CN" b="1" dirty="0" err="1">
                <a:latin typeface="+mn-ea"/>
                <a:ea typeface="+mn-ea"/>
              </a:rPr>
              <a:t>X</a:t>
            </a:r>
            <a:r>
              <a:rPr lang="en-US" altLang="zh-CN" b="1" baseline="-25000" dirty="0" err="1">
                <a:latin typeface="+mn-ea"/>
                <a:ea typeface="+mn-ea"/>
              </a:rPr>
              <a:t>k</a:t>
            </a:r>
            <a:r>
              <a:rPr lang="en-US" altLang="zh-CN" b="1" dirty="0">
                <a:latin typeface="+mn-ea"/>
                <a:ea typeface="+mn-ea"/>
              </a:rPr>
              <a:t>}</a:t>
            </a:r>
            <a:r>
              <a:rPr lang="zh-CN" altLang="en-US" b="1" dirty="0">
                <a:latin typeface="+mn-ea"/>
                <a:ea typeface="+mn-ea"/>
              </a:rPr>
              <a:t>，</a:t>
            </a:r>
            <a:r>
              <a:rPr lang="en-US" altLang="zh-CN" b="1" dirty="0">
                <a:latin typeface="+mn-ea"/>
                <a:ea typeface="+mn-ea"/>
              </a:rPr>
              <a:t>k=1,2,…</a:t>
            </a:r>
            <a:r>
              <a:rPr lang="zh-CN" altLang="en-US" b="1" dirty="0">
                <a:latin typeface="+mn-ea"/>
                <a:ea typeface="+mn-ea"/>
              </a:rPr>
              <a:t>，则</a:t>
            </a:r>
          </a:p>
        </p:txBody>
      </p:sp>
      <mc:AlternateContent xmlns:mc="http://schemas.openxmlformats.org/markup-compatibility/2006" xmlns:a14="http://schemas.microsoft.com/office/drawing/2010/main">
        <mc:Choice Requires="a14">
          <p:sp>
            <p:nvSpPr>
              <p:cNvPr id="273413" name="Object 5">
                <a:extLst>
                  <a:ext uri="{FF2B5EF4-FFF2-40B4-BE49-F238E27FC236}">
                    <a16:creationId xmlns:a16="http://schemas.microsoft.com/office/drawing/2014/main" id="{ED205EDC-637F-83D8-3D2D-0687A8466318}"/>
                  </a:ext>
                </a:extLst>
              </p:cNvPr>
              <p:cNvSpPr txBox="1"/>
              <p:nvPr/>
            </p:nvSpPr>
            <p:spPr bwMode="auto">
              <a:xfrm>
                <a:off x="4346170" y="3772207"/>
                <a:ext cx="4412684" cy="107975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oMath>
                  </m:oMathPara>
                </a14:m>
                <a:endParaRPr lang="zh-CN" altLang="en-US" dirty="0"/>
              </a:p>
            </p:txBody>
          </p:sp>
        </mc:Choice>
        <mc:Fallback xmlns="">
          <p:sp>
            <p:nvSpPr>
              <p:cNvPr id="273413" name="Object 5">
                <a:extLst>
                  <a:ext uri="{FF2B5EF4-FFF2-40B4-BE49-F238E27FC236}">
                    <a16:creationId xmlns:a16="http://schemas.microsoft.com/office/drawing/2014/main" id="{ED205EDC-637F-83D8-3D2D-0687A8466318}"/>
                  </a:ext>
                </a:extLst>
              </p:cNvPr>
              <p:cNvSpPr txBox="1">
                <a:spLocks noRot="1" noChangeAspect="1" noMove="1" noResize="1" noEditPoints="1" noAdjustHandles="1" noChangeArrowheads="1" noChangeShapeType="1" noTextEdit="1"/>
              </p:cNvSpPr>
              <p:nvPr/>
            </p:nvSpPr>
            <p:spPr bwMode="auto">
              <a:xfrm>
                <a:off x="4346170" y="3772207"/>
                <a:ext cx="4412684" cy="107975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3414" name="Object 6">
                <a:extLst>
                  <a:ext uri="{FF2B5EF4-FFF2-40B4-BE49-F238E27FC236}">
                    <a16:creationId xmlns:a16="http://schemas.microsoft.com/office/drawing/2014/main" id="{8F6DA4FC-8BA1-FB03-18DD-E450723567E7}"/>
                  </a:ext>
                </a:extLst>
              </p:cNvPr>
              <p:cNvSpPr txBox="1"/>
              <p:nvPr/>
            </p:nvSpPr>
            <p:spPr bwMode="auto">
              <a:xfrm>
                <a:off x="4346170" y="5829062"/>
                <a:ext cx="4793772" cy="825691"/>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𝑥𝑓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𝑑𝑥</m:t>
                          </m:r>
                        </m:e>
                      </m:nary>
                    </m:oMath>
                  </m:oMathPara>
                </a14:m>
                <a:endParaRPr lang="zh-CN" altLang="en-US" dirty="0"/>
              </a:p>
            </p:txBody>
          </p:sp>
        </mc:Choice>
        <mc:Fallback xmlns="">
          <p:sp>
            <p:nvSpPr>
              <p:cNvPr id="273414" name="Object 6">
                <a:extLst>
                  <a:ext uri="{FF2B5EF4-FFF2-40B4-BE49-F238E27FC236}">
                    <a16:creationId xmlns:a16="http://schemas.microsoft.com/office/drawing/2014/main" id="{8F6DA4FC-8BA1-FB03-18DD-E450723567E7}"/>
                  </a:ext>
                </a:extLst>
              </p:cNvPr>
              <p:cNvSpPr txBox="1">
                <a:spLocks noRot="1" noChangeAspect="1" noMove="1" noResize="1" noEditPoints="1" noAdjustHandles="1" noChangeArrowheads="1" noChangeShapeType="1" noTextEdit="1"/>
              </p:cNvSpPr>
              <p:nvPr/>
            </p:nvSpPr>
            <p:spPr bwMode="auto">
              <a:xfrm>
                <a:off x="4346170" y="5829062"/>
                <a:ext cx="4793772" cy="825691"/>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273415" name="Rectangle 7">
            <a:extLst>
              <a:ext uri="{FF2B5EF4-FFF2-40B4-BE49-F238E27FC236}">
                <a16:creationId xmlns:a16="http://schemas.microsoft.com/office/drawing/2014/main" id="{8051A167-AA4D-9403-3D36-9C514240E18A}"/>
              </a:ext>
            </a:extLst>
          </p:cNvPr>
          <p:cNvSpPr>
            <a:spLocks noChangeArrowheads="1"/>
          </p:cNvSpPr>
          <p:nvPr/>
        </p:nvSpPr>
        <p:spPr bwMode="auto">
          <a:xfrm>
            <a:off x="774700" y="4807944"/>
            <a:ext cx="10734675"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latin typeface="+mn-ea"/>
                <a:ea typeface="+mn-ea"/>
              </a:rPr>
              <a:t>    </a:t>
            </a:r>
            <a:r>
              <a:rPr lang="zh-CN" altLang="en-US" b="1" dirty="0">
                <a:latin typeface="+mn-ea"/>
                <a:ea typeface="+mn-ea"/>
              </a:rPr>
              <a:t>若</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的状态空间是连续的，则</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zh-CN" altLang="en-US" b="1" dirty="0">
                <a:latin typeface="+mn-ea"/>
                <a:ea typeface="+mn-ea"/>
              </a:rPr>
              <a:t>是连续型随机变量，</a:t>
            </a:r>
            <a:r>
              <a:rPr lang="en-US" altLang="zh-CN" b="1" dirty="0">
                <a:latin typeface="+mn-ea"/>
                <a:ea typeface="+mn-ea"/>
              </a:rPr>
              <a:t>X(t)</a:t>
            </a:r>
            <a:r>
              <a:rPr lang="zh-CN" altLang="en-US" b="1" dirty="0">
                <a:latin typeface="+mn-ea"/>
                <a:ea typeface="+mn-ea"/>
              </a:rPr>
              <a:t>的一维概率密度为</a:t>
            </a:r>
            <a:r>
              <a:rPr lang="en-US" altLang="zh-CN" b="1" dirty="0">
                <a:latin typeface="+mn-ea"/>
                <a:ea typeface="+mn-ea"/>
              </a:rPr>
              <a:t>f(</a:t>
            </a:r>
            <a:r>
              <a:rPr lang="en-US" altLang="zh-CN" b="1" dirty="0" err="1">
                <a:latin typeface="+mn-ea"/>
                <a:ea typeface="+mn-ea"/>
              </a:rPr>
              <a:t>t,x</a:t>
            </a:r>
            <a:r>
              <a:rPr lang="en-US" altLang="zh-CN" b="1" dirty="0">
                <a:latin typeface="+mn-ea"/>
                <a:ea typeface="+mn-ea"/>
              </a:rPr>
              <a:t>)</a:t>
            </a:r>
            <a:r>
              <a:rPr lang="zh-CN" altLang="en-US" b="1" dirty="0">
                <a:latin typeface="+mn-ea"/>
                <a:ea typeface="+mn-ea"/>
              </a:rPr>
              <a:t>为，则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 calcmode="lin" valueType="num">
                                      <p:cBhvr additive="base">
                                        <p:cTn id="7" dur="500" fill="hold"/>
                                        <p:tgtEl>
                                          <p:spTgt spid="273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341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3411">
                                            <p:txEl>
                                              <p:pRg st="1" end="1"/>
                                            </p:txEl>
                                          </p:spTgt>
                                        </p:tgtEl>
                                        <p:attrNameLst>
                                          <p:attrName>style.visibility</p:attrName>
                                        </p:attrNameLst>
                                      </p:cBhvr>
                                      <p:to>
                                        <p:strVal val="visible"/>
                                      </p:to>
                                    </p:set>
                                    <p:anim calcmode="lin" valueType="num">
                                      <p:cBhvr additive="base">
                                        <p:cTn id="12" dur="500" fill="hold"/>
                                        <p:tgtEl>
                                          <p:spTgt spid="27341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3411">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73411">
                                            <p:txEl>
                                              <p:pRg st="2" end="2"/>
                                            </p:txEl>
                                          </p:spTgt>
                                        </p:tgtEl>
                                        <p:attrNameLst>
                                          <p:attrName>style.visibility</p:attrName>
                                        </p:attrNameLst>
                                      </p:cBhvr>
                                      <p:to>
                                        <p:strVal val="visible"/>
                                      </p:to>
                                    </p:set>
                                    <p:anim calcmode="lin" valueType="num">
                                      <p:cBhvr additive="base">
                                        <p:cTn id="17" dur="500" fill="hold"/>
                                        <p:tgtEl>
                                          <p:spTgt spid="2734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3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73412"/>
                                        </p:tgtEl>
                                        <p:attrNameLst>
                                          <p:attrName>style.visibility</p:attrName>
                                        </p:attrNameLst>
                                      </p:cBhvr>
                                      <p:to>
                                        <p:strVal val="visible"/>
                                      </p:to>
                                    </p:set>
                                    <p:anim calcmode="lin" valueType="num">
                                      <p:cBhvr additive="base">
                                        <p:cTn id="23" dur="500" fill="hold"/>
                                        <p:tgtEl>
                                          <p:spTgt spid="273412"/>
                                        </p:tgtEl>
                                        <p:attrNameLst>
                                          <p:attrName>ppt_x</p:attrName>
                                        </p:attrNameLst>
                                      </p:cBhvr>
                                      <p:tavLst>
                                        <p:tav tm="0">
                                          <p:val>
                                            <p:strVal val="0-#ppt_w/2"/>
                                          </p:val>
                                        </p:tav>
                                        <p:tav tm="100000">
                                          <p:val>
                                            <p:strVal val="#ppt_x"/>
                                          </p:val>
                                        </p:tav>
                                      </p:tavLst>
                                    </p:anim>
                                    <p:anim calcmode="lin" valueType="num">
                                      <p:cBhvr additive="base">
                                        <p:cTn id="24" dur="500" fill="hold"/>
                                        <p:tgtEl>
                                          <p:spTgt spid="27341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273413"/>
                                        </p:tgtEl>
                                        <p:attrNameLst>
                                          <p:attrName>style.visibility</p:attrName>
                                        </p:attrNameLst>
                                      </p:cBhvr>
                                      <p:to>
                                        <p:strVal val="visible"/>
                                      </p:to>
                                    </p:set>
                                    <p:animEffect transition="in" filter="randombar(horizontal)">
                                      <p:cBhvr>
                                        <p:cTn id="29" dur="500"/>
                                        <p:tgtEl>
                                          <p:spTgt spid="27341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73415"/>
                                        </p:tgtEl>
                                        <p:attrNameLst>
                                          <p:attrName>style.visibility</p:attrName>
                                        </p:attrNameLst>
                                      </p:cBhvr>
                                      <p:to>
                                        <p:strVal val="visible"/>
                                      </p:to>
                                    </p:set>
                                    <p:anim calcmode="lin" valueType="num">
                                      <p:cBhvr additive="base">
                                        <p:cTn id="34" dur="500" fill="hold"/>
                                        <p:tgtEl>
                                          <p:spTgt spid="273415"/>
                                        </p:tgtEl>
                                        <p:attrNameLst>
                                          <p:attrName>ppt_x</p:attrName>
                                        </p:attrNameLst>
                                      </p:cBhvr>
                                      <p:tavLst>
                                        <p:tav tm="0">
                                          <p:val>
                                            <p:strVal val="0-#ppt_w/2"/>
                                          </p:val>
                                        </p:tav>
                                        <p:tav tm="100000">
                                          <p:val>
                                            <p:strVal val="#ppt_x"/>
                                          </p:val>
                                        </p:tav>
                                      </p:tavLst>
                                    </p:anim>
                                    <p:anim calcmode="lin" valueType="num">
                                      <p:cBhvr additive="base">
                                        <p:cTn id="35" dur="500" fill="hold"/>
                                        <p:tgtEl>
                                          <p:spTgt spid="273415"/>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273414"/>
                                        </p:tgtEl>
                                        <p:attrNameLst>
                                          <p:attrName>style.visibility</p:attrName>
                                        </p:attrNameLst>
                                      </p:cBhvr>
                                      <p:to>
                                        <p:strVal val="visible"/>
                                      </p:to>
                                    </p:set>
                                    <p:animEffect transition="in" filter="randombar(horizontal)">
                                      <p:cBhvr>
                                        <p:cTn id="40" dur="500"/>
                                        <p:tgtEl>
                                          <p:spTgt spid="273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P spid="273412" grpId="0" autoUpdateAnimBg="0"/>
      <p:bldP spid="273413" grpId="0"/>
      <p:bldP spid="273414" grpId="0"/>
      <p:bldP spid="27341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a:extLst>
              <a:ext uri="{FF2B5EF4-FFF2-40B4-BE49-F238E27FC236}">
                <a16:creationId xmlns:a16="http://schemas.microsoft.com/office/drawing/2014/main" id="{853C2CED-F579-4E67-2E8C-4952CC91905C}"/>
              </a:ext>
            </a:extLst>
          </p:cNvPr>
          <p:cNvSpPr>
            <a:spLocks noGrp="1" noChangeArrowheads="1"/>
          </p:cNvSpPr>
          <p:nvPr>
            <p:ph type="title"/>
          </p:nvPr>
        </p:nvSpPr>
        <p:spPr/>
        <p:txBody>
          <a:bodyPr/>
          <a:lstStyle/>
          <a:p>
            <a:pPr eaLnBrk="1" hangingPunct="1"/>
            <a:r>
              <a:rPr lang="zh-CN" altLang="en-US"/>
              <a:t>方差函数</a:t>
            </a:r>
          </a:p>
        </p:txBody>
      </p:sp>
      <p:sp>
        <p:nvSpPr>
          <p:cNvPr id="274435" name="Rectangle 3">
            <a:extLst>
              <a:ext uri="{FF2B5EF4-FFF2-40B4-BE49-F238E27FC236}">
                <a16:creationId xmlns:a16="http://schemas.microsoft.com/office/drawing/2014/main" id="{F2A36E1A-4894-3DEF-DE3E-1B180E74E4BE}"/>
              </a:ext>
            </a:extLst>
          </p:cNvPr>
          <p:cNvSpPr>
            <a:spLocks noGrp="1" noChangeArrowheads="1"/>
          </p:cNvSpPr>
          <p:nvPr>
            <p:ph type="body" idx="1"/>
          </p:nvPr>
        </p:nvSpPr>
        <p:spPr>
          <a:xfrm>
            <a:off x="155575" y="935728"/>
            <a:ext cx="11353800" cy="2549724"/>
          </a:xfrm>
        </p:spPr>
        <p:txBody>
          <a:bodyPr>
            <a:normAutofit/>
          </a:bodyPr>
          <a:lstStyle/>
          <a:p>
            <a:pPr eaLnBrk="1" hangingPunct="1">
              <a:lnSpc>
                <a:spcPct val="160000"/>
              </a:lnSpc>
              <a:buFont typeface="Wingdings" panose="05000000000000000000" pitchFamily="2" charset="2"/>
              <a:buNone/>
            </a:pPr>
            <a:r>
              <a:rPr lang="en-US" altLang="zh-CN" dirty="0"/>
              <a:t>	</a:t>
            </a:r>
            <a:r>
              <a:rPr lang="zh-CN" altLang="en-US" dirty="0"/>
              <a:t>给定随机过程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，称</a:t>
            </a:r>
            <a:r>
              <a:rPr lang="en-US" altLang="zh-CN" dirty="0">
                <a:solidFill>
                  <a:srgbClr val="0000FF"/>
                </a:solidFill>
              </a:rPr>
              <a:t>D(t)</a:t>
            </a:r>
            <a:r>
              <a:rPr lang="zh-CN" altLang="en-US" dirty="0">
                <a:solidFill>
                  <a:srgbClr val="0000FF"/>
                </a:solidFill>
              </a:rPr>
              <a:t>＝</a:t>
            </a:r>
            <a:r>
              <a:rPr lang="en-US" altLang="zh-CN" dirty="0">
                <a:solidFill>
                  <a:srgbClr val="0000FF"/>
                </a:solidFill>
              </a:rPr>
              <a:t>D[X(t)]</a:t>
            </a:r>
            <a:r>
              <a:rPr lang="zh-CN" altLang="en-US" dirty="0">
                <a:solidFill>
                  <a:srgbClr val="0000FF"/>
                </a:solidFill>
              </a:rPr>
              <a:t>＝</a:t>
            </a:r>
            <a:r>
              <a:rPr lang="en-US" altLang="zh-CN" dirty="0">
                <a:solidFill>
                  <a:srgbClr val="0000FF"/>
                </a:solidFill>
              </a:rPr>
              <a:t>E[X(t)</a:t>
            </a:r>
            <a:r>
              <a:rPr lang="zh-CN" altLang="en-US" dirty="0">
                <a:solidFill>
                  <a:srgbClr val="0000FF"/>
                </a:solidFill>
              </a:rPr>
              <a:t>－</a:t>
            </a:r>
            <a:r>
              <a:rPr lang="en-US" altLang="zh-CN" dirty="0">
                <a:solidFill>
                  <a:srgbClr val="0000FF"/>
                </a:solidFill>
              </a:rPr>
              <a:t>m(t)]</a:t>
            </a:r>
            <a:r>
              <a:rPr lang="en-US" altLang="zh-CN" baseline="30000" dirty="0">
                <a:solidFill>
                  <a:srgbClr val="0000FF"/>
                </a:solidFill>
              </a:rPr>
              <a:t>2</a:t>
            </a:r>
            <a:r>
              <a:rPr lang="zh-CN" altLang="en-US" dirty="0">
                <a:solidFill>
                  <a:srgbClr val="0000FF"/>
                </a:solidFill>
              </a:rPr>
              <a:t>，</a:t>
            </a:r>
            <a:r>
              <a:rPr lang="en-US" altLang="zh-CN" dirty="0" err="1">
                <a:solidFill>
                  <a:srgbClr val="0000FF"/>
                </a:solidFill>
              </a:rPr>
              <a:t>t</a:t>
            </a:r>
            <a:r>
              <a:rPr lang="en-US" altLang="zh-CN" dirty="0" err="1">
                <a:solidFill>
                  <a:srgbClr val="0000FF"/>
                </a:solidFill>
                <a:sym typeface="Symbol" panose="05050102010706020507" pitchFamily="18" charset="2"/>
              </a:rPr>
              <a:t></a:t>
            </a:r>
            <a:r>
              <a:rPr lang="en-US" altLang="zh-CN" dirty="0" err="1">
                <a:solidFill>
                  <a:srgbClr val="0000FF"/>
                </a:solidFill>
              </a:rPr>
              <a:t>T</a:t>
            </a:r>
            <a:endParaRPr lang="en-US" altLang="zh-CN" dirty="0">
              <a:solidFill>
                <a:srgbClr val="0000FF"/>
              </a:solidFill>
            </a:endParaRPr>
          </a:p>
          <a:p>
            <a:pPr eaLnBrk="1" hangingPunct="1">
              <a:lnSpc>
                <a:spcPct val="160000"/>
              </a:lnSpc>
              <a:buFont typeface="Wingdings" panose="05000000000000000000" pitchFamily="2" charset="2"/>
              <a:buNone/>
            </a:pPr>
            <a:r>
              <a:rPr lang="zh-CN" altLang="en-US" dirty="0"/>
              <a:t>为随机过程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的</a:t>
            </a:r>
            <a:r>
              <a:rPr lang="zh-CN" altLang="en-US" dirty="0">
                <a:solidFill>
                  <a:srgbClr val="CC00CC"/>
                </a:solidFill>
              </a:rPr>
              <a:t>方差函数</a:t>
            </a:r>
            <a:r>
              <a:rPr lang="zh-CN" altLang="en-US" dirty="0"/>
              <a:t>。显然，</a:t>
            </a:r>
          </a:p>
          <a:p>
            <a:pPr algn="ctr" eaLnBrk="1" hangingPunct="1">
              <a:lnSpc>
                <a:spcPct val="160000"/>
              </a:lnSpc>
              <a:buFont typeface="Wingdings" panose="05000000000000000000" pitchFamily="2" charset="2"/>
              <a:buNone/>
            </a:pPr>
            <a:r>
              <a:rPr lang="en-US" altLang="zh-CN" dirty="0">
                <a:solidFill>
                  <a:srgbClr val="0000FF"/>
                </a:solidFill>
              </a:rPr>
              <a:t>D(t)</a:t>
            </a:r>
            <a:r>
              <a:rPr lang="zh-CN" altLang="en-US" dirty="0">
                <a:solidFill>
                  <a:srgbClr val="0000FF"/>
                </a:solidFill>
              </a:rPr>
              <a:t>＝</a:t>
            </a:r>
            <a:r>
              <a:rPr lang="en-US" altLang="zh-CN" dirty="0">
                <a:solidFill>
                  <a:srgbClr val="0000FF"/>
                </a:solidFill>
              </a:rPr>
              <a:t>E[X(t)</a:t>
            </a:r>
            <a:r>
              <a:rPr lang="zh-CN" altLang="en-US" dirty="0">
                <a:solidFill>
                  <a:srgbClr val="0000FF"/>
                </a:solidFill>
              </a:rPr>
              <a:t>－</a:t>
            </a:r>
            <a:r>
              <a:rPr lang="en-US" altLang="zh-CN" dirty="0">
                <a:solidFill>
                  <a:srgbClr val="0000FF"/>
                </a:solidFill>
              </a:rPr>
              <a:t>m(t)]</a:t>
            </a:r>
            <a:r>
              <a:rPr lang="en-US" altLang="zh-CN" baseline="30000" dirty="0">
                <a:solidFill>
                  <a:srgbClr val="0000FF"/>
                </a:solidFill>
              </a:rPr>
              <a:t>2</a:t>
            </a:r>
            <a:r>
              <a:rPr lang="zh-CN" altLang="en-US" dirty="0">
                <a:solidFill>
                  <a:srgbClr val="0000FF"/>
                </a:solidFill>
              </a:rPr>
              <a:t>＝</a:t>
            </a:r>
            <a:r>
              <a:rPr lang="en-US" altLang="zh-CN" dirty="0">
                <a:solidFill>
                  <a:srgbClr val="0000FF"/>
                </a:solidFill>
              </a:rPr>
              <a:t>E[X</a:t>
            </a:r>
            <a:r>
              <a:rPr lang="en-US" altLang="zh-CN" baseline="30000" dirty="0">
                <a:solidFill>
                  <a:srgbClr val="0000FF"/>
                </a:solidFill>
              </a:rPr>
              <a:t>2</a:t>
            </a:r>
            <a:r>
              <a:rPr lang="en-US" altLang="zh-CN" dirty="0">
                <a:solidFill>
                  <a:srgbClr val="0000FF"/>
                </a:solidFill>
              </a:rPr>
              <a:t>(t)]</a:t>
            </a:r>
            <a:r>
              <a:rPr lang="zh-CN" altLang="en-US" dirty="0">
                <a:solidFill>
                  <a:srgbClr val="0000FF"/>
                </a:solidFill>
              </a:rPr>
              <a:t>－</a:t>
            </a:r>
            <a:r>
              <a:rPr lang="en-US" altLang="zh-CN" dirty="0">
                <a:solidFill>
                  <a:srgbClr val="0000FF"/>
                </a:solidFill>
              </a:rPr>
              <a:t>m</a:t>
            </a:r>
            <a:r>
              <a:rPr lang="en-US" altLang="zh-CN" baseline="30000" dirty="0">
                <a:solidFill>
                  <a:srgbClr val="0000FF"/>
                </a:solidFill>
              </a:rPr>
              <a:t>2</a:t>
            </a:r>
            <a:r>
              <a:rPr lang="en-US" altLang="zh-CN" dirty="0">
                <a:solidFill>
                  <a:srgbClr val="0000FF"/>
                </a:solidFill>
              </a:rPr>
              <a:t>(t)</a:t>
            </a:r>
            <a:r>
              <a:rPr lang="zh-CN" altLang="en-US" dirty="0">
                <a:solidFill>
                  <a:srgbClr val="0000FF"/>
                </a:solidFill>
              </a:rPr>
              <a:t>。</a:t>
            </a:r>
          </a:p>
          <a:p>
            <a:pPr eaLnBrk="1" hangingPunct="1">
              <a:lnSpc>
                <a:spcPct val="160000"/>
              </a:lnSpc>
              <a:buFont typeface="Wingdings" panose="05000000000000000000" pitchFamily="2" charset="2"/>
              <a:buNone/>
            </a:pPr>
            <a:r>
              <a:rPr lang="zh-CN" altLang="en-US" dirty="0"/>
              <a:t>称                   为随机过程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的</a:t>
            </a:r>
            <a:r>
              <a:rPr lang="zh-CN" altLang="en-US" dirty="0">
                <a:solidFill>
                  <a:srgbClr val="CC00CC"/>
                </a:solidFill>
              </a:rPr>
              <a:t>均方差函数</a:t>
            </a:r>
            <a:r>
              <a:rPr lang="en-US" altLang="zh-CN" dirty="0"/>
              <a:t>(</a:t>
            </a:r>
            <a:r>
              <a:rPr lang="zh-CN" altLang="en-US" dirty="0">
                <a:solidFill>
                  <a:srgbClr val="CC00CC"/>
                </a:solidFill>
              </a:rPr>
              <a:t>标准方差函数</a:t>
            </a:r>
            <a:r>
              <a:rPr lang="en-US" altLang="zh-CN" dirty="0"/>
              <a:t>)</a:t>
            </a:r>
            <a:r>
              <a:rPr lang="zh-CN" altLang="en-US" dirty="0"/>
              <a:t>。</a:t>
            </a:r>
          </a:p>
        </p:txBody>
      </p:sp>
      <p:sp>
        <p:nvSpPr>
          <p:cNvPr id="274436" name="Rectangle 4">
            <a:extLst>
              <a:ext uri="{FF2B5EF4-FFF2-40B4-BE49-F238E27FC236}">
                <a16:creationId xmlns:a16="http://schemas.microsoft.com/office/drawing/2014/main" id="{6CE84F57-6470-4F4C-6F1F-F9D0C755269A}"/>
              </a:ext>
            </a:extLst>
          </p:cNvPr>
          <p:cNvSpPr>
            <a:spLocks noChangeArrowheads="1"/>
          </p:cNvSpPr>
          <p:nvPr/>
        </p:nvSpPr>
        <p:spPr bwMode="auto">
          <a:xfrm>
            <a:off x="326315" y="3563175"/>
            <a:ext cx="11419105"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a:latin typeface="+mn-ea"/>
                <a:ea typeface="+mn-ea"/>
              </a:rPr>
              <a:t>    </a:t>
            </a:r>
            <a:r>
              <a:rPr lang="zh-CN" altLang="en-US" b="1">
                <a:latin typeface="+mn-ea"/>
                <a:ea typeface="+mn-ea"/>
              </a:rPr>
              <a:t>若</a:t>
            </a:r>
            <a:r>
              <a:rPr lang="en-US" altLang="zh-CN" b="1">
                <a:latin typeface="+mn-ea"/>
                <a:ea typeface="+mn-ea"/>
              </a:rPr>
              <a:t>X(t),t</a:t>
            </a:r>
            <a:r>
              <a:rPr lang="en-US" altLang="zh-CN" b="1">
                <a:latin typeface="+mn-ea"/>
                <a:ea typeface="+mn-ea"/>
                <a:sym typeface="Symbol" panose="05050102010706020507" pitchFamily="18" charset="2"/>
              </a:rPr>
              <a:t></a:t>
            </a:r>
            <a:r>
              <a:rPr lang="en-US" altLang="zh-CN" b="1">
                <a:latin typeface="+mn-ea"/>
                <a:ea typeface="+mn-ea"/>
              </a:rPr>
              <a:t>T</a:t>
            </a:r>
            <a:r>
              <a:rPr lang="zh-CN" altLang="en-US" b="1">
                <a:latin typeface="+mn-ea"/>
                <a:ea typeface="+mn-ea"/>
              </a:rPr>
              <a:t>是离散型随机变量，</a:t>
            </a:r>
            <a:r>
              <a:rPr lang="en-US" altLang="zh-CN" b="1">
                <a:latin typeface="+mn-ea"/>
                <a:ea typeface="+mn-ea"/>
              </a:rPr>
              <a:t>X(t)</a:t>
            </a:r>
            <a:r>
              <a:rPr lang="zh-CN" altLang="en-US" b="1">
                <a:latin typeface="+mn-ea"/>
                <a:ea typeface="+mn-ea"/>
              </a:rPr>
              <a:t>的概率分布为</a:t>
            </a:r>
            <a:r>
              <a:rPr lang="en-US" altLang="zh-CN" b="1">
                <a:latin typeface="+mn-ea"/>
                <a:ea typeface="+mn-ea"/>
              </a:rPr>
              <a:t>p</a:t>
            </a:r>
            <a:r>
              <a:rPr lang="en-US" altLang="zh-CN" b="1" baseline="-25000">
                <a:latin typeface="+mn-ea"/>
                <a:ea typeface="+mn-ea"/>
              </a:rPr>
              <a:t>k</a:t>
            </a:r>
            <a:r>
              <a:rPr lang="en-US" altLang="zh-CN" b="1">
                <a:latin typeface="+mn-ea"/>
                <a:ea typeface="+mn-ea"/>
              </a:rPr>
              <a:t>(t)</a:t>
            </a:r>
            <a:r>
              <a:rPr lang="zh-CN" altLang="en-US" b="1">
                <a:latin typeface="+mn-ea"/>
                <a:ea typeface="+mn-ea"/>
              </a:rPr>
              <a:t>＝</a:t>
            </a:r>
            <a:r>
              <a:rPr lang="en-US" altLang="zh-CN" b="1">
                <a:latin typeface="+mn-ea"/>
                <a:ea typeface="+mn-ea"/>
              </a:rPr>
              <a:t>P{X(t)=X</a:t>
            </a:r>
            <a:r>
              <a:rPr lang="en-US" altLang="zh-CN" b="1" baseline="-25000">
                <a:latin typeface="+mn-ea"/>
                <a:ea typeface="+mn-ea"/>
              </a:rPr>
              <a:t>k</a:t>
            </a:r>
            <a:r>
              <a:rPr lang="en-US" altLang="zh-CN" b="1">
                <a:latin typeface="+mn-ea"/>
                <a:ea typeface="+mn-ea"/>
              </a:rPr>
              <a:t>}</a:t>
            </a:r>
            <a:r>
              <a:rPr lang="zh-CN" altLang="en-US" b="1">
                <a:latin typeface="+mn-ea"/>
                <a:ea typeface="+mn-ea"/>
              </a:rPr>
              <a:t>，</a:t>
            </a:r>
            <a:r>
              <a:rPr lang="en-US" altLang="zh-CN" b="1">
                <a:latin typeface="+mn-ea"/>
                <a:ea typeface="+mn-ea"/>
              </a:rPr>
              <a:t>k=1,2,…</a:t>
            </a:r>
            <a:r>
              <a:rPr lang="zh-CN" altLang="en-US" b="1">
                <a:latin typeface="+mn-ea"/>
                <a:ea typeface="+mn-ea"/>
              </a:rPr>
              <a:t>，则</a:t>
            </a:r>
          </a:p>
        </p:txBody>
      </p:sp>
      <mc:AlternateContent xmlns:mc="http://schemas.openxmlformats.org/markup-compatibility/2006" xmlns:a14="http://schemas.microsoft.com/office/drawing/2010/main">
        <mc:Choice Requires="a14">
          <p:sp>
            <p:nvSpPr>
              <p:cNvPr id="274437" name="Object 5">
                <a:extLst>
                  <a:ext uri="{FF2B5EF4-FFF2-40B4-BE49-F238E27FC236}">
                    <a16:creationId xmlns:a16="http://schemas.microsoft.com/office/drawing/2014/main" id="{C95C56EC-FCA0-4479-8C3E-129D97BE3EDE}"/>
                  </a:ext>
                </a:extLst>
              </p:cNvPr>
              <p:cNvSpPr txBox="1"/>
              <p:nvPr/>
            </p:nvSpPr>
            <p:spPr bwMode="auto">
              <a:xfrm>
                <a:off x="2822575" y="4335843"/>
                <a:ext cx="5877544" cy="991005"/>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oMath>
                  </m:oMathPara>
                </a14:m>
                <a:endParaRPr lang="zh-CN" altLang="en-US" dirty="0"/>
              </a:p>
            </p:txBody>
          </p:sp>
        </mc:Choice>
        <mc:Fallback xmlns="">
          <p:sp>
            <p:nvSpPr>
              <p:cNvPr id="274437" name="Object 5">
                <a:extLst>
                  <a:ext uri="{FF2B5EF4-FFF2-40B4-BE49-F238E27FC236}">
                    <a16:creationId xmlns:a16="http://schemas.microsoft.com/office/drawing/2014/main" id="{C95C56EC-FCA0-4479-8C3E-129D97BE3EDE}"/>
                  </a:ext>
                </a:extLst>
              </p:cNvPr>
              <p:cNvSpPr txBox="1">
                <a:spLocks noRot="1" noChangeAspect="1" noMove="1" noResize="1" noEditPoints="1" noAdjustHandles="1" noChangeArrowheads="1" noChangeShapeType="1" noTextEdit="1"/>
              </p:cNvSpPr>
              <p:nvPr/>
            </p:nvSpPr>
            <p:spPr bwMode="auto">
              <a:xfrm>
                <a:off x="2822575" y="4335843"/>
                <a:ext cx="5877544" cy="991005"/>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4438" name="Object 6">
                <a:extLst>
                  <a:ext uri="{FF2B5EF4-FFF2-40B4-BE49-F238E27FC236}">
                    <a16:creationId xmlns:a16="http://schemas.microsoft.com/office/drawing/2014/main" id="{DAFF084B-5904-A980-3C33-3F41AC93264E}"/>
                  </a:ext>
                </a:extLst>
              </p:cNvPr>
              <p:cNvSpPr txBox="1"/>
              <p:nvPr/>
            </p:nvSpPr>
            <p:spPr bwMode="auto">
              <a:xfrm>
                <a:off x="2834940" y="5923860"/>
                <a:ext cx="6547519" cy="847162"/>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𝑑𝑥</m:t>
                          </m:r>
                        </m:e>
                      </m:nary>
                    </m:oMath>
                  </m:oMathPara>
                </a14:m>
                <a:endParaRPr lang="zh-CN" altLang="en-US" dirty="0"/>
              </a:p>
            </p:txBody>
          </p:sp>
        </mc:Choice>
        <mc:Fallback xmlns="">
          <p:sp>
            <p:nvSpPr>
              <p:cNvPr id="274438" name="Object 6">
                <a:extLst>
                  <a:ext uri="{FF2B5EF4-FFF2-40B4-BE49-F238E27FC236}">
                    <a16:creationId xmlns:a16="http://schemas.microsoft.com/office/drawing/2014/main" id="{DAFF084B-5904-A980-3C33-3F41AC93264E}"/>
                  </a:ext>
                </a:extLst>
              </p:cNvPr>
              <p:cNvSpPr txBox="1">
                <a:spLocks noRot="1" noChangeAspect="1" noMove="1" noResize="1" noEditPoints="1" noAdjustHandles="1" noChangeArrowheads="1" noChangeShapeType="1" noTextEdit="1"/>
              </p:cNvSpPr>
              <p:nvPr/>
            </p:nvSpPr>
            <p:spPr bwMode="auto">
              <a:xfrm>
                <a:off x="2834940" y="5923860"/>
                <a:ext cx="6547519" cy="847162"/>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274439" name="Rectangle 7">
            <a:extLst>
              <a:ext uri="{FF2B5EF4-FFF2-40B4-BE49-F238E27FC236}">
                <a16:creationId xmlns:a16="http://schemas.microsoft.com/office/drawing/2014/main" id="{DD5A9968-9CF5-F886-2DAF-86F9E64E2344}"/>
              </a:ext>
            </a:extLst>
          </p:cNvPr>
          <p:cNvSpPr>
            <a:spLocks noChangeArrowheads="1"/>
          </p:cNvSpPr>
          <p:nvPr/>
        </p:nvSpPr>
        <p:spPr bwMode="auto">
          <a:xfrm>
            <a:off x="326315" y="5125637"/>
            <a:ext cx="11419105" cy="579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latin typeface="+mn-ea"/>
                <a:ea typeface="+mn-ea"/>
              </a:rPr>
              <a:t>    </a:t>
            </a:r>
            <a:r>
              <a:rPr lang="zh-CN" altLang="en-US" b="1" dirty="0">
                <a:latin typeface="+mn-ea"/>
                <a:ea typeface="+mn-ea"/>
              </a:rPr>
              <a:t>若</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zh-CN" altLang="en-US" b="1" dirty="0">
                <a:latin typeface="+mn-ea"/>
                <a:ea typeface="+mn-ea"/>
              </a:rPr>
              <a:t>是连续型随机变量，</a:t>
            </a:r>
            <a:r>
              <a:rPr lang="en-US" altLang="zh-CN" b="1" dirty="0">
                <a:latin typeface="+mn-ea"/>
                <a:ea typeface="+mn-ea"/>
              </a:rPr>
              <a:t>X(t)</a:t>
            </a:r>
            <a:r>
              <a:rPr lang="zh-CN" altLang="en-US" b="1" dirty="0">
                <a:latin typeface="+mn-ea"/>
                <a:ea typeface="+mn-ea"/>
              </a:rPr>
              <a:t>的一维概率密度为</a:t>
            </a:r>
            <a:r>
              <a:rPr lang="en-US" altLang="zh-CN" b="1" dirty="0">
                <a:latin typeface="+mn-ea"/>
                <a:ea typeface="+mn-ea"/>
              </a:rPr>
              <a:t>f(</a:t>
            </a:r>
            <a:r>
              <a:rPr lang="en-US" altLang="zh-CN" b="1" dirty="0" err="1">
                <a:latin typeface="+mn-ea"/>
                <a:ea typeface="+mn-ea"/>
              </a:rPr>
              <a:t>t,x</a:t>
            </a:r>
            <a:r>
              <a:rPr lang="en-US" altLang="zh-CN" b="1" dirty="0">
                <a:latin typeface="+mn-ea"/>
                <a:ea typeface="+mn-ea"/>
              </a:rPr>
              <a:t>)</a:t>
            </a:r>
            <a:r>
              <a:rPr lang="zh-CN" altLang="en-US" b="1" dirty="0">
                <a:latin typeface="+mn-ea"/>
                <a:ea typeface="+mn-ea"/>
              </a:rPr>
              <a:t>为，则</a:t>
            </a:r>
          </a:p>
        </p:txBody>
      </p:sp>
      <mc:AlternateContent xmlns:mc="http://schemas.openxmlformats.org/markup-compatibility/2006" xmlns:a14="http://schemas.microsoft.com/office/drawing/2010/main">
        <mc:Choice Requires="a14">
          <p:sp>
            <p:nvSpPr>
              <p:cNvPr id="274440" name="Object 8">
                <a:extLst>
                  <a:ext uri="{FF2B5EF4-FFF2-40B4-BE49-F238E27FC236}">
                    <a16:creationId xmlns:a16="http://schemas.microsoft.com/office/drawing/2014/main" id="{FBAD8799-D9E0-B356-5505-229D2510B897}"/>
                  </a:ext>
                </a:extLst>
              </p:cNvPr>
              <p:cNvSpPr txBox="1"/>
              <p:nvPr/>
            </p:nvSpPr>
            <p:spPr bwMode="auto">
              <a:xfrm>
                <a:off x="654050" y="2847705"/>
                <a:ext cx="1676788" cy="501766"/>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rad>
                    </m:oMath>
                  </m:oMathPara>
                </a14:m>
                <a:endParaRPr lang="zh-CN" altLang="en-US" dirty="0"/>
              </a:p>
            </p:txBody>
          </p:sp>
        </mc:Choice>
        <mc:Fallback xmlns="">
          <p:sp>
            <p:nvSpPr>
              <p:cNvPr id="274440" name="Object 8">
                <a:extLst>
                  <a:ext uri="{FF2B5EF4-FFF2-40B4-BE49-F238E27FC236}">
                    <a16:creationId xmlns:a16="http://schemas.microsoft.com/office/drawing/2014/main" id="{FBAD8799-D9E0-B356-5505-229D2510B897}"/>
                  </a:ext>
                </a:extLst>
              </p:cNvPr>
              <p:cNvSpPr txBox="1">
                <a:spLocks noRot="1" noChangeAspect="1" noMove="1" noResize="1" noEditPoints="1" noAdjustHandles="1" noChangeArrowheads="1" noChangeShapeType="1" noTextEdit="1"/>
              </p:cNvSpPr>
              <p:nvPr/>
            </p:nvSpPr>
            <p:spPr bwMode="auto">
              <a:xfrm>
                <a:off x="654050" y="2847705"/>
                <a:ext cx="1676788" cy="501766"/>
              </a:xfrm>
              <a:prstGeom prst="rect">
                <a:avLst/>
              </a:prstGeom>
              <a:blipFill>
                <a:blip r:embed="rId4"/>
                <a:stretch>
                  <a:fillRect r="-1455" b="-3659"/>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anim calcmode="lin" valueType="num">
                                      <p:cBhvr additive="base">
                                        <p:cTn id="7" dur="500" fill="hold"/>
                                        <p:tgtEl>
                                          <p:spTgt spid="274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443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4435">
                                            <p:txEl>
                                              <p:pRg st="1" end="1"/>
                                            </p:txEl>
                                          </p:spTgt>
                                        </p:tgtEl>
                                        <p:attrNameLst>
                                          <p:attrName>style.visibility</p:attrName>
                                        </p:attrNameLst>
                                      </p:cBhvr>
                                      <p:to>
                                        <p:strVal val="visible"/>
                                      </p:to>
                                    </p:set>
                                    <p:anim calcmode="lin" valueType="num">
                                      <p:cBhvr additive="base">
                                        <p:cTn id="12" dur="500" fill="hold"/>
                                        <p:tgtEl>
                                          <p:spTgt spid="27443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4435">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74435">
                                            <p:txEl>
                                              <p:pRg st="2" end="2"/>
                                            </p:txEl>
                                          </p:spTgt>
                                        </p:tgtEl>
                                        <p:attrNameLst>
                                          <p:attrName>style.visibility</p:attrName>
                                        </p:attrNameLst>
                                      </p:cBhvr>
                                      <p:to>
                                        <p:strVal val="visible"/>
                                      </p:to>
                                    </p:set>
                                    <p:anim calcmode="lin" valueType="num">
                                      <p:cBhvr additive="base">
                                        <p:cTn id="17" dur="500" fill="hold"/>
                                        <p:tgtEl>
                                          <p:spTgt spid="27443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4435">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74435">
                                            <p:txEl>
                                              <p:pRg st="3" end="3"/>
                                            </p:txEl>
                                          </p:spTgt>
                                        </p:tgtEl>
                                        <p:attrNameLst>
                                          <p:attrName>style.visibility</p:attrName>
                                        </p:attrNameLst>
                                      </p:cBhvr>
                                      <p:to>
                                        <p:strVal val="visible"/>
                                      </p:to>
                                    </p:set>
                                    <p:anim calcmode="lin" valueType="num">
                                      <p:cBhvr additive="base">
                                        <p:cTn id="22" dur="500" fill="hold"/>
                                        <p:tgtEl>
                                          <p:spTgt spid="27443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4435">
                                            <p:txEl>
                                              <p:pRg st="3" end="3"/>
                                            </p:txEl>
                                          </p:spTgt>
                                        </p:tgtEl>
                                        <p:attrNameLst>
                                          <p:attrName>ppt_y</p:attrName>
                                        </p:attrNameLst>
                                      </p:cBhvr>
                                      <p:tavLst>
                                        <p:tav tm="0">
                                          <p:val>
                                            <p:strVal val="1+#ppt_h/2"/>
                                          </p:val>
                                        </p:tav>
                                        <p:tav tm="100000">
                                          <p:val>
                                            <p:strVal val="#ppt_y"/>
                                          </p:val>
                                        </p:tav>
                                      </p:tavLst>
                                    </p:anim>
                                  </p:childTnLst>
                                </p:cTn>
                              </p:par>
                              <p:par>
                                <p:cTn id="24" presetID="14" presetClass="entr" presetSubtype="10" fill="hold" grpId="0" nodeType="withEffect">
                                  <p:stCondLst>
                                    <p:cond delay="0"/>
                                  </p:stCondLst>
                                  <p:childTnLst>
                                    <p:set>
                                      <p:cBhvr>
                                        <p:cTn id="25" dur="1" fill="hold">
                                          <p:stCondLst>
                                            <p:cond delay="0"/>
                                          </p:stCondLst>
                                        </p:cTn>
                                        <p:tgtEl>
                                          <p:spTgt spid="274440"/>
                                        </p:tgtEl>
                                        <p:attrNameLst>
                                          <p:attrName>style.visibility</p:attrName>
                                        </p:attrNameLst>
                                      </p:cBhvr>
                                      <p:to>
                                        <p:strVal val="visible"/>
                                      </p:to>
                                    </p:set>
                                    <p:animEffect transition="in" filter="randombar(horizontal)">
                                      <p:cBhvr>
                                        <p:cTn id="26" dur="500"/>
                                        <p:tgtEl>
                                          <p:spTgt spid="27444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74436"/>
                                        </p:tgtEl>
                                        <p:attrNameLst>
                                          <p:attrName>style.visibility</p:attrName>
                                        </p:attrNameLst>
                                      </p:cBhvr>
                                      <p:to>
                                        <p:strVal val="visible"/>
                                      </p:to>
                                    </p:set>
                                    <p:anim calcmode="lin" valueType="num">
                                      <p:cBhvr additive="base">
                                        <p:cTn id="31" dur="500" fill="hold"/>
                                        <p:tgtEl>
                                          <p:spTgt spid="274436"/>
                                        </p:tgtEl>
                                        <p:attrNameLst>
                                          <p:attrName>ppt_x</p:attrName>
                                        </p:attrNameLst>
                                      </p:cBhvr>
                                      <p:tavLst>
                                        <p:tav tm="0">
                                          <p:val>
                                            <p:strVal val="0-#ppt_w/2"/>
                                          </p:val>
                                        </p:tav>
                                        <p:tav tm="100000">
                                          <p:val>
                                            <p:strVal val="#ppt_x"/>
                                          </p:val>
                                        </p:tav>
                                      </p:tavLst>
                                    </p:anim>
                                    <p:anim calcmode="lin" valueType="num">
                                      <p:cBhvr additive="base">
                                        <p:cTn id="32" dur="500" fill="hold"/>
                                        <p:tgtEl>
                                          <p:spTgt spid="27443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74437"/>
                                        </p:tgtEl>
                                        <p:attrNameLst>
                                          <p:attrName>style.visibility</p:attrName>
                                        </p:attrNameLst>
                                      </p:cBhvr>
                                      <p:to>
                                        <p:strVal val="visible"/>
                                      </p:to>
                                    </p:set>
                                    <p:animEffect transition="in" filter="randombar(horizontal)">
                                      <p:cBhvr>
                                        <p:cTn id="37" dur="500"/>
                                        <p:tgtEl>
                                          <p:spTgt spid="274437"/>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274439"/>
                                        </p:tgtEl>
                                        <p:attrNameLst>
                                          <p:attrName>style.visibility</p:attrName>
                                        </p:attrNameLst>
                                      </p:cBhvr>
                                      <p:to>
                                        <p:strVal val="visible"/>
                                      </p:to>
                                    </p:set>
                                    <p:anim calcmode="lin" valueType="num">
                                      <p:cBhvr additive="base">
                                        <p:cTn id="42" dur="500" fill="hold"/>
                                        <p:tgtEl>
                                          <p:spTgt spid="274439"/>
                                        </p:tgtEl>
                                        <p:attrNameLst>
                                          <p:attrName>ppt_x</p:attrName>
                                        </p:attrNameLst>
                                      </p:cBhvr>
                                      <p:tavLst>
                                        <p:tav tm="0">
                                          <p:val>
                                            <p:strVal val="0-#ppt_w/2"/>
                                          </p:val>
                                        </p:tav>
                                        <p:tav tm="100000">
                                          <p:val>
                                            <p:strVal val="#ppt_x"/>
                                          </p:val>
                                        </p:tav>
                                      </p:tavLst>
                                    </p:anim>
                                    <p:anim calcmode="lin" valueType="num">
                                      <p:cBhvr additive="base">
                                        <p:cTn id="43" dur="500" fill="hold"/>
                                        <p:tgtEl>
                                          <p:spTgt spid="274439"/>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74438"/>
                                        </p:tgtEl>
                                        <p:attrNameLst>
                                          <p:attrName>style.visibility</p:attrName>
                                        </p:attrNameLst>
                                      </p:cBhvr>
                                      <p:to>
                                        <p:strVal val="visible"/>
                                      </p:to>
                                    </p:set>
                                    <p:animEffect transition="in" filter="randombar(horizontal)">
                                      <p:cBhvr>
                                        <p:cTn id="48" dur="500"/>
                                        <p:tgtEl>
                                          <p:spTgt spid="274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uiExpand="1" build="p"/>
      <p:bldP spid="274436" grpId="0" autoUpdateAnimBg="0"/>
      <p:bldP spid="274437" grpId="0"/>
      <p:bldP spid="274438" grpId="0"/>
      <p:bldP spid="274439" grpId="0" autoUpdateAnimBg="0"/>
      <p:bldP spid="27444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a:extLst>
              <a:ext uri="{FF2B5EF4-FFF2-40B4-BE49-F238E27FC236}">
                <a16:creationId xmlns:a16="http://schemas.microsoft.com/office/drawing/2014/main" id="{3BA65E69-F862-A699-1678-0C2FA339B3ED}"/>
              </a:ext>
            </a:extLst>
          </p:cNvPr>
          <p:cNvSpPr>
            <a:spLocks noGrp="1" noChangeArrowheads="1"/>
          </p:cNvSpPr>
          <p:nvPr>
            <p:ph type="title"/>
          </p:nvPr>
        </p:nvSpPr>
        <p:spPr/>
        <p:txBody>
          <a:bodyPr/>
          <a:lstStyle/>
          <a:p>
            <a:pPr eaLnBrk="1" hangingPunct="1"/>
            <a:r>
              <a:rPr lang="zh-CN" altLang="en-US"/>
              <a:t>协方差函数和相关函数</a:t>
            </a:r>
          </a:p>
        </p:txBody>
      </p:sp>
      <p:sp>
        <p:nvSpPr>
          <p:cNvPr id="275459" name="Rectangle 3">
            <a:extLst>
              <a:ext uri="{FF2B5EF4-FFF2-40B4-BE49-F238E27FC236}">
                <a16:creationId xmlns:a16="http://schemas.microsoft.com/office/drawing/2014/main" id="{DD7C63ED-5A23-8BCB-5328-5DEA06426818}"/>
              </a:ext>
            </a:extLst>
          </p:cNvPr>
          <p:cNvSpPr>
            <a:spLocks noGrp="1" noChangeArrowheads="1"/>
          </p:cNvSpPr>
          <p:nvPr>
            <p:ph type="body" idx="1"/>
          </p:nvPr>
        </p:nvSpPr>
        <p:spPr>
          <a:xfrm>
            <a:off x="166369" y="805497"/>
            <a:ext cx="11658600" cy="2515147"/>
          </a:xfrm>
        </p:spPr>
        <p:txBody>
          <a:bodyPr>
            <a:normAutofit/>
          </a:bodyPr>
          <a:lstStyle/>
          <a:p>
            <a:pPr eaLnBrk="1" hangingPunct="1">
              <a:lnSpc>
                <a:spcPct val="160000"/>
              </a:lnSpc>
              <a:buFont typeface="Wingdings" panose="05000000000000000000" pitchFamily="2" charset="2"/>
              <a:buNone/>
            </a:pPr>
            <a:r>
              <a:rPr lang="en-US" altLang="zh-CN" dirty="0"/>
              <a:t>	</a:t>
            </a:r>
            <a:r>
              <a:rPr lang="zh-CN" altLang="en-US" dirty="0"/>
              <a:t>给定随机过程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，称</a:t>
            </a:r>
          </a:p>
          <a:p>
            <a:pPr algn="ctr" eaLnBrk="1" hangingPunct="1">
              <a:lnSpc>
                <a:spcPct val="160000"/>
              </a:lnSpc>
              <a:buFont typeface="Wingdings" panose="05000000000000000000" pitchFamily="2" charset="2"/>
              <a:buNone/>
            </a:pPr>
            <a:r>
              <a:rPr lang="en-US" altLang="zh-CN" dirty="0">
                <a:solidFill>
                  <a:srgbClr val="0000FF"/>
                </a:solidFill>
              </a:rPr>
              <a:t>C(</a:t>
            </a:r>
            <a:r>
              <a:rPr lang="en-US" altLang="zh-CN" dirty="0" err="1">
                <a:solidFill>
                  <a:srgbClr val="0000FF"/>
                </a:solidFill>
              </a:rPr>
              <a:t>s,t</a:t>
            </a:r>
            <a:r>
              <a:rPr lang="en-US" altLang="zh-CN" dirty="0">
                <a:solidFill>
                  <a:srgbClr val="0000FF"/>
                </a:solidFill>
              </a:rPr>
              <a:t>)</a:t>
            </a:r>
            <a:r>
              <a:rPr lang="zh-CN" altLang="en-US" dirty="0">
                <a:solidFill>
                  <a:srgbClr val="0000FF"/>
                </a:solidFill>
              </a:rPr>
              <a:t>＝</a:t>
            </a:r>
            <a:r>
              <a:rPr lang="en-US" altLang="zh-CN" dirty="0" err="1">
                <a:solidFill>
                  <a:srgbClr val="0000FF"/>
                </a:solidFill>
              </a:rPr>
              <a:t>cov</a:t>
            </a:r>
            <a:r>
              <a:rPr lang="en-US" altLang="zh-CN" dirty="0">
                <a:solidFill>
                  <a:srgbClr val="0000FF"/>
                </a:solidFill>
              </a:rPr>
              <a:t>(X(s),X(t))</a:t>
            </a:r>
            <a:r>
              <a:rPr lang="zh-CN" altLang="en-US" dirty="0">
                <a:solidFill>
                  <a:srgbClr val="0000FF"/>
                </a:solidFill>
              </a:rPr>
              <a:t>＝</a:t>
            </a:r>
            <a:r>
              <a:rPr lang="en-US" altLang="zh-CN" dirty="0">
                <a:solidFill>
                  <a:srgbClr val="0000FF"/>
                </a:solidFill>
              </a:rPr>
              <a:t>E[X(s)</a:t>
            </a:r>
            <a:r>
              <a:rPr lang="zh-CN" altLang="en-US" dirty="0">
                <a:solidFill>
                  <a:srgbClr val="0000FF"/>
                </a:solidFill>
              </a:rPr>
              <a:t>－</a:t>
            </a:r>
            <a:r>
              <a:rPr lang="en-US" altLang="zh-CN" dirty="0">
                <a:solidFill>
                  <a:srgbClr val="0000FF"/>
                </a:solidFill>
              </a:rPr>
              <a:t>m(s)][X(t)</a:t>
            </a:r>
            <a:r>
              <a:rPr lang="zh-CN" altLang="en-US" dirty="0">
                <a:solidFill>
                  <a:srgbClr val="0000FF"/>
                </a:solidFill>
              </a:rPr>
              <a:t>－</a:t>
            </a:r>
            <a:r>
              <a:rPr lang="en-US" altLang="zh-CN" dirty="0">
                <a:solidFill>
                  <a:srgbClr val="0000FF"/>
                </a:solidFill>
              </a:rPr>
              <a:t>m(t)]</a:t>
            </a:r>
            <a:endParaRPr lang="en-US" altLang="zh-CN" baseline="30000" dirty="0">
              <a:solidFill>
                <a:srgbClr val="0000FF"/>
              </a:solidFill>
            </a:endParaRPr>
          </a:p>
          <a:p>
            <a:pPr eaLnBrk="1" hangingPunct="1">
              <a:lnSpc>
                <a:spcPct val="160000"/>
              </a:lnSpc>
              <a:buFont typeface="Wingdings" panose="05000000000000000000" pitchFamily="2" charset="2"/>
              <a:buNone/>
            </a:pPr>
            <a:r>
              <a:rPr lang="zh-CN" altLang="en-US" dirty="0"/>
              <a:t>为随机过程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的</a:t>
            </a:r>
            <a:r>
              <a:rPr lang="zh-CN" altLang="en-US" dirty="0">
                <a:solidFill>
                  <a:srgbClr val="CC00CC"/>
                </a:solidFill>
              </a:rPr>
              <a:t>协方差函数</a:t>
            </a:r>
            <a:r>
              <a:rPr lang="zh-CN" altLang="en-US" dirty="0"/>
              <a:t>。显然，</a:t>
            </a:r>
          </a:p>
          <a:p>
            <a:pPr algn="ctr" eaLnBrk="1" hangingPunct="1">
              <a:lnSpc>
                <a:spcPct val="160000"/>
              </a:lnSpc>
              <a:buFont typeface="Wingdings" panose="05000000000000000000" pitchFamily="2" charset="2"/>
              <a:buNone/>
            </a:pPr>
            <a:r>
              <a:rPr lang="en-US" altLang="zh-CN" dirty="0">
                <a:solidFill>
                  <a:srgbClr val="0000FF"/>
                </a:solidFill>
              </a:rPr>
              <a:t>C(</a:t>
            </a:r>
            <a:r>
              <a:rPr lang="en-US" altLang="zh-CN" dirty="0" err="1">
                <a:solidFill>
                  <a:srgbClr val="0000FF"/>
                </a:solidFill>
              </a:rPr>
              <a:t>s,t</a:t>
            </a:r>
            <a:r>
              <a:rPr lang="en-US" altLang="zh-CN" dirty="0">
                <a:solidFill>
                  <a:srgbClr val="0000FF"/>
                </a:solidFill>
              </a:rPr>
              <a:t>)</a:t>
            </a:r>
            <a:r>
              <a:rPr lang="zh-CN" altLang="en-US" dirty="0">
                <a:solidFill>
                  <a:srgbClr val="0000FF"/>
                </a:solidFill>
              </a:rPr>
              <a:t>＝</a:t>
            </a:r>
            <a:r>
              <a:rPr lang="en-US" altLang="zh-CN" dirty="0">
                <a:solidFill>
                  <a:srgbClr val="0000FF"/>
                </a:solidFill>
              </a:rPr>
              <a:t>E[X(s)X(t)]</a:t>
            </a:r>
            <a:r>
              <a:rPr lang="zh-CN" altLang="en-US" dirty="0">
                <a:solidFill>
                  <a:srgbClr val="0000FF"/>
                </a:solidFill>
              </a:rPr>
              <a:t>－</a:t>
            </a:r>
            <a:r>
              <a:rPr lang="en-US" altLang="zh-CN" dirty="0">
                <a:solidFill>
                  <a:srgbClr val="0000FF"/>
                </a:solidFill>
              </a:rPr>
              <a:t>m(s)m(t)</a:t>
            </a:r>
            <a:r>
              <a:rPr lang="zh-CN" altLang="en-US" dirty="0">
                <a:solidFill>
                  <a:srgbClr val="0000FF"/>
                </a:solidFill>
              </a:rPr>
              <a:t>，</a:t>
            </a:r>
            <a:r>
              <a:rPr lang="en-US" altLang="zh-CN" dirty="0">
                <a:solidFill>
                  <a:srgbClr val="0000FF"/>
                </a:solidFill>
              </a:rPr>
              <a:t>C(</a:t>
            </a:r>
            <a:r>
              <a:rPr lang="en-US" altLang="zh-CN" dirty="0" err="1">
                <a:solidFill>
                  <a:srgbClr val="0000FF"/>
                </a:solidFill>
              </a:rPr>
              <a:t>t,t</a:t>
            </a:r>
            <a:r>
              <a:rPr lang="en-US" altLang="zh-CN" dirty="0">
                <a:solidFill>
                  <a:srgbClr val="0000FF"/>
                </a:solidFill>
              </a:rPr>
              <a:t>)</a:t>
            </a:r>
            <a:r>
              <a:rPr lang="zh-CN" altLang="en-US" dirty="0">
                <a:solidFill>
                  <a:srgbClr val="0000FF"/>
                </a:solidFill>
              </a:rPr>
              <a:t>＝</a:t>
            </a:r>
            <a:r>
              <a:rPr lang="en-US" altLang="zh-CN" dirty="0">
                <a:solidFill>
                  <a:srgbClr val="0000FF"/>
                </a:solidFill>
              </a:rPr>
              <a:t>D(t)</a:t>
            </a:r>
            <a:r>
              <a:rPr lang="zh-CN" altLang="en-US" dirty="0">
                <a:solidFill>
                  <a:srgbClr val="0000FF"/>
                </a:solidFill>
              </a:rPr>
              <a:t>＝</a:t>
            </a:r>
            <a:r>
              <a:rPr lang="en-US" altLang="zh-CN" dirty="0">
                <a:solidFill>
                  <a:srgbClr val="0000FF"/>
                </a:solidFill>
              </a:rPr>
              <a:t>E[X(t)</a:t>
            </a:r>
            <a:r>
              <a:rPr lang="zh-CN" altLang="en-US" dirty="0">
                <a:solidFill>
                  <a:srgbClr val="0000FF"/>
                </a:solidFill>
              </a:rPr>
              <a:t>－</a:t>
            </a:r>
            <a:r>
              <a:rPr lang="en-US" altLang="zh-CN" dirty="0">
                <a:solidFill>
                  <a:srgbClr val="0000FF"/>
                </a:solidFill>
              </a:rPr>
              <a:t>m(t)]</a:t>
            </a:r>
            <a:r>
              <a:rPr lang="en-US" altLang="zh-CN" baseline="30000" dirty="0">
                <a:solidFill>
                  <a:srgbClr val="0000FF"/>
                </a:solidFill>
              </a:rPr>
              <a:t>2</a:t>
            </a:r>
            <a:r>
              <a:rPr lang="zh-CN" altLang="en-US" dirty="0">
                <a:solidFill>
                  <a:srgbClr val="0000FF"/>
                </a:solidFill>
              </a:rPr>
              <a:t>。</a:t>
            </a:r>
          </a:p>
        </p:txBody>
      </p:sp>
      <p:sp>
        <p:nvSpPr>
          <p:cNvPr id="275460" name="Rectangle 4">
            <a:extLst>
              <a:ext uri="{FF2B5EF4-FFF2-40B4-BE49-F238E27FC236}">
                <a16:creationId xmlns:a16="http://schemas.microsoft.com/office/drawing/2014/main" id="{7945858B-8E8E-44B8-0832-68F96AADBEF1}"/>
              </a:ext>
            </a:extLst>
          </p:cNvPr>
          <p:cNvSpPr>
            <a:spLocks noChangeArrowheads="1"/>
          </p:cNvSpPr>
          <p:nvPr/>
        </p:nvSpPr>
        <p:spPr bwMode="auto">
          <a:xfrm>
            <a:off x="384175" y="3124924"/>
            <a:ext cx="11353799" cy="22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latin typeface="+mn-ea"/>
                <a:ea typeface="+mn-ea"/>
              </a:rPr>
              <a:t>    </a:t>
            </a:r>
            <a:r>
              <a:rPr lang="zh-CN" altLang="en-US" b="1" dirty="0">
                <a:latin typeface="+mn-ea"/>
                <a:ea typeface="+mn-ea"/>
              </a:rPr>
              <a:t>给定随机过程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，称</a:t>
            </a:r>
          </a:p>
          <a:p>
            <a:pPr algn="ctr" eaLnBrk="1" hangingPunct="1">
              <a:lnSpc>
                <a:spcPct val="150000"/>
              </a:lnSpc>
            </a:pPr>
            <a:r>
              <a:rPr lang="en-US" altLang="zh-CN" b="1" dirty="0">
                <a:solidFill>
                  <a:srgbClr val="0000FF"/>
                </a:solidFill>
                <a:latin typeface="+mn-ea"/>
                <a:ea typeface="+mn-ea"/>
              </a:rPr>
              <a:t>R(</a:t>
            </a:r>
            <a:r>
              <a:rPr lang="en-US" altLang="zh-CN" b="1" dirty="0" err="1">
                <a:solidFill>
                  <a:srgbClr val="0000FF"/>
                </a:solidFill>
                <a:latin typeface="+mn-ea"/>
                <a:ea typeface="+mn-ea"/>
              </a:rPr>
              <a:t>s,t</a:t>
            </a:r>
            <a:r>
              <a:rPr lang="en-US" altLang="zh-CN" b="1" dirty="0">
                <a:solidFill>
                  <a:srgbClr val="0000FF"/>
                </a:solidFill>
                <a:latin typeface="+mn-ea"/>
                <a:ea typeface="+mn-ea"/>
              </a:rPr>
              <a:t>)</a:t>
            </a:r>
            <a:r>
              <a:rPr lang="zh-CN" altLang="en-US" b="1" dirty="0">
                <a:solidFill>
                  <a:srgbClr val="0000FF"/>
                </a:solidFill>
                <a:latin typeface="+mn-ea"/>
                <a:ea typeface="+mn-ea"/>
              </a:rPr>
              <a:t>＝</a:t>
            </a:r>
            <a:r>
              <a:rPr lang="en-US" altLang="zh-CN" b="1" dirty="0">
                <a:solidFill>
                  <a:srgbClr val="0000FF"/>
                </a:solidFill>
                <a:latin typeface="+mn-ea"/>
                <a:ea typeface="+mn-ea"/>
              </a:rPr>
              <a:t>E[X(s)X(t)]</a:t>
            </a:r>
          </a:p>
          <a:p>
            <a:pPr eaLnBrk="1" hangingPunct="1">
              <a:lnSpc>
                <a:spcPct val="150000"/>
              </a:lnSpc>
            </a:pPr>
            <a:r>
              <a:rPr lang="zh-CN" altLang="en-US" b="1" dirty="0">
                <a:latin typeface="+mn-ea"/>
                <a:ea typeface="+mn-ea"/>
              </a:rPr>
              <a:t>为随机过程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的</a:t>
            </a:r>
            <a:r>
              <a:rPr lang="zh-CN" altLang="en-US" b="1" dirty="0">
                <a:solidFill>
                  <a:srgbClr val="CC00CC"/>
                </a:solidFill>
                <a:latin typeface="+mn-ea"/>
                <a:ea typeface="+mn-ea"/>
              </a:rPr>
              <a:t>相关函数</a:t>
            </a:r>
            <a:r>
              <a:rPr lang="zh-CN" altLang="en-US" b="1" dirty="0">
                <a:latin typeface="+mn-ea"/>
                <a:ea typeface="+mn-ea"/>
              </a:rPr>
              <a:t>。显然，</a:t>
            </a:r>
          </a:p>
          <a:p>
            <a:pPr algn="ctr" eaLnBrk="1" hangingPunct="1">
              <a:lnSpc>
                <a:spcPct val="150000"/>
              </a:lnSpc>
            </a:pPr>
            <a:r>
              <a:rPr lang="en-US" altLang="zh-CN" b="1" dirty="0">
                <a:solidFill>
                  <a:srgbClr val="0000FF"/>
                </a:solidFill>
                <a:latin typeface="+mn-ea"/>
                <a:ea typeface="+mn-ea"/>
              </a:rPr>
              <a:t>C(</a:t>
            </a:r>
            <a:r>
              <a:rPr lang="en-US" altLang="zh-CN" b="1" dirty="0" err="1">
                <a:solidFill>
                  <a:srgbClr val="0000FF"/>
                </a:solidFill>
                <a:latin typeface="+mn-ea"/>
                <a:ea typeface="+mn-ea"/>
              </a:rPr>
              <a:t>s,t</a:t>
            </a:r>
            <a:r>
              <a:rPr lang="en-US" altLang="zh-CN" b="1" dirty="0">
                <a:solidFill>
                  <a:srgbClr val="0000FF"/>
                </a:solidFill>
                <a:latin typeface="+mn-ea"/>
                <a:ea typeface="+mn-ea"/>
              </a:rPr>
              <a:t>)</a:t>
            </a:r>
            <a:r>
              <a:rPr lang="zh-CN" altLang="en-US" b="1" dirty="0">
                <a:solidFill>
                  <a:srgbClr val="0000FF"/>
                </a:solidFill>
                <a:latin typeface="+mn-ea"/>
                <a:ea typeface="+mn-ea"/>
              </a:rPr>
              <a:t>＝</a:t>
            </a:r>
            <a:r>
              <a:rPr lang="en-US" altLang="zh-CN" b="1" dirty="0">
                <a:solidFill>
                  <a:srgbClr val="0000FF"/>
                </a:solidFill>
                <a:latin typeface="+mn-ea"/>
                <a:ea typeface="+mn-ea"/>
              </a:rPr>
              <a:t>R(</a:t>
            </a:r>
            <a:r>
              <a:rPr lang="en-US" altLang="zh-CN" b="1" dirty="0" err="1">
                <a:solidFill>
                  <a:srgbClr val="0000FF"/>
                </a:solidFill>
                <a:latin typeface="+mn-ea"/>
                <a:ea typeface="+mn-ea"/>
              </a:rPr>
              <a:t>s,t</a:t>
            </a:r>
            <a:r>
              <a:rPr lang="en-US" altLang="zh-CN" b="1" dirty="0">
                <a:solidFill>
                  <a:srgbClr val="0000FF"/>
                </a:solidFill>
                <a:latin typeface="+mn-ea"/>
                <a:ea typeface="+mn-ea"/>
              </a:rPr>
              <a:t>)</a:t>
            </a:r>
            <a:r>
              <a:rPr lang="zh-CN" altLang="en-US" b="1" dirty="0">
                <a:solidFill>
                  <a:srgbClr val="0000FF"/>
                </a:solidFill>
                <a:latin typeface="+mn-ea"/>
                <a:ea typeface="+mn-ea"/>
              </a:rPr>
              <a:t>－</a:t>
            </a:r>
            <a:r>
              <a:rPr lang="en-US" altLang="zh-CN" b="1" dirty="0">
                <a:solidFill>
                  <a:srgbClr val="0000FF"/>
                </a:solidFill>
                <a:latin typeface="+mn-ea"/>
                <a:ea typeface="+mn-ea"/>
              </a:rPr>
              <a:t>m(s)m(t)</a:t>
            </a:r>
            <a:r>
              <a:rPr lang="zh-CN" altLang="en-US" b="1" dirty="0">
                <a:latin typeface="+mn-ea"/>
                <a:ea typeface="+mn-ea"/>
              </a:rPr>
              <a:t>，</a:t>
            </a:r>
            <a:r>
              <a:rPr lang="en-US" altLang="zh-CN" b="1" dirty="0">
                <a:solidFill>
                  <a:srgbClr val="0000FF"/>
                </a:solidFill>
                <a:latin typeface="+mn-ea"/>
                <a:ea typeface="+mn-ea"/>
              </a:rPr>
              <a:t>R(</a:t>
            </a:r>
            <a:r>
              <a:rPr lang="en-US" altLang="zh-CN" b="1" dirty="0" err="1">
                <a:solidFill>
                  <a:srgbClr val="0000FF"/>
                </a:solidFill>
                <a:latin typeface="+mn-ea"/>
                <a:ea typeface="+mn-ea"/>
              </a:rPr>
              <a:t>s,t</a:t>
            </a:r>
            <a:r>
              <a:rPr lang="en-US" altLang="zh-CN" b="1" dirty="0">
                <a:solidFill>
                  <a:srgbClr val="0000FF"/>
                </a:solidFill>
                <a:latin typeface="+mn-ea"/>
                <a:ea typeface="+mn-ea"/>
              </a:rPr>
              <a:t>)</a:t>
            </a:r>
            <a:r>
              <a:rPr lang="zh-CN" altLang="en-US" b="1" dirty="0">
                <a:solidFill>
                  <a:srgbClr val="0000FF"/>
                </a:solidFill>
                <a:latin typeface="+mn-ea"/>
                <a:ea typeface="+mn-ea"/>
              </a:rPr>
              <a:t>＝</a:t>
            </a:r>
            <a:r>
              <a:rPr lang="en-US" altLang="zh-CN" b="1" dirty="0">
                <a:solidFill>
                  <a:srgbClr val="0000FF"/>
                </a:solidFill>
                <a:latin typeface="+mn-ea"/>
                <a:ea typeface="+mn-ea"/>
              </a:rPr>
              <a:t>C(</a:t>
            </a:r>
            <a:r>
              <a:rPr lang="en-US" altLang="zh-CN" b="1" dirty="0" err="1">
                <a:solidFill>
                  <a:srgbClr val="0000FF"/>
                </a:solidFill>
                <a:latin typeface="+mn-ea"/>
                <a:ea typeface="+mn-ea"/>
              </a:rPr>
              <a:t>s,t</a:t>
            </a:r>
            <a:r>
              <a:rPr lang="en-US" altLang="zh-CN" b="1" dirty="0">
                <a:solidFill>
                  <a:srgbClr val="0000FF"/>
                </a:solidFill>
                <a:latin typeface="+mn-ea"/>
                <a:ea typeface="+mn-ea"/>
              </a:rPr>
              <a:t>)</a:t>
            </a:r>
            <a:r>
              <a:rPr lang="zh-CN" altLang="en-US" b="1" dirty="0">
                <a:solidFill>
                  <a:srgbClr val="0000FF"/>
                </a:solidFill>
                <a:latin typeface="+mn-ea"/>
                <a:ea typeface="+mn-ea"/>
              </a:rPr>
              <a:t>＋</a:t>
            </a:r>
            <a:r>
              <a:rPr lang="en-US" altLang="zh-CN" b="1" dirty="0">
                <a:solidFill>
                  <a:srgbClr val="0000FF"/>
                </a:solidFill>
                <a:latin typeface="+mn-ea"/>
                <a:ea typeface="+mn-ea"/>
              </a:rPr>
              <a:t>m(s)m(t)</a:t>
            </a:r>
            <a:endParaRPr lang="en-US" altLang="zh-CN" b="1" dirty="0">
              <a:latin typeface="+mn-ea"/>
              <a:ea typeface="+mn-ea"/>
            </a:endParaRPr>
          </a:p>
        </p:txBody>
      </p:sp>
      <p:sp>
        <p:nvSpPr>
          <p:cNvPr id="275461" name="Rectangle 5">
            <a:extLst>
              <a:ext uri="{FF2B5EF4-FFF2-40B4-BE49-F238E27FC236}">
                <a16:creationId xmlns:a16="http://schemas.microsoft.com/office/drawing/2014/main" id="{4B5408EB-F1F7-1ADB-199A-6914FA6CB701}"/>
              </a:ext>
            </a:extLst>
          </p:cNvPr>
          <p:cNvSpPr>
            <a:spLocks noChangeArrowheads="1"/>
          </p:cNvSpPr>
          <p:nvPr/>
        </p:nvSpPr>
        <p:spPr bwMode="auto">
          <a:xfrm>
            <a:off x="364490" y="5574560"/>
            <a:ext cx="5518024" cy="45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mn-ea"/>
                <a:ea typeface="+mn-ea"/>
              </a:rPr>
              <a:t>    </a:t>
            </a:r>
            <a:r>
              <a:rPr lang="zh-CN" altLang="en-US" b="1" dirty="0">
                <a:latin typeface="+mn-ea"/>
                <a:ea typeface="+mn-ea"/>
              </a:rPr>
              <a:t>给定随机过程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，称</a:t>
            </a:r>
          </a:p>
        </p:txBody>
      </p:sp>
      <mc:AlternateContent xmlns:mc="http://schemas.openxmlformats.org/markup-compatibility/2006" xmlns:a14="http://schemas.microsoft.com/office/drawing/2010/main">
        <mc:Choice Requires="a14">
          <p:sp>
            <p:nvSpPr>
              <p:cNvPr id="275462" name="Object 6">
                <a:extLst>
                  <a:ext uri="{FF2B5EF4-FFF2-40B4-BE49-F238E27FC236}">
                    <a16:creationId xmlns:a16="http://schemas.microsoft.com/office/drawing/2014/main" id="{36467343-96C6-72E1-D045-040CC429A277}"/>
                  </a:ext>
                </a:extLst>
              </p:cNvPr>
              <p:cNvSpPr txBox="1"/>
              <p:nvPr/>
            </p:nvSpPr>
            <p:spPr bwMode="auto">
              <a:xfrm>
                <a:off x="1564233" y="6045094"/>
                <a:ext cx="4496841" cy="924139"/>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cov</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e>
                          </m:rad>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rad>
                        </m:den>
                      </m:f>
                    </m:oMath>
                  </m:oMathPara>
                </a14:m>
                <a:endParaRPr lang="zh-CN" altLang="en-US" dirty="0"/>
              </a:p>
            </p:txBody>
          </p:sp>
        </mc:Choice>
        <mc:Fallback xmlns="">
          <p:sp>
            <p:nvSpPr>
              <p:cNvPr id="275462" name="Object 6">
                <a:extLst>
                  <a:ext uri="{FF2B5EF4-FFF2-40B4-BE49-F238E27FC236}">
                    <a16:creationId xmlns:a16="http://schemas.microsoft.com/office/drawing/2014/main" id="{36467343-96C6-72E1-D045-040CC429A277}"/>
                  </a:ext>
                </a:extLst>
              </p:cNvPr>
              <p:cNvSpPr txBox="1">
                <a:spLocks noRot="1" noChangeAspect="1" noMove="1" noResize="1" noEditPoints="1" noAdjustHandles="1" noChangeArrowheads="1" noChangeShapeType="1" noTextEdit="1"/>
              </p:cNvSpPr>
              <p:nvPr/>
            </p:nvSpPr>
            <p:spPr bwMode="auto">
              <a:xfrm>
                <a:off x="1564233" y="6045094"/>
                <a:ext cx="4496841" cy="924139"/>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275463" name="Rectangle 7">
            <a:extLst>
              <a:ext uri="{FF2B5EF4-FFF2-40B4-BE49-F238E27FC236}">
                <a16:creationId xmlns:a16="http://schemas.microsoft.com/office/drawing/2014/main" id="{A9AFCF43-80B1-60AB-46AA-1FE400DC17CB}"/>
              </a:ext>
            </a:extLst>
          </p:cNvPr>
          <p:cNvSpPr>
            <a:spLocks noChangeArrowheads="1"/>
          </p:cNvSpPr>
          <p:nvPr/>
        </p:nvSpPr>
        <p:spPr bwMode="auto">
          <a:xfrm>
            <a:off x="5718175" y="6172994"/>
            <a:ext cx="4915942" cy="45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mn-ea"/>
                <a:ea typeface="+mn-ea"/>
              </a:rPr>
              <a:t>为随机过程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的</a:t>
            </a:r>
            <a:r>
              <a:rPr lang="zh-CN" altLang="en-US" b="1" dirty="0">
                <a:solidFill>
                  <a:srgbClr val="CC00CC"/>
                </a:solidFill>
                <a:latin typeface="+mn-ea"/>
                <a:ea typeface="+mn-ea"/>
              </a:rPr>
              <a:t>相关系数</a:t>
            </a:r>
            <a:r>
              <a:rPr lang="zh-CN" altLang="en-US" b="1" dirty="0">
                <a:latin typeface="+mn-ea"/>
                <a:ea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5459">
                                            <p:txEl>
                                              <p:pRg st="0" end="0"/>
                                            </p:txEl>
                                          </p:spTgt>
                                        </p:tgtEl>
                                        <p:attrNameLst>
                                          <p:attrName>style.visibility</p:attrName>
                                        </p:attrNameLst>
                                      </p:cBhvr>
                                      <p:to>
                                        <p:strVal val="visible"/>
                                      </p:to>
                                    </p:set>
                                    <p:anim calcmode="lin" valueType="num">
                                      <p:cBhvr additive="base">
                                        <p:cTn id="7" dur="500" fill="hold"/>
                                        <p:tgtEl>
                                          <p:spTgt spid="275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545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5459">
                                            <p:txEl>
                                              <p:pRg st="1" end="1"/>
                                            </p:txEl>
                                          </p:spTgt>
                                        </p:tgtEl>
                                        <p:attrNameLst>
                                          <p:attrName>style.visibility</p:attrName>
                                        </p:attrNameLst>
                                      </p:cBhvr>
                                      <p:to>
                                        <p:strVal val="visible"/>
                                      </p:to>
                                    </p:set>
                                    <p:anim calcmode="lin" valueType="num">
                                      <p:cBhvr additive="base">
                                        <p:cTn id="12" dur="500" fill="hold"/>
                                        <p:tgtEl>
                                          <p:spTgt spid="27545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545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75459">
                                            <p:txEl>
                                              <p:pRg st="2" end="2"/>
                                            </p:txEl>
                                          </p:spTgt>
                                        </p:tgtEl>
                                        <p:attrNameLst>
                                          <p:attrName>style.visibility</p:attrName>
                                        </p:attrNameLst>
                                      </p:cBhvr>
                                      <p:to>
                                        <p:strVal val="visible"/>
                                      </p:to>
                                    </p:set>
                                    <p:anim calcmode="lin" valueType="num">
                                      <p:cBhvr additive="base">
                                        <p:cTn id="17" dur="500" fill="hold"/>
                                        <p:tgtEl>
                                          <p:spTgt spid="275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5459">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75459">
                                            <p:txEl>
                                              <p:pRg st="3" end="3"/>
                                            </p:txEl>
                                          </p:spTgt>
                                        </p:tgtEl>
                                        <p:attrNameLst>
                                          <p:attrName>style.visibility</p:attrName>
                                        </p:attrNameLst>
                                      </p:cBhvr>
                                      <p:to>
                                        <p:strVal val="visible"/>
                                      </p:to>
                                    </p:set>
                                    <p:anim calcmode="lin" valueType="num">
                                      <p:cBhvr additive="base">
                                        <p:cTn id="22" dur="500" fill="hold"/>
                                        <p:tgtEl>
                                          <p:spTgt spid="27545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5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75460">
                                            <p:txEl>
                                              <p:pRg st="0" end="0"/>
                                            </p:txEl>
                                          </p:spTgt>
                                        </p:tgtEl>
                                        <p:attrNameLst>
                                          <p:attrName>style.visibility</p:attrName>
                                        </p:attrNameLst>
                                      </p:cBhvr>
                                      <p:to>
                                        <p:strVal val="visible"/>
                                      </p:to>
                                    </p:set>
                                    <p:anim calcmode="lin" valueType="num">
                                      <p:cBhvr additive="base">
                                        <p:cTn id="28" dur="500" fill="hold"/>
                                        <p:tgtEl>
                                          <p:spTgt spid="275460">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75460">
                                            <p:txEl>
                                              <p:pRg st="0" end="0"/>
                                            </p:txEl>
                                          </p:spTgt>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275460">
                                            <p:txEl>
                                              <p:pRg st="1" end="1"/>
                                            </p:txEl>
                                          </p:spTgt>
                                        </p:tgtEl>
                                        <p:attrNameLst>
                                          <p:attrName>style.visibility</p:attrName>
                                        </p:attrNameLst>
                                      </p:cBhvr>
                                      <p:to>
                                        <p:strVal val="visible"/>
                                      </p:to>
                                    </p:set>
                                    <p:anim calcmode="lin" valueType="num">
                                      <p:cBhvr additive="base">
                                        <p:cTn id="33" dur="500" fill="hold"/>
                                        <p:tgtEl>
                                          <p:spTgt spid="275460">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75460">
                                            <p:txEl>
                                              <p:pRg st="1" end="1"/>
                                            </p:txEl>
                                          </p:spTgt>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1000"/>
                            </p:stCondLst>
                            <p:childTnLst>
                              <p:par>
                                <p:cTn id="36" presetID="2" presetClass="entr" presetSubtype="4" fill="hold" grpId="0" nodeType="afterEffect">
                                  <p:stCondLst>
                                    <p:cond delay="0"/>
                                  </p:stCondLst>
                                  <p:childTnLst>
                                    <p:set>
                                      <p:cBhvr>
                                        <p:cTn id="37" dur="1" fill="hold">
                                          <p:stCondLst>
                                            <p:cond delay="0"/>
                                          </p:stCondLst>
                                        </p:cTn>
                                        <p:tgtEl>
                                          <p:spTgt spid="275460">
                                            <p:txEl>
                                              <p:pRg st="2" end="2"/>
                                            </p:txEl>
                                          </p:spTgt>
                                        </p:tgtEl>
                                        <p:attrNameLst>
                                          <p:attrName>style.visibility</p:attrName>
                                        </p:attrNameLst>
                                      </p:cBhvr>
                                      <p:to>
                                        <p:strVal val="visible"/>
                                      </p:to>
                                    </p:set>
                                    <p:anim calcmode="lin" valueType="num">
                                      <p:cBhvr additive="base">
                                        <p:cTn id="38" dur="500" fill="hold"/>
                                        <p:tgtEl>
                                          <p:spTgt spid="275460">
                                            <p:txEl>
                                              <p:pRg st="2" end="2"/>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75460">
                                            <p:txEl>
                                              <p:pRg st="2" end="2"/>
                                            </p:txEl>
                                          </p:spTgt>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1500"/>
                            </p:stCondLst>
                            <p:childTnLst>
                              <p:par>
                                <p:cTn id="41" presetID="2" presetClass="entr" presetSubtype="4" fill="hold" grpId="0" nodeType="afterEffect">
                                  <p:stCondLst>
                                    <p:cond delay="0"/>
                                  </p:stCondLst>
                                  <p:childTnLst>
                                    <p:set>
                                      <p:cBhvr>
                                        <p:cTn id="42" dur="1" fill="hold">
                                          <p:stCondLst>
                                            <p:cond delay="0"/>
                                          </p:stCondLst>
                                        </p:cTn>
                                        <p:tgtEl>
                                          <p:spTgt spid="275460">
                                            <p:txEl>
                                              <p:pRg st="3" end="3"/>
                                            </p:txEl>
                                          </p:spTgt>
                                        </p:tgtEl>
                                        <p:attrNameLst>
                                          <p:attrName>style.visibility</p:attrName>
                                        </p:attrNameLst>
                                      </p:cBhvr>
                                      <p:to>
                                        <p:strVal val="visible"/>
                                      </p:to>
                                    </p:set>
                                    <p:anim calcmode="lin" valueType="num">
                                      <p:cBhvr additive="base">
                                        <p:cTn id="43" dur="500" fill="hold"/>
                                        <p:tgtEl>
                                          <p:spTgt spid="275460">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546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75461"/>
                                        </p:tgtEl>
                                        <p:attrNameLst>
                                          <p:attrName>style.visibility</p:attrName>
                                        </p:attrNameLst>
                                      </p:cBhvr>
                                      <p:to>
                                        <p:strVal val="visible"/>
                                      </p:to>
                                    </p:set>
                                    <p:anim calcmode="lin" valueType="num">
                                      <p:cBhvr additive="base">
                                        <p:cTn id="49" dur="500" fill="hold"/>
                                        <p:tgtEl>
                                          <p:spTgt spid="275461"/>
                                        </p:tgtEl>
                                        <p:attrNameLst>
                                          <p:attrName>ppt_x</p:attrName>
                                        </p:attrNameLst>
                                      </p:cBhvr>
                                      <p:tavLst>
                                        <p:tav tm="0">
                                          <p:val>
                                            <p:strVal val="#ppt_x"/>
                                          </p:val>
                                        </p:tav>
                                        <p:tav tm="100000">
                                          <p:val>
                                            <p:strVal val="#ppt_x"/>
                                          </p:val>
                                        </p:tav>
                                      </p:tavLst>
                                    </p:anim>
                                    <p:anim calcmode="lin" valueType="num">
                                      <p:cBhvr additive="base">
                                        <p:cTn id="50" dur="500" fill="hold"/>
                                        <p:tgtEl>
                                          <p:spTgt spid="27546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275462"/>
                                        </p:tgtEl>
                                        <p:attrNameLst>
                                          <p:attrName>style.visibility</p:attrName>
                                        </p:attrNameLst>
                                      </p:cBhvr>
                                      <p:to>
                                        <p:strVal val="visible"/>
                                      </p:to>
                                    </p:set>
                                    <p:animEffect transition="in" filter="randombar(horizontal)">
                                      <p:cBhvr>
                                        <p:cTn id="55" dur="500"/>
                                        <p:tgtEl>
                                          <p:spTgt spid="275462"/>
                                        </p:tgtEl>
                                      </p:cBhvr>
                                    </p:animEffect>
                                  </p:childTnLst>
                                </p:cTn>
                              </p:par>
                            </p:childTnLst>
                          </p:cTn>
                        </p:par>
                        <p:par>
                          <p:cTn id="56" fill="hold">
                            <p:stCondLst>
                              <p:cond delay="500"/>
                            </p:stCondLst>
                            <p:childTnLst>
                              <p:par>
                                <p:cTn id="57" presetID="2" presetClass="entr" presetSubtype="4" fill="hold" grpId="0" nodeType="afterEffect">
                                  <p:stCondLst>
                                    <p:cond delay="0"/>
                                  </p:stCondLst>
                                  <p:childTnLst>
                                    <p:set>
                                      <p:cBhvr>
                                        <p:cTn id="58" dur="1" fill="hold">
                                          <p:stCondLst>
                                            <p:cond delay="0"/>
                                          </p:stCondLst>
                                        </p:cTn>
                                        <p:tgtEl>
                                          <p:spTgt spid="275463"/>
                                        </p:tgtEl>
                                        <p:attrNameLst>
                                          <p:attrName>style.visibility</p:attrName>
                                        </p:attrNameLst>
                                      </p:cBhvr>
                                      <p:to>
                                        <p:strVal val="visible"/>
                                      </p:to>
                                    </p:set>
                                    <p:anim calcmode="lin" valueType="num">
                                      <p:cBhvr additive="base">
                                        <p:cTn id="59" dur="500" fill="hold"/>
                                        <p:tgtEl>
                                          <p:spTgt spid="275463"/>
                                        </p:tgtEl>
                                        <p:attrNameLst>
                                          <p:attrName>ppt_x</p:attrName>
                                        </p:attrNameLst>
                                      </p:cBhvr>
                                      <p:tavLst>
                                        <p:tav tm="0">
                                          <p:val>
                                            <p:strVal val="#ppt_x"/>
                                          </p:val>
                                        </p:tav>
                                        <p:tav tm="100000">
                                          <p:val>
                                            <p:strVal val="#ppt_x"/>
                                          </p:val>
                                        </p:tav>
                                      </p:tavLst>
                                    </p:anim>
                                    <p:anim calcmode="lin" valueType="num">
                                      <p:cBhvr additive="base">
                                        <p:cTn id="60" dur="500" fill="hold"/>
                                        <p:tgtEl>
                                          <p:spTgt spid="2754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build="p"/>
      <p:bldP spid="275460" grpId="0" uiExpand="1" build="p" autoUpdateAnimBg="0"/>
      <p:bldP spid="275461" grpId="0" autoUpdateAnimBg="0"/>
      <p:bldP spid="275462" grpId="0"/>
      <p:bldP spid="27546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a:extLst>
              <a:ext uri="{FF2B5EF4-FFF2-40B4-BE49-F238E27FC236}">
                <a16:creationId xmlns:a16="http://schemas.microsoft.com/office/drawing/2014/main" id="{C2838A86-9AB7-C31C-C261-3ED306C7CFB3}"/>
              </a:ext>
            </a:extLst>
          </p:cNvPr>
          <p:cNvSpPr>
            <a:spLocks noGrp="1" noChangeArrowheads="1"/>
          </p:cNvSpPr>
          <p:nvPr>
            <p:ph type="title"/>
          </p:nvPr>
        </p:nvSpPr>
        <p:spPr/>
        <p:txBody>
          <a:bodyPr/>
          <a:lstStyle/>
          <a:p>
            <a:pPr eaLnBrk="1" hangingPunct="1"/>
            <a:r>
              <a:rPr lang="zh-CN" altLang="en-US"/>
              <a:t>互协方差函数和互相关函数</a:t>
            </a:r>
          </a:p>
        </p:txBody>
      </p:sp>
      <p:sp>
        <p:nvSpPr>
          <p:cNvPr id="276483" name="Rectangle 3">
            <a:extLst>
              <a:ext uri="{FF2B5EF4-FFF2-40B4-BE49-F238E27FC236}">
                <a16:creationId xmlns:a16="http://schemas.microsoft.com/office/drawing/2014/main" id="{8AF5A007-8E52-6773-5F25-989C57A1C0A8}"/>
              </a:ext>
            </a:extLst>
          </p:cNvPr>
          <p:cNvSpPr>
            <a:spLocks noGrp="1" noChangeArrowheads="1"/>
          </p:cNvSpPr>
          <p:nvPr>
            <p:ph type="body" idx="1"/>
          </p:nvPr>
        </p:nvSpPr>
        <p:spPr>
          <a:xfrm>
            <a:off x="384175" y="1073398"/>
            <a:ext cx="11430000" cy="3575595"/>
          </a:xfrm>
        </p:spPr>
        <p:txBody>
          <a:bodyPr>
            <a:normAutofit fontScale="92500" lnSpcReduction="20000"/>
          </a:bodyPr>
          <a:lstStyle/>
          <a:p>
            <a:pPr eaLnBrk="1" hangingPunct="1">
              <a:lnSpc>
                <a:spcPct val="160000"/>
              </a:lnSpc>
              <a:buFont typeface="Wingdings" panose="05000000000000000000" pitchFamily="2" charset="2"/>
              <a:buNone/>
            </a:pPr>
            <a:r>
              <a:rPr lang="en-US" altLang="zh-CN" dirty="0"/>
              <a:t>    </a:t>
            </a:r>
            <a:r>
              <a:rPr lang="zh-CN" altLang="en-US" dirty="0"/>
              <a:t>给定两个随机过程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和</a:t>
            </a:r>
            <a:r>
              <a:rPr lang="en-US" altLang="zh-CN" dirty="0"/>
              <a:t>{Y(t),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，称</a:t>
            </a:r>
          </a:p>
          <a:p>
            <a:pPr algn="ctr" eaLnBrk="1" hangingPunct="1">
              <a:lnSpc>
                <a:spcPct val="160000"/>
              </a:lnSpc>
              <a:buFont typeface="Wingdings" panose="05000000000000000000" pitchFamily="2" charset="2"/>
              <a:buNone/>
            </a:pPr>
            <a:r>
              <a:rPr lang="en-US" altLang="zh-CN" dirty="0">
                <a:solidFill>
                  <a:srgbClr val="0000FF"/>
                </a:solidFill>
              </a:rPr>
              <a:t>C</a:t>
            </a:r>
            <a:r>
              <a:rPr lang="en-US" altLang="zh-CN" baseline="-25000" dirty="0">
                <a:solidFill>
                  <a:srgbClr val="0000FF"/>
                </a:solidFill>
              </a:rPr>
              <a:t>XY</a:t>
            </a:r>
            <a:r>
              <a:rPr lang="en-US" altLang="zh-CN" dirty="0">
                <a:solidFill>
                  <a:srgbClr val="0000FF"/>
                </a:solidFill>
              </a:rPr>
              <a:t>(</a:t>
            </a:r>
            <a:r>
              <a:rPr lang="en-US" altLang="zh-CN" dirty="0" err="1">
                <a:solidFill>
                  <a:srgbClr val="0000FF"/>
                </a:solidFill>
              </a:rPr>
              <a:t>s,t</a:t>
            </a:r>
            <a:r>
              <a:rPr lang="en-US" altLang="zh-CN" dirty="0">
                <a:solidFill>
                  <a:srgbClr val="0000FF"/>
                </a:solidFill>
              </a:rPr>
              <a:t>)</a:t>
            </a:r>
            <a:r>
              <a:rPr lang="zh-CN" altLang="en-US" dirty="0">
                <a:solidFill>
                  <a:srgbClr val="0000FF"/>
                </a:solidFill>
              </a:rPr>
              <a:t>＝</a:t>
            </a:r>
            <a:r>
              <a:rPr lang="en-US" altLang="zh-CN" dirty="0">
                <a:solidFill>
                  <a:srgbClr val="0000FF"/>
                </a:solidFill>
              </a:rPr>
              <a:t>E[X(s)</a:t>
            </a:r>
            <a:r>
              <a:rPr lang="zh-CN" altLang="en-US" dirty="0">
                <a:solidFill>
                  <a:srgbClr val="0000FF"/>
                </a:solidFill>
              </a:rPr>
              <a:t>－</a:t>
            </a:r>
            <a:r>
              <a:rPr lang="en-US" altLang="zh-CN" dirty="0" err="1">
                <a:solidFill>
                  <a:srgbClr val="0000FF"/>
                </a:solidFill>
              </a:rPr>
              <a:t>m</a:t>
            </a:r>
            <a:r>
              <a:rPr lang="en-US" altLang="zh-CN" baseline="-25000" dirty="0" err="1">
                <a:solidFill>
                  <a:srgbClr val="0000FF"/>
                </a:solidFill>
              </a:rPr>
              <a:t>X</a:t>
            </a:r>
            <a:r>
              <a:rPr lang="en-US" altLang="zh-CN" dirty="0">
                <a:solidFill>
                  <a:srgbClr val="0000FF"/>
                </a:solidFill>
              </a:rPr>
              <a:t>(s)][Y(t)</a:t>
            </a:r>
            <a:r>
              <a:rPr lang="zh-CN" altLang="en-US" dirty="0">
                <a:solidFill>
                  <a:srgbClr val="0000FF"/>
                </a:solidFill>
              </a:rPr>
              <a:t>－</a:t>
            </a:r>
            <a:r>
              <a:rPr lang="en-US" altLang="zh-CN" dirty="0" err="1">
                <a:solidFill>
                  <a:srgbClr val="0000FF"/>
                </a:solidFill>
              </a:rPr>
              <a:t>m</a:t>
            </a:r>
            <a:r>
              <a:rPr lang="en-US" altLang="zh-CN" baseline="-25000" dirty="0" err="1">
                <a:solidFill>
                  <a:srgbClr val="0000FF"/>
                </a:solidFill>
              </a:rPr>
              <a:t>Y</a:t>
            </a:r>
            <a:r>
              <a:rPr lang="en-US" altLang="zh-CN" dirty="0">
                <a:solidFill>
                  <a:srgbClr val="0000FF"/>
                </a:solidFill>
              </a:rPr>
              <a:t>(t)]</a:t>
            </a:r>
            <a:r>
              <a:rPr lang="zh-CN" altLang="en-US" dirty="0">
                <a:solidFill>
                  <a:srgbClr val="0000FF"/>
                </a:solidFill>
              </a:rPr>
              <a:t>，</a:t>
            </a:r>
            <a:r>
              <a:rPr lang="en-US" altLang="zh-CN" dirty="0" err="1">
                <a:solidFill>
                  <a:srgbClr val="0000FF"/>
                </a:solidFill>
              </a:rPr>
              <a:t>s,t</a:t>
            </a:r>
            <a:r>
              <a:rPr lang="en-US" altLang="zh-CN" dirty="0" err="1">
                <a:solidFill>
                  <a:srgbClr val="0000FF"/>
                </a:solidFill>
                <a:sym typeface="Symbol" panose="05050102010706020507" pitchFamily="18" charset="2"/>
              </a:rPr>
              <a:t></a:t>
            </a:r>
            <a:r>
              <a:rPr lang="en-US" altLang="zh-CN" dirty="0" err="1">
                <a:solidFill>
                  <a:srgbClr val="0000FF"/>
                </a:solidFill>
              </a:rPr>
              <a:t>T</a:t>
            </a:r>
            <a:endParaRPr lang="en-US" altLang="zh-CN" baseline="30000" dirty="0">
              <a:solidFill>
                <a:srgbClr val="0000FF"/>
              </a:solidFill>
            </a:endParaRPr>
          </a:p>
          <a:p>
            <a:pPr eaLnBrk="1" hangingPunct="1">
              <a:lnSpc>
                <a:spcPct val="160000"/>
              </a:lnSpc>
              <a:buFont typeface="Wingdings" panose="05000000000000000000" pitchFamily="2" charset="2"/>
              <a:buNone/>
            </a:pPr>
            <a:r>
              <a:rPr lang="zh-CN" altLang="en-US" dirty="0"/>
              <a:t>为随机过程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和</a:t>
            </a:r>
            <a:r>
              <a:rPr lang="en-US" altLang="zh-CN" dirty="0"/>
              <a:t>{Y(t),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的</a:t>
            </a:r>
            <a:r>
              <a:rPr lang="zh-CN" altLang="en-US" dirty="0">
                <a:solidFill>
                  <a:srgbClr val="CC00CC"/>
                </a:solidFill>
              </a:rPr>
              <a:t>互协方差函数</a:t>
            </a:r>
            <a:r>
              <a:rPr lang="zh-CN" altLang="en-US" dirty="0"/>
              <a:t>。</a:t>
            </a:r>
          </a:p>
          <a:p>
            <a:pPr eaLnBrk="1" hangingPunct="1">
              <a:lnSpc>
                <a:spcPct val="160000"/>
              </a:lnSpc>
              <a:buFont typeface="Wingdings" panose="05000000000000000000" pitchFamily="2" charset="2"/>
              <a:buNone/>
            </a:pPr>
            <a:r>
              <a:rPr lang="zh-CN" altLang="en-US" dirty="0"/>
              <a:t>    其中：</a:t>
            </a:r>
            <a:r>
              <a:rPr lang="en-US" altLang="zh-CN" dirty="0" err="1">
                <a:solidFill>
                  <a:srgbClr val="0000FF"/>
                </a:solidFill>
              </a:rPr>
              <a:t>m</a:t>
            </a:r>
            <a:r>
              <a:rPr lang="en-US" altLang="zh-CN" baseline="-25000" dirty="0" err="1">
                <a:solidFill>
                  <a:srgbClr val="0000FF"/>
                </a:solidFill>
              </a:rPr>
              <a:t>X</a:t>
            </a:r>
            <a:r>
              <a:rPr lang="en-US" altLang="zh-CN" dirty="0">
                <a:solidFill>
                  <a:srgbClr val="0000FF"/>
                </a:solidFill>
              </a:rPr>
              <a:t>(s)</a:t>
            </a:r>
            <a:r>
              <a:rPr lang="zh-CN" altLang="en-US" dirty="0">
                <a:solidFill>
                  <a:srgbClr val="0000FF"/>
                </a:solidFill>
              </a:rPr>
              <a:t>＝</a:t>
            </a:r>
            <a:r>
              <a:rPr lang="en-US" altLang="zh-CN" dirty="0">
                <a:solidFill>
                  <a:srgbClr val="0000FF"/>
                </a:solidFill>
              </a:rPr>
              <a:t>E[X(s)]</a:t>
            </a:r>
            <a:r>
              <a:rPr lang="zh-CN" altLang="en-US" dirty="0">
                <a:solidFill>
                  <a:srgbClr val="0000FF"/>
                </a:solidFill>
              </a:rPr>
              <a:t>，</a:t>
            </a:r>
            <a:r>
              <a:rPr lang="en-US" altLang="zh-CN" dirty="0" err="1">
                <a:solidFill>
                  <a:srgbClr val="0000FF"/>
                </a:solidFill>
              </a:rPr>
              <a:t>m</a:t>
            </a:r>
            <a:r>
              <a:rPr lang="en-US" altLang="zh-CN" baseline="-25000" dirty="0" err="1">
                <a:solidFill>
                  <a:srgbClr val="0000FF"/>
                </a:solidFill>
              </a:rPr>
              <a:t>Y</a:t>
            </a:r>
            <a:r>
              <a:rPr lang="en-US" altLang="zh-CN" dirty="0">
                <a:solidFill>
                  <a:srgbClr val="0000FF"/>
                </a:solidFill>
              </a:rPr>
              <a:t>(t)</a:t>
            </a:r>
            <a:r>
              <a:rPr lang="zh-CN" altLang="en-US" dirty="0">
                <a:solidFill>
                  <a:srgbClr val="0000FF"/>
                </a:solidFill>
              </a:rPr>
              <a:t>＝</a:t>
            </a:r>
            <a:r>
              <a:rPr lang="en-US" altLang="zh-CN" dirty="0">
                <a:solidFill>
                  <a:srgbClr val="0000FF"/>
                </a:solidFill>
              </a:rPr>
              <a:t>E[Y(t)]</a:t>
            </a:r>
            <a:r>
              <a:rPr lang="zh-CN" altLang="en-US" dirty="0"/>
              <a:t>。称</a:t>
            </a:r>
          </a:p>
          <a:p>
            <a:pPr algn="ctr" eaLnBrk="1" hangingPunct="1">
              <a:lnSpc>
                <a:spcPct val="160000"/>
              </a:lnSpc>
              <a:buFont typeface="Wingdings" panose="05000000000000000000" pitchFamily="2" charset="2"/>
              <a:buNone/>
            </a:pPr>
            <a:r>
              <a:rPr lang="en-US" altLang="zh-CN" dirty="0">
                <a:solidFill>
                  <a:srgbClr val="0000FF"/>
                </a:solidFill>
              </a:rPr>
              <a:t>R</a:t>
            </a:r>
            <a:r>
              <a:rPr lang="en-US" altLang="zh-CN" baseline="-25000" dirty="0">
                <a:solidFill>
                  <a:srgbClr val="0000FF"/>
                </a:solidFill>
              </a:rPr>
              <a:t>XY</a:t>
            </a:r>
            <a:r>
              <a:rPr lang="en-US" altLang="zh-CN" dirty="0">
                <a:solidFill>
                  <a:srgbClr val="0000FF"/>
                </a:solidFill>
              </a:rPr>
              <a:t>(</a:t>
            </a:r>
            <a:r>
              <a:rPr lang="en-US" altLang="zh-CN" dirty="0" err="1">
                <a:solidFill>
                  <a:srgbClr val="0000FF"/>
                </a:solidFill>
              </a:rPr>
              <a:t>s,t</a:t>
            </a:r>
            <a:r>
              <a:rPr lang="en-US" altLang="zh-CN" dirty="0">
                <a:solidFill>
                  <a:srgbClr val="0000FF"/>
                </a:solidFill>
              </a:rPr>
              <a:t>)</a:t>
            </a:r>
            <a:r>
              <a:rPr lang="zh-CN" altLang="en-US" dirty="0">
                <a:solidFill>
                  <a:srgbClr val="0000FF"/>
                </a:solidFill>
              </a:rPr>
              <a:t>＝</a:t>
            </a:r>
            <a:r>
              <a:rPr lang="en-US" altLang="zh-CN" dirty="0">
                <a:solidFill>
                  <a:srgbClr val="0000FF"/>
                </a:solidFill>
              </a:rPr>
              <a:t>E[X(s)Y(t)]</a:t>
            </a:r>
          </a:p>
          <a:p>
            <a:pPr eaLnBrk="1" hangingPunct="1">
              <a:lnSpc>
                <a:spcPct val="160000"/>
              </a:lnSpc>
              <a:buFont typeface="Wingdings" panose="05000000000000000000" pitchFamily="2" charset="2"/>
              <a:buNone/>
            </a:pPr>
            <a:r>
              <a:rPr lang="zh-CN" altLang="en-US" dirty="0"/>
              <a:t>为随机过程</a:t>
            </a:r>
            <a:r>
              <a:rPr lang="en-US" altLang="zh-CN" dirty="0"/>
              <a:t>{X(t),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和</a:t>
            </a:r>
            <a:r>
              <a:rPr lang="en-US" altLang="zh-CN" dirty="0"/>
              <a:t>{Y(t),</a:t>
            </a:r>
            <a:r>
              <a:rPr lang="en-US" altLang="zh-CN" dirty="0" err="1"/>
              <a:t>t</a:t>
            </a:r>
            <a:r>
              <a:rPr lang="en-US" altLang="zh-CN" dirty="0" err="1">
                <a:sym typeface="Symbol" panose="05050102010706020507" pitchFamily="18" charset="2"/>
              </a:rPr>
              <a:t></a:t>
            </a:r>
            <a:r>
              <a:rPr lang="en-US" altLang="zh-CN" dirty="0" err="1"/>
              <a:t>T</a:t>
            </a:r>
            <a:r>
              <a:rPr lang="en-US" altLang="zh-CN" dirty="0"/>
              <a:t>}</a:t>
            </a:r>
            <a:r>
              <a:rPr lang="zh-CN" altLang="en-US" dirty="0"/>
              <a:t>的</a:t>
            </a:r>
            <a:r>
              <a:rPr lang="zh-CN" altLang="en-US" dirty="0">
                <a:solidFill>
                  <a:srgbClr val="CC00CC"/>
                </a:solidFill>
              </a:rPr>
              <a:t>互相关函数</a:t>
            </a:r>
            <a:r>
              <a:rPr lang="zh-CN" altLang="en-US" dirty="0"/>
              <a:t>。</a:t>
            </a:r>
          </a:p>
          <a:p>
            <a:pPr eaLnBrk="1" hangingPunct="1">
              <a:lnSpc>
                <a:spcPct val="160000"/>
              </a:lnSpc>
              <a:buFont typeface="Wingdings" panose="05000000000000000000" pitchFamily="2" charset="2"/>
              <a:buNone/>
            </a:pPr>
            <a:r>
              <a:rPr lang="zh-CN" altLang="en-US" dirty="0"/>
              <a:t>显然，</a:t>
            </a:r>
            <a:r>
              <a:rPr lang="en-US" altLang="zh-CN" dirty="0">
                <a:solidFill>
                  <a:srgbClr val="0000FF"/>
                </a:solidFill>
              </a:rPr>
              <a:t>C</a:t>
            </a:r>
            <a:r>
              <a:rPr lang="en-US" altLang="zh-CN" baseline="-25000" dirty="0">
                <a:solidFill>
                  <a:srgbClr val="0000FF"/>
                </a:solidFill>
              </a:rPr>
              <a:t>XY</a:t>
            </a:r>
            <a:r>
              <a:rPr lang="en-US" altLang="zh-CN" dirty="0">
                <a:solidFill>
                  <a:srgbClr val="0000FF"/>
                </a:solidFill>
              </a:rPr>
              <a:t>(</a:t>
            </a:r>
            <a:r>
              <a:rPr lang="en-US" altLang="zh-CN" dirty="0" err="1">
                <a:solidFill>
                  <a:srgbClr val="0000FF"/>
                </a:solidFill>
              </a:rPr>
              <a:t>s,t</a:t>
            </a:r>
            <a:r>
              <a:rPr lang="en-US" altLang="zh-CN" dirty="0">
                <a:solidFill>
                  <a:srgbClr val="0000FF"/>
                </a:solidFill>
              </a:rPr>
              <a:t>)</a:t>
            </a:r>
            <a:r>
              <a:rPr lang="zh-CN" altLang="en-US" dirty="0">
                <a:solidFill>
                  <a:srgbClr val="0000FF"/>
                </a:solidFill>
              </a:rPr>
              <a:t>＝</a:t>
            </a:r>
            <a:r>
              <a:rPr lang="en-US" altLang="zh-CN" dirty="0">
                <a:solidFill>
                  <a:srgbClr val="0000FF"/>
                </a:solidFill>
              </a:rPr>
              <a:t>R</a:t>
            </a:r>
            <a:r>
              <a:rPr lang="en-US" altLang="zh-CN" baseline="-25000" dirty="0">
                <a:solidFill>
                  <a:srgbClr val="0000FF"/>
                </a:solidFill>
              </a:rPr>
              <a:t>XY</a:t>
            </a:r>
            <a:r>
              <a:rPr lang="en-US" altLang="zh-CN" dirty="0">
                <a:solidFill>
                  <a:srgbClr val="0000FF"/>
                </a:solidFill>
              </a:rPr>
              <a:t>(</a:t>
            </a:r>
            <a:r>
              <a:rPr lang="en-US" altLang="zh-CN" dirty="0" err="1">
                <a:solidFill>
                  <a:srgbClr val="0000FF"/>
                </a:solidFill>
              </a:rPr>
              <a:t>s,t</a:t>
            </a:r>
            <a:r>
              <a:rPr lang="en-US" altLang="zh-CN" dirty="0">
                <a:solidFill>
                  <a:srgbClr val="0000FF"/>
                </a:solidFill>
              </a:rPr>
              <a:t>)</a:t>
            </a:r>
            <a:r>
              <a:rPr lang="zh-CN" altLang="en-US" dirty="0">
                <a:solidFill>
                  <a:srgbClr val="0000FF"/>
                </a:solidFill>
              </a:rPr>
              <a:t>－</a:t>
            </a:r>
            <a:r>
              <a:rPr lang="en-US" altLang="zh-CN" dirty="0" err="1">
                <a:solidFill>
                  <a:srgbClr val="0000FF"/>
                </a:solidFill>
              </a:rPr>
              <a:t>m</a:t>
            </a:r>
            <a:r>
              <a:rPr lang="en-US" altLang="zh-CN" baseline="-25000" dirty="0" err="1">
                <a:solidFill>
                  <a:srgbClr val="0000FF"/>
                </a:solidFill>
              </a:rPr>
              <a:t>X</a:t>
            </a:r>
            <a:r>
              <a:rPr lang="en-US" altLang="zh-CN" dirty="0">
                <a:solidFill>
                  <a:srgbClr val="0000FF"/>
                </a:solidFill>
              </a:rPr>
              <a:t>(s)</a:t>
            </a:r>
            <a:r>
              <a:rPr lang="en-US" altLang="zh-CN" dirty="0" err="1">
                <a:solidFill>
                  <a:srgbClr val="0000FF"/>
                </a:solidFill>
              </a:rPr>
              <a:t>m</a:t>
            </a:r>
            <a:r>
              <a:rPr lang="en-US" altLang="zh-CN" baseline="-25000" dirty="0" err="1">
                <a:solidFill>
                  <a:srgbClr val="0000FF"/>
                </a:solidFill>
              </a:rPr>
              <a:t>Y</a:t>
            </a:r>
            <a:r>
              <a:rPr lang="en-US" altLang="zh-CN" dirty="0">
                <a:solidFill>
                  <a:srgbClr val="0000FF"/>
                </a:solidFill>
              </a:rPr>
              <a:t>(t)</a:t>
            </a:r>
            <a:r>
              <a:rPr lang="zh-CN" altLang="en-US" dirty="0"/>
              <a:t>。</a:t>
            </a:r>
          </a:p>
        </p:txBody>
      </p:sp>
      <p:sp>
        <p:nvSpPr>
          <p:cNvPr id="276484" name="Rectangle 4">
            <a:extLst>
              <a:ext uri="{FF2B5EF4-FFF2-40B4-BE49-F238E27FC236}">
                <a16:creationId xmlns:a16="http://schemas.microsoft.com/office/drawing/2014/main" id="{83372302-9158-4A2C-CCC3-EC5B87B1D872}"/>
              </a:ext>
            </a:extLst>
          </p:cNvPr>
          <p:cNvSpPr>
            <a:spLocks noChangeArrowheads="1"/>
          </p:cNvSpPr>
          <p:nvPr/>
        </p:nvSpPr>
        <p:spPr bwMode="auto">
          <a:xfrm>
            <a:off x="384175" y="4420394"/>
            <a:ext cx="11506200"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latin typeface="+mn-ea"/>
                <a:ea typeface="+mn-ea"/>
              </a:rPr>
              <a:t>    </a:t>
            </a:r>
            <a:r>
              <a:rPr lang="zh-CN" altLang="en-US" b="1" dirty="0">
                <a:latin typeface="+mn-ea"/>
                <a:ea typeface="+mn-ea"/>
              </a:rPr>
              <a:t>如果</a:t>
            </a:r>
            <a:r>
              <a:rPr lang="en-US" altLang="zh-CN" b="1" dirty="0">
                <a:latin typeface="+mn-ea"/>
                <a:ea typeface="+mn-ea"/>
              </a:rPr>
              <a:t>C</a:t>
            </a:r>
            <a:r>
              <a:rPr lang="en-US" altLang="zh-CN" b="1" baseline="-25000" dirty="0">
                <a:latin typeface="+mn-ea"/>
                <a:ea typeface="+mn-ea"/>
              </a:rPr>
              <a:t>XY</a:t>
            </a:r>
            <a:r>
              <a:rPr lang="en-US" altLang="zh-CN" b="1" dirty="0">
                <a:latin typeface="+mn-ea"/>
                <a:ea typeface="+mn-ea"/>
              </a:rPr>
              <a:t>(</a:t>
            </a:r>
            <a:r>
              <a:rPr lang="en-US" altLang="zh-CN" b="1" dirty="0" err="1">
                <a:latin typeface="+mn-ea"/>
                <a:ea typeface="+mn-ea"/>
              </a:rPr>
              <a:t>s,t</a:t>
            </a:r>
            <a:r>
              <a:rPr lang="en-US" altLang="zh-CN" b="1" dirty="0">
                <a:latin typeface="+mn-ea"/>
                <a:ea typeface="+mn-ea"/>
              </a:rPr>
              <a:t>)</a:t>
            </a:r>
            <a:r>
              <a:rPr lang="zh-CN" altLang="en-US" b="1" dirty="0">
                <a:latin typeface="+mn-ea"/>
                <a:ea typeface="+mn-ea"/>
              </a:rPr>
              <a:t>＝</a:t>
            </a:r>
            <a:r>
              <a:rPr lang="en-US" altLang="zh-CN" b="1" dirty="0">
                <a:latin typeface="+mn-ea"/>
                <a:ea typeface="+mn-ea"/>
              </a:rPr>
              <a:t>0</a:t>
            </a:r>
            <a:r>
              <a:rPr lang="zh-CN" altLang="en-US" b="1" dirty="0">
                <a:latin typeface="+mn-ea"/>
                <a:ea typeface="+mn-ea"/>
              </a:rPr>
              <a:t>，等价地</a:t>
            </a:r>
            <a:r>
              <a:rPr lang="en-US" altLang="zh-CN" b="1" dirty="0">
                <a:latin typeface="+mn-ea"/>
                <a:ea typeface="+mn-ea"/>
              </a:rPr>
              <a:t>R</a:t>
            </a:r>
            <a:r>
              <a:rPr lang="en-US" altLang="zh-CN" b="1" baseline="-25000" dirty="0">
                <a:latin typeface="+mn-ea"/>
                <a:ea typeface="+mn-ea"/>
              </a:rPr>
              <a:t>XY</a:t>
            </a:r>
            <a:r>
              <a:rPr lang="en-US" altLang="zh-CN" b="1" dirty="0">
                <a:latin typeface="+mn-ea"/>
                <a:ea typeface="+mn-ea"/>
              </a:rPr>
              <a:t>(</a:t>
            </a:r>
            <a:r>
              <a:rPr lang="en-US" altLang="zh-CN" b="1" dirty="0" err="1">
                <a:latin typeface="+mn-ea"/>
                <a:ea typeface="+mn-ea"/>
              </a:rPr>
              <a:t>s,t</a:t>
            </a:r>
            <a:r>
              <a:rPr lang="en-US" altLang="zh-CN" b="1" dirty="0">
                <a:latin typeface="+mn-ea"/>
                <a:ea typeface="+mn-ea"/>
              </a:rPr>
              <a:t>)</a:t>
            </a:r>
            <a:r>
              <a:rPr lang="zh-CN" altLang="en-US" b="1" dirty="0">
                <a:latin typeface="+mn-ea"/>
                <a:ea typeface="+mn-ea"/>
              </a:rPr>
              <a:t>＝</a:t>
            </a:r>
            <a:r>
              <a:rPr lang="en-US" altLang="zh-CN" b="1" dirty="0" err="1">
                <a:latin typeface="+mn-ea"/>
                <a:ea typeface="+mn-ea"/>
              </a:rPr>
              <a:t>m</a:t>
            </a:r>
            <a:r>
              <a:rPr lang="en-US" altLang="zh-CN" b="1" baseline="-25000" dirty="0" err="1">
                <a:latin typeface="+mn-ea"/>
                <a:ea typeface="+mn-ea"/>
              </a:rPr>
              <a:t>X</a:t>
            </a:r>
            <a:r>
              <a:rPr lang="en-US" altLang="zh-CN" b="1" dirty="0">
                <a:latin typeface="+mn-ea"/>
                <a:ea typeface="+mn-ea"/>
              </a:rPr>
              <a:t>(s)</a:t>
            </a:r>
            <a:r>
              <a:rPr lang="en-US" altLang="zh-CN" b="1" dirty="0" err="1">
                <a:latin typeface="+mn-ea"/>
                <a:ea typeface="+mn-ea"/>
              </a:rPr>
              <a:t>m</a:t>
            </a:r>
            <a:r>
              <a:rPr lang="en-US" altLang="zh-CN" b="1" baseline="-25000" dirty="0" err="1">
                <a:latin typeface="+mn-ea"/>
                <a:ea typeface="+mn-ea"/>
              </a:rPr>
              <a:t>Y</a:t>
            </a:r>
            <a:r>
              <a:rPr lang="en-US" altLang="zh-CN" b="1" dirty="0">
                <a:latin typeface="+mn-ea"/>
                <a:ea typeface="+mn-ea"/>
              </a:rPr>
              <a:t>(t)</a:t>
            </a:r>
            <a:r>
              <a:rPr lang="zh-CN" altLang="en-US" b="1" dirty="0">
                <a:latin typeface="+mn-ea"/>
                <a:ea typeface="+mn-ea"/>
              </a:rPr>
              <a:t>，即</a:t>
            </a:r>
            <a:r>
              <a:rPr lang="en-US" altLang="zh-CN" b="1" dirty="0">
                <a:latin typeface="+mn-ea"/>
                <a:ea typeface="+mn-ea"/>
              </a:rPr>
              <a:t>E[X(s)Y(t)]</a:t>
            </a:r>
            <a:r>
              <a:rPr lang="zh-CN" altLang="en-US" b="1" dirty="0">
                <a:latin typeface="+mn-ea"/>
                <a:ea typeface="+mn-ea"/>
              </a:rPr>
              <a:t>＝</a:t>
            </a:r>
            <a:r>
              <a:rPr lang="en-US" altLang="zh-CN" b="1" dirty="0">
                <a:latin typeface="+mn-ea"/>
                <a:ea typeface="+mn-ea"/>
              </a:rPr>
              <a:t>E[X(s)]E[Y(t)]</a:t>
            </a:r>
            <a:r>
              <a:rPr lang="zh-CN" altLang="en-US" b="1" dirty="0">
                <a:latin typeface="+mn-ea"/>
                <a:ea typeface="+mn-ea"/>
              </a:rPr>
              <a:t>，则称</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latin typeface="+mn-ea"/>
                <a:ea typeface="+mn-ea"/>
              </a:rPr>
              <a:t>和</a:t>
            </a:r>
            <a:r>
              <a:rPr lang="en-US" altLang="zh-CN" b="1" dirty="0">
                <a:latin typeface="+mn-ea"/>
                <a:ea typeface="+mn-ea"/>
              </a:rPr>
              <a:t>{Y(t),</a:t>
            </a:r>
            <a:r>
              <a:rPr lang="en-US" altLang="zh-CN" b="1" dirty="0" err="1">
                <a:latin typeface="+mn-ea"/>
                <a:ea typeface="+mn-ea"/>
              </a:rPr>
              <a:t>t</a:t>
            </a:r>
            <a:r>
              <a:rPr lang="en-US" altLang="zh-CN" b="1" dirty="0" err="1">
                <a:latin typeface="+mn-ea"/>
                <a:ea typeface="+mn-ea"/>
                <a:sym typeface="Symbol" panose="05050102010706020507" pitchFamily="18" charset="2"/>
              </a:rPr>
              <a:t></a:t>
            </a:r>
            <a:r>
              <a:rPr lang="en-US" altLang="zh-CN" b="1" dirty="0" err="1">
                <a:latin typeface="+mn-ea"/>
                <a:ea typeface="+mn-ea"/>
              </a:rPr>
              <a:t>T</a:t>
            </a:r>
            <a:r>
              <a:rPr lang="en-US" altLang="zh-CN" b="1" dirty="0">
                <a:latin typeface="+mn-ea"/>
                <a:ea typeface="+mn-ea"/>
              </a:rPr>
              <a:t>}</a:t>
            </a:r>
            <a:r>
              <a:rPr lang="zh-CN" altLang="en-US" b="1" dirty="0">
                <a:solidFill>
                  <a:srgbClr val="CC00CC"/>
                </a:solidFill>
                <a:latin typeface="+mn-ea"/>
                <a:ea typeface="+mn-ea"/>
              </a:rPr>
              <a:t>互不相关</a:t>
            </a:r>
            <a:r>
              <a:rPr lang="zh-CN" altLang="en-US" b="1" dirty="0">
                <a:latin typeface="+mn-ea"/>
                <a:ea typeface="+mn-ea"/>
              </a:rPr>
              <a:t>。</a:t>
            </a:r>
          </a:p>
        </p:txBody>
      </p:sp>
      <p:sp>
        <p:nvSpPr>
          <p:cNvPr id="276485" name="Rectangle 5">
            <a:extLst>
              <a:ext uri="{FF2B5EF4-FFF2-40B4-BE49-F238E27FC236}">
                <a16:creationId xmlns:a16="http://schemas.microsoft.com/office/drawing/2014/main" id="{E9015678-0F86-AFC7-0354-EE89B856199A}"/>
              </a:ext>
            </a:extLst>
          </p:cNvPr>
          <p:cNvSpPr>
            <a:spLocks noChangeArrowheads="1"/>
          </p:cNvSpPr>
          <p:nvPr/>
        </p:nvSpPr>
        <p:spPr bwMode="auto">
          <a:xfrm>
            <a:off x="384175" y="5561080"/>
            <a:ext cx="11429999"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lang="en-US" altLang="zh-CN" b="1" dirty="0">
                <a:latin typeface="+mn-ea"/>
                <a:ea typeface="+mn-ea"/>
              </a:rPr>
              <a:t>    </a:t>
            </a:r>
            <a:r>
              <a:rPr lang="zh-CN" altLang="en-US" b="1" dirty="0">
                <a:solidFill>
                  <a:srgbClr val="0000FF"/>
                </a:solidFill>
                <a:latin typeface="+mn-ea"/>
                <a:ea typeface="+mn-ea"/>
              </a:rPr>
              <a:t>如果随机过程</a:t>
            </a:r>
            <a:r>
              <a:rPr lang="en-US" altLang="zh-CN" b="1" dirty="0">
                <a:solidFill>
                  <a:srgbClr val="0000FF"/>
                </a:solidFill>
                <a:latin typeface="+mn-ea"/>
                <a:ea typeface="+mn-ea"/>
              </a:rPr>
              <a:t>{X(t),</a:t>
            </a:r>
            <a:r>
              <a:rPr lang="en-US" altLang="zh-CN" b="1" dirty="0" err="1">
                <a:solidFill>
                  <a:srgbClr val="0000FF"/>
                </a:solidFill>
                <a:latin typeface="+mn-ea"/>
                <a:ea typeface="+mn-ea"/>
              </a:rPr>
              <a:t>t</a:t>
            </a:r>
            <a:r>
              <a:rPr lang="en-US" altLang="zh-CN" b="1" dirty="0" err="1">
                <a:solidFill>
                  <a:srgbClr val="0000FF"/>
                </a:solidFill>
                <a:latin typeface="+mn-ea"/>
                <a:ea typeface="+mn-ea"/>
                <a:sym typeface="Symbol" panose="05050102010706020507" pitchFamily="18" charset="2"/>
              </a:rPr>
              <a:t></a:t>
            </a:r>
            <a:r>
              <a:rPr lang="en-US" altLang="zh-CN" b="1" dirty="0" err="1">
                <a:solidFill>
                  <a:srgbClr val="0000FF"/>
                </a:solidFill>
                <a:latin typeface="+mn-ea"/>
                <a:ea typeface="+mn-ea"/>
              </a:rPr>
              <a:t>T</a:t>
            </a:r>
            <a:r>
              <a:rPr lang="en-US" altLang="zh-CN" b="1" dirty="0">
                <a:solidFill>
                  <a:srgbClr val="0000FF"/>
                </a:solidFill>
                <a:latin typeface="+mn-ea"/>
                <a:ea typeface="+mn-ea"/>
              </a:rPr>
              <a:t>}</a:t>
            </a:r>
            <a:r>
              <a:rPr lang="zh-CN" altLang="en-US" b="1" dirty="0">
                <a:solidFill>
                  <a:srgbClr val="0000FF"/>
                </a:solidFill>
                <a:latin typeface="+mn-ea"/>
                <a:ea typeface="+mn-ea"/>
              </a:rPr>
              <a:t>和</a:t>
            </a:r>
            <a:r>
              <a:rPr lang="en-US" altLang="zh-CN" b="1" dirty="0">
                <a:solidFill>
                  <a:srgbClr val="0000FF"/>
                </a:solidFill>
                <a:latin typeface="+mn-ea"/>
                <a:ea typeface="+mn-ea"/>
              </a:rPr>
              <a:t>{Y(t),</a:t>
            </a:r>
            <a:r>
              <a:rPr lang="en-US" altLang="zh-CN" b="1" dirty="0" err="1">
                <a:solidFill>
                  <a:srgbClr val="0000FF"/>
                </a:solidFill>
                <a:latin typeface="+mn-ea"/>
                <a:ea typeface="+mn-ea"/>
              </a:rPr>
              <a:t>t</a:t>
            </a:r>
            <a:r>
              <a:rPr lang="en-US" altLang="zh-CN" b="1" dirty="0" err="1">
                <a:solidFill>
                  <a:srgbClr val="0000FF"/>
                </a:solidFill>
                <a:latin typeface="+mn-ea"/>
                <a:ea typeface="+mn-ea"/>
                <a:sym typeface="Symbol" panose="05050102010706020507" pitchFamily="18" charset="2"/>
              </a:rPr>
              <a:t></a:t>
            </a:r>
            <a:r>
              <a:rPr lang="en-US" altLang="zh-CN" b="1" dirty="0" err="1">
                <a:solidFill>
                  <a:srgbClr val="0000FF"/>
                </a:solidFill>
                <a:latin typeface="+mn-ea"/>
                <a:ea typeface="+mn-ea"/>
              </a:rPr>
              <a:t>T</a:t>
            </a:r>
            <a:r>
              <a:rPr lang="en-US" altLang="zh-CN" b="1" dirty="0">
                <a:solidFill>
                  <a:srgbClr val="0000FF"/>
                </a:solidFill>
                <a:latin typeface="+mn-ea"/>
                <a:ea typeface="+mn-ea"/>
              </a:rPr>
              <a:t>}</a:t>
            </a:r>
            <a:r>
              <a:rPr lang="zh-CN" altLang="en-US" b="1" dirty="0">
                <a:solidFill>
                  <a:srgbClr val="0000FF"/>
                </a:solidFill>
                <a:latin typeface="+mn-ea"/>
                <a:ea typeface="+mn-ea"/>
              </a:rPr>
              <a:t>相互独立，则它们一定互不相关；反之，  如果随机过程</a:t>
            </a:r>
            <a:r>
              <a:rPr lang="en-US" altLang="zh-CN" b="1" dirty="0">
                <a:solidFill>
                  <a:srgbClr val="0000FF"/>
                </a:solidFill>
                <a:latin typeface="+mn-ea"/>
                <a:ea typeface="+mn-ea"/>
              </a:rPr>
              <a:t>{X(t),</a:t>
            </a:r>
            <a:r>
              <a:rPr lang="en-US" altLang="zh-CN" b="1" dirty="0" err="1">
                <a:solidFill>
                  <a:srgbClr val="0000FF"/>
                </a:solidFill>
                <a:latin typeface="+mn-ea"/>
                <a:ea typeface="+mn-ea"/>
              </a:rPr>
              <a:t>t</a:t>
            </a:r>
            <a:r>
              <a:rPr lang="en-US" altLang="zh-CN" b="1" dirty="0" err="1">
                <a:solidFill>
                  <a:srgbClr val="0000FF"/>
                </a:solidFill>
                <a:latin typeface="+mn-ea"/>
                <a:ea typeface="+mn-ea"/>
                <a:sym typeface="Symbol" panose="05050102010706020507" pitchFamily="18" charset="2"/>
              </a:rPr>
              <a:t></a:t>
            </a:r>
            <a:r>
              <a:rPr lang="en-US" altLang="zh-CN" b="1" dirty="0" err="1">
                <a:solidFill>
                  <a:srgbClr val="0000FF"/>
                </a:solidFill>
                <a:latin typeface="+mn-ea"/>
                <a:ea typeface="+mn-ea"/>
              </a:rPr>
              <a:t>T</a:t>
            </a:r>
            <a:r>
              <a:rPr lang="en-US" altLang="zh-CN" b="1" dirty="0">
                <a:solidFill>
                  <a:srgbClr val="0000FF"/>
                </a:solidFill>
                <a:latin typeface="+mn-ea"/>
                <a:ea typeface="+mn-ea"/>
              </a:rPr>
              <a:t>}</a:t>
            </a:r>
            <a:r>
              <a:rPr lang="zh-CN" altLang="en-US" b="1" dirty="0">
                <a:solidFill>
                  <a:srgbClr val="0000FF"/>
                </a:solidFill>
                <a:latin typeface="+mn-ea"/>
                <a:ea typeface="+mn-ea"/>
              </a:rPr>
              <a:t>和</a:t>
            </a:r>
            <a:r>
              <a:rPr lang="en-US" altLang="zh-CN" b="1" dirty="0">
                <a:solidFill>
                  <a:srgbClr val="0000FF"/>
                </a:solidFill>
                <a:latin typeface="+mn-ea"/>
                <a:ea typeface="+mn-ea"/>
              </a:rPr>
              <a:t>{Y(t),</a:t>
            </a:r>
            <a:r>
              <a:rPr lang="en-US" altLang="zh-CN" b="1" dirty="0" err="1">
                <a:solidFill>
                  <a:srgbClr val="0000FF"/>
                </a:solidFill>
                <a:latin typeface="+mn-ea"/>
                <a:ea typeface="+mn-ea"/>
              </a:rPr>
              <a:t>t</a:t>
            </a:r>
            <a:r>
              <a:rPr lang="en-US" altLang="zh-CN" b="1" dirty="0" err="1">
                <a:solidFill>
                  <a:srgbClr val="0000FF"/>
                </a:solidFill>
                <a:latin typeface="+mn-ea"/>
                <a:ea typeface="+mn-ea"/>
                <a:sym typeface="Symbol" panose="05050102010706020507" pitchFamily="18" charset="2"/>
              </a:rPr>
              <a:t></a:t>
            </a:r>
            <a:r>
              <a:rPr lang="en-US" altLang="zh-CN" b="1" dirty="0" err="1">
                <a:solidFill>
                  <a:srgbClr val="0000FF"/>
                </a:solidFill>
                <a:latin typeface="+mn-ea"/>
                <a:ea typeface="+mn-ea"/>
              </a:rPr>
              <a:t>T</a:t>
            </a:r>
            <a:r>
              <a:rPr lang="en-US" altLang="zh-CN" b="1" dirty="0">
                <a:solidFill>
                  <a:srgbClr val="0000FF"/>
                </a:solidFill>
                <a:latin typeface="+mn-ea"/>
                <a:ea typeface="+mn-ea"/>
              </a:rPr>
              <a:t>}</a:t>
            </a:r>
            <a:r>
              <a:rPr lang="zh-CN" altLang="en-US" b="1" dirty="0">
                <a:solidFill>
                  <a:srgbClr val="0000FF"/>
                </a:solidFill>
                <a:latin typeface="+mn-ea"/>
                <a:ea typeface="+mn-ea"/>
              </a:rPr>
              <a:t>互不相关，一般不能推出它们相互独立。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76483">
                                            <p:txEl>
                                              <p:pRg st="0" end="0"/>
                                            </p:txEl>
                                          </p:spTgt>
                                        </p:tgtEl>
                                        <p:attrNameLst>
                                          <p:attrName>style.visibility</p:attrName>
                                        </p:attrNameLst>
                                      </p:cBhvr>
                                      <p:to>
                                        <p:strVal val="visible"/>
                                      </p:to>
                                    </p:set>
                                    <p:animEffect transition="in" filter="slide(fromLeft)">
                                      <p:cBhvr>
                                        <p:cTn id="7" dur="500"/>
                                        <p:tgtEl>
                                          <p:spTgt spid="276483">
                                            <p:txEl>
                                              <p:pRg st="0" end="0"/>
                                            </p:txEl>
                                          </p:spTgt>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276483">
                                            <p:txEl>
                                              <p:pRg st="1" end="1"/>
                                            </p:txEl>
                                          </p:spTgt>
                                        </p:tgtEl>
                                        <p:attrNameLst>
                                          <p:attrName>style.visibility</p:attrName>
                                        </p:attrNameLst>
                                      </p:cBhvr>
                                      <p:to>
                                        <p:strVal val="visible"/>
                                      </p:to>
                                    </p:set>
                                    <p:animEffect transition="in" filter="slide(fromLeft)">
                                      <p:cBhvr>
                                        <p:cTn id="11" dur="500"/>
                                        <p:tgtEl>
                                          <p:spTgt spid="276483">
                                            <p:txEl>
                                              <p:pRg st="1" end="1"/>
                                            </p:txEl>
                                          </p:spTgt>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76483">
                                            <p:txEl>
                                              <p:pRg st="2" end="2"/>
                                            </p:txEl>
                                          </p:spTgt>
                                        </p:tgtEl>
                                        <p:attrNameLst>
                                          <p:attrName>style.visibility</p:attrName>
                                        </p:attrNameLst>
                                      </p:cBhvr>
                                      <p:to>
                                        <p:strVal val="visible"/>
                                      </p:to>
                                    </p:set>
                                    <p:animEffect transition="in" filter="slide(fromLeft)">
                                      <p:cBhvr>
                                        <p:cTn id="15" dur="500"/>
                                        <p:tgtEl>
                                          <p:spTgt spid="276483">
                                            <p:txEl>
                                              <p:pRg st="2" end="2"/>
                                            </p:txEl>
                                          </p:spTgt>
                                        </p:tgtEl>
                                      </p:cBhvr>
                                    </p:animEffect>
                                  </p:childTnLst>
                                </p:cTn>
                              </p:par>
                            </p:childTnLst>
                          </p:cTn>
                        </p:par>
                        <p:par>
                          <p:cTn id="16" fill="hold" nodeType="afterGroup">
                            <p:stCondLst>
                              <p:cond delay="1500"/>
                            </p:stCondLst>
                            <p:childTnLst>
                              <p:par>
                                <p:cTn id="17" presetID="12" presetClass="entr" presetSubtype="8" fill="hold" grpId="0" nodeType="afterEffect">
                                  <p:stCondLst>
                                    <p:cond delay="0"/>
                                  </p:stCondLst>
                                  <p:childTnLst>
                                    <p:set>
                                      <p:cBhvr>
                                        <p:cTn id="18" dur="1" fill="hold">
                                          <p:stCondLst>
                                            <p:cond delay="0"/>
                                          </p:stCondLst>
                                        </p:cTn>
                                        <p:tgtEl>
                                          <p:spTgt spid="276483">
                                            <p:txEl>
                                              <p:pRg st="3" end="3"/>
                                            </p:txEl>
                                          </p:spTgt>
                                        </p:tgtEl>
                                        <p:attrNameLst>
                                          <p:attrName>style.visibility</p:attrName>
                                        </p:attrNameLst>
                                      </p:cBhvr>
                                      <p:to>
                                        <p:strVal val="visible"/>
                                      </p:to>
                                    </p:set>
                                    <p:animEffect transition="in" filter="slide(fromLeft)">
                                      <p:cBhvr>
                                        <p:cTn id="19" dur="500"/>
                                        <p:tgtEl>
                                          <p:spTgt spid="276483">
                                            <p:txEl>
                                              <p:pRg st="3" end="3"/>
                                            </p:txEl>
                                          </p:spTgt>
                                        </p:tgtEl>
                                      </p:cBhvr>
                                    </p:animEffect>
                                  </p:childTnLst>
                                </p:cTn>
                              </p:par>
                            </p:childTnLst>
                          </p:cTn>
                        </p:par>
                        <p:par>
                          <p:cTn id="20" fill="hold" nodeType="afterGroup">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276483">
                                            <p:txEl>
                                              <p:pRg st="4" end="4"/>
                                            </p:txEl>
                                          </p:spTgt>
                                        </p:tgtEl>
                                        <p:attrNameLst>
                                          <p:attrName>style.visibility</p:attrName>
                                        </p:attrNameLst>
                                      </p:cBhvr>
                                      <p:to>
                                        <p:strVal val="visible"/>
                                      </p:to>
                                    </p:set>
                                    <p:animEffect transition="in" filter="slide(fromLeft)">
                                      <p:cBhvr>
                                        <p:cTn id="23" dur="500"/>
                                        <p:tgtEl>
                                          <p:spTgt spid="276483">
                                            <p:txEl>
                                              <p:pRg st="4" end="4"/>
                                            </p:txEl>
                                          </p:spTgt>
                                        </p:tgtEl>
                                      </p:cBhvr>
                                    </p:animEffect>
                                  </p:childTnLst>
                                </p:cTn>
                              </p:par>
                            </p:childTnLst>
                          </p:cTn>
                        </p:par>
                        <p:par>
                          <p:cTn id="24" fill="hold" nodeType="afterGroup">
                            <p:stCondLst>
                              <p:cond delay="2500"/>
                            </p:stCondLst>
                            <p:childTnLst>
                              <p:par>
                                <p:cTn id="25" presetID="12" presetClass="entr" presetSubtype="8" fill="hold" grpId="0" nodeType="afterEffect">
                                  <p:stCondLst>
                                    <p:cond delay="0"/>
                                  </p:stCondLst>
                                  <p:childTnLst>
                                    <p:set>
                                      <p:cBhvr>
                                        <p:cTn id="26" dur="1" fill="hold">
                                          <p:stCondLst>
                                            <p:cond delay="0"/>
                                          </p:stCondLst>
                                        </p:cTn>
                                        <p:tgtEl>
                                          <p:spTgt spid="276483">
                                            <p:txEl>
                                              <p:pRg st="5" end="5"/>
                                            </p:txEl>
                                          </p:spTgt>
                                        </p:tgtEl>
                                        <p:attrNameLst>
                                          <p:attrName>style.visibility</p:attrName>
                                        </p:attrNameLst>
                                      </p:cBhvr>
                                      <p:to>
                                        <p:strVal val="visible"/>
                                      </p:to>
                                    </p:set>
                                    <p:animEffect transition="in" filter="slide(fromLeft)">
                                      <p:cBhvr>
                                        <p:cTn id="27" dur="500"/>
                                        <p:tgtEl>
                                          <p:spTgt spid="27648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276483">
                                            <p:txEl>
                                              <p:pRg st="6" end="6"/>
                                            </p:txEl>
                                          </p:spTgt>
                                        </p:tgtEl>
                                        <p:attrNameLst>
                                          <p:attrName>style.visibility</p:attrName>
                                        </p:attrNameLst>
                                      </p:cBhvr>
                                      <p:to>
                                        <p:strVal val="visible"/>
                                      </p:to>
                                    </p:set>
                                    <p:animEffect transition="in" filter="slide(fromLeft)">
                                      <p:cBhvr>
                                        <p:cTn id="32" dur="500"/>
                                        <p:tgtEl>
                                          <p:spTgt spid="27648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276484"/>
                                        </p:tgtEl>
                                        <p:attrNameLst>
                                          <p:attrName>style.visibility</p:attrName>
                                        </p:attrNameLst>
                                      </p:cBhvr>
                                      <p:to>
                                        <p:strVal val="visible"/>
                                      </p:to>
                                    </p:set>
                                    <p:animEffect transition="in" filter="slide(fromLeft)">
                                      <p:cBhvr>
                                        <p:cTn id="37" dur="500"/>
                                        <p:tgtEl>
                                          <p:spTgt spid="27648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276485"/>
                                        </p:tgtEl>
                                        <p:attrNameLst>
                                          <p:attrName>style.visibility</p:attrName>
                                        </p:attrNameLst>
                                      </p:cBhvr>
                                      <p:to>
                                        <p:strVal val="visible"/>
                                      </p:to>
                                    </p:set>
                                    <p:animEffect transition="in" filter="slide(fromLeft)">
                                      <p:cBhvr>
                                        <p:cTn id="42" dur="500"/>
                                        <p:tgtEl>
                                          <p:spTgt spid="276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3" grpId="0" uiExpand="1" build="p"/>
      <p:bldP spid="276484" grpId="0" autoUpdateAnimBg="0"/>
      <p:bldP spid="276485"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a:extLst>
              <a:ext uri="{FF2B5EF4-FFF2-40B4-BE49-F238E27FC236}">
                <a16:creationId xmlns:a16="http://schemas.microsoft.com/office/drawing/2014/main" id="{206589F5-EFF2-FD9C-B0CA-1260E1FBE548}"/>
              </a:ext>
            </a:extLst>
          </p:cNvPr>
          <p:cNvSpPr>
            <a:spLocks noGrp="1" noChangeArrowheads="1"/>
          </p:cNvSpPr>
          <p:nvPr>
            <p:ph type="title"/>
          </p:nvPr>
        </p:nvSpPr>
        <p:spPr/>
        <p:txBody>
          <a:bodyPr/>
          <a:lstStyle/>
          <a:p>
            <a:pPr algn="l" eaLnBrk="1" hangingPunct="1"/>
            <a:r>
              <a:rPr lang="zh-CN" altLang="en-US" dirty="0"/>
              <a:t>例</a:t>
            </a:r>
            <a:r>
              <a:rPr lang="en-US" altLang="zh-CN" dirty="0"/>
              <a:t>5</a:t>
            </a:r>
          </a:p>
        </p:txBody>
      </p:sp>
      <p:sp>
        <p:nvSpPr>
          <p:cNvPr id="277507" name="Rectangle 3">
            <a:extLst>
              <a:ext uri="{FF2B5EF4-FFF2-40B4-BE49-F238E27FC236}">
                <a16:creationId xmlns:a16="http://schemas.microsoft.com/office/drawing/2014/main" id="{2504FAD1-27AA-7AE5-ECCB-C4A85F1B2E45}"/>
              </a:ext>
            </a:extLst>
          </p:cNvPr>
          <p:cNvSpPr>
            <a:spLocks noGrp="1" noChangeArrowheads="1"/>
          </p:cNvSpPr>
          <p:nvPr>
            <p:ph type="body" idx="1"/>
          </p:nvPr>
        </p:nvSpPr>
        <p:spPr>
          <a:xfrm>
            <a:off x="279400" y="900892"/>
            <a:ext cx="11658600" cy="1825883"/>
          </a:xfrm>
        </p:spPr>
        <p:txBody>
          <a:bodyPr>
            <a:normAutofit/>
          </a:bodyPr>
          <a:lstStyle/>
          <a:p>
            <a:pPr eaLnBrk="1" hangingPunct="1">
              <a:lnSpc>
                <a:spcPct val="160000"/>
              </a:lnSpc>
              <a:buFont typeface="Wingdings" panose="05000000000000000000" pitchFamily="2" charset="2"/>
              <a:buNone/>
            </a:pPr>
            <a:r>
              <a:rPr lang="zh-CN" altLang="en-US" dirty="0"/>
              <a:t>给定随机过程</a:t>
            </a:r>
            <a:r>
              <a:rPr lang="en-US" altLang="zh-CN" dirty="0"/>
              <a:t>{X(t),t≥0}</a:t>
            </a:r>
            <a:r>
              <a:rPr lang="zh-CN" altLang="en-US" dirty="0"/>
              <a:t>，</a:t>
            </a:r>
            <a:r>
              <a:rPr lang="en-US" altLang="zh-CN" dirty="0"/>
              <a:t>X(t)</a:t>
            </a:r>
            <a:r>
              <a:rPr lang="zh-CN" altLang="en-US" dirty="0"/>
              <a:t>＝</a:t>
            </a:r>
            <a:r>
              <a:rPr lang="en-US" altLang="zh-CN" dirty="0"/>
              <a:t>X</a:t>
            </a:r>
            <a:r>
              <a:rPr lang="en-US" altLang="zh-CN" baseline="-25000" dirty="0"/>
              <a:t>0</a:t>
            </a:r>
            <a:r>
              <a:rPr lang="zh-CN" altLang="en-US" dirty="0"/>
              <a:t>＋</a:t>
            </a:r>
            <a:r>
              <a:rPr lang="en-US" altLang="zh-CN" dirty="0"/>
              <a:t>Vt</a:t>
            </a:r>
            <a:r>
              <a:rPr lang="zh-CN" altLang="en-US" dirty="0"/>
              <a:t>，</a:t>
            </a:r>
            <a:r>
              <a:rPr lang="en-US" altLang="zh-CN" dirty="0"/>
              <a:t>t≥0</a:t>
            </a:r>
          </a:p>
          <a:p>
            <a:pPr eaLnBrk="1" hangingPunct="1">
              <a:lnSpc>
                <a:spcPct val="160000"/>
              </a:lnSpc>
              <a:buFont typeface="Wingdings" panose="05000000000000000000" pitchFamily="2" charset="2"/>
              <a:buNone/>
            </a:pPr>
            <a:r>
              <a:rPr lang="zh-CN" altLang="en-US" dirty="0"/>
              <a:t>其中</a:t>
            </a:r>
            <a:r>
              <a:rPr lang="en-US" altLang="zh-CN" dirty="0"/>
              <a:t>X</a:t>
            </a:r>
            <a:r>
              <a:rPr lang="en-US" altLang="zh-CN" baseline="-25000" dirty="0"/>
              <a:t>0</a:t>
            </a:r>
            <a:r>
              <a:rPr lang="zh-CN" altLang="en-US" dirty="0"/>
              <a:t>与</a:t>
            </a:r>
            <a:r>
              <a:rPr lang="en-US" altLang="zh-CN" dirty="0"/>
              <a:t>V</a:t>
            </a:r>
            <a:r>
              <a:rPr lang="zh-CN" altLang="en-US" dirty="0"/>
              <a:t>是相互独立的随机变量，它们都服从</a:t>
            </a:r>
            <a:r>
              <a:rPr lang="en-US" altLang="zh-CN" dirty="0"/>
              <a:t>N(0,1)</a:t>
            </a:r>
            <a:r>
              <a:rPr lang="zh-CN" altLang="en-US" dirty="0"/>
              <a:t>。求其数字特征和一、二维概</a:t>
            </a:r>
            <a:endParaRPr lang="en-US" altLang="zh-CN" dirty="0"/>
          </a:p>
          <a:p>
            <a:pPr eaLnBrk="1" hangingPunct="1">
              <a:lnSpc>
                <a:spcPct val="160000"/>
              </a:lnSpc>
              <a:buFont typeface="Wingdings" panose="05000000000000000000" pitchFamily="2" charset="2"/>
              <a:buNone/>
            </a:pPr>
            <a:r>
              <a:rPr lang="zh-CN" altLang="en-US" dirty="0"/>
              <a:t>率密度。</a:t>
            </a:r>
          </a:p>
        </p:txBody>
      </p:sp>
      <p:sp>
        <p:nvSpPr>
          <p:cNvPr id="277508" name="Rectangle 4">
            <a:extLst>
              <a:ext uri="{FF2B5EF4-FFF2-40B4-BE49-F238E27FC236}">
                <a16:creationId xmlns:a16="http://schemas.microsoft.com/office/drawing/2014/main" id="{D87E4BA4-44DB-846C-5C5C-C97015BE4C2E}"/>
              </a:ext>
            </a:extLst>
          </p:cNvPr>
          <p:cNvSpPr>
            <a:spLocks noChangeArrowheads="1"/>
          </p:cNvSpPr>
          <p:nvPr/>
        </p:nvSpPr>
        <p:spPr bwMode="auto">
          <a:xfrm>
            <a:off x="460375" y="2891823"/>
            <a:ext cx="78504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C00000"/>
                </a:solidFill>
                <a:latin typeface="+mn-ea"/>
                <a:ea typeface="+mn-ea"/>
              </a:rPr>
              <a:t>解 </a:t>
            </a:r>
            <a:r>
              <a:rPr lang="zh-CN" altLang="en-US" b="1" dirty="0">
                <a:latin typeface="+mn-ea"/>
                <a:ea typeface="+mn-ea"/>
              </a:rPr>
              <a:t> </a:t>
            </a:r>
            <a:r>
              <a:rPr lang="en-US" altLang="zh-CN" b="1" dirty="0">
                <a:solidFill>
                  <a:srgbClr val="6600CC"/>
                </a:solidFill>
                <a:latin typeface="+mn-ea"/>
                <a:ea typeface="+mn-ea"/>
              </a:rPr>
              <a:t>1.  </a:t>
            </a:r>
            <a:r>
              <a:rPr lang="zh-CN" altLang="en-US" b="1" dirty="0">
                <a:solidFill>
                  <a:srgbClr val="0000FF"/>
                </a:solidFill>
                <a:latin typeface="+mn-ea"/>
                <a:ea typeface="+mn-ea"/>
              </a:rPr>
              <a:t>均值函数</a:t>
            </a:r>
            <a:r>
              <a:rPr lang="en-US" altLang="zh-CN" b="1" dirty="0">
                <a:latin typeface="+mn-ea"/>
                <a:ea typeface="+mn-ea"/>
              </a:rPr>
              <a:t>m(t)</a:t>
            </a:r>
            <a:r>
              <a:rPr lang="zh-CN" altLang="en-US" b="1" dirty="0">
                <a:latin typeface="+mn-ea"/>
                <a:ea typeface="+mn-ea"/>
              </a:rPr>
              <a:t>＝</a:t>
            </a:r>
            <a:r>
              <a:rPr lang="en-US" altLang="zh-CN" b="1" dirty="0">
                <a:latin typeface="+mn-ea"/>
                <a:ea typeface="+mn-ea"/>
              </a:rPr>
              <a:t>E[X(t)]=E(X</a:t>
            </a:r>
            <a:r>
              <a:rPr lang="en-US" altLang="zh-CN" b="1" baseline="-25000" dirty="0">
                <a:latin typeface="+mn-ea"/>
                <a:ea typeface="+mn-ea"/>
              </a:rPr>
              <a:t>0</a:t>
            </a:r>
            <a:r>
              <a:rPr lang="en-US" altLang="zh-CN" b="1" dirty="0">
                <a:latin typeface="+mn-ea"/>
                <a:ea typeface="+mn-ea"/>
              </a:rPr>
              <a:t>)</a:t>
            </a:r>
            <a:r>
              <a:rPr lang="zh-CN" altLang="en-US" b="1" dirty="0">
                <a:latin typeface="+mn-ea"/>
                <a:ea typeface="+mn-ea"/>
              </a:rPr>
              <a:t>＋</a:t>
            </a:r>
            <a:r>
              <a:rPr lang="en-US" altLang="zh-CN" b="1" dirty="0" err="1">
                <a:latin typeface="+mn-ea"/>
                <a:ea typeface="+mn-ea"/>
              </a:rPr>
              <a:t>tE</a:t>
            </a:r>
            <a:r>
              <a:rPr lang="en-US" altLang="zh-CN" b="1" dirty="0">
                <a:latin typeface="+mn-ea"/>
                <a:ea typeface="+mn-ea"/>
              </a:rPr>
              <a:t>(V)</a:t>
            </a:r>
            <a:r>
              <a:rPr lang="zh-CN" altLang="en-US" b="1" dirty="0">
                <a:latin typeface="+mn-ea"/>
                <a:ea typeface="+mn-ea"/>
              </a:rPr>
              <a:t>＝</a:t>
            </a:r>
            <a:r>
              <a:rPr lang="en-US" altLang="zh-CN" b="1" dirty="0">
                <a:latin typeface="+mn-ea"/>
                <a:ea typeface="+mn-ea"/>
              </a:rPr>
              <a:t>0</a:t>
            </a:r>
            <a:r>
              <a:rPr lang="zh-CN" altLang="en-US" b="1" dirty="0">
                <a:latin typeface="+mn-ea"/>
                <a:ea typeface="+mn-ea"/>
              </a:rPr>
              <a:t>；</a:t>
            </a:r>
          </a:p>
        </p:txBody>
      </p:sp>
      <p:sp>
        <p:nvSpPr>
          <p:cNvPr id="277509" name="Rectangle 5">
            <a:extLst>
              <a:ext uri="{FF2B5EF4-FFF2-40B4-BE49-F238E27FC236}">
                <a16:creationId xmlns:a16="http://schemas.microsoft.com/office/drawing/2014/main" id="{3443C1EC-6D59-498B-353E-27B276DBFF32}"/>
              </a:ext>
            </a:extLst>
          </p:cNvPr>
          <p:cNvSpPr>
            <a:spLocks noChangeArrowheads="1"/>
          </p:cNvSpPr>
          <p:nvPr/>
        </p:nvSpPr>
        <p:spPr bwMode="auto">
          <a:xfrm>
            <a:off x="460375" y="3506100"/>
            <a:ext cx="11277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6600CC"/>
                </a:solidFill>
                <a:latin typeface="+mn-ea"/>
                <a:ea typeface="+mn-ea"/>
              </a:rPr>
              <a:t>2.  </a:t>
            </a:r>
            <a:r>
              <a:rPr lang="zh-CN" altLang="en-US" b="1" dirty="0">
                <a:solidFill>
                  <a:srgbClr val="0000FF"/>
                </a:solidFill>
                <a:latin typeface="+mn-ea"/>
                <a:ea typeface="+mn-ea"/>
              </a:rPr>
              <a:t>方差函数</a:t>
            </a:r>
            <a:r>
              <a:rPr lang="en-US" altLang="zh-CN" b="1" dirty="0">
                <a:latin typeface="+mn-ea"/>
                <a:ea typeface="+mn-ea"/>
              </a:rPr>
              <a:t>D(t)</a:t>
            </a:r>
            <a:r>
              <a:rPr lang="zh-CN" altLang="en-US" b="1" dirty="0">
                <a:latin typeface="+mn-ea"/>
                <a:ea typeface="+mn-ea"/>
              </a:rPr>
              <a:t>＝</a:t>
            </a:r>
            <a:r>
              <a:rPr lang="en-US" altLang="zh-CN" b="1" dirty="0">
                <a:latin typeface="+mn-ea"/>
                <a:ea typeface="+mn-ea"/>
              </a:rPr>
              <a:t>E[X</a:t>
            </a:r>
            <a:r>
              <a:rPr lang="en-US" altLang="zh-CN" b="1" baseline="30000" dirty="0">
                <a:latin typeface="+mn-ea"/>
                <a:ea typeface="+mn-ea"/>
              </a:rPr>
              <a:t>2</a:t>
            </a:r>
            <a:r>
              <a:rPr lang="en-US" altLang="zh-CN" b="1" dirty="0">
                <a:latin typeface="+mn-ea"/>
                <a:ea typeface="+mn-ea"/>
              </a:rPr>
              <a:t>(t)]-m</a:t>
            </a:r>
            <a:r>
              <a:rPr lang="en-US" altLang="zh-CN" b="1" baseline="30000" dirty="0">
                <a:latin typeface="+mn-ea"/>
                <a:ea typeface="+mn-ea"/>
              </a:rPr>
              <a:t>2</a:t>
            </a:r>
            <a:r>
              <a:rPr lang="en-US" altLang="zh-CN" b="1" dirty="0">
                <a:latin typeface="+mn-ea"/>
                <a:ea typeface="+mn-ea"/>
              </a:rPr>
              <a:t>(t)=E(X</a:t>
            </a:r>
            <a:r>
              <a:rPr lang="en-US" altLang="zh-CN" b="1" baseline="-25000" dirty="0">
                <a:latin typeface="+mn-ea"/>
                <a:ea typeface="+mn-ea"/>
              </a:rPr>
              <a:t>0</a:t>
            </a:r>
            <a:r>
              <a:rPr lang="zh-CN" altLang="en-US" b="1" dirty="0">
                <a:latin typeface="+mn-ea"/>
                <a:ea typeface="+mn-ea"/>
              </a:rPr>
              <a:t>＋</a:t>
            </a:r>
            <a:r>
              <a:rPr lang="en-US" altLang="zh-CN" b="1" dirty="0">
                <a:latin typeface="+mn-ea"/>
                <a:ea typeface="+mn-ea"/>
              </a:rPr>
              <a:t>Vt)</a:t>
            </a:r>
            <a:r>
              <a:rPr lang="en-US" altLang="zh-CN" b="1" baseline="30000" dirty="0">
                <a:latin typeface="+mn-ea"/>
                <a:ea typeface="+mn-ea"/>
              </a:rPr>
              <a:t>2</a:t>
            </a:r>
            <a:r>
              <a:rPr lang="en-US" altLang="zh-CN" b="1" dirty="0">
                <a:latin typeface="+mn-ea"/>
                <a:ea typeface="+mn-ea"/>
              </a:rPr>
              <a:t>-0</a:t>
            </a:r>
          </a:p>
          <a:p>
            <a:pPr eaLnBrk="1" hangingPunct="1"/>
            <a:r>
              <a:rPr lang="en-US" altLang="zh-CN" b="1" dirty="0">
                <a:latin typeface="+mn-ea"/>
                <a:ea typeface="+mn-ea"/>
              </a:rPr>
              <a:t>		  </a:t>
            </a:r>
            <a:r>
              <a:rPr lang="zh-CN" altLang="en-US" b="1" dirty="0">
                <a:latin typeface="+mn-ea"/>
                <a:ea typeface="+mn-ea"/>
              </a:rPr>
              <a:t>＝</a:t>
            </a:r>
            <a:r>
              <a:rPr lang="en-US" altLang="zh-CN" b="1" dirty="0">
                <a:latin typeface="+mn-ea"/>
                <a:ea typeface="+mn-ea"/>
              </a:rPr>
              <a:t>E(X</a:t>
            </a:r>
            <a:r>
              <a:rPr lang="en-US" altLang="zh-CN" b="1" baseline="-25000" dirty="0">
                <a:latin typeface="+mn-ea"/>
                <a:ea typeface="+mn-ea"/>
              </a:rPr>
              <a:t>0</a:t>
            </a:r>
            <a:r>
              <a:rPr lang="en-US" altLang="zh-CN" b="1" baseline="30000" dirty="0">
                <a:latin typeface="+mn-ea"/>
                <a:ea typeface="+mn-ea"/>
              </a:rPr>
              <a:t>2</a:t>
            </a:r>
            <a:r>
              <a:rPr lang="en-US" altLang="zh-CN" b="1" dirty="0">
                <a:latin typeface="+mn-ea"/>
                <a:ea typeface="+mn-ea"/>
              </a:rPr>
              <a:t>)</a:t>
            </a:r>
            <a:r>
              <a:rPr lang="zh-CN" altLang="en-US" b="1" dirty="0">
                <a:latin typeface="+mn-ea"/>
                <a:ea typeface="+mn-ea"/>
              </a:rPr>
              <a:t>＋</a:t>
            </a:r>
            <a:r>
              <a:rPr lang="en-US" altLang="zh-CN" b="1" dirty="0">
                <a:latin typeface="+mn-ea"/>
                <a:ea typeface="+mn-ea"/>
              </a:rPr>
              <a:t>2tE(X</a:t>
            </a:r>
            <a:r>
              <a:rPr lang="en-US" altLang="zh-CN" b="1" baseline="-25000" dirty="0">
                <a:latin typeface="+mn-ea"/>
                <a:ea typeface="+mn-ea"/>
              </a:rPr>
              <a:t>0</a:t>
            </a:r>
            <a:r>
              <a:rPr lang="en-US" altLang="zh-CN" b="1" dirty="0">
                <a:latin typeface="+mn-ea"/>
                <a:ea typeface="+mn-ea"/>
              </a:rPr>
              <a:t>V)+t</a:t>
            </a:r>
            <a:r>
              <a:rPr lang="en-US" altLang="zh-CN" b="1" baseline="30000" dirty="0">
                <a:latin typeface="+mn-ea"/>
                <a:ea typeface="+mn-ea"/>
              </a:rPr>
              <a:t>2</a:t>
            </a:r>
            <a:r>
              <a:rPr lang="en-US" altLang="zh-CN" b="1" dirty="0">
                <a:latin typeface="+mn-ea"/>
                <a:ea typeface="+mn-ea"/>
              </a:rPr>
              <a:t>E(V</a:t>
            </a:r>
            <a:r>
              <a:rPr lang="en-US" altLang="zh-CN" b="1" baseline="30000" dirty="0">
                <a:latin typeface="+mn-ea"/>
                <a:ea typeface="+mn-ea"/>
              </a:rPr>
              <a:t>2</a:t>
            </a:r>
            <a:r>
              <a:rPr lang="en-US" altLang="zh-CN" b="1" dirty="0">
                <a:latin typeface="+mn-ea"/>
                <a:ea typeface="+mn-ea"/>
              </a:rPr>
              <a:t>)</a:t>
            </a:r>
          </a:p>
          <a:p>
            <a:pPr eaLnBrk="1" hangingPunct="1"/>
            <a:r>
              <a:rPr lang="en-US" altLang="zh-CN" b="1" dirty="0">
                <a:latin typeface="+mn-ea"/>
                <a:ea typeface="+mn-ea"/>
              </a:rPr>
              <a:t>		  </a:t>
            </a:r>
            <a:r>
              <a:rPr lang="zh-CN" altLang="en-US" b="1" dirty="0">
                <a:latin typeface="+mn-ea"/>
                <a:ea typeface="+mn-ea"/>
              </a:rPr>
              <a:t>＝</a:t>
            </a:r>
            <a:r>
              <a:rPr lang="en-US" altLang="zh-CN" b="1" dirty="0">
                <a:latin typeface="+mn-ea"/>
                <a:ea typeface="+mn-ea"/>
              </a:rPr>
              <a:t>1+t</a:t>
            </a:r>
            <a:r>
              <a:rPr lang="en-US" altLang="zh-CN" b="1" baseline="30000" dirty="0">
                <a:latin typeface="+mn-ea"/>
                <a:ea typeface="+mn-ea"/>
              </a:rPr>
              <a:t>2</a:t>
            </a:r>
            <a:r>
              <a:rPr lang="zh-CN" altLang="en-US" b="1" dirty="0">
                <a:latin typeface="+mn-ea"/>
                <a:ea typeface="+mn-ea"/>
              </a:rPr>
              <a:t>；</a:t>
            </a:r>
          </a:p>
        </p:txBody>
      </p:sp>
      <p:sp>
        <p:nvSpPr>
          <p:cNvPr id="277510" name="Rectangle 6">
            <a:extLst>
              <a:ext uri="{FF2B5EF4-FFF2-40B4-BE49-F238E27FC236}">
                <a16:creationId xmlns:a16="http://schemas.microsoft.com/office/drawing/2014/main" id="{D9F9AD56-AFFF-FD78-5472-BDC1C24D82CE}"/>
              </a:ext>
            </a:extLst>
          </p:cNvPr>
          <p:cNvSpPr>
            <a:spLocks noChangeArrowheads="1"/>
          </p:cNvSpPr>
          <p:nvPr/>
        </p:nvSpPr>
        <p:spPr bwMode="auto">
          <a:xfrm>
            <a:off x="460375" y="4649364"/>
            <a:ext cx="11430000"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lang="en-US" altLang="zh-CN" b="1" dirty="0">
                <a:solidFill>
                  <a:srgbClr val="6600CC"/>
                </a:solidFill>
                <a:latin typeface="+mn-ea"/>
                <a:ea typeface="+mn-ea"/>
              </a:rPr>
              <a:t>3. </a:t>
            </a:r>
            <a:r>
              <a:rPr lang="zh-CN" altLang="en-US" b="1" dirty="0">
                <a:solidFill>
                  <a:srgbClr val="0000FF"/>
                </a:solidFill>
                <a:latin typeface="+mn-ea"/>
                <a:ea typeface="+mn-ea"/>
              </a:rPr>
              <a:t>一维概率密度  </a:t>
            </a:r>
            <a:r>
              <a:rPr lang="zh-CN" altLang="en-US" b="1" dirty="0">
                <a:latin typeface="+mn-ea"/>
                <a:ea typeface="+mn-ea"/>
              </a:rPr>
              <a:t>因为</a:t>
            </a:r>
            <a:r>
              <a:rPr lang="en-US" altLang="zh-CN" b="1" dirty="0">
                <a:latin typeface="+mn-ea"/>
                <a:ea typeface="+mn-ea"/>
              </a:rPr>
              <a:t>X</a:t>
            </a:r>
            <a:r>
              <a:rPr lang="en-US" altLang="zh-CN" b="1" baseline="-25000" dirty="0">
                <a:latin typeface="+mn-ea"/>
                <a:ea typeface="+mn-ea"/>
              </a:rPr>
              <a:t>0</a:t>
            </a:r>
            <a:r>
              <a:rPr lang="zh-CN" altLang="en-US" b="1" dirty="0">
                <a:latin typeface="+mn-ea"/>
                <a:ea typeface="+mn-ea"/>
              </a:rPr>
              <a:t>与</a:t>
            </a:r>
            <a:r>
              <a:rPr lang="en-US" altLang="zh-CN" b="1" dirty="0">
                <a:latin typeface="+mn-ea"/>
                <a:ea typeface="+mn-ea"/>
              </a:rPr>
              <a:t>V</a:t>
            </a:r>
            <a:r>
              <a:rPr lang="zh-CN" altLang="en-US" b="1" dirty="0">
                <a:latin typeface="+mn-ea"/>
                <a:ea typeface="+mn-ea"/>
              </a:rPr>
              <a:t>相互独立且都服从</a:t>
            </a:r>
            <a:r>
              <a:rPr lang="en-US" altLang="zh-CN" b="1" dirty="0">
                <a:latin typeface="+mn-ea"/>
                <a:ea typeface="+mn-ea"/>
              </a:rPr>
              <a:t>N(0,1)</a:t>
            </a:r>
            <a:r>
              <a:rPr lang="zh-CN" altLang="en-US" b="1" dirty="0">
                <a:latin typeface="+mn-ea"/>
                <a:ea typeface="+mn-ea"/>
              </a:rPr>
              <a:t>，故</a:t>
            </a:r>
            <a:r>
              <a:rPr lang="en-US" altLang="zh-CN" b="1" dirty="0">
                <a:latin typeface="+mn-ea"/>
                <a:ea typeface="+mn-ea"/>
              </a:rPr>
              <a:t>X(t)</a:t>
            </a:r>
            <a:r>
              <a:rPr lang="zh-CN" altLang="en-US" b="1" dirty="0">
                <a:latin typeface="+mn-ea"/>
                <a:ea typeface="+mn-ea"/>
              </a:rPr>
              <a:t>＝</a:t>
            </a:r>
            <a:r>
              <a:rPr lang="en-US" altLang="zh-CN" b="1" dirty="0">
                <a:latin typeface="+mn-ea"/>
                <a:ea typeface="+mn-ea"/>
              </a:rPr>
              <a:t>X</a:t>
            </a:r>
            <a:r>
              <a:rPr lang="en-US" altLang="zh-CN" b="1" baseline="-25000" dirty="0">
                <a:latin typeface="+mn-ea"/>
                <a:ea typeface="+mn-ea"/>
              </a:rPr>
              <a:t>0</a:t>
            </a:r>
            <a:r>
              <a:rPr lang="zh-CN" altLang="en-US" b="1" dirty="0">
                <a:latin typeface="+mn-ea"/>
                <a:ea typeface="+mn-ea"/>
              </a:rPr>
              <a:t>＋</a:t>
            </a:r>
            <a:r>
              <a:rPr lang="en-US" altLang="zh-CN" b="1" dirty="0">
                <a:latin typeface="+mn-ea"/>
                <a:ea typeface="+mn-ea"/>
              </a:rPr>
              <a:t>Vt</a:t>
            </a:r>
            <a:r>
              <a:rPr lang="zh-CN" altLang="en-US" b="1" dirty="0">
                <a:latin typeface="+mn-ea"/>
                <a:ea typeface="+mn-ea"/>
              </a:rPr>
              <a:t>服从正态分布</a:t>
            </a:r>
            <a:r>
              <a:rPr lang="en-US" altLang="zh-CN" b="1" dirty="0">
                <a:latin typeface="+mn-ea"/>
                <a:ea typeface="+mn-ea"/>
              </a:rPr>
              <a:t>N(0,1+t</a:t>
            </a:r>
            <a:r>
              <a:rPr lang="en-US" altLang="zh-CN" b="1" baseline="30000" dirty="0">
                <a:latin typeface="+mn-ea"/>
                <a:ea typeface="+mn-ea"/>
              </a:rPr>
              <a:t>2</a:t>
            </a:r>
            <a:r>
              <a:rPr lang="en-US" altLang="zh-CN" b="1" dirty="0">
                <a:latin typeface="+mn-ea"/>
                <a:ea typeface="+mn-ea"/>
              </a:rPr>
              <a:t>)</a:t>
            </a:r>
            <a:r>
              <a:rPr lang="zh-CN" altLang="en-US" b="1" dirty="0">
                <a:latin typeface="+mn-ea"/>
                <a:ea typeface="+mn-ea"/>
              </a:rPr>
              <a:t>，所以</a:t>
            </a:r>
            <a:r>
              <a:rPr lang="en-US" altLang="zh-CN" b="1" dirty="0">
                <a:latin typeface="+mn-ea"/>
                <a:ea typeface="+mn-ea"/>
              </a:rPr>
              <a:t>{X(t),t≥0}</a:t>
            </a:r>
            <a:r>
              <a:rPr lang="zh-CN" altLang="en-US" b="1" dirty="0">
                <a:latin typeface="+mn-ea"/>
                <a:ea typeface="+mn-ea"/>
              </a:rPr>
              <a:t>的一维概率密度为：</a:t>
            </a:r>
          </a:p>
        </p:txBody>
      </p:sp>
      <mc:AlternateContent xmlns:mc="http://schemas.openxmlformats.org/markup-compatibility/2006" xmlns:a14="http://schemas.microsoft.com/office/drawing/2010/main">
        <mc:Choice Requires="a14">
          <p:sp>
            <p:nvSpPr>
              <p:cNvPr id="277511" name="Object 7">
                <a:extLst>
                  <a:ext uri="{FF2B5EF4-FFF2-40B4-BE49-F238E27FC236}">
                    <a16:creationId xmlns:a16="http://schemas.microsoft.com/office/drawing/2014/main" id="{29D78F25-F385-4935-E1F7-F44D46930E7A}"/>
                  </a:ext>
                </a:extLst>
              </p:cNvPr>
              <p:cNvSpPr txBox="1"/>
              <p:nvPr/>
            </p:nvSpPr>
            <p:spPr bwMode="auto">
              <a:xfrm>
                <a:off x="1259787" y="5719499"/>
                <a:ext cx="9678776" cy="114008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e>
                          </m:rad>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den>
                          </m:f>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≥0,−∞&lt;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&lt;+∞</m:t>
                      </m:r>
                    </m:oMath>
                  </m:oMathPara>
                </a14:m>
                <a:endParaRPr lang="zh-CN" altLang="en-US" dirty="0">
                  <a:latin typeface="+mn-ea"/>
                </a:endParaRPr>
              </a:p>
            </p:txBody>
          </p:sp>
        </mc:Choice>
        <mc:Fallback xmlns="">
          <p:sp>
            <p:nvSpPr>
              <p:cNvPr id="277511" name="Object 7">
                <a:extLst>
                  <a:ext uri="{FF2B5EF4-FFF2-40B4-BE49-F238E27FC236}">
                    <a16:creationId xmlns:a16="http://schemas.microsoft.com/office/drawing/2014/main" id="{29D78F25-F385-4935-E1F7-F44D46930E7A}"/>
                  </a:ext>
                </a:extLst>
              </p:cNvPr>
              <p:cNvSpPr txBox="1">
                <a:spLocks noRot="1" noChangeAspect="1" noMove="1" noResize="1" noEditPoints="1" noAdjustHandles="1" noChangeArrowheads="1" noChangeShapeType="1" noTextEdit="1"/>
              </p:cNvSpPr>
              <p:nvPr/>
            </p:nvSpPr>
            <p:spPr bwMode="auto">
              <a:xfrm>
                <a:off x="1259787" y="5719499"/>
                <a:ext cx="9678776" cy="1140089"/>
              </a:xfrm>
              <a:prstGeom prst="rect">
                <a:avLst/>
              </a:prstGeom>
              <a:blipFill>
                <a:blip r:embed="rId3"/>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7507">
                                            <p:txEl>
                                              <p:pRg st="0" end="0"/>
                                            </p:txEl>
                                          </p:spTgt>
                                        </p:tgtEl>
                                        <p:attrNameLst>
                                          <p:attrName>style.visibility</p:attrName>
                                        </p:attrNameLst>
                                      </p:cBhvr>
                                      <p:to>
                                        <p:strVal val="visible"/>
                                      </p:to>
                                    </p:set>
                                    <p:anim calcmode="lin" valueType="num">
                                      <p:cBhvr additive="base">
                                        <p:cTn id="7" dur="500" fill="hold"/>
                                        <p:tgtEl>
                                          <p:spTgt spid="277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750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7507">
                                            <p:txEl>
                                              <p:pRg st="1" end="1"/>
                                            </p:txEl>
                                          </p:spTgt>
                                        </p:tgtEl>
                                        <p:attrNameLst>
                                          <p:attrName>style.visibility</p:attrName>
                                        </p:attrNameLst>
                                      </p:cBhvr>
                                      <p:to>
                                        <p:strVal val="visible"/>
                                      </p:to>
                                    </p:set>
                                    <p:anim calcmode="lin" valueType="num">
                                      <p:cBhvr additive="base">
                                        <p:cTn id="12" dur="500" fill="hold"/>
                                        <p:tgtEl>
                                          <p:spTgt spid="27750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7750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77507">
                                            <p:txEl>
                                              <p:pRg st="2" end="2"/>
                                            </p:txEl>
                                          </p:spTgt>
                                        </p:tgtEl>
                                        <p:attrNameLst>
                                          <p:attrName>style.visibility</p:attrName>
                                        </p:attrNameLst>
                                      </p:cBhvr>
                                      <p:to>
                                        <p:strVal val="visible"/>
                                      </p:to>
                                    </p:set>
                                    <p:anim calcmode="lin" valueType="num">
                                      <p:cBhvr additive="base">
                                        <p:cTn id="17" dur="500" fill="hold"/>
                                        <p:tgtEl>
                                          <p:spTgt spid="27750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75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277508"/>
                                        </p:tgtEl>
                                        <p:attrNameLst>
                                          <p:attrName>style.visibility</p:attrName>
                                        </p:attrNameLst>
                                      </p:cBhvr>
                                      <p:to>
                                        <p:strVal val="visible"/>
                                      </p:to>
                                    </p:set>
                                    <p:animEffect transition="in" filter="slide(fromLeft)">
                                      <p:cBhvr>
                                        <p:cTn id="23" dur="500"/>
                                        <p:tgtEl>
                                          <p:spTgt spid="27750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277509"/>
                                        </p:tgtEl>
                                        <p:attrNameLst>
                                          <p:attrName>style.visibility</p:attrName>
                                        </p:attrNameLst>
                                      </p:cBhvr>
                                      <p:to>
                                        <p:strVal val="visible"/>
                                      </p:to>
                                    </p:set>
                                    <p:animEffect transition="in" filter="slide(fromLeft)">
                                      <p:cBhvr>
                                        <p:cTn id="28" dur="500"/>
                                        <p:tgtEl>
                                          <p:spTgt spid="27750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277510"/>
                                        </p:tgtEl>
                                        <p:attrNameLst>
                                          <p:attrName>style.visibility</p:attrName>
                                        </p:attrNameLst>
                                      </p:cBhvr>
                                      <p:to>
                                        <p:strVal val="visible"/>
                                      </p:to>
                                    </p:set>
                                    <p:animEffect transition="in" filter="slide(fromLeft)">
                                      <p:cBhvr>
                                        <p:cTn id="33" dur="500"/>
                                        <p:tgtEl>
                                          <p:spTgt spid="277510"/>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277511"/>
                                        </p:tgtEl>
                                        <p:attrNameLst>
                                          <p:attrName>style.visibility</p:attrName>
                                        </p:attrNameLst>
                                      </p:cBhvr>
                                      <p:to>
                                        <p:strVal val="visible"/>
                                      </p:to>
                                    </p:set>
                                    <p:animEffect transition="in" filter="randombar(horizontal)">
                                      <p:cBhvr>
                                        <p:cTn id="38" dur="500"/>
                                        <p:tgtEl>
                                          <p:spTgt spid="277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7" grpId="0" build="p"/>
      <p:bldP spid="277508" grpId="0" autoUpdateAnimBg="0"/>
      <p:bldP spid="277509" grpId="0" autoUpdateAnimBg="0"/>
      <p:bldP spid="277510" grpId="0" autoUpdateAnimBg="0"/>
      <p:bldP spid="2775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a:extLst>
              <a:ext uri="{FF2B5EF4-FFF2-40B4-BE49-F238E27FC236}">
                <a16:creationId xmlns:a16="http://schemas.microsoft.com/office/drawing/2014/main" id="{AE61A812-396E-23F6-801A-57B56B0B252D}"/>
              </a:ext>
            </a:extLst>
          </p:cNvPr>
          <p:cNvSpPr>
            <a:spLocks noGrp="1" noChangeArrowheads="1"/>
          </p:cNvSpPr>
          <p:nvPr>
            <p:ph type="title"/>
          </p:nvPr>
        </p:nvSpPr>
        <p:spPr/>
        <p:txBody>
          <a:bodyPr/>
          <a:lstStyle/>
          <a:p>
            <a:pPr algn="l" eaLnBrk="1" hangingPunct="1"/>
            <a:r>
              <a:rPr lang="zh-CN" altLang="en-US" dirty="0"/>
              <a:t>例</a:t>
            </a:r>
            <a:r>
              <a:rPr lang="en-US" altLang="zh-CN" dirty="0"/>
              <a:t>5(</a:t>
            </a:r>
            <a:r>
              <a:rPr lang="zh-CN" altLang="en-US" dirty="0"/>
              <a:t>续</a:t>
            </a:r>
            <a:r>
              <a:rPr lang="en-US" altLang="zh-CN" dirty="0"/>
              <a:t>1)</a:t>
            </a:r>
          </a:p>
        </p:txBody>
      </p:sp>
      <p:sp>
        <p:nvSpPr>
          <p:cNvPr id="278531" name="Rectangle 3">
            <a:extLst>
              <a:ext uri="{FF2B5EF4-FFF2-40B4-BE49-F238E27FC236}">
                <a16:creationId xmlns:a16="http://schemas.microsoft.com/office/drawing/2014/main" id="{6AE8FF4B-08B4-1291-21E1-38FD12AD7CA0}"/>
              </a:ext>
            </a:extLst>
          </p:cNvPr>
          <p:cNvSpPr>
            <a:spLocks noGrp="1" noChangeArrowheads="1"/>
          </p:cNvSpPr>
          <p:nvPr>
            <p:ph type="body" idx="1"/>
          </p:nvPr>
        </p:nvSpPr>
        <p:spPr>
          <a:xfrm>
            <a:off x="486462" y="934441"/>
            <a:ext cx="9983205" cy="2965677"/>
          </a:xfrm>
        </p:spPr>
        <p:txBody>
          <a:bodyPr>
            <a:normAutofit fontScale="92500"/>
          </a:bodyPr>
          <a:lstStyle/>
          <a:p>
            <a:pPr eaLnBrk="1" hangingPunct="1">
              <a:lnSpc>
                <a:spcPct val="170000"/>
              </a:lnSpc>
              <a:buFont typeface="Wingdings" panose="05000000000000000000" pitchFamily="2" charset="2"/>
              <a:buNone/>
            </a:pPr>
            <a:r>
              <a:rPr lang="en-US" altLang="zh-CN" dirty="0">
                <a:solidFill>
                  <a:srgbClr val="6600CC"/>
                </a:solidFill>
              </a:rPr>
              <a:t>4.  </a:t>
            </a:r>
            <a:r>
              <a:rPr lang="zh-CN" altLang="en-US" dirty="0">
                <a:solidFill>
                  <a:srgbClr val="0000FF"/>
                </a:solidFill>
              </a:rPr>
              <a:t>协方差函数与相关函数</a:t>
            </a:r>
          </a:p>
          <a:p>
            <a:pPr eaLnBrk="1" hangingPunct="1">
              <a:lnSpc>
                <a:spcPct val="170000"/>
              </a:lnSpc>
              <a:buFont typeface="Wingdings" panose="05000000000000000000" pitchFamily="2" charset="2"/>
              <a:buNone/>
            </a:pPr>
            <a:r>
              <a:rPr lang="zh-CN" altLang="en-US" dirty="0"/>
              <a:t>	因为</a:t>
            </a:r>
            <a:r>
              <a:rPr lang="en-US" altLang="zh-CN" dirty="0"/>
              <a:t>m(t)=0</a:t>
            </a:r>
            <a:r>
              <a:rPr lang="zh-CN" altLang="en-US" dirty="0"/>
              <a:t>，所以</a:t>
            </a:r>
          </a:p>
          <a:p>
            <a:pPr algn="ctr" eaLnBrk="1" hangingPunct="1">
              <a:lnSpc>
                <a:spcPct val="170000"/>
              </a:lnSpc>
              <a:buFont typeface="Wingdings" panose="05000000000000000000" pitchFamily="2" charset="2"/>
              <a:buNone/>
            </a:pPr>
            <a:r>
              <a:rPr lang="zh-CN" altLang="en-US" dirty="0"/>
              <a:t>   </a:t>
            </a:r>
            <a:r>
              <a:rPr lang="en-US" altLang="zh-CN" dirty="0"/>
              <a:t>C(</a:t>
            </a:r>
            <a:r>
              <a:rPr lang="en-US" altLang="zh-CN" dirty="0" err="1"/>
              <a:t>s,t</a:t>
            </a:r>
            <a:r>
              <a:rPr lang="en-US" altLang="zh-CN" dirty="0"/>
              <a:t>)</a:t>
            </a:r>
            <a:r>
              <a:rPr lang="zh-CN" altLang="en-US" dirty="0"/>
              <a:t>＝</a:t>
            </a:r>
            <a:r>
              <a:rPr lang="en-US" altLang="zh-CN" dirty="0"/>
              <a:t>R(</a:t>
            </a:r>
            <a:r>
              <a:rPr lang="en-US" altLang="zh-CN" dirty="0" err="1"/>
              <a:t>s,t</a:t>
            </a:r>
            <a:r>
              <a:rPr lang="en-US" altLang="zh-CN" dirty="0"/>
              <a:t>)</a:t>
            </a:r>
            <a:r>
              <a:rPr lang="zh-CN" altLang="en-US" dirty="0"/>
              <a:t>＝</a:t>
            </a:r>
            <a:r>
              <a:rPr lang="en-US" altLang="zh-CN" dirty="0"/>
              <a:t>E[X(s)X(t)]</a:t>
            </a:r>
            <a:r>
              <a:rPr lang="zh-CN" altLang="en-US" dirty="0"/>
              <a:t>＝</a:t>
            </a:r>
            <a:r>
              <a:rPr lang="en-US" altLang="zh-CN" dirty="0"/>
              <a:t>E[X</a:t>
            </a:r>
            <a:r>
              <a:rPr lang="en-US" altLang="zh-CN" baseline="-25000" dirty="0"/>
              <a:t>0</a:t>
            </a:r>
            <a:r>
              <a:rPr lang="zh-CN" altLang="en-US" dirty="0"/>
              <a:t>＋</a:t>
            </a:r>
            <a:r>
              <a:rPr lang="en-US" altLang="zh-CN" dirty="0"/>
              <a:t>Vs][X</a:t>
            </a:r>
            <a:r>
              <a:rPr lang="en-US" altLang="zh-CN" baseline="-25000" dirty="0"/>
              <a:t>0</a:t>
            </a:r>
            <a:r>
              <a:rPr lang="zh-CN" altLang="en-US" dirty="0"/>
              <a:t>＋</a:t>
            </a:r>
            <a:r>
              <a:rPr lang="en-US" altLang="zh-CN" dirty="0"/>
              <a:t>Vt]</a:t>
            </a:r>
          </a:p>
          <a:p>
            <a:pPr eaLnBrk="1" hangingPunct="1">
              <a:lnSpc>
                <a:spcPct val="170000"/>
              </a:lnSpc>
              <a:buFont typeface="Wingdings" panose="05000000000000000000" pitchFamily="2" charset="2"/>
              <a:buNone/>
            </a:pPr>
            <a:r>
              <a:rPr lang="en-US" altLang="zh-CN" dirty="0"/>
              <a:t>	</a:t>
            </a:r>
            <a:r>
              <a:rPr lang="zh-CN" altLang="en-US" dirty="0"/>
              <a:t>＝</a:t>
            </a:r>
            <a:r>
              <a:rPr lang="en-US" altLang="zh-CN" dirty="0"/>
              <a:t>E[X</a:t>
            </a:r>
            <a:r>
              <a:rPr lang="en-US" altLang="zh-CN" baseline="-25000" dirty="0"/>
              <a:t>0</a:t>
            </a:r>
            <a:r>
              <a:rPr lang="en-US" altLang="zh-CN" baseline="30000" dirty="0"/>
              <a:t>2</a:t>
            </a:r>
            <a:r>
              <a:rPr lang="en-US" altLang="zh-CN" dirty="0"/>
              <a:t>]+(</a:t>
            </a:r>
            <a:r>
              <a:rPr lang="en-US" altLang="zh-CN" dirty="0" err="1"/>
              <a:t>s+t</a:t>
            </a:r>
            <a:r>
              <a:rPr lang="en-US" altLang="zh-CN" dirty="0"/>
              <a:t>)E[X</a:t>
            </a:r>
            <a:r>
              <a:rPr lang="en-US" altLang="zh-CN" baseline="-25000" dirty="0"/>
              <a:t>0</a:t>
            </a:r>
            <a:r>
              <a:rPr lang="en-US" altLang="zh-CN" dirty="0"/>
              <a:t>V]+</a:t>
            </a:r>
            <a:r>
              <a:rPr lang="en-US" altLang="zh-CN" dirty="0" err="1"/>
              <a:t>stE</a:t>
            </a:r>
            <a:r>
              <a:rPr lang="en-US" altLang="zh-CN" dirty="0"/>
              <a:t>[V</a:t>
            </a:r>
            <a:r>
              <a:rPr lang="en-US" altLang="zh-CN" baseline="30000" dirty="0"/>
              <a:t>2</a:t>
            </a:r>
            <a:r>
              <a:rPr lang="en-US" altLang="zh-CN" dirty="0"/>
              <a:t>]</a:t>
            </a:r>
            <a:r>
              <a:rPr lang="zh-CN" altLang="en-US" dirty="0"/>
              <a:t>＝</a:t>
            </a:r>
            <a:r>
              <a:rPr lang="en-US" altLang="zh-CN" dirty="0"/>
              <a:t>1+st</a:t>
            </a:r>
          </a:p>
          <a:p>
            <a:pPr eaLnBrk="1" hangingPunct="1">
              <a:lnSpc>
                <a:spcPct val="170000"/>
              </a:lnSpc>
              <a:buFont typeface="Wingdings" panose="05000000000000000000" pitchFamily="2" charset="2"/>
              <a:buNone/>
            </a:pPr>
            <a:r>
              <a:rPr lang="en-US" altLang="zh-CN" dirty="0"/>
              <a:t>	</a:t>
            </a:r>
            <a:r>
              <a:rPr lang="zh-CN" altLang="en-US" dirty="0"/>
              <a:t>因为</a:t>
            </a:r>
            <a:r>
              <a:rPr lang="en-US" altLang="zh-CN" dirty="0"/>
              <a:t>X</a:t>
            </a:r>
            <a:r>
              <a:rPr lang="en-US" altLang="zh-CN" baseline="-25000" dirty="0"/>
              <a:t>0</a:t>
            </a:r>
            <a:r>
              <a:rPr lang="zh-CN" altLang="en-US" dirty="0"/>
              <a:t>与</a:t>
            </a:r>
            <a:r>
              <a:rPr lang="en-US" altLang="zh-CN" dirty="0"/>
              <a:t>V</a:t>
            </a:r>
            <a:r>
              <a:rPr lang="zh-CN" altLang="en-US" dirty="0"/>
              <a:t>相互独立且服从</a:t>
            </a:r>
            <a:r>
              <a:rPr lang="en-US" altLang="zh-CN" dirty="0"/>
              <a:t>N(0,1)</a:t>
            </a:r>
            <a:r>
              <a:rPr lang="zh-CN" altLang="en-US" dirty="0"/>
              <a:t>，记</a:t>
            </a:r>
          </a:p>
        </p:txBody>
      </p:sp>
      <mc:AlternateContent xmlns:mc="http://schemas.openxmlformats.org/markup-compatibility/2006" xmlns:a14="http://schemas.microsoft.com/office/drawing/2010/main">
        <mc:Choice Requires="a14">
          <p:sp>
            <p:nvSpPr>
              <p:cNvPr id="278532" name="Object 4">
                <a:extLst>
                  <a:ext uri="{FF2B5EF4-FFF2-40B4-BE49-F238E27FC236}">
                    <a16:creationId xmlns:a16="http://schemas.microsoft.com/office/drawing/2014/main" id="{937857C8-FAB9-896A-E87A-EAB6BAD9881C}"/>
                  </a:ext>
                </a:extLst>
              </p:cNvPr>
              <p:cNvSpPr txBox="1"/>
              <p:nvPr/>
            </p:nvSpPr>
            <p:spPr bwMode="auto">
              <a:xfrm>
                <a:off x="2177972" y="3968323"/>
                <a:ext cx="1911792" cy="874914"/>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𝑠𝑉</m:t>
                                </m:r>
                              </m:e>
                            </m:mr>
                            <m:mr>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𝑡𝑉</m:t>
                                </m:r>
                              </m:e>
                            </m:mr>
                          </m:m>
                        </m:e>
                      </m:d>
                    </m:oMath>
                  </m:oMathPara>
                </a14:m>
                <a:endParaRPr lang="zh-CN" altLang="en-US" dirty="0"/>
              </a:p>
            </p:txBody>
          </p:sp>
        </mc:Choice>
        <mc:Fallback xmlns="">
          <p:sp>
            <p:nvSpPr>
              <p:cNvPr id="278532" name="Object 4">
                <a:extLst>
                  <a:ext uri="{FF2B5EF4-FFF2-40B4-BE49-F238E27FC236}">
                    <a16:creationId xmlns:a16="http://schemas.microsoft.com/office/drawing/2014/main" id="{937857C8-FAB9-896A-E87A-EAB6BAD9881C}"/>
                  </a:ext>
                </a:extLst>
              </p:cNvPr>
              <p:cNvSpPr txBox="1">
                <a:spLocks noRot="1" noChangeAspect="1" noMove="1" noResize="1" noEditPoints="1" noAdjustHandles="1" noChangeArrowheads="1" noChangeShapeType="1" noTextEdit="1"/>
              </p:cNvSpPr>
              <p:nvPr/>
            </p:nvSpPr>
            <p:spPr bwMode="auto">
              <a:xfrm>
                <a:off x="2177972" y="3968323"/>
                <a:ext cx="1911792" cy="874914"/>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8533" name="Object 5">
                <a:extLst>
                  <a:ext uri="{FF2B5EF4-FFF2-40B4-BE49-F238E27FC236}">
                    <a16:creationId xmlns:a16="http://schemas.microsoft.com/office/drawing/2014/main" id="{7ECB194F-FEB9-C0CA-9038-F285898FDD83}"/>
                  </a:ext>
                </a:extLst>
              </p:cNvPr>
              <p:cNvSpPr txBox="1"/>
              <p:nvPr/>
            </p:nvSpPr>
            <p:spPr bwMode="auto">
              <a:xfrm>
                <a:off x="4423008" y="4016210"/>
                <a:ext cx="2561231" cy="870151"/>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mr>
                          </m:m>
                        </m:e>
                      </m:d>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𝑠</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𝑡</m:t>
                                </m:r>
                              </m:e>
                            </m:mr>
                          </m:m>
                        </m:e>
                      </m:d>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0</m:t>
                                    </m:r>
                                  </m:sub>
                                </m:sSub>
                              </m:e>
                            </m:mr>
                            <m:mr>
                              <m:e>
                                <m:r>
                                  <a:rPr lang="zh-CN" altLang="en-US" i="1">
                                    <a:solidFill>
                                      <a:srgbClr val="000000"/>
                                    </a:solidFill>
                                    <a:latin typeface="Cambria Math" panose="02040503050406030204" pitchFamily="18" charset="0"/>
                                  </a:rPr>
                                  <m:t>𝑉</m:t>
                                </m:r>
                              </m:e>
                            </m:mr>
                          </m:m>
                        </m:e>
                      </m:d>
                    </m:oMath>
                  </m:oMathPara>
                </a14:m>
                <a:endParaRPr lang="zh-CN" altLang="en-US" dirty="0"/>
              </a:p>
            </p:txBody>
          </p:sp>
        </mc:Choice>
        <mc:Fallback xmlns="">
          <p:sp>
            <p:nvSpPr>
              <p:cNvPr id="278533" name="Object 5">
                <a:extLst>
                  <a:ext uri="{FF2B5EF4-FFF2-40B4-BE49-F238E27FC236}">
                    <a16:creationId xmlns:a16="http://schemas.microsoft.com/office/drawing/2014/main" id="{7ECB194F-FEB9-C0CA-9038-F285898FDD83}"/>
                  </a:ext>
                </a:extLst>
              </p:cNvPr>
              <p:cNvSpPr txBox="1">
                <a:spLocks noRot="1" noChangeAspect="1" noMove="1" noResize="1" noEditPoints="1" noAdjustHandles="1" noChangeArrowheads="1" noChangeShapeType="1" noTextEdit="1"/>
              </p:cNvSpPr>
              <p:nvPr/>
            </p:nvSpPr>
            <p:spPr bwMode="auto">
              <a:xfrm>
                <a:off x="4423008" y="4016210"/>
                <a:ext cx="2561231" cy="870151"/>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8534" name="Object 6">
                <a:extLst>
                  <a:ext uri="{FF2B5EF4-FFF2-40B4-BE49-F238E27FC236}">
                    <a16:creationId xmlns:a16="http://schemas.microsoft.com/office/drawing/2014/main" id="{52735149-2CD5-57CB-0F2B-58920AFDEA4C}"/>
                  </a:ext>
                </a:extLst>
              </p:cNvPr>
              <p:cNvSpPr txBox="1"/>
              <p:nvPr/>
            </p:nvSpPr>
            <p:spPr bwMode="auto">
              <a:xfrm>
                <a:off x="7248034" y="3946093"/>
                <a:ext cx="2847046" cy="917787"/>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0</m:t>
                                    </m:r>
                                  </m:sub>
                                </m:sSub>
                              </m:e>
                            </m:mr>
                            <m:mr>
                              <m:e>
                                <m:r>
                                  <a:rPr lang="zh-CN" altLang="en-US" i="1">
                                    <a:solidFill>
                                      <a:srgbClr val="000000"/>
                                    </a:solidFill>
                                    <a:latin typeface="Cambria Math" panose="02040503050406030204" pitchFamily="18" charset="0"/>
                                  </a:rPr>
                                  <m:t>𝑉</m:t>
                                </m:r>
                              </m:e>
                            </m:mr>
                          </m:m>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𝑁</m:t>
                      </m:r>
                      <m:d>
                        <m:dPr>
                          <m:ctrlPr>
                            <a:rPr lang="zh-CN" altLang="en-US" i="1">
                              <a:solidFill>
                                <a:srgbClr val="000000"/>
                              </a:solidFill>
                              <a:latin typeface="Cambria Math" panose="02040503050406030204" pitchFamily="18" charset="0"/>
                            </a:rPr>
                          </m:ctrlPr>
                        </m:dPr>
                        <m:e>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m:t>
                                    </m:r>
                                  </m:e>
                                </m:mr>
                              </m:m>
                            </m:e>
                          </m:d>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mr>
                              </m:m>
                            </m:e>
                          </m:d>
                        </m:e>
                      </m:d>
                    </m:oMath>
                  </m:oMathPara>
                </a14:m>
                <a:endParaRPr lang="zh-CN" altLang="en-US" dirty="0"/>
              </a:p>
            </p:txBody>
          </p:sp>
        </mc:Choice>
        <mc:Fallback xmlns="">
          <p:sp>
            <p:nvSpPr>
              <p:cNvPr id="278534" name="Object 6">
                <a:extLst>
                  <a:ext uri="{FF2B5EF4-FFF2-40B4-BE49-F238E27FC236}">
                    <a16:creationId xmlns:a16="http://schemas.microsoft.com/office/drawing/2014/main" id="{52735149-2CD5-57CB-0F2B-58920AFDEA4C}"/>
                  </a:ext>
                </a:extLst>
              </p:cNvPr>
              <p:cNvSpPr txBox="1">
                <a:spLocks noRot="1" noChangeAspect="1" noMove="1" noResize="1" noEditPoints="1" noAdjustHandles="1" noChangeArrowheads="1" noChangeShapeType="1" noTextEdit="1"/>
              </p:cNvSpPr>
              <p:nvPr/>
            </p:nvSpPr>
            <p:spPr bwMode="auto">
              <a:xfrm>
                <a:off x="7248034" y="3946093"/>
                <a:ext cx="2847046" cy="917787"/>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278535" name="Rectangle 7">
            <a:extLst>
              <a:ext uri="{FF2B5EF4-FFF2-40B4-BE49-F238E27FC236}">
                <a16:creationId xmlns:a16="http://schemas.microsoft.com/office/drawing/2014/main" id="{EE81FF4B-BEC3-2A1D-4468-78801FC2CB52}"/>
              </a:ext>
            </a:extLst>
          </p:cNvPr>
          <p:cNvSpPr>
            <a:spLocks noChangeArrowheads="1"/>
          </p:cNvSpPr>
          <p:nvPr/>
        </p:nvSpPr>
        <p:spPr bwMode="auto">
          <a:xfrm>
            <a:off x="968266" y="4675274"/>
            <a:ext cx="9019598"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b="1" dirty="0">
                <a:ea typeface="黑体" panose="02010609060101010101" pitchFamily="49" charset="-122"/>
              </a:rPr>
              <a:t>从而</a:t>
            </a:r>
            <a:r>
              <a:rPr lang="en-US" altLang="zh-CN" b="1" dirty="0">
                <a:ea typeface="黑体" panose="02010609060101010101" pitchFamily="49" charset="-122"/>
              </a:rPr>
              <a:t>(X(s),X(t))</a:t>
            </a:r>
            <a:r>
              <a:rPr lang="zh-CN" altLang="en-US" b="1" dirty="0">
                <a:ea typeface="黑体" panose="02010609060101010101" pitchFamily="49" charset="-122"/>
              </a:rPr>
              <a:t>～</a:t>
            </a:r>
            <a:r>
              <a:rPr lang="en-US" altLang="zh-CN" b="1" dirty="0">
                <a:ea typeface="黑体" panose="02010609060101010101" pitchFamily="49" charset="-122"/>
              </a:rPr>
              <a:t>N(</a:t>
            </a:r>
            <a:r>
              <a:rPr lang="en-US" altLang="zh-CN" b="1" dirty="0">
                <a:ea typeface="黑体" panose="02010609060101010101" pitchFamily="49" charset="-122"/>
                <a:sym typeface="Symbol" panose="05050102010706020507" pitchFamily="18" charset="2"/>
              </a:rPr>
              <a:t>,C)</a:t>
            </a:r>
            <a:r>
              <a:rPr lang="zh-CN" altLang="en-US" b="1" dirty="0">
                <a:ea typeface="黑体" panose="02010609060101010101" pitchFamily="49" charset="-122"/>
                <a:sym typeface="Symbol" panose="05050102010706020507" pitchFamily="18" charset="2"/>
              </a:rPr>
              <a:t>，其中</a:t>
            </a:r>
          </a:p>
          <a:p>
            <a:pPr eaLnBrk="1" hangingPunct="1">
              <a:lnSpc>
                <a:spcPct val="150000"/>
              </a:lnSpc>
            </a:pPr>
            <a:r>
              <a:rPr lang="zh-CN" altLang="en-US" b="1" dirty="0">
                <a:ea typeface="黑体" panose="02010609060101010101" pitchFamily="49" charset="-122"/>
                <a:sym typeface="Symbol" panose="05050102010706020507" pitchFamily="18" charset="2"/>
              </a:rPr>
              <a:t>均值</a:t>
            </a:r>
            <a:r>
              <a:rPr lang="en-US" altLang="zh-CN" b="1" dirty="0">
                <a:ea typeface="黑体" panose="02010609060101010101" pitchFamily="49" charset="-122"/>
                <a:sym typeface="Symbol" panose="05050102010706020507" pitchFamily="18" charset="2"/>
              </a:rPr>
              <a:t>=(m(s),m(t))</a:t>
            </a:r>
            <a:r>
              <a:rPr lang="en-US" altLang="zh-CN" b="1" baseline="30000" dirty="0">
                <a:ea typeface="黑体" panose="02010609060101010101" pitchFamily="49" charset="-122"/>
                <a:sym typeface="Symbol" panose="05050102010706020507" pitchFamily="18" charset="2"/>
              </a:rPr>
              <a:t>T</a:t>
            </a:r>
            <a:r>
              <a:rPr lang="en-US" altLang="zh-CN" b="1" dirty="0">
                <a:ea typeface="黑体" panose="02010609060101010101" pitchFamily="49" charset="-122"/>
                <a:sym typeface="Symbol" panose="05050102010706020507" pitchFamily="18" charset="2"/>
              </a:rPr>
              <a:t>=(0,0)</a:t>
            </a:r>
            <a:r>
              <a:rPr lang="en-US" altLang="zh-CN" b="1" baseline="30000" dirty="0">
                <a:ea typeface="黑体" panose="02010609060101010101" pitchFamily="49" charset="-122"/>
                <a:sym typeface="Symbol" panose="05050102010706020507" pitchFamily="18" charset="2"/>
              </a:rPr>
              <a:t>T</a:t>
            </a:r>
            <a:r>
              <a:rPr lang="zh-CN" altLang="en-US" b="1" dirty="0">
                <a:ea typeface="黑体" panose="02010609060101010101" pitchFamily="49" charset="-122"/>
                <a:sym typeface="Symbol" panose="05050102010706020507" pitchFamily="18" charset="2"/>
              </a:rPr>
              <a:t>，</a:t>
            </a:r>
          </a:p>
        </p:txBody>
      </p:sp>
      <p:sp>
        <p:nvSpPr>
          <p:cNvPr id="278536" name="Rectangle 8">
            <a:extLst>
              <a:ext uri="{FF2B5EF4-FFF2-40B4-BE49-F238E27FC236}">
                <a16:creationId xmlns:a16="http://schemas.microsoft.com/office/drawing/2014/main" id="{C1B821DA-1F0B-925C-6782-9318D984BE4E}"/>
              </a:ext>
            </a:extLst>
          </p:cNvPr>
          <p:cNvSpPr>
            <a:spLocks noChangeArrowheads="1"/>
          </p:cNvSpPr>
          <p:nvPr/>
        </p:nvSpPr>
        <p:spPr bwMode="auto">
          <a:xfrm>
            <a:off x="2137193" y="5929852"/>
            <a:ext cx="2818999"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b="1" dirty="0">
                <a:ea typeface="黑体" panose="02010609060101010101" pitchFamily="49" charset="-122"/>
                <a:sym typeface="Symbol" panose="05050102010706020507" pitchFamily="18" charset="2"/>
              </a:rPr>
              <a:t>协方差矩阵</a:t>
            </a:r>
            <a:r>
              <a:rPr lang="en-US" altLang="zh-CN" b="1" dirty="0">
                <a:ea typeface="黑体" panose="02010609060101010101" pitchFamily="49" charset="-122"/>
                <a:sym typeface="Symbol" panose="05050102010706020507" pitchFamily="18" charset="2"/>
              </a:rPr>
              <a:t>C</a:t>
            </a:r>
            <a:r>
              <a:rPr lang="zh-CN" altLang="en-US" b="1" dirty="0">
                <a:ea typeface="黑体" panose="02010609060101010101" pitchFamily="49" charset="-122"/>
                <a:sym typeface="Symbol" panose="05050102010706020507" pitchFamily="18" charset="2"/>
              </a:rPr>
              <a:t>＝</a:t>
            </a:r>
          </a:p>
        </p:txBody>
      </p:sp>
      <mc:AlternateContent xmlns:mc="http://schemas.openxmlformats.org/markup-compatibility/2006" xmlns:a14="http://schemas.microsoft.com/office/drawing/2010/main">
        <mc:Choice Requires="a14">
          <p:sp>
            <p:nvSpPr>
              <p:cNvPr id="278537" name="Object 9">
                <a:extLst>
                  <a:ext uri="{FF2B5EF4-FFF2-40B4-BE49-F238E27FC236}">
                    <a16:creationId xmlns:a16="http://schemas.microsoft.com/office/drawing/2014/main" id="{08B9843B-C7E5-899A-5AEE-B5A16823C25F}"/>
                  </a:ext>
                </a:extLst>
              </p:cNvPr>
              <p:cNvSpPr txBox="1"/>
              <p:nvPr/>
            </p:nvSpPr>
            <p:spPr bwMode="auto">
              <a:xfrm>
                <a:off x="4346575" y="5925147"/>
                <a:ext cx="4276127" cy="933666"/>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d>
                        <m:dPr>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mr>
                          </m:m>
                        </m:e>
                      </m:d>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𝑠</m:t>
                                    </m:r>
                                  </m:e>
                                  <m:sup>
                                    <m:r>
                                      <a:rPr lang="zh-CN" altLang="en-US" i="1">
                                        <a:solidFill>
                                          <a:srgbClr val="000000"/>
                                        </a:solidFill>
                                        <a:latin typeface="Cambria Math" panose="02040503050406030204" pitchFamily="18" charset="0"/>
                                      </a:rPr>
                                      <m:t>2</m:t>
                                    </m:r>
                                  </m:sup>
                                </m:sSup>
                              </m:e>
                              <m:e>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𝑠𝑡</m:t>
                                </m:r>
                              </m:e>
                            </m:mr>
                            <m:mr>
                              <m:e>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𝑠𝑡</m:t>
                                </m:r>
                              </m:e>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e>
                            </m:mr>
                          </m:m>
                        </m:e>
                      </m:d>
                    </m:oMath>
                  </m:oMathPara>
                </a14:m>
                <a:endParaRPr lang="zh-CN" altLang="en-US" dirty="0"/>
              </a:p>
            </p:txBody>
          </p:sp>
        </mc:Choice>
        <mc:Fallback xmlns="">
          <p:sp>
            <p:nvSpPr>
              <p:cNvPr id="278537" name="Object 9">
                <a:extLst>
                  <a:ext uri="{FF2B5EF4-FFF2-40B4-BE49-F238E27FC236}">
                    <a16:creationId xmlns:a16="http://schemas.microsoft.com/office/drawing/2014/main" id="{08B9843B-C7E5-899A-5AEE-B5A16823C25F}"/>
                  </a:ext>
                </a:extLst>
              </p:cNvPr>
              <p:cNvSpPr txBox="1">
                <a:spLocks noRot="1" noChangeAspect="1" noMove="1" noResize="1" noEditPoints="1" noAdjustHandles="1" noChangeArrowheads="1" noChangeShapeType="1" noTextEdit="1"/>
              </p:cNvSpPr>
              <p:nvPr/>
            </p:nvSpPr>
            <p:spPr bwMode="auto">
              <a:xfrm>
                <a:off x="4346575" y="5925147"/>
                <a:ext cx="4276127" cy="933666"/>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278538" name="Line 10">
            <a:extLst>
              <a:ext uri="{FF2B5EF4-FFF2-40B4-BE49-F238E27FC236}">
                <a16:creationId xmlns:a16="http://schemas.microsoft.com/office/drawing/2014/main" id="{29410F36-A3E3-1463-B288-C119322DE9A3}"/>
              </a:ext>
            </a:extLst>
          </p:cNvPr>
          <p:cNvSpPr>
            <a:spLocks noChangeShapeType="1"/>
          </p:cNvSpPr>
          <p:nvPr/>
        </p:nvSpPr>
        <p:spPr bwMode="auto">
          <a:xfrm>
            <a:off x="3653148" y="4926045"/>
            <a:ext cx="179429" cy="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8539" name="Line 11">
            <a:extLst>
              <a:ext uri="{FF2B5EF4-FFF2-40B4-BE49-F238E27FC236}">
                <a16:creationId xmlns:a16="http://schemas.microsoft.com/office/drawing/2014/main" id="{AEF2D1DE-0DD8-222A-CAFD-647340653D84}"/>
              </a:ext>
            </a:extLst>
          </p:cNvPr>
          <p:cNvSpPr>
            <a:spLocks noChangeShapeType="1"/>
          </p:cNvSpPr>
          <p:nvPr/>
        </p:nvSpPr>
        <p:spPr bwMode="auto">
          <a:xfrm>
            <a:off x="1644923" y="5470209"/>
            <a:ext cx="179429" cy="0"/>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圆角矩形标注 11"/>
          <p:cNvSpPr/>
          <p:nvPr/>
        </p:nvSpPr>
        <p:spPr>
          <a:xfrm>
            <a:off x="5207989" y="1023599"/>
            <a:ext cx="6829425" cy="533400"/>
          </a:xfrm>
          <a:prstGeom prst="wedgeRoundRectCallout">
            <a:avLst>
              <a:gd name="adj1" fmla="val -33539"/>
              <a:gd name="adj2" fmla="val 14996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60000"/>
              </a:lnSpc>
            </a:pPr>
            <a:r>
              <a:rPr lang="en-US" altLang="zh-CN" dirty="0">
                <a:solidFill>
                  <a:schemeClr val="bg1"/>
                </a:solidFill>
              </a:rPr>
              <a:t>C(</a:t>
            </a:r>
            <a:r>
              <a:rPr lang="en-US" altLang="zh-CN" dirty="0" err="1">
                <a:solidFill>
                  <a:schemeClr val="bg1"/>
                </a:solidFill>
              </a:rPr>
              <a:t>s,t</a:t>
            </a:r>
            <a:r>
              <a:rPr lang="en-US" altLang="zh-CN" dirty="0">
                <a:solidFill>
                  <a:schemeClr val="bg1"/>
                </a:solidFill>
              </a:rPr>
              <a:t>)</a:t>
            </a:r>
            <a:r>
              <a:rPr lang="zh-CN" altLang="en-US" dirty="0">
                <a:solidFill>
                  <a:schemeClr val="bg1"/>
                </a:solidFill>
              </a:rPr>
              <a:t>＝</a:t>
            </a:r>
            <a:r>
              <a:rPr lang="en-US" altLang="zh-CN" dirty="0" err="1">
                <a:solidFill>
                  <a:schemeClr val="bg1"/>
                </a:solidFill>
              </a:rPr>
              <a:t>cov</a:t>
            </a:r>
            <a:r>
              <a:rPr lang="en-US" altLang="zh-CN" dirty="0">
                <a:solidFill>
                  <a:schemeClr val="bg1"/>
                </a:solidFill>
              </a:rPr>
              <a:t>(X(s),X(t))</a:t>
            </a:r>
            <a:r>
              <a:rPr lang="zh-CN" altLang="en-US" dirty="0">
                <a:solidFill>
                  <a:schemeClr val="bg1"/>
                </a:solidFill>
              </a:rPr>
              <a:t>＝</a:t>
            </a:r>
            <a:r>
              <a:rPr lang="en-US" altLang="zh-CN" dirty="0">
                <a:solidFill>
                  <a:schemeClr val="bg1"/>
                </a:solidFill>
              </a:rPr>
              <a:t>E[X(s)</a:t>
            </a:r>
            <a:r>
              <a:rPr lang="zh-CN" altLang="en-US" dirty="0">
                <a:solidFill>
                  <a:schemeClr val="bg1"/>
                </a:solidFill>
              </a:rPr>
              <a:t>－</a:t>
            </a:r>
            <a:r>
              <a:rPr lang="en-US" altLang="zh-CN" dirty="0">
                <a:solidFill>
                  <a:schemeClr val="bg1"/>
                </a:solidFill>
              </a:rPr>
              <a:t>m(s)][X(t)</a:t>
            </a:r>
            <a:r>
              <a:rPr lang="zh-CN" altLang="en-US" dirty="0">
                <a:solidFill>
                  <a:schemeClr val="bg1"/>
                </a:solidFill>
              </a:rPr>
              <a:t>－</a:t>
            </a:r>
            <a:r>
              <a:rPr lang="en-US" altLang="zh-CN" dirty="0">
                <a:solidFill>
                  <a:schemeClr val="bg1"/>
                </a:solidFill>
              </a:rPr>
              <a:t>m(t)]</a:t>
            </a:r>
            <a:endParaRPr lang="en-US" altLang="zh-CN" baseline="30000" dirty="0">
              <a:solidFill>
                <a:schemeClr val="bg1"/>
              </a:solidFill>
            </a:endParaRPr>
          </a:p>
        </p:txBody>
      </p:sp>
      <p:sp>
        <p:nvSpPr>
          <p:cNvPr id="13" name="圆角矩形标注 12"/>
          <p:cNvSpPr/>
          <p:nvPr/>
        </p:nvSpPr>
        <p:spPr>
          <a:xfrm>
            <a:off x="8766175" y="3059218"/>
            <a:ext cx="3048000" cy="533400"/>
          </a:xfrm>
          <a:prstGeom prst="wedgeRoundRectCallout">
            <a:avLst>
              <a:gd name="adj1" fmla="val -33539"/>
              <a:gd name="adj2" fmla="val 14996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60000"/>
              </a:lnSpc>
            </a:pPr>
            <a:r>
              <a:rPr lang="en-US" altLang="zh-CN" dirty="0">
                <a:solidFill>
                  <a:schemeClr val="bg1"/>
                </a:solidFill>
              </a:rPr>
              <a:t>X</a:t>
            </a:r>
            <a:r>
              <a:rPr lang="en-US" altLang="zh-CN" baseline="-25000" dirty="0">
                <a:solidFill>
                  <a:schemeClr val="bg1"/>
                </a:solidFill>
              </a:rPr>
              <a:t>0</a:t>
            </a:r>
            <a:r>
              <a:rPr lang="zh-CN" altLang="en-US" dirty="0">
                <a:solidFill>
                  <a:schemeClr val="bg1"/>
                </a:solidFill>
              </a:rPr>
              <a:t>与</a:t>
            </a:r>
            <a:r>
              <a:rPr lang="en-US" altLang="zh-CN" dirty="0">
                <a:solidFill>
                  <a:schemeClr val="bg1"/>
                </a:solidFill>
              </a:rPr>
              <a:t>V</a:t>
            </a:r>
            <a:r>
              <a:rPr lang="zh-CN" altLang="en-US" dirty="0">
                <a:solidFill>
                  <a:schemeClr val="bg1"/>
                </a:solidFill>
              </a:rPr>
              <a:t>的协方差矩阵</a:t>
            </a:r>
            <a:endParaRPr lang="en-US" altLang="zh-CN"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8531">
                                            <p:txEl>
                                              <p:pRg st="0" end="0"/>
                                            </p:txEl>
                                          </p:spTgt>
                                        </p:tgtEl>
                                        <p:attrNameLst>
                                          <p:attrName>style.visibility</p:attrName>
                                        </p:attrNameLst>
                                      </p:cBhvr>
                                      <p:to>
                                        <p:strVal val="visible"/>
                                      </p:to>
                                    </p:set>
                                    <p:anim calcmode="lin" valueType="num">
                                      <p:cBhvr additive="base">
                                        <p:cTn id="7" dur="500" fill="hold"/>
                                        <p:tgtEl>
                                          <p:spTgt spid="278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8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8531">
                                            <p:txEl>
                                              <p:pRg st="1" end="1"/>
                                            </p:txEl>
                                          </p:spTgt>
                                        </p:tgtEl>
                                        <p:attrNameLst>
                                          <p:attrName>style.visibility</p:attrName>
                                        </p:attrNameLst>
                                      </p:cBhvr>
                                      <p:to>
                                        <p:strVal val="visible"/>
                                      </p:to>
                                    </p:set>
                                    <p:anim calcmode="lin" valueType="num">
                                      <p:cBhvr additive="base">
                                        <p:cTn id="13" dur="500" fill="hold"/>
                                        <p:tgtEl>
                                          <p:spTgt spid="278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8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8531">
                                            <p:txEl>
                                              <p:pRg st="2" end="2"/>
                                            </p:txEl>
                                          </p:spTgt>
                                        </p:tgtEl>
                                        <p:attrNameLst>
                                          <p:attrName>style.visibility</p:attrName>
                                        </p:attrNameLst>
                                      </p:cBhvr>
                                      <p:to>
                                        <p:strVal val="visible"/>
                                      </p:to>
                                    </p:set>
                                    <p:anim calcmode="lin" valueType="num">
                                      <p:cBhvr additive="base">
                                        <p:cTn id="19" dur="500" fill="hold"/>
                                        <p:tgtEl>
                                          <p:spTgt spid="278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8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8531">
                                            <p:txEl>
                                              <p:pRg st="3" end="3"/>
                                            </p:txEl>
                                          </p:spTgt>
                                        </p:tgtEl>
                                        <p:attrNameLst>
                                          <p:attrName>style.visibility</p:attrName>
                                        </p:attrNameLst>
                                      </p:cBhvr>
                                      <p:to>
                                        <p:strVal val="visible"/>
                                      </p:to>
                                    </p:set>
                                    <p:anim calcmode="lin" valueType="num">
                                      <p:cBhvr additive="base">
                                        <p:cTn id="25" dur="500" fill="hold"/>
                                        <p:tgtEl>
                                          <p:spTgt spid="2785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85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8531">
                                            <p:txEl>
                                              <p:pRg st="4" end="4"/>
                                            </p:txEl>
                                          </p:spTgt>
                                        </p:tgtEl>
                                        <p:attrNameLst>
                                          <p:attrName>style.visibility</p:attrName>
                                        </p:attrNameLst>
                                      </p:cBhvr>
                                      <p:to>
                                        <p:strVal val="visible"/>
                                      </p:to>
                                    </p:set>
                                    <p:anim calcmode="lin" valueType="num">
                                      <p:cBhvr additive="base">
                                        <p:cTn id="31" dur="500" fill="hold"/>
                                        <p:tgtEl>
                                          <p:spTgt spid="27853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85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78532"/>
                                        </p:tgtEl>
                                        <p:attrNameLst>
                                          <p:attrName>style.visibility</p:attrName>
                                        </p:attrNameLst>
                                      </p:cBhvr>
                                      <p:to>
                                        <p:strVal val="visible"/>
                                      </p:to>
                                    </p:set>
                                    <p:animEffect transition="in" filter="randombar(horizontal)">
                                      <p:cBhvr>
                                        <p:cTn id="37" dur="500"/>
                                        <p:tgtEl>
                                          <p:spTgt spid="278532"/>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78533"/>
                                        </p:tgtEl>
                                        <p:attrNameLst>
                                          <p:attrName>style.visibility</p:attrName>
                                        </p:attrNameLst>
                                      </p:cBhvr>
                                      <p:to>
                                        <p:strVal val="visible"/>
                                      </p:to>
                                    </p:set>
                                    <p:animEffect transition="in" filter="randombar(horizontal)">
                                      <p:cBhvr>
                                        <p:cTn id="42" dur="500"/>
                                        <p:tgtEl>
                                          <p:spTgt spid="278533"/>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278534">
                                            <p:txEl>
                                              <p:pRg st="0" end="0"/>
                                            </p:txEl>
                                          </p:spTgt>
                                        </p:tgtEl>
                                        <p:attrNameLst>
                                          <p:attrName>style.visibility</p:attrName>
                                        </p:attrNameLst>
                                      </p:cBhvr>
                                      <p:to>
                                        <p:strVal val="visible"/>
                                      </p:to>
                                    </p:set>
                                    <p:animEffect transition="in" filter="randombar(horizontal)">
                                      <p:cBhvr>
                                        <p:cTn id="47" dur="500"/>
                                        <p:tgtEl>
                                          <p:spTgt spid="27853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278535">
                                            <p:txEl>
                                              <p:pRg st="0" end="0"/>
                                            </p:txEl>
                                          </p:spTgt>
                                        </p:tgtEl>
                                        <p:attrNameLst>
                                          <p:attrName>style.visibility</p:attrName>
                                        </p:attrNameLst>
                                      </p:cBhvr>
                                      <p:to>
                                        <p:strVal val="visible"/>
                                      </p:to>
                                    </p:set>
                                    <p:anim calcmode="lin" valueType="num">
                                      <p:cBhvr additive="base">
                                        <p:cTn id="52" dur="500" fill="hold"/>
                                        <p:tgtEl>
                                          <p:spTgt spid="278535">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278535">
                                            <p:txEl>
                                              <p:pRg st="0" end="0"/>
                                            </p:txEl>
                                          </p:spTgt>
                                        </p:tgtEl>
                                        <p:attrNameLst>
                                          <p:attrName>ppt_y</p:attrName>
                                        </p:attrNameLst>
                                      </p:cBhvr>
                                      <p:tavLst>
                                        <p:tav tm="0">
                                          <p:val>
                                            <p:strVal val="1+#ppt_h/2"/>
                                          </p:val>
                                        </p:tav>
                                        <p:tav tm="100000">
                                          <p:val>
                                            <p:strVal val="#ppt_y"/>
                                          </p:val>
                                        </p:tav>
                                      </p:tavLst>
                                    </p:anim>
                                  </p:childTnLst>
                                </p:cTn>
                              </p:par>
                            </p:childTnLst>
                          </p:cTn>
                        </p:par>
                        <p:par>
                          <p:cTn id="54" fill="hold">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278535">
                                            <p:txEl>
                                              <p:pRg st="1" end="1"/>
                                            </p:txEl>
                                          </p:spTgt>
                                        </p:tgtEl>
                                        <p:attrNameLst>
                                          <p:attrName>style.visibility</p:attrName>
                                        </p:attrNameLst>
                                      </p:cBhvr>
                                      <p:to>
                                        <p:strVal val="visible"/>
                                      </p:to>
                                    </p:set>
                                    <p:anim calcmode="lin" valueType="num">
                                      <p:cBhvr additive="base">
                                        <p:cTn id="57" dur="500" fill="hold"/>
                                        <p:tgtEl>
                                          <p:spTgt spid="278535">
                                            <p:txEl>
                                              <p:pRg st="1" end="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78535">
                                            <p:txEl>
                                              <p:pRg st="1" end="1"/>
                                            </p:txEl>
                                          </p:spTgt>
                                        </p:tgtEl>
                                        <p:attrNameLst>
                                          <p:attrName>ppt_y</p:attrName>
                                        </p:attrNameLst>
                                      </p:cBhvr>
                                      <p:tavLst>
                                        <p:tav tm="0">
                                          <p:val>
                                            <p:strVal val="1+#ppt_h/2"/>
                                          </p:val>
                                        </p:tav>
                                        <p:tav tm="100000">
                                          <p:val>
                                            <p:strVal val="#ppt_y"/>
                                          </p:val>
                                        </p:tav>
                                      </p:tavLst>
                                    </p:anim>
                                  </p:childTnLst>
                                </p:cTn>
                              </p:par>
                            </p:childTnLst>
                          </p:cTn>
                        </p:par>
                        <p:par>
                          <p:cTn id="59" fill="hold">
                            <p:stCondLst>
                              <p:cond delay="1000"/>
                            </p:stCondLst>
                            <p:childTnLst>
                              <p:par>
                                <p:cTn id="60" presetID="1" presetClass="entr" presetSubtype="0" fill="hold" nodeType="afterEffect">
                                  <p:stCondLst>
                                    <p:cond delay="0"/>
                                  </p:stCondLst>
                                  <p:childTnLst>
                                    <p:set>
                                      <p:cBhvr>
                                        <p:cTn id="61" dur="1" fill="hold">
                                          <p:stCondLst>
                                            <p:cond delay="0"/>
                                          </p:stCondLst>
                                        </p:cTn>
                                        <p:tgtEl>
                                          <p:spTgt spid="278539"/>
                                        </p:tgtEl>
                                        <p:attrNameLst>
                                          <p:attrName>style.visibility</p:attrName>
                                        </p:attrNameLst>
                                      </p:cBhvr>
                                      <p:to>
                                        <p:strVal val="visible"/>
                                      </p:to>
                                    </p:set>
                                  </p:childTnLst>
                                </p:cTn>
                              </p:par>
                            </p:childTnLst>
                          </p:cTn>
                        </p:par>
                        <p:par>
                          <p:cTn id="62" fill="hold">
                            <p:stCondLst>
                              <p:cond delay="1000"/>
                            </p:stCondLst>
                            <p:childTnLst>
                              <p:par>
                                <p:cTn id="63" presetID="1" presetClass="entr" presetSubtype="0" fill="hold" nodeType="afterEffect">
                                  <p:stCondLst>
                                    <p:cond delay="0"/>
                                  </p:stCondLst>
                                  <p:childTnLst>
                                    <p:set>
                                      <p:cBhvr>
                                        <p:cTn id="64" dur="1" fill="hold">
                                          <p:stCondLst>
                                            <p:cond delay="0"/>
                                          </p:stCondLst>
                                        </p:cTn>
                                        <p:tgtEl>
                                          <p:spTgt spid="27853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78536"/>
                                        </p:tgtEl>
                                        <p:attrNameLst>
                                          <p:attrName>style.visibility</p:attrName>
                                        </p:attrNameLst>
                                      </p:cBhvr>
                                      <p:to>
                                        <p:strVal val="visible"/>
                                      </p:to>
                                    </p:set>
                                    <p:anim calcmode="lin" valueType="num">
                                      <p:cBhvr additive="base">
                                        <p:cTn id="69" dur="500" fill="hold"/>
                                        <p:tgtEl>
                                          <p:spTgt spid="278536"/>
                                        </p:tgtEl>
                                        <p:attrNameLst>
                                          <p:attrName>ppt_x</p:attrName>
                                        </p:attrNameLst>
                                      </p:cBhvr>
                                      <p:tavLst>
                                        <p:tav tm="0">
                                          <p:val>
                                            <p:strVal val="#ppt_x"/>
                                          </p:val>
                                        </p:tav>
                                        <p:tav tm="100000">
                                          <p:val>
                                            <p:strVal val="#ppt_x"/>
                                          </p:val>
                                        </p:tav>
                                      </p:tavLst>
                                    </p:anim>
                                    <p:anim calcmode="lin" valueType="num">
                                      <p:cBhvr additive="base">
                                        <p:cTn id="70" dur="500" fill="hold"/>
                                        <p:tgtEl>
                                          <p:spTgt spid="278536"/>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4" presetClass="entr" presetSubtype="10" fill="hold" grpId="0" nodeType="clickEffect">
                                  <p:stCondLst>
                                    <p:cond delay="0"/>
                                  </p:stCondLst>
                                  <p:childTnLst>
                                    <p:set>
                                      <p:cBhvr>
                                        <p:cTn id="74" dur="1" fill="hold">
                                          <p:stCondLst>
                                            <p:cond delay="0"/>
                                          </p:stCondLst>
                                        </p:cTn>
                                        <p:tgtEl>
                                          <p:spTgt spid="278537"/>
                                        </p:tgtEl>
                                        <p:attrNameLst>
                                          <p:attrName>style.visibility</p:attrName>
                                        </p:attrNameLst>
                                      </p:cBhvr>
                                      <p:to>
                                        <p:strVal val="visible"/>
                                      </p:to>
                                    </p:set>
                                    <p:animEffect transition="in" filter="randombar(horizontal)">
                                      <p:cBhvr>
                                        <p:cTn id="75" dur="500"/>
                                        <p:tgtEl>
                                          <p:spTgt spid="278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1" grpId="0" uiExpand="1" build="p"/>
      <p:bldP spid="278532" grpId="0"/>
      <p:bldP spid="278533" grpId="0"/>
      <p:bldP spid="278535" grpId="0" uiExpand="1" build="p"/>
      <p:bldP spid="278536" grpId="0"/>
      <p:bldP spid="27853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a:extLst>
              <a:ext uri="{FF2B5EF4-FFF2-40B4-BE49-F238E27FC236}">
                <a16:creationId xmlns:a16="http://schemas.microsoft.com/office/drawing/2014/main" id="{CF401DC9-7433-389E-0F56-B0FFD9E8B0CC}"/>
              </a:ext>
            </a:extLst>
          </p:cNvPr>
          <p:cNvSpPr>
            <a:spLocks noGrp="1" noChangeArrowheads="1"/>
          </p:cNvSpPr>
          <p:nvPr>
            <p:ph type="title"/>
          </p:nvPr>
        </p:nvSpPr>
        <p:spPr/>
        <p:txBody>
          <a:bodyPr/>
          <a:lstStyle/>
          <a:p>
            <a:pPr algn="l" eaLnBrk="1" hangingPunct="1"/>
            <a:r>
              <a:rPr lang="zh-CN" altLang="en-US" dirty="0"/>
              <a:t>例</a:t>
            </a:r>
            <a:r>
              <a:rPr lang="en-US" altLang="zh-CN" dirty="0"/>
              <a:t>5(</a:t>
            </a:r>
            <a:r>
              <a:rPr lang="zh-CN" altLang="en-US" dirty="0"/>
              <a:t>续</a:t>
            </a:r>
            <a:r>
              <a:rPr lang="en-US" altLang="zh-CN" dirty="0"/>
              <a:t>2)</a:t>
            </a:r>
          </a:p>
        </p:txBody>
      </p:sp>
      <p:sp>
        <p:nvSpPr>
          <p:cNvPr id="279555" name="Rectangle 3">
            <a:extLst>
              <a:ext uri="{FF2B5EF4-FFF2-40B4-BE49-F238E27FC236}">
                <a16:creationId xmlns:a16="http://schemas.microsoft.com/office/drawing/2014/main" id="{112DF006-F843-4694-D591-E81169EF6CE1}"/>
              </a:ext>
            </a:extLst>
          </p:cNvPr>
          <p:cNvSpPr>
            <a:spLocks noGrp="1" noChangeArrowheads="1"/>
          </p:cNvSpPr>
          <p:nvPr>
            <p:ph type="body" idx="1"/>
          </p:nvPr>
        </p:nvSpPr>
        <p:spPr>
          <a:xfrm>
            <a:off x="469829" y="1296194"/>
            <a:ext cx="8067746" cy="990599"/>
          </a:xfrm>
        </p:spPr>
        <p:txBody>
          <a:bodyPr>
            <a:noAutofit/>
          </a:bodyPr>
          <a:lstStyle/>
          <a:p>
            <a:pPr>
              <a:lnSpc>
                <a:spcPct val="100000"/>
              </a:lnSpc>
              <a:buClrTx/>
              <a:buFontTx/>
              <a:buNone/>
            </a:pPr>
            <a:r>
              <a:rPr lang="en-US" altLang="zh-CN">
                <a:solidFill>
                  <a:srgbClr val="6600CC"/>
                </a:solidFill>
              </a:rPr>
              <a:t>5.</a:t>
            </a:r>
            <a:r>
              <a:rPr lang="zh-CN" altLang="en-US">
                <a:solidFill>
                  <a:srgbClr val="0000FF"/>
                </a:solidFill>
              </a:rPr>
              <a:t>二维概率密度</a:t>
            </a:r>
          </a:p>
        </p:txBody>
      </p:sp>
      <mc:AlternateContent xmlns:mc="http://schemas.openxmlformats.org/markup-compatibility/2006" xmlns:a14="http://schemas.microsoft.com/office/drawing/2010/main">
        <mc:Choice Requires="a14">
          <p:sp>
            <p:nvSpPr>
              <p:cNvPr id="279556" name="Object 4">
                <a:extLst>
                  <a:ext uri="{FF2B5EF4-FFF2-40B4-BE49-F238E27FC236}">
                    <a16:creationId xmlns:a16="http://schemas.microsoft.com/office/drawing/2014/main" id="{557FED4A-791A-EC41-4D42-B4F136877FF0}"/>
                  </a:ext>
                </a:extLst>
              </p:cNvPr>
              <p:cNvSpPr txBox="1"/>
              <p:nvPr/>
            </p:nvSpPr>
            <p:spPr bwMode="auto">
              <a:xfrm>
                <a:off x="765175" y="2134394"/>
                <a:ext cx="10887076" cy="4876800"/>
              </a:xfrm>
              <a:prstGeom prst="rect">
                <a:avLst/>
              </a:prstGeom>
              <a:noFill/>
              <a:ln>
                <a:noFill/>
              </a:ln>
              <a:effectLst/>
            </p:spPr>
            <p:txBody>
              <a:bodyPr>
                <a:normAutofit/>
              </a:bodyPr>
              <a:lstStyle/>
              <a:p>
                <a14:m>
                  <m:oMath xmlns:m="http://schemas.openxmlformats.org/officeDocument/2006/math">
                    <m:r>
                      <a:rPr lang="zh-CN" altLang="en-US" i="1" smtClean="0">
                        <a:solidFill>
                          <a:srgbClr val="000000"/>
                        </a:solidFill>
                        <a:latin typeface="Cambria Math" panose="02040503050406030204" pitchFamily="18" charset="0"/>
                      </a:rPr>
                      <m:t>𝑓</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𝑠</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𝑡</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𝑥</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𝑦</m:t>
                    </m:r>
                    <m:r>
                      <a:rPr lang="zh-CN" altLang="en-US"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ad>
                          <m:radPr>
                            <m:degHide m:val="on"/>
                            <m:ctrlPr>
                              <a:rPr lang="en-US" altLang="zh-CN" i="1">
                                <a:solidFill>
                                  <a:srgbClr val="000000"/>
                                </a:solidFill>
                                <a:latin typeface="Cambria Math" panose="02040503050406030204" pitchFamily="18" charset="0"/>
                              </a:rPr>
                            </m:ctrlPr>
                          </m:radPr>
                          <m:deg/>
                          <m:e>
                            <m:r>
                              <a:rPr lang="en-US" altLang="zh-CN" i="1">
                                <a:solidFill>
                                  <a:srgbClr val="000000"/>
                                </a:solidFill>
                                <a:latin typeface="Cambria Math" panose="02040503050406030204" pitchFamily="18" charset="0"/>
                              </a:rPr>
                              <m:t>𝐷</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𝑠</m:t>
                                </m:r>
                              </m:e>
                            </m:d>
                            <m:r>
                              <a:rPr lang="en-US" altLang="zh-CN" i="1">
                                <a:solidFill>
                                  <a:srgbClr val="000000"/>
                                </a:solidFill>
                                <a:latin typeface="Cambria Math" panose="02040503050406030204" pitchFamily="18" charset="0"/>
                              </a:rPr>
                              <m:t>𝐷</m:t>
                            </m:r>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𝑡</m:t>
                            </m:r>
                            <m:r>
                              <a:rPr lang="en-US" altLang="zh-CN" i="1">
                                <a:solidFill>
                                  <a:srgbClr val="000000"/>
                                </a:solidFill>
                                <a:latin typeface="Cambria Math" panose="02040503050406030204" pitchFamily="18" charset="0"/>
                              </a:rPr>
                              <m:t>)(1−</m:t>
                            </m:r>
                            <m:sSup>
                              <m:sSupPr>
                                <m:ctrlPr>
                                  <a:rPr lang="en-US" altLang="zh-CN"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𝜌</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𝑠</m:t>
                                    </m:r>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𝑡</m:t>
                                    </m:r>
                                  </m:e>
                                </m:d>
                              </m:e>
                              <m:sup>
                                <m:r>
                                  <a:rPr lang="en-US" altLang="zh-CN" i="1">
                                    <a:solidFill>
                                      <a:srgbClr val="000000"/>
                                    </a:solidFill>
                                    <a:latin typeface="Cambria Math" panose="02040503050406030204" pitchFamily="18" charset="0"/>
                                  </a:rPr>
                                  <m:t>2</m:t>
                                </m:r>
                              </m:sup>
                            </m:sSup>
                            <m:r>
                              <a:rPr lang="en-US" altLang="zh-CN" b="0" i="1" smtClean="0">
                                <a:solidFill>
                                  <a:srgbClr val="000000"/>
                                </a:solidFill>
                                <a:latin typeface="Cambria Math" panose="02040503050406030204" pitchFamily="18" charset="0"/>
                              </a:rPr>
                              <m:t>)</m:t>
                            </m:r>
                          </m:e>
                        </m:rad>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𝒆</m:t>
                        </m:r>
                      </m:e>
                      <m:sup>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𝟏</m:t>
                            </m:r>
                          </m:num>
                          <m:den>
                            <m:r>
                              <a:rPr lang="en-US" altLang="zh-CN" b="1" i="1">
                                <a:solidFill>
                                  <a:srgbClr val="000000"/>
                                </a:solidFill>
                                <a:latin typeface="Cambria Math" panose="02040503050406030204" pitchFamily="18" charset="0"/>
                              </a:rPr>
                              <m:t>𝟐</m:t>
                            </m:r>
                          </m:den>
                        </m:f>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𝒙</m:t>
                            </m:r>
                          </m:num>
                          <m:den>
                            <m:r>
                              <a:rPr lang="en-US" altLang="zh-CN" i="1">
                                <a:solidFill>
                                  <a:srgbClr val="000000"/>
                                </a:solidFill>
                                <a:latin typeface="Cambria Math" panose="02040503050406030204" pitchFamily="18" charset="0"/>
                              </a:rPr>
                              <m:t>𝐷</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𝑠</m:t>
                                </m:r>
                              </m:e>
                            </m:d>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m:t>
                            </m:r>
                          </m:e>
                          <m:sup>
                            <m:r>
                              <a:rPr lang="en-US" altLang="zh-CN" b="1" i="1">
                                <a:solidFill>
                                  <a:srgbClr val="000000"/>
                                </a:solidFill>
                                <a:latin typeface="Cambria Math" panose="02040503050406030204" pitchFamily="18" charset="0"/>
                              </a:rPr>
                              <m:t>𝟐</m:t>
                            </m:r>
                          </m:sup>
                        </m:sSup>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𝒚</m:t>
                            </m:r>
                          </m:num>
                          <m:den>
                            <m:r>
                              <a:rPr lang="en-US" altLang="zh-CN" i="1">
                                <a:solidFill>
                                  <a:srgbClr val="000000"/>
                                </a:solidFill>
                                <a:latin typeface="Cambria Math" panose="02040503050406030204" pitchFamily="18" charset="0"/>
                              </a:rPr>
                              <m:t>𝐷</m:t>
                            </m:r>
                            <m:d>
                              <m:dPr>
                                <m:ctrlPr>
                                  <a:rPr lang="en-US" altLang="zh-CN" i="1">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𝑡</m:t>
                                </m:r>
                              </m:e>
                            </m:d>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m:t>
                            </m:r>
                          </m:e>
                          <m:sup>
                            <m:r>
                              <a:rPr lang="en-US" altLang="zh-CN" b="1" i="1">
                                <a:solidFill>
                                  <a:srgbClr val="000000"/>
                                </a:solidFill>
                                <a:latin typeface="Cambria Math" panose="02040503050406030204" pitchFamily="18" charset="0"/>
                              </a:rPr>
                              <m:t>𝟐</m:t>
                            </m:r>
                          </m:sup>
                        </m:sSup>
                        <m:r>
                          <a:rPr lang="en-US" altLang="zh-CN" b="1" i="1">
                            <a:solidFill>
                              <a:srgbClr val="000000"/>
                            </a:solidFill>
                            <a:latin typeface="Cambria Math" panose="02040503050406030204" pitchFamily="18" charset="0"/>
                          </a:rPr>
                          <m:t>]</m:t>
                        </m:r>
                      </m:sup>
                    </m:sSup>
                  </m:oMath>
                </a14:m>
                <a:r>
                  <a:rPr lang="zh-CN" altLang="en-US" dirty="0">
                    <a:solidFill>
                      <a:srgbClr val="000000"/>
                    </a:solidFill>
                  </a:rPr>
                  <a:t> </a:t>
                </a:r>
                <a14:m>
                  <m:oMath xmlns:m="http://schemas.openxmlformats.org/officeDocument/2006/math">
                    <m:r>
                      <a:rPr lang="zh-CN" altLang="en-US" i="1">
                        <a:solidFill>
                          <a:srgbClr val="000000"/>
                        </a:solidFill>
                        <a:latin typeface="Cambria Math" panose="02040503050406030204" pitchFamily="18" charset="0"/>
                      </a:rPr>
                      <m:t>)</m:t>
                    </m:r>
                  </m:oMath>
                </a14:m>
                <a:endParaRPr lang="en-US" altLang="zh-CN" i="1" dirty="0">
                  <a:solidFill>
                    <a:srgbClr val="000000"/>
                  </a:solidFill>
                  <a:latin typeface="Cambria Math" panose="02040503050406030204" pitchFamily="18" charset="0"/>
                </a:endParaRPr>
              </a:p>
              <a:p>
                <a:endParaRPr lang="en-US" altLang="zh-CN" dirty="0">
                  <a:solidFill>
                    <a:srgbClr val="000000"/>
                  </a:solidFill>
                </a:endParaRPr>
              </a:p>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                     </m:t>
                      </m:r>
                      <m:r>
                        <a:rPr lang="zh-CN" altLang="en-US"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ad>
                            <m:radPr>
                              <m:degHide m:val="on"/>
                              <m:ctrlPr>
                                <a:rPr lang="en-US" altLang="zh-CN" i="1">
                                  <a:solidFill>
                                    <a:srgbClr val="000000"/>
                                  </a:solidFill>
                                  <a:latin typeface="Cambria Math" panose="02040503050406030204" pitchFamily="18" charset="0"/>
                                </a:rPr>
                              </m:ctrlPr>
                            </m:radPr>
                            <m:deg/>
                            <m:e>
                              <m:r>
                                <a:rPr lang="en-US" altLang="zh-CN" i="1">
                                  <a:solidFill>
                                    <a:srgbClr val="000000"/>
                                  </a:solidFill>
                                  <a:latin typeface="Cambria Math" panose="02040503050406030204" pitchFamily="18" charset="0"/>
                                </a:rPr>
                                <m:t>𝐷</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𝑠</m:t>
                                  </m:r>
                                </m:e>
                              </m:d>
                              <m:r>
                                <a:rPr lang="en-US" altLang="zh-CN" i="1">
                                  <a:solidFill>
                                    <a:srgbClr val="000000"/>
                                  </a:solidFill>
                                  <a:latin typeface="Cambria Math" panose="02040503050406030204" pitchFamily="18" charset="0"/>
                                </a:rPr>
                                <m:t>𝐷</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𝑡</m:t>
                                  </m:r>
                                </m:e>
                              </m:d>
                              <m:r>
                                <a:rPr lang="en-US" altLang="zh-CN" i="1">
                                  <a:solidFill>
                                    <a:srgbClr val="000000"/>
                                  </a:solidFill>
                                  <a:latin typeface="Cambria Math" panose="02040503050406030204" pitchFamily="18" charset="0"/>
                                </a:rPr>
                                <m:t>−</m:t>
                              </m:r>
                              <m:sSup>
                                <m:sSupPr>
                                  <m:ctrlPr>
                                    <a:rPr lang="en-US" altLang="zh-CN" i="1">
                                      <a:latin typeface="Cambria Math" panose="02040503050406030204" pitchFamily="18" charset="0"/>
                                    </a:rPr>
                                  </m:ctrlPr>
                                </m:sSupPr>
                                <m:e>
                                  <m:func>
                                    <m:funcPr>
                                      <m:ctrlPr>
                                        <a:rPr lang="zh-CN" altLang="en-US" i="1">
                                          <a:latin typeface="Cambria Math" panose="02040503050406030204" pitchFamily="18" charset="0"/>
                                        </a:rPr>
                                      </m:ctrlPr>
                                    </m:funcPr>
                                    <m:fName>
                                      <m:r>
                                        <m:rPr>
                                          <m:sty m:val="p"/>
                                        </m:rPr>
                                        <a:rPr lang="zh-CN" altLang="en-US">
                                          <a:latin typeface="Cambria Math" panose="02040503050406030204" pitchFamily="18" charset="0"/>
                                        </a:rPr>
                                        <m:t>cov</m:t>
                                      </m:r>
                                    </m:fName>
                                    <m:e>
                                      <m:r>
                                        <a:rPr lang="zh-CN" altLang="en-US" i="1">
                                          <a:latin typeface="Cambria Math" panose="02040503050406030204" pitchFamily="18" charset="0"/>
                                        </a:rPr>
                                        <m:t>(</m:t>
                                      </m:r>
                                    </m:e>
                                  </m:func>
                                  <m:r>
                                    <a:rPr lang="zh-CN" altLang="en-US" i="1">
                                      <a:latin typeface="Cambria Math" panose="02040503050406030204" pitchFamily="18" charset="0"/>
                                    </a:rPr>
                                    <m:t>𝑋</m:t>
                                  </m:r>
                                  <m:r>
                                    <a:rPr lang="zh-CN" altLang="en-US" i="1">
                                      <a:latin typeface="Cambria Math" panose="02040503050406030204" pitchFamily="18" charset="0"/>
                                    </a:rPr>
                                    <m:t>(</m:t>
                                  </m:r>
                                  <m:r>
                                    <a:rPr lang="zh-CN" altLang="en-US" i="1">
                                      <a:latin typeface="Cambria Math" panose="02040503050406030204" pitchFamily="18" charset="0"/>
                                    </a:rPr>
                                    <m:t>𝑠</m:t>
                                  </m:r>
                                  <m:r>
                                    <a:rPr lang="zh-CN" altLang="en-US" i="1">
                                      <a:latin typeface="Cambria Math" panose="02040503050406030204" pitchFamily="18" charset="0"/>
                                    </a:rPr>
                                    <m:t>),</m:t>
                                  </m:r>
                                  <m:r>
                                    <a:rPr lang="zh-CN" altLang="en-US" i="1">
                                      <a:latin typeface="Cambria Math" panose="02040503050406030204" pitchFamily="18" charset="0"/>
                                    </a:rPr>
                                    <m:t>𝑋</m:t>
                                  </m:r>
                                  <m:r>
                                    <a:rPr lang="zh-CN" altLang="en-US" i="1">
                                      <a:latin typeface="Cambria Math" panose="02040503050406030204" pitchFamily="18" charset="0"/>
                                    </a:rPr>
                                    <m:t>(</m:t>
                                  </m:r>
                                  <m:r>
                                    <a:rPr lang="zh-CN" altLang="en-US" i="1">
                                      <a:latin typeface="Cambria Math" panose="02040503050406030204" pitchFamily="18" charset="0"/>
                                    </a:rPr>
                                    <m:t>𝑡</m:t>
                                  </m:r>
                                  <m:r>
                                    <a:rPr lang="zh-CN" altLang="en-US" i="1">
                                      <a:latin typeface="Cambria Math" panose="02040503050406030204" pitchFamily="18" charset="0"/>
                                    </a:rPr>
                                    <m:t>))</m:t>
                                  </m:r>
                                </m:e>
                                <m:sup>
                                  <m:r>
                                    <a:rPr lang="en-US" altLang="zh-CN" i="1">
                                      <a:latin typeface="Cambria Math" panose="02040503050406030204" pitchFamily="18" charset="0"/>
                                    </a:rPr>
                                    <m:t>2</m:t>
                                  </m:r>
                                </m:sup>
                              </m:sSup>
                            </m:e>
                          </m:rad>
                          <m:r>
                            <a:rPr lang="en-US" altLang="zh-CN" i="1" smtClean="0">
                              <a:solidFill>
                                <a:srgbClr val="000000"/>
                              </a:solidFill>
                              <a:latin typeface="Cambria Math" panose="02040503050406030204" pitchFamily="18" charset="0"/>
                            </a:rPr>
                            <m:t> </m:t>
                          </m:r>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𝒆</m:t>
                          </m:r>
                        </m:e>
                        <m:sup>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𝟏</m:t>
                              </m:r>
                            </m:num>
                            <m:den>
                              <m:r>
                                <a:rPr lang="en-US" altLang="zh-CN" b="1" i="1">
                                  <a:solidFill>
                                    <a:srgbClr val="000000"/>
                                  </a:solidFill>
                                  <a:latin typeface="Cambria Math" panose="02040503050406030204" pitchFamily="18" charset="0"/>
                                </a:rPr>
                                <m:t>𝟐</m:t>
                              </m:r>
                            </m:den>
                          </m:f>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𝒙</m:t>
                              </m:r>
                            </m:num>
                            <m:den>
                              <m:r>
                                <a:rPr lang="en-US" altLang="zh-CN" i="1">
                                  <a:solidFill>
                                    <a:srgbClr val="000000"/>
                                  </a:solidFill>
                                  <a:latin typeface="Cambria Math" panose="02040503050406030204" pitchFamily="18" charset="0"/>
                                </a:rPr>
                                <m:t>𝐷</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𝑠</m:t>
                                  </m:r>
                                </m:e>
                              </m:d>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m:t>
                              </m:r>
                            </m:e>
                            <m:sup>
                              <m:r>
                                <a:rPr lang="en-US" altLang="zh-CN" b="1" i="1">
                                  <a:solidFill>
                                    <a:srgbClr val="000000"/>
                                  </a:solidFill>
                                  <a:latin typeface="Cambria Math" panose="02040503050406030204" pitchFamily="18" charset="0"/>
                                </a:rPr>
                                <m:t>𝟐</m:t>
                              </m:r>
                            </m:sup>
                          </m:sSup>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𝒚</m:t>
                              </m:r>
                            </m:num>
                            <m:den>
                              <m:r>
                                <a:rPr lang="en-US" altLang="zh-CN" i="1">
                                  <a:solidFill>
                                    <a:srgbClr val="000000"/>
                                  </a:solidFill>
                                  <a:latin typeface="Cambria Math" panose="02040503050406030204" pitchFamily="18" charset="0"/>
                                </a:rPr>
                                <m:t>𝐷</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𝑡</m:t>
                                  </m:r>
                                </m:e>
                              </m:d>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m:t>
                              </m:r>
                            </m:e>
                            <m:sup>
                              <m:r>
                                <a:rPr lang="en-US" altLang="zh-CN" b="1" i="1">
                                  <a:solidFill>
                                    <a:srgbClr val="000000"/>
                                  </a:solidFill>
                                  <a:latin typeface="Cambria Math" panose="02040503050406030204" pitchFamily="18" charset="0"/>
                                </a:rPr>
                                <m:t>𝟐</m:t>
                              </m:r>
                            </m:sup>
                          </m:sSup>
                          <m:r>
                            <a:rPr lang="en-US" altLang="zh-CN" b="1" i="1">
                              <a:solidFill>
                                <a:srgbClr val="000000"/>
                              </a:solidFill>
                              <a:latin typeface="Cambria Math" panose="02040503050406030204" pitchFamily="18" charset="0"/>
                            </a:rPr>
                            <m:t>]</m:t>
                          </m:r>
                        </m:sup>
                      </m:sSup>
                      <m:r>
                        <m:rPr>
                          <m:nor/>
                        </m:rPr>
                        <a:rPr lang="zh-CN" altLang="en-US" dirty="0">
                          <a:solidFill>
                            <a:srgbClr val="000000"/>
                          </a:solidFill>
                        </a:rPr>
                        <m:t> </m:t>
                      </m:r>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𝐶</m:t>
                                  </m:r>
                                </m:e>
                              </m:d>
                            </m:e>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sup>
                          </m:sSup>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𝐶</m:t>
                              </m:r>
                            </m:e>
                            <m:sup>
                              <m:r>
                                <a:rPr lang="zh-CN" altLang="en-US" i="1">
                                  <a:solidFill>
                                    <a:srgbClr val="000000"/>
                                  </a:solidFill>
                                  <a:latin typeface="Cambria Math" panose="02040503050406030204" pitchFamily="18" charset="0"/>
                                </a:rPr>
                                <m:t>−1</m:t>
                              </m:r>
                            </m:sup>
                          </m:sSup>
                          <m:d>
                            <m:dPr>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𝑥</m:t>
                                    </m:r>
                                  </m:e>
                                </m:mr>
                                <m:mr>
                                  <m:e>
                                    <m:r>
                                      <a:rPr lang="zh-CN" altLang="en-US" i="1">
                                        <a:solidFill>
                                          <a:srgbClr val="000000"/>
                                        </a:solidFill>
                                        <a:latin typeface="Cambria Math" panose="02040503050406030204" pitchFamily="18" charset="0"/>
                                      </a:rPr>
                                      <m:t>𝑦</m:t>
                                    </m:r>
                                  </m:e>
                                </m:mr>
                              </m:m>
                            </m:e>
                          </m:d>
                        </m:sup>
                      </m:sSup>
                    </m:oMath>
                  </m:oMathPara>
                </a14:m>
                <a:endParaRPr lang="en-US" altLang="zh-CN" dirty="0"/>
              </a:p>
              <a:p>
                <a:endParaRPr lang="zh-CN" altLang="en-US" dirty="0"/>
              </a:p>
            </p:txBody>
          </p:sp>
        </mc:Choice>
        <mc:Fallback xmlns="">
          <p:sp>
            <p:nvSpPr>
              <p:cNvPr id="279556" name="Object 4">
                <a:extLst>
                  <a:ext uri="{FF2B5EF4-FFF2-40B4-BE49-F238E27FC236}">
                    <a16:creationId xmlns:a16="http://schemas.microsoft.com/office/drawing/2014/main" id="{557FED4A-791A-EC41-4D42-B4F136877FF0}"/>
                  </a:ext>
                </a:extLst>
              </p:cNvPr>
              <p:cNvSpPr txBox="1">
                <a:spLocks noRot="1" noChangeAspect="1" noMove="1" noResize="1" noEditPoints="1" noAdjustHandles="1" noChangeArrowheads="1" noChangeShapeType="1" noTextEdit="1"/>
              </p:cNvSpPr>
              <p:nvPr/>
            </p:nvSpPr>
            <p:spPr bwMode="auto">
              <a:xfrm>
                <a:off x="765175" y="2134394"/>
                <a:ext cx="10887076" cy="487680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9557" name="Object 5">
                <a:extLst>
                  <a:ext uri="{FF2B5EF4-FFF2-40B4-BE49-F238E27FC236}">
                    <a16:creationId xmlns:a16="http://schemas.microsoft.com/office/drawing/2014/main" id="{9B4F08A7-A0C5-2316-BCFC-70C0509186BF}"/>
                  </a:ext>
                </a:extLst>
              </p:cNvPr>
              <p:cNvSpPr txBox="1"/>
              <p:nvPr/>
            </p:nvSpPr>
            <p:spPr bwMode="auto">
              <a:xfrm>
                <a:off x="2093913" y="5640388"/>
                <a:ext cx="8229600" cy="1219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e>
                          </m:d>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−2(1+</m:t>
                          </m:r>
                          <m:r>
                            <a:rPr lang="zh-CN" altLang="en-US" i="1">
                              <a:solidFill>
                                <a:srgbClr val="000000"/>
                              </a:solidFill>
                              <a:latin typeface="Cambria Math" panose="02040503050406030204" pitchFamily="18" charset="0"/>
                            </a:rPr>
                            <m:t>𝑠𝑡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𝑥𝑦</m:t>
                          </m:r>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𝑠</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𝑦</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up>
                      </m:sSup>
                    </m:oMath>
                  </m:oMathPara>
                </a14:m>
                <a:endParaRPr lang="zh-CN" altLang="en-US" dirty="0"/>
              </a:p>
            </p:txBody>
          </p:sp>
        </mc:Choice>
        <mc:Fallback xmlns="">
          <p:sp>
            <p:nvSpPr>
              <p:cNvPr id="279557" name="Object 5">
                <a:extLst>
                  <a:ext uri="{FF2B5EF4-FFF2-40B4-BE49-F238E27FC236}">
                    <a16:creationId xmlns:a16="http://schemas.microsoft.com/office/drawing/2014/main" id="{9B4F08A7-A0C5-2316-BCFC-70C0509186BF}"/>
                  </a:ext>
                </a:extLst>
              </p:cNvPr>
              <p:cNvSpPr txBox="1">
                <a:spLocks noRot="1" noChangeAspect="1" noMove="1" noResize="1" noEditPoints="1" noAdjustHandles="1" noChangeArrowheads="1" noChangeShapeType="1" noTextEdit="1"/>
              </p:cNvSpPr>
              <p:nvPr/>
            </p:nvSpPr>
            <p:spPr bwMode="auto">
              <a:xfrm>
                <a:off x="2093913" y="5640388"/>
                <a:ext cx="8229600" cy="1219200"/>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6708775" y="885257"/>
                <a:ext cx="5232651" cy="883703"/>
              </a:xfrm>
              <a:prstGeom prst="rect">
                <a:avLst/>
              </a:prstGeom>
              <a:solidFill>
                <a:schemeClr val="accent2"/>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rgbClr val="000000"/>
                          </a:solidFill>
                          <a:latin typeface="Cambria Math" panose="02040503050406030204" pitchFamily="18" charset="0"/>
                        </a:rPr>
                        <m:t>𝒇</m:t>
                      </m:r>
                      <m:d>
                        <m:dPr>
                          <m:ctrlPr>
                            <a:rPr lang="en-US" altLang="zh-CN" b="1" i="1">
                              <a:solidFill>
                                <a:srgbClr val="000000"/>
                              </a:solidFill>
                              <a:latin typeface="Cambria Math" panose="02040503050406030204" pitchFamily="18" charset="0"/>
                            </a:rPr>
                          </m:ctrlPr>
                        </m:dPr>
                        <m:e>
                          <m:r>
                            <a:rPr lang="en-US" altLang="zh-CN" b="1" i="1">
                              <a:solidFill>
                                <a:srgbClr val="000000"/>
                              </a:solidFill>
                              <a:latin typeface="Cambria Math" panose="02040503050406030204" pitchFamily="18" charset="0"/>
                            </a:rPr>
                            <m:t>𝒙</m:t>
                          </m:r>
                          <m:r>
                            <a:rPr lang="en-US" altLang="zh-CN" b="1" i="1">
                              <a:solidFill>
                                <a:srgbClr val="000000"/>
                              </a:solidFill>
                              <a:latin typeface="Cambria Math" panose="02040503050406030204" pitchFamily="18" charset="0"/>
                            </a:rPr>
                            <m:t>,</m:t>
                          </m:r>
                          <m:r>
                            <a:rPr lang="en-US" altLang="zh-CN" b="1" i="1">
                              <a:solidFill>
                                <a:srgbClr val="000000"/>
                              </a:solidFill>
                              <a:latin typeface="Cambria Math" panose="02040503050406030204" pitchFamily="18" charset="0"/>
                            </a:rPr>
                            <m:t>𝒚</m:t>
                          </m:r>
                        </m:e>
                      </m:d>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𝟏</m:t>
                          </m:r>
                        </m:num>
                        <m:den>
                          <m:r>
                            <a:rPr lang="en-US" altLang="zh-CN" b="1" i="1">
                              <a:solidFill>
                                <a:srgbClr val="000000"/>
                              </a:solidFill>
                              <a:latin typeface="Cambria Math" panose="02040503050406030204" pitchFamily="18" charset="0"/>
                            </a:rPr>
                            <m:t>𝟐</m:t>
                          </m:r>
                          <m:r>
                            <a:rPr lang="en-US" altLang="zh-CN" b="1" i="1">
                              <a:solidFill>
                                <a:srgbClr val="000000"/>
                              </a:solidFill>
                              <a:latin typeface="Cambria Math" panose="02040503050406030204" pitchFamily="18" charset="0"/>
                            </a:rPr>
                            <m:t>𝝅</m:t>
                          </m:r>
                          <m:sSub>
                            <m:sSubPr>
                              <m:ctrlPr>
                                <a:rPr lang="en-US" altLang="zh-CN" b="1" i="1">
                                  <a:solidFill>
                                    <a:srgbClr val="000000"/>
                                  </a:solidFill>
                                  <a:latin typeface="Cambria Math" panose="02040503050406030204" pitchFamily="18" charset="0"/>
                                </a:rPr>
                              </m:ctrlPr>
                            </m:sSubPr>
                            <m:e>
                              <m:r>
                                <a:rPr lang="en-US" altLang="zh-CN" b="1" i="1">
                                  <a:solidFill>
                                    <a:srgbClr val="000000"/>
                                  </a:solidFill>
                                  <a:latin typeface="Cambria Math" panose="02040503050406030204" pitchFamily="18" charset="0"/>
                                </a:rPr>
                                <m:t>𝝈</m:t>
                              </m:r>
                            </m:e>
                            <m:sub>
                              <m:r>
                                <a:rPr lang="en-US" altLang="zh-CN" b="1" i="1">
                                  <a:solidFill>
                                    <a:srgbClr val="000000"/>
                                  </a:solidFill>
                                  <a:latin typeface="Cambria Math" panose="02040503050406030204" pitchFamily="18" charset="0"/>
                                </a:rPr>
                                <m:t>𝟏</m:t>
                              </m:r>
                            </m:sub>
                          </m:sSub>
                          <m:sSub>
                            <m:sSubPr>
                              <m:ctrlPr>
                                <a:rPr lang="en-US" altLang="zh-CN" b="1" i="1">
                                  <a:solidFill>
                                    <a:srgbClr val="000000"/>
                                  </a:solidFill>
                                  <a:latin typeface="Cambria Math" panose="02040503050406030204" pitchFamily="18" charset="0"/>
                                </a:rPr>
                              </m:ctrlPr>
                            </m:sSubPr>
                            <m:e>
                              <m:r>
                                <a:rPr lang="en-US" altLang="zh-CN" b="1" i="1">
                                  <a:solidFill>
                                    <a:srgbClr val="000000"/>
                                  </a:solidFill>
                                  <a:latin typeface="Cambria Math" panose="02040503050406030204" pitchFamily="18" charset="0"/>
                                </a:rPr>
                                <m:t>𝝈</m:t>
                              </m:r>
                            </m:e>
                            <m:sub>
                              <m:r>
                                <a:rPr lang="en-US" altLang="zh-CN" b="1" i="1">
                                  <a:solidFill>
                                    <a:srgbClr val="000000"/>
                                  </a:solidFill>
                                  <a:latin typeface="Cambria Math" panose="02040503050406030204" pitchFamily="18" charset="0"/>
                                </a:rPr>
                                <m:t>𝟐</m:t>
                              </m:r>
                            </m:sub>
                          </m:sSub>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𝒆</m:t>
                          </m:r>
                        </m:e>
                        <m:sup>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𝟏</m:t>
                              </m:r>
                            </m:num>
                            <m:den>
                              <m:r>
                                <a:rPr lang="en-US" altLang="zh-CN" b="1" i="1">
                                  <a:solidFill>
                                    <a:srgbClr val="000000"/>
                                  </a:solidFill>
                                  <a:latin typeface="Cambria Math" panose="02040503050406030204" pitchFamily="18" charset="0"/>
                                </a:rPr>
                                <m:t>𝟐</m:t>
                              </m:r>
                            </m:den>
                          </m:f>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𝒙</m:t>
                              </m:r>
                              <m:r>
                                <a:rPr lang="en-US" altLang="zh-CN" b="1" i="1">
                                  <a:solidFill>
                                    <a:srgbClr val="000000"/>
                                  </a:solidFill>
                                  <a:latin typeface="Cambria Math" panose="02040503050406030204" pitchFamily="18" charset="0"/>
                                </a:rPr>
                                <m:t>−</m:t>
                              </m:r>
                              <m:sSub>
                                <m:sSubPr>
                                  <m:ctrlPr>
                                    <a:rPr lang="en-US" altLang="zh-CN" b="1" i="1">
                                      <a:solidFill>
                                        <a:srgbClr val="000000"/>
                                      </a:solidFill>
                                      <a:latin typeface="Cambria Math" panose="02040503050406030204" pitchFamily="18" charset="0"/>
                                    </a:rPr>
                                  </m:ctrlPr>
                                </m:sSubPr>
                                <m:e>
                                  <m:r>
                                    <a:rPr lang="en-US" altLang="zh-CN" b="1" i="1">
                                      <a:solidFill>
                                        <a:srgbClr val="000000"/>
                                      </a:solidFill>
                                      <a:latin typeface="Cambria Math" panose="02040503050406030204" pitchFamily="18" charset="0"/>
                                    </a:rPr>
                                    <m:t>𝝁</m:t>
                                  </m:r>
                                </m:e>
                                <m:sub>
                                  <m:r>
                                    <a:rPr lang="en-US" altLang="zh-CN" b="1" i="1">
                                      <a:solidFill>
                                        <a:srgbClr val="000000"/>
                                      </a:solidFill>
                                      <a:latin typeface="Cambria Math" panose="02040503050406030204" pitchFamily="18" charset="0"/>
                                    </a:rPr>
                                    <m:t>𝟏</m:t>
                                  </m:r>
                                </m:sub>
                              </m:sSub>
                            </m:num>
                            <m:den>
                              <m:sSub>
                                <m:sSubPr>
                                  <m:ctrlPr>
                                    <a:rPr lang="en-US" altLang="zh-CN" b="1" i="1">
                                      <a:solidFill>
                                        <a:srgbClr val="000000"/>
                                      </a:solidFill>
                                      <a:latin typeface="Cambria Math" panose="02040503050406030204" pitchFamily="18" charset="0"/>
                                    </a:rPr>
                                  </m:ctrlPr>
                                </m:sSubPr>
                                <m:e>
                                  <m:r>
                                    <a:rPr lang="en-US" altLang="zh-CN" b="1" i="1">
                                      <a:solidFill>
                                        <a:srgbClr val="000000"/>
                                      </a:solidFill>
                                      <a:latin typeface="Cambria Math" panose="02040503050406030204" pitchFamily="18" charset="0"/>
                                    </a:rPr>
                                    <m:t>𝝈</m:t>
                                  </m:r>
                                </m:e>
                                <m:sub>
                                  <m:r>
                                    <a:rPr lang="en-US" altLang="zh-CN" b="1" i="1">
                                      <a:solidFill>
                                        <a:srgbClr val="000000"/>
                                      </a:solidFill>
                                      <a:latin typeface="Cambria Math" panose="02040503050406030204" pitchFamily="18" charset="0"/>
                                    </a:rPr>
                                    <m:t>𝟏</m:t>
                                  </m:r>
                                </m:sub>
                              </m:sSub>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m:t>
                              </m:r>
                            </m:e>
                            <m:sup>
                              <m:r>
                                <a:rPr lang="en-US" altLang="zh-CN" b="1" i="1">
                                  <a:solidFill>
                                    <a:srgbClr val="000000"/>
                                  </a:solidFill>
                                  <a:latin typeface="Cambria Math" panose="02040503050406030204" pitchFamily="18" charset="0"/>
                                </a:rPr>
                                <m:t>𝟐</m:t>
                              </m:r>
                            </m:sup>
                          </m:sSup>
                          <m:r>
                            <a:rPr lang="en-US" altLang="zh-CN" b="1" i="1">
                              <a:solidFill>
                                <a:srgbClr val="000000"/>
                              </a:solidFill>
                              <a:latin typeface="Cambria Math" panose="02040503050406030204" pitchFamily="18" charset="0"/>
                            </a:rPr>
                            <m:t>+(</m:t>
                          </m:r>
                          <m:f>
                            <m:fPr>
                              <m:ctrlPr>
                                <a:rPr lang="en-US" altLang="zh-CN" b="1" i="1">
                                  <a:solidFill>
                                    <a:srgbClr val="000000"/>
                                  </a:solidFill>
                                  <a:latin typeface="Cambria Math" panose="02040503050406030204" pitchFamily="18" charset="0"/>
                                </a:rPr>
                              </m:ctrlPr>
                            </m:fPr>
                            <m:num>
                              <m:r>
                                <a:rPr lang="en-US" altLang="zh-CN" b="1" i="1">
                                  <a:solidFill>
                                    <a:srgbClr val="000000"/>
                                  </a:solidFill>
                                  <a:latin typeface="Cambria Math" panose="02040503050406030204" pitchFamily="18" charset="0"/>
                                </a:rPr>
                                <m:t>𝒚</m:t>
                              </m:r>
                              <m:r>
                                <a:rPr lang="en-US" altLang="zh-CN" b="1" i="1">
                                  <a:solidFill>
                                    <a:srgbClr val="000000"/>
                                  </a:solidFill>
                                  <a:latin typeface="Cambria Math" panose="02040503050406030204" pitchFamily="18" charset="0"/>
                                </a:rPr>
                                <m:t>−</m:t>
                              </m:r>
                              <m:sSub>
                                <m:sSubPr>
                                  <m:ctrlPr>
                                    <a:rPr lang="en-US" altLang="zh-CN" b="1" i="1">
                                      <a:solidFill>
                                        <a:srgbClr val="000000"/>
                                      </a:solidFill>
                                      <a:latin typeface="Cambria Math" panose="02040503050406030204" pitchFamily="18" charset="0"/>
                                    </a:rPr>
                                  </m:ctrlPr>
                                </m:sSubPr>
                                <m:e>
                                  <m:r>
                                    <a:rPr lang="en-US" altLang="zh-CN" b="1" i="1">
                                      <a:solidFill>
                                        <a:srgbClr val="000000"/>
                                      </a:solidFill>
                                      <a:latin typeface="Cambria Math" panose="02040503050406030204" pitchFamily="18" charset="0"/>
                                    </a:rPr>
                                    <m:t>𝝁</m:t>
                                  </m:r>
                                </m:e>
                                <m:sub>
                                  <m:r>
                                    <a:rPr lang="en-US" altLang="zh-CN" b="1" i="1">
                                      <a:solidFill>
                                        <a:srgbClr val="000000"/>
                                      </a:solidFill>
                                      <a:latin typeface="Cambria Math" panose="02040503050406030204" pitchFamily="18" charset="0"/>
                                    </a:rPr>
                                    <m:t>𝟐</m:t>
                                  </m:r>
                                </m:sub>
                              </m:sSub>
                            </m:num>
                            <m:den>
                              <m:sSub>
                                <m:sSubPr>
                                  <m:ctrlPr>
                                    <a:rPr lang="en-US" altLang="zh-CN" b="1" i="1">
                                      <a:solidFill>
                                        <a:srgbClr val="000000"/>
                                      </a:solidFill>
                                      <a:latin typeface="Cambria Math" panose="02040503050406030204" pitchFamily="18" charset="0"/>
                                    </a:rPr>
                                  </m:ctrlPr>
                                </m:sSubPr>
                                <m:e>
                                  <m:r>
                                    <a:rPr lang="en-US" altLang="zh-CN" b="1" i="1">
                                      <a:solidFill>
                                        <a:srgbClr val="000000"/>
                                      </a:solidFill>
                                      <a:latin typeface="Cambria Math" panose="02040503050406030204" pitchFamily="18" charset="0"/>
                                    </a:rPr>
                                    <m:t>𝝈</m:t>
                                  </m:r>
                                </m:e>
                                <m:sub>
                                  <m:r>
                                    <a:rPr lang="en-US" altLang="zh-CN" b="1" i="1">
                                      <a:solidFill>
                                        <a:srgbClr val="000000"/>
                                      </a:solidFill>
                                      <a:latin typeface="Cambria Math" panose="02040503050406030204" pitchFamily="18" charset="0"/>
                                    </a:rPr>
                                    <m:t>𝟐</m:t>
                                  </m:r>
                                </m:sub>
                              </m:sSub>
                            </m:den>
                          </m:f>
                          <m:sSup>
                            <m:sSupPr>
                              <m:ctrlPr>
                                <a:rPr lang="en-US" altLang="zh-CN" b="1" i="1">
                                  <a:solidFill>
                                    <a:srgbClr val="000000"/>
                                  </a:solidFill>
                                  <a:latin typeface="Cambria Math" panose="02040503050406030204" pitchFamily="18" charset="0"/>
                                </a:rPr>
                              </m:ctrlPr>
                            </m:sSupPr>
                            <m:e>
                              <m:r>
                                <a:rPr lang="en-US" altLang="zh-CN" b="1" i="1">
                                  <a:solidFill>
                                    <a:srgbClr val="000000"/>
                                  </a:solidFill>
                                  <a:latin typeface="Cambria Math" panose="02040503050406030204" pitchFamily="18" charset="0"/>
                                </a:rPr>
                                <m:t>)</m:t>
                              </m:r>
                            </m:e>
                            <m:sup>
                              <m:r>
                                <a:rPr lang="en-US" altLang="zh-CN" b="1" i="1">
                                  <a:solidFill>
                                    <a:srgbClr val="000000"/>
                                  </a:solidFill>
                                  <a:latin typeface="Cambria Math" panose="02040503050406030204" pitchFamily="18" charset="0"/>
                                </a:rPr>
                                <m:t>𝟐</m:t>
                              </m:r>
                            </m:sup>
                          </m:sSup>
                          <m:r>
                            <a:rPr lang="en-US" altLang="zh-CN" b="1" i="1">
                              <a:solidFill>
                                <a:srgbClr val="000000"/>
                              </a:solidFill>
                              <a:latin typeface="Cambria Math" panose="02040503050406030204" pitchFamily="18" charset="0"/>
                            </a:rPr>
                            <m:t>]</m:t>
                          </m:r>
                        </m:sup>
                      </m:sSup>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6708775" y="885257"/>
                <a:ext cx="5232651" cy="8837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36467343-96C6-72E1-D045-040CC429A277}"/>
                  </a:ext>
                </a:extLst>
              </p:cNvPr>
              <p:cNvSpPr txBox="1"/>
              <p:nvPr/>
            </p:nvSpPr>
            <p:spPr bwMode="auto">
              <a:xfrm>
                <a:off x="9070975" y="1981994"/>
                <a:ext cx="3127375" cy="924139"/>
              </a:xfrm>
              <a:prstGeom prst="rect">
                <a:avLst/>
              </a:prstGeom>
              <a:solidFill>
                <a:schemeClr val="tx2"/>
              </a:solid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𝜌</m:t>
                      </m:r>
                      <m:r>
                        <a:rPr lang="zh-CN" altLang="en-US" i="1" smtClean="0">
                          <a:solidFill>
                            <a:schemeClr val="bg1"/>
                          </a:solidFill>
                          <a:latin typeface="Cambria Math" panose="02040503050406030204" pitchFamily="18" charset="0"/>
                        </a:rPr>
                        <m:t>(</m:t>
                      </m:r>
                      <m:r>
                        <a:rPr lang="zh-CN" altLang="en-US" i="1" smtClean="0">
                          <a:solidFill>
                            <a:schemeClr val="bg1"/>
                          </a:solidFill>
                          <a:latin typeface="Cambria Math" panose="02040503050406030204" pitchFamily="18" charset="0"/>
                        </a:rPr>
                        <m:t>𝑠</m:t>
                      </m:r>
                      <m:r>
                        <a:rPr lang="zh-CN" altLang="en-US" i="1" smtClean="0">
                          <a:solidFill>
                            <a:schemeClr val="bg1"/>
                          </a:solidFill>
                          <a:latin typeface="Cambria Math" panose="02040503050406030204" pitchFamily="18" charset="0"/>
                        </a:rPr>
                        <m:t>,</m:t>
                      </m:r>
                      <m:r>
                        <a:rPr lang="zh-CN" altLang="en-US" i="1" smtClean="0">
                          <a:solidFill>
                            <a:schemeClr val="bg1"/>
                          </a:solidFill>
                          <a:latin typeface="Cambria Math" panose="02040503050406030204" pitchFamily="18" charset="0"/>
                        </a:rPr>
                        <m:t>𝑡</m:t>
                      </m:r>
                      <m:r>
                        <a:rPr lang="zh-CN" altLang="en-US" i="1" smtClean="0">
                          <a:solidFill>
                            <a:schemeClr val="bg1"/>
                          </a:solidFill>
                          <a:latin typeface="Cambria Math" panose="02040503050406030204" pitchFamily="18" charset="0"/>
                        </a:rPr>
                        <m:t>)=</m:t>
                      </m:r>
                      <m:f>
                        <m:fPr>
                          <m:ctrlPr>
                            <a:rPr lang="zh-CN" altLang="en-US" i="1">
                              <a:solidFill>
                                <a:schemeClr val="bg1"/>
                              </a:solidFill>
                              <a:latin typeface="Cambria Math" panose="02040503050406030204" pitchFamily="18" charset="0"/>
                            </a:rPr>
                          </m:ctrlPr>
                        </m:fPr>
                        <m:num>
                          <m:func>
                            <m:funcPr>
                              <m:ctrlPr>
                                <a:rPr lang="zh-CN" altLang="en-US" i="1">
                                  <a:solidFill>
                                    <a:schemeClr val="bg1"/>
                                  </a:solidFill>
                                  <a:latin typeface="Cambria Math" panose="02040503050406030204" pitchFamily="18" charset="0"/>
                                </a:rPr>
                              </m:ctrlPr>
                            </m:funcPr>
                            <m:fName>
                              <m:r>
                                <m:rPr>
                                  <m:sty m:val="p"/>
                                </m:rPr>
                                <a:rPr lang="zh-CN" altLang="en-US" i="0">
                                  <a:solidFill>
                                    <a:schemeClr val="bg1"/>
                                  </a:solidFill>
                                  <a:latin typeface="Cambria Math" panose="02040503050406030204" pitchFamily="18" charset="0"/>
                                </a:rPr>
                                <m:t>cov</m:t>
                              </m:r>
                            </m:fName>
                            <m:e>
                              <m:r>
                                <a:rPr lang="zh-CN" altLang="en-US" i="1">
                                  <a:solidFill>
                                    <a:schemeClr val="bg1"/>
                                  </a:solidFill>
                                  <a:latin typeface="Cambria Math" panose="02040503050406030204" pitchFamily="18" charset="0"/>
                                </a:rPr>
                                <m:t>(</m:t>
                              </m:r>
                            </m:e>
                          </m:func>
                          <m:r>
                            <a:rPr lang="zh-CN" altLang="en-US" i="1">
                              <a:solidFill>
                                <a:schemeClr val="bg1"/>
                              </a:solidFill>
                              <a:latin typeface="Cambria Math" panose="02040503050406030204" pitchFamily="18" charset="0"/>
                            </a:rPr>
                            <m:t>𝑋</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𝑠</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𝑋</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num>
                        <m:den>
                          <m:rad>
                            <m:radPr>
                              <m:degHide m:val="on"/>
                              <m:ctrlPr>
                                <a:rPr lang="zh-CN" altLang="en-US" i="1">
                                  <a:solidFill>
                                    <a:schemeClr val="bg1"/>
                                  </a:solidFill>
                                  <a:latin typeface="Cambria Math" panose="02040503050406030204" pitchFamily="18" charset="0"/>
                                </a:rPr>
                              </m:ctrlPr>
                            </m:radPr>
                            <m:deg/>
                            <m:e>
                              <m:r>
                                <a:rPr lang="zh-CN" altLang="en-US" i="1">
                                  <a:solidFill>
                                    <a:schemeClr val="bg1"/>
                                  </a:solidFill>
                                  <a:latin typeface="Cambria Math" panose="02040503050406030204" pitchFamily="18" charset="0"/>
                                </a:rPr>
                                <m:t>𝐷</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𝑠</m:t>
                              </m:r>
                              <m:r>
                                <a:rPr lang="zh-CN" altLang="en-US" i="1">
                                  <a:solidFill>
                                    <a:schemeClr val="bg1"/>
                                  </a:solidFill>
                                  <a:latin typeface="Cambria Math" panose="02040503050406030204" pitchFamily="18" charset="0"/>
                                </a:rPr>
                                <m:t>)</m:t>
                              </m:r>
                            </m:e>
                          </m:rad>
                          <m:rad>
                            <m:radPr>
                              <m:degHide m:val="on"/>
                              <m:ctrlPr>
                                <a:rPr lang="zh-CN" altLang="en-US" i="1">
                                  <a:solidFill>
                                    <a:schemeClr val="bg1"/>
                                  </a:solidFill>
                                  <a:latin typeface="Cambria Math" panose="02040503050406030204" pitchFamily="18" charset="0"/>
                                </a:rPr>
                              </m:ctrlPr>
                            </m:radPr>
                            <m:deg/>
                            <m:e>
                              <m:r>
                                <a:rPr lang="zh-CN" altLang="en-US" i="1">
                                  <a:solidFill>
                                    <a:schemeClr val="bg1"/>
                                  </a:solidFill>
                                  <a:latin typeface="Cambria Math" panose="02040503050406030204" pitchFamily="18" charset="0"/>
                                </a:rPr>
                                <m:t>𝐷</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e>
                          </m:rad>
                        </m:den>
                      </m:f>
                    </m:oMath>
                  </m:oMathPara>
                </a14:m>
                <a:endParaRPr lang="zh-CN" altLang="en-US" dirty="0">
                  <a:solidFill>
                    <a:schemeClr val="bg1"/>
                  </a:solidFill>
                </a:endParaRPr>
              </a:p>
            </p:txBody>
          </p:sp>
        </mc:Choice>
        <mc:Fallback xmlns="">
          <p:sp>
            <p:nvSpPr>
              <p:cNvPr id="7" name="Object 6">
                <a:extLst>
                  <a:ext uri="{FF2B5EF4-FFF2-40B4-BE49-F238E27FC236}">
                    <a16:creationId xmlns:a16="http://schemas.microsoft.com/office/drawing/2014/main" id="{36467343-96C6-72E1-D045-040CC429A277}"/>
                  </a:ext>
                </a:extLst>
              </p:cNvPr>
              <p:cNvSpPr txBox="1">
                <a:spLocks noRot="1" noChangeAspect="1" noMove="1" noResize="1" noEditPoints="1" noAdjustHandles="1" noChangeArrowheads="1" noChangeShapeType="1" noTextEdit="1"/>
              </p:cNvSpPr>
              <p:nvPr/>
            </p:nvSpPr>
            <p:spPr bwMode="auto">
              <a:xfrm>
                <a:off x="9070975" y="1981994"/>
                <a:ext cx="3127375" cy="924139"/>
              </a:xfrm>
              <a:prstGeom prst="rect">
                <a:avLst/>
              </a:prstGeom>
              <a:blipFill>
                <a:blip r:embed="rId5"/>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9555">
                                            <p:txEl>
                                              <p:pRg st="0" end="0"/>
                                            </p:txEl>
                                          </p:spTgt>
                                        </p:tgtEl>
                                        <p:attrNameLst>
                                          <p:attrName>style.visibility</p:attrName>
                                        </p:attrNameLst>
                                      </p:cBhvr>
                                      <p:to>
                                        <p:strVal val="visible"/>
                                      </p:to>
                                    </p:set>
                                    <p:anim calcmode="lin" valueType="num">
                                      <p:cBhvr additive="base">
                                        <p:cTn id="7" dur="500" fill="hold"/>
                                        <p:tgtEl>
                                          <p:spTgt spid="279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9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279556"/>
                                        </p:tgtEl>
                                        <p:attrNameLst>
                                          <p:attrName>style.visibility</p:attrName>
                                        </p:attrNameLst>
                                      </p:cBhvr>
                                      <p:to>
                                        <p:strVal val="visible"/>
                                      </p:to>
                                    </p:set>
                                    <p:animEffect transition="in" filter="randombar(horizontal)">
                                      <p:cBhvr>
                                        <p:cTn id="13" dur="500"/>
                                        <p:tgtEl>
                                          <p:spTgt spid="279556"/>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279557"/>
                                        </p:tgtEl>
                                        <p:attrNameLst>
                                          <p:attrName>style.visibility</p:attrName>
                                        </p:attrNameLst>
                                      </p:cBhvr>
                                      <p:to>
                                        <p:strVal val="visible"/>
                                      </p:to>
                                    </p:set>
                                    <p:animEffect transition="in" filter="randombar(horizontal)">
                                      <p:cBhvr>
                                        <p:cTn id="18" dur="500"/>
                                        <p:tgtEl>
                                          <p:spTgt spid="279557"/>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randombar(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build="p"/>
      <p:bldP spid="279556" grpId="0"/>
      <p:bldP spid="279557" grpId="0"/>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2">
            <a:extLst>
              <a:ext uri="{FF2B5EF4-FFF2-40B4-BE49-F238E27FC236}">
                <a16:creationId xmlns:a16="http://schemas.microsoft.com/office/drawing/2014/main" id="{3C72A5EB-53AC-C8B3-CC55-2AC41B64B3FD}"/>
              </a:ext>
            </a:extLst>
          </p:cNvPr>
          <p:cNvSpPr>
            <a:spLocks noGrp="1" noChangeArrowheads="1"/>
          </p:cNvSpPr>
          <p:nvPr>
            <p:ph type="title"/>
          </p:nvPr>
        </p:nvSpPr>
        <p:spPr/>
        <p:txBody>
          <a:bodyPr/>
          <a:lstStyle/>
          <a:p>
            <a:pPr algn="l" eaLnBrk="1" hangingPunct="1"/>
            <a:r>
              <a:rPr lang="zh-CN" altLang="en-US" dirty="0"/>
              <a:t>例</a:t>
            </a:r>
            <a:r>
              <a:rPr lang="en-US" altLang="zh-CN" dirty="0"/>
              <a:t>6</a:t>
            </a:r>
          </a:p>
        </p:txBody>
      </p:sp>
      <p:sp>
        <p:nvSpPr>
          <p:cNvPr id="280579" name="Rectangle 3">
            <a:extLst>
              <a:ext uri="{FF2B5EF4-FFF2-40B4-BE49-F238E27FC236}">
                <a16:creationId xmlns:a16="http://schemas.microsoft.com/office/drawing/2014/main" id="{175346EC-F785-9B81-413A-7A1097D70A9B}"/>
              </a:ext>
            </a:extLst>
          </p:cNvPr>
          <p:cNvSpPr>
            <a:spLocks noGrp="1" noChangeArrowheads="1"/>
          </p:cNvSpPr>
          <p:nvPr>
            <p:ph type="body" idx="1"/>
          </p:nvPr>
        </p:nvSpPr>
        <p:spPr>
          <a:xfrm>
            <a:off x="612775" y="889446"/>
            <a:ext cx="11125200" cy="2564405"/>
          </a:xfrm>
        </p:spPr>
        <p:txBody>
          <a:bodyPr>
            <a:noAutofit/>
          </a:bodyPr>
          <a:lstStyle/>
          <a:p>
            <a:pPr eaLnBrk="1" hangingPunct="1">
              <a:buFont typeface="Wingdings" panose="05000000000000000000" pitchFamily="2" charset="2"/>
              <a:buNone/>
            </a:pPr>
            <a:r>
              <a:rPr lang="zh-CN" altLang="en-US" dirty="0"/>
              <a:t>随机相位正弦波</a:t>
            </a:r>
          </a:p>
          <a:p>
            <a:pPr eaLnBrk="1" hangingPunct="1">
              <a:buFont typeface="Wingdings" panose="05000000000000000000" pitchFamily="2" charset="2"/>
              <a:buNone/>
            </a:pPr>
            <a:r>
              <a:rPr lang="en-US" altLang="zh-CN" dirty="0"/>
              <a:t>                X(t)</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cos(t</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a:t>
            </a:r>
            <a:r>
              <a:rPr lang="zh-CN" altLang="en-US" dirty="0"/>
              <a:t>，</a:t>
            </a:r>
            <a:r>
              <a:rPr lang="en-US" altLang="zh-CN" dirty="0"/>
              <a:t>-</a:t>
            </a:r>
            <a:r>
              <a:rPr lang="en-US" altLang="zh-CN" dirty="0">
                <a:sym typeface="Symbol" panose="05050102010706020507" pitchFamily="18" charset="2"/>
              </a:rPr>
              <a:t>&lt;</a:t>
            </a:r>
            <a:r>
              <a:rPr lang="en-US" altLang="zh-CN" dirty="0"/>
              <a:t>t&lt;+</a:t>
            </a:r>
            <a:r>
              <a:rPr lang="en-US" altLang="zh-CN" dirty="0">
                <a:sym typeface="Symbol" panose="05050102010706020507" pitchFamily="18" charset="2"/>
              </a:rPr>
              <a:t></a:t>
            </a:r>
          </a:p>
          <a:p>
            <a:pPr eaLnBrk="1" hangingPunct="1">
              <a:buFont typeface="Wingdings" panose="05000000000000000000" pitchFamily="2" charset="2"/>
              <a:buNone/>
            </a:pPr>
            <a:r>
              <a:rPr lang="zh-CN" altLang="en-US" dirty="0"/>
              <a:t>其中</a:t>
            </a:r>
            <a:r>
              <a:rPr lang="zh-CN" altLang="en-US" dirty="0">
                <a:sym typeface="Symbol" panose="05050102010706020507" pitchFamily="18" charset="2"/>
              </a:rPr>
              <a:t></a:t>
            </a:r>
            <a:r>
              <a:rPr lang="en-US" altLang="zh-CN" dirty="0">
                <a:sym typeface="Symbol" panose="05050102010706020507" pitchFamily="18" charset="2"/>
              </a:rPr>
              <a:t>,</a:t>
            </a:r>
            <a:r>
              <a:rPr lang="zh-CN" altLang="en-US" dirty="0">
                <a:sym typeface="Symbol" panose="05050102010706020507" pitchFamily="18" charset="2"/>
              </a:rPr>
              <a:t>为常数，是在</a:t>
            </a:r>
            <a:r>
              <a:rPr lang="en-US" altLang="zh-CN" dirty="0">
                <a:sym typeface="Symbol" panose="05050102010706020507" pitchFamily="18" charset="2"/>
              </a:rPr>
              <a:t>[0,2]</a:t>
            </a:r>
            <a:r>
              <a:rPr lang="zh-CN" altLang="en-US" dirty="0">
                <a:sym typeface="Symbol" panose="05050102010706020507" pitchFamily="18" charset="2"/>
              </a:rPr>
              <a:t>上均匀分布</a:t>
            </a:r>
            <a:r>
              <a:rPr lang="zh-CN" altLang="en-US" dirty="0"/>
              <a:t>的随机变量。求</a:t>
            </a:r>
            <a:r>
              <a:rPr lang="en-US" altLang="zh-CN" dirty="0"/>
              <a:t>{X(t),-</a:t>
            </a:r>
            <a:r>
              <a:rPr lang="en-US" altLang="zh-CN" dirty="0">
                <a:sym typeface="Symbol" panose="05050102010706020507" pitchFamily="18" charset="2"/>
              </a:rPr>
              <a:t>&lt;</a:t>
            </a:r>
            <a:r>
              <a:rPr lang="en-US" altLang="zh-CN" dirty="0"/>
              <a:t>t&lt;+</a:t>
            </a:r>
            <a:r>
              <a:rPr lang="en-US" altLang="zh-CN" dirty="0">
                <a:sym typeface="Symbol" panose="05050102010706020507" pitchFamily="18" charset="2"/>
              </a:rPr>
              <a:t></a:t>
            </a:r>
            <a:r>
              <a:rPr lang="en-US" altLang="zh-CN" dirty="0"/>
              <a:t>}</a:t>
            </a:r>
            <a:r>
              <a:rPr lang="zh-CN" altLang="en-US" dirty="0"/>
              <a:t>的均值</a:t>
            </a:r>
            <a:endParaRPr lang="en-US" altLang="zh-CN" dirty="0"/>
          </a:p>
          <a:p>
            <a:pPr eaLnBrk="1" hangingPunct="1">
              <a:buFont typeface="Wingdings" panose="05000000000000000000" pitchFamily="2" charset="2"/>
              <a:buNone/>
            </a:pPr>
            <a:r>
              <a:rPr lang="zh-CN" altLang="en-US" dirty="0"/>
              <a:t>函数、方差函数、相关函数、协方差函数。</a:t>
            </a:r>
          </a:p>
        </p:txBody>
      </p:sp>
      <p:sp>
        <p:nvSpPr>
          <p:cNvPr id="280580" name="Rectangle 4">
            <a:extLst>
              <a:ext uri="{FF2B5EF4-FFF2-40B4-BE49-F238E27FC236}">
                <a16:creationId xmlns:a16="http://schemas.microsoft.com/office/drawing/2014/main" id="{E31D36DA-9058-0852-3707-015A54341FFC}"/>
              </a:ext>
            </a:extLst>
          </p:cNvPr>
          <p:cNvSpPr>
            <a:spLocks noChangeArrowheads="1"/>
          </p:cNvSpPr>
          <p:nvPr/>
        </p:nvSpPr>
        <p:spPr bwMode="auto">
          <a:xfrm>
            <a:off x="614021" y="3424625"/>
            <a:ext cx="3506011" cy="496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solidFill>
                  <a:srgbClr val="C00000"/>
                </a:solidFill>
                <a:latin typeface="+mn-ea"/>
                <a:ea typeface="+mn-ea"/>
              </a:rPr>
              <a:t>解</a:t>
            </a:r>
            <a:r>
              <a:rPr lang="zh-CN" altLang="en-US" b="1" dirty="0">
                <a:latin typeface="+mn-ea"/>
                <a:ea typeface="+mn-ea"/>
              </a:rPr>
              <a:t>  </a:t>
            </a:r>
            <a:r>
              <a:rPr lang="zh-CN" altLang="en-US" b="1" dirty="0">
                <a:latin typeface="+mn-ea"/>
                <a:ea typeface="+mn-ea"/>
                <a:sym typeface="Symbol" panose="05050102010706020507" pitchFamily="18" charset="2"/>
              </a:rPr>
              <a:t>的</a:t>
            </a:r>
            <a:r>
              <a:rPr lang="zh-CN" altLang="en-US" b="1" dirty="0">
                <a:solidFill>
                  <a:srgbClr val="0000FF"/>
                </a:solidFill>
                <a:latin typeface="+mn-ea"/>
                <a:ea typeface="+mn-ea"/>
                <a:sym typeface="Symbol" panose="05050102010706020507" pitchFamily="18" charset="2"/>
              </a:rPr>
              <a:t>概率密度</a:t>
            </a:r>
            <a:r>
              <a:rPr lang="zh-CN" altLang="en-US" b="1" dirty="0">
                <a:latin typeface="+mn-ea"/>
                <a:ea typeface="+mn-ea"/>
                <a:sym typeface="Symbol" panose="05050102010706020507" pitchFamily="18" charset="2"/>
              </a:rPr>
              <a:t>为</a:t>
            </a:r>
            <a:endParaRPr lang="zh-CN" altLang="en-US" b="1" dirty="0">
              <a:latin typeface="+mn-ea"/>
              <a:ea typeface="+mn-ea"/>
            </a:endParaRPr>
          </a:p>
        </p:txBody>
      </p:sp>
      <p:sp>
        <p:nvSpPr>
          <p:cNvPr id="280581" name="Rectangle 5">
            <a:extLst>
              <a:ext uri="{FF2B5EF4-FFF2-40B4-BE49-F238E27FC236}">
                <a16:creationId xmlns:a16="http://schemas.microsoft.com/office/drawing/2014/main" id="{08942601-39B5-4392-A9B2-E869B6B2049E}"/>
              </a:ext>
            </a:extLst>
          </p:cNvPr>
          <p:cNvSpPr>
            <a:spLocks noChangeArrowheads="1"/>
          </p:cNvSpPr>
          <p:nvPr/>
        </p:nvSpPr>
        <p:spPr bwMode="auto">
          <a:xfrm>
            <a:off x="640064" y="4870545"/>
            <a:ext cx="3855543"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6600CC"/>
                </a:solidFill>
                <a:latin typeface="+mn-ea"/>
                <a:ea typeface="+mn-ea"/>
              </a:rPr>
              <a:t>1.  </a:t>
            </a:r>
            <a:r>
              <a:rPr lang="zh-CN" altLang="en-US" b="1" dirty="0">
                <a:solidFill>
                  <a:srgbClr val="0000FF"/>
                </a:solidFill>
                <a:latin typeface="+mn-ea"/>
                <a:ea typeface="+mn-ea"/>
              </a:rPr>
              <a:t>均值函数</a:t>
            </a:r>
            <a:r>
              <a:rPr lang="en-US" altLang="zh-CN" b="1" dirty="0">
                <a:latin typeface="+mn-ea"/>
                <a:ea typeface="+mn-ea"/>
              </a:rPr>
              <a:t>m(t)</a:t>
            </a:r>
            <a:r>
              <a:rPr lang="zh-CN" altLang="en-US" b="1" dirty="0">
                <a:latin typeface="+mn-ea"/>
                <a:ea typeface="+mn-ea"/>
              </a:rPr>
              <a:t>＝</a:t>
            </a:r>
            <a:r>
              <a:rPr lang="en-US" altLang="zh-CN" b="1" dirty="0">
                <a:latin typeface="+mn-ea"/>
                <a:ea typeface="+mn-ea"/>
              </a:rPr>
              <a:t>E[X(t)]</a:t>
            </a:r>
          </a:p>
        </p:txBody>
      </p:sp>
      <mc:AlternateContent xmlns:mc="http://schemas.openxmlformats.org/markup-compatibility/2006" xmlns:a14="http://schemas.microsoft.com/office/drawing/2010/main">
        <mc:Choice Requires="a14">
          <p:sp>
            <p:nvSpPr>
              <p:cNvPr id="280582" name="Object 6">
                <a:extLst>
                  <a:ext uri="{FF2B5EF4-FFF2-40B4-BE49-F238E27FC236}">
                    <a16:creationId xmlns:a16="http://schemas.microsoft.com/office/drawing/2014/main" id="{2B6ECD45-87D9-39C1-8FFF-190215002A6E}"/>
                  </a:ext>
                </a:extLst>
              </p:cNvPr>
              <p:cNvSpPr txBox="1"/>
              <p:nvPr/>
            </p:nvSpPr>
            <p:spPr bwMode="auto">
              <a:xfrm>
                <a:off x="3441700" y="3684668"/>
                <a:ext cx="3887100" cy="1414789"/>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m:rPr>
                              <m:sty m:val="p"/>
                            </m:rPr>
                            <a:rPr lang="zh-CN" altLang="en-US" i="1">
                              <a:solidFill>
                                <a:srgbClr val="000000"/>
                              </a:solidFill>
                              <a:latin typeface="Cambria Math" panose="02040503050406030204" pitchFamily="18" charset="0"/>
                            </a:rPr>
                            <m:t>Θ</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其它。</m:t>
                                </m:r>
                              </m:e>
                            </m:mr>
                          </m:m>
                        </m:e>
                      </m:d>
                    </m:oMath>
                  </m:oMathPara>
                </a14:m>
                <a:endParaRPr lang="zh-CN" altLang="en-US" dirty="0"/>
              </a:p>
            </p:txBody>
          </p:sp>
        </mc:Choice>
        <mc:Fallback xmlns="">
          <p:sp>
            <p:nvSpPr>
              <p:cNvPr id="280582" name="Object 6">
                <a:extLst>
                  <a:ext uri="{FF2B5EF4-FFF2-40B4-BE49-F238E27FC236}">
                    <a16:creationId xmlns:a16="http://schemas.microsoft.com/office/drawing/2014/main" id="{2B6ECD45-87D9-39C1-8FFF-190215002A6E}"/>
                  </a:ext>
                </a:extLst>
              </p:cNvPr>
              <p:cNvSpPr txBox="1">
                <a:spLocks noRot="1" noChangeAspect="1" noMove="1" noResize="1" noEditPoints="1" noAdjustHandles="1" noChangeArrowheads="1" noChangeShapeType="1" noTextEdit="1"/>
              </p:cNvSpPr>
              <p:nvPr/>
            </p:nvSpPr>
            <p:spPr bwMode="auto">
              <a:xfrm>
                <a:off x="3441700" y="3684668"/>
                <a:ext cx="3887100" cy="1414789"/>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0583" name="Object 7">
                <a:extLst>
                  <a:ext uri="{FF2B5EF4-FFF2-40B4-BE49-F238E27FC236}">
                    <a16:creationId xmlns:a16="http://schemas.microsoft.com/office/drawing/2014/main" id="{8B678232-8097-2109-01FE-458D4D7E070B}"/>
                  </a:ext>
                </a:extLst>
              </p:cNvPr>
              <p:cNvSpPr txBox="1"/>
              <p:nvPr/>
            </p:nvSpPr>
            <p:spPr bwMode="auto">
              <a:xfrm>
                <a:off x="1787779" y="5551425"/>
                <a:ext cx="6554717" cy="93049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m:rPr>
                                  <m:sty m:val="p"/>
                                </m:rPr>
                                <a:rPr lang="zh-CN" altLang="en-US" i="1">
                                  <a:solidFill>
                                    <a:srgbClr val="000000"/>
                                  </a:solidFill>
                                  <a:latin typeface="Cambria Math" panose="02040503050406030204" pitchFamily="18" charset="0"/>
                                </a:rPr>
                                <m:t>Θ</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𝜃</m:t>
                          </m:r>
                        </m:e>
                      </m:nary>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sup>
                        <m:e>
                          <m:r>
                            <a:rPr lang="zh-CN" altLang="en-US" i="1">
                              <a:solidFill>
                                <a:srgbClr val="000000"/>
                              </a:solidFill>
                              <a:latin typeface="Cambria Math" panose="02040503050406030204" pitchFamily="18" charset="0"/>
                            </a:rPr>
                            <m:t>𝛼</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𝛽</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𝜃</m:t>
                          </m:r>
                        </m:e>
                      </m:nary>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280583" name="Object 7">
                <a:extLst>
                  <a:ext uri="{FF2B5EF4-FFF2-40B4-BE49-F238E27FC236}">
                    <a16:creationId xmlns:a16="http://schemas.microsoft.com/office/drawing/2014/main" id="{8B678232-8097-2109-01FE-458D4D7E070B}"/>
                  </a:ext>
                </a:extLst>
              </p:cNvPr>
              <p:cNvSpPr txBox="1">
                <a:spLocks noRot="1" noChangeAspect="1" noMove="1" noResize="1" noEditPoints="1" noAdjustHandles="1" noChangeArrowheads="1" noChangeShapeType="1" noTextEdit="1"/>
              </p:cNvSpPr>
              <p:nvPr/>
            </p:nvSpPr>
            <p:spPr bwMode="auto">
              <a:xfrm>
                <a:off x="1787779" y="5551425"/>
                <a:ext cx="6554717" cy="930490"/>
              </a:xfrm>
              <a:prstGeom prst="rect">
                <a:avLst/>
              </a:prstGeom>
              <a:blipFill>
                <a:blip r:embed="rId3"/>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0579">
                                            <p:txEl>
                                              <p:pRg st="0" end="0"/>
                                            </p:txEl>
                                          </p:spTgt>
                                        </p:tgtEl>
                                        <p:attrNameLst>
                                          <p:attrName>style.visibility</p:attrName>
                                        </p:attrNameLst>
                                      </p:cBhvr>
                                      <p:to>
                                        <p:strVal val="visible"/>
                                      </p:to>
                                    </p:set>
                                    <p:anim calcmode="lin" valueType="num">
                                      <p:cBhvr additive="base">
                                        <p:cTn id="7" dur="500" fill="hold"/>
                                        <p:tgtEl>
                                          <p:spTgt spid="280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057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80579">
                                            <p:txEl>
                                              <p:pRg st="1" end="1"/>
                                            </p:txEl>
                                          </p:spTgt>
                                        </p:tgtEl>
                                        <p:attrNameLst>
                                          <p:attrName>style.visibility</p:attrName>
                                        </p:attrNameLst>
                                      </p:cBhvr>
                                      <p:to>
                                        <p:strVal val="visible"/>
                                      </p:to>
                                    </p:set>
                                    <p:anim calcmode="lin" valueType="num">
                                      <p:cBhvr additive="base">
                                        <p:cTn id="12" dur="500" fill="hold"/>
                                        <p:tgtEl>
                                          <p:spTgt spid="28057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8057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80579">
                                            <p:txEl>
                                              <p:pRg st="2" end="2"/>
                                            </p:txEl>
                                          </p:spTgt>
                                        </p:tgtEl>
                                        <p:attrNameLst>
                                          <p:attrName>style.visibility</p:attrName>
                                        </p:attrNameLst>
                                      </p:cBhvr>
                                      <p:to>
                                        <p:strVal val="visible"/>
                                      </p:to>
                                    </p:set>
                                    <p:anim calcmode="lin" valueType="num">
                                      <p:cBhvr additive="base">
                                        <p:cTn id="17" dur="500" fill="hold"/>
                                        <p:tgtEl>
                                          <p:spTgt spid="2805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0579">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80579">
                                            <p:txEl>
                                              <p:pRg st="3" end="3"/>
                                            </p:txEl>
                                          </p:spTgt>
                                        </p:tgtEl>
                                        <p:attrNameLst>
                                          <p:attrName>style.visibility</p:attrName>
                                        </p:attrNameLst>
                                      </p:cBhvr>
                                      <p:to>
                                        <p:strVal val="visible"/>
                                      </p:to>
                                    </p:set>
                                    <p:anim calcmode="lin" valueType="num">
                                      <p:cBhvr additive="base">
                                        <p:cTn id="22" dur="500" fill="hold"/>
                                        <p:tgtEl>
                                          <p:spTgt spid="28057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80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280580"/>
                                        </p:tgtEl>
                                        <p:attrNameLst>
                                          <p:attrName>style.visibility</p:attrName>
                                        </p:attrNameLst>
                                      </p:cBhvr>
                                      <p:to>
                                        <p:strVal val="visible"/>
                                      </p:to>
                                    </p:set>
                                    <p:animEffect transition="in" filter="slide(fromLeft)">
                                      <p:cBhvr>
                                        <p:cTn id="28" dur="500"/>
                                        <p:tgtEl>
                                          <p:spTgt spid="2805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80581"/>
                                        </p:tgtEl>
                                        <p:attrNameLst>
                                          <p:attrName>style.visibility</p:attrName>
                                        </p:attrNameLst>
                                      </p:cBhvr>
                                      <p:to>
                                        <p:strVal val="visible"/>
                                      </p:to>
                                    </p:set>
                                    <p:anim calcmode="lin" valueType="num">
                                      <p:cBhvr additive="base">
                                        <p:cTn id="33" dur="500" fill="hold"/>
                                        <p:tgtEl>
                                          <p:spTgt spid="280581"/>
                                        </p:tgtEl>
                                        <p:attrNameLst>
                                          <p:attrName>ppt_x</p:attrName>
                                        </p:attrNameLst>
                                      </p:cBhvr>
                                      <p:tavLst>
                                        <p:tav tm="0">
                                          <p:val>
                                            <p:strVal val="0-#ppt_w/2"/>
                                          </p:val>
                                        </p:tav>
                                        <p:tav tm="100000">
                                          <p:val>
                                            <p:strVal val="#ppt_x"/>
                                          </p:val>
                                        </p:tav>
                                      </p:tavLst>
                                    </p:anim>
                                    <p:anim calcmode="lin" valueType="num">
                                      <p:cBhvr additive="base">
                                        <p:cTn id="34" dur="500" fill="hold"/>
                                        <p:tgtEl>
                                          <p:spTgt spid="280581"/>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280582"/>
                                        </p:tgtEl>
                                        <p:attrNameLst>
                                          <p:attrName>style.visibility</p:attrName>
                                        </p:attrNameLst>
                                      </p:cBhvr>
                                      <p:to>
                                        <p:strVal val="visible"/>
                                      </p:to>
                                    </p:set>
                                    <p:animEffect transition="in" filter="randombar(horizontal)">
                                      <p:cBhvr>
                                        <p:cTn id="39" dur="500"/>
                                        <p:tgtEl>
                                          <p:spTgt spid="280582"/>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280583"/>
                                        </p:tgtEl>
                                        <p:attrNameLst>
                                          <p:attrName>style.visibility</p:attrName>
                                        </p:attrNameLst>
                                      </p:cBhvr>
                                      <p:to>
                                        <p:strVal val="visible"/>
                                      </p:to>
                                    </p:set>
                                    <p:animEffect transition="in" filter="randombar(horizontal)">
                                      <p:cBhvr>
                                        <p:cTn id="44" dur="500"/>
                                        <p:tgtEl>
                                          <p:spTgt spid="280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9" grpId="0" build="p"/>
      <p:bldP spid="280580" grpId="0" autoUpdateAnimBg="0"/>
      <p:bldP spid="280581" grpId="0" autoUpdateAnimBg="0"/>
      <p:bldP spid="280582" grpId="0"/>
      <p:bldP spid="28058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a:extLst>
              <a:ext uri="{FF2B5EF4-FFF2-40B4-BE49-F238E27FC236}">
                <a16:creationId xmlns:a16="http://schemas.microsoft.com/office/drawing/2014/main" id="{735E6313-EB56-221B-A512-DF74C27F17DB}"/>
              </a:ext>
            </a:extLst>
          </p:cNvPr>
          <p:cNvSpPr>
            <a:spLocks noGrp="1" noChangeArrowheads="1"/>
          </p:cNvSpPr>
          <p:nvPr>
            <p:ph type="title"/>
          </p:nvPr>
        </p:nvSpPr>
        <p:spPr/>
        <p:txBody>
          <a:bodyPr/>
          <a:lstStyle/>
          <a:p>
            <a:pPr algn="l" eaLnBrk="1" hangingPunct="1"/>
            <a:r>
              <a:rPr lang="zh-CN" altLang="en-US" dirty="0"/>
              <a:t>例</a:t>
            </a:r>
            <a:r>
              <a:rPr lang="en-US" altLang="zh-CN" dirty="0"/>
              <a:t>6(</a:t>
            </a:r>
            <a:r>
              <a:rPr lang="zh-CN" altLang="en-US" dirty="0"/>
              <a:t>续</a:t>
            </a:r>
            <a:r>
              <a:rPr lang="en-US" altLang="zh-CN" dirty="0"/>
              <a:t>1)</a:t>
            </a:r>
          </a:p>
        </p:txBody>
      </p:sp>
      <p:sp>
        <p:nvSpPr>
          <p:cNvPr id="308227" name="Rectangle 3">
            <a:extLst>
              <a:ext uri="{FF2B5EF4-FFF2-40B4-BE49-F238E27FC236}">
                <a16:creationId xmlns:a16="http://schemas.microsoft.com/office/drawing/2014/main" id="{F1958D27-CA1A-AA86-F1A1-7532AA6E6959}"/>
              </a:ext>
            </a:extLst>
          </p:cNvPr>
          <p:cNvSpPr>
            <a:spLocks noGrp="1" noChangeArrowheads="1"/>
          </p:cNvSpPr>
          <p:nvPr>
            <p:ph type="body" idx="1"/>
          </p:nvPr>
        </p:nvSpPr>
        <p:spPr>
          <a:xfrm>
            <a:off x="301749" y="975259"/>
            <a:ext cx="7850417" cy="701946"/>
          </a:xfrm>
        </p:spPr>
        <p:txBody>
          <a:bodyPr>
            <a:noAutofit/>
          </a:bodyPr>
          <a:lstStyle/>
          <a:p>
            <a:pPr eaLnBrk="1" hangingPunct="1">
              <a:buFont typeface="Wingdings" panose="05000000000000000000" pitchFamily="2" charset="2"/>
              <a:buNone/>
            </a:pPr>
            <a:r>
              <a:rPr lang="en-US" altLang="zh-CN" dirty="0">
                <a:solidFill>
                  <a:srgbClr val="6600CC"/>
                </a:solidFill>
              </a:rPr>
              <a:t>2.  </a:t>
            </a:r>
            <a:r>
              <a:rPr lang="zh-CN" altLang="en-US" dirty="0">
                <a:solidFill>
                  <a:srgbClr val="0000FF"/>
                </a:solidFill>
              </a:rPr>
              <a:t>相关函数</a:t>
            </a:r>
            <a:endParaRPr lang="zh-CN" altLang="en-US" dirty="0"/>
          </a:p>
        </p:txBody>
      </p:sp>
      <mc:AlternateContent xmlns:mc="http://schemas.openxmlformats.org/markup-compatibility/2006" xmlns:a14="http://schemas.microsoft.com/office/drawing/2010/main">
        <mc:Choice Requires="a14">
          <p:sp>
            <p:nvSpPr>
              <p:cNvPr id="308228" name="Object 4">
                <a:extLst>
                  <a:ext uri="{FF2B5EF4-FFF2-40B4-BE49-F238E27FC236}">
                    <a16:creationId xmlns:a16="http://schemas.microsoft.com/office/drawing/2014/main" id="{CA748DB1-0616-6EA3-EC7E-EA90F3E4D700}"/>
                  </a:ext>
                </a:extLst>
              </p:cNvPr>
              <p:cNvSpPr txBox="1"/>
              <p:nvPr/>
            </p:nvSpPr>
            <p:spPr bwMode="auto">
              <a:xfrm>
                <a:off x="1298575" y="1677205"/>
                <a:ext cx="3369588" cy="527941"/>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08228" name="Object 4">
                <a:extLst>
                  <a:ext uri="{FF2B5EF4-FFF2-40B4-BE49-F238E27FC236}">
                    <a16:creationId xmlns:a16="http://schemas.microsoft.com/office/drawing/2014/main" id="{CA748DB1-0616-6EA3-EC7E-EA90F3E4D700}"/>
                  </a:ext>
                </a:extLst>
              </p:cNvPr>
              <p:cNvSpPr txBox="1">
                <a:spLocks noRot="1" noChangeAspect="1" noMove="1" noResize="1" noEditPoints="1" noAdjustHandles="1" noChangeArrowheads="1" noChangeShapeType="1" noTextEdit="1"/>
              </p:cNvSpPr>
              <p:nvPr/>
            </p:nvSpPr>
            <p:spPr bwMode="auto">
              <a:xfrm>
                <a:off x="1298575" y="1677205"/>
                <a:ext cx="3369588" cy="527941"/>
              </a:xfrm>
              <a:prstGeom prst="rect">
                <a:avLst/>
              </a:prstGeom>
              <a:blipFill>
                <a:blip r:embed="rId2"/>
                <a:stretch>
                  <a:fillRect l="-362" b="-459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8229" name="Object 5">
                <a:extLst>
                  <a:ext uri="{FF2B5EF4-FFF2-40B4-BE49-F238E27FC236}">
                    <a16:creationId xmlns:a16="http://schemas.microsoft.com/office/drawing/2014/main" id="{9C74CBB1-7E68-5FFC-088B-CEE120D7CEB2}"/>
                  </a:ext>
                </a:extLst>
              </p:cNvPr>
              <p:cNvSpPr txBox="1"/>
              <p:nvPr/>
            </p:nvSpPr>
            <p:spPr bwMode="auto">
              <a:xfrm>
                <a:off x="4194175" y="1487037"/>
                <a:ext cx="5691201" cy="102226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𝛼</m:t>
                          </m:r>
                        </m:e>
                        <m:sup>
                          <m:r>
                            <a:rPr lang="zh-CN" altLang="en-US" i="1">
                              <a:solidFill>
                                <a:srgbClr val="000000"/>
                              </a:solidFill>
                              <a:latin typeface="Cambria Math" panose="02040503050406030204" pitchFamily="18" charset="0"/>
                            </a:rPr>
                            <m:t>2</m:t>
                          </m:r>
                        </m:sup>
                      </m:sSup>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𝛽</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𝛽</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𝜃</m:t>
                          </m:r>
                        </m:e>
                      </m:nary>
                    </m:oMath>
                  </m:oMathPara>
                </a14:m>
                <a:endParaRPr lang="zh-CN" altLang="en-US" dirty="0"/>
              </a:p>
            </p:txBody>
          </p:sp>
        </mc:Choice>
        <mc:Fallback xmlns="">
          <p:sp>
            <p:nvSpPr>
              <p:cNvPr id="308229" name="Object 5">
                <a:extLst>
                  <a:ext uri="{FF2B5EF4-FFF2-40B4-BE49-F238E27FC236}">
                    <a16:creationId xmlns:a16="http://schemas.microsoft.com/office/drawing/2014/main" id="{9C74CBB1-7E68-5FFC-088B-CEE120D7CEB2}"/>
                  </a:ext>
                </a:extLst>
              </p:cNvPr>
              <p:cNvSpPr txBox="1">
                <a:spLocks noRot="1" noChangeAspect="1" noMove="1" noResize="1" noEditPoints="1" noAdjustHandles="1" noChangeArrowheads="1" noChangeShapeType="1" noTextEdit="1"/>
              </p:cNvSpPr>
              <p:nvPr/>
            </p:nvSpPr>
            <p:spPr bwMode="auto">
              <a:xfrm>
                <a:off x="4194175" y="1487037"/>
                <a:ext cx="5691201" cy="1022269"/>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8230" name="Object 6">
                <a:extLst>
                  <a:ext uri="{FF2B5EF4-FFF2-40B4-BE49-F238E27FC236}">
                    <a16:creationId xmlns:a16="http://schemas.microsoft.com/office/drawing/2014/main" id="{78CE1E15-7EF7-1ACA-6F88-B0461EB8BFE2}"/>
                  </a:ext>
                </a:extLst>
              </p:cNvPr>
              <p:cNvSpPr txBox="1"/>
              <p:nvPr/>
            </p:nvSpPr>
            <p:spPr bwMode="auto">
              <a:xfrm>
                <a:off x="4189634" y="2226142"/>
                <a:ext cx="6964836" cy="108949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𝛼</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sup>
                        <m:e>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𝛽</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𝛽</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𝜃</m:t>
                          </m:r>
                        </m:e>
                      </m:nary>
                    </m:oMath>
                  </m:oMathPara>
                </a14:m>
                <a:endParaRPr lang="zh-CN" altLang="en-US" dirty="0"/>
              </a:p>
            </p:txBody>
          </p:sp>
        </mc:Choice>
        <mc:Fallback xmlns="">
          <p:sp>
            <p:nvSpPr>
              <p:cNvPr id="308230" name="Object 6">
                <a:extLst>
                  <a:ext uri="{FF2B5EF4-FFF2-40B4-BE49-F238E27FC236}">
                    <a16:creationId xmlns:a16="http://schemas.microsoft.com/office/drawing/2014/main" id="{78CE1E15-7EF7-1ACA-6F88-B0461EB8BFE2}"/>
                  </a:ext>
                </a:extLst>
              </p:cNvPr>
              <p:cNvSpPr txBox="1">
                <a:spLocks noRot="1" noChangeAspect="1" noMove="1" noResize="1" noEditPoints="1" noAdjustHandles="1" noChangeArrowheads="1" noChangeShapeType="1" noTextEdit="1"/>
              </p:cNvSpPr>
              <p:nvPr/>
            </p:nvSpPr>
            <p:spPr bwMode="auto">
              <a:xfrm>
                <a:off x="4189634" y="2226142"/>
                <a:ext cx="6964836" cy="1089496"/>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8231" name="Object 7">
                <a:extLst>
                  <a:ext uri="{FF2B5EF4-FFF2-40B4-BE49-F238E27FC236}">
                    <a16:creationId xmlns:a16="http://schemas.microsoft.com/office/drawing/2014/main" id="{EA2DB2A6-52B8-AC85-6EC5-61BAC2686611}"/>
                  </a:ext>
                </a:extLst>
              </p:cNvPr>
              <p:cNvSpPr txBox="1"/>
              <p:nvPr/>
            </p:nvSpPr>
            <p:spPr bwMode="auto">
              <a:xfrm>
                <a:off x="4189634" y="3037428"/>
                <a:ext cx="2575956" cy="108949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𝛼</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den>
                      </m:f>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𝛽</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08231" name="Object 7">
                <a:extLst>
                  <a:ext uri="{FF2B5EF4-FFF2-40B4-BE49-F238E27FC236}">
                    <a16:creationId xmlns:a16="http://schemas.microsoft.com/office/drawing/2014/main" id="{EA2DB2A6-52B8-AC85-6EC5-61BAC2686611}"/>
                  </a:ext>
                </a:extLst>
              </p:cNvPr>
              <p:cNvSpPr txBox="1">
                <a:spLocks noRot="1" noChangeAspect="1" noMove="1" noResize="1" noEditPoints="1" noAdjustHandles="1" noChangeArrowheads="1" noChangeShapeType="1" noTextEdit="1"/>
              </p:cNvSpPr>
              <p:nvPr/>
            </p:nvSpPr>
            <p:spPr bwMode="auto">
              <a:xfrm>
                <a:off x="4189634" y="3037428"/>
                <a:ext cx="2575956" cy="1089497"/>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10" name="Rectangle 3">
            <a:extLst>
              <a:ext uri="{FF2B5EF4-FFF2-40B4-BE49-F238E27FC236}">
                <a16:creationId xmlns:a16="http://schemas.microsoft.com/office/drawing/2014/main" id="{ECE84251-D8F2-F341-D706-382468672F27}"/>
              </a:ext>
            </a:extLst>
          </p:cNvPr>
          <p:cNvSpPr txBox="1">
            <a:spLocks noChangeArrowheads="1"/>
          </p:cNvSpPr>
          <p:nvPr/>
        </p:nvSpPr>
        <p:spPr>
          <a:xfrm>
            <a:off x="301749" y="4027761"/>
            <a:ext cx="7100943" cy="686670"/>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buFont typeface="Wingdings" panose="05000000000000000000" pitchFamily="2" charset="2"/>
              <a:buNone/>
            </a:pPr>
            <a:r>
              <a:rPr lang="en-US" altLang="zh-CN" dirty="0">
                <a:solidFill>
                  <a:srgbClr val="6600CC"/>
                </a:solidFill>
              </a:rPr>
              <a:t>3.  </a:t>
            </a:r>
            <a:r>
              <a:rPr lang="zh-CN" altLang="en-US" dirty="0">
                <a:solidFill>
                  <a:srgbClr val="0000FF"/>
                </a:solidFill>
                <a:sym typeface="Symbol" panose="05050102010706020507" pitchFamily="18" charset="2"/>
              </a:rPr>
              <a:t>协方差函数</a:t>
            </a:r>
          </a:p>
        </p:txBody>
      </p:sp>
      <mc:AlternateContent xmlns:mc="http://schemas.openxmlformats.org/markup-compatibility/2006" xmlns:a14="http://schemas.microsoft.com/office/drawing/2010/main">
        <mc:Choice Requires="a14">
          <p:sp>
            <p:nvSpPr>
              <p:cNvPr id="11" name="Object 4">
                <a:extLst>
                  <a:ext uri="{FF2B5EF4-FFF2-40B4-BE49-F238E27FC236}">
                    <a16:creationId xmlns:a16="http://schemas.microsoft.com/office/drawing/2014/main" id="{108FD0DC-3DE3-1A4D-2D48-64EF284525C8}"/>
                  </a:ext>
                </a:extLst>
              </p:cNvPr>
              <p:cNvSpPr txBox="1"/>
              <p:nvPr/>
            </p:nvSpPr>
            <p:spPr bwMode="auto">
              <a:xfrm>
                <a:off x="2670175" y="3952926"/>
                <a:ext cx="6087606" cy="1089497"/>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𝛼</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den>
                      </m:f>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𝛽</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1" name="Object 4">
                <a:extLst>
                  <a:ext uri="{FF2B5EF4-FFF2-40B4-BE49-F238E27FC236}">
                    <a16:creationId xmlns:a16="http://schemas.microsoft.com/office/drawing/2014/main" id="{108FD0DC-3DE3-1A4D-2D48-64EF284525C8}"/>
                  </a:ext>
                </a:extLst>
              </p:cNvPr>
              <p:cNvSpPr txBox="1">
                <a:spLocks noRot="1" noChangeAspect="1" noMove="1" noResize="1" noEditPoints="1" noAdjustHandles="1" noChangeArrowheads="1" noChangeShapeType="1" noTextEdit="1"/>
              </p:cNvSpPr>
              <p:nvPr/>
            </p:nvSpPr>
            <p:spPr bwMode="auto">
              <a:xfrm>
                <a:off x="2670175" y="3952926"/>
                <a:ext cx="6087606" cy="1089497"/>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12" name="Rectangle 5">
            <a:extLst>
              <a:ext uri="{FF2B5EF4-FFF2-40B4-BE49-F238E27FC236}">
                <a16:creationId xmlns:a16="http://schemas.microsoft.com/office/drawing/2014/main" id="{53809E26-F9EE-7D87-55A2-B09142241723}"/>
              </a:ext>
            </a:extLst>
          </p:cNvPr>
          <p:cNvSpPr>
            <a:spLocks noChangeArrowheads="1"/>
          </p:cNvSpPr>
          <p:nvPr/>
        </p:nvSpPr>
        <p:spPr bwMode="auto">
          <a:xfrm>
            <a:off x="301749" y="5563570"/>
            <a:ext cx="2178554"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b="1" dirty="0">
                <a:solidFill>
                  <a:srgbClr val="6600CC"/>
                </a:solidFill>
                <a:latin typeface="+mn-ea"/>
                <a:ea typeface="+mn-ea"/>
              </a:rPr>
              <a:t>4.  </a:t>
            </a:r>
            <a:r>
              <a:rPr lang="zh-CN" altLang="en-US" b="1" dirty="0">
                <a:solidFill>
                  <a:srgbClr val="0000FF"/>
                </a:solidFill>
                <a:latin typeface="+mn-ea"/>
                <a:ea typeface="+mn-ea"/>
                <a:sym typeface="Symbol" panose="05050102010706020507" pitchFamily="18" charset="2"/>
              </a:rPr>
              <a:t>方差函数</a:t>
            </a:r>
            <a:endParaRPr lang="zh-CN" altLang="en-US" b="1" dirty="0">
              <a:latin typeface="+mn-ea"/>
              <a:ea typeface="+mn-ea"/>
              <a:sym typeface="Symbol" panose="05050102010706020507" pitchFamily="18" charset="2"/>
            </a:endParaRPr>
          </a:p>
        </p:txBody>
      </p:sp>
      <mc:AlternateContent xmlns:mc="http://schemas.openxmlformats.org/markup-compatibility/2006" xmlns:a14="http://schemas.microsoft.com/office/drawing/2010/main">
        <mc:Choice Requires="a14">
          <p:sp>
            <p:nvSpPr>
              <p:cNvPr id="13" name="Object 6">
                <a:extLst>
                  <a:ext uri="{FF2B5EF4-FFF2-40B4-BE49-F238E27FC236}">
                    <a16:creationId xmlns:a16="http://schemas.microsoft.com/office/drawing/2014/main" id="{A408E2ED-F2B7-3BBC-A03E-A42109F38E91}"/>
                  </a:ext>
                </a:extLst>
              </p:cNvPr>
              <p:cNvSpPr txBox="1"/>
              <p:nvPr/>
            </p:nvSpPr>
            <p:spPr bwMode="auto">
              <a:xfrm>
                <a:off x="2627534" y="5312260"/>
                <a:ext cx="3124200" cy="119490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𝛼</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den>
                      </m:f>
                    </m:oMath>
                  </m:oMathPara>
                </a14:m>
                <a:endParaRPr lang="zh-CN" altLang="en-US" dirty="0"/>
              </a:p>
            </p:txBody>
          </p:sp>
        </mc:Choice>
        <mc:Fallback xmlns="">
          <p:sp>
            <p:nvSpPr>
              <p:cNvPr id="13" name="Object 6">
                <a:extLst>
                  <a:ext uri="{FF2B5EF4-FFF2-40B4-BE49-F238E27FC236}">
                    <a16:creationId xmlns:a16="http://schemas.microsoft.com/office/drawing/2014/main" id="{A408E2ED-F2B7-3BBC-A03E-A42109F38E91}"/>
                  </a:ext>
                </a:extLst>
              </p:cNvPr>
              <p:cNvSpPr txBox="1">
                <a:spLocks noRot="1" noChangeAspect="1" noMove="1" noResize="1" noEditPoints="1" noAdjustHandles="1" noChangeArrowheads="1" noChangeShapeType="1" noTextEdit="1"/>
              </p:cNvSpPr>
              <p:nvPr/>
            </p:nvSpPr>
            <p:spPr bwMode="auto">
              <a:xfrm>
                <a:off x="2627534" y="5312260"/>
                <a:ext cx="3124200" cy="1194904"/>
              </a:xfrm>
              <a:prstGeom prst="rect">
                <a:avLst/>
              </a:prstGeom>
              <a:blipFill>
                <a:blip r:embed="rId7"/>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 calcmode="lin" valueType="num">
                                      <p:cBhvr additive="base">
                                        <p:cTn id="7" dur="500" fill="hold"/>
                                        <p:tgtEl>
                                          <p:spTgt spid="308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8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308228"/>
                                        </p:tgtEl>
                                        <p:attrNameLst>
                                          <p:attrName>style.visibility</p:attrName>
                                        </p:attrNameLst>
                                      </p:cBhvr>
                                      <p:to>
                                        <p:strVal val="visible"/>
                                      </p:to>
                                    </p:set>
                                    <p:animEffect transition="in" filter="randombar(horizontal)">
                                      <p:cBhvr>
                                        <p:cTn id="13" dur="500"/>
                                        <p:tgtEl>
                                          <p:spTgt spid="308228"/>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308229"/>
                                        </p:tgtEl>
                                        <p:attrNameLst>
                                          <p:attrName>style.visibility</p:attrName>
                                        </p:attrNameLst>
                                      </p:cBhvr>
                                      <p:to>
                                        <p:strVal val="visible"/>
                                      </p:to>
                                    </p:set>
                                    <p:animEffect transition="in" filter="randombar(horizontal)">
                                      <p:cBhvr>
                                        <p:cTn id="18" dur="500"/>
                                        <p:tgtEl>
                                          <p:spTgt spid="308229"/>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308230"/>
                                        </p:tgtEl>
                                        <p:attrNameLst>
                                          <p:attrName>style.visibility</p:attrName>
                                        </p:attrNameLst>
                                      </p:cBhvr>
                                      <p:to>
                                        <p:strVal val="visible"/>
                                      </p:to>
                                    </p:set>
                                    <p:animEffect transition="in" filter="randombar(horizontal)">
                                      <p:cBhvr>
                                        <p:cTn id="23" dur="500"/>
                                        <p:tgtEl>
                                          <p:spTgt spid="308230"/>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308231"/>
                                        </p:tgtEl>
                                        <p:attrNameLst>
                                          <p:attrName>style.visibility</p:attrName>
                                        </p:attrNameLst>
                                      </p:cBhvr>
                                      <p:to>
                                        <p:strVal val="visible"/>
                                      </p:to>
                                    </p:set>
                                    <p:animEffect transition="in" filter="randombar(horizontal)">
                                      <p:cBhvr>
                                        <p:cTn id="28" dur="500"/>
                                        <p:tgtEl>
                                          <p:spTgt spid="308231"/>
                                        </p:tgtEl>
                                      </p:cBhvr>
                                    </p:animEffect>
                                  </p:childTnLst>
                                </p:cTn>
                              </p:par>
                            </p:childTnLst>
                          </p:cTn>
                        </p:par>
                        <p:par>
                          <p:cTn id="29" fill="hold">
                            <p:stCondLst>
                              <p:cond delay="500"/>
                            </p:stCondLst>
                            <p:childTnLst>
                              <p:par>
                                <p:cTn id="30" presetID="2" presetClass="entr" presetSubtype="4" fill="hold" grpId="0" nodeType="after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 calcmode="lin" valueType="num">
                                      <p:cBhvr additive="base">
                                        <p:cTn id="32"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randombar(horizontal)">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slide(fromLeft)">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randombar(horizontal)">
                                      <p:cBhvr>
                                        <p:cTn id="4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P spid="308228" grpId="0"/>
      <p:bldP spid="308229" grpId="0"/>
      <p:bldP spid="308230" grpId="0"/>
      <p:bldP spid="308231" grpId="0"/>
      <p:bldP spid="10" grpId="0" build="p"/>
      <p:bldP spid="11" grpId="0"/>
      <p:bldP spid="12" grpId="0" autoUpdateAnimBg="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EDEAA-6083-13EB-D47B-48561CB13D71}"/>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09D6D637-0EAC-DA77-BA52-6A39E527CC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18" name="TextBox 17">
            <a:extLst>
              <a:ext uri="{FF2B5EF4-FFF2-40B4-BE49-F238E27FC236}">
                <a16:creationId xmlns:a16="http://schemas.microsoft.com/office/drawing/2014/main" id="{C6D2B6CF-D66B-F789-81FB-B18E1D008546}"/>
              </a:ext>
            </a:extLst>
          </p:cNvPr>
          <p:cNvSpPr txBox="1"/>
          <p:nvPr/>
        </p:nvSpPr>
        <p:spPr>
          <a:xfrm>
            <a:off x="2593975" y="2667794"/>
            <a:ext cx="7421881"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rPr>
              <a:t>第</a:t>
            </a:r>
            <a:r>
              <a:rPr lang="en-US" altLang="zh-CN" sz="4800" dirty="0">
                <a:solidFill>
                  <a:schemeClr val="bg1"/>
                </a:solidFill>
              </a:rPr>
              <a:t>3.2 </a:t>
            </a:r>
            <a:r>
              <a:rPr lang="zh-CN" altLang="en-US" sz="4800" dirty="0">
                <a:solidFill>
                  <a:schemeClr val="bg1"/>
                </a:solidFill>
              </a:rPr>
              <a:t>几种重要随机过程</a:t>
            </a:r>
          </a:p>
        </p:txBody>
      </p:sp>
    </p:spTree>
    <p:extLst>
      <p:ext uri="{BB962C8B-B14F-4D97-AF65-F5344CB8AC3E}">
        <p14:creationId xmlns:p14="http://schemas.microsoft.com/office/powerpoint/2010/main" val="888158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2">
            <a:extLst>
              <a:ext uri="{FF2B5EF4-FFF2-40B4-BE49-F238E27FC236}">
                <a16:creationId xmlns:a16="http://schemas.microsoft.com/office/drawing/2014/main" id="{70785AF0-D089-9375-885E-7A56D346DA0E}"/>
              </a:ext>
            </a:extLst>
          </p:cNvPr>
          <p:cNvSpPr>
            <a:spLocks noGrp="1" noChangeArrowheads="1"/>
          </p:cNvSpPr>
          <p:nvPr>
            <p:ph type="title"/>
          </p:nvPr>
        </p:nvSpPr>
        <p:spPr>
          <a:xfrm>
            <a:off x="917575" y="261289"/>
            <a:ext cx="9961986" cy="609741"/>
          </a:xfrm>
        </p:spPr>
        <p:txBody>
          <a:bodyPr/>
          <a:lstStyle/>
          <a:p>
            <a:pPr eaLnBrk="1" hangingPunct="1"/>
            <a:r>
              <a:rPr lang="en-US" altLang="zh-CN" dirty="0"/>
              <a:t>1.</a:t>
            </a:r>
            <a:r>
              <a:rPr lang="zh-CN" altLang="en-US" dirty="0"/>
              <a:t>独立过程</a:t>
            </a:r>
          </a:p>
        </p:txBody>
      </p:sp>
      <p:sp>
        <p:nvSpPr>
          <p:cNvPr id="282628" name="Rectangle 4">
            <a:extLst>
              <a:ext uri="{FF2B5EF4-FFF2-40B4-BE49-F238E27FC236}">
                <a16:creationId xmlns:a16="http://schemas.microsoft.com/office/drawing/2014/main" id="{8A15AD1F-21AA-1385-4F6E-B9834F298E6F}"/>
              </a:ext>
            </a:extLst>
          </p:cNvPr>
          <p:cNvSpPr>
            <a:spLocks noChangeArrowheads="1"/>
          </p:cNvSpPr>
          <p:nvPr/>
        </p:nvSpPr>
        <p:spPr bwMode="auto">
          <a:xfrm>
            <a:off x="261726" y="1524794"/>
            <a:ext cx="11273684" cy="2635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buClr>
                <a:srgbClr val="00FF00"/>
              </a:buClr>
              <a:buFont typeface="Wingdings" panose="05000000000000000000" pitchFamily="2" charset="2"/>
              <a:buNone/>
            </a:pPr>
            <a:r>
              <a:rPr lang="en-US" altLang="zh-CN" b="1" dirty="0">
                <a:latin typeface="+mn-ea"/>
                <a:ea typeface="+mn-ea"/>
              </a:rPr>
              <a:t>    </a:t>
            </a:r>
            <a:r>
              <a:rPr lang="zh-CN" altLang="en-US" b="1" dirty="0">
                <a:latin typeface="+mn-ea"/>
                <a:ea typeface="+mn-ea"/>
              </a:rPr>
              <a:t>给定随机过程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T</a:t>
            </a:r>
            <a:r>
              <a:rPr lang="en-US" altLang="zh-CN" b="1" dirty="0">
                <a:latin typeface="+mn-ea"/>
                <a:ea typeface="+mn-ea"/>
                <a:sym typeface="Symbol" panose="05050102010706020507" pitchFamily="18" charset="2"/>
              </a:rPr>
              <a:t>}</a:t>
            </a:r>
            <a:r>
              <a:rPr lang="zh-CN" altLang="en-US" b="1" dirty="0">
                <a:latin typeface="+mn-ea"/>
                <a:ea typeface="+mn-ea"/>
                <a:sym typeface="Symbol" panose="05050102010706020507" pitchFamily="18" charset="2"/>
              </a:rPr>
              <a:t>，如果对</a:t>
            </a:r>
            <a:r>
              <a:rPr lang="zh-CN" altLang="en-US" b="1" dirty="0">
                <a:solidFill>
                  <a:srgbClr val="0000FF"/>
                </a:solidFill>
                <a:latin typeface="+mn-ea"/>
                <a:ea typeface="+mn-ea"/>
                <a:sym typeface="Symbol" panose="05050102010706020507" pitchFamily="18" charset="2"/>
              </a:rPr>
              <a:t>任意正整数</a:t>
            </a:r>
            <a:r>
              <a:rPr lang="en-US" altLang="zh-CN" b="1" dirty="0">
                <a:latin typeface="+mn-ea"/>
                <a:ea typeface="+mn-ea"/>
                <a:sym typeface="Symbol" panose="05050102010706020507" pitchFamily="18" charset="2"/>
              </a:rPr>
              <a:t>n</a:t>
            </a:r>
            <a:r>
              <a:rPr lang="zh-CN" altLang="en-US" b="1" dirty="0">
                <a:latin typeface="+mn-ea"/>
                <a:ea typeface="+mn-ea"/>
                <a:sym typeface="Symbol" panose="05050102010706020507" pitchFamily="18" charset="2"/>
              </a:rPr>
              <a:t>及</a:t>
            </a:r>
            <a:r>
              <a:rPr lang="zh-CN" altLang="en-US" b="1" dirty="0">
                <a:solidFill>
                  <a:srgbClr val="0000FF"/>
                </a:solidFill>
                <a:latin typeface="+mn-ea"/>
                <a:ea typeface="+mn-ea"/>
                <a:sym typeface="Symbol" panose="05050102010706020507" pitchFamily="18" charset="2"/>
              </a:rPr>
              <a:t>任意</a:t>
            </a:r>
            <a:r>
              <a:rPr lang="en-US" altLang="zh-CN" b="1" dirty="0">
                <a:latin typeface="+mn-ea"/>
                <a:ea typeface="+mn-ea"/>
                <a:sym typeface="Symbol" panose="05050102010706020507" pitchFamily="18" charset="2"/>
              </a:rPr>
              <a:t>t</a:t>
            </a:r>
            <a:r>
              <a:rPr lang="en-US" altLang="zh-CN" b="1" baseline="-25000" dirty="0">
                <a:latin typeface="+mn-ea"/>
                <a:ea typeface="+mn-ea"/>
                <a:sym typeface="Symbol" panose="05050102010706020507" pitchFamily="18" charset="2"/>
              </a:rPr>
              <a:t>1</a:t>
            </a:r>
            <a:r>
              <a:rPr lang="en-US" altLang="zh-CN" b="1" dirty="0">
                <a:latin typeface="+mn-ea"/>
                <a:ea typeface="+mn-ea"/>
                <a:sym typeface="Symbol" panose="05050102010706020507" pitchFamily="18" charset="2"/>
              </a:rPr>
              <a:t>,t</a:t>
            </a:r>
            <a:r>
              <a:rPr lang="en-US" altLang="zh-CN" b="1" baseline="-25000" dirty="0">
                <a:latin typeface="+mn-ea"/>
                <a:ea typeface="+mn-ea"/>
                <a:sym typeface="Symbol" panose="05050102010706020507" pitchFamily="18" charset="2"/>
              </a:rPr>
              <a:t>2</a:t>
            </a:r>
            <a:r>
              <a:rPr lang="en-US" altLang="zh-CN" b="1" dirty="0">
                <a:latin typeface="+mn-ea"/>
                <a:ea typeface="+mn-ea"/>
                <a:sym typeface="Symbol" panose="05050102010706020507" pitchFamily="18" charset="2"/>
              </a:rPr>
              <a:t>,…,</a:t>
            </a:r>
            <a:r>
              <a:rPr lang="en-US" altLang="zh-CN" b="1" dirty="0" err="1">
                <a:latin typeface="+mn-ea"/>
                <a:ea typeface="+mn-ea"/>
                <a:sym typeface="Symbol" panose="05050102010706020507" pitchFamily="18" charset="2"/>
              </a:rPr>
              <a:t>t</a:t>
            </a:r>
            <a:r>
              <a:rPr lang="en-US" altLang="zh-CN" b="1" baseline="-25000" dirty="0" err="1">
                <a:latin typeface="+mn-ea"/>
                <a:ea typeface="+mn-ea"/>
                <a:sym typeface="Symbol" panose="05050102010706020507" pitchFamily="18" charset="2"/>
              </a:rPr>
              <a:t>n</a:t>
            </a:r>
            <a:r>
              <a:rPr lang="en-US" altLang="zh-CN" b="1" dirty="0" err="1">
                <a:latin typeface="+mn-ea"/>
                <a:ea typeface="+mn-ea"/>
                <a:sym typeface="Symbol" panose="05050102010706020507" pitchFamily="18" charset="2"/>
              </a:rPr>
              <a:t>T</a:t>
            </a:r>
            <a:r>
              <a:rPr lang="zh-CN" altLang="en-US" b="1" dirty="0">
                <a:latin typeface="+mn-ea"/>
                <a:ea typeface="+mn-ea"/>
                <a:sym typeface="Symbol" panose="05050102010706020507" pitchFamily="18" charset="2"/>
              </a:rPr>
              <a:t>，随机变量</a:t>
            </a:r>
            <a:r>
              <a:rPr lang="en-US" altLang="zh-CN" b="1" dirty="0">
                <a:latin typeface="+mn-ea"/>
                <a:ea typeface="+mn-ea"/>
              </a:rPr>
              <a:t>X(</a:t>
            </a:r>
            <a:r>
              <a:rPr lang="en-US" altLang="zh-CN" b="1" dirty="0">
                <a:latin typeface="+mn-ea"/>
                <a:ea typeface="+mn-ea"/>
                <a:sym typeface="Symbol" panose="05050102010706020507" pitchFamily="18" charset="2"/>
              </a:rPr>
              <a:t>t</a:t>
            </a:r>
            <a:r>
              <a:rPr lang="en-US" altLang="zh-CN" b="1" baseline="-25000" dirty="0">
                <a:latin typeface="+mn-ea"/>
                <a:ea typeface="+mn-ea"/>
                <a:sym typeface="Symbol" panose="05050102010706020507" pitchFamily="18" charset="2"/>
              </a:rPr>
              <a:t>1</a:t>
            </a:r>
            <a:r>
              <a:rPr lang="en-US" altLang="zh-CN" b="1" dirty="0">
                <a:latin typeface="+mn-ea"/>
                <a:ea typeface="+mn-ea"/>
              </a:rPr>
              <a:t>),X(</a:t>
            </a:r>
            <a:r>
              <a:rPr lang="en-US" altLang="zh-CN" b="1" dirty="0">
                <a:latin typeface="+mn-ea"/>
                <a:ea typeface="+mn-ea"/>
                <a:sym typeface="Symbol" panose="05050102010706020507" pitchFamily="18" charset="2"/>
              </a:rPr>
              <a:t>t</a:t>
            </a:r>
            <a:r>
              <a:rPr lang="en-US" altLang="zh-CN" b="1" baseline="-25000" dirty="0">
                <a:latin typeface="+mn-ea"/>
                <a:ea typeface="+mn-ea"/>
                <a:sym typeface="Symbol" panose="05050102010706020507" pitchFamily="18" charset="2"/>
              </a:rPr>
              <a:t>2</a:t>
            </a:r>
            <a:r>
              <a:rPr lang="en-US" altLang="zh-CN" b="1" dirty="0">
                <a:latin typeface="+mn-ea"/>
                <a:ea typeface="+mn-ea"/>
                <a:sym typeface="Symbol" panose="05050102010706020507" pitchFamily="18" charset="2"/>
              </a:rPr>
              <a:t>),…,X(</a:t>
            </a:r>
            <a:r>
              <a:rPr lang="en-US" altLang="zh-CN" b="1" dirty="0" err="1">
                <a:latin typeface="+mn-ea"/>
                <a:ea typeface="+mn-ea"/>
                <a:sym typeface="Symbol" panose="05050102010706020507" pitchFamily="18" charset="2"/>
              </a:rPr>
              <a:t>t</a:t>
            </a:r>
            <a:r>
              <a:rPr lang="en-US" altLang="zh-CN" b="1" baseline="-25000" dirty="0" err="1">
                <a:latin typeface="+mn-ea"/>
                <a:ea typeface="+mn-ea"/>
                <a:sym typeface="Symbol" panose="05050102010706020507" pitchFamily="18" charset="2"/>
              </a:rPr>
              <a:t>n</a:t>
            </a:r>
            <a:r>
              <a:rPr lang="en-US" altLang="zh-CN" b="1" dirty="0">
                <a:latin typeface="+mn-ea"/>
                <a:ea typeface="+mn-ea"/>
              </a:rPr>
              <a:t>)</a:t>
            </a:r>
            <a:r>
              <a:rPr lang="zh-CN" altLang="en-US" b="1" dirty="0">
                <a:latin typeface="+mn-ea"/>
                <a:ea typeface="+mn-ea"/>
              </a:rPr>
              <a:t>相互独立，则称随机过程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T</a:t>
            </a:r>
            <a:r>
              <a:rPr lang="en-US" altLang="zh-CN" b="1" dirty="0">
                <a:latin typeface="+mn-ea"/>
                <a:ea typeface="+mn-ea"/>
                <a:sym typeface="Symbol" panose="05050102010706020507" pitchFamily="18" charset="2"/>
              </a:rPr>
              <a:t>}</a:t>
            </a:r>
            <a:r>
              <a:rPr lang="zh-CN" altLang="en-US" b="1" dirty="0">
                <a:latin typeface="+mn-ea"/>
                <a:ea typeface="+mn-ea"/>
              </a:rPr>
              <a:t>为</a:t>
            </a:r>
            <a:r>
              <a:rPr lang="zh-CN" altLang="en-US" b="1" dirty="0">
                <a:solidFill>
                  <a:srgbClr val="CC00CC"/>
                </a:solidFill>
                <a:latin typeface="+mn-ea"/>
                <a:ea typeface="+mn-ea"/>
              </a:rPr>
              <a:t>独立过程</a:t>
            </a:r>
            <a:r>
              <a:rPr lang="zh-CN" altLang="en-US" b="1" dirty="0">
                <a:latin typeface="+mn-ea"/>
                <a:ea typeface="+mn-ea"/>
              </a:rPr>
              <a:t>。</a:t>
            </a:r>
          </a:p>
          <a:p>
            <a:pPr algn="just" eaLnBrk="1" hangingPunct="1">
              <a:lnSpc>
                <a:spcPct val="120000"/>
              </a:lnSpc>
              <a:spcBef>
                <a:spcPct val="50000"/>
              </a:spcBef>
              <a:buClr>
                <a:srgbClr val="00FF00"/>
              </a:buClr>
              <a:buFont typeface="Wingdings" panose="05000000000000000000" pitchFamily="2" charset="2"/>
              <a:buNone/>
            </a:pPr>
            <a:r>
              <a:rPr lang="zh-CN" altLang="en-US" b="1" dirty="0">
                <a:latin typeface="+mn-ea"/>
                <a:ea typeface="+mn-ea"/>
              </a:rPr>
              <a:t>      特别，如果</a:t>
            </a:r>
            <a:r>
              <a:rPr lang="en-US" altLang="zh-CN" b="1" dirty="0">
                <a:latin typeface="+mn-ea"/>
                <a:ea typeface="+mn-ea"/>
              </a:rPr>
              <a:t>X(n),n=1,2,3,…</a:t>
            </a:r>
            <a:r>
              <a:rPr lang="zh-CN" altLang="en-US" b="1" dirty="0">
                <a:latin typeface="+mn-ea"/>
                <a:ea typeface="+mn-ea"/>
                <a:sym typeface="Symbol" panose="05050102010706020507" pitchFamily="18" charset="2"/>
              </a:rPr>
              <a:t>是</a:t>
            </a:r>
            <a:r>
              <a:rPr lang="zh-CN" altLang="en-US" b="1" dirty="0">
                <a:latin typeface="+mn-ea"/>
                <a:ea typeface="+mn-ea"/>
              </a:rPr>
              <a:t>相互独立的</a:t>
            </a:r>
            <a:r>
              <a:rPr lang="zh-CN" altLang="en-US" b="1" dirty="0">
                <a:latin typeface="+mn-ea"/>
                <a:ea typeface="+mn-ea"/>
                <a:sym typeface="Symbol" panose="05050102010706020507" pitchFamily="18" charset="2"/>
              </a:rPr>
              <a:t>随机变量</a:t>
            </a:r>
            <a:r>
              <a:rPr lang="zh-CN" altLang="en-US" b="1" dirty="0">
                <a:latin typeface="+mn-ea"/>
                <a:ea typeface="+mn-ea"/>
              </a:rPr>
              <a:t>，则称</a:t>
            </a:r>
            <a:r>
              <a:rPr lang="en-US" altLang="zh-CN" b="1" dirty="0">
                <a:latin typeface="+mn-ea"/>
                <a:ea typeface="+mn-ea"/>
              </a:rPr>
              <a:t>{X(n),n=1,2,3,…</a:t>
            </a:r>
            <a:r>
              <a:rPr lang="en-US" altLang="zh-CN" b="1" dirty="0">
                <a:latin typeface="+mn-ea"/>
                <a:ea typeface="+mn-ea"/>
                <a:sym typeface="Symbol" panose="05050102010706020507" pitchFamily="18" charset="2"/>
              </a:rPr>
              <a:t>}</a:t>
            </a:r>
            <a:r>
              <a:rPr lang="zh-CN" altLang="en-US" b="1" dirty="0">
                <a:latin typeface="+mn-ea"/>
                <a:ea typeface="+mn-ea"/>
              </a:rPr>
              <a:t>为</a:t>
            </a:r>
            <a:r>
              <a:rPr lang="zh-CN" altLang="en-US" b="1" dirty="0">
                <a:solidFill>
                  <a:srgbClr val="CC00CC"/>
                </a:solidFill>
                <a:latin typeface="+mn-ea"/>
                <a:ea typeface="+mn-ea"/>
              </a:rPr>
              <a:t>独立随机序列</a:t>
            </a:r>
            <a:r>
              <a:rPr lang="zh-CN" altLang="en-US" b="1" dirty="0">
                <a:latin typeface="+mn-ea"/>
                <a:ea typeface="+mn-ea"/>
              </a:rPr>
              <a:t>。</a:t>
            </a:r>
          </a:p>
          <a:p>
            <a:pPr algn="just" eaLnBrk="1" hangingPunct="1">
              <a:lnSpc>
                <a:spcPct val="120000"/>
              </a:lnSpc>
              <a:spcBef>
                <a:spcPct val="50000"/>
              </a:spcBef>
              <a:buClr>
                <a:srgbClr val="00FF00"/>
              </a:buClr>
              <a:buFont typeface="Wingdings" panose="05000000000000000000" pitchFamily="2" charset="2"/>
              <a:buNone/>
            </a:pPr>
            <a:r>
              <a:rPr lang="zh-CN" altLang="en-US" b="1" dirty="0">
                <a:latin typeface="+mn-ea"/>
                <a:ea typeface="+mn-ea"/>
              </a:rPr>
              <a:t>     独立过程的</a:t>
            </a:r>
            <a:r>
              <a:rPr lang="en-US" altLang="zh-CN" b="1" dirty="0">
                <a:latin typeface="+mn-ea"/>
                <a:ea typeface="+mn-ea"/>
              </a:rPr>
              <a:t>n</a:t>
            </a:r>
            <a:r>
              <a:rPr lang="zh-CN" altLang="en-US" b="1" dirty="0">
                <a:latin typeface="+mn-ea"/>
                <a:ea typeface="+mn-ea"/>
              </a:rPr>
              <a:t>维概率分布由一维概率分布确定：</a:t>
            </a:r>
          </a:p>
        </p:txBody>
      </p:sp>
      <mc:AlternateContent xmlns:mc="http://schemas.openxmlformats.org/markup-compatibility/2006" xmlns:a14="http://schemas.microsoft.com/office/drawing/2010/main">
        <mc:Choice Requires="a14">
          <p:sp>
            <p:nvSpPr>
              <p:cNvPr id="282631" name="Object 7">
                <a:extLst>
                  <a:ext uri="{FF2B5EF4-FFF2-40B4-BE49-F238E27FC236}">
                    <a16:creationId xmlns:a16="http://schemas.microsoft.com/office/drawing/2014/main" id="{A5445B7B-D177-36A4-E451-53197C9455F6}"/>
                  </a:ext>
                </a:extLst>
              </p:cNvPr>
              <p:cNvSpPr txBox="1">
                <a:spLocks noGrp="1"/>
              </p:cNvSpPr>
              <p:nvPr>
                <p:ph sz="half" idx="2"/>
              </p:nvPr>
            </p:nvSpPr>
            <p:spPr bwMode="auto">
              <a:xfrm>
                <a:off x="1036888" y="4083800"/>
                <a:ext cx="9723360" cy="2330305"/>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e>
                      </m:nary>
                    </m:oMath>
                  </m:oMathPara>
                </a14:m>
                <a:endParaRPr lang="zh-CN" altLang="en-US" dirty="0"/>
              </a:p>
            </p:txBody>
          </p:sp>
        </mc:Choice>
        <mc:Fallback xmlns="">
          <p:sp>
            <p:nvSpPr>
              <p:cNvPr id="282631" name="Object 7">
                <a:extLst>
                  <a:ext uri="{FF2B5EF4-FFF2-40B4-BE49-F238E27FC236}">
                    <a16:creationId xmlns:a16="http://schemas.microsoft.com/office/drawing/2014/main" id="{A5445B7B-D177-36A4-E451-53197C9455F6}"/>
                  </a:ext>
                </a:extLst>
              </p:cNvPr>
              <p:cNvSpPr txBox="1">
                <a:spLocks noGrp="1" noRot="1" noChangeAspect="1" noMove="1" noResize="1" noEditPoints="1" noAdjustHandles="1" noChangeArrowheads="1" noChangeShapeType="1" noTextEdit="1"/>
              </p:cNvSpPr>
              <p:nvPr>
                <p:ph sz="half" idx="2"/>
              </p:nvPr>
            </p:nvSpPr>
            <p:spPr bwMode="auto">
              <a:xfrm>
                <a:off x="1036888" y="4083800"/>
                <a:ext cx="9723360" cy="2330305"/>
              </a:xfrm>
              <a:prstGeom prst="rect">
                <a:avLst/>
              </a:prstGeom>
              <a:blipFill>
                <a:blip r:embed="rId2"/>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iterate type="wd">
                                    <p:tmPct val="10000"/>
                                  </p:iterate>
                                  <p:childTnLst>
                                    <p:set>
                                      <p:cBhvr>
                                        <p:cTn id="6" dur="1" fill="hold">
                                          <p:stCondLst>
                                            <p:cond delay="0"/>
                                          </p:stCondLst>
                                        </p:cTn>
                                        <p:tgtEl>
                                          <p:spTgt spid="282628">
                                            <p:txEl>
                                              <p:pRg st="0" end="0"/>
                                            </p:txEl>
                                          </p:spTgt>
                                        </p:tgtEl>
                                        <p:attrNameLst>
                                          <p:attrName>style.visibility</p:attrName>
                                        </p:attrNameLst>
                                      </p:cBhvr>
                                      <p:to>
                                        <p:strVal val="visible"/>
                                      </p:to>
                                    </p:set>
                                    <p:anim calcmode="lin" valueType="num">
                                      <p:cBhvr additive="base">
                                        <p:cTn id="7" dur="500" fill="hold"/>
                                        <p:tgtEl>
                                          <p:spTgt spid="28262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26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iterate type="wd">
                                    <p:tmPct val="10000"/>
                                  </p:iterate>
                                  <p:childTnLst>
                                    <p:set>
                                      <p:cBhvr>
                                        <p:cTn id="12" dur="1" fill="hold">
                                          <p:stCondLst>
                                            <p:cond delay="0"/>
                                          </p:stCondLst>
                                        </p:cTn>
                                        <p:tgtEl>
                                          <p:spTgt spid="282628">
                                            <p:txEl>
                                              <p:pRg st="1" end="1"/>
                                            </p:txEl>
                                          </p:spTgt>
                                        </p:tgtEl>
                                        <p:attrNameLst>
                                          <p:attrName>style.visibility</p:attrName>
                                        </p:attrNameLst>
                                      </p:cBhvr>
                                      <p:to>
                                        <p:strVal val="visible"/>
                                      </p:to>
                                    </p:set>
                                    <p:anim calcmode="lin" valueType="num">
                                      <p:cBhvr additive="base">
                                        <p:cTn id="13" dur="500" fill="hold"/>
                                        <p:tgtEl>
                                          <p:spTgt spid="28262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8262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iterate type="wd">
                                    <p:tmPct val="10000"/>
                                  </p:iterate>
                                  <p:childTnLst>
                                    <p:set>
                                      <p:cBhvr>
                                        <p:cTn id="18" dur="1" fill="hold">
                                          <p:stCondLst>
                                            <p:cond delay="0"/>
                                          </p:stCondLst>
                                        </p:cTn>
                                        <p:tgtEl>
                                          <p:spTgt spid="282628">
                                            <p:txEl>
                                              <p:pRg st="2" end="2"/>
                                            </p:txEl>
                                          </p:spTgt>
                                        </p:tgtEl>
                                        <p:attrNameLst>
                                          <p:attrName>style.visibility</p:attrName>
                                        </p:attrNameLst>
                                      </p:cBhvr>
                                      <p:to>
                                        <p:strVal val="visible"/>
                                      </p:to>
                                    </p:set>
                                    <p:anim calcmode="lin" valueType="num">
                                      <p:cBhvr additive="base">
                                        <p:cTn id="19" dur="500" fill="hold"/>
                                        <p:tgtEl>
                                          <p:spTgt spid="28262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8262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82631">
                                            <p:txEl>
                                              <p:pRg st="0" end="0"/>
                                            </p:txEl>
                                          </p:spTgt>
                                        </p:tgtEl>
                                        <p:attrNameLst>
                                          <p:attrName>style.visibility</p:attrName>
                                        </p:attrNameLst>
                                      </p:cBhvr>
                                      <p:to>
                                        <p:strVal val="visible"/>
                                      </p:to>
                                    </p:set>
                                    <p:animEffect transition="in" filter="randombar(horizontal)">
                                      <p:cBhvr>
                                        <p:cTn id="25" dur="500"/>
                                        <p:tgtEl>
                                          <p:spTgt spid="2826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8" grpId="0" build="p"/>
      <p:bldP spid="28263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2">
            <a:extLst>
              <a:ext uri="{FF2B5EF4-FFF2-40B4-BE49-F238E27FC236}">
                <a16:creationId xmlns:a16="http://schemas.microsoft.com/office/drawing/2014/main" id="{543F6EB5-05D3-1D12-9323-BF1DA8CADC5F}"/>
              </a:ext>
            </a:extLst>
          </p:cNvPr>
          <p:cNvSpPr>
            <a:spLocks noGrp="1" noChangeArrowheads="1"/>
          </p:cNvSpPr>
          <p:nvPr>
            <p:ph type="title"/>
          </p:nvPr>
        </p:nvSpPr>
        <p:spPr>
          <a:xfrm>
            <a:off x="917575" y="233917"/>
            <a:ext cx="9961986" cy="609741"/>
          </a:xfrm>
        </p:spPr>
        <p:txBody>
          <a:bodyPr/>
          <a:lstStyle/>
          <a:p>
            <a:pPr algn="l" eaLnBrk="1" hangingPunct="1"/>
            <a:r>
              <a:rPr lang="zh-CN" altLang="en-US" dirty="0"/>
              <a:t>实例</a:t>
            </a:r>
          </a:p>
        </p:txBody>
      </p:sp>
      <p:sp>
        <p:nvSpPr>
          <p:cNvPr id="283651" name="Rectangle 3">
            <a:extLst>
              <a:ext uri="{FF2B5EF4-FFF2-40B4-BE49-F238E27FC236}">
                <a16:creationId xmlns:a16="http://schemas.microsoft.com/office/drawing/2014/main" id="{E03C1C80-FFA2-907D-2352-E6FD3B59CE31}"/>
              </a:ext>
            </a:extLst>
          </p:cNvPr>
          <p:cNvSpPr>
            <a:spLocks noGrp="1" noChangeArrowheads="1"/>
          </p:cNvSpPr>
          <p:nvPr>
            <p:ph type="body" sz="half" idx="1"/>
          </p:nvPr>
        </p:nvSpPr>
        <p:spPr>
          <a:xfrm>
            <a:off x="0" y="1086777"/>
            <a:ext cx="10879561" cy="876503"/>
          </a:xfrm>
        </p:spPr>
        <p:txBody>
          <a:bodyPr>
            <a:normAutofit fontScale="92500"/>
          </a:bodyPr>
          <a:lstStyle/>
          <a:p>
            <a:pPr eaLnBrk="1" hangingPunct="1">
              <a:buClrTx/>
              <a:buFontTx/>
              <a:buNone/>
            </a:pPr>
            <a:r>
              <a:rPr lang="en-US" altLang="zh-CN" dirty="0"/>
              <a:t>      </a:t>
            </a:r>
            <a:r>
              <a:rPr lang="zh-CN" altLang="en-US" dirty="0">
                <a:solidFill>
                  <a:srgbClr val="CC00CC"/>
                </a:solidFill>
              </a:rPr>
              <a:t>例</a:t>
            </a:r>
            <a:r>
              <a:rPr lang="en-US" altLang="zh-CN" dirty="0">
                <a:solidFill>
                  <a:srgbClr val="CC00CC"/>
                </a:solidFill>
              </a:rPr>
              <a:t>1</a:t>
            </a:r>
            <a:r>
              <a:rPr lang="zh-CN" altLang="en-US" dirty="0">
                <a:solidFill>
                  <a:srgbClr val="CC00CC"/>
                </a:solidFill>
              </a:rPr>
              <a:t> </a:t>
            </a:r>
            <a:r>
              <a:rPr lang="zh-CN" altLang="en-US" dirty="0"/>
              <a:t>如果</a:t>
            </a:r>
            <a:r>
              <a:rPr lang="en-US" altLang="zh-CN" dirty="0"/>
              <a:t>X(n),n=1,2,3,…</a:t>
            </a:r>
            <a:r>
              <a:rPr lang="zh-CN" altLang="en-US" dirty="0">
                <a:sym typeface="Symbol" panose="05050102010706020507" pitchFamily="18" charset="2"/>
              </a:rPr>
              <a:t>是</a:t>
            </a:r>
            <a:r>
              <a:rPr lang="zh-CN" altLang="en-US" dirty="0"/>
              <a:t>相互独立的伯努利</a:t>
            </a:r>
            <a:r>
              <a:rPr lang="zh-CN" altLang="en-US" dirty="0">
                <a:sym typeface="Symbol" panose="05050102010706020507" pitchFamily="18" charset="2"/>
              </a:rPr>
              <a:t>随机变量</a:t>
            </a:r>
            <a:r>
              <a:rPr lang="zh-CN" altLang="en-US" dirty="0"/>
              <a:t>，它们的概率分布律为</a:t>
            </a:r>
          </a:p>
        </p:txBody>
      </p:sp>
      <p:graphicFrame>
        <p:nvGraphicFramePr>
          <p:cNvPr id="283811" name="Group 163">
            <a:extLst>
              <a:ext uri="{FF2B5EF4-FFF2-40B4-BE49-F238E27FC236}">
                <a16:creationId xmlns:a16="http://schemas.microsoft.com/office/drawing/2014/main" id="{D182ED3F-B84B-4779-A569-26D87263BBDE}"/>
              </a:ext>
            </a:extLst>
          </p:cNvPr>
          <p:cNvGraphicFramePr>
            <a:graphicFrameLocks noGrp="1"/>
          </p:cNvGraphicFramePr>
          <p:nvPr>
            <p:ph sz="quarter" idx="2"/>
          </p:nvPr>
        </p:nvGraphicFramePr>
        <p:xfrm>
          <a:off x="1527175" y="1881188"/>
          <a:ext cx="6140284" cy="945358"/>
        </p:xfrm>
        <a:graphic>
          <a:graphicData uri="http://schemas.openxmlformats.org/drawingml/2006/table">
            <a:tbl>
              <a:tblPr/>
              <a:tblGrid>
                <a:gridCol w="1090865">
                  <a:extLst>
                    <a:ext uri="{9D8B030D-6E8A-4147-A177-3AD203B41FA5}">
                      <a16:colId xmlns:a16="http://schemas.microsoft.com/office/drawing/2014/main" val="3328204843"/>
                    </a:ext>
                  </a:extLst>
                </a:gridCol>
                <a:gridCol w="922551">
                  <a:extLst>
                    <a:ext uri="{9D8B030D-6E8A-4147-A177-3AD203B41FA5}">
                      <a16:colId xmlns:a16="http://schemas.microsoft.com/office/drawing/2014/main" val="2547189868"/>
                    </a:ext>
                  </a:extLst>
                </a:gridCol>
                <a:gridCol w="860624">
                  <a:extLst>
                    <a:ext uri="{9D8B030D-6E8A-4147-A177-3AD203B41FA5}">
                      <a16:colId xmlns:a16="http://schemas.microsoft.com/office/drawing/2014/main" val="919622264"/>
                    </a:ext>
                  </a:extLst>
                </a:gridCol>
                <a:gridCol w="1406851">
                  <a:extLst>
                    <a:ext uri="{9D8B030D-6E8A-4147-A177-3AD203B41FA5}">
                      <a16:colId xmlns:a16="http://schemas.microsoft.com/office/drawing/2014/main" val="2970619898"/>
                    </a:ext>
                  </a:extLst>
                </a:gridCol>
                <a:gridCol w="1859393">
                  <a:extLst>
                    <a:ext uri="{9D8B030D-6E8A-4147-A177-3AD203B41FA5}">
                      <a16:colId xmlns:a16="http://schemas.microsoft.com/office/drawing/2014/main" val="1533135224"/>
                    </a:ext>
                  </a:extLst>
                </a:gridCol>
              </a:tblGrid>
              <a:tr h="472679">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X(n)</a:t>
                      </a:r>
                    </a:p>
                  </a:txBody>
                  <a:tcPr marL="0" marR="0" marT="35982" marB="35982"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35982" marB="35982"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35982" marB="35982" anchor="ctr"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0&lt;p&lt;1</a:t>
                      </a:r>
                    </a:p>
                  </a:txBody>
                  <a:tcPr marL="0" marR="0" marT="35982" marB="35982" anchor="ctr" horzOverflow="overflow">
                    <a:lnL>
                      <a:noFill/>
                    </a:lnL>
                    <a:lnR>
                      <a:noFill/>
                    </a:lnR>
                    <a:lnT cap="flat">
                      <a:noFill/>
                    </a:lnT>
                    <a:lnB cap="flat">
                      <a:noFill/>
                    </a:lnB>
                    <a:lnTlToBr>
                      <a:noFill/>
                    </a:lnTlToBr>
                    <a:lnBlToTr>
                      <a:noFill/>
                    </a:lnBlToTr>
                    <a:noFill/>
                  </a:tcPr>
                </a:tc>
                <a:tc rowSpan="2">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n=1,2,3,…</a:t>
                      </a:r>
                    </a:p>
                  </a:txBody>
                  <a:tcPr marL="0" marR="0" marT="35982" marB="35982" anchor="ct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596680684"/>
                  </a:ext>
                </a:extLst>
              </a:tr>
              <a:tr h="472679">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p>
                  </a:txBody>
                  <a:tcPr marL="0" marR="0" marT="35982" marB="35982"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q</a:t>
                      </a:r>
                    </a:p>
                  </a:txBody>
                  <a:tcPr marL="0" marR="0" marT="35982" marB="35982"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p>
                  </a:txBody>
                  <a:tcPr marL="0" marR="0" marT="35982" marB="35982"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p+q</a:t>
                      </a: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txBody>
                  <a:tcPr marL="0" marR="0" marT="35982" marB="35982" anchor="ctr" horzOverflow="overflow">
                    <a:lnL>
                      <a:noFill/>
                    </a:lnL>
                    <a:lnR>
                      <a:noFill/>
                    </a:lnR>
                    <a:lnT cap="flat">
                      <a:noFill/>
                    </a:lnT>
                    <a:lnB cap="flat">
                      <a:noFill/>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3245233102"/>
                  </a:ext>
                </a:extLst>
              </a:tr>
            </a:tbl>
          </a:graphicData>
        </a:graphic>
      </p:graphicFrame>
      <p:sp>
        <p:nvSpPr>
          <p:cNvPr id="283801" name="Rectangle 153">
            <a:extLst>
              <a:ext uri="{FF2B5EF4-FFF2-40B4-BE49-F238E27FC236}">
                <a16:creationId xmlns:a16="http://schemas.microsoft.com/office/drawing/2014/main" id="{B35956B4-B944-5502-9772-42A9543A3C5E}"/>
              </a:ext>
            </a:extLst>
          </p:cNvPr>
          <p:cNvSpPr>
            <a:spLocks noChangeArrowheads="1"/>
          </p:cNvSpPr>
          <p:nvPr/>
        </p:nvSpPr>
        <p:spPr bwMode="auto">
          <a:xfrm>
            <a:off x="803274" y="2840354"/>
            <a:ext cx="10879561" cy="3729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533400" indent="-5334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zh-CN" altLang="en-US" sz="2400" dirty="0">
                <a:latin typeface="+mn-ea"/>
                <a:ea typeface="+mn-ea"/>
              </a:rPr>
              <a:t>则称</a:t>
            </a:r>
            <a:r>
              <a:rPr lang="en-US" altLang="zh-CN" sz="2400" dirty="0">
                <a:latin typeface="+mn-ea"/>
                <a:ea typeface="+mn-ea"/>
              </a:rPr>
              <a:t>{X(n),n=1,2,3,…}</a:t>
            </a:r>
            <a:r>
              <a:rPr lang="zh-CN" altLang="en-US" sz="2400" dirty="0">
                <a:latin typeface="+mn-ea"/>
                <a:ea typeface="+mn-ea"/>
              </a:rPr>
              <a:t>为伯努利</a:t>
            </a:r>
            <a:r>
              <a:rPr lang="zh-CN" altLang="en-US" sz="2400" dirty="0">
                <a:latin typeface="+mn-ea"/>
                <a:ea typeface="+mn-ea"/>
                <a:sym typeface="Symbol" panose="05050102010706020507" pitchFamily="18" charset="2"/>
              </a:rPr>
              <a:t>随机序列。</a:t>
            </a:r>
          </a:p>
          <a:p>
            <a:pPr eaLnBrk="1" hangingPunct="1">
              <a:lnSpc>
                <a:spcPct val="150000"/>
              </a:lnSpc>
              <a:buClrTx/>
              <a:buFontTx/>
              <a:buNone/>
            </a:pPr>
            <a:r>
              <a:rPr lang="zh-CN" altLang="en-US" sz="2400" dirty="0">
                <a:latin typeface="+mn-ea"/>
                <a:ea typeface="+mn-ea"/>
              </a:rPr>
              <a:t>        伯努利</a:t>
            </a:r>
            <a:r>
              <a:rPr lang="zh-CN" altLang="en-US" sz="2400" dirty="0">
                <a:latin typeface="+mn-ea"/>
                <a:ea typeface="+mn-ea"/>
                <a:sym typeface="Symbol" panose="05050102010706020507" pitchFamily="18" charset="2"/>
              </a:rPr>
              <a:t>随机随机序列是一个</a:t>
            </a:r>
            <a:r>
              <a:rPr lang="zh-CN" altLang="en-US" sz="2400" dirty="0">
                <a:latin typeface="+mn-ea"/>
                <a:ea typeface="+mn-ea"/>
              </a:rPr>
              <a:t>独立</a:t>
            </a:r>
            <a:r>
              <a:rPr lang="zh-CN" altLang="en-US" sz="2400" dirty="0">
                <a:latin typeface="+mn-ea"/>
                <a:ea typeface="+mn-ea"/>
                <a:sym typeface="Symbol" panose="05050102010706020507" pitchFamily="18" charset="2"/>
              </a:rPr>
              <a:t>随机序列。其中</a:t>
            </a:r>
          </a:p>
          <a:p>
            <a:pPr eaLnBrk="1" hangingPunct="1">
              <a:lnSpc>
                <a:spcPct val="150000"/>
              </a:lnSpc>
              <a:buClrTx/>
              <a:buFontTx/>
              <a:buNone/>
            </a:pPr>
            <a:r>
              <a:rPr lang="zh-CN" altLang="en-US" sz="2400" dirty="0">
                <a:solidFill>
                  <a:srgbClr val="C00000"/>
                </a:solidFill>
                <a:latin typeface="+mn-ea"/>
                <a:ea typeface="+mn-ea"/>
                <a:sym typeface="Symbol" panose="05050102010706020507" pitchFamily="18" charset="2"/>
              </a:rPr>
              <a:t>均值	</a:t>
            </a:r>
            <a:r>
              <a:rPr lang="en-US" altLang="zh-CN" sz="2400" dirty="0">
                <a:latin typeface="+mn-ea"/>
                <a:ea typeface="+mn-ea"/>
                <a:sym typeface="Symbol" panose="05050102010706020507" pitchFamily="18" charset="2"/>
              </a:rPr>
              <a:t>E[X(n)] = p</a:t>
            </a:r>
            <a:r>
              <a:rPr lang="zh-CN" altLang="en-US" sz="2400" dirty="0">
                <a:latin typeface="+mn-ea"/>
                <a:ea typeface="+mn-ea"/>
                <a:sym typeface="Symbol" panose="05050102010706020507" pitchFamily="18" charset="2"/>
              </a:rPr>
              <a:t>，</a:t>
            </a:r>
          </a:p>
          <a:p>
            <a:pPr eaLnBrk="1" hangingPunct="1">
              <a:lnSpc>
                <a:spcPct val="150000"/>
              </a:lnSpc>
              <a:buClrTx/>
              <a:buFontTx/>
              <a:buNone/>
            </a:pPr>
            <a:r>
              <a:rPr lang="zh-CN" altLang="en-US" sz="2400" dirty="0">
                <a:solidFill>
                  <a:srgbClr val="C00000"/>
                </a:solidFill>
                <a:latin typeface="+mn-ea"/>
                <a:ea typeface="+mn-ea"/>
                <a:sym typeface="Symbol" panose="05050102010706020507" pitchFamily="18" charset="2"/>
              </a:rPr>
              <a:t>方差	</a:t>
            </a:r>
            <a:r>
              <a:rPr lang="en-US" altLang="zh-CN" sz="2400" dirty="0">
                <a:latin typeface="+mn-ea"/>
                <a:ea typeface="+mn-ea"/>
                <a:sym typeface="Symbol" panose="05050102010706020507" pitchFamily="18" charset="2"/>
              </a:rPr>
              <a:t>D[X(n)] = </a:t>
            </a:r>
            <a:r>
              <a:rPr lang="en-US" altLang="zh-CN" sz="2400" dirty="0" err="1">
                <a:latin typeface="+mn-ea"/>
                <a:ea typeface="+mn-ea"/>
                <a:sym typeface="Symbol" panose="05050102010706020507" pitchFamily="18" charset="2"/>
              </a:rPr>
              <a:t>pq</a:t>
            </a:r>
            <a:r>
              <a:rPr lang="zh-CN" altLang="en-US" sz="2400" dirty="0">
                <a:latin typeface="+mn-ea"/>
                <a:ea typeface="+mn-ea"/>
                <a:sym typeface="Symbol" panose="05050102010706020507" pitchFamily="18" charset="2"/>
              </a:rPr>
              <a:t>，</a:t>
            </a:r>
          </a:p>
          <a:p>
            <a:pPr eaLnBrk="1" hangingPunct="1">
              <a:lnSpc>
                <a:spcPct val="200000"/>
              </a:lnSpc>
              <a:spcBef>
                <a:spcPct val="30000"/>
              </a:spcBef>
              <a:spcAft>
                <a:spcPct val="10000"/>
              </a:spcAft>
              <a:buClrTx/>
              <a:buFontTx/>
              <a:buNone/>
            </a:pPr>
            <a:r>
              <a:rPr lang="zh-CN" altLang="en-US" sz="2400" dirty="0">
                <a:solidFill>
                  <a:srgbClr val="C00000"/>
                </a:solidFill>
                <a:latin typeface="+mn-ea"/>
                <a:ea typeface="+mn-ea"/>
                <a:sym typeface="Symbol" panose="05050102010706020507" pitchFamily="18" charset="2"/>
              </a:rPr>
              <a:t>相关函数</a:t>
            </a:r>
          </a:p>
          <a:p>
            <a:pPr eaLnBrk="1" hangingPunct="1">
              <a:lnSpc>
                <a:spcPct val="200000"/>
              </a:lnSpc>
              <a:buClrTx/>
              <a:buFontTx/>
              <a:buNone/>
            </a:pPr>
            <a:r>
              <a:rPr lang="zh-CN" altLang="en-US" sz="2400" dirty="0">
                <a:solidFill>
                  <a:srgbClr val="C00000"/>
                </a:solidFill>
                <a:latin typeface="+mn-ea"/>
                <a:ea typeface="+mn-ea"/>
                <a:sym typeface="Symbol" panose="05050102010706020507" pitchFamily="18" charset="2"/>
              </a:rPr>
              <a:t>协方差函数</a:t>
            </a:r>
          </a:p>
        </p:txBody>
      </p:sp>
      <mc:AlternateContent xmlns:mc="http://schemas.openxmlformats.org/markup-compatibility/2006" xmlns:a14="http://schemas.microsoft.com/office/drawing/2010/main">
        <mc:Choice Requires="a14">
          <p:sp>
            <p:nvSpPr>
              <p:cNvPr id="283802" name="Object 154">
                <a:extLst>
                  <a:ext uri="{FF2B5EF4-FFF2-40B4-BE49-F238E27FC236}">
                    <a16:creationId xmlns:a16="http://schemas.microsoft.com/office/drawing/2014/main" id="{55BFF6A4-C5BE-82F5-0E54-980F87955E36}"/>
                  </a:ext>
                </a:extLst>
              </p:cNvPr>
              <p:cNvSpPr txBox="1">
                <a:spLocks noGrp="1"/>
              </p:cNvSpPr>
              <p:nvPr>
                <p:ph sz="quarter" idx="3"/>
              </p:nvPr>
            </p:nvSpPr>
            <p:spPr bwMode="auto">
              <a:xfrm>
                <a:off x="2120243" y="4934803"/>
                <a:ext cx="5547216" cy="1211932"/>
              </a:xfrm>
              <a:prstGeom prst="rect">
                <a:avLst/>
              </a:prstGeom>
              <a:noFill/>
              <a:ln>
                <a:noFill/>
              </a:ln>
              <a:effectLst/>
            </p:spPr>
            <p:txBody>
              <a:bodyPr>
                <a:normAutofit fontScale="85000" lnSpcReduction="1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𝑝</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e>
                            </m:mr>
                            <m:mr>
                              <m:e>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e>
                            </m:mr>
                          </m:m>
                        </m:e>
                      </m:d>
                    </m:oMath>
                  </m:oMathPara>
                </a14:m>
                <a:endParaRPr lang="zh-CN" altLang="en-US" dirty="0"/>
              </a:p>
            </p:txBody>
          </p:sp>
        </mc:Choice>
        <mc:Fallback xmlns="">
          <p:sp>
            <p:nvSpPr>
              <p:cNvPr id="283802" name="Object 154">
                <a:extLst>
                  <a:ext uri="{FF2B5EF4-FFF2-40B4-BE49-F238E27FC236}">
                    <a16:creationId xmlns:a16="http://schemas.microsoft.com/office/drawing/2014/main" id="{55BFF6A4-C5BE-82F5-0E54-980F87955E36}"/>
                  </a:ext>
                </a:extLst>
              </p:cNvPr>
              <p:cNvSpPr txBox="1">
                <a:spLocks noRot="1" noChangeAspect="1" noMove="1" noResize="1" noEditPoints="1" noAdjustHandles="1" noChangeArrowheads="1" noChangeShapeType="1" noTextEdit="1"/>
              </p:cNvSpPr>
              <p:nvPr>
                <p:ph sz="quarter" idx="3"/>
              </p:nvPr>
            </p:nvSpPr>
            <p:spPr bwMode="auto">
              <a:xfrm>
                <a:off x="2120243" y="4934803"/>
                <a:ext cx="5547216" cy="1211932"/>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806" name="Object 158">
                <a:extLst>
                  <a:ext uri="{FF2B5EF4-FFF2-40B4-BE49-F238E27FC236}">
                    <a16:creationId xmlns:a16="http://schemas.microsoft.com/office/drawing/2014/main" id="{781D2DB6-9EA0-6B46-D0A5-2A7FA61C9E27}"/>
                  </a:ext>
                </a:extLst>
              </p:cNvPr>
              <p:cNvSpPr txBox="1"/>
              <p:nvPr/>
            </p:nvSpPr>
            <p:spPr bwMode="auto">
              <a:xfrm>
                <a:off x="2366196" y="5995418"/>
                <a:ext cx="6618232" cy="940018"/>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e>
                            </m:mr>
                            <m:mr>
                              <m:e>
                                <m:r>
                                  <a:rPr lang="zh-CN" altLang="en-US" i="1">
                                    <a:solidFill>
                                      <a:srgbClr val="000000"/>
                                    </a:solidFill>
                                    <a:latin typeface="Cambria Math" panose="02040503050406030204" pitchFamily="18" charset="0"/>
                                  </a:rPr>
                                  <m:t>𝑝𝑞</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e>
                            </m:mr>
                          </m:m>
                        </m:e>
                      </m:d>
                    </m:oMath>
                  </m:oMathPara>
                </a14:m>
                <a:endParaRPr lang="zh-CN" altLang="en-US" dirty="0"/>
              </a:p>
            </p:txBody>
          </p:sp>
        </mc:Choice>
        <mc:Fallback xmlns="">
          <p:sp>
            <p:nvSpPr>
              <p:cNvPr id="283806" name="Object 158">
                <a:extLst>
                  <a:ext uri="{FF2B5EF4-FFF2-40B4-BE49-F238E27FC236}">
                    <a16:creationId xmlns:a16="http://schemas.microsoft.com/office/drawing/2014/main" id="{781D2DB6-9EA0-6B46-D0A5-2A7FA61C9E27}"/>
                  </a:ext>
                </a:extLst>
              </p:cNvPr>
              <p:cNvSpPr txBox="1">
                <a:spLocks noRot="1" noChangeAspect="1" noMove="1" noResize="1" noEditPoints="1" noAdjustHandles="1" noChangeArrowheads="1" noChangeShapeType="1" noTextEdit="1"/>
              </p:cNvSpPr>
              <p:nvPr/>
            </p:nvSpPr>
            <p:spPr bwMode="auto">
              <a:xfrm>
                <a:off x="2366196" y="5995418"/>
                <a:ext cx="6618232" cy="940018"/>
              </a:xfrm>
              <a:prstGeom prst="rect">
                <a:avLst/>
              </a:prstGeom>
              <a:blipFill>
                <a:blip r:embed="rId3"/>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3651">
                                            <p:txEl>
                                              <p:pRg st="0" end="0"/>
                                            </p:txEl>
                                          </p:spTgt>
                                        </p:tgtEl>
                                        <p:attrNameLst>
                                          <p:attrName>style.visibility</p:attrName>
                                        </p:attrNameLst>
                                      </p:cBhvr>
                                      <p:to>
                                        <p:strVal val="visible"/>
                                      </p:to>
                                    </p:set>
                                    <p:anim calcmode="lin" valueType="num">
                                      <p:cBhvr additive="base">
                                        <p:cTn id="7" dur="500" fill="hold"/>
                                        <p:tgtEl>
                                          <p:spTgt spid="283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365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 presetClass="entr" presetSubtype="16" fill="hold" nodeType="afterEffect">
                                  <p:stCondLst>
                                    <p:cond delay="0"/>
                                  </p:stCondLst>
                                  <p:childTnLst>
                                    <p:set>
                                      <p:cBhvr>
                                        <p:cTn id="11" dur="1" fill="hold">
                                          <p:stCondLst>
                                            <p:cond delay="0"/>
                                          </p:stCondLst>
                                        </p:cTn>
                                        <p:tgtEl>
                                          <p:spTgt spid="283811"/>
                                        </p:tgtEl>
                                        <p:attrNameLst>
                                          <p:attrName>style.visibility</p:attrName>
                                        </p:attrNameLst>
                                      </p:cBhvr>
                                      <p:to>
                                        <p:strVal val="visible"/>
                                      </p:to>
                                    </p:set>
                                    <p:animEffect transition="in" filter="box(in)">
                                      <p:cBhvr>
                                        <p:cTn id="12" dur="500"/>
                                        <p:tgtEl>
                                          <p:spTgt spid="283811"/>
                                        </p:tgtEl>
                                      </p:cBhvr>
                                    </p:animEffect>
                                  </p:childTnLst>
                                </p:cTn>
                              </p:par>
                            </p:childTnLst>
                          </p:cTn>
                        </p:par>
                        <p:par>
                          <p:cTn id="13" fill="hold" nodeType="afterGroup">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283801">
                                            <p:txEl>
                                              <p:pRg st="0" end="0"/>
                                            </p:txEl>
                                          </p:spTgt>
                                        </p:tgtEl>
                                        <p:attrNameLst>
                                          <p:attrName>style.visibility</p:attrName>
                                        </p:attrNameLst>
                                      </p:cBhvr>
                                      <p:to>
                                        <p:strVal val="visible"/>
                                      </p:to>
                                    </p:set>
                                    <p:anim calcmode="lin" valueType="num">
                                      <p:cBhvr additive="base">
                                        <p:cTn id="16" dur="500" fill="hold"/>
                                        <p:tgtEl>
                                          <p:spTgt spid="283801">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838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83801">
                                            <p:txEl>
                                              <p:pRg st="1" end="1"/>
                                            </p:txEl>
                                          </p:spTgt>
                                        </p:tgtEl>
                                        <p:attrNameLst>
                                          <p:attrName>style.visibility</p:attrName>
                                        </p:attrNameLst>
                                      </p:cBhvr>
                                      <p:to>
                                        <p:strVal val="visible"/>
                                      </p:to>
                                    </p:set>
                                    <p:anim calcmode="lin" valueType="num">
                                      <p:cBhvr additive="base">
                                        <p:cTn id="22" dur="500" fill="hold"/>
                                        <p:tgtEl>
                                          <p:spTgt spid="283801">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838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83801">
                                            <p:txEl>
                                              <p:pRg st="2" end="2"/>
                                            </p:txEl>
                                          </p:spTgt>
                                        </p:tgtEl>
                                        <p:attrNameLst>
                                          <p:attrName>style.visibility</p:attrName>
                                        </p:attrNameLst>
                                      </p:cBhvr>
                                      <p:to>
                                        <p:strVal val="visible"/>
                                      </p:to>
                                    </p:set>
                                    <p:anim calcmode="lin" valueType="num">
                                      <p:cBhvr additive="base">
                                        <p:cTn id="28" dur="500" fill="hold"/>
                                        <p:tgtEl>
                                          <p:spTgt spid="283801">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838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83801">
                                            <p:txEl>
                                              <p:pRg st="3" end="3"/>
                                            </p:txEl>
                                          </p:spTgt>
                                        </p:tgtEl>
                                        <p:attrNameLst>
                                          <p:attrName>style.visibility</p:attrName>
                                        </p:attrNameLst>
                                      </p:cBhvr>
                                      <p:to>
                                        <p:strVal val="visible"/>
                                      </p:to>
                                    </p:set>
                                    <p:anim calcmode="lin" valueType="num">
                                      <p:cBhvr additive="base">
                                        <p:cTn id="34" dur="500" fill="hold"/>
                                        <p:tgtEl>
                                          <p:spTgt spid="283801">
                                            <p:txEl>
                                              <p:pRg st="3" end="3"/>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8380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83801">
                                            <p:txEl>
                                              <p:pRg st="4" end="4"/>
                                            </p:txEl>
                                          </p:spTgt>
                                        </p:tgtEl>
                                        <p:attrNameLst>
                                          <p:attrName>style.visibility</p:attrName>
                                        </p:attrNameLst>
                                      </p:cBhvr>
                                      <p:to>
                                        <p:strVal val="visible"/>
                                      </p:to>
                                    </p:set>
                                    <p:anim calcmode="lin" valueType="num">
                                      <p:cBhvr additive="base">
                                        <p:cTn id="40" dur="500" fill="hold"/>
                                        <p:tgtEl>
                                          <p:spTgt spid="283801">
                                            <p:txEl>
                                              <p:pRg st="4" end="4"/>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8380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83802">
                                            <p:txEl>
                                              <p:pRg st="0" end="0"/>
                                            </p:txEl>
                                          </p:spTgt>
                                        </p:tgtEl>
                                        <p:attrNameLst>
                                          <p:attrName>style.visibility</p:attrName>
                                        </p:attrNameLst>
                                      </p:cBhvr>
                                      <p:to>
                                        <p:strVal val="visible"/>
                                      </p:to>
                                    </p:set>
                                    <p:animEffect transition="in" filter="randombar(horizontal)">
                                      <p:cBhvr>
                                        <p:cTn id="46" dur="500"/>
                                        <p:tgtEl>
                                          <p:spTgt spid="283802">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83801">
                                            <p:txEl>
                                              <p:pRg st="5" end="5"/>
                                            </p:txEl>
                                          </p:spTgt>
                                        </p:tgtEl>
                                        <p:attrNameLst>
                                          <p:attrName>style.visibility</p:attrName>
                                        </p:attrNameLst>
                                      </p:cBhvr>
                                      <p:to>
                                        <p:strVal val="visible"/>
                                      </p:to>
                                    </p:set>
                                    <p:anim calcmode="lin" valueType="num">
                                      <p:cBhvr additive="base">
                                        <p:cTn id="51" dur="500" fill="hold"/>
                                        <p:tgtEl>
                                          <p:spTgt spid="283801">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8380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283806"/>
                                        </p:tgtEl>
                                        <p:attrNameLst>
                                          <p:attrName>style.visibility</p:attrName>
                                        </p:attrNameLst>
                                      </p:cBhvr>
                                      <p:to>
                                        <p:strVal val="visible"/>
                                      </p:to>
                                    </p:set>
                                    <p:animEffect transition="in" filter="randombar(horizontal)">
                                      <p:cBhvr>
                                        <p:cTn id="57" dur="500"/>
                                        <p:tgtEl>
                                          <p:spTgt spid="283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build="p"/>
      <p:bldP spid="283801" grpId="0" uiExpand="1" build="p"/>
      <p:bldP spid="283802" grpId="0" build="p"/>
      <p:bldP spid="28380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
            <a:extLst>
              <a:ext uri="{FF2B5EF4-FFF2-40B4-BE49-F238E27FC236}">
                <a16:creationId xmlns:a16="http://schemas.microsoft.com/office/drawing/2014/main" id="{0037260D-3C62-9223-EAA1-F23F1431AFED}"/>
              </a:ext>
            </a:extLst>
          </p:cNvPr>
          <p:cNvSpPr>
            <a:spLocks noGrp="1" noChangeArrowheads="1"/>
          </p:cNvSpPr>
          <p:nvPr>
            <p:ph type="title"/>
          </p:nvPr>
        </p:nvSpPr>
        <p:spPr/>
        <p:txBody>
          <a:bodyPr/>
          <a:lstStyle/>
          <a:p>
            <a:pPr eaLnBrk="1" hangingPunct="1"/>
            <a:r>
              <a:rPr lang="en-US" altLang="zh-CN"/>
              <a:t>2.</a:t>
            </a:r>
            <a:r>
              <a:rPr lang="zh-CN" altLang="en-US"/>
              <a:t>独立增量过程</a:t>
            </a:r>
          </a:p>
        </p:txBody>
      </p:sp>
      <p:sp>
        <p:nvSpPr>
          <p:cNvPr id="330755" name="Rectangle 3">
            <a:extLst>
              <a:ext uri="{FF2B5EF4-FFF2-40B4-BE49-F238E27FC236}">
                <a16:creationId xmlns:a16="http://schemas.microsoft.com/office/drawing/2014/main" id="{51FD29F3-E798-8FE4-F1A3-E718E1FACBF3}"/>
              </a:ext>
            </a:extLst>
          </p:cNvPr>
          <p:cNvSpPr>
            <a:spLocks noGrp="1" noChangeArrowheads="1"/>
          </p:cNvSpPr>
          <p:nvPr>
            <p:ph type="body" idx="1"/>
          </p:nvPr>
        </p:nvSpPr>
        <p:spPr>
          <a:xfrm>
            <a:off x="384175" y="1143265"/>
            <a:ext cx="11582400" cy="4420129"/>
          </a:xfrm>
        </p:spPr>
        <p:txBody>
          <a:bodyPr/>
          <a:lstStyle/>
          <a:p>
            <a:pPr eaLnBrk="1" hangingPunct="1">
              <a:lnSpc>
                <a:spcPct val="200000"/>
              </a:lnSpc>
              <a:buFont typeface="Wingdings" panose="05000000000000000000" pitchFamily="2" charset="2"/>
              <a:buNone/>
            </a:pPr>
            <a:r>
              <a:rPr lang="en-US" altLang="zh-CN" dirty="0"/>
              <a:t>	</a:t>
            </a:r>
            <a:r>
              <a:rPr lang="zh-CN" altLang="en-US" dirty="0"/>
              <a:t>设随机过程</a:t>
            </a:r>
          </a:p>
          <a:p>
            <a:pPr algn="ctr" eaLnBrk="1" hangingPunct="1">
              <a:lnSpc>
                <a:spcPct val="200000"/>
              </a:lnSpc>
              <a:buFont typeface="Wingdings" panose="05000000000000000000" pitchFamily="2" charset="2"/>
              <a:buNone/>
            </a:pP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T</a:t>
            </a:r>
            <a:r>
              <a:rPr lang="zh-CN" altLang="en-US" dirty="0">
                <a:sym typeface="Symbol" panose="05050102010706020507" pitchFamily="18" charset="2"/>
              </a:rPr>
              <a:t>＝</a:t>
            </a:r>
            <a:r>
              <a:rPr lang="en-US" altLang="zh-CN" dirty="0">
                <a:sym typeface="Symbol" panose="05050102010706020507" pitchFamily="18" charset="2"/>
              </a:rPr>
              <a:t>[0,+)</a:t>
            </a:r>
            <a:r>
              <a:rPr lang="zh-CN" altLang="en-US" dirty="0">
                <a:sym typeface="Symbol" panose="05050102010706020507" pitchFamily="18" charset="2"/>
              </a:rPr>
              <a:t>，</a:t>
            </a:r>
          </a:p>
          <a:p>
            <a:pPr eaLnBrk="1" hangingPunct="1">
              <a:lnSpc>
                <a:spcPct val="200000"/>
              </a:lnSpc>
              <a:buFont typeface="Wingdings" panose="05000000000000000000" pitchFamily="2" charset="2"/>
              <a:buNone/>
            </a:pPr>
            <a:r>
              <a:rPr lang="zh-CN" altLang="en-US" dirty="0">
                <a:sym typeface="Symbol" panose="05050102010706020507" pitchFamily="18" charset="2"/>
              </a:rPr>
              <a:t>	如果对任意正整数</a:t>
            </a:r>
            <a:r>
              <a:rPr lang="en-US" altLang="zh-CN" dirty="0">
                <a:sym typeface="Symbol" panose="05050102010706020507" pitchFamily="18" charset="2"/>
              </a:rPr>
              <a:t>n2</a:t>
            </a:r>
            <a:r>
              <a:rPr lang="zh-CN" altLang="en-US" dirty="0">
                <a:sym typeface="Symbol" panose="05050102010706020507" pitchFamily="18" charset="2"/>
              </a:rPr>
              <a:t>，</a:t>
            </a:r>
            <a:r>
              <a:rPr lang="en-US" altLang="zh-CN" dirty="0">
                <a:sym typeface="Symbol" panose="05050102010706020507" pitchFamily="18" charset="2"/>
              </a:rPr>
              <a:t>t</a:t>
            </a:r>
            <a:r>
              <a:rPr lang="en-US" altLang="zh-CN" baseline="-25000" dirty="0">
                <a:sym typeface="Symbol" panose="05050102010706020507" pitchFamily="18" charset="2"/>
              </a:rPr>
              <a:t>1</a:t>
            </a:r>
            <a:r>
              <a:rPr lang="en-US" altLang="zh-CN" dirty="0">
                <a:sym typeface="Symbol" panose="05050102010706020507" pitchFamily="18" charset="2"/>
              </a:rPr>
              <a:t>,t</a:t>
            </a:r>
            <a:r>
              <a:rPr lang="en-US" altLang="zh-CN" baseline="-25000" dirty="0">
                <a:sym typeface="Symbol" panose="05050102010706020507" pitchFamily="18" charset="2"/>
              </a:rPr>
              <a:t>2</a:t>
            </a:r>
            <a:r>
              <a:rPr lang="en-US" altLang="zh-CN" dirty="0">
                <a:sym typeface="Symbol" panose="05050102010706020507" pitchFamily="18" charset="2"/>
              </a:rPr>
              <a:t>,…,</a:t>
            </a:r>
            <a:r>
              <a:rPr lang="en-US" altLang="zh-CN" dirty="0" err="1">
                <a:sym typeface="Symbol" panose="05050102010706020507" pitchFamily="18" charset="2"/>
              </a:rPr>
              <a:t>t</a:t>
            </a:r>
            <a:r>
              <a:rPr lang="en-US" altLang="zh-CN" baseline="-25000" dirty="0" err="1">
                <a:sym typeface="Symbol" panose="05050102010706020507" pitchFamily="18" charset="2"/>
              </a:rPr>
              <a:t>n</a:t>
            </a:r>
            <a:r>
              <a:rPr lang="en-US" altLang="zh-CN" dirty="0" err="1">
                <a:sym typeface="Symbol" panose="05050102010706020507" pitchFamily="18" charset="2"/>
              </a:rPr>
              <a:t>T</a:t>
            </a:r>
            <a:r>
              <a:rPr lang="zh-CN" altLang="en-US" dirty="0">
                <a:sym typeface="Symbol" panose="05050102010706020507" pitchFamily="18" charset="2"/>
              </a:rPr>
              <a:t>且</a:t>
            </a:r>
            <a:r>
              <a:rPr lang="en-US" altLang="zh-CN" dirty="0">
                <a:sym typeface="Symbol" panose="05050102010706020507" pitchFamily="18" charset="2"/>
              </a:rPr>
              <a:t>t</a:t>
            </a:r>
            <a:r>
              <a:rPr lang="en-US" altLang="zh-CN" baseline="-25000" dirty="0">
                <a:sym typeface="Symbol" panose="05050102010706020507" pitchFamily="18" charset="2"/>
              </a:rPr>
              <a:t>1</a:t>
            </a:r>
            <a:r>
              <a:rPr lang="en-US" altLang="zh-CN" dirty="0">
                <a:sym typeface="Symbol" panose="05050102010706020507" pitchFamily="18" charset="2"/>
              </a:rPr>
              <a:t>&lt;t</a:t>
            </a:r>
            <a:r>
              <a:rPr lang="en-US" altLang="zh-CN" baseline="-25000" dirty="0">
                <a:sym typeface="Symbol" panose="05050102010706020507" pitchFamily="18" charset="2"/>
              </a:rPr>
              <a:t>2</a:t>
            </a:r>
            <a:r>
              <a:rPr lang="en-US" altLang="zh-CN" dirty="0">
                <a:sym typeface="Symbol" panose="05050102010706020507" pitchFamily="18" charset="2"/>
              </a:rPr>
              <a:t>&lt;…&lt;</a:t>
            </a:r>
            <a:r>
              <a:rPr lang="en-US" altLang="zh-CN" dirty="0" err="1">
                <a:sym typeface="Symbol" panose="05050102010706020507" pitchFamily="18" charset="2"/>
              </a:rPr>
              <a:t>t</a:t>
            </a:r>
            <a:r>
              <a:rPr lang="en-US" altLang="zh-CN" baseline="-25000" dirty="0" err="1">
                <a:sym typeface="Symbol" panose="05050102010706020507" pitchFamily="18" charset="2"/>
              </a:rPr>
              <a:t>n</a:t>
            </a:r>
            <a:r>
              <a:rPr lang="zh-CN" altLang="en-US" dirty="0">
                <a:sym typeface="Symbol" panose="05050102010706020507" pitchFamily="18" charset="2"/>
              </a:rPr>
              <a:t>，随机过程的增量</a:t>
            </a:r>
          </a:p>
          <a:p>
            <a:pPr algn="ctr" eaLnBrk="1" hangingPunct="1">
              <a:lnSpc>
                <a:spcPct val="200000"/>
              </a:lnSpc>
              <a:buFont typeface="Wingdings" panose="05000000000000000000" pitchFamily="2" charset="2"/>
              <a:buNone/>
            </a:pPr>
            <a:r>
              <a:rPr lang="zh-CN" altLang="en-US" dirty="0">
                <a:sym typeface="Symbol" panose="05050102010706020507" pitchFamily="18" charset="2"/>
              </a:rPr>
              <a:t>	</a:t>
            </a:r>
            <a:r>
              <a:rPr lang="en-US" altLang="zh-CN" dirty="0"/>
              <a:t>X(</a:t>
            </a:r>
            <a:r>
              <a:rPr lang="en-US" altLang="zh-CN" dirty="0">
                <a:sym typeface="Symbol" panose="05050102010706020507" pitchFamily="18" charset="2"/>
              </a:rPr>
              <a:t>t</a:t>
            </a:r>
            <a:r>
              <a:rPr lang="en-US" altLang="zh-CN" baseline="-25000" dirty="0">
                <a:sym typeface="Symbol" panose="05050102010706020507" pitchFamily="18" charset="2"/>
              </a:rPr>
              <a:t>2</a:t>
            </a:r>
            <a:r>
              <a:rPr lang="en-US" altLang="zh-CN" dirty="0">
                <a:sym typeface="Symbol" panose="05050102010706020507" pitchFamily="18" charset="2"/>
              </a:rPr>
              <a:t>)-</a:t>
            </a:r>
            <a:r>
              <a:rPr lang="en-US" altLang="zh-CN" dirty="0"/>
              <a:t>X(</a:t>
            </a:r>
            <a:r>
              <a:rPr lang="en-US" altLang="zh-CN" dirty="0">
                <a:sym typeface="Symbol" panose="05050102010706020507" pitchFamily="18" charset="2"/>
              </a:rPr>
              <a:t>t</a:t>
            </a:r>
            <a:r>
              <a:rPr lang="en-US" altLang="zh-CN" baseline="-25000" dirty="0">
                <a:sym typeface="Symbol" panose="05050102010706020507" pitchFamily="18" charset="2"/>
              </a:rPr>
              <a:t>1</a:t>
            </a:r>
            <a:r>
              <a:rPr lang="en-US" altLang="zh-CN" dirty="0"/>
              <a:t>),X(</a:t>
            </a:r>
            <a:r>
              <a:rPr lang="en-US" altLang="zh-CN" dirty="0">
                <a:sym typeface="Symbol" panose="05050102010706020507" pitchFamily="18" charset="2"/>
              </a:rPr>
              <a:t>t</a:t>
            </a:r>
            <a:r>
              <a:rPr lang="en-US" altLang="zh-CN" baseline="-25000" dirty="0">
                <a:sym typeface="Symbol" panose="05050102010706020507" pitchFamily="18" charset="2"/>
              </a:rPr>
              <a:t>3</a:t>
            </a:r>
            <a:r>
              <a:rPr lang="en-US" altLang="zh-CN" dirty="0">
                <a:sym typeface="Symbol" panose="05050102010706020507" pitchFamily="18" charset="2"/>
              </a:rPr>
              <a:t>)-</a:t>
            </a:r>
            <a:r>
              <a:rPr lang="en-US" altLang="zh-CN" dirty="0"/>
              <a:t>X(</a:t>
            </a:r>
            <a:r>
              <a:rPr lang="en-US" altLang="zh-CN" dirty="0">
                <a:sym typeface="Symbol" panose="05050102010706020507" pitchFamily="18" charset="2"/>
              </a:rPr>
              <a:t>t</a:t>
            </a:r>
            <a:r>
              <a:rPr lang="en-US" altLang="zh-CN" baseline="-25000" dirty="0">
                <a:sym typeface="Symbol" panose="05050102010706020507" pitchFamily="18" charset="2"/>
              </a:rPr>
              <a:t>2</a:t>
            </a:r>
            <a:r>
              <a:rPr lang="en-US" altLang="zh-CN" dirty="0"/>
              <a:t>),</a:t>
            </a:r>
            <a:r>
              <a:rPr lang="en-US" altLang="zh-CN" dirty="0">
                <a:sym typeface="Symbol" panose="05050102010706020507" pitchFamily="18" charset="2"/>
              </a:rPr>
              <a:t>…,</a:t>
            </a:r>
            <a:r>
              <a:rPr lang="en-US" altLang="zh-CN" dirty="0"/>
              <a:t>X(</a:t>
            </a:r>
            <a:r>
              <a:rPr lang="en-US" altLang="zh-CN" dirty="0" err="1">
                <a:sym typeface="Symbol" panose="05050102010706020507" pitchFamily="18" charset="2"/>
              </a:rPr>
              <a:t>t</a:t>
            </a:r>
            <a:r>
              <a:rPr lang="en-US" altLang="zh-CN" baseline="-25000" dirty="0" err="1">
                <a:sym typeface="Symbol" panose="05050102010706020507" pitchFamily="18" charset="2"/>
              </a:rPr>
              <a:t>n</a:t>
            </a:r>
            <a:r>
              <a:rPr lang="en-US" altLang="zh-CN" dirty="0">
                <a:sym typeface="Symbol" panose="05050102010706020507" pitchFamily="18" charset="2"/>
              </a:rPr>
              <a:t>)-</a:t>
            </a:r>
            <a:r>
              <a:rPr lang="en-US" altLang="zh-CN" dirty="0"/>
              <a:t>X(</a:t>
            </a:r>
            <a:r>
              <a:rPr lang="en-US" altLang="zh-CN" dirty="0">
                <a:sym typeface="Symbol" panose="05050102010706020507" pitchFamily="18" charset="2"/>
              </a:rPr>
              <a:t>t</a:t>
            </a:r>
            <a:r>
              <a:rPr lang="en-US" altLang="zh-CN" baseline="-25000" dirty="0">
                <a:sym typeface="Symbol" panose="05050102010706020507" pitchFamily="18" charset="2"/>
              </a:rPr>
              <a:t>n-1</a:t>
            </a:r>
            <a:r>
              <a:rPr lang="en-US" altLang="zh-CN" dirty="0"/>
              <a:t>)</a:t>
            </a:r>
          </a:p>
          <a:p>
            <a:pPr eaLnBrk="1" hangingPunct="1">
              <a:lnSpc>
                <a:spcPct val="200000"/>
              </a:lnSpc>
              <a:buFont typeface="Wingdings" panose="05000000000000000000" pitchFamily="2" charset="2"/>
              <a:buNone/>
            </a:pPr>
            <a:r>
              <a:rPr lang="en-US" altLang="zh-CN" dirty="0"/>
              <a:t>	</a:t>
            </a:r>
            <a:r>
              <a:rPr lang="zh-CN" altLang="en-US" dirty="0"/>
              <a:t>是相互独立的随机变量，则称</a:t>
            </a: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t>为</a:t>
            </a:r>
            <a:r>
              <a:rPr lang="zh-CN" altLang="en-US" dirty="0">
                <a:solidFill>
                  <a:srgbClr val="CC00CC"/>
                </a:solidFill>
              </a:rPr>
              <a:t>独立增量过程</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30755">
                                            <p:txEl>
                                              <p:pRg st="0" end="0"/>
                                            </p:txEl>
                                          </p:spTgt>
                                        </p:tgtEl>
                                        <p:attrNameLst>
                                          <p:attrName>style.visibility</p:attrName>
                                        </p:attrNameLst>
                                      </p:cBhvr>
                                      <p:to>
                                        <p:strVal val="visible"/>
                                      </p:to>
                                    </p:set>
                                    <p:anim calcmode="lin" valueType="num">
                                      <p:cBhvr additive="base">
                                        <p:cTn id="7" dur="500" fill="hold"/>
                                        <p:tgtEl>
                                          <p:spTgt spid="330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075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30755">
                                            <p:txEl>
                                              <p:pRg st="1" end="1"/>
                                            </p:txEl>
                                          </p:spTgt>
                                        </p:tgtEl>
                                        <p:attrNameLst>
                                          <p:attrName>style.visibility</p:attrName>
                                        </p:attrNameLst>
                                      </p:cBhvr>
                                      <p:to>
                                        <p:strVal val="visible"/>
                                      </p:to>
                                    </p:set>
                                    <p:anim calcmode="lin" valueType="num">
                                      <p:cBhvr additive="base">
                                        <p:cTn id="12" dur="500" fill="hold"/>
                                        <p:tgtEl>
                                          <p:spTgt spid="33075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30755">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30755">
                                            <p:txEl>
                                              <p:pRg st="2" end="2"/>
                                            </p:txEl>
                                          </p:spTgt>
                                        </p:tgtEl>
                                        <p:attrNameLst>
                                          <p:attrName>style.visibility</p:attrName>
                                        </p:attrNameLst>
                                      </p:cBhvr>
                                      <p:to>
                                        <p:strVal val="visible"/>
                                      </p:to>
                                    </p:set>
                                    <p:anim calcmode="lin" valueType="num">
                                      <p:cBhvr additive="base">
                                        <p:cTn id="17" dur="500" fill="hold"/>
                                        <p:tgtEl>
                                          <p:spTgt spid="33075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0755">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30755">
                                            <p:txEl>
                                              <p:pRg st="3" end="3"/>
                                            </p:txEl>
                                          </p:spTgt>
                                        </p:tgtEl>
                                        <p:attrNameLst>
                                          <p:attrName>style.visibility</p:attrName>
                                        </p:attrNameLst>
                                      </p:cBhvr>
                                      <p:to>
                                        <p:strVal val="visible"/>
                                      </p:to>
                                    </p:set>
                                    <p:anim calcmode="lin" valueType="num">
                                      <p:cBhvr additive="base">
                                        <p:cTn id="22" dur="500" fill="hold"/>
                                        <p:tgtEl>
                                          <p:spTgt spid="33075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30755">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30755">
                                            <p:txEl>
                                              <p:pRg st="4" end="4"/>
                                            </p:txEl>
                                          </p:spTgt>
                                        </p:tgtEl>
                                        <p:attrNameLst>
                                          <p:attrName>style.visibility</p:attrName>
                                        </p:attrNameLst>
                                      </p:cBhvr>
                                      <p:to>
                                        <p:strVal val="visible"/>
                                      </p:to>
                                    </p:set>
                                    <p:anim calcmode="lin" valueType="num">
                                      <p:cBhvr additive="base">
                                        <p:cTn id="27" dur="500" fill="hold"/>
                                        <p:tgtEl>
                                          <p:spTgt spid="33075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3075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a:extLst>
              <a:ext uri="{FF2B5EF4-FFF2-40B4-BE49-F238E27FC236}">
                <a16:creationId xmlns:a16="http://schemas.microsoft.com/office/drawing/2014/main" id="{92D1AD24-1343-4B74-2F4B-0CAF9DDC2398}"/>
              </a:ext>
            </a:extLst>
          </p:cNvPr>
          <p:cNvSpPr>
            <a:spLocks noGrp="1" noChangeArrowheads="1"/>
          </p:cNvSpPr>
          <p:nvPr>
            <p:ph type="title"/>
          </p:nvPr>
        </p:nvSpPr>
        <p:spPr/>
        <p:txBody>
          <a:bodyPr/>
          <a:lstStyle/>
          <a:p>
            <a:pPr eaLnBrk="1" hangingPunct="1"/>
            <a:r>
              <a:rPr lang="en-US" altLang="zh-CN" dirty="0"/>
              <a:t>3. </a:t>
            </a:r>
            <a:r>
              <a:rPr lang="zh-CN" altLang="en-US" dirty="0"/>
              <a:t>平稳独立增量过程</a:t>
            </a:r>
          </a:p>
        </p:txBody>
      </p:sp>
      <p:sp>
        <p:nvSpPr>
          <p:cNvPr id="323587" name="Rectangle 3">
            <a:extLst>
              <a:ext uri="{FF2B5EF4-FFF2-40B4-BE49-F238E27FC236}">
                <a16:creationId xmlns:a16="http://schemas.microsoft.com/office/drawing/2014/main" id="{B1E9F578-3D2F-3A66-4F22-A33A133E57AE}"/>
              </a:ext>
            </a:extLst>
          </p:cNvPr>
          <p:cNvSpPr>
            <a:spLocks noGrp="1" noChangeArrowheads="1"/>
          </p:cNvSpPr>
          <p:nvPr>
            <p:ph type="body" idx="1"/>
          </p:nvPr>
        </p:nvSpPr>
        <p:spPr>
          <a:xfrm>
            <a:off x="206859" y="1032420"/>
            <a:ext cx="10045080" cy="2820053"/>
          </a:xfrm>
        </p:spPr>
        <p:txBody>
          <a:bodyPr>
            <a:normAutofit/>
          </a:bodyPr>
          <a:lstStyle/>
          <a:p>
            <a:pPr eaLnBrk="1" hangingPunct="1">
              <a:buFont typeface="Wingdings" panose="05000000000000000000" pitchFamily="2" charset="2"/>
              <a:buNone/>
            </a:pPr>
            <a:r>
              <a:rPr lang="en-US" altLang="zh-CN" dirty="0"/>
              <a:t>	 </a:t>
            </a:r>
            <a:r>
              <a:rPr lang="zh-CN" altLang="en-US" dirty="0"/>
              <a:t>如果独立增量过程</a:t>
            </a:r>
          </a:p>
          <a:p>
            <a:pPr algn="ctr" eaLnBrk="1" hangingPunct="1">
              <a:buFont typeface="Wingdings" panose="05000000000000000000" pitchFamily="2" charset="2"/>
              <a:buNone/>
            </a:pP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T</a:t>
            </a:r>
            <a:r>
              <a:rPr lang="zh-CN" altLang="en-US" dirty="0">
                <a:sym typeface="Symbol" panose="05050102010706020507" pitchFamily="18" charset="2"/>
              </a:rPr>
              <a:t>＝</a:t>
            </a:r>
            <a:r>
              <a:rPr lang="en-US" altLang="zh-CN" dirty="0">
                <a:sym typeface="Symbol" panose="05050102010706020507" pitchFamily="18" charset="2"/>
              </a:rPr>
              <a:t>[0,+)</a:t>
            </a:r>
            <a:r>
              <a:rPr lang="zh-CN" altLang="en-US" dirty="0">
                <a:sym typeface="Symbol" panose="05050102010706020507" pitchFamily="18" charset="2"/>
              </a:rPr>
              <a:t>，</a:t>
            </a:r>
          </a:p>
          <a:p>
            <a:pPr eaLnBrk="1" hangingPunct="1">
              <a:buFont typeface="Wingdings" panose="05000000000000000000" pitchFamily="2" charset="2"/>
              <a:buNone/>
            </a:pPr>
            <a:r>
              <a:rPr lang="zh-CN" altLang="en-US" dirty="0">
                <a:sym typeface="Symbol" panose="05050102010706020507" pitchFamily="18" charset="2"/>
              </a:rPr>
              <a:t>	对所有的</a:t>
            </a:r>
            <a:r>
              <a:rPr lang="en-US" altLang="zh-CN" dirty="0" err="1">
                <a:sym typeface="Symbol" panose="05050102010706020507" pitchFamily="18" charset="2"/>
              </a:rPr>
              <a:t>s,tT</a:t>
            </a:r>
            <a:r>
              <a:rPr lang="zh-CN" altLang="en-US" dirty="0">
                <a:sym typeface="Symbol" panose="05050102010706020507" pitchFamily="18" charset="2"/>
              </a:rPr>
              <a:t>及</a:t>
            </a:r>
            <a:r>
              <a:rPr lang="en-US" altLang="zh-CN" dirty="0">
                <a:sym typeface="Symbol" panose="05050102010706020507" pitchFamily="18" charset="2"/>
              </a:rPr>
              <a:t>h&gt;0,s+h,t+hT</a:t>
            </a:r>
          </a:p>
          <a:p>
            <a:pPr algn="ctr" eaLnBrk="1" hangingPunct="1">
              <a:buFont typeface="Wingdings" panose="05000000000000000000" pitchFamily="2" charset="2"/>
              <a:buNone/>
            </a:pPr>
            <a:r>
              <a:rPr lang="en-US" altLang="zh-CN" dirty="0"/>
              <a:t>X(</a:t>
            </a:r>
            <a:r>
              <a:rPr lang="en-US" altLang="zh-CN" dirty="0" err="1">
                <a:sym typeface="Symbol" panose="05050102010706020507" pitchFamily="18" charset="2"/>
              </a:rPr>
              <a:t>t+h</a:t>
            </a:r>
            <a:r>
              <a:rPr lang="en-US" altLang="zh-CN" dirty="0">
                <a:sym typeface="Symbol" panose="05050102010706020507" pitchFamily="18" charset="2"/>
              </a:rPr>
              <a:t>)-</a:t>
            </a:r>
            <a:r>
              <a:rPr lang="en-US" altLang="zh-CN" dirty="0"/>
              <a:t>X(</a:t>
            </a:r>
            <a:r>
              <a:rPr lang="en-US" altLang="zh-CN" dirty="0" err="1">
                <a:sym typeface="Symbol" panose="05050102010706020507" pitchFamily="18" charset="2"/>
              </a:rPr>
              <a:t>s+h</a:t>
            </a:r>
            <a:r>
              <a:rPr lang="en-US" altLang="zh-CN" dirty="0"/>
              <a:t>)</a:t>
            </a:r>
            <a:r>
              <a:rPr lang="zh-CN" altLang="en-US" dirty="0"/>
              <a:t>与</a:t>
            </a:r>
            <a:r>
              <a:rPr lang="en-US" altLang="zh-CN" dirty="0"/>
              <a:t>X(</a:t>
            </a:r>
            <a:r>
              <a:rPr lang="en-US" altLang="zh-CN" dirty="0">
                <a:sym typeface="Symbol" panose="05050102010706020507" pitchFamily="18" charset="2"/>
              </a:rPr>
              <a:t>t)-</a:t>
            </a:r>
            <a:r>
              <a:rPr lang="en-US" altLang="zh-CN" dirty="0"/>
              <a:t>X(</a:t>
            </a:r>
            <a:r>
              <a:rPr lang="en-US" altLang="zh-CN" dirty="0">
                <a:sym typeface="Symbol" panose="05050102010706020507" pitchFamily="18" charset="2"/>
              </a:rPr>
              <a:t>s</a:t>
            </a:r>
            <a:r>
              <a:rPr lang="en-US" altLang="zh-CN" dirty="0"/>
              <a:t>)</a:t>
            </a:r>
          </a:p>
          <a:p>
            <a:pPr eaLnBrk="1" hangingPunct="1">
              <a:buFont typeface="Wingdings" panose="05000000000000000000" pitchFamily="2" charset="2"/>
              <a:buNone/>
            </a:pPr>
            <a:r>
              <a:rPr lang="en-US" altLang="zh-CN" dirty="0"/>
              <a:t>	</a:t>
            </a:r>
            <a:r>
              <a:rPr lang="zh-CN" altLang="en-US" dirty="0"/>
              <a:t>有</a:t>
            </a:r>
            <a:r>
              <a:rPr lang="zh-CN" altLang="en-US" dirty="0">
                <a:solidFill>
                  <a:srgbClr val="0000FF"/>
                </a:solidFill>
              </a:rPr>
              <a:t>相同的概率分布</a:t>
            </a:r>
            <a:r>
              <a:rPr lang="zh-CN" altLang="en-US" dirty="0"/>
              <a:t>，则称</a:t>
            </a:r>
            <a:r>
              <a:rPr lang="en-US" altLang="zh-CN" dirty="0"/>
              <a:t>{X(t),</a:t>
            </a:r>
            <a:r>
              <a:rPr lang="en-US" altLang="zh-CN" dirty="0" err="1"/>
              <a:t>t</a:t>
            </a:r>
            <a:r>
              <a:rPr lang="en-US" altLang="zh-CN" dirty="0" err="1">
                <a:sym typeface="Symbol" panose="05050102010706020507" pitchFamily="18" charset="2"/>
              </a:rPr>
              <a:t>T</a:t>
            </a:r>
            <a:r>
              <a:rPr lang="en-US" altLang="zh-CN" dirty="0">
                <a:sym typeface="Symbol" panose="05050102010706020507" pitchFamily="18" charset="2"/>
              </a:rPr>
              <a:t>}</a:t>
            </a:r>
            <a:r>
              <a:rPr lang="zh-CN" altLang="en-US" dirty="0"/>
              <a:t>为</a:t>
            </a:r>
            <a:r>
              <a:rPr lang="zh-CN" altLang="en-US" dirty="0">
                <a:solidFill>
                  <a:srgbClr val="CC00CC"/>
                </a:solidFill>
              </a:rPr>
              <a:t>平稳独立增量过程</a:t>
            </a:r>
            <a:r>
              <a:rPr lang="zh-CN" altLang="en-US" dirty="0"/>
              <a:t>。</a:t>
            </a:r>
          </a:p>
        </p:txBody>
      </p:sp>
      <p:sp>
        <p:nvSpPr>
          <p:cNvPr id="323589" name="Rectangle 5">
            <a:extLst>
              <a:ext uri="{FF2B5EF4-FFF2-40B4-BE49-F238E27FC236}">
                <a16:creationId xmlns:a16="http://schemas.microsoft.com/office/drawing/2014/main" id="{04ECF079-A059-B40C-861F-E85340935A4C}"/>
              </a:ext>
            </a:extLst>
          </p:cNvPr>
          <p:cNvSpPr>
            <a:spLocks noChangeArrowheads="1"/>
          </p:cNvSpPr>
          <p:nvPr/>
        </p:nvSpPr>
        <p:spPr bwMode="auto">
          <a:xfrm>
            <a:off x="612775" y="4103050"/>
            <a:ext cx="10820400" cy="221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8" tIns="36008" rIns="36008" bIns="3600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00FF00"/>
              </a:buClr>
              <a:buFont typeface="Wingdings" panose="05000000000000000000" pitchFamily="2" charset="2"/>
              <a:buNone/>
            </a:pPr>
            <a:r>
              <a:rPr lang="en-US" altLang="zh-CN" b="1" dirty="0">
                <a:latin typeface="+mn-ea"/>
                <a:ea typeface="+mn-ea"/>
              </a:rPr>
              <a:t>    </a:t>
            </a:r>
            <a:r>
              <a:rPr lang="zh-CN" altLang="en-US" b="1" dirty="0">
                <a:latin typeface="+mn-ea"/>
                <a:ea typeface="+mn-ea"/>
              </a:rPr>
              <a:t>平稳独立增量过程</a:t>
            </a:r>
            <a:r>
              <a:rPr lang="en-US" altLang="zh-CN" b="1" dirty="0">
                <a:latin typeface="+mn-ea"/>
                <a:ea typeface="+mn-ea"/>
              </a:rPr>
              <a:t>{X(t),</a:t>
            </a:r>
            <a:r>
              <a:rPr lang="en-US" altLang="zh-CN" b="1" dirty="0" err="1">
                <a:latin typeface="+mn-ea"/>
                <a:ea typeface="+mn-ea"/>
              </a:rPr>
              <a:t>t</a:t>
            </a:r>
            <a:r>
              <a:rPr lang="en-US" altLang="zh-CN" b="1" dirty="0" err="1">
                <a:latin typeface="+mn-ea"/>
                <a:ea typeface="+mn-ea"/>
                <a:sym typeface="Symbol" panose="05050102010706020507" pitchFamily="18" charset="2"/>
              </a:rPr>
              <a:t>T</a:t>
            </a:r>
            <a:r>
              <a:rPr lang="en-US" altLang="zh-CN" b="1" dirty="0">
                <a:latin typeface="+mn-ea"/>
                <a:ea typeface="+mn-ea"/>
                <a:sym typeface="Symbol" panose="05050102010706020507" pitchFamily="18" charset="2"/>
              </a:rPr>
              <a:t>}</a:t>
            </a:r>
            <a:r>
              <a:rPr lang="zh-CN" altLang="en-US" b="1" dirty="0">
                <a:latin typeface="+mn-ea"/>
                <a:ea typeface="+mn-ea"/>
                <a:sym typeface="Symbol" panose="05050102010706020507" pitchFamily="18" charset="2"/>
              </a:rPr>
              <a:t>的增量</a:t>
            </a:r>
          </a:p>
          <a:p>
            <a:pPr algn="ctr" eaLnBrk="1" hangingPunct="1">
              <a:lnSpc>
                <a:spcPct val="150000"/>
              </a:lnSpc>
              <a:buClr>
                <a:srgbClr val="00FF00"/>
              </a:buClr>
              <a:buFont typeface="Wingdings" panose="05000000000000000000" pitchFamily="2" charset="2"/>
              <a:buNone/>
            </a:pPr>
            <a:r>
              <a:rPr lang="en-US" altLang="zh-CN" b="1" dirty="0">
                <a:latin typeface="+mn-ea"/>
                <a:ea typeface="+mn-ea"/>
              </a:rPr>
              <a:t>X(</a:t>
            </a:r>
            <a:r>
              <a:rPr lang="en-US" altLang="zh-CN" b="1" dirty="0">
                <a:latin typeface="+mn-ea"/>
                <a:ea typeface="+mn-ea"/>
                <a:sym typeface="Symbol" panose="05050102010706020507" pitchFamily="18" charset="2"/>
              </a:rPr>
              <a:t>t+)-</a:t>
            </a:r>
            <a:r>
              <a:rPr lang="en-US" altLang="zh-CN" b="1" dirty="0">
                <a:latin typeface="+mn-ea"/>
                <a:ea typeface="+mn-ea"/>
              </a:rPr>
              <a:t>X(</a:t>
            </a:r>
            <a:r>
              <a:rPr lang="en-US" altLang="zh-CN" b="1" dirty="0">
                <a:latin typeface="+mn-ea"/>
                <a:ea typeface="+mn-ea"/>
                <a:sym typeface="Symbol" panose="05050102010706020507" pitchFamily="18" charset="2"/>
              </a:rPr>
              <a:t>t)</a:t>
            </a:r>
            <a:r>
              <a:rPr lang="zh-CN" altLang="en-US" b="1" dirty="0">
                <a:latin typeface="+mn-ea"/>
                <a:ea typeface="+mn-ea"/>
                <a:sym typeface="Symbol" panose="05050102010706020507" pitchFamily="18" charset="2"/>
              </a:rPr>
              <a:t>，</a:t>
            </a:r>
            <a:r>
              <a:rPr lang="en-US" altLang="zh-CN" b="1" dirty="0" err="1">
                <a:latin typeface="+mn-ea"/>
                <a:ea typeface="+mn-ea"/>
                <a:sym typeface="Symbol" panose="05050102010706020507" pitchFamily="18" charset="2"/>
              </a:rPr>
              <a:t>tT,t</a:t>
            </a:r>
            <a:r>
              <a:rPr lang="en-US" altLang="zh-CN" b="1" dirty="0">
                <a:latin typeface="+mn-ea"/>
                <a:ea typeface="+mn-ea"/>
                <a:sym typeface="Symbol" panose="05050102010706020507" pitchFamily="18" charset="2"/>
              </a:rPr>
              <a:t>+T</a:t>
            </a:r>
            <a:endParaRPr lang="en-US" altLang="zh-CN" b="1" dirty="0">
              <a:latin typeface="+mn-ea"/>
              <a:ea typeface="+mn-ea"/>
            </a:endParaRPr>
          </a:p>
          <a:p>
            <a:pPr eaLnBrk="1" hangingPunct="1">
              <a:lnSpc>
                <a:spcPct val="150000"/>
              </a:lnSpc>
              <a:buClr>
                <a:srgbClr val="00FF00"/>
              </a:buClr>
              <a:buFont typeface="Wingdings" panose="05000000000000000000" pitchFamily="2" charset="2"/>
              <a:buNone/>
            </a:pPr>
            <a:r>
              <a:rPr lang="zh-CN" altLang="en-US" b="1" dirty="0">
                <a:latin typeface="+mn-ea"/>
                <a:ea typeface="+mn-ea"/>
              </a:rPr>
              <a:t>的概率分布仅依赖于</a:t>
            </a:r>
            <a:r>
              <a:rPr lang="zh-CN" altLang="en-US" b="1" dirty="0">
                <a:latin typeface="+mn-ea"/>
                <a:ea typeface="+mn-ea"/>
                <a:sym typeface="Symbol" panose="05050102010706020507" pitchFamily="18" charset="2"/>
              </a:rPr>
              <a:t></a:t>
            </a:r>
            <a:r>
              <a:rPr lang="zh-CN" altLang="en-US" b="1" dirty="0">
                <a:latin typeface="+mn-ea"/>
                <a:ea typeface="+mn-ea"/>
              </a:rPr>
              <a:t>而与</a:t>
            </a:r>
            <a:r>
              <a:rPr lang="en-US" altLang="zh-CN" b="1" dirty="0">
                <a:latin typeface="+mn-ea"/>
                <a:ea typeface="+mn-ea"/>
              </a:rPr>
              <a:t>t</a:t>
            </a:r>
            <a:r>
              <a:rPr lang="zh-CN" altLang="en-US" b="1" dirty="0">
                <a:latin typeface="+mn-ea"/>
                <a:ea typeface="+mn-ea"/>
              </a:rPr>
              <a:t>无关，即仅与时间区间的长度有关，而与起点无关，具有</a:t>
            </a:r>
            <a:r>
              <a:rPr lang="zh-CN" altLang="en-US" b="1" dirty="0">
                <a:solidFill>
                  <a:srgbClr val="CC00CC"/>
                </a:solidFill>
                <a:latin typeface="+mn-ea"/>
                <a:ea typeface="+mn-ea"/>
              </a:rPr>
              <a:t>平稳性</a:t>
            </a:r>
            <a:r>
              <a:rPr lang="zh-CN" altLang="en-US" b="1" dirty="0">
                <a:latin typeface="+mn-ea"/>
                <a:ea typeface="+mn-ea"/>
              </a:rPr>
              <a:t>，即</a:t>
            </a:r>
            <a:r>
              <a:rPr lang="zh-CN" altLang="en-US" b="1" dirty="0">
                <a:solidFill>
                  <a:srgbClr val="0000FF"/>
                </a:solidFill>
                <a:latin typeface="+mn-ea"/>
                <a:ea typeface="+mn-ea"/>
              </a:rPr>
              <a:t>增量具有平稳性</a:t>
            </a:r>
            <a:r>
              <a:rPr lang="zh-CN" altLang="en-US" b="1" dirty="0">
                <a:latin typeface="+mn-ea"/>
                <a:ea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23587">
                                            <p:txEl>
                                              <p:pRg st="0" end="0"/>
                                            </p:txEl>
                                          </p:spTgt>
                                        </p:tgtEl>
                                        <p:attrNameLst>
                                          <p:attrName>style.visibility</p:attrName>
                                        </p:attrNameLst>
                                      </p:cBhvr>
                                      <p:to>
                                        <p:strVal val="visible"/>
                                      </p:to>
                                    </p:set>
                                    <p:anim calcmode="lin" valueType="num">
                                      <p:cBhvr additive="base">
                                        <p:cTn id="7"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358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23587">
                                            <p:txEl>
                                              <p:pRg st="1" end="1"/>
                                            </p:txEl>
                                          </p:spTgt>
                                        </p:tgtEl>
                                        <p:attrNameLst>
                                          <p:attrName>style.visibility</p:attrName>
                                        </p:attrNameLst>
                                      </p:cBhvr>
                                      <p:to>
                                        <p:strVal val="visible"/>
                                      </p:to>
                                    </p:set>
                                    <p:anim calcmode="lin" valueType="num">
                                      <p:cBhvr additive="base">
                                        <p:cTn id="1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23587">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23587">
                                            <p:txEl>
                                              <p:pRg st="2" end="2"/>
                                            </p:txEl>
                                          </p:spTgt>
                                        </p:tgtEl>
                                        <p:attrNameLst>
                                          <p:attrName>style.visibility</p:attrName>
                                        </p:attrNameLst>
                                      </p:cBhvr>
                                      <p:to>
                                        <p:strVal val="visible"/>
                                      </p:to>
                                    </p:set>
                                    <p:anim calcmode="lin" valueType="num">
                                      <p:cBhvr additive="base">
                                        <p:cTn id="17"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3587">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23587">
                                            <p:txEl>
                                              <p:pRg st="3" end="3"/>
                                            </p:txEl>
                                          </p:spTgt>
                                        </p:tgtEl>
                                        <p:attrNameLst>
                                          <p:attrName>style.visibility</p:attrName>
                                        </p:attrNameLst>
                                      </p:cBhvr>
                                      <p:to>
                                        <p:strVal val="visible"/>
                                      </p:to>
                                    </p:set>
                                    <p:anim calcmode="lin" valueType="num">
                                      <p:cBhvr additive="base">
                                        <p:cTn id="22"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23587">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23587">
                                            <p:txEl>
                                              <p:pRg st="4" end="4"/>
                                            </p:txEl>
                                          </p:spTgt>
                                        </p:tgtEl>
                                        <p:attrNameLst>
                                          <p:attrName>style.visibility</p:attrName>
                                        </p:attrNameLst>
                                      </p:cBhvr>
                                      <p:to>
                                        <p:strVal val="visible"/>
                                      </p:to>
                                    </p:set>
                                    <p:anim calcmode="lin" valueType="num">
                                      <p:cBhvr additive="base">
                                        <p:cTn id="27"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235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23589">
                                            <p:txEl>
                                              <p:pRg st="0" end="0"/>
                                            </p:txEl>
                                          </p:spTgt>
                                        </p:tgtEl>
                                        <p:attrNameLst>
                                          <p:attrName>style.visibility</p:attrName>
                                        </p:attrNameLst>
                                      </p:cBhvr>
                                      <p:to>
                                        <p:strVal val="visible"/>
                                      </p:to>
                                    </p:set>
                                    <p:anim calcmode="lin" valueType="num">
                                      <p:cBhvr additive="base">
                                        <p:cTn id="33" dur="500" fill="hold"/>
                                        <p:tgtEl>
                                          <p:spTgt spid="323589">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23589">
                                            <p:txEl>
                                              <p:pRg st="0" end="0"/>
                                            </p:txEl>
                                          </p:spTgt>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500"/>
                            </p:stCondLst>
                            <p:childTnLst>
                              <p:par>
                                <p:cTn id="36" presetID="2" presetClass="entr" presetSubtype="4" fill="hold" grpId="0" nodeType="afterEffect">
                                  <p:stCondLst>
                                    <p:cond delay="0"/>
                                  </p:stCondLst>
                                  <p:childTnLst>
                                    <p:set>
                                      <p:cBhvr>
                                        <p:cTn id="37" dur="1" fill="hold">
                                          <p:stCondLst>
                                            <p:cond delay="0"/>
                                          </p:stCondLst>
                                        </p:cTn>
                                        <p:tgtEl>
                                          <p:spTgt spid="323589">
                                            <p:txEl>
                                              <p:pRg st="1" end="1"/>
                                            </p:txEl>
                                          </p:spTgt>
                                        </p:tgtEl>
                                        <p:attrNameLst>
                                          <p:attrName>style.visibility</p:attrName>
                                        </p:attrNameLst>
                                      </p:cBhvr>
                                      <p:to>
                                        <p:strVal val="visible"/>
                                      </p:to>
                                    </p:set>
                                    <p:anim calcmode="lin" valueType="num">
                                      <p:cBhvr additive="base">
                                        <p:cTn id="38" dur="500" fill="hold"/>
                                        <p:tgtEl>
                                          <p:spTgt spid="323589">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23589">
                                            <p:txEl>
                                              <p:pRg st="1" end="1"/>
                                            </p:txEl>
                                          </p:spTgt>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1000"/>
                            </p:stCondLst>
                            <p:childTnLst>
                              <p:par>
                                <p:cTn id="41" presetID="2" presetClass="entr" presetSubtype="4" fill="hold" grpId="0" nodeType="afterEffect">
                                  <p:stCondLst>
                                    <p:cond delay="0"/>
                                  </p:stCondLst>
                                  <p:childTnLst>
                                    <p:set>
                                      <p:cBhvr>
                                        <p:cTn id="42" dur="1" fill="hold">
                                          <p:stCondLst>
                                            <p:cond delay="0"/>
                                          </p:stCondLst>
                                        </p:cTn>
                                        <p:tgtEl>
                                          <p:spTgt spid="323589">
                                            <p:txEl>
                                              <p:pRg st="2" end="2"/>
                                            </p:txEl>
                                          </p:spTgt>
                                        </p:tgtEl>
                                        <p:attrNameLst>
                                          <p:attrName>style.visibility</p:attrName>
                                        </p:attrNameLst>
                                      </p:cBhvr>
                                      <p:to>
                                        <p:strVal val="visible"/>
                                      </p:to>
                                    </p:set>
                                    <p:anim calcmode="lin" valueType="num">
                                      <p:cBhvr additive="base">
                                        <p:cTn id="43" dur="500" fill="hold"/>
                                        <p:tgtEl>
                                          <p:spTgt spid="323589">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2358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7" grpId="0" build="p"/>
      <p:bldP spid="323589" grpId="0" uiExpand="1"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a:extLst>
              <a:ext uri="{FF2B5EF4-FFF2-40B4-BE49-F238E27FC236}">
                <a16:creationId xmlns:a16="http://schemas.microsoft.com/office/drawing/2014/main" id="{915DCFBF-80A8-F268-BE94-4CC6B55B1349}"/>
              </a:ext>
            </a:extLst>
          </p:cNvPr>
          <p:cNvSpPr>
            <a:spLocks noGrp="1" noChangeArrowheads="1"/>
          </p:cNvSpPr>
          <p:nvPr>
            <p:ph type="title"/>
          </p:nvPr>
        </p:nvSpPr>
        <p:spPr>
          <a:xfrm>
            <a:off x="917575" y="256441"/>
            <a:ext cx="9961986" cy="609741"/>
          </a:xfrm>
        </p:spPr>
        <p:txBody>
          <a:bodyPr/>
          <a:lstStyle/>
          <a:p>
            <a:pPr algn="l" eaLnBrk="1" hangingPunct="1"/>
            <a:r>
              <a:rPr lang="zh-CN" altLang="en-US" dirty="0"/>
              <a:t>实例</a:t>
            </a:r>
          </a:p>
        </p:txBody>
      </p:sp>
      <p:sp>
        <p:nvSpPr>
          <p:cNvPr id="334851" name="Rectangle 3">
            <a:extLst>
              <a:ext uri="{FF2B5EF4-FFF2-40B4-BE49-F238E27FC236}">
                <a16:creationId xmlns:a16="http://schemas.microsoft.com/office/drawing/2014/main" id="{4E499002-B014-14A6-41CF-0A4A5F1CDA87}"/>
              </a:ext>
            </a:extLst>
          </p:cNvPr>
          <p:cNvSpPr>
            <a:spLocks noGrp="1" noChangeArrowheads="1"/>
          </p:cNvSpPr>
          <p:nvPr>
            <p:ph type="body" sz="half" idx="1"/>
          </p:nvPr>
        </p:nvSpPr>
        <p:spPr>
          <a:xfrm>
            <a:off x="743755" y="1058717"/>
            <a:ext cx="7751969" cy="734954"/>
          </a:xfrm>
        </p:spPr>
        <p:txBody>
          <a:bodyPr>
            <a:noAutofit/>
          </a:bodyPr>
          <a:lstStyle/>
          <a:p>
            <a:pPr eaLnBrk="1" hangingPunct="1">
              <a:buClrTx/>
              <a:buFontTx/>
              <a:buNone/>
            </a:pPr>
            <a:r>
              <a:rPr lang="zh-CN" altLang="en-US" dirty="0">
                <a:solidFill>
                  <a:srgbClr val="C00000"/>
                </a:solidFill>
              </a:rPr>
              <a:t>例</a:t>
            </a:r>
            <a:r>
              <a:rPr lang="en-US" altLang="zh-CN" dirty="0">
                <a:solidFill>
                  <a:srgbClr val="C00000"/>
                </a:solidFill>
              </a:rPr>
              <a:t>2 </a:t>
            </a:r>
            <a:r>
              <a:rPr lang="zh-CN" altLang="en-US" dirty="0"/>
              <a:t>设</a:t>
            </a:r>
            <a:r>
              <a:rPr lang="en-US" altLang="zh-CN" dirty="0"/>
              <a:t>{X(n),n=1,2,3,…} </a:t>
            </a:r>
            <a:r>
              <a:rPr lang="zh-CN" altLang="en-US" dirty="0">
                <a:sym typeface="Symbol" panose="05050102010706020507" pitchFamily="18" charset="2"/>
              </a:rPr>
              <a:t>是</a:t>
            </a:r>
            <a:r>
              <a:rPr lang="zh-CN" altLang="en-US" dirty="0"/>
              <a:t>独立</a:t>
            </a:r>
            <a:r>
              <a:rPr lang="zh-CN" altLang="en-US" dirty="0">
                <a:sym typeface="Symbol" panose="05050102010706020507" pitchFamily="18" charset="2"/>
              </a:rPr>
              <a:t>随机序列，</a:t>
            </a:r>
          </a:p>
        </p:txBody>
      </p:sp>
      <p:sp>
        <p:nvSpPr>
          <p:cNvPr id="334877" name="Rectangle 29">
            <a:extLst>
              <a:ext uri="{FF2B5EF4-FFF2-40B4-BE49-F238E27FC236}">
                <a16:creationId xmlns:a16="http://schemas.microsoft.com/office/drawing/2014/main" id="{4345DFB1-BA9A-93E7-BDA9-5536FE2C11A8}"/>
              </a:ext>
            </a:extLst>
          </p:cNvPr>
          <p:cNvSpPr>
            <a:spLocks noChangeArrowheads="1"/>
          </p:cNvSpPr>
          <p:nvPr/>
        </p:nvSpPr>
        <p:spPr bwMode="auto">
          <a:xfrm>
            <a:off x="881485" y="2984333"/>
            <a:ext cx="9975208" cy="1070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533400" indent="-5334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60000"/>
              </a:spcBef>
              <a:buClrTx/>
              <a:buFontTx/>
              <a:buNone/>
            </a:pPr>
            <a:r>
              <a:rPr lang="zh-CN" altLang="en-US" sz="2400" dirty="0">
                <a:latin typeface="+mn-ea"/>
                <a:ea typeface="+mn-ea"/>
              </a:rPr>
              <a:t>则</a:t>
            </a:r>
            <a:r>
              <a:rPr lang="en-US" altLang="zh-CN" sz="2400" dirty="0">
                <a:latin typeface="+mn-ea"/>
                <a:ea typeface="+mn-ea"/>
              </a:rPr>
              <a:t>{Y(n),n=0,1,2,…}</a:t>
            </a:r>
            <a:r>
              <a:rPr lang="zh-CN" altLang="en-US" sz="2400" dirty="0">
                <a:latin typeface="+mn-ea"/>
                <a:ea typeface="+mn-ea"/>
              </a:rPr>
              <a:t>是独立增量过程</a:t>
            </a:r>
            <a:r>
              <a:rPr lang="zh-CN" altLang="en-US" sz="2400" dirty="0">
                <a:latin typeface="+mn-ea"/>
                <a:ea typeface="+mn-ea"/>
                <a:sym typeface="Symbol" panose="05050102010706020507" pitchFamily="18" charset="2"/>
              </a:rPr>
              <a:t>。</a:t>
            </a:r>
          </a:p>
          <a:p>
            <a:pPr eaLnBrk="1" hangingPunct="1">
              <a:spcBef>
                <a:spcPct val="60000"/>
              </a:spcBef>
              <a:buClrTx/>
              <a:buFontTx/>
              <a:buNone/>
            </a:pPr>
            <a:r>
              <a:rPr lang="zh-CN" altLang="en-US" sz="2400" dirty="0">
                <a:latin typeface="+mn-ea"/>
                <a:ea typeface="+mn-ea"/>
              </a:rPr>
              <a:t>若</a:t>
            </a:r>
            <a:r>
              <a:rPr lang="en-US" altLang="zh-CN" sz="2400" dirty="0">
                <a:latin typeface="+mn-ea"/>
                <a:ea typeface="+mn-ea"/>
              </a:rPr>
              <a:t>X(n),n=1,2,3,…</a:t>
            </a:r>
            <a:r>
              <a:rPr lang="zh-CN" altLang="en-US" sz="2400" dirty="0">
                <a:latin typeface="+mn-ea"/>
                <a:ea typeface="+mn-ea"/>
                <a:sym typeface="Symbol" panose="05050102010706020507" pitchFamily="18" charset="2"/>
              </a:rPr>
              <a:t>是相互</a:t>
            </a:r>
            <a:r>
              <a:rPr lang="zh-CN" altLang="en-US" sz="2400" dirty="0">
                <a:latin typeface="+mn-ea"/>
                <a:ea typeface="+mn-ea"/>
              </a:rPr>
              <a:t>独立且同分布的</a:t>
            </a:r>
            <a:r>
              <a:rPr lang="zh-CN" altLang="en-US" sz="2400" dirty="0">
                <a:latin typeface="+mn-ea"/>
                <a:ea typeface="+mn-ea"/>
                <a:sym typeface="Symbol" panose="05050102010706020507" pitchFamily="18" charset="2"/>
              </a:rPr>
              <a:t>随机变量，且</a:t>
            </a:r>
          </a:p>
        </p:txBody>
      </p:sp>
      <mc:AlternateContent xmlns:mc="http://schemas.openxmlformats.org/markup-compatibility/2006" xmlns:a14="http://schemas.microsoft.com/office/drawing/2010/main">
        <mc:Choice Requires="a14">
          <p:sp>
            <p:nvSpPr>
              <p:cNvPr id="334880" name="Object 32">
                <a:extLst>
                  <a:ext uri="{FF2B5EF4-FFF2-40B4-BE49-F238E27FC236}">
                    <a16:creationId xmlns:a16="http://schemas.microsoft.com/office/drawing/2014/main" id="{611CB9C7-604D-0E83-C35A-CCFFED36A17B}"/>
                  </a:ext>
                </a:extLst>
              </p:cNvPr>
              <p:cNvSpPr txBox="1"/>
              <p:nvPr/>
            </p:nvSpPr>
            <p:spPr bwMode="auto">
              <a:xfrm>
                <a:off x="3127375" y="1638317"/>
                <a:ext cx="4383537" cy="111094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(0)=0</m:t>
                      </m:r>
                    </m:oMath>
                  </m:oMathPara>
                </a14:m>
                <a:endParaRPr lang="zh-CN" altLang="en-US" dirty="0"/>
              </a:p>
            </p:txBody>
          </p:sp>
        </mc:Choice>
        <mc:Fallback xmlns="">
          <p:sp>
            <p:nvSpPr>
              <p:cNvPr id="334880" name="Object 32">
                <a:extLst>
                  <a:ext uri="{FF2B5EF4-FFF2-40B4-BE49-F238E27FC236}">
                    <a16:creationId xmlns:a16="http://schemas.microsoft.com/office/drawing/2014/main" id="{611CB9C7-604D-0E83-C35A-CCFFED36A17B}"/>
                  </a:ext>
                </a:extLst>
              </p:cNvPr>
              <p:cNvSpPr txBox="1">
                <a:spLocks noRot="1" noChangeAspect="1" noMove="1" noResize="1" noEditPoints="1" noAdjustHandles="1" noChangeArrowheads="1" noChangeShapeType="1" noTextEdit="1"/>
              </p:cNvSpPr>
              <p:nvPr/>
            </p:nvSpPr>
            <p:spPr bwMode="auto">
              <a:xfrm>
                <a:off x="3127375" y="1638317"/>
                <a:ext cx="4383537" cy="1110942"/>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334883" name="Rectangle 35">
            <a:extLst>
              <a:ext uri="{FF2B5EF4-FFF2-40B4-BE49-F238E27FC236}">
                <a16:creationId xmlns:a16="http://schemas.microsoft.com/office/drawing/2014/main" id="{D28AFDF9-3E73-7EBA-87ED-1C14AE44A724}"/>
              </a:ext>
            </a:extLst>
          </p:cNvPr>
          <p:cNvSpPr>
            <a:spLocks noChangeArrowheads="1"/>
          </p:cNvSpPr>
          <p:nvPr/>
        </p:nvSpPr>
        <p:spPr bwMode="auto">
          <a:xfrm>
            <a:off x="880802" y="5686425"/>
            <a:ext cx="7778962" cy="40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533400" indent="-5334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sz="2400" dirty="0">
                <a:latin typeface="+mn-ea"/>
                <a:ea typeface="+mn-ea"/>
              </a:rPr>
              <a:t>则</a:t>
            </a:r>
            <a:r>
              <a:rPr lang="en-US" altLang="zh-CN" sz="2400" dirty="0">
                <a:latin typeface="+mn-ea"/>
                <a:ea typeface="+mn-ea"/>
              </a:rPr>
              <a:t>{Y(n),n=0,1,2,…}</a:t>
            </a:r>
            <a:r>
              <a:rPr lang="zh-CN" altLang="en-US" sz="2400" dirty="0">
                <a:latin typeface="+mn-ea"/>
                <a:ea typeface="+mn-ea"/>
              </a:rPr>
              <a:t>是平稳独立增量过程</a:t>
            </a:r>
            <a:r>
              <a:rPr lang="zh-CN" altLang="en-US" sz="2400" dirty="0">
                <a:latin typeface="+mn-ea"/>
                <a:ea typeface="+mn-ea"/>
                <a:sym typeface="Symbol" panose="05050102010706020507" pitchFamily="18" charset="2"/>
              </a:rPr>
              <a:t>。</a:t>
            </a:r>
          </a:p>
        </p:txBody>
      </p:sp>
      <mc:AlternateContent xmlns:mc="http://schemas.openxmlformats.org/markup-compatibility/2006" xmlns:a14="http://schemas.microsoft.com/office/drawing/2010/main">
        <mc:Choice Requires="a14">
          <p:sp>
            <p:nvSpPr>
              <p:cNvPr id="334884" name="Object 36">
                <a:extLst>
                  <a:ext uri="{FF2B5EF4-FFF2-40B4-BE49-F238E27FC236}">
                    <a16:creationId xmlns:a16="http://schemas.microsoft.com/office/drawing/2014/main" id="{4AFCD09E-2282-E4E6-28BC-9CE392EBC727}"/>
                  </a:ext>
                </a:extLst>
              </p:cNvPr>
              <p:cNvSpPr txBox="1"/>
              <p:nvPr/>
            </p:nvSpPr>
            <p:spPr bwMode="auto">
              <a:xfrm>
                <a:off x="3127375" y="4322452"/>
                <a:ext cx="4383537" cy="111094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(0)=0</m:t>
                      </m:r>
                    </m:oMath>
                  </m:oMathPara>
                </a14:m>
                <a:endParaRPr lang="zh-CN" altLang="en-US" dirty="0"/>
              </a:p>
            </p:txBody>
          </p:sp>
        </mc:Choice>
        <mc:Fallback xmlns="">
          <p:sp>
            <p:nvSpPr>
              <p:cNvPr id="334884" name="Object 36">
                <a:extLst>
                  <a:ext uri="{FF2B5EF4-FFF2-40B4-BE49-F238E27FC236}">
                    <a16:creationId xmlns:a16="http://schemas.microsoft.com/office/drawing/2014/main" id="{4AFCD09E-2282-E4E6-28BC-9CE392EBC727}"/>
                  </a:ext>
                </a:extLst>
              </p:cNvPr>
              <p:cNvSpPr txBox="1">
                <a:spLocks noRot="1" noChangeAspect="1" noMove="1" noResize="1" noEditPoints="1" noAdjustHandles="1" noChangeArrowheads="1" noChangeShapeType="1" noTextEdit="1"/>
              </p:cNvSpPr>
              <p:nvPr/>
            </p:nvSpPr>
            <p:spPr bwMode="auto">
              <a:xfrm>
                <a:off x="3127375" y="4322452"/>
                <a:ext cx="4383537" cy="1110942"/>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2" name="矩形标注 1"/>
          <p:cNvSpPr/>
          <p:nvPr/>
        </p:nvSpPr>
        <p:spPr>
          <a:xfrm>
            <a:off x="7242175" y="913194"/>
            <a:ext cx="4648199" cy="685800"/>
          </a:xfrm>
          <a:prstGeom prst="wedgeRectCallout">
            <a:avLst>
              <a:gd name="adj1" fmla="val -66825"/>
              <a:gd name="adj2" fmla="val 242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X(1), X(2), X(3)…</a:t>
            </a:r>
            <a:r>
              <a:rPr lang="zh-CN" altLang="en-US" dirty="0"/>
              <a:t>是相互独立的</a:t>
            </a:r>
          </a:p>
        </p:txBody>
      </p:sp>
      <p:sp>
        <p:nvSpPr>
          <p:cNvPr id="9" name="矩形标注 8"/>
          <p:cNvSpPr/>
          <p:nvPr/>
        </p:nvSpPr>
        <p:spPr>
          <a:xfrm>
            <a:off x="6784975" y="2711348"/>
            <a:ext cx="5105399" cy="685800"/>
          </a:xfrm>
          <a:prstGeom prst="wedgeRectCallout">
            <a:avLst>
              <a:gd name="adj1" fmla="val -66825"/>
              <a:gd name="adj2" fmla="val 242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Y(2)-Y(1), Y(3)-Y(2)…</a:t>
            </a:r>
            <a:r>
              <a:rPr lang="zh-CN" altLang="en-US" dirty="0"/>
              <a:t>是相互独立的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34851">
                                            <p:txEl>
                                              <p:pRg st="0" end="0"/>
                                            </p:txEl>
                                          </p:spTgt>
                                        </p:tgtEl>
                                        <p:attrNameLst>
                                          <p:attrName>style.visibility</p:attrName>
                                        </p:attrNameLst>
                                      </p:cBhvr>
                                      <p:to>
                                        <p:strVal val="visible"/>
                                      </p:to>
                                    </p:set>
                                    <p:anim calcmode="lin" valueType="num">
                                      <p:cBhvr additive="base">
                                        <p:cTn id="7" dur="500" fill="hold"/>
                                        <p:tgtEl>
                                          <p:spTgt spid="3348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48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334880"/>
                                        </p:tgtEl>
                                        <p:attrNameLst>
                                          <p:attrName>style.visibility</p:attrName>
                                        </p:attrNameLst>
                                      </p:cBhvr>
                                      <p:to>
                                        <p:strVal val="visible"/>
                                      </p:to>
                                    </p:set>
                                    <p:animEffect transition="in" filter="randombar(horizontal)">
                                      <p:cBhvr>
                                        <p:cTn id="13" dur="500"/>
                                        <p:tgtEl>
                                          <p:spTgt spid="33488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34877">
                                            <p:txEl>
                                              <p:pRg st="0" end="0"/>
                                            </p:txEl>
                                          </p:spTgt>
                                        </p:tgtEl>
                                        <p:attrNameLst>
                                          <p:attrName>style.visibility</p:attrName>
                                        </p:attrNameLst>
                                      </p:cBhvr>
                                      <p:to>
                                        <p:strVal val="visible"/>
                                      </p:to>
                                    </p:set>
                                    <p:anim calcmode="lin" valueType="num">
                                      <p:cBhvr additive="base">
                                        <p:cTn id="18" dur="500" fill="hold"/>
                                        <p:tgtEl>
                                          <p:spTgt spid="33487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348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circle(in)">
                                      <p:cBhvr>
                                        <p:cTn id="24" dur="20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circle(in)">
                                      <p:cBhvr>
                                        <p:cTn id="29" dur="20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34877">
                                            <p:txEl>
                                              <p:pRg st="1" end="1"/>
                                            </p:txEl>
                                          </p:spTgt>
                                        </p:tgtEl>
                                        <p:attrNameLst>
                                          <p:attrName>style.visibility</p:attrName>
                                        </p:attrNameLst>
                                      </p:cBhvr>
                                      <p:to>
                                        <p:strVal val="visible"/>
                                      </p:to>
                                    </p:set>
                                    <p:anim calcmode="lin" valueType="num">
                                      <p:cBhvr additive="base">
                                        <p:cTn id="34" dur="500" fill="hold"/>
                                        <p:tgtEl>
                                          <p:spTgt spid="334877">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3487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334884"/>
                                        </p:tgtEl>
                                        <p:attrNameLst>
                                          <p:attrName>style.visibility</p:attrName>
                                        </p:attrNameLst>
                                      </p:cBhvr>
                                      <p:to>
                                        <p:strVal val="visible"/>
                                      </p:to>
                                    </p:set>
                                    <p:animEffect transition="in" filter="randombar(horizontal)">
                                      <p:cBhvr>
                                        <p:cTn id="40" dur="500"/>
                                        <p:tgtEl>
                                          <p:spTgt spid="334884"/>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34883">
                                            <p:txEl>
                                              <p:pRg st="0" end="0"/>
                                            </p:txEl>
                                          </p:spTgt>
                                        </p:tgtEl>
                                        <p:attrNameLst>
                                          <p:attrName>style.visibility</p:attrName>
                                        </p:attrNameLst>
                                      </p:cBhvr>
                                      <p:to>
                                        <p:strVal val="visible"/>
                                      </p:to>
                                    </p:set>
                                    <p:anim calcmode="lin" valueType="num">
                                      <p:cBhvr additive="base">
                                        <p:cTn id="45" dur="500" fill="hold"/>
                                        <p:tgtEl>
                                          <p:spTgt spid="334883">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3488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build="p"/>
      <p:bldP spid="334877" grpId="0" uiExpand="1" build="p"/>
      <p:bldP spid="334880" grpId="0"/>
      <p:bldP spid="334883" grpId="0" build="p"/>
      <p:bldP spid="334884" grpId="0"/>
      <p:bldP spid="2"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2">
            <a:extLst>
              <a:ext uri="{FF2B5EF4-FFF2-40B4-BE49-F238E27FC236}">
                <a16:creationId xmlns:a16="http://schemas.microsoft.com/office/drawing/2014/main" id="{DC6F8278-80E9-D350-DFE0-49324B88AA0D}"/>
              </a:ext>
            </a:extLst>
          </p:cNvPr>
          <p:cNvSpPr>
            <a:spLocks noGrp="1" noChangeArrowheads="1"/>
          </p:cNvSpPr>
          <p:nvPr>
            <p:ph type="title"/>
          </p:nvPr>
        </p:nvSpPr>
        <p:spPr>
          <a:xfrm>
            <a:off x="841375" y="301701"/>
            <a:ext cx="9961986" cy="609741"/>
          </a:xfrm>
        </p:spPr>
        <p:txBody>
          <a:bodyPr/>
          <a:lstStyle/>
          <a:p>
            <a:pPr algn="l" eaLnBrk="1" hangingPunct="1"/>
            <a:r>
              <a:rPr lang="zh-CN" altLang="en-US" dirty="0"/>
              <a:t>实例</a:t>
            </a:r>
          </a:p>
        </p:txBody>
      </p:sp>
      <p:sp>
        <p:nvSpPr>
          <p:cNvPr id="335875" name="Rectangle 3">
            <a:extLst>
              <a:ext uri="{FF2B5EF4-FFF2-40B4-BE49-F238E27FC236}">
                <a16:creationId xmlns:a16="http://schemas.microsoft.com/office/drawing/2014/main" id="{B11CDFCB-1721-BB85-AFBB-B4F6E4E896C4}"/>
              </a:ext>
            </a:extLst>
          </p:cNvPr>
          <p:cNvSpPr>
            <a:spLocks noGrp="1" noChangeArrowheads="1"/>
          </p:cNvSpPr>
          <p:nvPr>
            <p:ph type="body" sz="half" idx="1"/>
          </p:nvPr>
        </p:nvSpPr>
        <p:spPr>
          <a:xfrm>
            <a:off x="0" y="1071305"/>
            <a:ext cx="11305602" cy="876503"/>
          </a:xfrm>
        </p:spPr>
        <p:txBody>
          <a:bodyPr>
            <a:normAutofit/>
          </a:bodyPr>
          <a:lstStyle/>
          <a:p>
            <a:pPr>
              <a:buNone/>
            </a:pPr>
            <a:r>
              <a:rPr lang="en-US" altLang="zh-CN" dirty="0"/>
              <a:t>	</a:t>
            </a:r>
            <a:r>
              <a:rPr lang="zh-CN" altLang="en-US" dirty="0">
                <a:solidFill>
                  <a:srgbClr val="C00000"/>
                </a:solidFill>
              </a:rPr>
              <a:t>例</a:t>
            </a:r>
            <a:r>
              <a:rPr lang="en-US" altLang="zh-CN" dirty="0">
                <a:solidFill>
                  <a:srgbClr val="C00000"/>
                </a:solidFill>
              </a:rPr>
              <a:t>3  </a:t>
            </a:r>
            <a:r>
              <a:rPr lang="en-US" altLang="zh-CN" dirty="0"/>
              <a:t> </a:t>
            </a:r>
            <a:r>
              <a:rPr lang="zh-CN" altLang="en-US" dirty="0"/>
              <a:t>设</a:t>
            </a:r>
            <a:r>
              <a:rPr lang="en-US" altLang="zh-CN" dirty="0"/>
              <a:t>{X(n),n=1,2,3,…} </a:t>
            </a:r>
            <a:r>
              <a:rPr lang="zh-CN" altLang="en-US" dirty="0">
                <a:sym typeface="Symbol" panose="05050102010706020507" pitchFamily="18" charset="2"/>
              </a:rPr>
              <a:t>是相互</a:t>
            </a:r>
            <a:r>
              <a:rPr lang="zh-CN" altLang="en-US" dirty="0"/>
              <a:t>独立</a:t>
            </a:r>
            <a:r>
              <a:rPr lang="zh-CN" altLang="en-US" dirty="0">
                <a:sym typeface="Symbol" panose="05050102010706020507" pitchFamily="18" charset="2"/>
              </a:rPr>
              <a:t>同分布的</a:t>
            </a:r>
            <a:r>
              <a:rPr lang="zh-CN" altLang="en-US" dirty="0"/>
              <a:t>伯努利</a:t>
            </a:r>
            <a:r>
              <a:rPr lang="zh-CN" altLang="en-US" dirty="0">
                <a:sym typeface="Symbol" panose="05050102010706020507" pitchFamily="18" charset="2"/>
              </a:rPr>
              <a:t>随机变量序列</a:t>
            </a:r>
          </a:p>
        </p:txBody>
      </p:sp>
      <p:graphicFrame>
        <p:nvGraphicFramePr>
          <p:cNvPr id="335876" name="Group 4">
            <a:extLst>
              <a:ext uri="{FF2B5EF4-FFF2-40B4-BE49-F238E27FC236}">
                <a16:creationId xmlns:a16="http://schemas.microsoft.com/office/drawing/2014/main" id="{6F2E620A-71D6-493D-A7F6-64EC01CA71E7}"/>
              </a:ext>
            </a:extLst>
          </p:cNvPr>
          <p:cNvGraphicFramePr>
            <a:graphicFrameLocks noGrp="1"/>
          </p:cNvGraphicFramePr>
          <p:nvPr>
            <p:ph sz="quarter" idx="2"/>
          </p:nvPr>
        </p:nvGraphicFramePr>
        <p:xfrm>
          <a:off x="3361692" y="2078519"/>
          <a:ext cx="6140284" cy="945358"/>
        </p:xfrm>
        <a:graphic>
          <a:graphicData uri="http://schemas.openxmlformats.org/drawingml/2006/table">
            <a:tbl>
              <a:tblPr/>
              <a:tblGrid>
                <a:gridCol w="1090865">
                  <a:extLst>
                    <a:ext uri="{9D8B030D-6E8A-4147-A177-3AD203B41FA5}">
                      <a16:colId xmlns:a16="http://schemas.microsoft.com/office/drawing/2014/main" val="2924576786"/>
                    </a:ext>
                  </a:extLst>
                </a:gridCol>
                <a:gridCol w="922551">
                  <a:extLst>
                    <a:ext uri="{9D8B030D-6E8A-4147-A177-3AD203B41FA5}">
                      <a16:colId xmlns:a16="http://schemas.microsoft.com/office/drawing/2014/main" val="3855026654"/>
                    </a:ext>
                  </a:extLst>
                </a:gridCol>
                <a:gridCol w="860624">
                  <a:extLst>
                    <a:ext uri="{9D8B030D-6E8A-4147-A177-3AD203B41FA5}">
                      <a16:colId xmlns:a16="http://schemas.microsoft.com/office/drawing/2014/main" val="488204806"/>
                    </a:ext>
                  </a:extLst>
                </a:gridCol>
                <a:gridCol w="1406851">
                  <a:extLst>
                    <a:ext uri="{9D8B030D-6E8A-4147-A177-3AD203B41FA5}">
                      <a16:colId xmlns:a16="http://schemas.microsoft.com/office/drawing/2014/main" val="658985754"/>
                    </a:ext>
                  </a:extLst>
                </a:gridCol>
                <a:gridCol w="1859393">
                  <a:extLst>
                    <a:ext uri="{9D8B030D-6E8A-4147-A177-3AD203B41FA5}">
                      <a16:colId xmlns:a16="http://schemas.microsoft.com/office/drawing/2014/main" val="1894519755"/>
                    </a:ext>
                  </a:extLst>
                </a:gridCol>
              </a:tblGrid>
              <a:tr h="472679">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X(n)</a:t>
                      </a:r>
                    </a:p>
                  </a:txBody>
                  <a:tcPr marL="0" marR="0" marT="35982" marB="35982"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35982" marB="35982"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35982" marB="35982" anchor="ctr"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0&lt;p&lt;1</a:t>
                      </a:r>
                    </a:p>
                  </a:txBody>
                  <a:tcPr marL="0" marR="0" marT="35982" marB="35982" anchor="ctr" horzOverflow="overflow">
                    <a:lnL>
                      <a:noFill/>
                    </a:lnL>
                    <a:lnR>
                      <a:noFill/>
                    </a:lnR>
                    <a:lnT cap="flat">
                      <a:noFill/>
                    </a:lnT>
                    <a:lnB cap="flat">
                      <a:noFill/>
                    </a:lnB>
                    <a:lnTlToBr>
                      <a:noFill/>
                    </a:lnTlToBr>
                    <a:lnBlToTr>
                      <a:noFill/>
                    </a:lnBlToTr>
                    <a:noFill/>
                  </a:tcPr>
                </a:tc>
                <a:tc rowSpan="2">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n=1,2,3,…</a:t>
                      </a:r>
                    </a:p>
                  </a:txBody>
                  <a:tcPr marL="0" marR="0" marT="35982" marB="35982" anchor="ct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793721382"/>
                  </a:ext>
                </a:extLst>
              </a:tr>
              <a:tr h="472679">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p>
                  </a:txBody>
                  <a:tcPr marL="0" marR="0" marT="35982" marB="35982"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q</a:t>
                      </a:r>
                    </a:p>
                  </a:txBody>
                  <a:tcPr marL="0" marR="0" marT="35982" marB="35982"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p>
                  </a:txBody>
                  <a:tcPr marL="0" marR="0" marT="35982" marB="35982"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buClr>
                          <a:srgbClr val="00FF00"/>
                        </a:buClr>
                        <a:buFont typeface="Wingdings" panose="05000000000000000000" pitchFamily="2" charset="2"/>
                        <a:defRPr kumimoji="1" sz="2400" b="1">
                          <a:solidFill>
                            <a:schemeClr val="tx1"/>
                          </a:solidFill>
                          <a:latin typeface="Times New Roman" panose="02020603050405020304" pitchFamily="18" charset="0"/>
                          <a:ea typeface="黑体" panose="02010609060101010101" pitchFamily="49" charset="-122"/>
                        </a:defRPr>
                      </a:lvl1pPr>
                      <a:lvl2pPr>
                        <a:lnSpc>
                          <a:spcPct val="120000"/>
                        </a:lnSpc>
                        <a:buClr>
                          <a:srgbClr val="CC00CC"/>
                        </a:buClr>
                        <a:defRPr kumimoji="1" sz="2000" b="1">
                          <a:solidFill>
                            <a:schemeClr val="tx1"/>
                          </a:solidFill>
                          <a:latin typeface="Times New Roman" panose="02020603050405020304" pitchFamily="18" charset="0"/>
                          <a:ea typeface="黑体" panose="02010609060101010101" pitchFamily="49"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20000"/>
                        </a:lnSpc>
                        <a:spcBef>
                          <a:spcPct val="0"/>
                        </a:spcBef>
                        <a:spcAft>
                          <a:spcPct val="0"/>
                        </a:spcAft>
                        <a:buClr>
                          <a:srgbClr val="00FF00"/>
                        </a:buClr>
                        <a:buSzTx/>
                        <a:buFont typeface="Wingdings" panose="05000000000000000000" pitchFamily="2" charset="2"/>
                        <a:buNone/>
                        <a:tabLst/>
                      </a:pPr>
                      <a:r>
                        <a:rPr kumimoji="1" lang="en-US" altLang="zh-CN" sz="2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P+q</a:t>
                      </a:r>
                      <a:r>
                        <a:rPr kumimoji="1"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txBody>
                  <a:tcPr marL="0" marR="0" marT="35982" marB="35982" anchor="ctr" horzOverflow="overflow">
                    <a:lnL>
                      <a:noFill/>
                    </a:lnL>
                    <a:lnR>
                      <a:noFill/>
                    </a:lnR>
                    <a:lnT cap="flat">
                      <a:noFill/>
                    </a:lnT>
                    <a:lnB cap="flat">
                      <a:noFill/>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3510006879"/>
                  </a:ext>
                </a:extLst>
              </a:tr>
            </a:tbl>
          </a:graphicData>
        </a:graphic>
      </p:graphicFrame>
      <p:sp>
        <p:nvSpPr>
          <p:cNvPr id="335901" name="Rectangle 29">
            <a:extLst>
              <a:ext uri="{FF2B5EF4-FFF2-40B4-BE49-F238E27FC236}">
                <a16:creationId xmlns:a16="http://schemas.microsoft.com/office/drawing/2014/main" id="{33D116A6-17E8-92D4-839B-A7BC69CB4A30}"/>
              </a:ext>
            </a:extLst>
          </p:cNvPr>
          <p:cNvSpPr>
            <a:spLocks noChangeArrowheads="1"/>
          </p:cNvSpPr>
          <p:nvPr/>
        </p:nvSpPr>
        <p:spPr bwMode="auto">
          <a:xfrm>
            <a:off x="469689" y="4407170"/>
            <a:ext cx="10835913"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533400" indent="-5334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Tx/>
              <a:buFontTx/>
              <a:buNone/>
            </a:pPr>
            <a:r>
              <a:rPr lang="zh-CN" altLang="en-US" sz="2400" dirty="0">
                <a:latin typeface="+mn-ea"/>
                <a:ea typeface="+mn-ea"/>
              </a:rPr>
              <a:t>则称</a:t>
            </a:r>
            <a:r>
              <a:rPr lang="en-US" altLang="zh-CN" sz="2400" dirty="0">
                <a:latin typeface="+mn-ea"/>
                <a:ea typeface="+mn-ea"/>
              </a:rPr>
              <a:t>{Y(n),n=0,1,2,…}</a:t>
            </a:r>
            <a:r>
              <a:rPr lang="zh-CN" altLang="en-US" sz="2400" dirty="0">
                <a:latin typeface="+mn-ea"/>
                <a:ea typeface="+mn-ea"/>
              </a:rPr>
              <a:t>为</a:t>
            </a:r>
            <a:r>
              <a:rPr lang="zh-CN" altLang="en-US" sz="2400" dirty="0">
                <a:solidFill>
                  <a:srgbClr val="CC00CC"/>
                </a:solidFill>
                <a:latin typeface="+mn-ea"/>
                <a:ea typeface="+mn-ea"/>
              </a:rPr>
              <a:t>二项计数过程</a:t>
            </a:r>
            <a:r>
              <a:rPr lang="en-US" altLang="zh-CN" sz="2400" dirty="0">
                <a:latin typeface="+mn-ea"/>
                <a:ea typeface="+mn-ea"/>
              </a:rPr>
              <a:t>(</a:t>
            </a:r>
            <a:r>
              <a:rPr lang="zh-CN" altLang="en-US" sz="2400" dirty="0">
                <a:solidFill>
                  <a:srgbClr val="CC00CC"/>
                </a:solidFill>
                <a:latin typeface="+mn-ea"/>
                <a:ea typeface="+mn-ea"/>
              </a:rPr>
              <a:t>随机游动</a:t>
            </a:r>
            <a:r>
              <a:rPr lang="en-US" altLang="zh-CN" sz="2400" dirty="0">
                <a:latin typeface="+mn-ea"/>
                <a:ea typeface="+mn-ea"/>
              </a:rPr>
              <a:t>)</a:t>
            </a:r>
            <a:r>
              <a:rPr lang="zh-CN" altLang="en-US" sz="2400" dirty="0">
                <a:latin typeface="+mn-ea"/>
                <a:ea typeface="+mn-ea"/>
                <a:sym typeface="Symbol" panose="05050102010706020507" pitchFamily="18" charset="2"/>
              </a:rPr>
              <a:t>。</a:t>
            </a:r>
          </a:p>
          <a:p>
            <a:pPr eaLnBrk="1" hangingPunct="1">
              <a:lnSpc>
                <a:spcPct val="150000"/>
              </a:lnSpc>
              <a:buClrTx/>
              <a:buFontTx/>
              <a:buNone/>
            </a:pPr>
            <a:r>
              <a:rPr lang="zh-CN" altLang="en-US" sz="2400" dirty="0">
                <a:latin typeface="+mn-ea"/>
                <a:ea typeface="+mn-ea"/>
              </a:rPr>
              <a:t>	二项计数过程</a:t>
            </a:r>
            <a:r>
              <a:rPr lang="zh-CN" altLang="en-US" sz="2400" dirty="0">
                <a:latin typeface="+mn-ea"/>
                <a:ea typeface="+mn-ea"/>
                <a:sym typeface="Symbol" panose="05050102010706020507" pitchFamily="18" charset="2"/>
              </a:rPr>
              <a:t>是一个</a:t>
            </a:r>
            <a:r>
              <a:rPr lang="zh-CN" altLang="en-US" sz="2400" dirty="0">
                <a:latin typeface="+mn-ea"/>
                <a:ea typeface="+mn-ea"/>
              </a:rPr>
              <a:t>独立增量过程</a:t>
            </a:r>
            <a:r>
              <a:rPr lang="zh-CN" altLang="en-US" sz="2400" dirty="0">
                <a:latin typeface="+mn-ea"/>
                <a:ea typeface="+mn-ea"/>
                <a:sym typeface="Symbol" panose="05050102010706020507" pitchFamily="18" charset="2"/>
              </a:rPr>
              <a:t>。其</a:t>
            </a:r>
          </a:p>
          <a:p>
            <a:pPr eaLnBrk="1" hangingPunct="1">
              <a:lnSpc>
                <a:spcPct val="150000"/>
              </a:lnSpc>
              <a:buClrTx/>
              <a:buFontTx/>
              <a:buNone/>
            </a:pPr>
            <a:r>
              <a:rPr lang="zh-CN" altLang="en-US" sz="2400" dirty="0">
                <a:solidFill>
                  <a:srgbClr val="0000CC"/>
                </a:solidFill>
                <a:latin typeface="+mn-ea"/>
                <a:ea typeface="+mn-ea"/>
                <a:sym typeface="Symbol" panose="05050102010706020507" pitchFamily="18" charset="2"/>
              </a:rPr>
              <a:t>一维概率分布</a:t>
            </a:r>
            <a:r>
              <a:rPr lang="zh-CN" altLang="en-US" sz="2400" dirty="0">
                <a:latin typeface="+mn-ea"/>
                <a:ea typeface="+mn-ea"/>
                <a:sym typeface="Symbol" panose="05050102010706020507" pitchFamily="18" charset="2"/>
              </a:rPr>
              <a:t>	</a:t>
            </a:r>
            <a:r>
              <a:rPr lang="en-US" altLang="zh-CN" sz="2400" dirty="0">
                <a:latin typeface="+mn-ea"/>
                <a:ea typeface="+mn-ea"/>
                <a:sym typeface="Symbol" panose="05050102010706020507" pitchFamily="18" charset="2"/>
              </a:rPr>
              <a:t>Y(n) ~ B(</a:t>
            </a:r>
            <a:r>
              <a:rPr lang="en-US" altLang="zh-CN" sz="2400" dirty="0" err="1">
                <a:latin typeface="+mn-ea"/>
                <a:ea typeface="+mn-ea"/>
                <a:sym typeface="Symbol" panose="05050102010706020507" pitchFamily="18" charset="2"/>
              </a:rPr>
              <a:t>n,p</a:t>
            </a:r>
            <a:r>
              <a:rPr lang="en-US" altLang="zh-CN" sz="2400" dirty="0">
                <a:latin typeface="+mn-ea"/>
                <a:ea typeface="+mn-ea"/>
                <a:sym typeface="Symbol" panose="05050102010706020507" pitchFamily="18" charset="2"/>
              </a:rPr>
              <a:t>)</a:t>
            </a:r>
            <a:r>
              <a:rPr lang="zh-CN" altLang="en-US" sz="2400" dirty="0">
                <a:latin typeface="+mn-ea"/>
                <a:ea typeface="+mn-ea"/>
                <a:sym typeface="Symbol" panose="05050102010706020507" pitchFamily="18" charset="2"/>
              </a:rPr>
              <a:t>，        </a:t>
            </a:r>
            <a:endParaRPr lang="en-US" altLang="zh-CN" sz="2400" dirty="0">
              <a:latin typeface="+mn-ea"/>
              <a:ea typeface="+mn-ea"/>
              <a:sym typeface="Symbol" panose="05050102010706020507" pitchFamily="18" charset="2"/>
            </a:endParaRPr>
          </a:p>
          <a:p>
            <a:pPr eaLnBrk="1" hangingPunct="1">
              <a:lnSpc>
                <a:spcPct val="150000"/>
              </a:lnSpc>
              <a:buClrTx/>
              <a:buFontTx/>
              <a:buNone/>
            </a:pPr>
            <a:r>
              <a:rPr lang="zh-CN" altLang="en-US" sz="2400" dirty="0">
                <a:solidFill>
                  <a:srgbClr val="0000CC"/>
                </a:solidFill>
                <a:latin typeface="+mn-ea"/>
                <a:ea typeface="+mn-ea"/>
                <a:sym typeface="Symbol" panose="05050102010706020507" pitchFamily="18" charset="2"/>
              </a:rPr>
              <a:t> 均值函数</a:t>
            </a:r>
            <a:r>
              <a:rPr lang="zh-CN" altLang="en-US" sz="2400" dirty="0">
                <a:latin typeface="+mn-ea"/>
                <a:ea typeface="+mn-ea"/>
                <a:sym typeface="Symbol" panose="05050102010706020507" pitchFamily="18" charset="2"/>
              </a:rPr>
              <a:t>	</a:t>
            </a:r>
            <a:r>
              <a:rPr lang="en-US" altLang="zh-CN" sz="2400" dirty="0">
                <a:latin typeface="+mn-ea"/>
                <a:ea typeface="+mn-ea"/>
                <a:sym typeface="Symbol" panose="05050102010706020507" pitchFamily="18" charset="2"/>
              </a:rPr>
              <a:t>E[Y(n)] = np</a:t>
            </a:r>
            <a:r>
              <a:rPr lang="zh-CN" altLang="en-US" sz="2400" dirty="0">
                <a:latin typeface="+mn-ea"/>
                <a:ea typeface="+mn-ea"/>
                <a:sym typeface="Symbol" panose="05050102010706020507" pitchFamily="18" charset="2"/>
              </a:rPr>
              <a:t>，            </a:t>
            </a:r>
            <a:r>
              <a:rPr lang="zh-CN" altLang="en-US" sz="2400" dirty="0">
                <a:solidFill>
                  <a:srgbClr val="0000CC"/>
                </a:solidFill>
                <a:latin typeface="+mn-ea"/>
                <a:ea typeface="+mn-ea"/>
                <a:sym typeface="Symbol" panose="05050102010706020507" pitchFamily="18" charset="2"/>
              </a:rPr>
              <a:t>方差函数</a:t>
            </a:r>
            <a:r>
              <a:rPr lang="zh-CN" altLang="en-US" sz="2400" dirty="0">
                <a:latin typeface="+mn-ea"/>
                <a:ea typeface="+mn-ea"/>
                <a:sym typeface="Symbol" panose="05050102010706020507" pitchFamily="18" charset="2"/>
              </a:rPr>
              <a:t>	</a:t>
            </a:r>
            <a:r>
              <a:rPr lang="en-US" altLang="zh-CN" sz="2400" dirty="0">
                <a:latin typeface="+mn-ea"/>
                <a:ea typeface="+mn-ea"/>
                <a:sym typeface="Symbol" panose="05050102010706020507" pitchFamily="18" charset="2"/>
              </a:rPr>
              <a:t>D[Y(n)] = </a:t>
            </a:r>
            <a:r>
              <a:rPr lang="en-US" altLang="zh-CN" sz="2400" dirty="0" err="1">
                <a:latin typeface="+mn-ea"/>
                <a:ea typeface="+mn-ea"/>
                <a:sym typeface="Symbol" panose="05050102010706020507" pitchFamily="18" charset="2"/>
              </a:rPr>
              <a:t>pq</a:t>
            </a:r>
            <a:r>
              <a:rPr lang="zh-CN" altLang="en-US" sz="2400" dirty="0">
                <a:latin typeface="+mn-ea"/>
                <a:ea typeface="+mn-ea"/>
                <a:sym typeface="Symbol" panose="05050102010706020507" pitchFamily="18" charset="2"/>
              </a:rPr>
              <a:t>，</a:t>
            </a:r>
          </a:p>
        </p:txBody>
      </p:sp>
      <mc:AlternateContent xmlns:mc="http://schemas.openxmlformats.org/markup-compatibility/2006" xmlns:a14="http://schemas.microsoft.com/office/drawing/2010/main">
        <mc:Choice Requires="a14">
          <p:sp>
            <p:nvSpPr>
              <p:cNvPr id="335904" name="Object 32">
                <a:extLst>
                  <a:ext uri="{FF2B5EF4-FFF2-40B4-BE49-F238E27FC236}">
                    <a16:creationId xmlns:a16="http://schemas.microsoft.com/office/drawing/2014/main" id="{C87C9931-6022-D026-D8E3-FBDA7B010B7D}"/>
                  </a:ext>
                </a:extLst>
              </p:cNvPr>
              <p:cNvSpPr txBox="1"/>
              <p:nvPr/>
            </p:nvSpPr>
            <p:spPr bwMode="auto">
              <a:xfrm>
                <a:off x="1222375" y="3309695"/>
                <a:ext cx="4755045" cy="112522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(0)=0</m:t>
                      </m:r>
                    </m:oMath>
                  </m:oMathPara>
                </a14:m>
                <a:endParaRPr lang="zh-CN" altLang="en-US" dirty="0"/>
              </a:p>
            </p:txBody>
          </p:sp>
        </mc:Choice>
        <mc:Fallback xmlns="">
          <p:sp>
            <p:nvSpPr>
              <p:cNvPr id="335904" name="Object 32">
                <a:extLst>
                  <a:ext uri="{FF2B5EF4-FFF2-40B4-BE49-F238E27FC236}">
                    <a16:creationId xmlns:a16="http://schemas.microsoft.com/office/drawing/2014/main" id="{C87C9931-6022-D026-D8E3-FBDA7B010B7D}"/>
                  </a:ext>
                </a:extLst>
              </p:cNvPr>
              <p:cNvSpPr txBox="1">
                <a:spLocks noRot="1" noChangeAspect="1" noMove="1" noResize="1" noEditPoints="1" noAdjustHandles="1" noChangeArrowheads="1" noChangeShapeType="1" noTextEdit="1"/>
              </p:cNvSpPr>
              <p:nvPr/>
            </p:nvSpPr>
            <p:spPr bwMode="auto">
              <a:xfrm>
                <a:off x="1222375" y="3309695"/>
                <a:ext cx="4755045" cy="1125222"/>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8" name="AutoShape 7">
            <a:extLst>
              <a:ext uri="{FF2B5EF4-FFF2-40B4-BE49-F238E27FC236}">
                <a16:creationId xmlns:a16="http://schemas.microsoft.com/office/drawing/2014/main" id="{E44E70C0-6A2C-4EBF-BC3A-A9713BC7A141}"/>
              </a:ext>
            </a:extLst>
          </p:cNvPr>
          <p:cNvSpPr>
            <a:spLocks noChangeArrowheads="1"/>
          </p:cNvSpPr>
          <p:nvPr/>
        </p:nvSpPr>
        <p:spPr bwMode="auto">
          <a:xfrm>
            <a:off x="8470930" y="4182175"/>
            <a:ext cx="2062091" cy="762000"/>
          </a:xfrm>
          <a:prstGeom prst="wedgeRectCallout">
            <a:avLst>
              <a:gd name="adj1" fmla="val -81300"/>
              <a:gd name="adj2" fmla="val 225080"/>
            </a:avLst>
          </a:prstGeom>
          <a:solidFill>
            <a:schemeClr val="accent1"/>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801" b="1" dirty="0">
                <a:solidFill>
                  <a:srgbClr val="FFFF00"/>
                </a:solidFill>
                <a:ea typeface="黑体" panose="02010609060101010101" pitchFamily="49" charset="-122"/>
              </a:rPr>
              <a:t>见</a:t>
            </a:r>
            <a:r>
              <a:rPr lang="en-US" altLang="zh-CN" sz="2801" b="1" dirty="0">
                <a:solidFill>
                  <a:srgbClr val="FFFF00"/>
                </a:solidFill>
                <a:ea typeface="黑体" panose="02010609060101010101" pitchFamily="49" charset="-122"/>
              </a:rPr>
              <a:t>Ch03</a:t>
            </a:r>
            <a:r>
              <a:rPr lang="zh-CN" altLang="en-US" sz="2801" b="1" dirty="0">
                <a:solidFill>
                  <a:srgbClr val="FFFF00"/>
                </a:solidFill>
                <a:ea typeface="黑体" panose="02010609060101010101" pitchFamily="49" charset="-122"/>
              </a:rPr>
              <a:t>，</a:t>
            </a:r>
            <a:r>
              <a:rPr lang="en-US" altLang="zh-CN" sz="2801" b="1" dirty="0">
                <a:solidFill>
                  <a:srgbClr val="FFFF00"/>
                </a:solidFill>
                <a:ea typeface="黑体" panose="02010609060101010101" pitchFamily="49" charset="-122"/>
              </a:rPr>
              <a:t>P4</a:t>
            </a:r>
            <a:endParaRPr lang="zh-CN" altLang="en-US" sz="2801" b="1" dirty="0">
              <a:solidFill>
                <a:srgbClr val="FFFF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35875">
                                            <p:txEl>
                                              <p:pRg st="0" end="0"/>
                                            </p:txEl>
                                          </p:spTgt>
                                        </p:tgtEl>
                                        <p:attrNameLst>
                                          <p:attrName>style.visibility</p:attrName>
                                        </p:attrNameLst>
                                      </p:cBhvr>
                                      <p:to>
                                        <p:strVal val="visible"/>
                                      </p:to>
                                    </p:set>
                                    <p:anim calcmode="lin" valueType="num">
                                      <p:cBhvr additive="base">
                                        <p:cTn id="7" dur="500" fill="hold"/>
                                        <p:tgtEl>
                                          <p:spTgt spid="3358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587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 presetClass="entr" presetSubtype="16" fill="hold" nodeType="afterEffect">
                                  <p:stCondLst>
                                    <p:cond delay="0"/>
                                  </p:stCondLst>
                                  <p:childTnLst>
                                    <p:set>
                                      <p:cBhvr>
                                        <p:cTn id="11" dur="1" fill="hold">
                                          <p:stCondLst>
                                            <p:cond delay="0"/>
                                          </p:stCondLst>
                                        </p:cTn>
                                        <p:tgtEl>
                                          <p:spTgt spid="335876"/>
                                        </p:tgtEl>
                                        <p:attrNameLst>
                                          <p:attrName>style.visibility</p:attrName>
                                        </p:attrNameLst>
                                      </p:cBhvr>
                                      <p:to>
                                        <p:strVal val="visible"/>
                                      </p:to>
                                    </p:set>
                                    <p:animEffect transition="in" filter="box(in)">
                                      <p:cBhvr>
                                        <p:cTn id="12" dur="500"/>
                                        <p:tgtEl>
                                          <p:spTgt spid="335876"/>
                                        </p:tgtEl>
                                      </p:cBhvr>
                                    </p:animEffect>
                                  </p:childTnLst>
                                </p:cTn>
                              </p:par>
                            </p:childTnLst>
                          </p:cTn>
                        </p:par>
                      </p:childTnLst>
                    </p:cTn>
                  </p:par>
                  <p:par>
                    <p:cTn id="13" fill="hold">
                      <p:stCondLst>
                        <p:cond delay="indefinite"/>
                      </p:stCondLst>
                      <p:childTnLst>
                        <p:par>
                          <p:cTn id="14" fill="hold" nodeType="after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35904"/>
                                        </p:tgtEl>
                                        <p:attrNameLst>
                                          <p:attrName>style.visibility</p:attrName>
                                        </p:attrNameLst>
                                      </p:cBhvr>
                                      <p:to>
                                        <p:strVal val="visible"/>
                                      </p:to>
                                    </p:set>
                                    <p:animEffect transition="in" filter="randombar(horizontal)">
                                      <p:cBhvr>
                                        <p:cTn id="17" dur="500"/>
                                        <p:tgtEl>
                                          <p:spTgt spid="335904"/>
                                        </p:tgtEl>
                                      </p:cBhvr>
                                    </p:animEffect>
                                  </p:child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335901">
                                            <p:txEl>
                                              <p:pRg st="0" end="0"/>
                                            </p:txEl>
                                          </p:spTgt>
                                        </p:tgtEl>
                                        <p:attrNameLst>
                                          <p:attrName>style.visibility</p:attrName>
                                        </p:attrNameLst>
                                      </p:cBhvr>
                                      <p:to>
                                        <p:strVal val="visible"/>
                                      </p:to>
                                    </p:set>
                                    <p:anim calcmode="lin" valueType="num">
                                      <p:cBhvr additive="base">
                                        <p:cTn id="21" dur="500" fill="hold"/>
                                        <p:tgtEl>
                                          <p:spTgt spid="335901">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59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35901">
                                            <p:txEl>
                                              <p:pRg st="1" end="1"/>
                                            </p:txEl>
                                          </p:spTgt>
                                        </p:tgtEl>
                                        <p:attrNameLst>
                                          <p:attrName>style.visibility</p:attrName>
                                        </p:attrNameLst>
                                      </p:cBhvr>
                                      <p:to>
                                        <p:strVal val="visible"/>
                                      </p:to>
                                    </p:set>
                                    <p:anim calcmode="lin" valueType="num">
                                      <p:cBhvr additive="base">
                                        <p:cTn id="27" dur="500" fill="hold"/>
                                        <p:tgtEl>
                                          <p:spTgt spid="335901">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359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35901">
                                            <p:txEl>
                                              <p:pRg st="2" end="2"/>
                                            </p:txEl>
                                          </p:spTgt>
                                        </p:tgtEl>
                                        <p:attrNameLst>
                                          <p:attrName>style.visibility</p:attrName>
                                        </p:attrNameLst>
                                      </p:cBhvr>
                                      <p:to>
                                        <p:strVal val="visible"/>
                                      </p:to>
                                    </p:set>
                                    <p:anim calcmode="lin" valueType="num">
                                      <p:cBhvr additive="base">
                                        <p:cTn id="33" dur="500" fill="hold"/>
                                        <p:tgtEl>
                                          <p:spTgt spid="335901">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359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35901">
                                            <p:txEl>
                                              <p:pRg st="3" end="3"/>
                                            </p:txEl>
                                          </p:spTgt>
                                        </p:tgtEl>
                                        <p:attrNameLst>
                                          <p:attrName>style.visibility</p:attrName>
                                        </p:attrNameLst>
                                      </p:cBhvr>
                                      <p:to>
                                        <p:strVal val="visible"/>
                                      </p:to>
                                    </p:set>
                                    <p:anim calcmode="lin" valueType="num">
                                      <p:cBhvr additive="base">
                                        <p:cTn id="39" dur="500" fill="hold"/>
                                        <p:tgtEl>
                                          <p:spTgt spid="335901">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35901">
                                            <p:txEl>
                                              <p:pRg st="3" end="3"/>
                                            </p:txEl>
                                          </p:spTgt>
                                        </p:tgtEl>
                                        <p:attrNameLst>
                                          <p:attrName>ppt_y</p:attrName>
                                        </p:attrNameLst>
                                      </p:cBhvr>
                                      <p:tavLst>
                                        <p:tav tm="0">
                                          <p:val>
                                            <p:strVal val="1+#ppt_h/2"/>
                                          </p:val>
                                        </p:tav>
                                        <p:tav tm="100000">
                                          <p:val>
                                            <p:strVal val="#ppt_y"/>
                                          </p:val>
                                        </p:tav>
                                      </p:tavLst>
                                    </p:anim>
                                  </p:childTnLst>
                                </p:cTn>
                              </p:par>
                            </p:childTnLst>
                          </p:cTn>
                        </p:par>
                        <p:par>
                          <p:cTn id="41" fill="hold">
                            <p:stCondLst>
                              <p:cond delay="500"/>
                            </p:stCondLst>
                            <p:childTnLst>
                              <p:par>
                                <p:cTn id="42" presetID="48" presetClass="entr" presetSubtype="0" accel="50000" fill="hold" grpId="0" nodeType="after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p:cTn id="44" dur="1000" fill="hold"/>
                                        <p:tgtEl>
                                          <p:spTgt spid="8"/>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45" dur="1000" fill="hold"/>
                                        <p:tgtEl>
                                          <p:spTgt spid="8"/>
                                        </p:tgtEl>
                                        <p:attrNameLst>
                                          <p:attrName>ppt_x</p:attrName>
                                        </p:attrNameLst>
                                      </p:cBhvr>
                                      <p:tavLst>
                                        <p:tav tm="0">
                                          <p:val>
                                            <p:fltVal val="-1"/>
                                          </p:val>
                                        </p:tav>
                                        <p:tav tm="50000">
                                          <p:val>
                                            <p:fltVal val="0.95"/>
                                          </p:val>
                                        </p:tav>
                                        <p:tav tm="100000">
                                          <p:val>
                                            <p:strVal val="#ppt_x"/>
                                          </p:val>
                                        </p:tav>
                                      </p:tavLst>
                                    </p:anim>
                                    <p:anim calcmode="lin" valueType="num">
                                      <p:cBhvr>
                                        <p:cTn id="46" dur="1000" fill="hold"/>
                                        <p:tgtEl>
                                          <p:spTgt spid="8"/>
                                        </p:tgtEl>
                                        <p:attrNameLst>
                                          <p:attrName>ppt_y</p:attrName>
                                        </p:attrNameLst>
                                      </p:cBhvr>
                                      <p:tavLst>
                                        <p:tav tm="0">
                                          <p:val>
                                            <p:strVal val="#ppt_y"/>
                                          </p:val>
                                        </p:tav>
                                        <p:tav tm="100000">
                                          <p:val>
                                            <p:strVal val="#ppt_y"/>
                                          </p:val>
                                        </p:tav>
                                      </p:tavLst>
                                    </p:anim>
                                    <p:animEffect transition="in" filter="fade">
                                      <p:cBhvr>
                                        <p:cTn id="47" dur="1000"/>
                                        <p:tgtEl>
                                          <p:spTgt spid="8"/>
                                        </p:tgtEl>
                                      </p:cBhvr>
                                    </p:animEffect>
                                  </p:childTnLst>
                                </p:cTn>
                              </p:par>
                              <p:par>
                                <p:cTn id="48" presetID="2" presetClass="exit" presetSubtype="3" fill="hold" grpId="1" nodeType="withEffect">
                                  <p:stCondLst>
                                    <p:cond delay="0"/>
                                  </p:stCondLst>
                                  <p:childTnLst>
                                    <p:anim calcmode="lin" valueType="num">
                                      <p:cBhvr additive="base">
                                        <p:cTn id="49" dur="500"/>
                                        <p:tgtEl>
                                          <p:spTgt spid="8"/>
                                        </p:tgtEl>
                                        <p:attrNameLst>
                                          <p:attrName>ppt_x</p:attrName>
                                        </p:attrNameLst>
                                      </p:cBhvr>
                                      <p:tavLst>
                                        <p:tav tm="0">
                                          <p:val>
                                            <p:strVal val="ppt_x"/>
                                          </p:val>
                                        </p:tav>
                                        <p:tav tm="100000">
                                          <p:val>
                                            <p:strVal val="1+ppt_w/2"/>
                                          </p:val>
                                        </p:tav>
                                      </p:tavLst>
                                    </p:anim>
                                    <p:anim calcmode="lin" valueType="num">
                                      <p:cBhvr additive="base">
                                        <p:cTn id="50" dur="500"/>
                                        <p:tgtEl>
                                          <p:spTgt spid="8"/>
                                        </p:tgtEl>
                                        <p:attrNameLst>
                                          <p:attrName>ppt_y</p:attrName>
                                        </p:attrNameLst>
                                      </p:cBhvr>
                                      <p:tavLst>
                                        <p:tav tm="0">
                                          <p:val>
                                            <p:strVal val="ppt_y"/>
                                          </p:val>
                                        </p:tav>
                                        <p:tav tm="100000">
                                          <p:val>
                                            <p:strVal val="0-ppt_h/2"/>
                                          </p:val>
                                        </p:tav>
                                      </p:tavLst>
                                    </p:anim>
                                    <p:set>
                                      <p:cBhvr>
                                        <p:cTn id="51"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5" grpId="0" build="p"/>
      <p:bldP spid="335901" grpId="0" build="p"/>
      <p:bldP spid="335904" grpId="0"/>
      <p:bldP spid="8" grpId="0" animBg="1"/>
      <p:bldP spid="8"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Rectangle 3">
            <a:extLst>
              <a:ext uri="{FF2B5EF4-FFF2-40B4-BE49-F238E27FC236}">
                <a16:creationId xmlns:a16="http://schemas.microsoft.com/office/drawing/2014/main" id="{926FC61F-D064-FF9D-E251-5325A4EE73BE}"/>
              </a:ext>
            </a:extLst>
          </p:cNvPr>
          <p:cNvSpPr>
            <a:spLocks noGrp="1" noChangeArrowheads="1"/>
          </p:cNvSpPr>
          <p:nvPr>
            <p:ph type="body" sz="half" idx="1"/>
          </p:nvPr>
        </p:nvSpPr>
        <p:spPr>
          <a:xfrm>
            <a:off x="688975" y="1028324"/>
            <a:ext cx="4343400" cy="680221"/>
          </a:xfrm>
        </p:spPr>
        <p:txBody>
          <a:bodyPr>
            <a:normAutofit/>
          </a:bodyPr>
          <a:lstStyle/>
          <a:p>
            <a:pPr eaLnBrk="1" hangingPunct="1">
              <a:buClrTx/>
              <a:buFontTx/>
              <a:buNone/>
            </a:pPr>
            <a:r>
              <a:rPr lang="zh-CN" altLang="en-US" dirty="0"/>
              <a:t>二维概率分布</a:t>
            </a:r>
            <a:endParaRPr lang="zh-CN" altLang="en-US" dirty="0">
              <a:sym typeface="Symbol" panose="05050102010706020507" pitchFamily="18" charset="2"/>
            </a:endParaRPr>
          </a:p>
        </p:txBody>
      </p:sp>
      <p:sp>
        <p:nvSpPr>
          <p:cNvPr id="336925" name="Rectangle 29">
            <a:extLst>
              <a:ext uri="{FF2B5EF4-FFF2-40B4-BE49-F238E27FC236}">
                <a16:creationId xmlns:a16="http://schemas.microsoft.com/office/drawing/2014/main" id="{1A2DAA3D-A4A2-C048-9AA5-33CAA26FCD9F}"/>
              </a:ext>
            </a:extLst>
          </p:cNvPr>
          <p:cNvSpPr>
            <a:spLocks noChangeArrowheads="1"/>
          </p:cNvSpPr>
          <p:nvPr/>
        </p:nvSpPr>
        <p:spPr bwMode="auto">
          <a:xfrm>
            <a:off x="688975" y="4049454"/>
            <a:ext cx="7778963" cy="40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533400" indent="-5334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sz="2400" dirty="0">
                <a:latin typeface="+mn-ea"/>
                <a:ea typeface="+mn-ea"/>
                <a:sym typeface="Symbol" panose="05050102010706020507" pitchFamily="18" charset="2"/>
              </a:rPr>
              <a:t>协方差函数</a:t>
            </a:r>
          </a:p>
        </p:txBody>
      </p:sp>
      <mc:AlternateContent xmlns:mc="http://schemas.openxmlformats.org/markup-compatibility/2006" xmlns:a14="http://schemas.microsoft.com/office/drawing/2010/main">
        <mc:Choice Requires="a14">
          <p:sp>
            <p:nvSpPr>
              <p:cNvPr id="336928" name="Object 32">
                <a:extLst>
                  <a:ext uri="{FF2B5EF4-FFF2-40B4-BE49-F238E27FC236}">
                    <a16:creationId xmlns:a16="http://schemas.microsoft.com/office/drawing/2014/main" id="{B0A0D655-89C5-D6EF-9DBA-2E8008F19353}"/>
                  </a:ext>
                </a:extLst>
              </p:cNvPr>
              <p:cNvSpPr txBox="1"/>
              <p:nvPr/>
            </p:nvSpPr>
            <p:spPr bwMode="auto">
              <a:xfrm>
                <a:off x="704689" y="1915590"/>
                <a:ext cx="3359928" cy="4319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36928" name="Object 32">
                <a:extLst>
                  <a:ext uri="{FF2B5EF4-FFF2-40B4-BE49-F238E27FC236}">
                    <a16:creationId xmlns:a16="http://schemas.microsoft.com/office/drawing/2014/main" id="{B0A0D655-89C5-D6EF-9DBA-2E8008F19353}"/>
                  </a:ext>
                </a:extLst>
              </p:cNvPr>
              <p:cNvSpPr txBox="1">
                <a:spLocks noRot="1" noChangeAspect="1" noMove="1" noResize="1" noEditPoints="1" noAdjustHandles="1" noChangeArrowheads="1" noChangeShapeType="1" noTextEdit="1"/>
              </p:cNvSpPr>
              <p:nvPr/>
            </p:nvSpPr>
            <p:spPr bwMode="auto">
              <a:xfrm>
                <a:off x="704689" y="1915590"/>
                <a:ext cx="3359928" cy="431900"/>
              </a:xfrm>
              <a:prstGeom prst="rect">
                <a:avLst/>
              </a:prstGeom>
              <a:blipFill>
                <a:blip r:embed="rId2"/>
                <a:stretch>
                  <a:fillRect l="-181" r="-1270" b="-1971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931" name="Object 35">
                <a:extLst>
                  <a:ext uri="{FF2B5EF4-FFF2-40B4-BE49-F238E27FC236}">
                    <a16:creationId xmlns:a16="http://schemas.microsoft.com/office/drawing/2014/main" id="{715F7C1C-4DD3-4E2A-A722-67BF98DDF8D6}"/>
                  </a:ext>
                </a:extLst>
              </p:cNvPr>
              <p:cNvSpPr txBox="1">
                <a:spLocks noGrp="1"/>
              </p:cNvSpPr>
              <p:nvPr>
                <p:ph sz="half" idx="2"/>
              </p:nvPr>
            </p:nvSpPr>
            <p:spPr bwMode="auto">
              <a:xfrm>
                <a:off x="2556852" y="3874634"/>
                <a:ext cx="5391833" cy="693415"/>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𝑌</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cov</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36931" name="Object 35">
                <a:extLst>
                  <a:ext uri="{FF2B5EF4-FFF2-40B4-BE49-F238E27FC236}">
                    <a16:creationId xmlns:a16="http://schemas.microsoft.com/office/drawing/2014/main" id="{715F7C1C-4DD3-4E2A-A722-67BF98DDF8D6}"/>
                  </a:ext>
                </a:extLst>
              </p:cNvPr>
              <p:cNvSpPr txBox="1">
                <a:spLocks noRot="1" noChangeAspect="1" noMove="1" noResize="1" noEditPoints="1" noAdjustHandles="1" noChangeArrowheads="1" noChangeShapeType="1" noTextEdit="1"/>
              </p:cNvSpPr>
              <p:nvPr>
                <p:ph sz="half" idx="2"/>
              </p:nvPr>
            </p:nvSpPr>
            <p:spPr bwMode="auto">
              <a:xfrm>
                <a:off x="2556852" y="3874634"/>
                <a:ext cx="5391833" cy="693415"/>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933" name="Object 37">
                <a:extLst>
                  <a:ext uri="{FF2B5EF4-FFF2-40B4-BE49-F238E27FC236}">
                    <a16:creationId xmlns:a16="http://schemas.microsoft.com/office/drawing/2014/main" id="{760E0F85-B9BB-F6E9-A1F8-A357D319FC90}"/>
                  </a:ext>
                </a:extLst>
              </p:cNvPr>
              <p:cNvSpPr txBox="1"/>
              <p:nvPr/>
            </p:nvSpPr>
            <p:spPr bwMode="auto">
              <a:xfrm>
                <a:off x="4003985" y="1928596"/>
                <a:ext cx="6772254" cy="635147"/>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limUpp>
                        <m:limUppPr>
                          <m:ctrlPr>
                            <a:rPr lang="zh-CN" altLang="en-US" i="1">
                              <a:solidFill>
                                <a:srgbClr val="000000"/>
                              </a:solidFill>
                              <a:latin typeface="Cambria Math" panose="02040503050406030204" pitchFamily="18" charset="0"/>
                            </a:rPr>
                          </m:ctrlPr>
                        </m:limUppPr>
                        <m:e>
                          <m:r>
                            <a:rPr lang="zh-CN" altLang="en-US" i="1">
                              <a:solidFill>
                                <a:srgbClr val="000000"/>
                              </a:solidFill>
                              <a:latin typeface="Cambria Math" panose="02040503050406030204" pitchFamily="18" charset="0"/>
                            </a:rPr>
                            <m:t>=</m:t>
                          </m:r>
                        </m:e>
                        <m:li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&lt;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lim>
                      </m:limUpp>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36933" name="Object 37">
                <a:extLst>
                  <a:ext uri="{FF2B5EF4-FFF2-40B4-BE49-F238E27FC236}">
                    <a16:creationId xmlns:a16="http://schemas.microsoft.com/office/drawing/2014/main" id="{760E0F85-B9BB-F6E9-A1F8-A357D319FC90}"/>
                  </a:ext>
                </a:extLst>
              </p:cNvPr>
              <p:cNvSpPr txBox="1">
                <a:spLocks noRot="1" noChangeAspect="1" noMove="1" noResize="1" noEditPoints="1" noAdjustHandles="1" noChangeArrowheads="1" noChangeShapeType="1" noTextEdit="1"/>
              </p:cNvSpPr>
              <p:nvPr/>
            </p:nvSpPr>
            <p:spPr bwMode="auto">
              <a:xfrm>
                <a:off x="4003985" y="1928596"/>
                <a:ext cx="6772254" cy="635147"/>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934" name="Object 38">
                <a:extLst>
                  <a:ext uri="{FF2B5EF4-FFF2-40B4-BE49-F238E27FC236}">
                    <a16:creationId xmlns:a16="http://schemas.microsoft.com/office/drawing/2014/main" id="{C4DF73CD-C198-29FB-DD22-1A07C5558C73}"/>
                  </a:ext>
                </a:extLst>
              </p:cNvPr>
              <p:cNvSpPr txBox="1"/>
              <p:nvPr/>
            </p:nvSpPr>
            <p:spPr bwMode="auto">
              <a:xfrm>
                <a:off x="4152157" y="2559642"/>
                <a:ext cx="4887456" cy="533523"/>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sup>
                      </m:sSub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𝑝</m:t>
                          </m:r>
                        </m:e>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𝑞</m:t>
                          </m:r>
                        </m:e>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sup>
                      </m:sSup>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sup>
                      </m:sSub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𝑝</m:t>
                          </m:r>
                        </m:e>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𝑞</m:t>
                          </m:r>
                        </m:e>
                        <m: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up>
                      </m:sSup>
                    </m:oMath>
                  </m:oMathPara>
                </a14:m>
                <a:endParaRPr lang="zh-CN" altLang="en-US" dirty="0"/>
              </a:p>
            </p:txBody>
          </p:sp>
        </mc:Choice>
        <mc:Fallback xmlns="">
          <p:sp>
            <p:nvSpPr>
              <p:cNvPr id="336934" name="Object 38">
                <a:extLst>
                  <a:ext uri="{FF2B5EF4-FFF2-40B4-BE49-F238E27FC236}">
                    <a16:creationId xmlns:a16="http://schemas.microsoft.com/office/drawing/2014/main" id="{C4DF73CD-C198-29FB-DD22-1A07C5558C73}"/>
                  </a:ext>
                </a:extLst>
              </p:cNvPr>
              <p:cNvSpPr txBox="1">
                <a:spLocks noRot="1" noChangeAspect="1" noMove="1" noResize="1" noEditPoints="1" noAdjustHandles="1" noChangeArrowheads="1" noChangeShapeType="1" noTextEdit="1"/>
              </p:cNvSpPr>
              <p:nvPr/>
            </p:nvSpPr>
            <p:spPr bwMode="auto">
              <a:xfrm>
                <a:off x="4152157" y="2559642"/>
                <a:ext cx="4887456" cy="533523"/>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935" name="Object 39">
                <a:extLst>
                  <a:ext uri="{FF2B5EF4-FFF2-40B4-BE49-F238E27FC236}">
                    <a16:creationId xmlns:a16="http://schemas.microsoft.com/office/drawing/2014/main" id="{93AA7E7A-270E-645F-EE75-F739FEC29F6F}"/>
                  </a:ext>
                </a:extLst>
              </p:cNvPr>
              <p:cNvSpPr txBox="1"/>
              <p:nvPr/>
            </p:nvSpPr>
            <p:spPr bwMode="auto">
              <a:xfrm>
                <a:off x="4152157" y="3161445"/>
                <a:ext cx="2596163" cy="533523"/>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sup>
                      </m:sSubSup>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1</m:t>
                              </m:r>
                            </m:sub>
                          </m:sSub>
                        </m:sup>
                      </m:sSub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𝑝</m:t>
                          </m:r>
                        </m:e>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𝑞</m:t>
                          </m:r>
                        </m:e>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𝑘</m:t>
                              </m:r>
                            </m:e>
                            <m:sub>
                              <m:r>
                                <a:rPr lang="zh-CN" altLang="en-US" i="1">
                                  <a:solidFill>
                                    <a:srgbClr val="000000"/>
                                  </a:solidFill>
                                  <a:latin typeface="Cambria Math" panose="02040503050406030204" pitchFamily="18" charset="0"/>
                                </a:rPr>
                                <m:t>2</m:t>
                              </m:r>
                            </m:sub>
                          </m:sSub>
                        </m:sup>
                      </m:sSup>
                    </m:oMath>
                  </m:oMathPara>
                </a14:m>
                <a:endParaRPr lang="zh-CN" altLang="en-US" dirty="0"/>
              </a:p>
            </p:txBody>
          </p:sp>
        </mc:Choice>
        <mc:Fallback xmlns="">
          <p:sp>
            <p:nvSpPr>
              <p:cNvPr id="336935" name="Object 39">
                <a:extLst>
                  <a:ext uri="{FF2B5EF4-FFF2-40B4-BE49-F238E27FC236}">
                    <a16:creationId xmlns:a16="http://schemas.microsoft.com/office/drawing/2014/main" id="{93AA7E7A-270E-645F-EE75-F739FEC29F6F}"/>
                  </a:ext>
                </a:extLst>
              </p:cNvPr>
              <p:cNvSpPr txBox="1">
                <a:spLocks noRot="1" noChangeAspect="1" noMove="1" noResize="1" noEditPoints="1" noAdjustHandles="1" noChangeArrowheads="1" noChangeShapeType="1" noTextEdit="1"/>
              </p:cNvSpPr>
              <p:nvPr/>
            </p:nvSpPr>
            <p:spPr bwMode="auto">
              <a:xfrm>
                <a:off x="4152157" y="3161445"/>
                <a:ext cx="2596163" cy="533523"/>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936" name="Object 40">
                <a:extLst>
                  <a:ext uri="{FF2B5EF4-FFF2-40B4-BE49-F238E27FC236}">
                    <a16:creationId xmlns:a16="http://schemas.microsoft.com/office/drawing/2014/main" id="{C14CDA02-3E5B-22AC-0AB1-FF6F5442AFCB}"/>
                  </a:ext>
                </a:extLst>
              </p:cNvPr>
              <p:cNvSpPr txBox="1"/>
              <p:nvPr/>
            </p:nvSpPr>
            <p:spPr bwMode="auto">
              <a:xfrm>
                <a:off x="7566494" y="3827072"/>
                <a:ext cx="3236867" cy="950582"/>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cov</m:t>
                          </m:r>
                        </m:fName>
                        <m:e>
                          <m:r>
                            <a:rPr lang="zh-CN" altLang="en-US" i="1">
                              <a:solidFill>
                                <a:srgbClr val="000000"/>
                              </a:solidFill>
                              <a:latin typeface="Cambria Math" panose="02040503050406030204" pitchFamily="18" charset="0"/>
                            </a:rPr>
                            <m:t>(</m:t>
                          </m:r>
                        </m:e>
                      </m:func>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𝑚</m:t>
                          </m:r>
                        </m:sup>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36936" name="Object 40">
                <a:extLst>
                  <a:ext uri="{FF2B5EF4-FFF2-40B4-BE49-F238E27FC236}">
                    <a16:creationId xmlns:a16="http://schemas.microsoft.com/office/drawing/2014/main" id="{C14CDA02-3E5B-22AC-0AB1-FF6F5442AFCB}"/>
                  </a:ext>
                </a:extLst>
              </p:cNvPr>
              <p:cNvSpPr txBox="1">
                <a:spLocks noRot="1" noChangeAspect="1" noMove="1" noResize="1" noEditPoints="1" noAdjustHandles="1" noChangeArrowheads="1" noChangeShapeType="1" noTextEdit="1"/>
              </p:cNvSpPr>
              <p:nvPr/>
            </p:nvSpPr>
            <p:spPr bwMode="auto">
              <a:xfrm>
                <a:off x="7566494" y="3827072"/>
                <a:ext cx="3236867" cy="950582"/>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937" name="Object 41">
                <a:extLst>
                  <a:ext uri="{FF2B5EF4-FFF2-40B4-BE49-F238E27FC236}">
                    <a16:creationId xmlns:a16="http://schemas.microsoft.com/office/drawing/2014/main" id="{55745992-00BE-D696-7C39-5EE59634EDA7}"/>
                  </a:ext>
                </a:extLst>
              </p:cNvPr>
              <p:cNvSpPr txBox="1"/>
              <p:nvPr/>
            </p:nvSpPr>
            <p:spPr bwMode="auto">
              <a:xfrm>
                <a:off x="3790522" y="4695466"/>
                <a:ext cx="2842053" cy="113579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𝑚</m:t>
                          </m:r>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cov</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36937" name="Object 41">
                <a:extLst>
                  <a:ext uri="{FF2B5EF4-FFF2-40B4-BE49-F238E27FC236}">
                    <a16:creationId xmlns:a16="http://schemas.microsoft.com/office/drawing/2014/main" id="{55745992-00BE-D696-7C39-5EE59634EDA7}"/>
                  </a:ext>
                </a:extLst>
              </p:cNvPr>
              <p:cNvSpPr txBox="1">
                <a:spLocks noRot="1" noChangeAspect="1" noMove="1" noResize="1" noEditPoints="1" noAdjustHandles="1" noChangeArrowheads="1" noChangeShapeType="1" noTextEdit="1"/>
              </p:cNvSpPr>
              <p:nvPr/>
            </p:nvSpPr>
            <p:spPr bwMode="auto">
              <a:xfrm>
                <a:off x="3790522" y="4695466"/>
                <a:ext cx="2842053" cy="1135798"/>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6938" name="Object 42">
                <a:extLst>
                  <a:ext uri="{FF2B5EF4-FFF2-40B4-BE49-F238E27FC236}">
                    <a16:creationId xmlns:a16="http://schemas.microsoft.com/office/drawing/2014/main" id="{74F43301-F43E-30C2-6A8E-86B091D059E8}"/>
                  </a:ext>
                </a:extLst>
              </p:cNvPr>
              <p:cNvSpPr txBox="1"/>
              <p:nvPr/>
            </p:nvSpPr>
            <p:spPr bwMode="auto">
              <a:xfrm>
                <a:off x="6636827" y="4971991"/>
                <a:ext cx="1135004" cy="47375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𝑚𝑝𝑞</m:t>
                      </m:r>
                    </m:oMath>
                  </m:oMathPara>
                </a14:m>
                <a:endParaRPr lang="zh-CN" altLang="en-US" dirty="0"/>
              </a:p>
            </p:txBody>
          </p:sp>
        </mc:Choice>
        <mc:Fallback xmlns="">
          <p:sp>
            <p:nvSpPr>
              <p:cNvPr id="336938" name="Object 42">
                <a:extLst>
                  <a:ext uri="{FF2B5EF4-FFF2-40B4-BE49-F238E27FC236}">
                    <a16:creationId xmlns:a16="http://schemas.microsoft.com/office/drawing/2014/main" id="{74F43301-F43E-30C2-6A8E-86B091D059E8}"/>
                  </a:ext>
                </a:extLst>
              </p:cNvPr>
              <p:cNvSpPr txBox="1">
                <a:spLocks noRot="1" noChangeAspect="1" noMove="1" noResize="1" noEditPoints="1" noAdjustHandles="1" noChangeArrowheads="1" noChangeShapeType="1" noTextEdit="1"/>
              </p:cNvSpPr>
              <p:nvPr/>
            </p:nvSpPr>
            <p:spPr bwMode="auto">
              <a:xfrm>
                <a:off x="6636827" y="4971991"/>
                <a:ext cx="1135004" cy="473752"/>
              </a:xfrm>
              <a:prstGeom prst="rect">
                <a:avLst/>
              </a:prstGeom>
              <a:blipFill>
                <a:blip r:embed="rId9"/>
                <a:stretch>
                  <a:fillRect b="-10390"/>
                </a:stretch>
              </a:blipFill>
              <a:ln>
                <a:noFill/>
              </a:ln>
              <a:effectLst/>
            </p:spPr>
            <p:txBody>
              <a:bodyPr/>
              <a:lstStyle/>
              <a:p>
                <a:r>
                  <a:rPr lang="zh-CN" altLang="en-US">
                    <a:noFill/>
                  </a:rPr>
                  <a:t> </a:t>
                </a:r>
              </a:p>
            </p:txBody>
          </p:sp>
        </mc:Fallback>
      </mc:AlternateContent>
      <p:sp>
        <p:nvSpPr>
          <p:cNvPr id="336939" name="Rectangle 43">
            <a:extLst>
              <a:ext uri="{FF2B5EF4-FFF2-40B4-BE49-F238E27FC236}">
                <a16:creationId xmlns:a16="http://schemas.microsoft.com/office/drawing/2014/main" id="{70391C33-4E52-8A00-3628-344B49741F0F}"/>
              </a:ext>
            </a:extLst>
          </p:cNvPr>
          <p:cNvSpPr>
            <a:spLocks noChangeArrowheads="1"/>
          </p:cNvSpPr>
          <p:nvPr/>
        </p:nvSpPr>
        <p:spPr bwMode="auto">
          <a:xfrm>
            <a:off x="688975" y="6120262"/>
            <a:ext cx="7778963" cy="40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533400" indent="-533400">
              <a:lnSpc>
                <a:spcPct val="120000"/>
              </a:lnSpc>
              <a:buClr>
                <a:srgbClr val="00FF00"/>
              </a:buClr>
              <a:buFont typeface="Wingdings" panose="05000000000000000000" pitchFamily="2" charset="2"/>
              <a:buAutoNum type="arabicPeriod"/>
              <a:defRPr kumimoji="1" sz="2800" b="1">
                <a:solidFill>
                  <a:schemeClr val="tx1"/>
                </a:solidFill>
                <a:latin typeface="Times New Roman" panose="02020603050405020304" pitchFamily="18" charset="0"/>
                <a:ea typeface="黑体" panose="02010609060101010101" pitchFamily="49" charset="-122"/>
              </a:defRPr>
            </a:lvl1pPr>
            <a:lvl2pPr marL="914400" indent="-457200">
              <a:lnSpc>
                <a:spcPct val="120000"/>
              </a:lnSpc>
              <a:buClr>
                <a:srgbClr val="CC00CC"/>
              </a:buClr>
              <a:buAutoNum type="arabicParenR"/>
              <a:defRPr kumimoji="1" sz="2400" b="1">
                <a:solidFill>
                  <a:schemeClr val="tx1"/>
                </a:solidFill>
                <a:latin typeface="Times New Roman" panose="02020603050405020304" pitchFamily="18" charset="0"/>
                <a:ea typeface="黑体" panose="02010609060101010101" pitchFamily="49"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sz="2400" dirty="0">
                <a:latin typeface="+mn-ea"/>
                <a:ea typeface="+mn-ea"/>
                <a:sym typeface="Symbol" panose="05050102010706020507" pitchFamily="18" charset="2"/>
              </a:rPr>
              <a:t>一般</a:t>
            </a:r>
          </a:p>
        </p:txBody>
      </p:sp>
      <mc:AlternateContent xmlns:mc="http://schemas.openxmlformats.org/markup-compatibility/2006" xmlns:a14="http://schemas.microsoft.com/office/drawing/2010/main">
        <mc:Choice Requires="a14">
          <p:sp>
            <p:nvSpPr>
              <p:cNvPr id="336940" name="Object 44">
                <a:extLst>
                  <a:ext uri="{FF2B5EF4-FFF2-40B4-BE49-F238E27FC236}">
                    <a16:creationId xmlns:a16="http://schemas.microsoft.com/office/drawing/2014/main" id="{53C9477B-1321-F9A0-DF0F-A20137F2F798}"/>
                  </a:ext>
                </a:extLst>
              </p:cNvPr>
              <p:cNvSpPr txBox="1"/>
              <p:nvPr/>
            </p:nvSpPr>
            <p:spPr bwMode="auto">
              <a:xfrm>
                <a:off x="2483855" y="6059127"/>
                <a:ext cx="4264465" cy="75772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𝑌</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𝑝𝑞</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36940" name="Object 44">
                <a:extLst>
                  <a:ext uri="{FF2B5EF4-FFF2-40B4-BE49-F238E27FC236}">
                    <a16:creationId xmlns:a16="http://schemas.microsoft.com/office/drawing/2014/main" id="{53C9477B-1321-F9A0-DF0F-A20137F2F798}"/>
                  </a:ext>
                </a:extLst>
              </p:cNvPr>
              <p:cNvSpPr txBox="1">
                <a:spLocks noRot="1" noChangeAspect="1" noMove="1" noResize="1" noEditPoints="1" noAdjustHandles="1" noChangeArrowheads="1" noChangeShapeType="1" noTextEdit="1"/>
              </p:cNvSpPr>
              <p:nvPr/>
            </p:nvSpPr>
            <p:spPr bwMode="auto">
              <a:xfrm>
                <a:off x="2483855" y="6059127"/>
                <a:ext cx="4264465" cy="757727"/>
              </a:xfrm>
              <a:prstGeom prst="rect">
                <a:avLst/>
              </a:prstGeom>
              <a:blipFill>
                <a:blip r:embed="rId10"/>
                <a:stretch>
                  <a:fillRect l="-286"/>
                </a:stretch>
              </a:blipFill>
              <a:ln>
                <a:noFill/>
              </a:ln>
              <a:effectLst/>
            </p:spPr>
            <p:txBody>
              <a:bodyPr/>
              <a:lstStyle/>
              <a:p>
                <a:r>
                  <a:rPr lang="zh-CN" altLang="en-US">
                    <a:noFill/>
                  </a:rPr>
                  <a:t> </a:t>
                </a:r>
              </a:p>
            </p:txBody>
          </p:sp>
        </mc:Fallback>
      </mc:AlternateContent>
      <p:sp>
        <p:nvSpPr>
          <p:cNvPr id="20" name="Rectangle 2">
            <a:extLst>
              <a:ext uri="{FF2B5EF4-FFF2-40B4-BE49-F238E27FC236}">
                <a16:creationId xmlns:a16="http://schemas.microsoft.com/office/drawing/2014/main" id="{5208FA21-A4A3-3C19-A3FA-D2FE9805ABF6}"/>
              </a:ext>
            </a:extLst>
          </p:cNvPr>
          <p:cNvSpPr txBox="1">
            <a:spLocks noChangeArrowheads="1"/>
          </p:cNvSpPr>
          <p:nvPr/>
        </p:nvSpPr>
        <p:spPr>
          <a:xfrm>
            <a:off x="841375" y="301701"/>
            <a:ext cx="9961986" cy="609741"/>
          </a:xfrm>
          <a:prstGeom prst="rect">
            <a:avLst/>
          </a:prstGeom>
        </p:spPr>
        <p:txBody>
          <a:bodyPr vert="horz" lIns="121917" tIns="60958" rIns="121917" bIns="60958" rtlCol="0" anchor="ctr">
            <a:noAutofit/>
          </a:bodyPr>
          <a:lstStyle>
            <a:lvl1pPr algn="l" defTabSz="1219835" rtl="0" eaLnBrk="1" latinLnBrk="0" hangingPunct="1">
              <a:spcBef>
                <a:spcPct val="0"/>
              </a:spcBef>
              <a:buNone/>
              <a:defRPr sz="2400" b="1" kern="1200">
                <a:solidFill>
                  <a:schemeClr val="bg1"/>
                </a:solidFill>
                <a:latin typeface="+mj-lt"/>
                <a:ea typeface="+mj-ea"/>
                <a:cs typeface="+mj-cs"/>
              </a:defRPr>
            </a:lvl1pPr>
          </a:lstStyle>
          <a:p>
            <a:r>
              <a:rPr lang="zh-CN" altLang="en-US"/>
              <a:t>实例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36899">
                                            <p:txEl>
                                              <p:pRg st="0" end="0"/>
                                            </p:txEl>
                                          </p:spTgt>
                                        </p:tgtEl>
                                        <p:attrNameLst>
                                          <p:attrName>style.visibility</p:attrName>
                                        </p:attrNameLst>
                                      </p:cBhvr>
                                      <p:to>
                                        <p:strVal val="visible"/>
                                      </p:to>
                                    </p:set>
                                    <p:anim calcmode="lin" valueType="num">
                                      <p:cBhvr additive="base">
                                        <p:cTn id="7" dur="500" fill="hold"/>
                                        <p:tgtEl>
                                          <p:spTgt spid="336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6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336933"/>
                                        </p:tgtEl>
                                        <p:attrNameLst>
                                          <p:attrName>style.visibility</p:attrName>
                                        </p:attrNameLst>
                                      </p:cBhvr>
                                      <p:to>
                                        <p:strVal val="visible"/>
                                      </p:to>
                                    </p:set>
                                    <p:animEffect transition="in" filter="randombar(horizontal)">
                                      <p:cBhvr>
                                        <p:cTn id="13" dur="500"/>
                                        <p:tgtEl>
                                          <p:spTgt spid="336933"/>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36928"/>
                                        </p:tgtEl>
                                        <p:attrNameLst>
                                          <p:attrName>style.visibility</p:attrName>
                                        </p:attrNameLst>
                                      </p:cBhvr>
                                      <p:to>
                                        <p:strVal val="visible"/>
                                      </p:to>
                                    </p:set>
                                    <p:animEffect transition="in" filter="randombar(horizontal)">
                                      <p:cBhvr>
                                        <p:cTn id="16" dur="500"/>
                                        <p:tgtEl>
                                          <p:spTgt spid="336928"/>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336934"/>
                                        </p:tgtEl>
                                        <p:attrNameLst>
                                          <p:attrName>style.visibility</p:attrName>
                                        </p:attrNameLst>
                                      </p:cBhvr>
                                      <p:to>
                                        <p:strVal val="visible"/>
                                      </p:to>
                                    </p:set>
                                    <p:animEffect transition="in" filter="randombar(horizontal)">
                                      <p:cBhvr>
                                        <p:cTn id="21" dur="500"/>
                                        <p:tgtEl>
                                          <p:spTgt spid="336934"/>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336935"/>
                                        </p:tgtEl>
                                        <p:attrNameLst>
                                          <p:attrName>style.visibility</p:attrName>
                                        </p:attrNameLst>
                                      </p:cBhvr>
                                      <p:to>
                                        <p:strVal val="visible"/>
                                      </p:to>
                                    </p:set>
                                    <p:animEffect transition="in" filter="randombar(horizontal)">
                                      <p:cBhvr>
                                        <p:cTn id="26" dur="500"/>
                                        <p:tgtEl>
                                          <p:spTgt spid="336935"/>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6925">
                                            <p:txEl>
                                              <p:pRg st="0" end="0"/>
                                            </p:txEl>
                                          </p:spTgt>
                                        </p:tgtEl>
                                        <p:attrNameLst>
                                          <p:attrName>style.visibility</p:attrName>
                                        </p:attrNameLst>
                                      </p:cBhvr>
                                      <p:to>
                                        <p:strVal val="visible"/>
                                      </p:to>
                                    </p:set>
                                    <p:anim calcmode="lin" valueType="num">
                                      <p:cBhvr additive="base">
                                        <p:cTn id="31" dur="500" fill="hold"/>
                                        <p:tgtEl>
                                          <p:spTgt spid="33692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369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36931">
                                            <p:txEl>
                                              <p:pRg st="0" end="0"/>
                                            </p:txEl>
                                          </p:spTgt>
                                        </p:tgtEl>
                                        <p:attrNameLst>
                                          <p:attrName>style.visibility</p:attrName>
                                        </p:attrNameLst>
                                      </p:cBhvr>
                                      <p:to>
                                        <p:strVal val="visible"/>
                                      </p:to>
                                    </p:set>
                                    <p:animEffect transition="in" filter="randombar(horizontal)">
                                      <p:cBhvr>
                                        <p:cTn id="37" dur="500"/>
                                        <p:tgtEl>
                                          <p:spTgt spid="336931">
                                            <p:txEl>
                                              <p:pRg st="0" end="0"/>
                                            </p:txEl>
                                          </p:spTgt>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336936"/>
                                        </p:tgtEl>
                                        <p:attrNameLst>
                                          <p:attrName>style.visibility</p:attrName>
                                        </p:attrNameLst>
                                      </p:cBhvr>
                                      <p:to>
                                        <p:strVal val="visible"/>
                                      </p:to>
                                    </p:set>
                                    <p:animEffect transition="in" filter="randombar(horizontal)">
                                      <p:cBhvr>
                                        <p:cTn id="40" dur="500"/>
                                        <p:tgtEl>
                                          <p:spTgt spid="336936"/>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336937"/>
                                        </p:tgtEl>
                                        <p:attrNameLst>
                                          <p:attrName>style.visibility</p:attrName>
                                        </p:attrNameLst>
                                      </p:cBhvr>
                                      <p:to>
                                        <p:strVal val="visible"/>
                                      </p:to>
                                    </p:set>
                                    <p:animEffect transition="in" filter="randombar(horizontal)">
                                      <p:cBhvr>
                                        <p:cTn id="45" dur="500"/>
                                        <p:tgtEl>
                                          <p:spTgt spid="336937"/>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336938"/>
                                        </p:tgtEl>
                                        <p:attrNameLst>
                                          <p:attrName>style.visibility</p:attrName>
                                        </p:attrNameLst>
                                      </p:cBhvr>
                                      <p:to>
                                        <p:strVal val="visible"/>
                                      </p:to>
                                    </p:set>
                                    <p:animEffect transition="in" filter="randombar(horizontal)">
                                      <p:cBhvr>
                                        <p:cTn id="50" dur="500"/>
                                        <p:tgtEl>
                                          <p:spTgt spid="33693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36939">
                                            <p:txEl>
                                              <p:pRg st="0" end="0"/>
                                            </p:txEl>
                                          </p:spTgt>
                                        </p:tgtEl>
                                        <p:attrNameLst>
                                          <p:attrName>style.visibility</p:attrName>
                                        </p:attrNameLst>
                                      </p:cBhvr>
                                      <p:to>
                                        <p:strVal val="visible"/>
                                      </p:to>
                                    </p:set>
                                    <p:anim calcmode="lin" valueType="num">
                                      <p:cBhvr additive="base">
                                        <p:cTn id="55" dur="500" fill="hold"/>
                                        <p:tgtEl>
                                          <p:spTgt spid="336939">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36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336940"/>
                                        </p:tgtEl>
                                        <p:attrNameLst>
                                          <p:attrName>style.visibility</p:attrName>
                                        </p:attrNameLst>
                                      </p:cBhvr>
                                      <p:to>
                                        <p:strVal val="visible"/>
                                      </p:to>
                                    </p:set>
                                    <p:animEffect transition="in" filter="randombar(horizontal)">
                                      <p:cBhvr>
                                        <p:cTn id="61" dur="500"/>
                                        <p:tgtEl>
                                          <p:spTgt spid="336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9" grpId="0" build="p"/>
      <p:bldP spid="336925" grpId="0" build="p"/>
      <p:bldP spid="336928" grpId="0"/>
      <p:bldP spid="336931" grpId="0" build="p"/>
      <p:bldP spid="336933" grpId="0"/>
      <p:bldP spid="336934" grpId="0"/>
      <p:bldP spid="336935" grpId="0"/>
      <p:bldP spid="336936" grpId="0"/>
      <p:bldP spid="336937" grpId="0"/>
      <p:bldP spid="336938" grpId="0"/>
      <p:bldP spid="336939" grpId="0" build="p"/>
      <p:bldP spid="33694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2">
            <a:extLst>
              <a:ext uri="{FF2B5EF4-FFF2-40B4-BE49-F238E27FC236}">
                <a16:creationId xmlns:a16="http://schemas.microsoft.com/office/drawing/2014/main" id="{E0973409-5D8C-21B1-13E6-AD5EAA761525}"/>
              </a:ext>
            </a:extLst>
          </p:cNvPr>
          <p:cNvSpPr>
            <a:spLocks noGrp="1" noChangeArrowheads="1"/>
          </p:cNvSpPr>
          <p:nvPr>
            <p:ph type="title"/>
          </p:nvPr>
        </p:nvSpPr>
        <p:spPr/>
        <p:txBody>
          <a:bodyPr/>
          <a:lstStyle/>
          <a:p>
            <a:pPr eaLnBrk="1" hangingPunct="1"/>
            <a:r>
              <a:rPr lang="zh-CN" altLang="en-US"/>
              <a:t>独立增量过程的性质</a:t>
            </a:r>
          </a:p>
        </p:txBody>
      </p:sp>
      <p:sp>
        <p:nvSpPr>
          <p:cNvPr id="284675" name="Rectangle 3">
            <a:extLst>
              <a:ext uri="{FF2B5EF4-FFF2-40B4-BE49-F238E27FC236}">
                <a16:creationId xmlns:a16="http://schemas.microsoft.com/office/drawing/2014/main" id="{2BF66269-C0D9-58C3-750E-91A318FA46AE}"/>
              </a:ext>
            </a:extLst>
          </p:cNvPr>
          <p:cNvSpPr>
            <a:spLocks noGrp="1" noChangeArrowheads="1"/>
          </p:cNvSpPr>
          <p:nvPr>
            <p:ph type="body" idx="1"/>
          </p:nvPr>
        </p:nvSpPr>
        <p:spPr>
          <a:xfrm>
            <a:off x="508000" y="1829594"/>
            <a:ext cx="11201399" cy="4527011"/>
          </a:xfrm>
        </p:spPr>
        <p:txBody>
          <a:bodyPr>
            <a:normAutofit/>
          </a:bodyPr>
          <a:lstStyle/>
          <a:p>
            <a:pPr eaLnBrk="1" hangingPunct="1">
              <a:buClr>
                <a:srgbClr val="6600CC"/>
              </a:buClr>
            </a:pPr>
            <a:r>
              <a:rPr lang="zh-CN" altLang="en-US" dirty="0"/>
              <a:t>如果</a:t>
            </a:r>
            <a:r>
              <a:rPr lang="en-US" altLang="zh-CN" dirty="0"/>
              <a:t>{X(t),t</a:t>
            </a:r>
            <a:r>
              <a:rPr lang="en-US" altLang="zh-CN" dirty="0">
                <a:sym typeface="Symbol" panose="05050102010706020507" pitchFamily="18" charset="2"/>
              </a:rPr>
              <a:t>0}</a:t>
            </a:r>
            <a:r>
              <a:rPr lang="zh-CN" altLang="en-US" dirty="0">
                <a:sym typeface="Symbol" panose="05050102010706020507" pitchFamily="18" charset="2"/>
              </a:rPr>
              <a:t>是</a:t>
            </a:r>
            <a:r>
              <a:rPr lang="zh-CN" altLang="en-US" dirty="0"/>
              <a:t>平稳独立增量过程，</a:t>
            </a:r>
            <a:r>
              <a:rPr lang="en-US" altLang="zh-CN" dirty="0"/>
              <a:t>X(0)</a:t>
            </a:r>
            <a:r>
              <a:rPr lang="zh-CN" altLang="en-US" dirty="0"/>
              <a:t>＝</a:t>
            </a:r>
            <a:r>
              <a:rPr lang="en-US" altLang="zh-CN" dirty="0"/>
              <a:t>0</a:t>
            </a:r>
            <a:r>
              <a:rPr lang="zh-CN" altLang="en-US" dirty="0"/>
              <a:t>，则</a:t>
            </a:r>
          </a:p>
          <a:p>
            <a:pPr marL="990798" lvl="1" indent="-533507">
              <a:buFont typeface="Wingdings" panose="05000000000000000000" pitchFamily="2" charset="2"/>
              <a:buAutoNum type="arabicParenR"/>
            </a:pPr>
            <a:r>
              <a:rPr lang="zh-CN" altLang="en-US" dirty="0"/>
              <a:t>均值函数	</a:t>
            </a:r>
            <a:r>
              <a:rPr lang="en-US" altLang="zh-CN" dirty="0"/>
              <a:t>m(t)</a:t>
            </a:r>
            <a:r>
              <a:rPr lang="zh-CN" altLang="en-US" dirty="0"/>
              <a:t>＝</a:t>
            </a:r>
            <a:r>
              <a:rPr lang="en-US" altLang="zh-CN" dirty="0"/>
              <a:t>at</a:t>
            </a:r>
            <a:r>
              <a:rPr lang="zh-CN" altLang="en-US" dirty="0"/>
              <a:t>，</a:t>
            </a:r>
            <a:r>
              <a:rPr lang="en-US" altLang="zh-CN" dirty="0"/>
              <a:t>a</a:t>
            </a:r>
            <a:r>
              <a:rPr lang="zh-CN" altLang="en-US" dirty="0"/>
              <a:t>为常数；</a:t>
            </a:r>
          </a:p>
          <a:p>
            <a:pPr marL="990798" lvl="1" indent="-533507">
              <a:buFont typeface="Wingdings" panose="05000000000000000000" pitchFamily="2" charset="2"/>
              <a:buAutoNum type="arabicParenR"/>
            </a:pPr>
            <a:r>
              <a:rPr lang="zh-CN" altLang="en-US" dirty="0"/>
              <a:t>方差函数	</a:t>
            </a:r>
            <a:r>
              <a:rPr lang="en-US" altLang="zh-CN" dirty="0"/>
              <a:t>D(t)</a:t>
            </a:r>
            <a:r>
              <a:rPr lang="zh-CN" altLang="en-US" dirty="0"/>
              <a:t>＝</a:t>
            </a:r>
            <a:r>
              <a:rPr lang="zh-CN" altLang="en-US" dirty="0">
                <a:sym typeface="Symbol" panose="05050102010706020507" pitchFamily="18" charset="2"/>
              </a:rPr>
              <a:t></a:t>
            </a:r>
            <a:r>
              <a:rPr lang="en-US" altLang="zh-CN" baseline="30000" dirty="0">
                <a:sym typeface="Symbol" panose="05050102010706020507" pitchFamily="18" charset="2"/>
              </a:rPr>
              <a:t>2</a:t>
            </a:r>
            <a:r>
              <a:rPr lang="en-US" altLang="zh-CN" dirty="0">
                <a:sym typeface="Symbol" panose="05050102010706020507" pitchFamily="18" charset="2"/>
              </a:rPr>
              <a:t>t</a:t>
            </a:r>
            <a:r>
              <a:rPr lang="zh-CN" altLang="en-US" dirty="0">
                <a:sym typeface="Symbol" panose="05050102010706020507" pitchFamily="18" charset="2"/>
              </a:rPr>
              <a:t>，为正常数；</a:t>
            </a:r>
          </a:p>
          <a:p>
            <a:pPr marL="990798" lvl="1" indent="-533507">
              <a:buFont typeface="Wingdings" panose="05000000000000000000" pitchFamily="2" charset="2"/>
              <a:buAutoNum type="arabicParenR"/>
            </a:pPr>
            <a:r>
              <a:rPr lang="zh-CN" altLang="en-US" dirty="0">
                <a:sym typeface="Symbol" panose="05050102010706020507" pitchFamily="18" charset="2"/>
              </a:rPr>
              <a:t>协方差函数</a:t>
            </a:r>
            <a:r>
              <a:rPr lang="en-US" altLang="zh-CN" dirty="0">
                <a:sym typeface="Symbol" panose="05050102010706020507" pitchFamily="18" charset="2"/>
              </a:rPr>
              <a:t>C(</a:t>
            </a:r>
            <a:r>
              <a:rPr lang="en-US" altLang="zh-CN" dirty="0" err="1">
                <a:sym typeface="Symbol" panose="05050102010706020507" pitchFamily="18" charset="2"/>
              </a:rPr>
              <a:t>s,t</a:t>
            </a:r>
            <a:r>
              <a:rPr lang="en-US" altLang="zh-CN" dirty="0">
                <a:sym typeface="Symbol" panose="05050102010706020507" pitchFamily="18" charset="2"/>
              </a:rPr>
              <a:t>)</a:t>
            </a:r>
            <a:r>
              <a:rPr lang="zh-CN" altLang="en-US" dirty="0">
                <a:sym typeface="Symbol" panose="05050102010706020507" pitchFamily="18" charset="2"/>
              </a:rPr>
              <a:t>＝</a:t>
            </a:r>
            <a:r>
              <a:rPr lang="en-US" altLang="zh-CN" baseline="30000" dirty="0">
                <a:sym typeface="Symbol" panose="05050102010706020507" pitchFamily="18" charset="2"/>
              </a:rPr>
              <a:t>2</a:t>
            </a:r>
            <a:r>
              <a:rPr lang="en-US" altLang="zh-CN" dirty="0">
                <a:sym typeface="Symbol" panose="05050102010706020507" pitchFamily="18" charset="2"/>
              </a:rPr>
              <a:t>min(</a:t>
            </a:r>
            <a:r>
              <a:rPr lang="en-US" altLang="zh-CN" dirty="0" err="1">
                <a:sym typeface="Symbol" panose="05050102010706020507" pitchFamily="18" charset="2"/>
              </a:rPr>
              <a:t>s,t</a:t>
            </a:r>
            <a:r>
              <a:rPr lang="en-US" altLang="zh-CN" dirty="0">
                <a:sym typeface="Symbol" panose="05050102010706020507" pitchFamily="18" charset="2"/>
              </a:rPr>
              <a:t>)</a:t>
            </a:r>
            <a:r>
              <a:rPr lang="zh-CN" altLang="en-US" dirty="0">
                <a:sym typeface="Symbol" panose="05050102010706020507" pitchFamily="18" charset="2"/>
              </a:rPr>
              <a:t>。</a:t>
            </a:r>
            <a:endParaRPr lang="zh-CN" altLang="en-US" dirty="0"/>
          </a:p>
          <a:p>
            <a:pPr eaLnBrk="1" hangingPunct="1">
              <a:buClr>
                <a:srgbClr val="6600CC"/>
              </a:buClr>
            </a:pPr>
            <a:r>
              <a:rPr lang="zh-CN" altLang="en-US" dirty="0"/>
              <a:t>独立增量过程的有限维分布由一维分布和增量分布决定。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anim calcmode="lin" valueType="num">
                                      <p:cBhvr additive="base">
                                        <p:cTn id="7" dur="500" fill="hold"/>
                                        <p:tgtEl>
                                          <p:spTgt spid="284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4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4675">
                                            <p:txEl>
                                              <p:pRg st="1" end="1"/>
                                            </p:txEl>
                                          </p:spTgt>
                                        </p:tgtEl>
                                        <p:attrNameLst>
                                          <p:attrName>style.visibility</p:attrName>
                                        </p:attrNameLst>
                                      </p:cBhvr>
                                      <p:to>
                                        <p:strVal val="visible"/>
                                      </p:to>
                                    </p:set>
                                    <p:anim calcmode="lin" valueType="num">
                                      <p:cBhvr additive="base">
                                        <p:cTn id="13" dur="500" fill="hold"/>
                                        <p:tgtEl>
                                          <p:spTgt spid="284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4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4675">
                                            <p:txEl>
                                              <p:pRg st="2" end="2"/>
                                            </p:txEl>
                                          </p:spTgt>
                                        </p:tgtEl>
                                        <p:attrNameLst>
                                          <p:attrName>style.visibility</p:attrName>
                                        </p:attrNameLst>
                                      </p:cBhvr>
                                      <p:to>
                                        <p:strVal val="visible"/>
                                      </p:to>
                                    </p:set>
                                    <p:anim calcmode="lin" valueType="num">
                                      <p:cBhvr additive="base">
                                        <p:cTn id="19" dur="500" fill="hold"/>
                                        <p:tgtEl>
                                          <p:spTgt spid="284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4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4675">
                                            <p:txEl>
                                              <p:pRg st="3" end="3"/>
                                            </p:txEl>
                                          </p:spTgt>
                                        </p:tgtEl>
                                        <p:attrNameLst>
                                          <p:attrName>style.visibility</p:attrName>
                                        </p:attrNameLst>
                                      </p:cBhvr>
                                      <p:to>
                                        <p:strVal val="visible"/>
                                      </p:to>
                                    </p:set>
                                    <p:anim calcmode="lin" valueType="num">
                                      <p:cBhvr additive="base">
                                        <p:cTn id="25" dur="500" fill="hold"/>
                                        <p:tgtEl>
                                          <p:spTgt spid="284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46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nodeType="after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4675">
                                            <p:txEl>
                                              <p:pRg st="4" end="4"/>
                                            </p:txEl>
                                          </p:spTgt>
                                        </p:tgtEl>
                                        <p:attrNameLst>
                                          <p:attrName>style.visibility</p:attrName>
                                        </p:attrNameLst>
                                      </p:cBhvr>
                                      <p:to>
                                        <p:strVal val="visible"/>
                                      </p:to>
                                    </p:set>
                                    <p:anim calcmode="lin" valueType="num">
                                      <p:cBhvr additive="base">
                                        <p:cTn id="31" dur="500" fill="hold"/>
                                        <p:tgtEl>
                                          <p:spTgt spid="2846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46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build="p" bldLvl="2"/>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a:extLst>
              <a:ext uri="{FF2B5EF4-FFF2-40B4-BE49-F238E27FC236}">
                <a16:creationId xmlns:a16="http://schemas.microsoft.com/office/drawing/2014/main" id="{A7C8600C-3A0B-C2DA-09AB-3B24144015DE}"/>
              </a:ext>
            </a:extLst>
          </p:cNvPr>
          <p:cNvSpPr>
            <a:spLocks noGrp="1" noChangeArrowheads="1"/>
          </p:cNvSpPr>
          <p:nvPr>
            <p:ph type="title"/>
          </p:nvPr>
        </p:nvSpPr>
        <p:spPr/>
        <p:txBody>
          <a:bodyPr/>
          <a:lstStyle/>
          <a:p>
            <a:pPr algn="l" eaLnBrk="1" hangingPunct="1"/>
            <a:r>
              <a:rPr lang="zh-CN" altLang="en-US"/>
              <a:t>证明</a:t>
            </a:r>
          </a:p>
        </p:txBody>
      </p:sp>
      <p:sp>
        <p:nvSpPr>
          <p:cNvPr id="285699" name="Rectangle 3">
            <a:extLst>
              <a:ext uri="{FF2B5EF4-FFF2-40B4-BE49-F238E27FC236}">
                <a16:creationId xmlns:a16="http://schemas.microsoft.com/office/drawing/2014/main" id="{72815010-524C-0807-BCBF-5C6827701007}"/>
              </a:ext>
            </a:extLst>
          </p:cNvPr>
          <p:cNvSpPr>
            <a:spLocks noGrp="1" noChangeArrowheads="1"/>
          </p:cNvSpPr>
          <p:nvPr>
            <p:ph type="body" idx="1"/>
          </p:nvPr>
        </p:nvSpPr>
        <p:spPr>
          <a:xfrm>
            <a:off x="762441" y="915194"/>
            <a:ext cx="9908733" cy="5341498"/>
          </a:xfrm>
        </p:spPr>
        <p:txBody>
          <a:bodyPr>
            <a:normAutofit lnSpcReduction="10000"/>
          </a:bodyPr>
          <a:lstStyle/>
          <a:p>
            <a:pPr eaLnBrk="1" hangingPunct="1">
              <a:spcAft>
                <a:spcPct val="40000"/>
              </a:spcAft>
              <a:buClr>
                <a:srgbClr val="6600CC"/>
              </a:buClr>
            </a:pPr>
            <a:r>
              <a:rPr lang="en-US" altLang="zh-CN" dirty="0">
                <a:solidFill>
                  <a:srgbClr val="CC00CC"/>
                </a:solidFill>
              </a:rPr>
              <a:t>1</a:t>
            </a:r>
            <a:r>
              <a:rPr lang="zh-CN" altLang="en-US" dirty="0">
                <a:solidFill>
                  <a:srgbClr val="CC00CC"/>
                </a:solidFill>
              </a:rPr>
              <a:t>）</a:t>
            </a:r>
            <a:r>
              <a:rPr lang="zh-CN" altLang="en-US" dirty="0"/>
              <a:t>设</a:t>
            </a:r>
            <a:r>
              <a:rPr lang="en-US" altLang="zh-CN" dirty="0"/>
              <a:t>m(t)</a:t>
            </a:r>
            <a:r>
              <a:rPr lang="zh-CN" altLang="en-US" dirty="0"/>
              <a:t>＝</a:t>
            </a:r>
            <a:r>
              <a:rPr lang="en-US" altLang="zh-CN" dirty="0"/>
              <a:t>E[X(t)]</a:t>
            </a:r>
            <a:r>
              <a:rPr lang="zh-CN" altLang="en-US" dirty="0"/>
              <a:t>，则</a:t>
            </a:r>
          </a:p>
          <a:p>
            <a:pPr eaLnBrk="1" hangingPunct="1">
              <a:spcAft>
                <a:spcPct val="40000"/>
              </a:spcAft>
              <a:buFont typeface="Wingdings" panose="05000000000000000000" pitchFamily="2" charset="2"/>
              <a:buNone/>
            </a:pPr>
            <a:r>
              <a:rPr lang="zh-CN" altLang="en-US" dirty="0"/>
              <a:t>	</a:t>
            </a:r>
            <a:r>
              <a:rPr lang="en-US" altLang="zh-CN" dirty="0"/>
              <a:t>m(</a:t>
            </a:r>
            <a:r>
              <a:rPr lang="en-US" altLang="zh-CN" dirty="0" err="1"/>
              <a:t>t+s</a:t>
            </a:r>
            <a:r>
              <a:rPr lang="en-US" altLang="zh-CN" dirty="0"/>
              <a:t>)</a:t>
            </a:r>
            <a:r>
              <a:rPr lang="zh-CN" altLang="en-US" dirty="0"/>
              <a:t>＝</a:t>
            </a:r>
            <a:r>
              <a:rPr lang="en-US" altLang="zh-CN" dirty="0"/>
              <a:t>E[X(</a:t>
            </a:r>
            <a:r>
              <a:rPr lang="en-US" altLang="zh-CN" dirty="0" err="1"/>
              <a:t>t+s</a:t>
            </a:r>
            <a:r>
              <a:rPr lang="en-US" altLang="zh-CN" dirty="0"/>
              <a:t>)]</a:t>
            </a:r>
          </a:p>
          <a:p>
            <a:pPr eaLnBrk="1" hangingPunct="1">
              <a:spcAft>
                <a:spcPct val="40000"/>
              </a:spcAft>
              <a:buFont typeface="Wingdings" panose="05000000000000000000" pitchFamily="2" charset="2"/>
              <a:buNone/>
            </a:pPr>
            <a:r>
              <a:rPr lang="en-US" altLang="zh-CN" dirty="0"/>
              <a:t>		</a:t>
            </a:r>
            <a:r>
              <a:rPr lang="zh-CN" altLang="en-US" dirty="0"/>
              <a:t>＝</a:t>
            </a:r>
            <a:r>
              <a:rPr lang="en-US" altLang="zh-CN" dirty="0"/>
              <a:t>E[X(</a:t>
            </a:r>
            <a:r>
              <a:rPr lang="en-US" altLang="zh-CN" dirty="0" err="1"/>
              <a:t>t+s</a:t>
            </a:r>
            <a:r>
              <a:rPr lang="en-US" altLang="zh-CN" dirty="0"/>
              <a:t>)-X(s)+X(s)-X(0)]</a:t>
            </a:r>
          </a:p>
          <a:p>
            <a:pPr eaLnBrk="1" hangingPunct="1">
              <a:spcAft>
                <a:spcPct val="40000"/>
              </a:spcAft>
              <a:buFont typeface="Wingdings" panose="05000000000000000000" pitchFamily="2" charset="2"/>
              <a:buNone/>
            </a:pPr>
            <a:r>
              <a:rPr lang="en-US" altLang="zh-CN" dirty="0"/>
              <a:t>		</a:t>
            </a:r>
            <a:r>
              <a:rPr lang="zh-CN" altLang="en-US" dirty="0"/>
              <a:t>＝</a:t>
            </a:r>
            <a:r>
              <a:rPr lang="en-US" altLang="zh-CN" dirty="0"/>
              <a:t>E[X(</a:t>
            </a:r>
            <a:r>
              <a:rPr lang="en-US" altLang="zh-CN" dirty="0" err="1"/>
              <a:t>t+s</a:t>
            </a:r>
            <a:r>
              <a:rPr lang="en-US" altLang="zh-CN" dirty="0"/>
              <a:t>)-X(s)]+E[X(s)-X(0)]</a:t>
            </a:r>
          </a:p>
          <a:p>
            <a:pPr eaLnBrk="1" hangingPunct="1">
              <a:spcAft>
                <a:spcPct val="40000"/>
              </a:spcAft>
              <a:buFont typeface="Wingdings" panose="05000000000000000000" pitchFamily="2" charset="2"/>
              <a:buNone/>
            </a:pPr>
            <a:r>
              <a:rPr lang="en-US" altLang="zh-CN" dirty="0"/>
              <a:t>		</a:t>
            </a:r>
            <a:r>
              <a:rPr lang="zh-CN" altLang="en-US" dirty="0"/>
              <a:t>＝</a:t>
            </a:r>
            <a:r>
              <a:rPr lang="en-US" altLang="zh-CN" dirty="0"/>
              <a:t>E[X(t)]+E[X(s)]</a:t>
            </a:r>
          </a:p>
          <a:p>
            <a:pPr eaLnBrk="1" hangingPunct="1">
              <a:spcAft>
                <a:spcPct val="40000"/>
              </a:spcAft>
              <a:buFont typeface="Wingdings" panose="05000000000000000000" pitchFamily="2" charset="2"/>
              <a:buNone/>
            </a:pPr>
            <a:r>
              <a:rPr lang="en-US" altLang="zh-CN" dirty="0"/>
              <a:t>		</a:t>
            </a:r>
            <a:r>
              <a:rPr lang="zh-CN" altLang="en-US" dirty="0"/>
              <a:t>＝</a:t>
            </a:r>
            <a:r>
              <a:rPr lang="en-US" altLang="zh-CN" dirty="0"/>
              <a:t>m(t)+m(s)</a:t>
            </a:r>
          </a:p>
          <a:p>
            <a:pPr eaLnBrk="1" hangingPunct="1">
              <a:spcAft>
                <a:spcPct val="40000"/>
              </a:spcAft>
              <a:buFont typeface="Wingdings" panose="05000000000000000000" pitchFamily="2" charset="2"/>
              <a:buNone/>
            </a:pPr>
            <a:r>
              <a:rPr lang="en-US" altLang="zh-CN" dirty="0"/>
              <a:t>	</a:t>
            </a:r>
            <a:r>
              <a:rPr lang="zh-CN" altLang="en-US" dirty="0"/>
              <a:t>由数学分析知识知：</a:t>
            </a:r>
          </a:p>
          <a:p>
            <a:pPr eaLnBrk="1" hangingPunct="1">
              <a:spcAft>
                <a:spcPct val="40000"/>
              </a:spcAft>
              <a:buFont typeface="Wingdings" panose="05000000000000000000" pitchFamily="2" charset="2"/>
              <a:buNone/>
            </a:pPr>
            <a:r>
              <a:rPr lang="zh-CN" altLang="en-US" dirty="0"/>
              <a:t>	</a:t>
            </a:r>
            <a:r>
              <a:rPr lang="en-US" altLang="zh-CN" dirty="0"/>
              <a:t>m(t)</a:t>
            </a:r>
            <a:r>
              <a:rPr lang="zh-CN" altLang="en-US" dirty="0"/>
              <a:t>＝</a:t>
            </a:r>
            <a:r>
              <a:rPr lang="en-US" altLang="zh-CN" dirty="0"/>
              <a:t>at</a:t>
            </a:r>
            <a:r>
              <a:rPr lang="zh-CN" altLang="en-US" dirty="0"/>
              <a:t>，其中常数</a:t>
            </a:r>
            <a:r>
              <a:rPr lang="en-US" altLang="zh-CN" dirty="0"/>
              <a:t>a</a:t>
            </a:r>
            <a:r>
              <a:rPr lang="zh-CN" altLang="en-US" dirty="0"/>
              <a:t>＝</a:t>
            </a:r>
            <a:r>
              <a:rPr lang="en-US" altLang="zh-CN" dirty="0"/>
              <a:t>m(1)</a:t>
            </a:r>
            <a:r>
              <a:rPr lang="zh-CN" altLang="en-US" dirty="0"/>
              <a:t>。</a:t>
            </a:r>
          </a:p>
        </p:txBody>
      </p:sp>
      <p:sp>
        <p:nvSpPr>
          <p:cNvPr id="285703" name="AutoShape 7">
            <a:extLst>
              <a:ext uri="{FF2B5EF4-FFF2-40B4-BE49-F238E27FC236}">
                <a16:creationId xmlns:a16="http://schemas.microsoft.com/office/drawing/2014/main" id="{DB5EABA3-108E-7F6D-3E07-314224FA364B}"/>
              </a:ext>
            </a:extLst>
          </p:cNvPr>
          <p:cNvSpPr>
            <a:spLocks noChangeArrowheads="1"/>
          </p:cNvSpPr>
          <p:nvPr/>
        </p:nvSpPr>
        <p:spPr bwMode="auto">
          <a:xfrm>
            <a:off x="4956175" y="4420394"/>
            <a:ext cx="7010400" cy="762000"/>
          </a:xfrm>
          <a:prstGeom prst="wedgeRectCallout">
            <a:avLst>
              <a:gd name="adj1" fmla="val -73891"/>
              <a:gd name="adj2" fmla="val 50962"/>
            </a:avLst>
          </a:prstGeom>
          <a:solidFill>
            <a:schemeClr val="accent1"/>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1" b="1" dirty="0">
                <a:solidFill>
                  <a:srgbClr val="FFFF00"/>
                </a:solidFill>
                <a:ea typeface="黑体" panose="02010609060101010101" pitchFamily="49" charset="-122"/>
              </a:rPr>
              <a:t>f(x)</a:t>
            </a:r>
            <a:r>
              <a:rPr lang="zh-CN" altLang="en-US" sz="2801" b="1" dirty="0">
                <a:solidFill>
                  <a:srgbClr val="FFFF00"/>
                </a:solidFill>
                <a:ea typeface="黑体" panose="02010609060101010101" pitchFamily="49" charset="-122"/>
              </a:rPr>
              <a:t>连续，若</a:t>
            </a:r>
            <a:r>
              <a:rPr lang="en-US" altLang="zh-CN" sz="2801" b="1" dirty="0">
                <a:solidFill>
                  <a:srgbClr val="FFFF00"/>
                </a:solidFill>
                <a:ea typeface="黑体" panose="02010609060101010101" pitchFamily="49" charset="-122"/>
              </a:rPr>
              <a:t>f(</a:t>
            </a:r>
            <a:r>
              <a:rPr lang="en-US" altLang="zh-CN" sz="2801" b="1" dirty="0" err="1">
                <a:solidFill>
                  <a:srgbClr val="FFFF00"/>
                </a:solidFill>
                <a:ea typeface="黑体" panose="02010609060101010101" pitchFamily="49" charset="-122"/>
              </a:rPr>
              <a:t>x+y</a:t>
            </a:r>
            <a:r>
              <a:rPr lang="en-US" altLang="zh-CN" sz="2801" b="1" dirty="0">
                <a:solidFill>
                  <a:srgbClr val="FFFF00"/>
                </a:solidFill>
                <a:ea typeface="黑体" panose="02010609060101010101" pitchFamily="49" charset="-122"/>
              </a:rPr>
              <a:t>) = f(x)+f(y)</a:t>
            </a:r>
            <a:r>
              <a:rPr lang="zh-CN" altLang="en-US" sz="2801" b="1" dirty="0">
                <a:solidFill>
                  <a:srgbClr val="FFFF00"/>
                </a:solidFill>
                <a:ea typeface="黑体" panose="02010609060101010101" pitchFamily="49" charset="-122"/>
              </a:rPr>
              <a:t>，则</a:t>
            </a:r>
            <a:r>
              <a:rPr lang="en-US" altLang="zh-CN" sz="2801" b="1" dirty="0">
                <a:solidFill>
                  <a:srgbClr val="FFFF00"/>
                </a:solidFill>
                <a:ea typeface="黑体" panose="02010609060101010101" pitchFamily="49" charset="-122"/>
              </a:rPr>
              <a:t>f(x) = </a:t>
            </a:r>
            <a:r>
              <a:rPr lang="en-US" altLang="zh-CN" sz="2801" b="1" dirty="0" err="1">
                <a:solidFill>
                  <a:srgbClr val="FFFF00"/>
                </a:solidFill>
                <a:ea typeface="黑体" panose="02010609060101010101" pitchFamily="49" charset="-122"/>
              </a:rPr>
              <a:t>kx</a:t>
            </a:r>
            <a:r>
              <a:rPr lang="zh-CN" altLang="en-US" sz="2801" b="1" dirty="0">
                <a:solidFill>
                  <a:srgbClr val="FFFF00"/>
                </a:solidFill>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5699">
                                            <p:txEl>
                                              <p:pRg st="0" end="0"/>
                                            </p:txEl>
                                          </p:spTgt>
                                        </p:tgtEl>
                                        <p:attrNameLst>
                                          <p:attrName>style.visibility</p:attrName>
                                        </p:attrNameLst>
                                      </p:cBhvr>
                                      <p:to>
                                        <p:strVal val="visible"/>
                                      </p:to>
                                    </p:set>
                                    <p:anim calcmode="lin" valueType="num">
                                      <p:cBhvr additive="base">
                                        <p:cTn id="7" dur="500" fill="hold"/>
                                        <p:tgtEl>
                                          <p:spTgt spid="285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5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5699">
                                            <p:txEl>
                                              <p:pRg st="1" end="1"/>
                                            </p:txEl>
                                          </p:spTgt>
                                        </p:tgtEl>
                                        <p:attrNameLst>
                                          <p:attrName>style.visibility</p:attrName>
                                        </p:attrNameLst>
                                      </p:cBhvr>
                                      <p:to>
                                        <p:strVal val="visible"/>
                                      </p:to>
                                    </p:set>
                                    <p:anim calcmode="lin" valueType="num">
                                      <p:cBhvr additive="base">
                                        <p:cTn id="13" dur="500" fill="hold"/>
                                        <p:tgtEl>
                                          <p:spTgt spid="285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5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5699">
                                            <p:txEl>
                                              <p:pRg st="2" end="2"/>
                                            </p:txEl>
                                          </p:spTgt>
                                        </p:tgtEl>
                                        <p:attrNameLst>
                                          <p:attrName>style.visibility</p:attrName>
                                        </p:attrNameLst>
                                      </p:cBhvr>
                                      <p:to>
                                        <p:strVal val="visible"/>
                                      </p:to>
                                    </p:set>
                                    <p:anim calcmode="lin" valueType="num">
                                      <p:cBhvr additive="base">
                                        <p:cTn id="19" dur="500" fill="hold"/>
                                        <p:tgtEl>
                                          <p:spTgt spid="2856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5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5699">
                                            <p:txEl>
                                              <p:pRg st="3" end="3"/>
                                            </p:txEl>
                                          </p:spTgt>
                                        </p:tgtEl>
                                        <p:attrNameLst>
                                          <p:attrName>style.visibility</p:attrName>
                                        </p:attrNameLst>
                                      </p:cBhvr>
                                      <p:to>
                                        <p:strVal val="visible"/>
                                      </p:to>
                                    </p:set>
                                    <p:anim calcmode="lin" valueType="num">
                                      <p:cBhvr additive="base">
                                        <p:cTn id="25" dur="500" fill="hold"/>
                                        <p:tgtEl>
                                          <p:spTgt spid="2856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56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5699">
                                            <p:txEl>
                                              <p:pRg st="4" end="4"/>
                                            </p:txEl>
                                          </p:spTgt>
                                        </p:tgtEl>
                                        <p:attrNameLst>
                                          <p:attrName>style.visibility</p:attrName>
                                        </p:attrNameLst>
                                      </p:cBhvr>
                                      <p:to>
                                        <p:strVal val="visible"/>
                                      </p:to>
                                    </p:set>
                                    <p:anim calcmode="lin" valueType="num">
                                      <p:cBhvr additive="base">
                                        <p:cTn id="31" dur="500" fill="hold"/>
                                        <p:tgtEl>
                                          <p:spTgt spid="2856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5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5699">
                                            <p:txEl>
                                              <p:pRg st="5" end="5"/>
                                            </p:txEl>
                                          </p:spTgt>
                                        </p:tgtEl>
                                        <p:attrNameLst>
                                          <p:attrName>style.visibility</p:attrName>
                                        </p:attrNameLst>
                                      </p:cBhvr>
                                      <p:to>
                                        <p:strVal val="visible"/>
                                      </p:to>
                                    </p:set>
                                    <p:anim calcmode="lin" valueType="num">
                                      <p:cBhvr additive="base">
                                        <p:cTn id="37" dur="500" fill="hold"/>
                                        <p:tgtEl>
                                          <p:spTgt spid="28569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56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85699">
                                            <p:txEl>
                                              <p:pRg st="6" end="6"/>
                                            </p:txEl>
                                          </p:spTgt>
                                        </p:tgtEl>
                                        <p:attrNameLst>
                                          <p:attrName>style.visibility</p:attrName>
                                        </p:attrNameLst>
                                      </p:cBhvr>
                                      <p:to>
                                        <p:strVal val="visible"/>
                                      </p:to>
                                    </p:set>
                                    <p:anim calcmode="lin" valueType="num">
                                      <p:cBhvr additive="base">
                                        <p:cTn id="43" dur="500" fill="hold"/>
                                        <p:tgtEl>
                                          <p:spTgt spid="28569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5699">
                                            <p:txEl>
                                              <p:pRg st="6" end="6"/>
                                            </p:txEl>
                                          </p:spTgt>
                                        </p:tgtEl>
                                        <p:attrNameLst>
                                          <p:attrName>ppt_y</p:attrName>
                                        </p:attrNameLst>
                                      </p:cBhvr>
                                      <p:tavLst>
                                        <p:tav tm="0">
                                          <p:val>
                                            <p:strVal val="1+#ppt_h/2"/>
                                          </p:val>
                                        </p:tav>
                                        <p:tav tm="100000">
                                          <p:val>
                                            <p:strVal val="#ppt_y"/>
                                          </p:val>
                                        </p:tav>
                                      </p:tavLst>
                                    </p:anim>
                                  </p:childTnLst>
                                </p:cTn>
                              </p:par>
                            </p:childTnLst>
                          </p:cTn>
                        </p:par>
                        <p:par>
                          <p:cTn id="45" fill="hold" nodeType="afterGroup">
                            <p:stCondLst>
                              <p:cond delay="500"/>
                            </p:stCondLst>
                            <p:childTnLst>
                              <p:par>
                                <p:cTn id="46" presetID="48" presetClass="entr" presetSubtype="0" accel="50000" fill="hold" grpId="0" nodeType="afterEffect">
                                  <p:stCondLst>
                                    <p:cond delay="0"/>
                                  </p:stCondLst>
                                  <p:childTnLst>
                                    <p:set>
                                      <p:cBhvr>
                                        <p:cTn id="47" dur="1" fill="hold">
                                          <p:stCondLst>
                                            <p:cond delay="0"/>
                                          </p:stCondLst>
                                        </p:cTn>
                                        <p:tgtEl>
                                          <p:spTgt spid="285703"/>
                                        </p:tgtEl>
                                        <p:attrNameLst>
                                          <p:attrName>style.visibility</p:attrName>
                                        </p:attrNameLst>
                                      </p:cBhvr>
                                      <p:to>
                                        <p:strVal val="visible"/>
                                      </p:to>
                                    </p:set>
                                    <p:anim calcmode="lin" valueType="num">
                                      <p:cBhvr>
                                        <p:cTn id="48" dur="1000" fill="hold"/>
                                        <p:tgtEl>
                                          <p:spTgt spid="28570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49" dur="1000" fill="hold"/>
                                        <p:tgtEl>
                                          <p:spTgt spid="285703"/>
                                        </p:tgtEl>
                                        <p:attrNameLst>
                                          <p:attrName>ppt_x</p:attrName>
                                        </p:attrNameLst>
                                      </p:cBhvr>
                                      <p:tavLst>
                                        <p:tav tm="0">
                                          <p:val>
                                            <p:fltVal val="-1"/>
                                          </p:val>
                                        </p:tav>
                                        <p:tav tm="50000">
                                          <p:val>
                                            <p:fltVal val="0.95"/>
                                          </p:val>
                                        </p:tav>
                                        <p:tav tm="100000">
                                          <p:val>
                                            <p:strVal val="#ppt_x"/>
                                          </p:val>
                                        </p:tav>
                                      </p:tavLst>
                                    </p:anim>
                                    <p:anim calcmode="lin" valueType="num">
                                      <p:cBhvr>
                                        <p:cTn id="50" dur="1000" fill="hold"/>
                                        <p:tgtEl>
                                          <p:spTgt spid="285703"/>
                                        </p:tgtEl>
                                        <p:attrNameLst>
                                          <p:attrName>ppt_y</p:attrName>
                                        </p:attrNameLst>
                                      </p:cBhvr>
                                      <p:tavLst>
                                        <p:tav tm="0">
                                          <p:val>
                                            <p:strVal val="#ppt_y"/>
                                          </p:val>
                                        </p:tav>
                                        <p:tav tm="100000">
                                          <p:val>
                                            <p:strVal val="#ppt_y"/>
                                          </p:val>
                                        </p:tav>
                                      </p:tavLst>
                                    </p:anim>
                                    <p:animEffect transition="in" filter="fade">
                                      <p:cBhvr>
                                        <p:cTn id="51" dur="1000"/>
                                        <p:tgtEl>
                                          <p:spTgt spid="28570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285699">
                                            <p:txEl>
                                              <p:pRg st="7" end="7"/>
                                            </p:txEl>
                                          </p:spTgt>
                                        </p:tgtEl>
                                        <p:attrNameLst>
                                          <p:attrName>style.visibility</p:attrName>
                                        </p:attrNameLst>
                                      </p:cBhvr>
                                      <p:to>
                                        <p:strVal val="visible"/>
                                      </p:to>
                                    </p:set>
                                    <p:anim calcmode="lin" valueType="num">
                                      <p:cBhvr additive="base">
                                        <p:cTn id="56" dur="500" fill="hold"/>
                                        <p:tgtEl>
                                          <p:spTgt spid="285699">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85699">
                                            <p:txEl>
                                              <p:pRg st="7" end="7"/>
                                            </p:txEl>
                                          </p:spTgt>
                                        </p:tgtEl>
                                        <p:attrNameLst>
                                          <p:attrName>ppt_y</p:attrName>
                                        </p:attrNameLst>
                                      </p:cBhvr>
                                      <p:tavLst>
                                        <p:tav tm="0">
                                          <p:val>
                                            <p:strVal val="1+#ppt_h/2"/>
                                          </p:val>
                                        </p:tav>
                                        <p:tav tm="100000">
                                          <p:val>
                                            <p:strVal val="#ppt_y"/>
                                          </p:val>
                                        </p:tav>
                                      </p:tavLst>
                                    </p:anim>
                                  </p:childTnLst>
                                </p:cTn>
                              </p:par>
                              <p:par>
                                <p:cTn id="58" presetID="2" presetClass="exit" presetSubtype="3" fill="hold" grpId="1" nodeType="withEffect">
                                  <p:stCondLst>
                                    <p:cond delay="0"/>
                                  </p:stCondLst>
                                  <p:childTnLst>
                                    <p:anim calcmode="lin" valueType="num">
                                      <p:cBhvr additive="base">
                                        <p:cTn id="59" dur="500"/>
                                        <p:tgtEl>
                                          <p:spTgt spid="285703"/>
                                        </p:tgtEl>
                                        <p:attrNameLst>
                                          <p:attrName>ppt_x</p:attrName>
                                        </p:attrNameLst>
                                      </p:cBhvr>
                                      <p:tavLst>
                                        <p:tav tm="0">
                                          <p:val>
                                            <p:strVal val="ppt_x"/>
                                          </p:val>
                                        </p:tav>
                                        <p:tav tm="100000">
                                          <p:val>
                                            <p:strVal val="1+ppt_w/2"/>
                                          </p:val>
                                        </p:tav>
                                      </p:tavLst>
                                    </p:anim>
                                    <p:anim calcmode="lin" valueType="num">
                                      <p:cBhvr additive="base">
                                        <p:cTn id="60" dur="500"/>
                                        <p:tgtEl>
                                          <p:spTgt spid="285703"/>
                                        </p:tgtEl>
                                        <p:attrNameLst>
                                          <p:attrName>ppt_y</p:attrName>
                                        </p:attrNameLst>
                                      </p:cBhvr>
                                      <p:tavLst>
                                        <p:tav tm="0">
                                          <p:val>
                                            <p:strVal val="ppt_y"/>
                                          </p:val>
                                        </p:tav>
                                        <p:tav tm="100000">
                                          <p:val>
                                            <p:strVal val="0-ppt_h/2"/>
                                          </p:val>
                                        </p:tav>
                                      </p:tavLst>
                                    </p:anim>
                                    <p:set>
                                      <p:cBhvr>
                                        <p:cTn id="61" dur="1" fill="hold">
                                          <p:stCondLst>
                                            <p:cond delay="499"/>
                                          </p:stCondLst>
                                        </p:cTn>
                                        <p:tgtEl>
                                          <p:spTgt spid="2857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uiExpand="1" build="p"/>
      <p:bldP spid="285703" grpId="0" animBg="1"/>
      <p:bldP spid="285703"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2">
            <a:extLst>
              <a:ext uri="{FF2B5EF4-FFF2-40B4-BE49-F238E27FC236}">
                <a16:creationId xmlns:a16="http://schemas.microsoft.com/office/drawing/2014/main" id="{26EBB1D1-17A6-73F0-D0EA-FB4E6B30BACB}"/>
              </a:ext>
            </a:extLst>
          </p:cNvPr>
          <p:cNvSpPr>
            <a:spLocks noGrp="1" noChangeArrowheads="1"/>
          </p:cNvSpPr>
          <p:nvPr>
            <p:ph type="title"/>
          </p:nvPr>
        </p:nvSpPr>
        <p:spPr/>
        <p:txBody>
          <a:bodyPr/>
          <a:lstStyle/>
          <a:p>
            <a:pPr algn="l" eaLnBrk="1" hangingPunct="1"/>
            <a:r>
              <a:rPr lang="zh-CN" altLang="en-US"/>
              <a:t>证明</a:t>
            </a:r>
            <a:r>
              <a:rPr lang="en-US" altLang="zh-CN"/>
              <a:t>(</a:t>
            </a:r>
            <a:r>
              <a:rPr lang="zh-CN" altLang="en-US"/>
              <a:t>续</a:t>
            </a:r>
            <a:r>
              <a:rPr lang="en-US" altLang="zh-CN"/>
              <a:t>1)</a:t>
            </a:r>
          </a:p>
        </p:txBody>
      </p:sp>
      <p:sp>
        <p:nvSpPr>
          <p:cNvPr id="310275" name="Rectangle 3">
            <a:extLst>
              <a:ext uri="{FF2B5EF4-FFF2-40B4-BE49-F238E27FC236}">
                <a16:creationId xmlns:a16="http://schemas.microsoft.com/office/drawing/2014/main" id="{9B4E7463-8894-094B-8D2F-B0B259775B72}"/>
              </a:ext>
            </a:extLst>
          </p:cNvPr>
          <p:cNvSpPr>
            <a:spLocks noGrp="1" noChangeArrowheads="1"/>
          </p:cNvSpPr>
          <p:nvPr>
            <p:ph type="body" idx="1"/>
          </p:nvPr>
        </p:nvSpPr>
        <p:spPr>
          <a:xfrm>
            <a:off x="774699" y="1120982"/>
            <a:ext cx="10429876" cy="4975812"/>
          </a:xfrm>
        </p:spPr>
        <p:txBody>
          <a:bodyPr/>
          <a:lstStyle/>
          <a:p>
            <a:pPr eaLnBrk="1" hangingPunct="1">
              <a:buClrTx/>
              <a:buFontTx/>
              <a:buNone/>
            </a:pPr>
            <a:r>
              <a:rPr lang="en-US" altLang="zh-CN" dirty="0">
                <a:solidFill>
                  <a:srgbClr val="CC00CC"/>
                </a:solidFill>
              </a:rPr>
              <a:t>2</a:t>
            </a:r>
            <a:r>
              <a:rPr lang="zh-CN" altLang="en-US" dirty="0">
                <a:solidFill>
                  <a:srgbClr val="CC00CC"/>
                </a:solidFill>
              </a:rPr>
              <a:t>）</a:t>
            </a:r>
            <a:r>
              <a:rPr lang="zh-CN" altLang="en-US" dirty="0"/>
              <a:t>设</a:t>
            </a:r>
            <a:r>
              <a:rPr lang="en-US" altLang="zh-CN" dirty="0"/>
              <a:t>D(t)</a:t>
            </a:r>
            <a:r>
              <a:rPr lang="zh-CN" altLang="en-US" dirty="0"/>
              <a:t>＝</a:t>
            </a:r>
            <a:r>
              <a:rPr lang="en-US" altLang="zh-CN" dirty="0"/>
              <a:t>D[X(t)]</a:t>
            </a:r>
            <a:r>
              <a:rPr lang="zh-CN" altLang="en-US" dirty="0"/>
              <a:t>，则</a:t>
            </a:r>
          </a:p>
          <a:p>
            <a:pPr eaLnBrk="1" hangingPunct="1">
              <a:buFont typeface="Wingdings" panose="05000000000000000000" pitchFamily="2" charset="2"/>
              <a:buNone/>
            </a:pPr>
            <a:r>
              <a:rPr lang="zh-CN" altLang="en-US" dirty="0"/>
              <a:t>	</a:t>
            </a:r>
            <a:r>
              <a:rPr lang="en-US" altLang="zh-CN" dirty="0"/>
              <a:t>D(</a:t>
            </a:r>
            <a:r>
              <a:rPr lang="en-US" altLang="zh-CN" dirty="0" err="1"/>
              <a:t>t+s</a:t>
            </a:r>
            <a:r>
              <a:rPr lang="en-US" altLang="zh-CN" dirty="0"/>
              <a:t>)</a:t>
            </a:r>
            <a:r>
              <a:rPr lang="zh-CN" altLang="en-US" dirty="0"/>
              <a:t>＝</a:t>
            </a:r>
            <a:r>
              <a:rPr lang="en-US" altLang="zh-CN" dirty="0"/>
              <a:t>D[X(</a:t>
            </a:r>
            <a:r>
              <a:rPr lang="en-US" altLang="zh-CN" dirty="0" err="1"/>
              <a:t>t+s</a:t>
            </a:r>
            <a:r>
              <a:rPr lang="en-US" altLang="zh-CN" dirty="0"/>
              <a:t>)]</a:t>
            </a:r>
          </a:p>
          <a:p>
            <a:pPr eaLnBrk="1" hangingPunct="1">
              <a:buFont typeface="Wingdings" panose="05000000000000000000" pitchFamily="2" charset="2"/>
              <a:buNone/>
            </a:pPr>
            <a:r>
              <a:rPr lang="en-US" altLang="zh-CN" dirty="0"/>
              <a:t>		</a:t>
            </a:r>
            <a:r>
              <a:rPr lang="zh-CN" altLang="en-US" dirty="0"/>
              <a:t>＝</a:t>
            </a:r>
            <a:r>
              <a:rPr lang="en-US" altLang="zh-CN" dirty="0"/>
              <a:t>D[X(</a:t>
            </a:r>
            <a:r>
              <a:rPr lang="en-US" altLang="zh-CN" dirty="0" err="1"/>
              <a:t>t+s</a:t>
            </a:r>
            <a:r>
              <a:rPr lang="en-US" altLang="zh-CN" dirty="0"/>
              <a:t>)-X(s)+X(s)-X(0)]</a:t>
            </a:r>
          </a:p>
          <a:p>
            <a:pPr eaLnBrk="1" hangingPunct="1">
              <a:buFont typeface="Wingdings" panose="05000000000000000000" pitchFamily="2" charset="2"/>
              <a:buNone/>
            </a:pPr>
            <a:r>
              <a:rPr lang="en-US" altLang="zh-CN" dirty="0"/>
              <a:t>		</a:t>
            </a:r>
            <a:r>
              <a:rPr lang="zh-CN" altLang="en-US" dirty="0"/>
              <a:t>＝</a:t>
            </a:r>
            <a:r>
              <a:rPr lang="en-US" altLang="zh-CN" dirty="0"/>
              <a:t>D[X(</a:t>
            </a:r>
            <a:r>
              <a:rPr lang="en-US" altLang="zh-CN" dirty="0" err="1"/>
              <a:t>t+s</a:t>
            </a:r>
            <a:r>
              <a:rPr lang="en-US" altLang="zh-CN" dirty="0"/>
              <a:t>)-X(s)]+D[X(s)-X(0)]</a:t>
            </a:r>
          </a:p>
          <a:p>
            <a:pPr eaLnBrk="1" hangingPunct="1">
              <a:buFont typeface="Wingdings" panose="05000000000000000000" pitchFamily="2" charset="2"/>
              <a:buNone/>
            </a:pPr>
            <a:r>
              <a:rPr lang="en-US" altLang="zh-CN" dirty="0"/>
              <a:t>		</a:t>
            </a:r>
            <a:r>
              <a:rPr lang="zh-CN" altLang="en-US" dirty="0"/>
              <a:t>＝</a:t>
            </a:r>
            <a:r>
              <a:rPr lang="en-US" altLang="zh-CN" dirty="0"/>
              <a:t>D[X(t)]+D[X(s)]</a:t>
            </a:r>
            <a:r>
              <a:rPr lang="zh-CN" altLang="en-US" dirty="0"/>
              <a:t>＝</a:t>
            </a:r>
            <a:r>
              <a:rPr lang="en-US" altLang="zh-CN" dirty="0"/>
              <a:t>D(t)+D(s)</a:t>
            </a:r>
          </a:p>
          <a:p>
            <a:pPr eaLnBrk="1" hangingPunct="1">
              <a:buFont typeface="Wingdings" panose="05000000000000000000" pitchFamily="2" charset="2"/>
              <a:buNone/>
            </a:pPr>
            <a:r>
              <a:rPr lang="en-US" altLang="zh-CN" dirty="0"/>
              <a:t>	</a:t>
            </a:r>
            <a:r>
              <a:rPr lang="zh-CN" altLang="en-US" dirty="0"/>
              <a:t>由数学分析知识：</a:t>
            </a:r>
          </a:p>
          <a:p>
            <a:pPr eaLnBrk="1" hangingPunct="1">
              <a:buFont typeface="Wingdings" panose="05000000000000000000" pitchFamily="2" charset="2"/>
              <a:buNone/>
            </a:pPr>
            <a:r>
              <a:rPr lang="zh-CN" altLang="en-US" dirty="0"/>
              <a:t>		                    </a:t>
            </a:r>
            <a:r>
              <a:rPr lang="en-US" altLang="zh-CN" dirty="0"/>
              <a:t>D(t)</a:t>
            </a:r>
            <a:r>
              <a:rPr lang="zh-CN" altLang="en-US" dirty="0"/>
              <a:t>＝</a:t>
            </a:r>
            <a:r>
              <a:rPr lang="zh-CN" altLang="en-US" dirty="0">
                <a:sym typeface="Symbol" panose="05050102010706020507" pitchFamily="18" charset="2"/>
              </a:rPr>
              <a:t></a:t>
            </a:r>
            <a:r>
              <a:rPr lang="en-US" altLang="zh-CN" baseline="30000" dirty="0">
                <a:sym typeface="Symbol" panose="05050102010706020507" pitchFamily="18" charset="2"/>
              </a:rPr>
              <a:t>2</a:t>
            </a:r>
            <a:r>
              <a:rPr lang="en-US" altLang="zh-CN" dirty="0">
                <a:sym typeface="Symbol" panose="05050102010706020507" pitchFamily="18" charset="2"/>
              </a:rPr>
              <a:t>t</a:t>
            </a:r>
            <a:r>
              <a:rPr lang="zh-CN" altLang="en-US" dirty="0">
                <a:sym typeface="Symbol" panose="05050102010706020507" pitchFamily="18" charset="2"/>
              </a:rPr>
              <a:t>，</a:t>
            </a:r>
            <a:r>
              <a:rPr lang="zh-CN" altLang="en-US" dirty="0"/>
              <a:t>其中</a:t>
            </a:r>
            <a:r>
              <a:rPr lang="zh-CN" altLang="en-US" dirty="0">
                <a:sym typeface="Symbol" panose="05050102010706020507" pitchFamily="18" charset="2"/>
              </a:rPr>
              <a:t></a:t>
            </a:r>
            <a:r>
              <a:rPr lang="en-US" altLang="zh-CN" baseline="30000" dirty="0">
                <a:sym typeface="Symbol" panose="05050102010706020507" pitchFamily="18" charset="2"/>
              </a:rPr>
              <a:t>2</a:t>
            </a:r>
            <a:r>
              <a:rPr lang="zh-CN" altLang="en-US" dirty="0"/>
              <a:t>＝</a:t>
            </a:r>
            <a:r>
              <a:rPr lang="en-US" altLang="zh-CN" dirty="0"/>
              <a:t>D(1)</a:t>
            </a:r>
            <a:r>
              <a:rPr lang="zh-CN" altLang="en-US" dirty="0">
                <a:sym typeface="Symbol" panose="05050102010706020507" pitchFamily="18" charset="2"/>
              </a:rPr>
              <a:t>为正常数</a:t>
            </a:r>
            <a:r>
              <a:rPr lang="zh-CN" altLang="en-US" dirty="0"/>
              <a:t>。</a:t>
            </a:r>
          </a:p>
        </p:txBody>
      </p:sp>
      <p:sp>
        <p:nvSpPr>
          <p:cNvPr id="310278" name="AutoShape 6">
            <a:extLst>
              <a:ext uri="{FF2B5EF4-FFF2-40B4-BE49-F238E27FC236}">
                <a16:creationId xmlns:a16="http://schemas.microsoft.com/office/drawing/2014/main" id="{9ECF540A-8C4A-9313-DF29-25AD5EA6FD9B}"/>
              </a:ext>
            </a:extLst>
          </p:cNvPr>
          <p:cNvSpPr>
            <a:spLocks noChangeArrowheads="1"/>
          </p:cNvSpPr>
          <p:nvPr/>
        </p:nvSpPr>
        <p:spPr bwMode="auto">
          <a:xfrm>
            <a:off x="1188485" y="5484671"/>
            <a:ext cx="9787489" cy="840723"/>
          </a:xfrm>
          <a:prstGeom prst="wedgeRectCallout">
            <a:avLst>
              <a:gd name="adj1" fmla="val -36339"/>
              <a:gd name="adj2" fmla="val -181888"/>
            </a:avLst>
          </a:prstGeom>
          <a:solidFill>
            <a:schemeClr val="accent1"/>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b="1" dirty="0">
                <a:solidFill>
                  <a:schemeClr val="bg1"/>
                </a:solidFill>
                <a:latin typeface="+mn-ea"/>
                <a:ea typeface="+mn-ea"/>
              </a:rPr>
              <a:t>f(x)</a:t>
            </a:r>
            <a:r>
              <a:rPr lang="zh-CN" altLang="en-US" b="1" dirty="0">
                <a:solidFill>
                  <a:schemeClr val="bg1"/>
                </a:solidFill>
                <a:latin typeface="+mn-ea"/>
                <a:ea typeface="+mn-ea"/>
              </a:rPr>
              <a:t>连续，若</a:t>
            </a:r>
            <a:r>
              <a:rPr lang="en-US" altLang="zh-CN" b="1" dirty="0">
                <a:solidFill>
                  <a:schemeClr val="bg1"/>
                </a:solidFill>
                <a:latin typeface="+mn-ea"/>
                <a:ea typeface="+mn-ea"/>
              </a:rPr>
              <a:t>f(</a:t>
            </a:r>
            <a:r>
              <a:rPr lang="en-US" altLang="zh-CN" b="1" dirty="0" err="1">
                <a:solidFill>
                  <a:schemeClr val="bg1"/>
                </a:solidFill>
                <a:latin typeface="+mn-ea"/>
                <a:ea typeface="+mn-ea"/>
              </a:rPr>
              <a:t>x+y</a:t>
            </a:r>
            <a:r>
              <a:rPr lang="en-US" altLang="zh-CN" b="1" dirty="0">
                <a:solidFill>
                  <a:schemeClr val="bg1"/>
                </a:solidFill>
                <a:latin typeface="+mn-ea"/>
                <a:ea typeface="+mn-ea"/>
              </a:rPr>
              <a:t>) = f(x)+f(y)</a:t>
            </a:r>
            <a:r>
              <a:rPr lang="zh-CN" altLang="en-US" b="1" dirty="0">
                <a:solidFill>
                  <a:schemeClr val="bg1"/>
                </a:solidFill>
                <a:latin typeface="+mn-ea"/>
                <a:ea typeface="+mn-ea"/>
              </a:rPr>
              <a:t>，则</a:t>
            </a:r>
            <a:r>
              <a:rPr lang="en-US" altLang="zh-CN" b="1" dirty="0">
                <a:solidFill>
                  <a:schemeClr val="bg1"/>
                </a:solidFill>
                <a:latin typeface="+mn-ea"/>
                <a:ea typeface="+mn-ea"/>
              </a:rPr>
              <a:t>f(x) = </a:t>
            </a:r>
            <a:r>
              <a:rPr lang="en-US" altLang="zh-CN" b="1" dirty="0" err="1">
                <a:solidFill>
                  <a:schemeClr val="bg1"/>
                </a:solidFill>
                <a:latin typeface="+mn-ea"/>
                <a:ea typeface="+mn-ea"/>
              </a:rPr>
              <a:t>kx</a:t>
            </a:r>
            <a:r>
              <a:rPr lang="zh-CN" altLang="en-US" b="1" dirty="0">
                <a:solidFill>
                  <a:schemeClr val="bg1"/>
                </a:solidFill>
                <a:latin typeface="+mn-ea"/>
                <a:ea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10275">
                                            <p:txEl>
                                              <p:pRg st="0" end="0"/>
                                            </p:txEl>
                                          </p:spTgt>
                                        </p:tgtEl>
                                        <p:attrNameLst>
                                          <p:attrName>style.visibility</p:attrName>
                                        </p:attrNameLst>
                                      </p:cBhvr>
                                      <p:to>
                                        <p:strVal val="visible"/>
                                      </p:to>
                                    </p:set>
                                    <p:anim calcmode="lin" valueType="num">
                                      <p:cBhvr additive="base">
                                        <p:cTn id="7" dur="500" fill="hold"/>
                                        <p:tgtEl>
                                          <p:spTgt spid="310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0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0275">
                                            <p:txEl>
                                              <p:pRg st="1" end="1"/>
                                            </p:txEl>
                                          </p:spTgt>
                                        </p:tgtEl>
                                        <p:attrNameLst>
                                          <p:attrName>style.visibility</p:attrName>
                                        </p:attrNameLst>
                                      </p:cBhvr>
                                      <p:to>
                                        <p:strVal val="visible"/>
                                      </p:to>
                                    </p:set>
                                    <p:anim calcmode="lin" valueType="num">
                                      <p:cBhvr additive="base">
                                        <p:cTn id="13" dur="500" fill="hold"/>
                                        <p:tgtEl>
                                          <p:spTgt spid="310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0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0275">
                                            <p:txEl>
                                              <p:pRg st="2" end="2"/>
                                            </p:txEl>
                                          </p:spTgt>
                                        </p:tgtEl>
                                        <p:attrNameLst>
                                          <p:attrName>style.visibility</p:attrName>
                                        </p:attrNameLst>
                                      </p:cBhvr>
                                      <p:to>
                                        <p:strVal val="visible"/>
                                      </p:to>
                                    </p:set>
                                    <p:anim calcmode="lin" valueType="num">
                                      <p:cBhvr additive="base">
                                        <p:cTn id="19" dur="500" fill="hold"/>
                                        <p:tgtEl>
                                          <p:spTgt spid="3102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0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0275">
                                            <p:txEl>
                                              <p:pRg st="3" end="3"/>
                                            </p:txEl>
                                          </p:spTgt>
                                        </p:tgtEl>
                                        <p:attrNameLst>
                                          <p:attrName>style.visibility</p:attrName>
                                        </p:attrNameLst>
                                      </p:cBhvr>
                                      <p:to>
                                        <p:strVal val="visible"/>
                                      </p:to>
                                    </p:set>
                                    <p:anim calcmode="lin" valueType="num">
                                      <p:cBhvr additive="base">
                                        <p:cTn id="25" dur="500" fill="hold"/>
                                        <p:tgtEl>
                                          <p:spTgt spid="3102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02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10275">
                                            <p:txEl>
                                              <p:pRg st="4" end="4"/>
                                            </p:txEl>
                                          </p:spTgt>
                                        </p:tgtEl>
                                        <p:attrNameLst>
                                          <p:attrName>style.visibility</p:attrName>
                                        </p:attrNameLst>
                                      </p:cBhvr>
                                      <p:to>
                                        <p:strVal val="visible"/>
                                      </p:to>
                                    </p:set>
                                    <p:anim calcmode="lin" valueType="num">
                                      <p:cBhvr additive="base">
                                        <p:cTn id="31" dur="500" fill="hold"/>
                                        <p:tgtEl>
                                          <p:spTgt spid="3102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02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10275">
                                            <p:txEl>
                                              <p:pRg st="5" end="5"/>
                                            </p:txEl>
                                          </p:spTgt>
                                        </p:tgtEl>
                                        <p:attrNameLst>
                                          <p:attrName>style.visibility</p:attrName>
                                        </p:attrNameLst>
                                      </p:cBhvr>
                                      <p:to>
                                        <p:strVal val="visible"/>
                                      </p:to>
                                    </p:set>
                                    <p:anim calcmode="lin" valueType="num">
                                      <p:cBhvr additive="base">
                                        <p:cTn id="37" dur="500" fill="hold"/>
                                        <p:tgtEl>
                                          <p:spTgt spid="3102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0275">
                                            <p:txEl>
                                              <p:pRg st="5" end="5"/>
                                            </p:txEl>
                                          </p:spTgt>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500"/>
                            </p:stCondLst>
                            <p:childTnLst>
                              <p:par>
                                <p:cTn id="40" presetID="48" presetClass="entr" presetSubtype="0" accel="50000" fill="hold" grpId="0" nodeType="afterEffect">
                                  <p:stCondLst>
                                    <p:cond delay="0"/>
                                  </p:stCondLst>
                                  <p:childTnLst>
                                    <p:set>
                                      <p:cBhvr>
                                        <p:cTn id="41" dur="1" fill="hold">
                                          <p:stCondLst>
                                            <p:cond delay="0"/>
                                          </p:stCondLst>
                                        </p:cTn>
                                        <p:tgtEl>
                                          <p:spTgt spid="310278"/>
                                        </p:tgtEl>
                                        <p:attrNameLst>
                                          <p:attrName>style.visibility</p:attrName>
                                        </p:attrNameLst>
                                      </p:cBhvr>
                                      <p:to>
                                        <p:strVal val="visible"/>
                                      </p:to>
                                    </p:set>
                                    <p:anim calcmode="lin" valueType="num">
                                      <p:cBhvr>
                                        <p:cTn id="42" dur="1000" fill="hold"/>
                                        <p:tgtEl>
                                          <p:spTgt spid="310278"/>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43" dur="1000" fill="hold"/>
                                        <p:tgtEl>
                                          <p:spTgt spid="310278"/>
                                        </p:tgtEl>
                                        <p:attrNameLst>
                                          <p:attrName>ppt_x</p:attrName>
                                        </p:attrNameLst>
                                      </p:cBhvr>
                                      <p:tavLst>
                                        <p:tav tm="0">
                                          <p:val>
                                            <p:fltVal val="-1"/>
                                          </p:val>
                                        </p:tav>
                                        <p:tav tm="50000">
                                          <p:val>
                                            <p:fltVal val="0.95"/>
                                          </p:val>
                                        </p:tav>
                                        <p:tav tm="100000">
                                          <p:val>
                                            <p:strVal val="#ppt_x"/>
                                          </p:val>
                                        </p:tav>
                                      </p:tavLst>
                                    </p:anim>
                                    <p:anim calcmode="lin" valueType="num">
                                      <p:cBhvr>
                                        <p:cTn id="44" dur="1000" fill="hold"/>
                                        <p:tgtEl>
                                          <p:spTgt spid="310278"/>
                                        </p:tgtEl>
                                        <p:attrNameLst>
                                          <p:attrName>ppt_y</p:attrName>
                                        </p:attrNameLst>
                                      </p:cBhvr>
                                      <p:tavLst>
                                        <p:tav tm="0">
                                          <p:val>
                                            <p:strVal val="#ppt_y"/>
                                          </p:val>
                                        </p:tav>
                                        <p:tav tm="100000">
                                          <p:val>
                                            <p:strVal val="#ppt_y"/>
                                          </p:val>
                                        </p:tav>
                                      </p:tavLst>
                                    </p:anim>
                                    <p:animEffect transition="in" filter="fade">
                                      <p:cBhvr>
                                        <p:cTn id="45" dur="1000"/>
                                        <p:tgtEl>
                                          <p:spTgt spid="31027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10275">
                                            <p:txEl>
                                              <p:pRg st="6" end="6"/>
                                            </p:txEl>
                                          </p:spTgt>
                                        </p:tgtEl>
                                        <p:attrNameLst>
                                          <p:attrName>style.visibility</p:attrName>
                                        </p:attrNameLst>
                                      </p:cBhvr>
                                      <p:to>
                                        <p:strVal val="visible"/>
                                      </p:to>
                                    </p:set>
                                    <p:anim calcmode="lin" valueType="num">
                                      <p:cBhvr additive="base">
                                        <p:cTn id="50" dur="500" fill="hold"/>
                                        <p:tgtEl>
                                          <p:spTgt spid="310275">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10275">
                                            <p:txEl>
                                              <p:pRg st="6" end="6"/>
                                            </p:txEl>
                                          </p:spTgt>
                                        </p:tgtEl>
                                        <p:attrNameLst>
                                          <p:attrName>ppt_y</p:attrName>
                                        </p:attrNameLst>
                                      </p:cBhvr>
                                      <p:tavLst>
                                        <p:tav tm="0">
                                          <p:val>
                                            <p:strVal val="1+#ppt_h/2"/>
                                          </p:val>
                                        </p:tav>
                                        <p:tav tm="100000">
                                          <p:val>
                                            <p:strVal val="#ppt_y"/>
                                          </p:val>
                                        </p:tav>
                                      </p:tavLst>
                                    </p:anim>
                                  </p:childTnLst>
                                </p:cTn>
                              </p:par>
                              <p:par>
                                <p:cTn id="52" presetID="2" presetClass="exit" presetSubtype="3" fill="hold" grpId="1" nodeType="withEffect">
                                  <p:stCondLst>
                                    <p:cond delay="0"/>
                                  </p:stCondLst>
                                  <p:childTnLst>
                                    <p:anim calcmode="lin" valueType="num">
                                      <p:cBhvr additive="base">
                                        <p:cTn id="53" dur="500"/>
                                        <p:tgtEl>
                                          <p:spTgt spid="310278"/>
                                        </p:tgtEl>
                                        <p:attrNameLst>
                                          <p:attrName>ppt_x</p:attrName>
                                        </p:attrNameLst>
                                      </p:cBhvr>
                                      <p:tavLst>
                                        <p:tav tm="0">
                                          <p:val>
                                            <p:strVal val="ppt_x"/>
                                          </p:val>
                                        </p:tav>
                                        <p:tav tm="100000">
                                          <p:val>
                                            <p:strVal val="1+ppt_w/2"/>
                                          </p:val>
                                        </p:tav>
                                      </p:tavLst>
                                    </p:anim>
                                    <p:anim calcmode="lin" valueType="num">
                                      <p:cBhvr additive="base">
                                        <p:cTn id="54" dur="500"/>
                                        <p:tgtEl>
                                          <p:spTgt spid="310278"/>
                                        </p:tgtEl>
                                        <p:attrNameLst>
                                          <p:attrName>ppt_y</p:attrName>
                                        </p:attrNameLst>
                                      </p:cBhvr>
                                      <p:tavLst>
                                        <p:tav tm="0">
                                          <p:val>
                                            <p:strVal val="ppt_y"/>
                                          </p:val>
                                        </p:tav>
                                        <p:tav tm="100000">
                                          <p:val>
                                            <p:strVal val="0-ppt_h/2"/>
                                          </p:val>
                                        </p:tav>
                                      </p:tavLst>
                                    </p:anim>
                                    <p:set>
                                      <p:cBhvr>
                                        <p:cTn id="55" dur="1" fill="hold">
                                          <p:stCondLst>
                                            <p:cond delay="499"/>
                                          </p:stCondLst>
                                        </p:cTn>
                                        <p:tgtEl>
                                          <p:spTgt spid="3102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uiExpand="1" build="p"/>
      <p:bldP spid="310278" grpId="0" animBg="1"/>
      <p:bldP spid="310278"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2">
            <a:extLst>
              <a:ext uri="{FF2B5EF4-FFF2-40B4-BE49-F238E27FC236}">
                <a16:creationId xmlns:a16="http://schemas.microsoft.com/office/drawing/2014/main" id="{845AC7E1-E9F9-1A82-6E5A-98EB2232AB56}"/>
              </a:ext>
            </a:extLst>
          </p:cNvPr>
          <p:cNvSpPr>
            <a:spLocks noGrp="1" noChangeArrowheads="1"/>
          </p:cNvSpPr>
          <p:nvPr>
            <p:ph type="title"/>
          </p:nvPr>
        </p:nvSpPr>
        <p:spPr/>
        <p:txBody>
          <a:bodyPr/>
          <a:lstStyle/>
          <a:p>
            <a:pPr algn="l" eaLnBrk="1" hangingPunct="1"/>
            <a:r>
              <a:rPr lang="zh-CN" altLang="en-US"/>
              <a:t>证明</a:t>
            </a:r>
            <a:r>
              <a:rPr lang="en-US" altLang="zh-CN"/>
              <a:t>(</a:t>
            </a:r>
            <a:r>
              <a:rPr lang="zh-CN" altLang="en-US"/>
              <a:t>续</a:t>
            </a:r>
            <a:r>
              <a:rPr lang="en-US" altLang="zh-CN"/>
              <a:t>2)</a:t>
            </a:r>
          </a:p>
        </p:txBody>
      </p:sp>
      <p:sp>
        <p:nvSpPr>
          <p:cNvPr id="62470" name="Rectangle 3">
            <a:extLst>
              <a:ext uri="{FF2B5EF4-FFF2-40B4-BE49-F238E27FC236}">
                <a16:creationId xmlns:a16="http://schemas.microsoft.com/office/drawing/2014/main" id="{1CC2EDEF-C62A-BD2A-EFF2-D2D62A3D4DF9}"/>
              </a:ext>
            </a:extLst>
          </p:cNvPr>
          <p:cNvSpPr>
            <a:spLocks noGrp="1" noChangeArrowheads="1"/>
          </p:cNvSpPr>
          <p:nvPr>
            <p:ph type="body" idx="1"/>
          </p:nvPr>
        </p:nvSpPr>
        <p:spPr>
          <a:xfrm>
            <a:off x="536469" y="1302182"/>
            <a:ext cx="7850417" cy="470009"/>
          </a:xfrm>
        </p:spPr>
        <p:txBody>
          <a:bodyPr>
            <a:normAutofit fontScale="92500"/>
          </a:bodyPr>
          <a:lstStyle/>
          <a:p>
            <a:pPr eaLnBrk="1" hangingPunct="1">
              <a:lnSpc>
                <a:spcPct val="110000"/>
              </a:lnSpc>
              <a:buFont typeface="Wingdings" panose="05000000000000000000" pitchFamily="2" charset="2"/>
              <a:buNone/>
            </a:pPr>
            <a:r>
              <a:rPr lang="en-US" altLang="zh-CN">
                <a:solidFill>
                  <a:srgbClr val="CC00CC"/>
                </a:solidFill>
              </a:rPr>
              <a:t>3</a:t>
            </a:r>
            <a:r>
              <a:rPr lang="zh-CN" altLang="en-US">
                <a:solidFill>
                  <a:srgbClr val="CC00CC"/>
                </a:solidFill>
              </a:rPr>
              <a:t>）</a:t>
            </a:r>
            <a:r>
              <a:rPr lang="en-US" altLang="zh-CN"/>
              <a:t>C(s,t)</a:t>
            </a:r>
            <a:r>
              <a:rPr lang="zh-CN" altLang="en-US"/>
              <a:t>＝</a:t>
            </a:r>
            <a:r>
              <a:rPr lang="en-US" altLang="zh-CN"/>
              <a:t>E{[X(t)]-m(t)][X(s)-m(s)]}</a:t>
            </a:r>
          </a:p>
        </p:txBody>
      </p:sp>
      <p:sp>
        <p:nvSpPr>
          <p:cNvPr id="286725" name="Rectangle 5">
            <a:extLst>
              <a:ext uri="{FF2B5EF4-FFF2-40B4-BE49-F238E27FC236}">
                <a16:creationId xmlns:a16="http://schemas.microsoft.com/office/drawing/2014/main" id="{2C1ED72F-8C7D-4FAF-1DBD-56645A6314C7}"/>
              </a:ext>
            </a:extLst>
          </p:cNvPr>
          <p:cNvSpPr>
            <a:spLocks noChangeArrowheads="1"/>
          </p:cNvSpPr>
          <p:nvPr/>
        </p:nvSpPr>
        <p:spPr bwMode="auto">
          <a:xfrm>
            <a:off x="993775" y="1888105"/>
            <a:ext cx="7316893" cy="1056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buClr>
                <a:srgbClr val="00FF00"/>
              </a:buClr>
              <a:buFont typeface="Wingdings" panose="05000000000000000000" pitchFamily="2" charset="2"/>
              <a:buNone/>
            </a:pPr>
            <a:r>
              <a:rPr lang="zh-CN" altLang="en-US" b="1" dirty="0">
                <a:latin typeface="+mn-ea"/>
                <a:ea typeface="+mn-ea"/>
              </a:rPr>
              <a:t>＝</a:t>
            </a:r>
            <a:r>
              <a:rPr lang="en-US" altLang="zh-CN" b="1" dirty="0">
                <a:latin typeface="+mn-ea"/>
                <a:ea typeface="+mn-ea"/>
              </a:rPr>
              <a:t>E[X(t)X(s)]-m(s)m(t)</a:t>
            </a:r>
          </a:p>
          <a:p>
            <a:pPr eaLnBrk="1" hangingPunct="1">
              <a:lnSpc>
                <a:spcPct val="110000"/>
              </a:lnSpc>
              <a:spcBef>
                <a:spcPct val="50000"/>
              </a:spcBef>
            </a:pPr>
            <a:r>
              <a:rPr lang="zh-CN" altLang="en-US" b="1" dirty="0">
                <a:latin typeface="+mn-ea"/>
                <a:ea typeface="+mn-ea"/>
              </a:rPr>
              <a:t>＝</a:t>
            </a:r>
            <a:r>
              <a:rPr lang="en-US" altLang="zh-CN" b="1" dirty="0">
                <a:latin typeface="+mn-ea"/>
                <a:ea typeface="+mn-ea"/>
              </a:rPr>
              <a:t>E{[X(t)-X(s)+X(s)]X(s)}-m(s)m(t)</a:t>
            </a:r>
          </a:p>
        </p:txBody>
      </p:sp>
      <p:sp>
        <p:nvSpPr>
          <p:cNvPr id="286726" name="Rectangle 6">
            <a:extLst>
              <a:ext uri="{FF2B5EF4-FFF2-40B4-BE49-F238E27FC236}">
                <a16:creationId xmlns:a16="http://schemas.microsoft.com/office/drawing/2014/main" id="{F1C15E34-9877-1971-BA27-9652A91760B7}"/>
              </a:ext>
            </a:extLst>
          </p:cNvPr>
          <p:cNvSpPr>
            <a:spLocks noChangeArrowheads="1"/>
          </p:cNvSpPr>
          <p:nvPr/>
        </p:nvSpPr>
        <p:spPr bwMode="auto">
          <a:xfrm>
            <a:off x="803230" y="5691103"/>
            <a:ext cx="7316893" cy="46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zh-CN" altLang="en-US" b="1" dirty="0">
                <a:latin typeface="+mn-ea"/>
                <a:ea typeface="+mn-ea"/>
              </a:rPr>
              <a:t>一般地，</a:t>
            </a:r>
            <a:r>
              <a:rPr lang="en-US" altLang="zh-CN" b="1" dirty="0">
                <a:latin typeface="+mn-ea"/>
                <a:ea typeface="+mn-ea"/>
              </a:rPr>
              <a:t>C(</a:t>
            </a:r>
            <a:r>
              <a:rPr lang="en-US" altLang="zh-CN" b="1" dirty="0" err="1">
                <a:latin typeface="+mn-ea"/>
                <a:ea typeface="+mn-ea"/>
              </a:rPr>
              <a:t>s,t</a:t>
            </a:r>
            <a:r>
              <a:rPr lang="en-US" altLang="zh-CN" b="1" dirty="0">
                <a:latin typeface="+mn-ea"/>
                <a:ea typeface="+mn-ea"/>
              </a:rPr>
              <a:t>)</a:t>
            </a:r>
            <a:r>
              <a:rPr lang="zh-CN" altLang="en-US" b="1" dirty="0">
                <a:latin typeface="+mn-ea"/>
                <a:ea typeface="+mn-ea"/>
              </a:rPr>
              <a:t>＝</a:t>
            </a:r>
            <a:r>
              <a:rPr lang="zh-CN" altLang="en-US" b="1" dirty="0">
                <a:latin typeface="+mn-ea"/>
                <a:ea typeface="+mn-ea"/>
                <a:sym typeface="Symbol" panose="05050102010706020507" pitchFamily="18" charset="2"/>
              </a:rPr>
              <a:t></a:t>
            </a:r>
            <a:r>
              <a:rPr lang="en-US" altLang="zh-CN" b="1" baseline="30000" dirty="0">
                <a:latin typeface="+mn-ea"/>
                <a:ea typeface="+mn-ea"/>
                <a:sym typeface="Symbol" panose="05050102010706020507" pitchFamily="18" charset="2"/>
              </a:rPr>
              <a:t>2</a:t>
            </a:r>
            <a:r>
              <a:rPr lang="en-US" altLang="zh-CN" b="1" dirty="0">
                <a:latin typeface="+mn-ea"/>
                <a:ea typeface="+mn-ea"/>
              </a:rPr>
              <a:t>min(</a:t>
            </a:r>
            <a:r>
              <a:rPr lang="en-US" altLang="zh-CN" b="1" dirty="0" err="1">
                <a:latin typeface="+mn-ea"/>
                <a:ea typeface="+mn-ea"/>
              </a:rPr>
              <a:t>s,t</a:t>
            </a:r>
            <a:r>
              <a:rPr lang="en-US" altLang="zh-CN" b="1" dirty="0">
                <a:latin typeface="+mn-ea"/>
                <a:ea typeface="+mn-ea"/>
              </a:rPr>
              <a:t>)</a:t>
            </a:r>
            <a:r>
              <a:rPr lang="zh-CN" altLang="en-US" b="1" dirty="0">
                <a:latin typeface="+mn-ea"/>
                <a:ea typeface="+mn-ea"/>
              </a:rPr>
              <a:t>。</a:t>
            </a:r>
          </a:p>
        </p:txBody>
      </p:sp>
      <p:sp>
        <p:nvSpPr>
          <p:cNvPr id="286727" name="AutoShape 7">
            <a:extLst>
              <a:ext uri="{FF2B5EF4-FFF2-40B4-BE49-F238E27FC236}">
                <a16:creationId xmlns:a16="http://schemas.microsoft.com/office/drawing/2014/main" id="{6A0BBA80-08F3-816F-B587-C39BB7474101}"/>
              </a:ext>
            </a:extLst>
          </p:cNvPr>
          <p:cNvSpPr>
            <a:spLocks noChangeArrowheads="1"/>
          </p:cNvSpPr>
          <p:nvPr/>
        </p:nvSpPr>
        <p:spPr bwMode="auto">
          <a:xfrm>
            <a:off x="6480175" y="905216"/>
            <a:ext cx="5486400" cy="1686378"/>
          </a:xfrm>
          <a:prstGeom prst="wedgeRoundRectCallout">
            <a:avLst>
              <a:gd name="adj1" fmla="val -66603"/>
              <a:gd name="adj2" fmla="val -3387"/>
              <a:gd name="adj3" fmla="val 16667"/>
            </a:avLst>
          </a:prstGeom>
          <a:solidFill>
            <a:schemeClr val="accent1"/>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801" b="1">
                <a:solidFill>
                  <a:srgbClr val="FFFF00"/>
                </a:solidFill>
                <a:ea typeface="黑体" panose="02010609060101010101" pitchFamily="49" charset="-122"/>
              </a:rPr>
              <a:t>假设</a:t>
            </a:r>
            <a:r>
              <a:rPr lang="en-US" altLang="zh-CN" sz="2801" b="1">
                <a:solidFill>
                  <a:srgbClr val="FFFF00"/>
                </a:solidFill>
                <a:ea typeface="黑体" panose="02010609060101010101" pitchFamily="49" charset="-122"/>
              </a:rPr>
              <a:t>t &gt; s</a:t>
            </a:r>
            <a:r>
              <a:rPr lang="zh-CN" altLang="en-US" sz="2801" b="1">
                <a:solidFill>
                  <a:srgbClr val="FFFF00"/>
                </a:solidFill>
                <a:ea typeface="黑体" panose="02010609060101010101" pitchFamily="49" charset="-122"/>
              </a:rPr>
              <a:t>，否则变形为</a:t>
            </a:r>
          </a:p>
          <a:p>
            <a:pPr eaLnBrk="1" hangingPunct="1">
              <a:lnSpc>
                <a:spcPct val="150000"/>
              </a:lnSpc>
            </a:pPr>
            <a:r>
              <a:rPr lang="en-US" altLang="zh-CN" sz="2801" b="1">
                <a:solidFill>
                  <a:srgbClr val="FFFF00"/>
                </a:solidFill>
                <a:ea typeface="黑体" panose="02010609060101010101" pitchFamily="49" charset="-122"/>
              </a:rPr>
              <a:t>E{[X(s)-X(t)+X(t)]X(t)}-m(s)m(t)</a:t>
            </a:r>
          </a:p>
        </p:txBody>
      </p:sp>
      <p:sp>
        <p:nvSpPr>
          <p:cNvPr id="286728" name="Rectangle 8">
            <a:extLst>
              <a:ext uri="{FF2B5EF4-FFF2-40B4-BE49-F238E27FC236}">
                <a16:creationId xmlns:a16="http://schemas.microsoft.com/office/drawing/2014/main" id="{17F01C74-3F73-F1C0-8825-9206414C627D}"/>
              </a:ext>
            </a:extLst>
          </p:cNvPr>
          <p:cNvSpPr>
            <a:spLocks noChangeArrowheads="1"/>
          </p:cNvSpPr>
          <p:nvPr/>
        </p:nvSpPr>
        <p:spPr bwMode="auto">
          <a:xfrm>
            <a:off x="1017593" y="3138590"/>
            <a:ext cx="7316893" cy="223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zh-CN" altLang="en-US" b="1" dirty="0">
                <a:latin typeface="+mn-ea"/>
                <a:ea typeface="+mn-ea"/>
              </a:rPr>
              <a:t>＝</a:t>
            </a:r>
            <a:r>
              <a:rPr lang="en-US" altLang="zh-CN" b="1" dirty="0">
                <a:latin typeface="+mn-ea"/>
                <a:ea typeface="+mn-ea"/>
              </a:rPr>
              <a:t>E[X(t)-X(s)]E[X(s)]+E[X</a:t>
            </a:r>
            <a:r>
              <a:rPr lang="en-US" altLang="zh-CN" b="1" baseline="30000" dirty="0">
                <a:latin typeface="+mn-ea"/>
                <a:ea typeface="+mn-ea"/>
              </a:rPr>
              <a:t>2</a:t>
            </a:r>
            <a:r>
              <a:rPr lang="en-US" altLang="zh-CN" b="1" dirty="0">
                <a:latin typeface="+mn-ea"/>
                <a:ea typeface="+mn-ea"/>
              </a:rPr>
              <a:t>(s)]-m(s)m(t)</a:t>
            </a:r>
          </a:p>
          <a:p>
            <a:pPr eaLnBrk="1" hangingPunct="1">
              <a:lnSpc>
                <a:spcPct val="110000"/>
              </a:lnSpc>
              <a:spcBef>
                <a:spcPct val="50000"/>
              </a:spcBef>
            </a:pPr>
            <a:r>
              <a:rPr lang="zh-CN" altLang="en-US" b="1" dirty="0">
                <a:latin typeface="+mn-ea"/>
                <a:ea typeface="+mn-ea"/>
              </a:rPr>
              <a:t>＝</a:t>
            </a:r>
            <a:r>
              <a:rPr lang="en-US" altLang="zh-CN" b="1" dirty="0">
                <a:latin typeface="+mn-ea"/>
                <a:ea typeface="+mn-ea"/>
              </a:rPr>
              <a:t>m(t-s)m(s)+D(s)-m</a:t>
            </a:r>
            <a:r>
              <a:rPr lang="en-US" altLang="zh-CN" b="1" baseline="30000" dirty="0">
                <a:latin typeface="+mn-ea"/>
                <a:ea typeface="+mn-ea"/>
              </a:rPr>
              <a:t>2</a:t>
            </a:r>
            <a:r>
              <a:rPr lang="en-US" altLang="zh-CN" b="1" dirty="0">
                <a:latin typeface="+mn-ea"/>
                <a:ea typeface="+mn-ea"/>
              </a:rPr>
              <a:t>(s)-m(s)m(t)</a:t>
            </a:r>
          </a:p>
          <a:p>
            <a:pPr eaLnBrk="1" hangingPunct="1">
              <a:lnSpc>
                <a:spcPct val="110000"/>
              </a:lnSpc>
              <a:spcBef>
                <a:spcPct val="50000"/>
              </a:spcBef>
            </a:pPr>
            <a:r>
              <a:rPr lang="zh-CN" altLang="en-US" b="1" dirty="0">
                <a:latin typeface="+mn-ea"/>
                <a:ea typeface="+mn-ea"/>
              </a:rPr>
              <a:t>＝</a:t>
            </a:r>
            <a:r>
              <a:rPr lang="en-US" altLang="zh-CN" b="1" dirty="0">
                <a:latin typeface="+mn-ea"/>
                <a:ea typeface="+mn-ea"/>
              </a:rPr>
              <a:t>a(t-s)as+</a:t>
            </a:r>
            <a:r>
              <a:rPr lang="en-US" altLang="zh-CN" b="1" dirty="0">
                <a:latin typeface="+mn-ea"/>
                <a:ea typeface="+mn-ea"/>
                <a:sym typeface="Symbol" panose="05050102010706020507" pitchFamily="18" charset="2"/>
              </a:rPr>
              <a:t></a:t>
            </a:r>
            <a:r>
              <a:rPr lang="en-US" altLang="zh-CN" b="1" baseline="30000" dirty="0">
                <a:latin typeface="+mn-ea"/>
                <a:ea typeface="+mn-ea"/>
                <a:sym typeface="Symbol" panose="05050102010706020507" pitchFamily="18" charset="2"/>
              </a:rPr>
              <a:t>2</a:t>
            </a:r>
            <a:r>
              <a:rPr lang="en-US" altLang="zh-CN" b="1" dirty="0">
                <a:latin typeface="+mn-ea"/>
                <a:ea typeface="+mn-ea"/>
              </a:rPr>
              <a:t>s-a</a:t>
            </a:r>
            <a:r>
              <a:rPr lang="en-US" altLang="zh-CN" b="1" baseline="30000" dirty="0">
                <a:latin typeface="+mn-ea"/>
                <a:ea typeface="+mn-ea"/>
              </a:rPr>
              <a:t>2</a:t>
            </a:r>
            <a:r>
              <a:rPr lang="en-US" altLang="zh-CN" b="1" dirty="0">
                <a:latin typeface="+mn-ea"/>
                <a:ea typeface="+mn-ea"/>
              </a:rPr>
              <a:t>s</a:t>
            </a:r>
            <a:r>
              <a:rPr lang="en-US" altLang="zh-CN" b="1" baseline="30000" dirty="0">
                <a:latin typeface="+mn-ea"/>
                <a:ea typeface="+mn-ea"/>
                <a:sym typeface="Symbol" panose="05050102010706020507" pitchFamily="18" charset="2"/>
              </a:rPr>
              <a:t>2</a:t>
            </a:r>
            <a:r>
              <a:rPr lang="en-US" altLang="zh-CN" b="1" dirty="0">
                <a:latin typeface="+mn-ea"/>
                <a:ea typeface="+mn-ea"/>
              </a:rPr>
              <a:t>-a</a:t>
            </a:r>
            <a:r>
              <a:rPr lang="en-US" altLang="zh-CN" b="1" baseline="30000" dirty="0">
                <a:latin typeface="+mn-ea"/>
                <a:ea typeface="+mn-ea"/>
                <a:sym typeface="Symbol" panose="05050102010706020507" pitchFamily="18" charset="2"/>
              </a:rPr>
              <a:t>2</a:t>
            </a:r>
            <a:r>
              <a:rPr lang="en-US" altLang="zh-CN" b="1" dirty="0">
                <a:latin typeface="+mn-ea"/>
                <a:ea typeface="+mn-ea"/>
              </a:rPr>
              <a:t>st		t&gt;s</a:t>
            </a:r>
          </a:p>
          <a:p>
            <a:pPr eaLnBrk="1" hangingPunct="1">
              <a:lnSpc>
                <a:spcPct val="110000"/>
              </a:lnSpc>
              <a:spcBef>
                <a:spcPct val="50000"/>
              </a:spcBef>
            </a:pPr>
            <a:r>
              <a:rPr lang="zh-CN" altLang="en-US" b="1" dirty="0">
                <a:latin typeface="+mn-ea"/>
                <a:ea typeface="+mn-ea"/>
              </a:rPr>
              <a:t>＝</a:t>
            </a:r>
            <a:r>
              <a:rPr lang="zh-CN" altLang="en-US" b="1" dirty="0">
                <a:latin typeface="+mn-ea"/>
                <a:ea typeface="+mn-ea"/>
                <a:sym typeface="Symbol" panose="05050102010706020507" pitchFamily="18" charset="2"/>
              </a:rPr>
              <a:t></a:t>
            </a:r>
            <a:r>
              <a:rPr lang="en-US" altLang="zh-CN" b="1" baseline="30000" dirty="0">
                <a:latin typeface="+mn-ea"/>
                <a:ea typeface="+mn-ea"/>
                <a:sym typeface="Symbol" panose="05050102010706020507" pitchFamily="18" charset="2"/>
              </a:rPr>
              <a:t>2</a:t>
            </a:r>
            <a:r>
              <a:rPr lang="en-US" altLang="zh-CN" b="1" dirty="0">
                <a:latin typeface="+mn-ea"/>
                <a:ea typeface="+mn-ea"/>
              </a:rPr>
              <a: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25">
                                            <p:txEl>
                                              <p:pRg st="0" end="0"/>
                                            </p:txEl>
                                          </p:spTgt>
                                        </p:tgtEl>
                                        <p:attrNameLst>
                                          <p:attrName>style.visibility</p:attrName>
                                        </p:attrNameLst>
                                      </p:cBhvr>
                                      <p:to>
                                        <p:strVal val="visible"/>
                                      </p:to>
                                    </p:set>
                                    <p:anim calcmode="lin" valueType="num">
                                      <p:cBhvr additive="base">
                                        <p:cTn id="7" dur="500" fill="hold"/>
                                        <p:tgtEl>
                                          <p:spTgt spid="28672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672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6725">
                                            <p:txEl>
                                              <p:pRg st="1" end="1"/>
                                            </p:txEl>
                                          </p:spTgt>
                                        </p:tgtEl>
                                        <p:attrNameLst>
                                          <p:attrName>style.visibility</p:attrName>
                                        </p:attrNameLst>
                                      </p:cBhvr>
                                      <p:to>
                                        <p:strVal val="visible"/>
                                      </p:to>
                                    </p:set>
                                    <p:anim calcmode="lin" valueType="num">
                                      <p:cBhvr additive="base">
                                        <p:cTn id="13" dur="500" fill="hold"/>
                                        <p:tgtEl>
                                          <p:spTgt spid="28672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86725">
                                            <p:txEl>
                                              <p:pRg st="1" end="1"/>
                                            </p:txEl>
                                          </p:spTgt>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12" fill="hold" grpId="0" nodeType="afterEffect">
                                  <p:stCondLst>
                                    <p:cond delay="0"/>
                                  </p:stCondLst>
                                  <p:childTnLst>
                                    <p:set>
                                      <p:cBhvr>
                                        <p:cTn id="17" dur="1" fill="hold">
                                          <p:stCondLst>
                                            <p:cond delay="0"/>
                                          </p:stCondLst>
                                        </p:cTn>
                                        <p:tgtEl>
                                          <p:spTgt spid="286727"/>
                                        </p:tgtEl>
                                        <p:attrNameLst>
                                          <p:attrName>style.visibility</p:attrName>
                                        </p:attrNameLst>
                                      </p:cBhvr>
                                      <p:to>
                                        <p:strVal val="visible"/>
                                      </p:to>
                                    </p:set>
                                    <p:anim calcmode="lin" valueType="num">
                                      <p:cBhvr additive="base">
                                        <p:cTn id="18" dur="500" fill="hold"/>
                                        <p:tgtEl>
                                          <p:spTgt spid="286727"/>
                                        </p:tgtEl>
                                        <p:attrNameLst>
                                          <p:attrName>ppt_x</p:attrName>
                                        </p:attrNameLst>
                                      </p:cBhvr>
                                      <p:tavLst>
                                        <p:tav tm="0">
                                          <p:val>
                                            <p:strVal val="0-#ppt_w/2"/>
                                          </p:val>
                                        </p:tav>
                                        <p:tav tm="100000">
                                          <p:val>
                                            <p:strVal val="#ppt_x"/>
                                          </p:val>
                                        </p:tav>
                                      </p:tavLst>
                                    </p:anim>
                                    <p:anim calcmode="lin" valueType="num">
                                      <p:cBhvr additive="base">
                                        <p:cTn id="19" dur="500" fill="hold"/>
                                        <p:tgtEl>
                                          <p:spTgt spid="286727"/>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86728">
                                            <p:txEl>
                                              <p:pRg st="0" end="0"/>
                                            </p:txEl>
                                          </p:spTgt>
                                        </p:tgtEl>
                                        <p:attrNameLst>
                                          <p:attrName>style.visibility</p:attrName>
                                        </p:attrNameLst>
                                      </p:cBhvr>
                                      <p:to>
                                        <p:strVal val="visible"/>
                                      </p:to>
                                    </p:set>
                                    <p:anim calcmode="lin" valueType="num">
                                      <p:cBhvr additive="base">
                                        <p:cTn id="24" dur="500" fill="hold"/>
                                        <p:tgtEl>
                                          <p:spTgt spid="286728">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286728">
                                            <p:txEl>
                                              <p:pRg st="0" end="0"/>
                                            </p:txEl>
                                          </p:spTgt>
                                        </p:tgtEl>
                                        <p:attrNameLst>
                                          <p:attrName>ppt_y</p:attrName>
                                        </p:attrNameLst>
                                      </p:cBhvr>
                                      <p:tavLst>
                                        <p:tav tm="0">
                                          <p:val>
                                            <p:strVal val="#ppt_y"/>
                                          </p:val>
                                        </p:tav>
                                        <p:tav tm="100000">
                                          <p:val>
                                            <p:strVal val="#ppt_y"/>
                                          </p:val>
                                        </p:tav>
                                      </p:tavLst>
                                    </p:anim>
                                  </p:childTnLst>
                                </p:cTn>
                              </p:par>
                              <p:par>
                                <p:cTn id="26" presetID="16" presetClass="exit" presetSubtype="26" fill="hold" grpId="1" nodeType="withEffect">
                                  <p:stCondLst>
                                    <p:cond delay="0"/>
                                  </p:stCondLst>
                                  <p:childTnLst>
                                    <p:animEffect transition="out" filter="barn(inHorizontal)">
                                      <p:cBhvr>
                                        <p:cTn id="27" dur="500"/>
                                        <p:tgtEl>
                                          <p:spTgt spid="286727"/>
                                        </p:tgtEl>
                                      </p:cBhvr>
                                    </p:animEffect>
                                    <p:set>
                                      <p:cBhvr>
                                        <p:cTn id="28" dur="1" fill="hold">
                                          <p:stCondLst>
                                            <p:cond delay="499"/>
                                          </p:stCondLst>
                                        </p:cTn>
                                        <p:tgtEl>
                                          <p:spTgt spid="286727"/>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86728">
                                            <p:txEl>
                                              <p:pRg st="1" end="1"/>
                                            </p:txEl>
                                          </p:spTgt>
                                        </p:tgtEl>
                                        <p:attrNameLst>
                                          <p:attrName>style.visibility</p:attrName>
                                        </p:attrNameLst>
                                      </p:cBhvr>
                                      <p:to>
                                        <p:strVal val="visible"/>
                                      </p:to>
                                    </p:set>
                                    <p:anim calcmode="lin" valueType="num">
                                      <p:cBhvr additive="base">
                                        <p:cTn id="33" dur="500" fill="hold"/>
                                        <p:tgtEl>
                                          <p:spTgt spid="286728">
                                            <p:txEl>
                                              <p:pRg st="1" end="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8672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86728">
                                            <p:txEl>
                                              <p:pRg st="2" end="2"/>
                                            </p:txEl>
                                          </p:spTgt>
                                        </p:tgtEl>
                                        <p:attrNameLst>
                                          <p:attrName>style.visibility</p:attrName>
                                        </p:attrNameLst>
                                      </p:cBhvr>
                                      <p:to>
                                        <p:strVal val="visible"/>
                                      </p:to>
                                    </p:set>
                                    <p:anim calcmode="lin" valueType="num">
                                      <p:cBhvr additive="base">
                                        <p:cTn id="39" dur="500" fill="hold"/>
                                        <p:tgtEl>
                                          <p:spTgt spid="286728">
                                            <p:txEl>
                                              <p:pRg st="2" end="2"/>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8672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86728">
                                            <p:txEl>
                                              <p:pRg st="3" end="3"/>
                                            </p:txEl>
                                          </p:spTgt>
                                        </p:tgtEl>
                                        <p:attrNameLst>
                                          <p:attrName>style.visibility</p:attrName>
                                        </p:attrNameLst>
                                      </p:cBhvr>
                                      <p:to>
                                        <p:strVal val="visible"/>
                                      </p:to>
                                    </p:set>
                                    <p:anim calcmode="lin" valueType="num">
                                      <p:cBhvr additive="base">
                                        <p:cTn id="45" dur="500" fill="hold"/>
                                        <p:tgtEl>
                                          <p:spTgt spid="286728">
                                            <p:txEl>
                                              <p:pRg st="3" end="3"/>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8672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86726"/>
                                        </p:tgtEl>
                                        <p:attrNameLst>
                                          <p:attrName>style.visibility</p:attrName>
                                        </p:attrNameLst>
                                      </p:cBhvr>
                                      <p:to>
                                        <p:strVal val="visible"/>
                                      </p:to>
                                    </p:set>
                                    <p:anim calcmode="lin" valueType="num">
                                      <p:cBhvr additive="base">
                                        <p:cTn id="51" dur="500" fill="hold"/>
                                        <p:tgtEl>
                                          <p:spTgt spid="286726"/>
                                        </p:tgtEl>
                                        <p:attrNameLst>
                                          <p:attrName>ppt_x</p:attrName>
                                        </p:attrNameLst>
                                      </p:cBhvr>
                                      <p:tavLst>
                                        <p:tav tm="0">
                                          <p:val>
                                            <p:strVal val="0-#ppt_w/2"/>
                                          </p:val>
                                        </p:tav>
                                        <p:tav tm="100000">
                                          <p:val>
                                            <p:strVal val="#ppt_x"/>
                                          </p:val>
                                        </p:tav>
                                      </p:tavLst>
                                    </p:anim>
                                    <p:anim calcmode="lin" valueType="num">
                                      <p:cBhvr additive="base">
                                        <p:cTn id="52" dur="500" fill="hold"/>
                                        <p:tgtEl>
                                          <p:spTgt spid="2867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5" grpId="0" build="p" autoUpdateAnimBg="0"/>
      <p:bldP spid="286726" grpId="0" autoUpdateAnimBg="0"/>
      <p:bldP spid="286727" grpId="0" animBg="1"/>
      <p:bldP spid="286727" grpId="1" animBg="1"/>
      <p:bldP spid="286728" grpId="0" uiExpand="1"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Rectangle 2">
            <a:extLst>
              <a:ext uri="{FF2B5EF4-FFF2-40B4-BE49-F238E27FC236}">
                <a16:creationId xmlns:a16="http://schemas.microsoft.com/office/drawing/2014/main" id="{0C8ADB97-1210-ED0F-AC82-F7B363DA7019}"/>
              </a:ext>
            </a:extLst>
          </p:cNvPr>
          <p:cNvSpPr>
            <a:spLocks noGrp="1" noChangeArrowheads="1"/>
          </p:cNvSpPr>
          <p:nvPr>
            <p:ph type="title"/>
          </p:nvPr>
        </p:nvSpPr>
        <p:spPr/>
        <p:txBody>
          <a:bodyPr/>
          <a:lstStyle/>
          <a:p>
            <a:pPr algn="l" eaLnBrk="1" hangingPunct="1"/>
            <a:r>
              <a:rPr lang="zh-CN" altLang="en-US"/>
              <a:t>证明</a:t>
            </a:r>
            <a:r>
              <a:rPr lang="en-US" altLang="zh-CN"/>
              <a:t>(</a:t>
            </a:r>
            <a:r>
              <a:rPr lang="zh-CN" altLang="en-US"/>
              <a:t>续</a:t>
            </a:r>
            <a:r>
              <a:rPr lang="en-US" altLang="zh-CN"/>
              <a:t>3)</a:t>
            </a:r>
          </a:p>
        </p:txBody>
      </p:sp>
      <p:sp>
        <p:nvSpPr>
          <p:cNvPr id="311299" name="Rectangle 3">
            <a:extLst>
              <a:ext uri="{FF2B5EF4-FFF2-40B4-BE49-F238E27FC236}">
                <a16:creationId xmlns:a16="http://schemas.microsoft.com/office/drawing/2014/main" id="{7395ADA1-FF2B-942D-7312-75950317F8B3}"/>
              </a:ext>
            </a:extLst>
          </p:cNvPr>
          <p:cNvSpPr>
            <a:spLocks noGrp="1" noChangeArrowheads="1"/>
          </p:cNvSpPr>
          <p:nvPr>
            <p:ph type="body" idx="1"/>
          </p:nvPr>
        </p:nvSpPr>
        <p:spPr>
          <a:xfrm>
            <a:off x="369971" y="1148482"/>
            <a:ext cx="7850417" cy="655736"/>
          </a:xfrm>
        </p:spPr>
        <p:txBody>
          <a:bodyPr>
            <a:normAutofit/>
          </a:bodyPr>
          <a:lstStyle/>
          <a:p>
            <a:pPr>
              <a:lnSpc>
                <a:spcPct val="100000"/>
              </a:lnSpc>
              <a:buClrTx/>
              <a:buFontTx/>
              <a:buNone/>
            </a:pPr>
            <a:r>
              <a:rPr lang="en-US" altLang="zh-CN" dirty="0">
                <a:solidFill>
                  <a:srgbClr val="6600CC"/>
                </a:solidFill>
              </a:rPr>
              <a:t>2. </a:t>
            </a:r>
            <a:r>
              <a:rPr lang="zh-CN" altLang="en-US" dirty="0"/>
              <a:t>任取</a:t>
            </a:r>
            <a:r>
              <a:rPr lang="en-US" altLang="zh-CN" dirty="0">
                <a:sym typeface="Symbol" panose="05050102010706020507" pitchFamily="18" charset="2"/>
              </a:rPr>
              <a:t>t</a:t>
            </a:r>
            <a:r>
              <a:rPr lang="en-US" altLang="zh-CN" baseline="-25000" dirty="0">
                <a:sym typeface="Symbol" panose="05050102010706020507" pitchFamily="18" charset="2"/>
              </a:rPr>
              <a:t>1</a:t>
            </a:r>
            <a:r>
              <a:rPr lang="en-US" altLang="zh-CN" dirty="0">
                <a:sym typeface="Symbol" panose="05050102010706020507" pitchFamily="18" charset="2"/>
              </a:rPr>
              <a:t>&lt;t</a:t>
            </a:r>
            <a:r>
              <a:rPr lang="en-US" altLang="zh-CN" baseline="-25000" dirty="0">
                <a:sym typeface="Symbol" panose="05050102010706020507" pitchFamily="18" charset="2"/>
              </a:rPr>
              <a:t>2</a:t>
            </a:r>
            <a:r>
              <a:rPr lang="en-US" altLang="zh-CN" dirty="0">
                <a:sym typeface="Symbol" panose="05050102010706020507" pitchFamily="18" charset="2"/>
              </a:rPr>
              <a:t>&lt;…&lt;</a:t>
            </a:r>
            <a:r>
              <a:rPr lang="en-US" altLang="zh-CN" dirty="0" err="1">
                <a:sym typeface="Symbol" panose="05050102010706020507" pitchFamily="18" charset="2"/>
              </a:rPr>
              <a:t>t</a:t>
            </a:r>
            <a:r>
              <a:rPr lang="en-US" altLang="zh-CN" baseline="-25000" dirty="0" err="1">
                <a:sym typeface="Symbol" panose="05050102010706020507" pitchFamily="18" charset="2"/>
              </a:rPr>
              <a:t>n</a:t>
            </a:r>
            <a:r>
              <a:rPr lang="en-US" altLang="zh-CN" dirty="0" err="1">
                <a:sym typeface="Symbol" panose="05050102010706020507" pitchFamily="18" charset="2"/>
              </a:rPr>
              <a:t>T</a:t>
            </a:r>
            <a:r>
              <a:rPr lang="zh-CN" altLang="en-US" dirty="0"/>
              <a:t>，令</a:t>
            </a:r>
          </a:p>
        </p:txBody>
      </p:sp>
      <p:sp>
        <p:nvSpPr>
          <p:cNvPr id="311300" name="Rectangle 4">
            <a:extLst>
              <a:ext uri="{FF2B5EF4-FFF2-40B4-BE49-F238E27FC236}">
                <a16:creationId xmlns:a16="http://schemas.microsoft.com/office/drawing/2014/main" id="{19E0E3E0-811B-3F83-9721-66C503B5C2F0}"/>
              </a:ext>
            </a:extLst>
          </p:cNvPr>
          <p:cNvSpPr>
            <a:spLocks noChangeArrowheads="1"/>
          </p:cNvSpPr>
          <p:nvPr/>
        </p:nvSpPr>
        <p:spPr bwMode="auto">
          <a:xfrm>
            <a:off x="384157" y="1729699"/>
            <a:ext cx="11049017" cy="398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80000"/>
              </a:lnSpc>
            </a:pPr>
            <a:r>
              <a:rPr lang="en-US" altLang="zh-CN" b="1" dirty="0">
                <a:latin typeface="+mn-ea"/>
                <a:ea typeface="+mn-ea"/>
              </a:rPr>
              <a:t>Y</a:t>
            </a:r>
            <a:r>
              <a:rPr lang="en-US" altLang="zh-CN" b="1" baseline="-25000" dirty="0">
                <a:latin typeface="+mn-ea"/>
                <a:ea typeface="+mn-ea"/>
              </a:rPr>
              <a:t>1</a:t>
            </a:r>
            <a:r>
              <a:rPr lang="zh-CN" altLang="en-US" b="1" dirty="0">
                <a:latin typeface="+mn-ea"/>
                <a:ea typeface="+mn-ea"/>
              </a:rPr>
              <a:t>＝</a:t>
            </a:r>
            <a:r>
              <a:rPr lang="en-US" altLang="zh-CN" b="1" dirty="0">
                <a:latin typeface="+mn-ea"/>
                <a:ea typeface="+mn-ea"/>
              </a:rPr>
              <a:t>X(t</a:t>
            </a:r>
            <a:r>
              <a:rPr lang="en-US" altLang="zh-CN" b="1" baseline="-25000" dirty="0">
                <a:latin typeface="+mn-ea"/>
                <a:ea typeface="+mn-ea"/>
              </a:rPr>
              <a:t>1</a:t>
            </a:r>
            <a:r>
              <a:rPr lang="en-US" altLang="zh-CN" b="1" dirty="0">
                <a:latin typeface="+mn-ea"/>
                <a:ea typeface="+mn-ea"/>
              </a:rPr>
              <a:t>)</a:t>
            </a:r>
            <a:r>
              <a:rPr lang="zh-CN" altLang="en-US" b="1" dirty="0">
                <a:latin typeface="+mn-ea"/>
                <a:ea typeface="+mn-ea"/>
              </a:rPr>
              <a:t>，</a:t>
            </a:r>
            <a:r>
              <a:rPr lang="en-US" altLang="zh-CN" b="1" dirty="0">
                <a:latin typeface="+mn-ea"/>
                <a:ea typeface="+mn-ea"/>
              </a:rPr>
              <a:t>Y</a:t>
            </a:r>
            <a:r>
              <a:rPr lang="en-US" altLang="zh-CN" b="1" baseline="-25000" dirty="0">
                <a:latin typeface="+mn-ea"/>
                <a:ea typeface="+mn-ea"/>
              </a:rPr>
              <a:t>2</a:t>
            </a:r>
            <a:r>
              <a:rPr lang="zh-CN" altLang="en-US" b="1" dirty="0">
                <a:latin typeface="+mn-ea"/>
                <a:ea typeface="+mn-ea"/>
              </a:rPr>
              <a:t>＝</a:t>
            </a:r>
            <a:r>
              <a:rPr lang="en-US" altLang="zh-CN" b="1" dirty="0">
                <a:latin typeface="+mn-ea"/>
                <a:ea typeface="+mn-ea"/>
              </a:rPr>
              <a:t>X(t</a:t>
            </a:r>
            <a:r>
              <a:rPr lang="en-US" altLang="zh-CN" b="1" baseline="-25000" dirty="0">
                <a:latin typeface="+mn-ea"/>
                <a:ea typeface="+mn-ea"/>
              </a:rPr>
              <a:t>2</a:t>
            </a:r>
            <a:r>
              <a:rPr lang="en-US" altLang="zh-CN" b="1" dirty="0">
                <a:latin typeface="+mn-ea"/>
                <a:ea typeface="+mn-ea"/>
              </a:rPr>
              <a:t>)-X(t</a:t>
            </a:r>
            <a:r>
              <a:rPr lang="en-US" altLang="zh-CN" b="1" baseline="-25000" dirty="0">
                <a:latin typeface="+mn-ea"/>
                <a:ea typeface="+mn-ea"/>
              </a:rPr>
              <a:t>1</a:t>
            </a:r>
            <a:r>
              <a:rPr lang="en-US" altLang="zh-CN" b="1" dirty="0">
                <a:latin typeface="+mn-ea"/>
                <a:ea typeface="+mn-ea"/>
              </a:rPr>
              <a:t>)</a:t>
            </a:r>
            <a:r>
              <a:rPr lang="zh-CN" altLang="en-US" b="1" dirty="0">
                <a:latin typeface="+mn-ea"/>
                <a:ea typeface="+mn-ea"/>
              </a:rPr>
              <a:t>，</a:t>
            </a:r>
            <a:r>
              <a:rPr lang="en-US" altLang="zh-CN" b="1" dirty="0">
                <a:latin typeface="+mn-ea"/>
                <a:ea typeface="+mn-ea"/>
              </a:rPr>
              <a:t>…</a:t>
            </a:r>
            <a:r>
              <a:rPr lang="zh-CN" altLang="en-US" b="1" dirty="0">
                <a:latin typeface="+mn-ea"/>
                <a:ea typeface="+mn-ea"/>
              </a:rPr>
              <a:t>，</a:t>
            </a:r>
            <a:r>
              <a:rPr lang="en-US" altLang="zh-CN" b="1" dirty="0" err="1">
                <a:latin typeface="+mn-ea"/>
                <a:ea typeface="+mn-ea"/>
              </a:rPr>
              <a:t>Y</a:t>
            </a:r>
            <a:r>
              <a:rPr lang="en-US" altLang="zh-CN" b="1" baseline="-25000" dirty="0" err="1">
                <a:latin typeface="+mn-ea"/>
                <a:ea typeface="+mn-ea"/>
              </a:rPr>
              <a:t>n</a:t>
            </a:r>
            <a:r>
              <a:rPr lang="zh-CN" altLang="en-US" b="1" dirty="0">
                <a:latin typeface="+mn-ea"/>
                <a:ea typeface="+mn-ea"/>
              </a:rPr>
              <a:t>＝</a:t>
            </a:r>
            <a:r>
              <a:rPr lang="en-US" altLang="zh-CN" b="1" dirty="0">
                <a:latin typeface="+mn-ea"/>
                <a:ea typeface="+mn-ea"/>
              </a:rPr>
              <a:t>X(</a:t>
            </a:r>
            <a:r>
              <a:rPr lang="en-US" altLang="zh-CN" b="1" dirty="0" err="1">
                <a:latin typeface="+mn-ea"/>
                <a:ea typeface="+mn-ea"/>
              </a:rPr>
              <a:t>t</a:t>
            </a:r>
            <a:r>
              <a:rPr lang="en-US" altLang="zh-CN" b="1" baseline="-25000" dirty="0" err="1">
                <a:latin typeface="+mn-ea"/>
                <a:ea typeface="+mn-ea"/>
              </a:rPr>
              <a:t>n</a:t>
            </a:r>
            <a:r>
              <a:rPr lang="en-US" altLang="zh-CN" b="1" dirty="0">
                <a:latin typeface="+mn-ea"/>
                <a:ea typeface="+mn-ea"/>
              </a:rPr>
              <a:t>)-X(t</a:t>
            </a:r>
            <a:r>
              <a:rPr lang="en-US" altLang="zh-CN" b="1" baseline="-25000" dirty="0">
                <a:latin typeface="+mn-ea"/>
                <a:ea typeface="+mn-ea"/>
              </a:rPr>
              <a:t>n-1</a:t>
            </a:r>
            <a:r>
              <a:rPr lang="en-US" altLang="zh-CN" b="1" dirty="0">
                <a:latin typeface="+mn-ea"/>
                <a:ea typeface="+mn-ea"/>
              </a:rPr>
              <a:t>)</a:t>
            </a:r>
          </a:p>
          <a:p>
            <a:pPr eaLnBrk="1" hangingPunct="1">
              <a:lnSpc>
                <a:spcPct val="180000"/>
              </a:lnSpc>
            </a:pPr>
            <a:r>
              <a:rPr lang="zh-CN" altLang="en-US" b="1" dirty="0">
                <a:latin typeface="+mn-ea"/>
                <a:ea typeface="+mn-ea"/>
              </a:rPr>
              <a:t>由增量的独立性知，</a:t>
            </a:r>
            <a:r>
              <a:rPr lang="en-US" altLang="zh-CN" b="1" dirty="0">
                <a:latin typeface="+mn-ea"/>
                <a:ea typeface="+mn-ea"/>
              </a:rPr>
              <a:t>Y</a:t>
            </a:r>
            <a:r>
              <a:rPr lang="en-US" altLang="zh-CN" b="1" baseline="-25000" dirty="0">
                <a:latin typeface="+mn-ea"/>
                <a:ea typeface="+mn-ea"/>
              </a:rPr>
              <a:t>1</a:t>
            </a:r>
            <a:r>
              <a:rPr lang="en-US" altLang="zh-CN" b="1" dirty="0">
                <a:latin typeface="+mn-ea"/>
                <a:ea typeface="+mn-ea"/>
              </a:rPr>
              <a:t>,Y</a:t>
            </a:r>
            <a:r>
              <a:rPr lang="en-US" altLang="zh-CN" b="1" baseline="-25000" dirty="0">
                <a:latin typeface="+mn-ea"/>
                <a:ea typeface="+mn-ea"/>
              </a:rPr>
              <a:t>2</a:t>
            </a:r>
            <a:r>
              <a:rPr lang="en-US" altLang="zh-CN" b="1" dirty="0">
                <a:latin typeface="+mn-ea"/>
                <a:ea typeface="+mn-ea"/>
              </a:rPr>
              <a:t>,…,</a:t>
            </a:r>
            <a:r>
              <a:rPr lang="en-US" altLang="zh-CN" b="1" dirty="0" err="1">
                <a:latin typeface="+mn-ea"/>
                <a:ea typeface="+mn-ea"/>
              </a:rPr>
              <a:t>Y</a:t>
            </a:r>
            <a:r>
              <a:rPr lang="en-US" altLang="zh-CN" b="1" baseline="-25000" dirty="0" err="1">
                <a:latin typeface="+mn-ea"/>
                <a:ea typeface="+mn-ea"/>
              </a:rPr>
              <a:t>n</a:t>
            </a:r>
            <a:r>
              <a:rPr lang="zh-CN" altLang="en-US" b="1" dirty="0">
                <a:latin typeface="+mn-ea"/>
                <a:ea typeface="+mn-ea"/>
              </a:rPr>
              <a:t>为相互独立的随机变量，且</a:t>
            </a:r>
          </a:p>
          <a:p>
            <a:pPr lvl="1" algn="ctr" eaLnBrk="1" hangingPunct="1">
              <a:lnSpc>
                <a:spcPct val="180000"/>
              </a:lnSpc>
            </a:pPr>
            <a:r>
              <a:rPr lang="en-US" altLang="zh-CN" b="1" dirty="0">
                <a:latin typeface="+mn-ea"/>
                <a:ea typeface="+mn-ea"/>
              </a:rPr>
              <a:t>X(t</a:t>
            </a:r>
            <a:r>
              <a:rPr lang="en-US" altLang="zh-CN" b="1" baseline="-25000" dirty="0">
                <a:latin typeface="+mn-ea"/>
                <a:ea typeface="+mn-ea"/>
              </a:rPr>
              <a:t>1</a:t>
            </a:r>
            <a:r>
              <a:rPr lang="en-US" altLang="zh-CN" b="1" dirty="0">
                <a:latin typeface="+mn-ea"/>
                <a:ea typeface="+mn-ea"/>
              </a:rPr>
              <a:t>)</a:t>
            </a:r>
            <a:r>
              <a:rPr lang="zh-CN" altLang="en-US" b="1" dirty="0">
                <a:latin typeface="+mn-ea"/>
                <a:ea typeface="+mn-ea"/>
              </a:rPr>
              <a:t>＝</a:t>
            </a:r>
            <a:r>
              <a:rPr lang="en-US" altLang="zh-CN" b="1" dirty="0">
                <a:latin typeface="+mn-ea"/>
                <a:ea typeface="+mn-ea"/>
              </a:rPr>
              <a:t>Y</a:t>
            </a:r>
            <a:r>
              <a:rPr lang="en-US" altLang="zh-CN" b="1" baseline="-25000" dirty="0">
                <a:latin typeface="+mn-ea"/>
                <a:ea typeface="+mn-ea"/>
              </a:rPr>
              <a:t>1</a:t>
            </a:r>
            <a:r>
              <a:rPr lang="zh-CN" altLang="en-US" b="1" dirty="0">
                <a:latin typeface="+mn-ea"/>
                <a:ea typeface="+mn-ea"/>
              </a:rPr>
              <a:t>，</a:t>
            </a:r>
            <a:r>
              <a:rPr lang="en-US" altLang="zh-CN" b="1" dirty="0">
                <a:latin typeface="+mn-ea"/>
                <a:ea typeface="+mn-ea"/>
              </a:rPr>
              <a:t>X(t</a:t>
            </a:r>
            <a:r>
              <a:rPr lang="en-US" altLang="zh-CN" b="1" baseline="-25000" dirty="0">
                <a:latin typeface="+mn-ea"/>
                <a:ea typeface="+mn-ea"/>
              </a:rPr>
              <a:t>2</a:t>
            </a:r>
            <a:r>
              <a:rPr lang="en-US" altLang="zh-CN" b="1" dirty="0">
                <a:latin typeface="+mn-ea"/>
                <a:ea typeface="+mn-ea"/>
              </a:rPr>
              <a:t>)</a:t>
            </a:r>
            <a:r>
              <a:rPr lang="zh-CN" altLang="en-US" b="1" dirty="0">
                <a:latin typeface="+mn-ea"/>
                <a:ea typeface="+mn-ea"/>
              </a:rPr>
              <a:t>＝</a:t>
            </a:r>
            <a:r>
              <a:rPr lang="en-US" altLang="zh-CN" b="1" dirty="0">
                <a:latin typeface="+mn-ea"/>
                <a:ea typeface="+mn-ea"/>
              </a:rPr>
              <a:t>Y</a:t>
            </a:r>
            <a:r>
              <a:rPr lang="en-US" altLang="zh-CN" b="1" baseline="-25000" dirty="0">
                <a:latin typeface="+mn-ea"/>
                <a:ea typeface="+mn-ea"/>
              </a:rPr>
              <a:t>1</a:t>
            </a:r>
            <a:r>
              <a:rPr lang="en-US" altLang="zh-CN" b="1" dirty="0">
                <a:latin typeface="+mn-ea"/>
                <a:ea typeface="+mn-ea"/>
              </a:rPr>
              <a:t>+Y</a:t>
            </a:r>
            <a:r>
              <a:rPr lang="en-US" altLang="zh-CN" b="1" baseline="-25000" dirty="0">
                <a:latin typeface="+mn-ea"/>
                <a:ea typeface="+mn-ea"/>
              </a:rPr>
              <a:t>2</a:t>
            </a:r>
            <a:r>
              <a:rPr lang="zh-CN" altLang="en-US" b="1" dirty="0">
                <a:latin typeface="+mn-ea"/>
                <a:ea typeface="+mn-ea"/>
              </a:rPr>
              <a:t>，</a:t>
            </a:r>
            <a:r>
              <a:rPr lang="en-US" altLang="zh-CN" b="1" dirty="0">
                <a:latin typeface="+mn-ea"/>
                <a:ea typeface="+mn-ea"/>
              </a:rPr>
              <a:t>…</a:t>
            </a:r>
            <a:r>
              <a:rPr lang="zh-CN" altLang="en-US" b="1" dirty="0">
                <a:latin typeface="+mn-ea"/>
                <a:ea typeface="+mn-ea"/>
              </a:rPr>
              <a:t>，</a:t>
            </a:r>
            <a:r>
              <a:rPr lang="en-US" altLang="zh-CN" b="1" dirty="0">
                <a:latin typeface="+mn-ea"/>
                <a:ea typeface="+mn-ea"/>
              </a:rPr>
              <a:t>X(</a:t>
            </a:r>
            <a:r>
              <a:rPr lang="en-US" altLang="zh-CN" b="1" dirty="0" err="1">
                <a:latin typeface="+mn-ea"/>
                <a:ea typeface="+mn-ea"/>
              </a:rPr>
              <a:t>t</a:t>
            </a:r>
            <a:r>
              <a:rPr lang="en-US" altLang="zh-CN" b="1" baseline="-25000" dirty="0" err="1">
                <a:latin typeface="+mn-ea"/>
                <a:ea typeface="+mn-ea"/>
              </a:rPr>
              <a:t>n</a:t>
            </a:r>
            <a:r>
              <a:rPr lang="en-US" altLang="zh-CN" b="1" dirty="0">
                <a:latin typeface="+mn-ea"/>
                <a:ea typeface="+mn-ea"/>
              </a:rPr>
              <a:t>)</a:t>
            </a:r>
            <a:r>
              <a:rPr lang="zh-CN" altLang="en-US" b="1" dirty="0">
                <a:latin typeface="+mn-ea"/>
                <a:ea typeface="+mn-ea"/>
              </a:rPr>
              <a:t>＝</a:t>
            </a:r>
            <a:r>
              <a:rPr lang="en-US" altLang="zh-CN" b="1" dirty="0">
                <a:latin typeface="+mn-ea"/>
                <a:ea typeface="+mn-ea"/>
              </a:rPr>
              <a:t>Y</a:t>
            </a:r>
            <a:r>
              <a:rPr lang="en-US" altLang="zh-CN" b="1" baseline="-25000" dirty="0">
                <a:latin typeface="+mn-ea"/>
                <a:ea typeface="+mn-ea"/>
              </a:rPr>
              <a:t>1</a:t>
            </a:r>
            <a:r>
              <a:rPr lang="en-US" altLang="zh-CN" b="1" dirty="0">
                <a:latin typeface="+mn-ea"/>
                <a:ea typeface="+mn-ea"/>
              </a:rPr>
              <a:t>+Y</a:t>
            </a:r>
            <a:r>
              <a:rPr lang="en-US" altLang="zh-CN" b="1" baseline="-25000" dirty="0">
                <a:latin typeface="+mn-ea"/>
                <a:ea typeface="+mn-ea"/>
              </a:rPr>
              <a:t>2</a:t>
            </a:r>
            <a:r>
              <a:rPr lang="en-US" altLang="zh-CN" b="1" dirty="0">
                <a:latin typeface="+mn-ea"/>
                <a:ea typeface="+mn-ea"/>
              </a:rPr>
              <a:t>+…+</a:t>
            </a:r>
            <a:r>
              <a:rPr lang="en-US" altLang="zh-CN" b="1" dirty="0" err="1">
                <a:latin typeface="+mn-ea"/>
                <a:ea typeface="+mn-ea"/>
              </a:rPr>
              <a:t>Y</a:t>
            </a:r>
            <a:r>
              <a:rPr lang="en-US" altLang="zh-CN" b="1" baseline="-25000" dirty="0" err="1">
                <a:latin typeface="+mn-ea"/>
                <a:ea typeface="+mn-ea"/>
              </a:rPr>
              <a:t>n</a:t>
            </a:r>
            <a:endParaRPr lang="en-US" altLang="zh-CN" b="1" baseline="-25000" dirty="0">
              <a:latin typeface="+mn-ea"/>
              <a:ea typeface="+mn-ea"/>
            </a:endParaRPr>
          </a:p>
          <a:p>
            <a:pPr eaLnBrk="1" hangingPunct="1">
              <a:lnSpc>
                <a:spcPct val="180000"/>
              </a:lnSpc>
              <a:buClr>
                <a:srgbClr val="00FF00"/>
              </a:buClr>
              <a:buFont typeface="Wingdings" panose="05000000000000000000" pitchFamily="2" charset="2"/>
              <a:buNone/>
            </a:pPr>
            <a:r>
              <a:rPr lang="zh-CN" altLang="en-US" b="1" dirty="0">
                <a:latin typeface="+mn-ea"/>
                <a:ea typeface="+mn-ea"/>
              </a:rPr>
              <a:t>记</a:t>
            </a:r>
            <a:r>
              <a:rPr lang="zh-CN" altLang="en-US" b="1" dirty="0">
                <a:latin typeface="+mn-ea"/>
                <a:ea typeface="+mn-ea"/>
                <a:sym typeface="Symbol" panose="05050102010706020507" pitchFamily="18" charset="2"/>
              </a:rPr>
              <a:t></a:t>
            </a:r>
            <a:r>
              <a:rPr lang="en-US" altLang="zh-CN" b="1" dirty="0">
                <a:latin typeface="+mn-ea"/>
                <a:ea typeface="+mn-ea"/>
              </a:rPr>
              <a:t>(t</a:t>
            </a:r>
            <a:r>
              <a:rPr lang="en-US" altLang="zh-CN" b="1" baseline="-25000" dirty="0">
                <a:latin typeface="+mn-ea"/>
                <a:ea typeface="+mn-ea"/>
              </a:rPr>
              <a:t>1</a:t>
            </a:r>
            <a:r>
              <a:rPr lang="en-US" altLang="zh-CN" b="1" dirty="0">
                <a:latin typeface="+mn-ea"/>
                <a:ea typeface="+mn-ea"/>
              </a:rPr>
              <a:t>,u</a:t>
            </a:r>
            <a:r>
              <a:rPr lang="en-US" altLang="zh-CN" b="1" baseline="-25000" dirty="0">
                <a:latin typeface="+mn-ea"/>
                <a:ea typeface="+mn-ea"/>
              </a:rPr>
              <a:t>1</a:t>
            </a:r>
            <a:r>
              <a:rPr lang="en-US" altLang="zh-CN" b="1" dirty="0">
                <a:latin typeface="+mn-ea"/>
                <a:ea typeface="+mn-ea"/>
              </a:rPr>
              <a:t>)</a:t>
            </a:r>
            <a:r>
              <a:rPr lang="zh-CN" altLang="en-US" b="1" dirty="0">
                <a:latin typeface="+mn-ea"/>
                <a:ea typeface="+mn-ea"/>
              </a:rPr>
              <a:t>为</a:t>
            </a:r>
            <a:r>
              <a:rPr lang="en-US" altLang="zh-CN" b="1" dirty="0">
                <a:latin typeface="+mn-ea"/>
                <a:ea typeface="+mn-ea"/>
              </a:rPr>
              <a:t>X(t</a:t>
            </a:r>
            <a:r>
              <a:rPr lang="en-US" altLang="zh-CN" b="1" baseline="-25000" dirty="0">
                <a:latin typeface="+mn-ea"/>
                <a:ea typeface="+mn-ea"/>
              </a:rPr>
              <a:t>1</a:t>
            </a:r>
            <a:r>
              <a:rPr lang="en-US" altLang="zh-CN" b="1" dirty="0">
                <a:latin typeface="+mn-ea"/>
                <a:ea typeface="+mn-ea"/>
              </a:rPr>
              <a:t>)</a:t>
            </a:r>
            <a:r>
              <a:rPr lang="zh-CN" altLang="en-US" b="1" dirty="0">
                <a:latin typeface="+mn-ea"/>
                <a:ea typeface="+mn-ea"/>
              </a:rPr>
              <a:t>的特征函数；</a:t>
            </a:r>
          </a:p>
          <a:p>
            <a:pPr eaLnBrk="1" hangingPunct="1">
              <a:lnSpc>
                <a:spcPct val="180000"/>
              </a:lnSpc>
              <a:buClr>
                <a:srgbClr val="00FF00"/>
              </a:buClr>
              <a:buFont typeface="Wingdings" panose="05000000000000000000" pitchFamily="2" charset="2"/>
              <a:buNone/>
            </a:pPr>
            <a:r>
              <a:rPr lang="zh-CN" altLang="en-US" b="1" dirty="0">
                <a:latin typeface="+mn-ea"/>
                <a:ea typeface="+mn-ea"/>
              </a:rPr>
              <a:t>  </a:t>
            </a:r>
            <a:r>
              <a:rPr lang="zh-CN" altLang="en-US" b="1" dirty="0">
                <a:latin typeface="+mn-ea"/>
                <a:ea typeface="+mn-ea"/>
                <a:sym typeface="Symbol" panose="05050102010706020507" pitchFamily="18" charset="2"/>
              </a:rPr>
              <a:t></a:t>
            </a:r>
            <a:r>
              <a:rPr lang="en-US" altLang="zh-CN" b="1" dirty="0">
                <a:latin typeface="+mn-ea"/>
                <a:ea typeface="+mn-ea"/>
              </a:rPr>
              <a:t>(t</a:t>
            </a:r>
            <a:r>
              <a:rPr lang="en-US" altLang="zh-CN" b="1" baseline="-25000" dirty="0">
                <a:latin typeface="+mn-ea"/>
                <a:ea typeface="+mn-ea"/>
              </a:rPr>
              <a:t>k</a:t>
            </a:r>
            <a:r>
              <a:rPr lang="en-US" altLang="zh-CN" b="1" dirty="0">
                <a:latin typeface="+mn-ea"/>
                <a:ea typeface="+mn-ea"/>
              </a:rPr>
              <a:t>-t</a:t>
            </a:r>
            <a:r>
              <a:rPr lang="en-US" altLang="zh-CN" b="1" baseline="-25000" dirty="0">
                <a:latin typeface="+mn-ea"/>
                <a:ea typeface="+mn-ea"/>
              </a:rPr>
              <a:t>k-1</a:t>
            </a:r>
            <a:r>
              <a:rPr lang="en-US" altLang="zh-CN" b="1" dirty="0">
                <a:latin typeface="+mn-ea"/>
                <a:ea typeface="+mn-ea"/>
              </a:rPr>
              <a:t>,u)</a:t>
            </a:r>
            <a:r>
              <a:rPr lang="zh-CN" altLang="en-US" b="1" dirty="0">
                <a:latin typeface="+mn-ea"/>
                <a:ea typeface="+mn-ea"/>
              </a:rPr>
              <a:t>为</a:t>
            </a:r>
            <a:r>
              <a:rPr lang="en-US" altLang="zh-CN" b="1" dirty="0">
                <a:latin typeface="+mn-ea"/>
                <a:ea typeface="+mn-ea"/>
              </a:rPr>
              <a:t>X(</a:t>
            </a:r>
            <a:r>
              <a:rPr lang="en-US" altLang="zh-CN" b="1" dirty="0" err="1">
                <a:latin typeface="+mn-ea"/>
                <a:ea typeface="+mn-ea"/>
              </a:rPr>
              <a:t>t</a:t>
            </a:r>
            <a:r>
              <a:rPr lang="en-US" altLang="zh-CN" b="1" baseline="-25000" dirty="0" err="1">
                <a:latin typeface="+mn-ea"/>
                <a:ea typeface="+mn-ea"/>
              </a:rPr>
              <a:t>k</a:t>
            </a:r>
            <a:r>
              <a:rPr lang="en-US" altLang="zh-CN" b="1" dirty="0">
                <a:latin typeface="+mn-ea"/>
                <a:ea typeface="+mn-ea"/>
              </a:rPr>
              <a:t>)-X(</a:t>
            </a:r>
            <a:r>
              <a:rPr lang="en-US" altLang="zh-CN" b="1" dirty="0" err="1">
                <a:latin typeface="+mn-ea"/>
                <a:ea typeface="+mn-ea"/>
              </a:rPr>
              <a:t>t</a:t>
            </a:r>
            <a:r>
              <a:rPr lang="en-US" altLang="zh-CN" b="1" baseline="-25000" dirty="0" err="1">
                <a:latin typeface="+mn-ea"/>
                <a:ea typeface="+mn-ea"/>
              </a:rPr>
              <a:t>k</a:t>
            </a:r>
            <a:r>
              <a:rPr lang="zh-CN" altLang="en-US" b="1" baseline="-25000" dirty="0">
                <a:latin typeface="+mn-ea"/>
                <a:ea typeface="+mn-ea"/>
              </a:rPr>
              <a:t>－</a:t>
            </a:r>
            <a:r>
              <a:rPr lang="en-US" altLang="zh-CN" b="1" baseline="-25000" dirty="0">
                <a:latin typeface="+mn-ea"/>
                <a:ea typeface="+mn-ea"/>
              </a:rPr>
              <a:t>1</a:t>
            </a:r>
            <a:r>
              <a:rPr lang="en-US" altLang="zh-CN" b="1" dirty="0">
                <a:latin typeface="+mn-ea"/>
                <a:ea typeface="+mn-ea"/>
              </a:rPr>
              <a:t>)</a:t>
            </a:r>
            <a:r>
              <a:rPr lang="zh-CN" altLang="en-US" b="1" dirty="0">
                <a:latin typeface="+mn-ea"/>
                <a:ea typeface="+mn-ea"/>
              </a:rPr>
              <a:t>的特征函数；</a:t>
            </a:r>
          </a:p>
          <a:p>
            <a:pPr eaLnBrk="1" hangingPunct="1">
              <a:lnSpc>
                <a:spcPct val="180000"/>
              </a:lnSpc>
              <a:buClr>
                <a:srgbClr val="00FF00"/>
              </a:buClr>
              <a:buFont typeface="Wingdings" panose="05000000000000000000" pitchFamily="2" charset="2"/>
              <a:buNone/>
            </a:pPr>
            <a:r>
              <a:rPr lang="zh-CN" altLang="en-US" b="1" dirty="0">
                <a:latin typeface="+mn-ea"/>
                <a:ea typeface="+mn-ea"/>
              </a:rPr>
              <a:t>  </a:t>
            </a:r>
            <a:r>
              <a:rPr lang="zh-CN" altLang="en-US" b="1" dirty="0">
                <a:latin typeface="+mn-ea"/>
                <a:ea typeface="+mn-ea"/>
                <a:sym typeface="Symbol" panose="05050102010706020507" pitchFamily="18" charset="2"/>
              </a:rPr>
              <a:t></a:t>
            </a:r>
            <a:r>
              <a:rPr lang="en-US" altLang="zh-CN" b="1" dirty="0">
                <a:latin typeface="+mn-ea"/>
                <a:ea typeface="+mn-ea"/>
              </a:rPr>
              <a:t>(t</a:t>
            </a:r>
            <a:r>
              <a:rPr lang="en-US" altLang="zh-CN" b="1" baseline="-25000" dirty="0">
                <a:latin typeface="+mn-ea"/>
                <a:ea typeface="+mn-ea"/>
              </a:rPr>
              <a:t>1</a:t>
            </a:r>
            <a:r>
              <a:rPr lang="en-US" altLang="zh-CN" b="1" dirty="0">
                <a:latin typeface="+mn-ea"/>
                <a:ea typeface="+mn-ea"/>
              </a:rPr>
              <a:t>,t</a:t>
            </a:r>
            <a:r>
              <a:rPr lang="en-US" altLang="zh-CN" b="1" baseline="-25000" dirty="0">
                <a:latin typeface="+mn-ea"/>
                <a:ea typeface="+mn-ea"/>
              </a:rPr>
              <a:t>2</a:t>
            </a:r>
            <a:r>
              <a:rPr lang="en-US" altLang="zh-CN" b="1" dirty="0">
                <a:latin typeface="+mn-ea"/>
                <a:ea typeface="+mn-ea"/>
              </a:rPr>
              <a:t>,…,t</a:t>
            </a:r>
            <a:r>
              <a:rPr lang="en-US" altLang="zh-CN" b="1" baseline="-25000" dirty="0">
                <a:latin typeface="+mn-ea"/>
                <a:ea typeface="+mn-ea"/>
              </a:rPr>
              <a:t>n</a:t>
            </a:r>
            <a:r>
              <a:rPr lang="en-US" altLang="zh-CN" b="1" dirty="0">
                <a:latin typeface="+mn-ea"/>
                <a:ea typeface="+mn-ea"/>
              </a:rPr>
              <a:t>;u</a:t>
            </a:r>
            <a:r>
              <a:rPr lang="en-US" altLang="zh-CN" b="1" baseline="-25000" dirty="0">
                <a:latin typeface="+mn-ea"/>
                <a:ea typeface="+mn-ea"/>
              </a:rPr>
              <a:t>1</a:t>
            </a:r>
            <a:r>
              <a:rPr lang="en-US" altLang="zh-CN" b="1" dirty="0">
                <a:latin typeface="+mn-ea"/>
                <a:ea typeface="+mn-ea"/>
              </a:rPr>
              <a:t>,u</a:t>
            </a:r>
            <a:r>
              <a:rPr lang="en-US" altLang="zh-CN" b="1" baseline="-25000" dirty="0">
                <a:latin typeface="+mn-ea"/>
                <a:ea typeface="+mn-ea"/>
              </a:rPr>
              <a:t>2</a:t>
            </a:r>
            <a:r>
              <a:rPr lang="en-US" altLang="zh-CN" b="1" dirty="0">
                <a:latin typeface="+mn-ea"/>
                <a:ea typeface="+mn-ea"/>
              </a:rPr>
              <a:t>,…,u</a:t>
            </a:r>
            <a:r>
              <a:rPr lang="en-US" altLang="zh-CN" b="1" baseline="-25000" dirty="0">
                <a:latin typeface="+mn-ea"/>
                <a:ea typeface="+mn-ea"/>
              </a:rPr>
              <a:t>n</a:t>
            </a:r>
            <a:r>
              <a:rPr lang="en-US" altLang="zh-CN" b="1" dirty="0">
                <a:latin typeface="+mn-ea"/>
                <a:ea typeface="+mn-ea"/>
              </a:rPr>
              <a:t>)</a:t>
            </a:r>
            <a:r>
              <a:rPr lang="zh-CN" altLang="en-US" b="1" dirty="0">
                <a:latin typeface="+mn-ea"/>
                <a:ea typeface="+mn-ea"/>
              </a:rPr>
              <a:t>为</a:t>
            </a:r>
            <a:r>
              <a:rPr lang="en-US" altLang="zh-CN" b="1" dirty="0">
                <a:latin typeface="+mn-ea"/>
                <a:ea typeface="+mn-ea"/>
              </a:rPr>
              <a:t>X(t</a:t>
            </a:r>
            <a:r>
              <a:rPr lang="en-US" altLang="zh-CN" b="1" baseline="-25000" dirty="0">
                <a:latin typeface="+mn-ea"/>
                <a:ea typeface="+mn-ea"/>
              </a:rPr>
              <a:t>1</a:t>
            </a:r>
            <a:r>
              <a:rPr lang="en-US" altLang="zh-CN" b="1" dirty="0">
                <a:latin typeface="+mn-ea"/>
                <a:ea typeface="+mn-ea"/>
              </a:rPr>
              <a:t>),X(t</a:t>
            </a:r>
            <a:r>
              <a:rPr lang="en-US" altLang="zh-CN" b="1" baseline="-25000" dirty="0">
                <a:latin typeface="+mn-ea"/>
                <a:ea typeface="+mn-ea"/>
              </a:rPr>
              <a:t>2</a:t>
            </a:r>
            <a:r>
              <a:rPr lang="en-US" altLang="zh-CN" b="1" dirty="0">
                <a:latin typeface="+mn-ea"/>
                <a:ea typeface="+mn-ea"/>
              </a:rPr>
              <a:t>), …,X(</a:t>
            </a:r>
            <a:r>
              <a:rPr lang="en-US" altLang="zh-CN" b="1" dirty="0" err="1">
                <a:latin typeface="+mn-ea"/>
                <a:ea typeface="+mn-ea"/>
              </a:rPr>
              <a:t>t</a:t>
            </a:r>
            <a:r>
              <a:rPr lang="en-US" altLang="zh-CN" b="1" baseline="-25000" dirty="0" err="1">
                <a:latin typeface="+mn-ea"/>
                <a:ea typeface="+mn-ea"/>
              </a:rPr>
              <a:t>n</a:t>
            </a:r>
            <a:r>
              <a:rPr lang="en-US" altLang="zh-CN" b="1" dirty="0">
                <a:latin typeface="+mn-ea"/>
                <a:ea typeface="+mn-ea"/>
              </a:rPr>
              <a:t>)</a:t>
            </a:r>
            <a:r>
              <a:rPr lang="zh-CN" altLang="en-US" b="1" dirty="0">
                <a:latin typeface="+mn-ea"/>
                <a:ea typeface="+mn-ea"/>
              </a:rPr>
              <a:t>的联合特征函数。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311299">
                                            <p:txEl>
                                              <p:pRg st="0" end="0"/>
                                            </p:txEl>
                                          </p:spTgt>
                                        </p:tgtEl>
                                        <p:attrNameLst>
                                          <p:attrName>style.visibility</p:attrName>
                                        </p:attrNameLst>
                                      </p:cBhvr>
                                      <p:to>
                                        <p:strVal val="visible"/>
                                      </p:to>
                                    </p:set>
                                    <p:anim calcmode="lin" valueType="num">
                                      <p:cBhvr additive="base">
                                        <p:cTn id="7" dur="500" fill="hold"/>
                                        <p:tgtEl>
                                          <p:spTgt spid="311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129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311300">
                                            <p:txEl>
                                              <p:pRg st="0" end="0"/>
                                            </p:txEl>
                                          </p:spTgt>
                                        </p:tgtEl>
                                        <p:attrNameLst>
                                          <p:attrName>style.visibility</p:attrName>
                                        </p:attrNameLst>
                                      </p:cBhvr>
                                      <p:to>
                                        <p:strVal val="visible"/>
                                      </p:to>
                                    </p:set>
                                    <p:anim calcmode="lin" valueType="num">
                                      <p:cBhvr additive="base">
                                        <p:cTn id="13" dur="500" fill="hold"/>
                                        <p:tgtEl>
                                          <p:spTgt spid="31130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1300">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311300">
                                            <p:txEl>
                                              <p:pRg st="1" end="1"/>
                                            </p:txEl>
                                          </p:spTgt>
                                        </p:tgtEl>
                                        <p:attrNameLst>
                                          <p:attrName>style.visibility</p:attrName>
                                        </p:attrNameLst>
                                      </p:cBhvr>
                                      <p:to>
                                        <p:strVal val="visible"/>
                                      </p:to>
                                    </p:set>
                                    <p:anim calcmode="lin" valueType="num">
                                      <p:cBhvr additive="base">
                                        <p:cTn id="19" dur="500" fill="hold"/>
                                        <p:tgtEl>
                                          <p:spTgt spid="31130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1300">
                                            <p:txEl>
                                              <p:pRg st="1" end="1"/>
                                            </p:txEl>
                                          </p:spTgt>
                                        </p:tgtEl>
                                        <p:attrNameLst>
                                          <p:attrName>ppt_y</p:attrName>
                                        </p:attrNameLst>
                                      </p:cBhvr>
                                      <p:tavLst>
                                        <p:tav tm="0">
                                          <p:val>
                                            <p:strVal val="0-#ppt_h/2"/>
                                          </p:val>
                                        </p:tav>
                                        <p:tav tm="100000">
                                          <p:val>
                                            <p:strVal val="#ppt_y"/>
                                          </p:val>
                                        </p:tav>
                                      </p:tavLst>
                                    </p:anim>
                                  </p:childTnLst>
                                </p:cTn>
                              </p:par>
                            </p:childTnLst>
                          </p:cTn>
                        </p:par>
                        <p:par>
                          <p:cTn id="21" fill="hold" nodeType="afterGroup">
                            <p:stCondLst>
                              <p:cond delay="500"/>
                            </p:stCondLst>
                            <p:childTnLst>
                              <p:par>
                                <p:cTn id="22" presetID="2" presetClass="entr" presetSubtype="9" fill="hold" grpId="0" nodeType="afterEffect">
                                  <p:stCondLst>
                                    <p:cond delay="0"/>
                                  </p:stCondLst>
                                  <p:childTnLst>
                                    <p:set>
                                      <p:cBhvr>
                                        <p:cTn id="23" dur="1" fill="hold">
                                          <p:stCondLst>
                                            <p:cond delay="0"/>
                                          </p:stCondLst>
                                        </p:cTn>
                                        <p:tgtEl>
                                          <p:spTgt spid="311300">
                                            <p:txEl>
                                              <p:pRg st="2" end="2"/>
                                            </p:txEl>
                                          </p:spTgt>
                                        </p:tgtEl>
                                        <p:attrNameLst>
                                          <p:attrName>style.visibility</p:attrName>
                                        </p:attrNameLst>
                                      </p:cBhvr>
                                      <p:to>
                                        <p:strVal val="visible"/>
                                      </p:to>
                                    </p:set>
                                    <p:anim calcmode="lin" valueType="num">
                                      <p:cBhvr additive="base">
                                        <p:cTn id="24" dur="500" fill="hold"/>
                                        <p:tgtEl>
                                          <p:spTgt spid="311300">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311300">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9" fill="hold" grpId="0" nodeType="clickEffect">
                                  <p:stCondLst>
                                    <p:cond delay="0"/>
                                  </p:stCondLst>
                                  <p:childTnLst>
                                    <p:set>
                                      <p:cBhvr>
                                        <p:cTn id="29" dur="1" fill="hold">
                                          <p:stCondLst>
                                            <p:cond delay="0"/>
                                          </p:stCondLst>
                                        </p:cTn>
                                        <p:tgtEl>
                                          <p:spTgt spid="311300">
                                            <p:txEl>
                                              <p:pRg st="3" end="3"/>
                                            </p:txEl>
                                          </p:spTgt>
                                        </p:tgtEl>
                                        <p:attrNameLst>
                                          <p:attrName>style.visibility</p:attrName>
                                        </p:attrNameLst>
                                      </p:cBhvr>
                                      <p:to>
                                        <p:strVal val="visible"/>
                                      </p:to>
                                    </p:set>
                                    <p:anim calcmode="lin" valueType="num">
                                      <p:cBhvr additive="base">
                                        <p:cTn id="30" dur="500" fill="hold"/>
                                        <p:tgtEl>
                                          <p:spTgt spid="311300">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311300">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9" fill="hold" grpId="0" nodeType="clickEffect">
                                  <p:stCondLst>
                                    <p:cond delay="0"/>
                                  </p:stCondLst>
                                  <p:childTnLst>
                                    <p:set>
                                      <p:cBhvr>
                                        <p:cTn id="35" dur="1" fill="hold">
                                          <p:stCondLst>
                                            <p:cond delay="0"/>
                                          </p:stCondLst>
                                        </p:cTn>
                                        <p:tgtEl>
                                          <p:spTgt spid="311300">
                                            <p:txEl>
                                              <p:pRg st="4" end="4"/>
                                            </p:txEl>
                                          </p:spTgt>
                                        </p:tgtEl>
                                        <p:attrNameLst>
                                          <p:attrName>style.visibility</p:attrName>
                                        </p:attrNameLst>
                                      </p:cBhvr>
                                      <p:to>
                                        <p:strVal val="visible"/>
                                      </p:to>
                                    </p:set>
                                    <p:anim calcmode="lin" valueType="num">
                                      <p:cBhvr additive="base">
                                        <p:cTn id="36" dur="500" fill="hold"/>
                                        <p:tgtEl>
                                          <p:spTgt spid="311300">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311300">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9" fill="hold" grpId="0" nodeType="clickEffect">
                                  <p:stCondLst>
                                    <p:cond delay="0"/>
                                  </p:stCondLst>
                                  <p:childTnLst>
                                    <p:set>
                                      <p:cBhvr>
                                        <p:cTn id="41" dur="1" fill="hold">
                                          <p:stCondLst>
                                            <p:cond delay="0"/>
                                          </p:stCondLst>
                                        </p:cTn>
                                        <p:tgtEl>
                                          <p:spTgt spid="311300">
                                            <p:txEl>
                                              <p:pRg st="5" end="5"/>
                                            </p:txEl>
                                          </p:spTgt>
                                        </p:tgtEl>
                                        <p:attrNameLst>
                                          <p:attrName>style.visibility</p:attrName>
                                        </p:attrNameLst>
                                      </p:cBhvr>
                                      <p:to>
                                        <p:strVal val="visible"/>
                                      </p:to>
                                    </p:set>
                                    <p:anim calcmode="lin" valueType="num">
                                      <p:cBhvr additive="base">
                                        <p:cTn id="42" dur="500" fill="hold"/>
                                        <p:tgtEl>
                                          <p:spTgt spid="311300">
                                            <p:txEl>
                                              <p:pRg st="5" end="5"/>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311300">
                                            <p:txEl>
                                              <p:pRg st="5" end="5"/>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build="p"/>
      <p:bldP spid="311300" grpId="0" uiExpand="1"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a:extLst>
              <a:ext uri="{FF2B5EF4-FFF2-40B4-BE49-F238E27FC236}">
                <a16:creationId xmlns:a16="http://schemas.microsoft.com/office/drawing/2014/main" id="{7EF84F59-4587-FF28-FDE8-0336E5582B0E}"/>
              </a:ext>
            </a:extLst>
          </p:cNvPr>
          <p:cNvSpPr>
            <a:spLocks noGrp="1" noChangeArrowheads="1"/>
          </p:cNvSpPr>
          <p:nvPr>
            <p:ph type="title"/>
          </p:nvPr>
        </p:nvSpPr>
        <p:spPr/>
        <p:txBody>
          <a:bodyPr/>
          <a:lstStyle/>
          <a:p>
            <a:pPr algn="l" eaLnBrk="1" hangingPunct="1"/>
            <a:r>
              <a:rPr lang="zh-CN" altLang="en-US"/>
              <a:t>证明</a:t>
            </a:r>
            <a:r>
              <a:rPr lang="en-US" altLang="zh-CN"/>
              <a:t>(</a:t>
            </a:r>
            <a:r>
              <a:rPr lang="zh-CN" altLang="en-US"/>
              <a:t>续</a:t>
            </a:r>
            <a:r>
              <a:rPr lang="en-US" altLang="zh-CN"/>
              <a:t>4)</a:t>
            </a:r>
          </a:p>
        </p:txBody>
      </p:sp>
      <p:sp>
        <p:nvSpPr>
          <p:cNvPr id="287747" name="Rectangle 3">
            <a:extLst>
              <a:ext uri="{FF2B5EF4-FFF2-40B4-BE49-F238E27FC236}">
                <a16:creationId xmlns:a16="http://schemas.microsoft.com/office/drawing/2014/main" id="{DFFE4B04-0A31-CB5B-6703-DD1A6FAEA925}"/>
              </a:ext>
            </a:extLst>
          </p:cNvPr>
          <p:cNvSpPr>
            <a:spLocks noGrp="1" noChangeArrowheads="1"/>
          </p:cNvSpPr>
          <p:nvPr>
            <p:ph type="body" idx="1"/>
          </p:nvPr>
        </p:nvSpPr>
        <p:spPr>
          <a:xfrm>
            <a:off x="460375" y="1141678"/>
            <a:ext cx="10210799" cy="1508474"/>
          </a:xfrm>
        </p:spPr>
        <p:txBody>
          <a:bodyPr>
            <a:normAutofit/>
          </a:bodyPr>
          <a:lstStyle/>
          <a:p>
            <a:pPr eaLnBrk="1" hangingPunct="1">
              <a:lnSpc>
                <a:spcPct val="140000"/>
              </a:lnSpc>
              <a:buFont typeface="Wingdings" panose="05000000000000000000" pitchFamily="2" charset="2"/>
              <a:buNone/>
            </a:pPr>
            <a:r>
              <a:rPr lang="zh-CN" altLang="en-US" dirty="0"/>
              <a:t>由特征函数的定义及</a:t>
            </a:r>
            <a:r>
              <a:rPr lang="en-US" altLang="zh-CN" dirty="0"/>
              <a:t>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n</a:t>
            </a:r>
            <a:r>
              <a:rPr lang="zh-CN" altLang="en-US" dirty="0"/>
              <a:t>的独立性，有</a:t>
            </a:r>
            <a:endParaRPr lang="en-US" altLang="zh-CN" dirty="0"/>
          </a:p>
          <a:p>
            <a:pPr eaLnBrk="1" hangingPunct="1">
              <a:lnSpc>
                <a:spcPct val="200000"/>
              </a:lnSpc>
              <a:buFont typeface="Wingdings" panose="05000000000000000000" pitchFamily="2" charset="2"/>
              <a:buNone/>
            </a:pPr>
            <a:r>
              <a:rPr lang="zh-CN" altLang="en-US" dirty="0">
                <a:sym typeface="Symbol" panose="05050102010706020507" pitchFamily="18" charset="2"/>
              </a:rPr>
              <a:t></a:t>
            </a:r>
            <a:r>
              <a:rPr lang="en-US" altLang="zh-CN" dirty="0"/>
              <a:t>(t</a:t>
            </a:r>
            <a:r>
              <a:rPr lang="en-US" altLang="zh-CN" baseline="-25000" dirty="0"/>
              <a:t>1</a:t>
            </a:r>
            <a:r>
              <a:rPr lang="en-US" altLang="zh-CN" dirty="0"/>
              <a:t>,t</a:t>
            </a:r>
            <a:r>
              <a:rPr lang="en-US" altLang="zh-CN" baseline="-25000" dirty="0"/>
              <a:t>2</a:t>
            </a:r>
            <a:r>
              <a:rPr lang="en-US" altLang="zh-CN" dirty="0"/>
              <a:t>,…,t</a:t>
            </a:r>
            <a:r>
              <a:rPr lang="en-US" altLang="zh-CN" baseline="-25000" dirty="0"/>
              <a:t>n</a:t>
            </a:r>
            <a:r>
              <a:rPr lang="en-US" altLang="zh-CN" dirty="0"/>
              <a:t>;u</a:t>
            </a:r>
            <a:r>
              <a:rPr lang="en-US" altLang="zh-CN" baseline="-25000" dirty="0"/>
              <a:t>1</a:t>
            </a:r>
            <a:r>
              <a:rPr lang="en-US" altLang="zh-CN" dirty="0"/>
              <a:t>,u</a:t>
            </a:r>
            <a:r>
              <a:rPr lang="en-US" altLang="zh-CN" baseline="-25000" dirty="0"/>
              <a:t>2</a:t>
            </a:r>
            <a:r>
              <a:rPr lang="en-US" altLang="zh-CN" dirty="0"/>
              <a:t>,…,u</a:t>
            </a:r>
            <a:r>
              <a:rPr lang="en-US" altLang="zh-CN" baseline="-25000" dirty="0"/>
              <a:t>n</a:t>
            </a:r>
            <a:r>
              <a:rPr lang="en-US" altLang="zh-CN" dirty="0"/>
              <a:t>)</a:t>
            </a:r>
          </a:p>
        </p:txBody>
      </p:sp>
      <mc:AlternateContent xmlns:mc="http://schemas.openxmlformats.org/markup-compatibility/2006" xmlns:a14="http://schemas.microsoft.com/office/drawing/2010/main">
        <mc:Choice Requires="a14">
          <p:sp>
            <p:nvSpPr>
              <p:cNvPr id="287748" name="Object 4">
                <a:extLst>
                  <a:ext uri="{FF2B5EF4-FFF2-40B4-BE49-F238E27FC236}">
                    <a16:creationId xmlns:a16="http://schemas.microsoft.com/office/drawing/2014/main" id="{79DE6677-D4DC-6124-C5D6-C0DA7E293CAF}"/>
                  </a:ext>
                </a:extLst>
              </p:cNvPr>
              <p:cNvSpPr txBox="1"/>
              <p:nvPr/>
            </p:nvSpPr>
            <p:spPr bwMode="auto">
              <a:xfrm>
                <a:off x="3960010" y="1924732"/>
                <a:ext cx="4833563" cy="95113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87748" name="Object 4">
                <a:extLst>
                  <a:ext uri="{FF2B5EF4-FFF2-40B4-BE49-F238E27FC236}">
                    <a16:creationId xmlns:a16="http://schemas.microsoft.com/office/drawing/2014/main" id="{79DE6677-D4DC-6124-C5D6-C0DA7E293CAF}"/>
                  </a:ext>
                </a:extLst>
              </p:cNvPr>
              <p:cNvSpPr txBox="1">
                <a:spLocks noRot="1" noChangeAspect="1" noMove="1" noResize="1" noEditPoints="1" noAdjustHandles="1" noChangeArrowheads="1" noChangeShapeType="1" noTextEdit="1"/>
              </p:cNvSpPr>
              <p:nvPr/>
            </p:nvSpPr>
            <p:spPr bwMode="auto">
              <a:xfrm>
                <a:off x="3960010" y="1924732"/>
                <a:ext cx="4833563" cy="951133"/>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7749" name="Object 5">
                <a:extLst>
                  <a:ext uri="{FF2B5EF4-FFF2-40B4-BE49-F238E27FC236}">
                    <a16:creationId xmlns:a16="http://schemas.microsoft.com/office/drawing/2014/main" id="{A972BEF6-E7FB-B7EC-1B38-5E676730CF55}"/>
                  </a:ext>
                </a:extLst>
              </p:cNvPr>
              <p:cNvSpPr txBox="1"/>
              <p:nvPr/>
            </p:nvSpPr>
            <p:spPr bwMode="auto">
              <a:xfrm>
                <a:off x="1374775" y="2784743"/>
                <a:ext cx="6142823" cy="95113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87749" name="Object 5">
                <a:extLst>
                  <a:ext uri="{FF2B5EF4-FFF2-40B4-BE49-F238E27FC236}">
                    <a16:creationId xmlns:a16="http://schemas.microsoft.com/office/drawing/2014/main" id="{A972BEF6-E7FB-B7EC-1B38-5E676730CF55}"/>
                  </a:ext>
                </a:extLst>
              </p:cNvPr>
              <p:cNvSpPr txBox="1">
                <a:spLocks noRot="1" noChangeAspect="1" noMove="1" noResize="1" noEditPoints="1" noAdjustHandles="1" noChangeArrowheads="1" noChangeShapeType="1" noTextEdit="1"/>
              </p:cNvSpPr>
              <p:nvPr/>
            </p:nvSpPr>
            <p:spPr bwMode="auto">
              <a:xfrm>
                <a:off x="1374775" y="2784743"/>
                <a:ext cx="6142823" cy="951134"/>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7750" name="Object 6">
                <a:extLst>
                  <a:ext uri="{FF2B5EF4-FFF2-40B4-BE49-F238E27FC236}">
                    <a16:creationId xmlns:a16="http://schemas.microsoft.com/office/drawing/2014/main" id="{AED32AF5-3AE8-92C7-213A-C73A134C5421}"/>
                  </a:ext>
                </a:extLst>
              </p:cNvPr>
              <p:cNvSpPr txBox="1"/>
              <p:nvPr/>
            </p:nvSpPr>
            <p:spPr bwMode="auto">
              <a:xfrm>
                <a:off x="1374775" y="3475891"/>
                <a:ext cx="6539717" cy="95113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87750" name="Object 6">
                <a:extLst>
                  <a:ext uri="{FF2B5EF4-FFF2-40B4-BE49-F238E27FC236}">
                    <a16:creationId xmlns:a16="http://schemas.microsoft.com/office/drawing/2014/main" id="{AED32AF5-3AE8-92C7-213A-C73A134C5421}"/>
                  </a:ext>
                </a:extLst>
              </p:cNvPr>
              <p:cNvSpPr txBox="1">
                <a:spLocks noRot="1" noChangeAspect="1" noMove="1" noResize="1" noEditPoints="1" noAdjustHandles="1" noChangeArrowheads="1" noChangeShapeType="1" noTextEdit="1"/>
              </p:cNvSpPr>
              <p:nvPr/>
            </p:nvSpPr>
            <p:spPr bwMode="auto">
              <a:xfrm>
                <a:off x="1374775" y="3475891"/>
                <a:ext cx="6539717" cy="951133"/>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7751" name="Object 7">
                <a:extLst>
                  <a:ext uri="{FF2B5EF4-FFF2-40B4-BE49-F238E27FC236}">
                    <a16:creationId xmlns:a16="http://schemas.microsoft.com/office/drawing/2014/main" id="{C78F59E3-33A2-26D5-6C49-9E19CD6C97E5}"/>
                  </a:ext>
                </a:extLst>
              </p:cNvPr>
              <p:cNvSpPr txBox="1"/>
              <p:nvPr/>
            </p:nvSpPr>
            <p:spPr bwMode="auto">
              <a:xfrm>
                <a:off x="1374775" y="4174542"/>
                <a:ext cx="8260696" cy="95113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𝑖</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𝑛</m:t>
                              </m:r>
                            </m:sub>
                          </m:sSub>
                        </m:sup>
                      </m:sSup>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87751" name="Object 7">
                <a:extLst>
                  <a:ext uri="{FF2B5EF4-FFF2-40B4-BE49-F238E27FC236}">
                    <a16:creationId xmlns:a16="http://schemas.microsoft.com/office/drawing/2014/main" id="{C78F59E3-33A2-26D5-6C49-9E19CD6C97E5}"/>
                  </a:ext>
                </a:extLst>
              </p:cNvPr>
              <p:cNvSpPr txBox="1">
                <a:spLocks noRot="1" noChangeAspect="1" noMove="1" noResize="1" noEditPoints="1" noAdjustHandles="1" noChangeArrowheads="1" noChangeShapeType="1" noTextEdit="1"/>
              </p:cNvSpPr>
              <p:nvPr/>
            </p:nvSpPr>
            <p:spPr bwMode="auto">
              <a:xfrm>
                <a:off x="1374775" y="4174542"/>
                <a:ext cx="8260696" cy="951134"/>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10" name="Rectangle 3">
            <a:extLst>
              <a:ext uri="{FF2B5EF4-FFF2-40B4-BE49-F238E27FC236}">
                <a16:creationId xmlns:a16="http://schemas.microsoft.com/office/drawing/2014/main" id="{B0F8DD9D-112F-284D-926D-9C4AFE086C0F}"/>
              </a:ext>
            </a:extLst>
          </p:cNvPr>
          <p:cNvSpPr txBox="1">
            <a:spLocks noChangeArrowheads="1"/>
          </p:cNvSpPr>
          <p:nvPr/>
        </p:nvSpPr>
        <p:spPr>
          <a:xfrm>
            <a:off x="7851775" y="2387789"/>
            <a:ext cx="4107796" cy="1816430"/>
          </a:xfrm>
          <a:prstGeom prst="rect">
            <a:avLst/>
          </a:prstGeom>
          <a:solidFill>
            <a:schemeClr val="accent2">
              <a:lumMod val="20000"/>
              <a:lumOff val="80000"/>
            </a:schemeClr>
          </a:solidFill>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dirty="0"/>
              <a:t>因此，只要由一维分布和增量分布就可以完全确定独立增量过程的有限维分布。</a:t>
            </a:r>
          </a:p>
        </p:txBody>
      </p:sp>
      <mc:AlternateContent xmlns:mc="http://schemas.openxmlformats.org/markup-compatibility/2006" xmlns:a14="http://schemas.microsoft.com/office/drawing/2010/main">
        <mc:Choice Requires="a14">
          <p:sp>
            <p:nvSpPr>
              <p:cNvPr id="11" name="Object 4">
                <a:extLst>
                  <a:ext uri="{FF2B5EF4-FFF2-40B4-BE49-F238E27FC236}">
                    <a16:creationId xmlns:a16="http://schemas.microsoft.com/office/drawing/2014/main" id="{E358F24E-5242-9721-0A6F-7470655E83EB}"/>
                  </a:ext>
                </a:extLst>
              </p:cNvPr>
              <p:cNvSpPr txBox="1"/>
              <p:nvPr/>
            </p:nvSpPr>
            <p:spPr bwMode="auto">
              <a:xfrm>
                <a:off x="1374775" y="4966414"/>
                <a:ext cx="11028375" cy="58770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𝜙</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1" name="Object 4">
                <a:extLst>
                  <a:ext uri="{FF2B5EF4-FFF2-40B4-BE49-F238E27FC236}">
                    <a16:creationId xmlns:a16="http://schemas.microsoft.com/office/drawing/2014/main" id="{E358F24E-5242-9721-0A6F-7470655E83EB}"/>
                  </a:ext>
                </a:extLst>
              </p:cNvPr>
              <p:cNvSpPr txBox="1">
                <a:spLocks noRot="1" noChangeAspect="1" noMove="1" noResize="1" noEditPoints="1" noAdjustHandles="1" noChangeArrowheads="1" noChangeShapeType="1" noTextEdit="1"/>
              </p:cNvSpPr>
              <p:nvPr/>
            </p:nvSpPr>
            <p:spPr bwMode="auto">
              <a:xfrm>
                <a:off x="1374775" y="4966414"/>
                <a:ext cx="11028375" cy="587705"/>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5">
                <a:extLst>
                  <a:ext uri="{FF2B5EF4-FFF2-40B4-BE49-F238E27FC236}">
                    <a16:creationId xmlns:a16="http://schemas.microsoft.com/office/drawing/2014/main" id="{D3C001AA-9407-9A6B-1EDF-DDE59D56BC3B}"/>
                  </a:ext>
                </a:extLst>
              </p:cNvPr>
              <p:cNvSpPr txBox="1"/>
              <p:nvPr/>
            </p:nvSpPr>
            <p:spPr bwMode="auto">
              <a:xfrm>
                <a:off x="1330502" y="5499966"/>
                <a:ext cx="10134600" cy="13716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𝜙</m:t>
                          </m:r>
                        </m:e>
                        <m:sub>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 </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𝜙</m:t>
                              </m:r>
                            </m:e>
                            <m:sub>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𝑋</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e>
                      </m:nary>
                    </m:oMath>
                  </m:oMathPara>
                </a14:m>
                <a:endParaRPr lang="zh-CN" altLang="en-US" dirty="0"/>
              </a:p>
            </p:txBody>
          </p:sp>
        </mc:Choice>
        <mc:Fallback xmlns="">
          <p:sp>
            <p:nvSpPr>
              <p:cNvPr id="12" name="Object 5">
                <a:extLst>
                  <a:ext uri="{FF2B5EF4-FFF2-40B4-BE49-F238E27FC236}">
                    <a16:creationId xmlns:a16="http://schemas.microsoft.com/office/drawing/2014/main" id="{D3C001AA-9407-9A6B-1EDF-DDE59D56BC3B}"/>
                  </a:ext>
                </a:extLst>
              </p:cNvPr>
              <p:cNvSpPr txBox="1">
                <a:spLocks noRot="1" noChangeAspect="1" noMove="1" noResize="1" noEditPoints="1" noAdjustHandles="1" noChangeArrowheads="1" noChangeShapeType="1" noTextEdit="1"/>
              </p:cNvSpPr>
              <p:nvPr/>
            </p:nvSpPr>
            <p:spPr bwMode="auto">
              <a:xfrm>
                <a:off x="1330502" y="5499966"/>
                <a:ext cx="10134600" cy="1371600"/>
              </a:xfrm>
              <a:prstGeom prst="rect">
                <a:avLst/>
              </a:prstGeom>
              <a:blipFill>
                <a:blip r:embed="rId7"/>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87747">
                                            <p:txEl>
                                              <p:pRg st="0" end="0"/>
                                            </p:txEl>
                                          </p:spTgt>
                                        </p:tgtEl>
                                        <p:attrNameLst>
                                          <p:attrName>style.visibility</p:attrName>
                                        </p:attrNameLst>
                                      </p:cBhvr>
                                      <p:to>
                                        <p:strVal val="visible"/>
                                      </p:to>
                                    </p:set>
                                    <p:anim calcmode="lin" valueType="num">
                                      <p:cBhvr additive="base">
                                        <p:cTn id="7" dur="500" fill="hold"/>
                                        <p:tgtEl>
                                          <p:spTgt spid="287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7747">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9" fill="hold" grpId="0" nodeType="afterEffect">
                                  <p:stCondLst>
                                    <p:cond delay="0"/>
                                  </p:stCondLst>
                                  <p:childTnLst>
                                    <p:set>
                                      <p:cBhvr>
                                        <p:cTn id="11" dur="1" fill="hold">
                                          <p:stCondLst>
                                            <p:cond delay="0"/>
                                          </p:stCondLst>
                                        </p:cTn>
                                        <p:tgtEl>
                                          <p:spTgt spid="287747">
                                            <p:txEl>
                                              <p:pRg st="1" end="1"/>
                                            </p:txEl>
                                          </p:spTgt>
                                        </p:tgtEl>
                                        <p:attrNameLst>
                                          <p:attrName>style.visibility</p:attrName>
                                        </p:attrNameLst>
                                      </p:cBhvr>
                                      <p:to>
                                        <p:strVal val="visible"/>
                                      </p:to>
                                    </p:set>
                                    <p:anim calcmode="lin" valueType="num">
                                      <p:cBhvr additive="base">
                                        <p:cTn id="12" dur="500" fill="hold"/>
                                        <p:tgtEl>
                                          <p:spTgt spid="287747">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87747">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 calcmode="lin" valueType="num">
                                      <p:cBhvr additive="base">
                                        <p:cTn id="18"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287748"/>
                                        </p:tgtEl>
                                        <p:attrNameLst>
                                          <p:attrName>style.visibility</p:attrName>
                                        </p:attrNameLst>
                                      </p:cBhvr>
                                      <p:to>
                                        <p:strVal val="visible"/>
                                      </p:to>
                                    </p:set>
                                    <p:animEffect transition="in" filter="randombar(horizontal)">
                                      <p:cBhvr>
                                        <p:cTn id="24" dur="500"/>
                                        <p:tgtEl>
                                          <p:spTgt spid="287748"/>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287749"/>
                                        </p:tgtEl>
                                        <p:attrNameLst>
                                          <p:attrName>style.visibility</p:attrName>
                                        </p:attrNameLst>
                                      </p:cBhvr>
                                      <p:to>
                                        <p:strVal val="visible"/>
                                      </p:to>
                                    </p:set>
                                    <p:animEffect transition="in" filter="randombar(horizontal)">
                                      <p:cBhvr>
                                        <p:cTn id="29" dur="500"/>
                                        <p:tgtEl>
                                          <p:spTgt spid="287749"/>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287750"/>
                                        </p:tgtEl>
                                        <p:attrNameLst>
                                          <p:attrName>style.visibility</p:attrName>
                                        </p:attrNameLst>
                                      </p:cBhvr>
                                      <p:to>
                                        <p:strVal val="visible"/>
                                      </p:to>
                                    </p:set>
                                    <p:animEffect transition="in" filter="randombar(horizontal)">
                                      <p:cBhvr>
                                        <p:cTn id="34" dur="500"/>
                                        <p:tgtEl>
                                          <p:spTgt spid="287750"/>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287751"/>
                                        </p:tgtEl>
                                        <p:attrNameLst>
                                          <p:attrName>style.visibility</p:attrName>
                                        </p:attrNameLst>
                                      </p:cBhvr>
                                      <p:to>
                                        <p:strVal val="visible"/>
                                      </p:to>
                                    </p:set>
                                    <p:animEffect transition="in" filter="randombar(horizontal)">
                                      <p:cBhvr>
                                        <p:cTn id="39" dur="500"/>
                                        <p:tgtEl>
                                          <p:spTgt spid="287751"/>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randombar(horizontal)">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randombar(horizontal)">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P spid="287748" grpId="0"/>
      <p:bldP spid="287749" grpId="0"/>
      <p:bldP spid="287750" grpId="0"/>
      <p:bldP spid="287751" grpId="0"/>
      <p:bldP spid="10" grpId="0" build="p" autoUpdateAnimBg="0"/>
      <p:bldP spid="11" grpId="0"/>
      <p:bldP spid="12"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9" name="Rectangle 2">
            <a:extLst>
              <a:ext uri="{FF2B5EF4-FFF2-40B4-BE49-F238E27FC236}">
                <a16:creationId xmlns:a16="http://schemas.microsoft.com/office/drawing/2014/main" id="{14EE4DCD-CE42-BDBD-7E45-503922565543}"/>
              </a:ext>
            </a:extLst>
          </p:cNvPr>
          <p:cNvSpPr>
            <a:spLocks noGrp="1" noChangeArrowheads="1"/>
          </p:cNvSpPr>
          <p:nvPr>
            <p:ph type="title"/>
          </p:nvPr>
        </p:nvSpPr>
        <p:spPr/>
        <p:txBody>
          <a:bodyPr/>
          <a:lstStyle/>
          <a:p>
            <a:pPr eaLnBrk="1" hangingPunct="1"/>
            <a:r>
              <a:rPr lang="zh-CN" altLang="en-US"/>
              <a:t>说明</a:t>
            </a:r>
          </a:p>
        </p:txBody>
      </p:sp>
      <p:sp>
        <p:nvSpPr>
          <p:cNvPr id="324611" name="Rectangle 3">
            <a:extLst>
              <a:ext uri="{FF2B5EF4-FFF2-40B4-BE49-F238E27FC236}">
                <a16:creationId xmlns:a16="http://schemas.microsoft.com/office/drawing/2014/main" id="{AE0D1700-8568-771D-A24B-0DF33CA84C8E}"/>
              </a:ext>
            </a:extLst>
          </p:cNvPr>
          <p:cNvSpPr>
            <a:spLocks noGrp="1" noChangeArrowheads="1"/>
          </p:cNvSpPr>
          <p:nvPr>
            <p:ph type="body" idx="1"/>
          </p:nvPr>
        </p:nvSpPr>
        <p:spPr>
          <a:xfrm>
            <a:off x="460375" y="1194077"/>
            <a:ext cx="10820399" cy="4446029"/>
          </a:xfrm>
        </p:spPr>
        <p:txBody>
          <a:bodyPr/>
          <a:lstStyle/>
          <a:p>
            <a:pPr algn="just" eaLnBrk="1" hangingPunct="1">
              <a:lnSpc>
                <a:spcPct val="200000"/>
              </a:lnSpc>
            </a:pPr>
            <a:r>
              <a:rPr lang="en-US" altLang="zh-CN"/>
              <a:t>    </a:t>
            </a:r>
            <a:r>
              <a:rPr lang="zh-CN" altLang="en-US"/>
              <a:t>特别地，对</a:t>
            </a:r>
            <a:r>
              <a:rPr lang="en-US" altLang="zh-CN"/>
              <a:t>a</a:t>
            </a:r>
            <a:r>
              <a:rPr lang="en-US" altLang="en-US"/>
              <a:t>＞</a:t>
            </a:r>
            <a:r>
              <a:rPr lang="en-US" altLang="zh-CN"/>
              <a:t>-</a:t>
            </a:r>
            <a:r>
              <a:rPr lang="en-US" altLang="zh-CN">
                <a:sym typeface="Symbol" panose="05050102010706020507" pitchFamily="18" charset="2"/>
              </a:rPr>
              <a:t></a:t>
            </a:r>
            <a:r>
              <a:rPr lang="zh-CN" altLang="en-US">
                <a:sym typeface="Symbol" panose="05050102010706020507" pitchFamily="18" charset="2"/>
              </a:rPr>
              <a:t>，</a:t>
            </a:r>
            <a:r>
              <a:rPr lang="en-US" altLang="zh-CN">
                <a:sym typeface="Symbol" panose="05050102010706020507" pitchFamily="18" charset="2"/>
              </a:rPr>
              <a:t>P{X(a)=0}</a:t>
            </a:r>
            <a:r>
              <a:rPr lang="zh-CN" altLang="en-US">
                <a:sym typeface="Symbol" panose="05050102010706020507" pitchFamily="18" charset="2"/>
              </a:rPr>
              <a:t>＝</a:t>
            </a:r>
            <a:r>
              <a:rPr lang="en-US" altLang="zh-CN">
                <a:sym typeface="Symbol" panose="05050102010706020507" pitchFamily="18" charset="2"/>
              </a:rPr>
              <a:t>1</a:t>
            </a:r>
            <a:r>
              <a:rPr lang="zh-CN" altLang="en-US">
                <a:sym typeface="Symbol" panose="05050102010706020507" pitchFamily="18" charset="2"/>
              </a:rPr>
              <a:t>的情况下，因为</a:t>
            </a:r>
            <a:r>
              <a:rPr lang="en-US" altLang="zh-CN">
                <a:sym typeface="Symbol" panose="05050102010706020507" pitchFamily="18" charset="2"/>
              </a:rPr>
              <a:t>X(t</a:t>
            </a:r>
            <a:r>
              <a:rPr lang="en-US" altLang="zh-CN" baseline="-25000">
                <a:sym typeface="Symbol" panose="05050102010706020507" pitchFamily="18" charset="2"/>
              </a:rPr>
              <a:t>1</a:t>
            </a:r>
            <a:r>
              <a:rPr lang="en-US" altLang="zh-CN">
                <a:sym typeface="Symbol" panose="05050102010706020507" pitchFamily="18" charset="2"/>
              </a:rPr>
              <a:t>)</a:t>
            </a:r>
            <a:r>
              <a:rPr lang="zh-CN" altLang="en-US">
                <a:sym typeface="Symbol" panose="05050102010706020507" pitchFamily="18" charset="2"/>
              </a:rPr>
              <a:t>＝</a:t>
            </a:r>
            <a:r>
              <a:rPr lang="en-US" altLang="zh-CN">
                <a:sym typeface="Symbol" panose="05050102010706020507" pitchFamily="18" charset="2"/>
              </a:rPr>
              <a:t>X(t</a:t>
            </a:r>
            <a:r>
              <a:rPr lang="en-US" altLang="zh-CN" baseline="-25000">
                <a:sym typeface="Symbol" panose="05050102010706020507" pitchFamily="18" charset="2"/>
              </a:rPr>
              <a:t>1</a:t>
            </a:r>
            <a:r>
              <a:rPr lang="en-US" altLang="zh-CN">
                <a:sym typeface="Symbol" panose="05050102010706020507" pitchFamily="18" charset="2"/>
              </a:rPr>
              <a:t>)-X(a)</a:t>
            </a:r>
            <a:r>
              <a:rPr lang="zh-CN" altLang="en-US">
                <a:sym typeface="Symbol" panose="05050102010706020507" pitchFamily="18" charset="2"/>
              </a:rPr>
              <a:t>，所以只要知道增量分布就可以完全确定</a:t>
            </a:r>
            <a:r>
              <a:rPr lang="zh-CN" altLang="en-US"/>
              <a:t>独立增量过程的有限维分布。</a:t>
            </a:r>
          </a:p>
          <a:p>
            <a:pPr algn="just" eaLnBrk="1" hangingPunct="1">
              <a:lnSpc>
                <a:spcPct val="200000"/>
              </a:lnSpc>
            </a:pPr>
            <a:r>
              <a:rPr lang="zh-CN" altLang="en-US"/>
              <a:t>    对于平稳独立增量过程</a:t>
            </a:r>
            <a:r>
              <a:rPr lang="en-US" altLang="zh-CN"/>
              <a:t>{X(t),t</a:t>
            </a:r>
            <a:r>
              <a:rPr lang="en-US" altLang="zh-CN">
                <a:sym typeface="Symbol" panose="05050102010706020507" pitchFamily="18" charset="2"/>
              </a:rPr>
              <a:t></a:t>
            </a:r>
            <a:r>
              <a:rPr lang="en-US" altLang="zh-CN"/>
              <a:t>[a,b]}</a:t>
            </a:r>
            <a:r>
              <a:rPr lang="zh-CN" altLang="en-US"/>
              <a:t>，若</a:t>
            </a:r>
            <a:r>
              <a:rPr lang="en-US" altLang="zh-CN"/>
              <a:t>a&gt;-</a:t>
            </a:r>
            <a:r>
              <a:rPr lang="en-US" altLang="zh-CN">
                <a:sym typeface="Symbol" panose="05050102010706020507" pitchFamily="18" charset="2"/>
              </a:rPr>
              <a:t></a:t>
            </a:r>
            <a:r>
              <a:rPr lang="zh-CN" altLang="en-US">
                <a:sym typeface="Symbol" panose="05050102010706020507" pitchFamily="18" charset="2"/>
              </a:rPr>
              <a:t>，</a:t>
            </a:r>
            <a:r>
              <a:rPr lang="en-US" altLang="zh-CN">
                <a:sym typeface="Symbol" panose="05050102010706020507" pitchFamily="18" charset="2"/>
              </a:rPr>
              <a:t>P{X(a)=0}</a:t>
            </a:r>
            <a:r>
              <a:rPr lang="zh-CN" altLang="en-US">
                <a:sym typeface="Symbol" panose="05050102010706020507" pitchFamily="18" charset="2"/>
              </a:rPr>
              <a:t>＝</a:t>
            </a:r>
            <a:r>
              <a:rPr lang="en-US" altLang="zh-CN">
                <a:sym typeface="Symbol" panose="05050102010706020507" pitchFamily="18" charset="2"/>
              </a:rPr>
              <a:t>1</a:t>
            </a:r>
            <a:r>
              <a:rPr lang="zh-CN" altLang="en-US">
                <a:sym typeface="Symbol" panose="05050102010706020507" pitchFamily="18" charset="2"/>
              </a:rPr>
              <a:t>。因为增量</a:t>
            </a:r>
            <a:r>
              <a:rPr lang="en-US" altLang="zh-CN">
                <a:sym typeface="Symbol" panose="05050102010706020507" pitchFamily="18" charset="2"/>
              </a:rPr>
              <a:t>X(t</a:t>
            </a:r>
            <a:r>
              <a:rPr lang="en-US" altLang="zh-CN" baseline="-25000">
                <a:sym typeface="Symbol" panose="05050102010706020507" pitchFamily="18" charset="2"/>
              </a:rPr>
              <a:t>2</a:t>
            </a:r>
            <a:r>
              <a:rPr lang="en-US" altLang="zh-CN">
                <a:sym typeface="Symbol" panose="05050102010706020507" pitchFamily="18" charset="2"/>
              </a:rPr>
              <a:t>)-X(t</a:t>
            </a:r>
            <a:r>
              <a:rPr lang="en-US" altLang="zh-CN" baseline="-25000">
                <a:sym typeface="Symbol" panose="05050102010706020507" pitchFamily="18" charset="2"/>
              </a:rPr>
              <a:t>1</a:t>
            </a:r>
            <a:r>
              <a:rPr lang="en-US" altLang="zh-CN">
                <a:sym typeface="Symbol" panose="05050102010706020507" pitchFamily="18" charset="2"/>
              </a:rPr>
              <a:t>)</a:t>
            </a:r>
            <a:r>
              <a:rPr lang="zh-CN" altLang="en-US">
                <a:sym typeface="Symbol" panose="05050102010706020507" pitchFamily="18" charset="2"/>
              </a:rPr>
              <a:t>的分布与</a:t>
            </a:r>
            <a:r>
              <a:rPr lang="en-US" altLang="zh-CN">
                <a:sym typeface="Symbol" panose="05050102010706020507" pitchFamily="18" charset="2"/>
              </a:rPr>
              <a:t>X(t</a:t>
            </a:r>
            <a:r>
              <a:rPr lang="en-US" altLang="zh-CN" baseline="-25000">
                <a:sym typeface="Symbol" panose="05050102010706020507" pitchFamily="18" charset="2"/>
              </a:rPr>
              <a:t>2</a:t>
            </a:r>
            <a:r>
              <a:rPr lang="en-US" altLang="zh-CN">
                <a:sym typeface="Symbol" panose="05050102010706020507" pitchFamily="18" charset="2"/>
              </a:rPr>
              <a:t>-t</a:t>
            </a:r>
            <a:r>
              <a:rPr lang="en-US" altLang="zh-CN" baseline="-25000">
                <a:sym typeface="Symbol" panose="05050102010706020507" pitchFamily="18" charset="2"/>
              </a:rPr>
              <a:t>1</a:t>
            </a:r>
            <a:r>
              <a:rPr lang="en-US" altLang="zh-CN">
                <a:sym typeface="Symbol" panose="05050102010706020507" pitchFamily="18" charset="2"/>
              </a:rPr>
              <a:t>+a)-X(a)</a:t>
            </a:r>
            <a:r>
              <a:rPr lang="zh-CN" altLang="en-US">
                <a:sym typeface="Symbol" panose="05050102010706020507" pitchFamily="18" charset="2"/>
              </a:rPr>
              <a:t>与</a:t>
            </a:r>
            <a:r>
              <a:rPr lang="en-US" altLang="zh-CN">
                <a:sym typeface="Symbol" panose="05050102010706020507" pitchFamily="18" charset="2"/>
              </a:rPr>
              <a:t>X(t</a:t>
            </a:r>
            <a:r>
              <a:rPr lang="en-US" altLang="zh-CN" baseline="-25000">
                <a:sym typeface="Symbol" panose="05050102010706020507" pitchFamily="18" charset="2"/>
              </a:rPr>
              <a:t>2</a:t>
            </a:r>
            <a:r>
              <a:rPr lang="en-US" altLang="zh-CN">
                <a:sym typeface="Symbol" panose="05050102010706020507" pitchFamily="18" charset="2"/>
              </a:rPr>
              <a:t>-t</a:t>
            </a:r>
            <a:r>
              <a:rPr lang="en-US" altLang="zh-CN" baseline="-25000">
                <a:sym typeface="Symbol" panose="05050102010706020507" pitchFamily="18" charset="2"/>
              </a:rPr>
              <a:t>1</a:t>
            </a:r>
            <a:r>
              <a:rPr lang="en-US" altLang="zh-CN">
                <a:sym typeface="Symbol" panose="05050102010706020507" pitchFamily="18" charset="2"/>
              </a:rPr>
              <a:t>)</a:t>
            </a:r>
            <a:r>
              <a:rPr lang="zh-CN" altLang="en-US">
                <a:sym typeface="Symbol" panose="05050102010706020507" pitchFamily="18" charset="2"/>
              </a:rPr>
              <a:t>的分布相同，所以实际上只要知道</a:t>
            </a:r>
            <a:r>
              <a:rPr lang="en-US" altLang="zh-CN">
                <a:sym typeface="Symbol" panose="05050102010706020507" pitchFamily="18" charset="2"/>
              </a:rPr>
              <a:t>X(t)</a:t>
            </a:r>
            <a:r>
              <a:rPr lang="zh-CN" altLang="en-US">
                <a:sym typeface="Symbol" panose="05050102010706020507" pitchFamily="18" charset="2"/>
              </a:rPr>
              <a:t>的一维分布就可以推出它的有限维分布。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1">
                                            <p:txEl>
                                              <p:pRg st="0" end="0"/>
                                            </p:txEl>
                                          </p:spTgt>
                                        </p:tgtEl>
                                        <p:attrNameLst>
                                          <p:attrName>style.visibility</p:attrName>
                                        </p:attrNameLst>
                                      </p:cBhvr>
                                      <p:to>
                                        <p:strVal val="visible"/>
                                      </p:to>
                                    </p:set>
                                    <p:anim calcmode="lin" valueType="num">
                                      <p:cBhvr additive="base">
                                        <p:cTn id="7" dur="500" fill="hold"/>
                                        <p:tgtEl>
                                          <p:spTgt spid="3246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46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4611">
                                            <p:txEl>
                                              <p:pRg st="1" end="1"/>
                                            </p:txEl>
                                          </p:spTgt>
                                        </p:tgtEl>
                                        <p:attrNameLst>
                                          <p:attrName>style.visibility</p:attrName>
                                        </p:attrNameLst>
                                      </p:cBhvr>
                                      <p:to>
                                        <p:strVal val="visible"/>
                                      </p:to>
                                    </p:set>
                                    <p:anim calcmode="lin" valueType="num">
                                      <p:cBhvr additive="base">
                                        <p:cTn id="13" dur="500" fill="hold"/>
                                        <p:tgtEl>
                                          <p:spTgt spid="3246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461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p:txBody>
          <a:bodyPr/>
          <a:lstStyle/>
          <a:p>
            <a:pPr eaLnBrk="1" hangingPunct="1"/>
            <a:r>
              <a:rPr lang="en-US" altLang="zh-CN" dirty="0"/>
              <a:t>4.</a:t>
            </a:r>
            <a:r>
              <a:rPr lang="zh-CN" altLang="en-US" dirty="0"/>
              <a:t>正态过程</a:t>
            </a:r>
            <a:r>
              <a:rPr lang="en-US" altLang="zh-CN" dirty="0"/>
              <a:t>(</a:t>
            </a:r>
            <a:r>
              <a:rPr lang="zh-CN" altLang="en-US" dirty="0"/>
              <a:t>高斯过程</a:t>
            </a:r>
            <a:r>
              <a:rPr lang="en-US" altLang="zh-CN" dirty="0"/>
              <a:t>)</a:t>
            </a:r>
          </a:p>
        </p:txBody>
      </p:sp>
      <p:sp>
        <p:nvSpPr>
          <p:cNvPr id="339971" name="Rectangle 3"/>
          <p:cNvSpPr>
            <a:spLocks noGrp="1" noChangeArrowheads="1"/>
          </p:cNvSpPr>
          <p:nvPr>
            <p:ph type="body" idx="1"/>
          </p:nvPr>
        </p:nvSpPr>
        <p:spPr>
          <a:xfrm>
            <a:off x="546100" y="1753394"/>
            <a:ext cx="11125199" cy="3890275"/>
          </a:xfrm>
        </p:spPr>
        <p:txBody>
          <a:bodyPr/>
          <a:lstStyle/>
          <a:p>
            <a:pPr marL="0" indent="0" eaLnBrk="1" hangingPunct="1">
              <a:buFont typeface="Wingdings" pitchFamily="2" charset="2"/>
              <a:buNone/>
            </a:pPr>
            <a:r>
              <a:rPr lang="en-US" altLang="zh-CN" kern="0" dirty="0"/>
              <a:t>     </a:t>
            </a:r>
            <a:r>
              <a:rPr lang="zh-CN" altLang="en-US" kern="0" dirty="0"/>
              <a:t>正态过程在电子技术中经常遇到，例如温度限制二极管的噪声、电子元器件的噪声等。正态过程在随机过程中起着重要的作用。一方面，很多重要随机过程都是正态过程，或者可以用正态过程来近似表示；另一方面，正态过程具有很多良好的性质，对正态过程来说，许多问题的回答比其它过程较为容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39971">
                                            <p:txEl>
                                              <p:pRg st="0" end="0"/>
                                            </p:txEl>
                                          </p:spTgt>
                                        </p:tgtEl>
                                        <p:attrNameLst>
                                          <p:attrName>style.visibility</p:attrName>
                                        </p:attrNameLst>
                                      </p:cBhvr>
                                      <p:to>
                                        <p:strVal val="visible"/>
                                      </p:to>
                                    </p:set>
                                    <p:anim calcmode="lin" valueType="num">
                                      <p:cBhvr additive="base">
                                        <p:cTn id="7" dur="500" fill="hold"/>
                                        <p:tgtEl>
                                          <p:spTgt spid="3399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997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ChangeArrowheads="1"/>
          </p:cNvSpPr>
          <p:nvPr>
            <p:ph type="title"/>
          </p:nvPr>
        </p:nvSpPr>
        <p:spPr/>
        <p:txBody>
          <a:bodyPr/>
          <a:lstStyle/>
          <a:p>
            <a:pPr eaLnBrk="1" hangingPunct="1"/>
            <a:r>
              <a:rPr lang="zh-CN" altLang="en-US"/>
              <a:t>正态过程的定义</a:t>
            </a:r>
          </a:p>
        </p:txBody>
      </p:sp>
      <p:sp>
        <p:nvSpPr>
          <p:cNvPr id="344067" name="Rectangle 3"/>
          <p:cNvSpPr>
            <a:spLocks noGrp="1" noChangeArrowheads="1"/>
          </p:cNvSpPr>
          <p:nvPr>
            <p:ph type="body" idx="1"/>
          </p:nvPr>
        </p:nvSpPr>
        <p:spPr>
          <a:xfrm>
            <a:off x="231775" y="826531"/>
            <a:ext cx="11353800" cy="2515129"/>
          </a:xfrm>
        </p:spPr>
        <p:txBody>
          <a:bodyPr/>
          <a:lstStyle/>
          <a:p>
            <a:pPr algn="just" eaLnBrk="1" hangingPunct="1">
              <a:buFont typeface="Wingdings" pitchFamily="2" charset="2"/>
              <a:buNone/>
            </a:pPr>
            <a:r>
              <a:rPr lang="zh-CN" altLang="en-US" dirty="0"/>
              <a:t>给定随机过程</a:t>
            </a:r>
            <a:r>
              <a:rPr lang="en-US" altLang="zh-CN" dirty="0"/>
              <a:t>{X(t),</a:t>
            </a:r>
            <a:r>
              <a:rPr lang="en-US" altLang="zh-CN" dirty="0" err="1"/>
              <a:t>t</a:t>
            </a:r>
            <a:r>
              <a:rPr lang="en-US" altLang="zh-CN" dirty="0" err="1">
                <a:sym typeface="Symbol" pitchFamily="18" charset="2"/>
              </a:rPr>
              <a:t>T</a:t>
            </a:r>
            <a:r>
              <a:rPr lang="en-US" altLang="zh-CN" dirty="0">
                <a:sym typeface="Symbol" pitchFamily="18" charset="2"/>
              </a:rPr>
              <a:t>}</a:t>
            </a:r>
            <a:r>
              <a:rPr lang="zh-CN" altLang="en-US" dirty="0">
                <a:sym typeface="Symbol" pitchFamily="18" charset="2"/>
              </a:rPr>
              <a:t>，如果对任意正整数</a:t>
            </a:r>
            <a:r>
              <a:rPr lang="en-US" altLang="zh-CN" dirty="0">
                <a:sym typeface="Symbol" pitchFamily="18" charset="2"/>
              </a:rPr>
              <a:t>n</a:t>
            </a:r>
            <a:r>
              <a:rPr lang="zh-CN" altLang="en-US" dirty="0">
                <a:sym typeface="Symbol" pitchFamily="18" charset="2"/>
              </a:rPr>
              <a:t>及</a:t>
            </a:r>
            <a:r>
              <a:rPr lang="en-US" altLang="zh-CN" dirty="0">
                <a:sym typeface="Symbol" pitchFamily="18" charset="2"/>
              </a:rPr>
              <a:t>t</a:t>
            </a:r>
            <a:r>
              <a:rPr lang="en-US" altLang="zh-CN" baseline="-25000" dirty="0">
                <a:sym typeface="Symbol" pitchFamily="18" charset="2"/>
              </a:rPr>
              <a:t>1</a:t>
            </a:r>
            <a:r>
              <a:rPr lang="en-US" altLang="zh-CN" dirty="0">
                <a:sym typeface="Symbol" pitchFamily="18" charset="2"/>
              </a:rPr>
              <a:t>,t</a:t>
            </a:r>
            <a:r>
              <a:rPr lang="en-US" altLang="zh-CN" baseline="-25000" dirty="0">
                <a:sym typeface="Symbol" pitchFamily="18" charset="2"/>
              </a:rPr>
              <a:t>2</a:t>
            </a:r>
            <a:r>
              <a:rPr lang="en-US" altLang="zh-CN" dirty="0">
                <a:sym typeface="Symbol" pitchFamily="18" charset="2"/>
              </a:rPr>
              <a:t>,…,</a:t>
            </a:r>
            <a:r>
              <a:rPr lang="en-US" altLang="zh-CN" dirty="0" err="1">
                <a:sym typeface="Symbol" pitchFamily="18" charset="2"/>
              </a:rPr>
              <a:t>t</a:t>
            </a:r>
            <a:r>
              <a:rPr lang="en-US" altLang="zh-CN" baseline="-25000" dirty="0" err="1">
                <a:sym typeface="Symbol" pitchFamily="18" charset="2"/>
              </a:rPr>
              <a:t>n</a:t>
            </a:r>
            <a:r>
              <a:rPr lang="en-US" altLang="zh-CN" dirty="0" err="1">
                <a:sym typeface="Symbol" pitchFamily="18" charset="2"/>
              </a:rPr>
              <a:t>T</a:t>
            </a:r>
            <a:r>
              <a:rPr lang="zh-CN" altLang="en-US" dirty="0">
                <a:sym typeface="Symbol" pitchFamily="18" charset="2"/>
              </a:rPr>
              <a:t>，</a:t>
            </a:r>
            <a:r>
              <a:rPr lang="en-US" altLang="zh-CN" dirty="0">
                <a:sym typeface="Symbol" pitchFamily="18" charset="2"/>
              </a:rPr>
              <a:t>n</a:t>
            </a:r>
            <a:r>
              <a:rPr lang="zh-CN" altLang="en-US" dirty="0">
                <a:sym typeface="Symbol" pitchFamily="18" charset="2"/>
              </a:rPr>
              <a:t>维随机变量</a:t>
            </a:r>
            <a:endParaRPr lang="en-US" altLang="zh-CN" dirty="0">
              <a:sym typeface="Symbol" pitchFamily="18" charset="2"/>
            </a:endParaRPr>
          </a:p>
          <a:p>
            <a:pPr algn="just" eaLnBrk="1" hangingPunct="1">
              <a:buFont typeface="Wingdings" pitchFamily="2" charset="2"/>
              <a:buNone/>
            </a:pPr>
            <a:r>
              <a:rPr lang="en-US" altLang="zh-CN" dirty="0"/>
              <a:t>X(</a:t>
            </a:r>
            <a:r>
              <a:rPr lang="en-US" altLang="zh-CN" dirty="0">
                <a:sym typeface="Symbol" pitchFamily="18" charset="2"/>
              </a:rPr>
              <a:t>t</a:t>
            </a:r>
            <a:r>
              <a:rPr lang="en-US" altLang="zh-CN" baseline="-25000" dirty="0">
                <a:sym typeface="Symbol" pitchFamily="18" charset="2"/>
              </a:rPr>
              <a:t>1</a:t>
            </a:r>
            <a:r>
              <a:rPr lang="en-US" altLang="zh-CN" dirty="0"/>
              <a:t>),X(</a:t>
            </a:r>
            <a:r>
              <a:rPr lang="en-US" altLang="zh-CN" dirty="0">
                <a:sym typeface="Symbol" pitchFamily="18" charset="2"/>
              </a:rPr>
              <a:t>t</a:t>
            </a:r>
            <a:r>
              <a:rPr lang="en-US" altLang="zh-CN" baseline="-25000" dirty="0">
                <a:sym typeface="Symbol" pitchFamily="18" charset="2"/>
              </a:rPr>
              <a:t>2</a:t>
            </a:r>
            <a:r>
              <a:rPr lang="en-US" altLang="zh-CN" dirty="0"/>
              <a:t>),</a:t>
            </a:r>
            <a:r>
              <a:rPr lang="en-US" altLang="zh-CN" dirty="0">
                <a:sym typeface="Symbol" pitchFamily="18" charset="2"/>
              </a:rPr>
              <a:t>…,</a:t>
            </a:r>
            <a:r>
              <a:rPr lang="en-US" altLang="zh-CN" dirty="0"/>
              <a:t>X(</a:t>
            </a:r>
            <a:r>
              <a:rPr lang="en-US" altLang="zh-CN" dirty="0" err="1">
                <a:sym typeface="Symbol" pitchFamily="18" charset="2"/>
              </a:rPr>
              <a:t>t</a:t>
            </a:r>
            <a:r>
              <a:rPr lang="en-US" altLang="zh-CN" baseline="-25000" dirty="0" err="1">
                <a:sym typeface="Symbol" pitchFamily="18" charset="2"/>
              </a:rPr>
              <a:t>n</a:t>
            </a:r>
            <a:r>
              <a:rPr lang="en-US" altLang="zh-CN" dirty="0">
                <a:sym typeface="Symbol" pitchFamily="18" charset="2"/>
              </a:rPr>
              <a:t>)</a:t>
            </a:r>
            <a:r>
              <a:rPr lang="en-US" altLang="zh-CN" dirty="0"/>
              <a:t>)</a:t>
            </a:r>
            <a:r>
              <a:rPr lang="zh-CN" altLang="en-US" dirty="0"/>
              <a:t>的联合概率分布为</a:t>
            </a:r>
            <a:r>
              <a:rPr lang="en-US" altLang="zh-CN" dirty="0"/>
              <a:t>n</a:t>
            </a:r>
            <a:r>
              <a:rPr lang="zh-CN" altLang="en-US" dirty="0"/>
              <a:t>维正态分布，则称随机过程</a:t>
            </a:r>
            <a:r>
              <a:rPr lang="en-US" altLang="zh-CN" dirty="0"/>
              <a:t>{X(t),</a:t>
            </a:r>
            <a:r>
              <a:rPr lang="en-US" altLang="zh-CN" dirty="0" err="1"/>
              <a:t>t</a:t>
            </a:r>
            <a:r>
              <a:rPr lang="en-US" altLang="zh-CN" dirty="0" err="1">
                <a:sym typeface="Symbol" pitchFamily="18" charset="2"/>
              </a:rPr>
              <a:t>T</a:t>
            </a:r>
            <a:r>
              <a:rPr lang="en-US" altLang="zh-CN" dirty="0">
                <a:sym typeface="Symbol" pitchFamily="18" charset="2"/>
              </a:rPr>
              <a:t>}</a:t>
            </a:r>
            <a:r>
              <a:rPr lang="zh-CN" altLang="en-US" dirty="0"/>
              <a:t>为</a:t>
            </a:r>
            <a:endParaRPr lang="en-US" altLang="zh-CN" dirty="0"/>
          </a:p>
          <a:p>
            <a:pPr algn="just" eaLnBrk="1" hangingPunct="1">
              <a:buFont typeface="Wingdings" pitchFamily="2" charset="2"/>
              <a:buNone/>
            </a:pPr>
            <a:r>
              <a:rPr lang="zh-CN" altLang="en-US" dirty="0">
                <a:solidFill>
                  <a:srgbClr val="CC00CC"/>
                </a:solidFill>
              </a:rPr>
              <a:t>正态过程</a:t>
            </a:r>
            <a:r>
              <a:rPr lang="en-US" altLang="zh-CN" dirty="0"/>
              <a:t>(</a:t>
            </a:r>
            <a:r>
              <a:rPr lang="zh-CN" altLang="en-US" dirty="0"/>
              <a:t>或</a:t>
            </a:r>
            <a:r>
              <a:rPr lang="zh-CN" altLang="en-US" dirty="0">
                <a:solidFill>
                  <a:srgbClr val="CC00CC"/>
                </a:solidFill>
              </a:rPr>
              <a:t>高斯过程</a:t>
            </a:r>
            <a:r>
              <a:rPr lang="en-US" altLang="zh-CN" dirty="0"/>
              <a:t>)</a:t>
            </a:r>
            <a:r>
              <a:rPr lang="zh-CN" altLang="en-US" dirty="0"/>
              <a:t>。</a:t>
            </a:r>
          </a:p>
          <a:p>
            <a:pPr marL="0" algn="just" eaLnBrk="1" hangingPunct="1">
              <a:buFont typeface="Wingdings" pitchFamily="2" charset="2"/>
              <a:buNone/>
            </a:pPr>
            <a:r>
              <a:rPr lang="zh-CN" altLang="en-US" dirty="0">
                <a:solidFill>
                  <a:srgbClr val="0000FF"/>
                </a:solidFill>
              </a:rPr>
              <a:t>设</a:t>
            </a:r>
            <a:r>
              <a:rPr lang="en-US" altLang="zh-CN" dirty="0">
                <a:solidFill>
                  <a:srgbClr val="0000FF"/>
                </a:solidFill>
              </a:rPr>
              <a:t>{X(t),</a:t>
            </a:r>
            <a:r>
              <a:rPr lang="en-US" altLang="zh-CN" dirty="0" err="1">
                <a:solidFill>
                  <a:srgbClr val="0000FF"/>
                </a:solidFill>
              </a:rPr>
              <a:t>t</a:t>
            </a:r>
            <a:r>
              <a:rPr lang="en-US" altLang="zh-CN" dirty="0" err="1">
                <a:solidFill>
                  <a:srgbClr val="0000FF"/>
                </a:solidFill>
                <a:sym typeface="Symbol" pitchFamily="18" charset="2"/>
              </a:rPr>
              <a:t>T</a:t>
            </a:r>
            <a:r>
              <a:rPr lang="en-US" altLang="zh-CN" dirty="0">
                <a:solidFill>
                  <a:srgbClr val="0000FF"/>
                </a:solidFill>
                <a:sym typeface="Symbol" pitchFamily="18" charset="2"/>
              </a:rPr>
              <a:t>}</a:t>
            </a:r>
            <a:r>
              <a:rPr lang="zh-CN" altLang="en-US" dirty="0">
                <a:solidFill>
                  <a:srgbClr val="0000FF"/>
                </a:solidFill>
              </a:rPr>
              <a:t>为正态过程，则其有限维概率分布都是正态分布。</a:t>
            </a:r>
          </a:p>
        </p:txBody>
      </p:sp>
      <p:grpSp>
        <p:nvGrpSpPr>
          <p:cNvPr id="7" name="组合 6">
            <a:extLst>
              <a:ext uri="{FF2B5EF4-FFF2-40B4-BE49-F238E27FC236}">
                <a16:creationId xmlns:a16="http://schemas.microsoft.com/office/drawing/2014/main" id="{227F2C59-E39C-4F10-946A-37CCD2BED216}"/>
              </a:ext>
            </a:extLst>
          </p:cNvPr>
          <p:cNvGrpSpPr/>
          <p:nvPr/>
        </p:nvGrpSpPr>
        <p:grpSpPr>
          <a:xfrm>
            <a:off x="384175" y="3278188"/>
            <a:ext cx="11353800" cy="3352006"/>
            <a:chOff x="899592" y="2492896"/>
            <a:chExt cx="8064896" cy="3985576"/>
          </a:xfrm>
          <a:solidFill>
            <a:schemeClr val="tx2"/>
          </a:solidFill>
        </p:grpSpPr>
        <p:sp>
          <p:nvSpPr>
            <p:cNvPr id="8" name="矩形 7">
              <a:extLst>
                <a:ext uri="{FF2B5EF4-FFF2-40B4-BE49-F238E27FC236}">
                  <a16:creationId xmlns:a16="http://schemas.microsoft.com/office/drawing/2014/main" id="{A09959B9-B2D1-44C6-8989-A84C14387FEA}"/>
                </a:ext>
              </a:extLst>
            </p:cNvPr>
            <p:cNvSpPr/>
            <p:nvPr/>
          </p:nvSpPr>
          <p:spPr bwMode="auto">
            <a:xfrm>
              <a:off x="899592" y="2492896"/>
              <a:ext cx="8064896" cy="3985576"/>
            </a:xfrm>
            <a:prstGeom prst="rect">
              <a:avLst/>
            </a:prstGeom>
            <a:grpFill/>
            <a:ln w="9525" cap="flat" cmpd="sng" algn="ctr">
              <a:solidFill>
                <a:srgbClr val="0000FF"/>
              </a:solidFill>
              <a:prstDash val="solid"/>
              <a:round/>
              <a:headEnd type="none" w="med" len="med"/>
              <a:tailEnd type="none" w="med" len="med"/>
            </a:ln>
            <a:effectLst/>
          </p:spPr>
          <p:txBody>
            <a:bodyPr vert="horz" wrap="square" lIns="91461" tIns="45731" rIns="91461" bIns="45731" numCol="1" rtlCol="0" anchor="t" anchorCtr="0" compatLnSpc="1">
              <a:prstTxWarp prst="textNoShape">
                <a:avLst/>
              </a:prstTxWarp>
            </a:bodyPr>
            <a:lstStyle/>
            <a:p>
              <a:r>
                <a:rPr lang="en-US" altLang="zh-CN" b="1" dirty="0">
                  <a:solidFill>
                    <a:schemeClr val="bg1"/>
                  </a:solidFill>
                  <a:latin typeface="+mn-ea"/>
                </a:rPr>
                <a:t>R.V. X</a:t>
              </a:r>
              <a:r>
                <a:rPr lang="zh-CN" altLang="en-US" b="1" dirty="0">
                  <a:solidFill>
                    <a:schemeClr val="bg1"/>
                  </a:solidFill>
                  <a:latin typeface="+mn-ea"/>
                </a:rPr>
                <a:t>是服从参数为</a:t>
              </a:r>
              <a:r>
                <a:rPr lang="zh-CN" altLang="en-US" b="1" dirty="0">
                  <a:solidFill>
                    <a:schemeClr val="bg1"/>
                  </a:solidFill>
                  <a:latin typeface="+mn-ea"/>
                  <a:sym typeface="Symbol" panose="05050102010706020507" pitchFamily="18" charset="2"/>
                </a:rPr>
                <a:t></a:t>
              </a:r>
              <a:r>
                <a:rPr lang="zh-CN" altLang="en-US" b="1" dirty="0">
                  <a:solidFill>
                    <a:schemeClr val="bg1"/>
                  </a:solidFill>
                  <a:latin typeface="+mn-ea"/>
                </a:rPr>
                <a:t>和</a:t>
              </a:r>
              <a:r>
                <a:rPr lang="zh-CN" altLang="en-US" b="1" dirty="0">
                  <a:solidFill>
                    <a:schemeClr val="bg1"/>
                  </a:solidFill>
                  <a:latin typeface="+mn-ea"/>
                  <a:sym typeface="Symbol" panose="05050102010706020507" pitchFamily="18" charset="2"/>
                </a:rPr>
                <a:t></a:t>
              </a:r>
              <a:r>
                <a:rPr lang="en-US" altLang="zh-CN" b="1" baseline="30000" dirty="0">
                  <a:solidFill>
                    <a:schemeClr val="bg1"/>
                  </a:solidFill>
                  <a:latin typeface="+mn-ea"/>
                </a:rPr>
                <a:t>2</a:t>
              </a:r>
              <a:r>
                <a:rPr lang="zh-CN" altLang="en-US" b="1" dirty="0">
                  <a:solidFill>
                    <a:schemeClr val="bg1"/>
                  </a:solidFill>
                  <a:latin typeface="+mn-ea"/>
                </a:rPr>
                <a:t>的正态分布，则它的概率密度为</a:t>
              </a:r>
              <a:endParaRPr lang="en-US" altLang="zh-CN" b="1" dirty="0">
                <a:solidFill>
                  <a:schemeClr val="bg1"/>
                </a:solidFill>
                <a:latin typeface="+mn-ea"/>
              </a:endParaRPr>
            </a:p>
            <a:p>
              <a:endParaRPr kumimoji="1" lang="en-US" altLang="zh-CN" b="1" dirty="0">
                <a:solidFill>
                  <a:schemeClr val="bg1"/>
                </a:solidFill>
                <a:latin typeface="+mn-ea"/>
              </a:endParaRPr>
            </a:p>
            <a:p>
              <a:endParaRPr lang="en-US" altLang="zh-CN" b="1" dirty="0">
                <a:solidFill>
                  <a:schemeClr val="bg1"/>
                </a:solidFill>
                <a:latin typeface="+mn-ea"/>
              </a:endParaRPr>
            </a:p>
            <a:p>
              <a:endParaRPr kumimoji="1" lang="en-US" altLang="zh-CN" b="1" dirty="0">
                <a:solidFill>
                  <a:schemeClr val="bg1"/>
                </a:solidFill>
                <a:latin typeface="+mn-ea"/>
              </a:endParaRPr>
            </a:p>
            <a:p>
              <a:endParaRPr lang="en-US" altLang="zh-CN" b="1" dirty="0">
                <a:solidFill>
                  <a:schemeClr val="bg1"/>
                </a:solidFill>
                <a:latin typeface="+mn-ea"/>
              </a:endParaRPr>
            </a:p>
            <a:p>
              <a:r>
                <a:rPr lang="zh-CN" altLang="en-US" b="1" dirty="0">
                  <a:solidFill>
                    <a:schemeClr val="bg1"/>
                  </a:solidFill>
                  <a:latin typeface="+mn-ea"/>
                </a:rPr>
                <a:t>它的分布函数为：</a:t>
              </a:r>
              <a:endParaRPr kumimoji="1" lang="zh-CN" altLang="en-US" b="1" dirty="0">
                <a:solidFill>
                  <a:schemeClr val="bg1"/>
                </a:solidFill>
                <a:latin typeface="+mn-ea"/>
              </a:endParaRPr>
            </a:p>
          </p:txBody>
        </p:sp>
        <p:graphicFrame>
          <p:nvGraphicFramePr>
            <p:cNvPr id="9" name="Object 4">
              <a:extLst>
                <a:ext uri="{FF2B5EF4-FFF2-40B4-BE49-F238E27FC236}">
                  <a16:creationId xmlns:a16="http://schemas.microsoft.com/office/drawing/2014/main" id="{FB6D5975-80D3-46DA-9F07-BCDE3D250201}"/>
                </a:ext>
              </a:extLst>
            </p:cNvPr>
            <p:cNvGraphicFramePr>
              <a:graphicFrameLocks noChangeAspect="1"/>
            </p:cNvGraphicFramePr>
            <p:nvPr/>
          </p:nvGraphicFramePr>
          <p:xfrm>
            <a:off x="1547664" y="3164941"/>
            <a:ext cx="5807032" cy="1320271"/>
          </p:xfrm>
          <a:graphic>
            <a:graphicData uri="http://schemas.openxmlformats.org/presentationml/2006/ole">
              <mc:AlternateContent xmlns:mc="http://schemas.openxmlformats.org/markup-compatibility/2006">
                <mc:Choice xmlns:v="urn:schemas-microsoft-com:vml" Requires="v">
                  <p:oleObj name="Equation" r:id="rId2" imgW="2451100" imgH="495300" progId="Equation.DSMT4">
                    <p:embed/>
                  </p:oleObj>
                </mc:Choice>
                <mc:Fallback>
                  <p:oleObj name="Equation" r:id="rId2" imgW="2451100" imgH="495300" progId="Equation.DSMT4">
                    <p:embed/>
                    <p:pic>
                      <p:nvPicPr>
                        <p:cNvPr id="9" name="Object 4">
                          <a:extLst>
                            <a:ext uri="{FF2B5EF4-FFF2-40B4-BE49-F238E27FC236}">
                              <a16:creationId xmlns:a16="http://schemas.microsoft.com/office/drawing/2014/main" id="{FB6D5975-80D3-46DA-9F07-BCDE3D250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3164941"/>
                          <a:ext cx="5807032" cy="1320271"/>
                        </a:xfrm>
                        <a:prstGeom prst="rect">
                          <a:avLst/>
                        </a:prstGeom>
                        <a:solidFill>
                          <a:schemeClr val="bg1">
                            <a:lumMod val="95000"/>
                          </a:schemeClr>
                        </a:solidFill>
                        <a:ln>
                          <a:noFill/>
                        </a:ln>
                        <a:effectLst/>
                      </p:spPr>
                    </p:pic>
                  </p:oleObj>
                </mc:Fallback>
              </mc:AlternateContent>
            </a:graphicData>
          </a:graphic>
        </p:graphicFrame>
        <p:graphicFrame>
          <p:nvGraphicFramePr>
            <p:cNvPr id="10" name="Object 6">
              <a:extLst>
                <a:ext uri="{FF2B5EF4-FFF2-40B4-BE49-F238E27FC236}">
                  <a16:creationId xmlns:a16="http://schemas.microsoft.com/office/drawing/2014/main" id="{B92FD81A-B1E5-485B-8D88-EBF2A675387B}"/>
                </a:ext>
              </a:extLst>
            </p:cNvPr>
            <p:cNvGraphicFramePr>
              <a:graphicFrameLocks noChangeAspect="1"/>
            </p:cNvGraphicFramePr>
            <p:nvPr/>
          </p:nvGraphicFramePr>
          <p:xfrm>
            <a:off x="1470820" y="5219167"/>
            <a:ext cx="5883876" cy="1231780"/>
          </p:xfrm>
          <a:graphic>
            <a:graphicData uri="http://schemas.openxmlformats.org/presentationml/2006/ole">
              <mc:AlternateContent xmlns:mc="http://schemas.openxmlformats.org/markup-compatibility/2006">
                <mc:Choice xmlns:v="urn:schemas-microsoft-com:vml" Requires="v">
                  <p:oleObj name="Equation" r:id="rId4" imgW="2882900" imgH="495300" progId="Equation.DSMT4">
                    <p:embed/>
                  </p:oleObj>
                </mc:Choice>
                <mc:Fallback>
                  <p:oleObj name="Equation" r:id="rId4" imgW="2882900" imgH="495300" progId="Equation.DSMT4">
                    <p:embed/>
                    <p:pic>
                      <p:nvPicPr>
                        <p:cNvPr id="10" name="Object 6">
                          <a:extLst>
                            <a:ext uri="{FF2B5EF4-FFF2-40B4-BE49-F238E27FC236}">
                              <a16:creationId xmlns:a16="http://schemas.microsoft.com/office/drawing/2014/main" id="{B92FD81A-B1E5-485B-8D88-EBF2A67538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0820" y="5219167"/>
                          <a:ext cx="5883876" cy="1231780"/>
                        </a:xfrm>
                        <a:prstGeom prst="rect">
                          <a:avLst/>
                        </a:prstGeom>
                        <a:solidFill>
                          <a:schemeClr val="bg1"/>
                        </a:solidFill>
                        <a:ln>
                          <a:noFill/>
                        </a:ln>
                        <a:effec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 calcmode="lin" valueType="num">
                                      <p:cBhvr additive="base">
                                        <p:cTn id="7" dur="500" fill="hold"/>
                                        <p:tgtEl>
                                          <p:spTgt spid="344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406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44067">
                                            <p:txEl>
                                              <p:pRg st="1" end="1"/>
                                            </p:txEl>
                                          </p:spTgt>
                                        </p:tgtEl>
                                        <p:attrNameLst>
                                          <p:attrName>style.visibility</p:attrName>
                                        </p:attrNameLst>
                                      </p:cBhvr>
                                      <p:to>
                                        <p:strVal val="visible"/>
                                      </p:to>
                                    </p:set>
                                    <p:anim calcmode="lin" valueType="num">
                                      <p:cBhvr additive="base">
                                        <p:cTn id="12" dur="500" fill="hold"/>
                                        <p:tgtEl>
                                          <p:spTgt spid="3440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4406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44067">
                                            <p:txEl>
                                              <p:pRg st="2" end="2"/>
                                            </p:txEl>
                                          </p:spTgt>
                                        </p:tgtEl>
                                        <p:attrNameLst>
                                          <p:attrName>style.visibility</p:attrName>
                                        </p:attrNameLst>
                                      </p:cBhvr>
                                      <p:to>
                                        <p:strVal val="visible"/>
                                      </p:to>
                                    </p:set>
                                    <p:anim calcmode="lin" valueType="num">
                                      <p:cBhvr additive="base">
                                        <p:cTn id="17" dur="500" fill="hold"/>
                                        <p:tgtEl>
                                          <p:spTgt spid="3440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440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44067">
                                            <p:txEl>
                                              <p:pRg st="3" end="3"/>
                                            </p:txEl>
                                          </p:spTgt>
                                        </p:tgtEl>
                                        <p:attrNameLst>
                                          <p:attrName>style.visibility</p:attrName>
                                        </p:attrNameLst>
                                      </p:cBhvr>
                                      <p:to>
                                        <p:strVal val="visible"/>
                                      </p:to>
                                    </p:set>
                                    <p:anim calcmode="lin" valueType="num">
                                      <p:cBhvr additive="base">
                                        <p:cTn id="23" dur="500" fill="hold"/>
                                        <p:tgtEl>
                                          <p:spTgt spid="34406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40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circle(in)">
                                      <p:cBhvr>
                                        <p:cTn id="2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 name="Rectangle 2"/>
          <p:cNvSpPr>
            <a:spLocks noGrp="1" noChangeArrowheads="1"/>
          </p:cNvSpPr>
          <p:nvPr>
            <p:ph type="title"/>
          </p:nvPr>
        </p:nvSpPr>
        <p:spPr>
          <a:xfrm>
            <a:off x="798461" y="235664"/>
            <a:ext cx="9961986" cy="609741"/>
          </a:xfrm>
        </p:spPr>
        <p:txBody>
          <a:bodyPr/>
          <a:lstStyle/>
          <a:p>
            <a:pPr eaLnBrk="1" hangingPunct="1"/>
            <a:r>
              <a:rPr lang="zh-CN" altLang="en-US" dirty="0"/>
              <a:t>正态过程的一维概率分布</a:t>
            </a:r>
          </a:p>
        </p:txBody>
      </p:sp>
      <p:sp>
        <p:nvSpPr>
          <p:cNvPr id="345091" name="Rectangle 3"/>
          <p:cNvSpPr>
            <a:spLocks noGrp="1" noChangeArrowheads="1"/>
          </p:cNvSpPr>
          <p:nvPr>
            <p:ph type="body" sz="half" idx="1"/>
          </p:nvPr>
        </p:nvSpPr>
        <p:spPr>
          <a:xfrm>
            <a:off x="384175" y="1059901"/>
            <a:ext cx="3772773" cy="4739785"/>
          </a:xfrm>
        </p:spPr>
        <p:txBody>
          <a:bodyPr/>
          <a:lstStyle/>
          <a:p>
            <a:pPr eaLnBrk="1" hangingPunct="1">
              <a:lnSpc>
                <a:spcPct val="180000"/>
              </a:lnSpc>
              <a:buFont typeface="Wingdings" pitchFamily="2" charset="2"/>
              <a:buNone/>
            </a:pPr>
            <a:r>
              <a:rPr lang="zh-CN" altLang="en-US" dirty="0">
                <a:solidFill>
                  <a:srgbClr val="0000FF"/>
                </a:solidFill>
              </a:rPr>
              <a:t>均值函数</a:t>
            </a:r>
          </a:p>
          <a:p>
            <a:pPr eaLnBrk="1" hangingPunct="1">
              <a:lnSpc>
                <a:spcPct val="180000"/>
              </a:lnSpc>
              <a:buFont typeface="Wingdings" pitchFamily="2" charset="2"/>
              <a:buNone/>
            </a:pPr>
            <a:r>
              <a:rPr lang="zh-CN" altLang="en-US" dirty="0">
                <a:solidFill>
                  <a:srgbClr val="0000FF"/>
                </a:solidFill>
              </a:rPr>
              <a:t>方差函数</a:t>
            </a:r>
          </a:p>
          <a:p>
            <a:pPr eaLnBrk="1" hangingPunct="1">
              <a:lnSpc>
                <a:spcPct val="180000"/>
              </a:lnSpc>
              <a:buFont typeface="Wingdings" pitchFamily="2" charset="2"/>
              <a:buNone/>
            </a:pPr>
            <a:r>
              <a:rPr lang="zh-CN" altLang="en-US" dirty="0">
                <a:solidFill>
                  <a:srgbClr val="0000FF"/>
                </a:solidFill>
              </a:rPr>
              <a:t>一维概率分布</a:t>
            </a:r>
          </a:p>
          <a:p>
            <a:pPr eaLnBrk="1" hangingPunct="1">
              <a:lnSpc>
                <a:spcPct val="180000"/>
              </a:lnSpc>
              <a:buFont typeface="Wingdings" pitchFamily="2" charset="2"/>
              <a:buNone/>
            </a:pPr>
            <a:r>
              <a:rPr lang="zh-CN" altLang="en-US" dirty="0">
                <a:solidFill>
                  <a:srgbClr val="0000FF"/>
                </a:solidFill>
              </a:rPr>
              <a:t>一维概率密度函数</a:t>
            </a:r>
          </a:p>
          <a:p>
            <a:pPr eaLnBrk="1" hangingPunct="1">
              <a:lnSpc>
                <a:spcPct val="180000"/>
              </a:lnSpc>
              <a:buFont typeface="Wingdings" pitchFamily="2" charset="2"/>
              <a:buNone/>
            </a:pPr>
            <a:endParaRPr lang="zh-CN" altLang="en-US" dirty="0">
              <a:solidFill>
                <a:srgbClr val="0000FF"/>
              </a:solidFill>
            </a:endParaRPr>
          </a:p>
          <a:p>
            <a:pPr eaLnBrk="1" hangingPunct="1">
              <a:lnSpc>
                <a:spcPct val="180000"/>
              </a:lnSpc>
              <a:spcBef>
                <a:spcPts val="2400"/>
              </a:spcBef>
              <a:buFont typeface="Wingdings" pitchFamily="2" charset="2"/>
              <a:buNone/>
            </a:pPr>
            <a:r>
              <a:rPr lang="zh-CN" altLang="en-US" dirty="0">
                <a:solidFill>
                  <a:srgbClr val="0000FF"/>
                </a:solidFill>
              </a:rPr>
              <a:t>一维特征函数</a:t>
            </a:r>
          </a:p>
        </p:txBody>
      </p:sp>
      <p:graphicFrame>
        <p:nvGraphicFramePr>
          <p:cNvPr id="345092" name="Object 4"/>
          <p:cNvGraphicFramePr>
            <a:graphicFrameLocks noGrp="1" noChangeAspect="1"/>
          </p:cNvGraphicFramePr>
          <p:nvPr>
            <p:ph sz="half" idx="2"/>
          </p:nvPr>
        </p:nvGraphicFramePr>
        <p:xfrm>
          <a:off x="1896248" y="1274695"/>
          <a:ext cx="2378625" cy="508118"/>
        </p:xfrm>
        <a:graphic>
          <a:graphicData uri="http://schemas.openxmlformats.org/presentationml/2006/ole">
            <mc:AlternateContent xmlns:mc="http://schemas.openxmlformats.org/markup-compatibility/2006">
              <mc:Choice xmlns:v="urn:schemas-microsoft-com:vml" Requires="v">
                <p:oleObj name="公式" r:id="rId2" imgW="952200" imgH="203040" progId="Equation.3">
                  <p:embed/>
                </p:oleObj>
              </mc:Choice>
              <mc:Fallback>
                <p:oleObj name="公式" r:id="rId2" imgW="952200" imgH="203040" progId="Equation.3">
                  <p:embed/>
                  <p:pic>
                    <p:nvPicPr>
                      <p:cNvPr id="3450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6248" y="1274695"/>
                        <a:ext cx="2378625" cy="5081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5095" name="Object 7"/>
          <p:cNvGraphicFramePr>
            <a:graphicFrameLocks noChangeAspect="1"/>
          </p:cNvGraphicFramePr>
          <p:nvPr/>
        </p:nvGraphicFramePr>
        <p:xfrm>
          <a:off x="1899980" y="2071114"/>
          <a:ext cx="2378625" cy="508118"/>
        </p:xfrm>
        <a:graphic>
          <a:graphicData uri="http://schemas.openxmlformats.org/presentationml/2006/ole">
            <mc:AlternateContent xmlns:mc="http://schemas.openxmlformats.org/markup-compatibility/2006">
              <mc:Choice xmlns:v="urn:schemas-microsoft-com:vml" Requires="v">
                <p:oleObj name="公式" r:id="rId4" imgW="952200" imgH="203040" progId="Equation.3">
                  <p:embed/>
                </p:oleObj>
              </mc:Choice>
              <mc:Fallback>
                <p:oleObj name="公式" r:id="rId4" imgW="952200" imgH="203040" progId="Equation.3">
                  <p:embed/>
                  <p:pic>
                    <p:nvPicPr>
                      <p:cNvPr id="34509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9980" y="2071114"/>
                        <a:ext cx="2378625" cy="5081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5096" name="Object 8"/>
          <p:cNvGraphicFramePr>
            <a:graphicFrameLocks noChangeAspect="1"/>
          </p:cNvGraphicFramePr>
          <p:nvPr/>
        </p:nvGraphicFramePr>
        <p:xfrm>
          <a:off x="2459930" y="2740809"/>
          <a:ext cx="3298000" cy="508118"/>
        </p:xfrm>
        <a:graphic>
          <a:graphicData uri="http://schemas.openxmlformats.org/presentationml/2006/ole">
            <mc:AlternateContent xmlns:mc="http://schemas.openxmlformats.org/markup-compatibility/2006">
              <mc:Choice xmlns:v="urn:schemas-microsoft-com:vml" Requires="v">
                <p:oleObj name="公式" r:id="rId6" imgW="1320480" imgH="203040" progId="Equation.3">
                  <p:embed/>
                </p:oleObj>
              </mc:Choice>
              <mc:Fallback>
                <p:oleObj name="公式" r:id="rId6" imgW="1320480" imgH="203040" progId="Equation.3">
                  <p:embed/>
                  <p:pic>
                    <p:nvPicPr>
                      <p:cNvPr id="345096"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9930" y="2740809"/>
                        <a:ext cx="3298000" cy="5081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5097" name="Object 9"/>
          <p:cNvGraphicFramePr>
            <a:graphicFrameLocks noChangeAspect="1"/>
          </p:cNvGraphicFramePr>
          <p:nvPr/>
        </p:nvGraphicFramePr>
        <p:xfrm>
          <a:off x="533995" y="3849150"/>
          <a:ext cx="6183156" cy="1302051"/>
        </p:xfrm>
        <a:graphic>
          <a:graphicData uri="http://schemas.openxmlformats.org/presentationml/2006/ole">
            <mc:AlternateContent xmlns:mc="http://schemas.openxmlformats.org/markup-compatibility/2006">
              <mc:Choice xmlns:v="urn:schemas-microsoft-com:vml" Requires="v">
                <p:oleObj name="Equation" r:id="rId8" imgW="2476440" imgH="520560" progId="Equation.DSMT4">
                  <p:embed/>
                </p:oleObj>
              </mc:Choice>
              <mc:Fallback>
                <p:oleObj name="Equation" r:id="rId8" imgW="2476440" imgH="520560" progId="Equation.DSMT4">
                  <p:embed/>
                  <p:pic>
                    <p:nvPicPr>
                      <p:cNvPr id="345097"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995" y="3849150"/>
                        <a:ext cx="6183156" cy="13020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5098" name="Object 10"/>
          <p:cNvGraphicFramePr>
            <a:graphicFrameLocks noChangeAspect="1"/>
          </p:cNvGraphicFramePr>
          <p:nvPr/>
        </p:nvGraphicFramePr>
        <p:xfrm>
          <a:off x="623911" y="5658306"/>
          <a:ext cx="5454325" cy="857448"/>
        </p:xfrm>
        <a:graphic>
          <a:graphicData uri="http://schemas.openxmlformats.org/presentationml/2006/ole">
            <mc:AlternateContent xmlns:mc="http://schemas.openxmlformats.org/markup-compatibility/2006">
              <mc:Choice xmlns:v="urn:schemas-microsoft-com:vml" Requires="v">
                <p:oleObj name="公式" r:id="rId10" imgW="2184120" imgH="342720" progId="Equation.3">
                  <p:embed/>
                </p:oleObj>
              </mc:Choice>
              <mc:Fallback>
                <p:oleObj name="公式" r:id="rId10" imgW="2184120" imgH="342720" progId="Equation.3">
                  <p:embed/>
                  <p:pic>
                    <p:nvPicPr>
                      <p:cNvPr id="345098"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3911" y="5658306"/>
                        <a:ext cx="5454325" cy="8574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3494248" y="2117460"/>
            <a:ext cx="4573058" cy="461772"/>
          </a:xfrm>
          <a:prstGeom prst="rect">
            <a:avLst/>
          </a:prstGeom>
        </p:spPr>
        <p:txBody>
          <a:bodyPr>
            <a:spAutoFit/>
          </a:bodyPr>
          <a:lstStyle/>
          <a:p>
            <a:r>
              <a:rPr lang="zh-CN" altLang="en-US" dirty="0">
                <a:solidFill>
                  <a:schemeClr val="bg1"/>
                </a:solidFill>
                <a:sym typeface="Symbol" panose="05050102010706020507" pitchFamily="18" charset="2"/>
              </a:rPr>
              <a:t></a:t>
            </a:r>
            <a:r>
              <a:rPr lang="en-US" altLang="zh-CN" baseline="-25000" dirty="0">
                <a:solidFill>
                  <a:schemeClr val="bg1"/>
                </a:solidFill>
              </a:rPr>
              <a:t>X</a:t>
            </a:r>
            <a:r>
              <a:rPr lang="en-US" altLang="zh-CN" dirty="0">
                <a:solidFill>
                  <a:schemeClr val="bg1"/>
                </a:solidFill>
              </a:rPr>
              <a:t>(u)=E(</a:t>
            </a:r>
            <a:r>
              <a:rPr lang="en-US" altLang="zh-CN" dirty="0" err="1">
                <a:solidFill>
                  <a:schemeClr val="bg1"/>
                </a:solidFill>
              </a:rPr>
              <a:t>e</a:t>
            </a:r>
            <a:r>
              <a:rPr lang="en-US" altLang="zh-CN" baseline="30000" dirty="0" err="1">
                <a:solidFill>
                  <a:schemeClr val="bg1"/>
                </a:solidFill>
              </a:rPr>
              <a:t>iuX</a:t>
            </a:r>
            <a:r>
              <a:rPr lang="en-US" altLang="zh-CN" dirty="0">
                <a:solidFill>
                  <a:schemeClr val="bg1"/>
                </a:solidFill>
              </a:rPr>
              <a:t>)</a:t>
            </a:r>
            <a:r>
              <a:rPr lang="zh-CN" altLang="en-US" dirty="0">
                <a:solidFill>
                  <a:schemeClr val="bg1"/>
                </a:solidFill>
              </a:rPr>
              <a:t>，</a:t>
            </a:r>
            <a:r>
              <a:rPr lang="en-US" altLang="zh-CN" dirty="0" err="1">
                <a:solidFill>
                  <a:schemeClr val="bg1"/>
                </a:solidFill>
              </a:rPr>
              <a:t>i</a:t>
            </a:r>
            <a:r>
              <a:rPr lang="zh-CN" altLang="en-US" dirty="0">
                <a:solidFill>
                  <a:schemeClr val="bg1"/>
                </a:solidFill>
              </a:rPr>
              <a:t>＝</a:t>
            </a:r>
          </a:p>
        </p:txBody>
      </p:sp>
      <p:grpSp>
        <p:nvGrpSpPr>
          <p:cNvPr id="12" name="组合 11">
            <a:extLst>
              <a:ext uri="{FF2B5EF4-FFF2-40B4-BE49-F238E27FC236}">
                <a16:creationId xmlns:a16="http://schemas.microsoft.com/office/drawing/2014/main" id="{4415E2CE-3A7D-5EF0-E78D-D9AA85BD1E0C}"/>
              </a:ext>
            </a:extLst>
          </p:cNvPr>
          <p:cNvGrpSpPr/>
          <p:nvPr/>
        </p:nvGrpSpPr>
        <p:grpSpPr>
          <a:xfrm>
            <a:off x="5529748" y="806216"/>
            <a:ext cx="6641876" cy="3272651"/>
            <a:chOff x="1090500" y="2537092"/>
            <a:chExt cx="8064896" cy="4381646"/>
          </a:xfrm>
        </p:grpSpPr>
        <p:sp>
          <p:nvSpPr>
            <p:cNvPr id="13" name="矩形 12">
              <a:extLst>
                <a:ext uri="{FF2B5EF4-FFF2-40B4-BE49-F238E27FC236}">
                  <a16:creationId xmlns:a16="http://schemas.microsoft.com/office/drawing/2014/main" id="{4AB81CB8-930E-8904-D664-BF05573A73EC}"/>
                </a:ext>
              </a:extLst>
            </p:cNvPr>
            <p:cNvSpPr/>
            <p:nvPr/>
          </p:nvSpPr>
          <p:spPr bwMode="auto">
            <a:xfrm>
              <a:off x="1090500" y="2537092"/>
              <a:ext cx="8064896" cy="4381646"/>
            </a:xfrm>
            <a:prstGeom prst="rect">
              <a:avLst/>
            </a:prstGeom>
            <a:solidFill>
              <a:srgbClr val="3333CC"/>
            </a:solid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b="0" i="0" u="none" strike="noStrike" kern="0" cap="none" spc="0" normalizeH="0" baseline="0" noProof="0" dirty="0">
                  <a:ln>
                    <a:noFill/>
                  </a:ln>
                  <a:solidFill>
                    <a:srgbClr val="FFFFFF"/>
                  </a:solidFill>
                  <a:effectLst/>
                  <a:uLnTx/>
                  <a:uFillTx/>
                  <a:latin typeface="+mn-ea"/>
                </a:rPr>
                <a:t>R.V. X</a:t>
              </a:r>
              <a:r>
                <a:rPr kumimoji="1" lang="zh-CN" altLang="en-US" b="0" i="0" u="none" strike="noStrike" kern="0" cap="none" spc="0" normalizeH="0" baseline="0" noProof="0" dirty="0">
                  <a:ln>
                    <a:noFill/>
                  </a:ln>
                  <a:solidFill>
                    <a:srgbClr val="FFFFFF"/>
                  </a:solidFill>
                  <a:effectLst/>
                  <a:uLnTx/>
                  <a:uFillTx/>
                  <a:latin typeface="+mn-ea"/>
                </a:rPr>
                <a:t>是服从参数为</a:t>
              </a:r>
              <a:r>
                <a:rPr kumimoji="1" lang="zh-CN" altLang="en-US" b="0" i="0" u="none" strike="noStrike" kern="0" cap="none" spc="0" normalizeH="0" baseline="0" noProof="0" dirty="0">
                  <a:ln>
                    <a:noFill/>
                  </a:ln>
                  <a:solidFill>
                    <a:srgbClr val="FFFFFF"/>
                  </a:solidFill>
                  <a:effectLst/>
                  <a:uLnTx/>
                  <a:uFillTx/>
                  <a:latin typeface="+mn-ea"/>
                  <a:sym typeface="Symbol" panose="05050102010706020507" pitchFamily="18" charset="2"/>
                </a:rPr>
                <a:t></a:t>
              </a:r>
              <a:r>
                <a:rPr kumimoji="1" lang="zh-CN" altLang="en-US" b="0" i="0" u="none" strike="noStrike" kern="0" cap="none" spc="0" normalizeH="0" baseline="0" noProof="0" dirty="0">
                  <a:ln>
                    <a:noFill/>
                  </a:ln>
                  <a:solidFill>
                    <a:srgbClr val="FFFFFF"/>
                  </a:solidFill>
                  <a:effectLst/>
                  <a:uLnTx/>
                  <a:uFillTx/>
                  <a:latin typeface="+mn-ea"/>
                </a:rPr>
                <a:t>和</a:t>
              </a:r>
              <a:r>
                <a:rPr kumimoji="1" lang="zh-CN" altLang="en-US" b="0" i="0" u="none" strike="noStrike" kern="0" cap="none" spc="0" normalizeH="0" baseline="0" noProof="0" dirty="0">
                  <a:ln>
                    <a:noFill/>
                  </a:ln>
                  <a:solidFill>
                    <a:srgbClr val="FFFFFF"/>
                  </a:solidFill>
                  <a:effectLst/>
                  <a:uLnTx/>
                  <a:uFillTx/>
                  <a:latin typeface="+mn-ea"/>
                  <a:sym typeface="Symbol" panose="05050102010706020507" pitchFamily="18" charset="2"/>
                </a:rPr>
                <a:t></a:t>
              </a:r>
              <a:r>
                <a:rPr kumimoji="1" lang="en-US" altLang="zh-CN" b="0" i="0" u="none" strike="noStrike" kern="0" cap="none" spc="0" normalizeH="0" baseline="30000" noProof="0" dirty="0">
                  <a:ln>
                    <a:noFill/>
                  </a:ln>
                  <a:solidFill>
                    <a:srgbClr val="FFFFFF"/>
                  </a:solidFill>
                  <a:effectLst/>
                  <a:uLnTx/>
                  <a:uFillTx/>
                  <a:latin typeface="+mn-ea"/>
                </a:rPr>
                <a:t>2</a:t>
              </a:r>
              <a:r>
                <a:rPr kumimoji="1" lang="zh-CN" altLang="en-US" b="0" i="0" u="none" strike="noStrike" kern="0" cap="none" spc="0" normalizeH="0" baseline="0" noProof="0" dirty="0">
                  <a:ln>
                    <a:noFill/>
                  </a:ln>
                  <a:solidFill>
                    <a:srgbClr val="FFFFFF"/>
                  </a:solidFill>
                  <a:effectLst/>
                  <a:uLnTx/>
                  <a:uFillTx/>
                  <a:latin typeface="+mn-ea"/>
                </a:rPr>
                <a:t>的正态分布，则它的概率密度为</a:t>
              </a:r>
              <a:endParaRPr kumimoji="1" lang="en-US" altLang="zh-CN" b="0" i="0" u="none" strike="noStrike" kern="0" cap="none" spc="0" normalizeH="0" baseline="0" noProof="0" dirty="0">
                <a:ln>
                  <a:noFill/>
                </a:ln>
                <a:solidFill>
                  <a:srgbClr val="FFFFFF"/>
                </a:solidFill>
                <a:effectLst/>
                <a:uLnTx/>
                <a:uFillTx/>
                <a:latin typeface="+mn-ea"/>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1800" b="0" i="0" u="none" strike="noStrike" kern="0" cap="none" spc="0" normalizeH="0" baseline="0" noProof="0" dirty="0">
                <a:ln>
                  <a:noFill/>
                </a:ln>
                <a:solidFill>
                  <a:srgbClr val="FFFFFF"/>
                </a:solidFill>
                <a:effectLst/>
                <a:uLnTx/>
                <a:uFillTx/>
                <a:latin typeface="黑体"/>
                <a:ea typeface="黑体"/>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1800" b="0" i="0" u="none" strike="noStrike" kern="0" cap="none" spc="0" normalizeH="0" baseline="0" noProof="0" dirty="0">
                <a:ln>
                  <a:noFill/>
                </a:ln>
                <a:solidFill>
                  <a:srgbClr val="FFFFFF"/>
                </a:solidFill>
                <a:effectLst/>
                <a:uLnTx/>
                <a:uFillTx/>
                <a:latin typeface="黑体"/>
                <a:ea typeface="黑体"/>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1800" b="0" i="0" u="none" strike="noStrike" kern="0" cap="none" spc="0" normalizeH="0" baseline="0" noProof="0" dirty="0">
                <a:ln>
                  <a:noFill/>
                </a:ln>
                <a:solidFill>
                  <a:srgbClr val="FFFFFF"/>
                </a:solidFill>
                <a:effectLst/>
                <a:uLnTx/>
                <a:uFillTx/>
                <a:latin typeface="黑体"/>
                <a:ea typeface="黑体"/>
              </a:endParaRPr>
            </a:p>
            <a:p>
              <a:pPr marL="0" marR="0" lvl="0" indent="0" defTabSz="914400" eaLnBrk="1" fontAlgn="base" latinLnBrk="0" hangingPunct="1">
                <a:lnSpc>
                  <a:spcPct val="100000"/>
                </a:lnSpc>
                <a:spcBef>
                  <a:spcPts val="1800"/>
                </a:spcBef>
                <a:spcAft>
                  <a:spcPct val="0"/>
                </a:spcAft>
                <a:buClrTx/>
                <a:buSzTx/>
                <a:buFontTx/>
                <a:buNone/>
                <a:tabLst/>
                <a:defRPr/>
              </a:pPr>
              <a:r>
                <a:rPr kumimoji="1" lang="zh-CN" altLang="en-US" b="0" i="0" u="none" strike="noStrike" kern="0" cap="none" spc="0" normalizeH="0" baseline="0" noProof="0" dirty="0">
                  <a:ln>
                    <a:noFill/>
                  </a:ln>
                  <a:solidFill>
                    <a:srgbClr val="FFFFFF"/>
                  </a:solidFill>
                  <a:effectLst/>
                  <a:uLnTx/>
                  <a:uFillTx/>
                  <a:latin typeface="+mn-ea"/>
                </a:rPr>
                <a:t>特征函数为：</a:t>
              </a:r>
            </a:p>
          </p:txBody>
        </p:sp>
        <p:graphicFrame>
          <p:nvGraphicFramePr>
            <p:cNvPr id="14" name="Object 4">
              <a:extLst>
                <a:ext uri="{FF2B5EF4-FFF2-40B4-BE49-F238E27FC236}">
                  <a16:creationId xmlns:a16="http://schemas.microsoft.com/office/drawing/2014/main" id="{7EA663FA-151D-B309-9545-369696086001}"/>
                </a:ext>
              </a:extLst>
            </p:cNvPr>
            <p:cNvGraphicFramePr>
              <a:graphicFrameLocks noChangeAspect="1"/>
            </p:cNvGraphicFramePr>
            <p:nvPr/>
          </p:nvGraphicFramePr>
          <p:xfrm>
            <a:off x="1787226" y="3637014"/>
            <a:ext cx="6543824" cy="1249363"/>
          </p:xfrm>
          <a:graphic>
            <a:graphicData uri="http://schemas.openxmlformats.org/presentationml/2006/ole">
              <mc:AlternateContent xmlns:mc="http://schemas.openxmlformats.org/markup-compatibility/2006">
                <mc:Choice xmlns:v="urn:schemas-microsoft-com:vml" Requires="v">
                  <p:oleObj name="Equation" r:id="rId12" imgW="2451100" imgH="495300" progId="Equation.DSMT4">
                    <p:embed/>
                  </p:oleObj>
                </mc:Choice>
                <mc:Fallback>
                  <p:oleObj name="Equation" r:id="rId12" imgW="2451100" imgH="495300" progId="Equation.DSMT4">
                    <p:embed/>
                    <p:pic>
                      <p:nvPicPr>
                        <p:cNvPr id="14" name="Object 4">
                          <a:extLst>
                            <a:ext uri="{FF2B5EF4-FFF2-40B4-BE49-F238E27FC236}">
                              <a16:creationId xmlns:a16="http://schemas.microsoft.com/office/drawing/2014/main" id="{7EA663FA-151D-B309-9545-36969608600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7226" y="3637014"/>
                          <a:ext cx="6543824" cy="1249363"/>
                        </a:xfrm>
                        <a:prstGeom prst="rect">
                          <a:avLst/>
                        </a:prstGeom>
                        <a:solidFill>
                          <a:srgbClr val="00CC99"/>
                        </a:solidFill>
                        <a:ln>
                          <a:noFill/>
                        </a:ln>
                        <a:effectLst/>
                      </p:spPr>
                    </p:pic>
                  </p:oleObj>
                </mc:Fallback>
              </mc:AlternateContent>
            </a:graphicData>
          </a:graphic>
        </p:graphicFrame>
      </p:grpSp>
      <p:sp>
        <p:nvSpPr>
          <p:cNvPr id="15" name="矩形 14">
            <a:extLst>
              <a:ext uri="{FF2B5EF4-FFF2-40B4-BE49-F238E27FC236}">
                <a16:creationId xmlns:a16="http://schemas.microsoft.com/office/drawing/2014/main" id="{C038DA66-C3CB-2149-2576-0FB58C25E1DB}"/>
              </a:ext>
            </a:extLst>
          </p:cNvPr>
          <p:cNvSpPr/>
          <p:nvPr/>
        </p:nvSpPr>
        <p:spPr>
          <a:xfrm>
            <a:off x="7466690" y="2615230"/>
            <a:ext cx="4572000" cy="461665"/>
          </a:xfrm>
          <a:prstGeom prst="rect">
            <a:avLst/>
          </a:prstGeom>
        </p:spPr>
        <p:txBody>
          <a:bodyPr>
            <a:spAutoFit/>
          </a:bodyPr>
          <a:lstStyle/>
          <a:p>
            <a:pPr defTabSz="914400" fontAlgn="base">
              <a:spcBef>
                <a:spcPct val="0"/>
              </a:spcBef>
              <a:spcAft>
                <a:spcPct val="0"/>
              </a:spcAft>
            </a:pPr>
            <a:r>
              <a:rPr kumimoji="1" lang="zh-CN" altLang="en-US" dirty="0">
                <a:solidFill>
                  <a:srgbClr val="FFFFFF"/>
                </a:solidFill>
                <a:latin typeface="Times New Roman" pitchFamily="18" charset="0"/>
                <a:ea typeface="宋体" pitchFamily="2" charset="-122"/>
                <a:sym typeface="Symbol" panose="05050102010706020507" pitchFamily="18" charset="2"/>
              </a:rPr>
              <a:t></a:t>
            </a:r>
            <a:r>
              <a:rPr kumimoji="1" lang="en-US" altLang="zh-CN" baseline="-25000" dirty="0">
                <a:solidFill>
                  <a:srgbClr val="FFFFFF"/>
                </a:solidFill>
                <a:latin typeface="Times New Roman" pitchFamily="18" charset="0"/>
                <a:ea typeface="宋体" pitchFamily="2" charset="-122"/>
              </a:rPr>
              <a:t>X</a:t>
            </a:r>
            <a:r>
              <a:rPr kumimoji="1" lang="en-US" altLang="zh-CN" dirty="0">
                <a:solidFill>
                  <a:srgbClr val="FFFFFF"/>
                </a:solidFill>
                <a:latin typeface="Times New Roman" pitchFamily="18" charset="0"/>
                <a:ea typeface="宋体" pitchFamily="2" charset="-122"/>
              </a:rPr>
              <a:t>(u)=E(</a:t>
            </a:r>
            <a:r>
              <a:rPr kumimoji="1" lang="en-US" altLang="zh-CN" dirty="0" err="1">
                <a:solidFill>
                  <a:srgbClr val="FFFFFF"/>
                </a:solidFill>
                <a:latin typeface="Times New Roman" pitchFamily="18" charset="0"/>
                <a:ea typeface="宋体" pitchFamily="2" charset="-122"/>
              </a:rPr>
              <a:t>e</a:t>
            </a:r>
            <a:r>
              <a:rPr kumimoji="1" lang="en-US" altLang="zh-CN" baseline="30000" dirty="0" err="1">
                <a:solidFill>
                  <a:srgbClr val="FFFFFF"/>
                </a:solidFill>
                <a:latin typeface="Times New Roman" pitchFamily="18" charset="0"/>
                <a:ea typeface="宋体" pitchFamily="2" charset="-122"/>
              </a:rPr>
              <a:t>iuX</a:t>
            </a:r>
            <a:r>
              <a:rPr kumimoji="1" lang="en-US" altLang="zh-CN" dirty="0">
                <a:solidFill>
                  <a:srgbClr val="FFFFFF"/>
                </a:solidFill>
                <a:latin typeface="Times New Roman" pitchFamily="18" charset="0"/>
                <a:ea typeface="宋体" pitchFamily="2" charset="-122"/>
              </a:rPr>
              <a:t>)</a:t>
            </a:r>
            <a:r>
              <a:rPr kumimoji="1" lang="zh-CN" altLang="en-US" dirty="0">
                <a:solidFill>
                  <a:srgbClr val="FFFFFF"/>
                </a:solidFill>
                <a:latin typeface="Times New Roman" pitchFamily="18" charset="0"/>
                <a:ea typeface="宋体" pitchFamily="2" charset="-122"/>
              </a:rPr>
              <a:t>，</a:t>
            </a:r>
            <a:r>
              <a:rPr kumimoji="1" lang="en-US" altLang="zh-CN" dirty="0" err="1">
                <a:solidFill>
                  <a:srgbClr val="FFFFFF"/>
                </a:solidFill>
                <a:latin typeface="Times New Roman" pitchFamily="18" charset="0"/>
                <a:ea typeface="宋体" pitchFamily="2" charset="-122"/>
              </a:rPr>
              <a:t>i</a:t>
            </a:r>
            <a:r>
              <a:rPr kumimoji="1" lang="zh-CN" altLang="en-US" dirty="0">
                <a:solidFill>
                  <a:srgbClr val="FFFFFF"/>
                </a:solidFill>
                <a:latin typeface="Times New Roman" pitchFamily="18" charset="0"/>
                <a:ea typeface="宋体" pitchFamily="2" charset="-122"/>
              </a:rPr>
              <a:t>＝</a:t>
            </a:r>
          </a:p>
        </p:txBody>
      </p:sp>
      <p:graphicFrame>
        <p:nvGraphicFramePr>
          <p:cNvPr id="19" name="Object 4">
            <a:extLst>
              <a:ext uri="{FF2B5EF4-FFF2-40B4-BE49-F238E27FC236}">
                <a16:creationId xmlns:a16="http://schemas.microsoft.com/office/drawing/2014/main" id="{65B1FE57-8EF1-866D-92EB-3F89C4FE3212}"/>
              </a:ext>
            </a:extLst>
          </p:cNvPr>
          <p:cNvGraphicFramePr>
            <a:graphicFrameLocks/>
          </p:cNvGraphicFramePr>
          <p:nvPr/>
        </p:nvGraphicFramePr>
        <p:xfrm>
          <a:off x="10020273" y="2721554"/>
          <a:ext cx="561328" cy="317501"/>
        </p:xfrm>
        <a:graphic>
          <a:graphicData uri="http://schemas.openxmlformats.org/presentationml/2006/ole">
            <mc:AlternateContent xmlns:mc="http://schemas.openxmlformats.org/markup-compatibility/2006">
              <mc:Choice xmlns:v="urn:schemas-microsoft-com:vml" Requires="v">
                <p:oleObj name="Equation" r:id="rId14" imgW="647280" imgH="355680" progId="Equation.DSMT4">
                  <p:embed/>
                </p:oleObj>
              </mc:Choice>
              <mc:Fallback>
                <p:oleObj name="Equation" r:id="rId14" imgW="647280" imgH="355680" progId="Equation.DSMT4">
                  <p:embed/>
                  <p:pic>
                    <p:nvPicPr>
                      <p:cNvPr id="19" name="Object 4">
                        <a:extLst>
                          <a:ext uri="{FF2B5EF4-FFF2-40B4-BE49-F238E27FC236}">
                            <a16:creationId xmlns:a16="http://schemas.microsoft.com/office/drawing/2014/main" id="{65B1FE57-8EF1-866D-92EB-3F89C4FE3212}"/>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020273" y="2721554"/>
                        <a:ext cx="561328" cy="317501"/>
                      </a:xfrm>
                      <a:prstGeom prst="rect">
                        <a:avLst/>
                      </a:prstGeom>
                      <a:solidFill>
                        <a:srgbClr val="00CC99"/>
                      </a:solidFill>
                      <a:ln>
                        <a:noFill/>
                      </a:ln>
                      <a:effectLst/>
                    </p:spPr>
                  </p:pic>
                </p:oleObj>
              </mc:Fallback>
            </mc:AlternateContent>
          </a:graphicData>
        </a:graphic>
      </p:graphicFrame>
      <p:graphicFrame>
        <p:nvGraphicFramePr>
          <p:cNvPr id="22" name="Object 8">
            <a:extLst>
              <a:ext uri="{FF2B5EF4-FFF2-40B4-BE49-F238E27FC236}">
                <a16:creationId xmlns:a16="http://schemas.microsoft.com/office/drawing/2014/main" id="{C668CAAD-92F8-0E17-9338-E0C27414CC45}"/>
              </a:ext>
            </a:extLst>
          </p:cNvPr>
          <p:cNvGraphicFramePr>
            <a:graphicFrameLocks noChangeAspect="1"/>
          </p:cNvGraphicFramePr>
          <p:nvPr/>
        </p:nvGraphicFramePr>
        <p:xfrm>
          <a:off x="5986112" y="3180790"/>
          <a:ext cx="3887787" cy="881062"/>
        </p:xfrm>
        <a:graphic>
          <a:graphicData uri="http://schemas.openxmlformats.org/presentationml/2006/ole">
            <mc:AlternateContent xmlns:mc="http://schemas.openxmlformats.org/markup-compatibility/2006">
              <mc:Choice xmlns:v="urn:schemas-microsoft-com:vml" Requires="v">
                <p:oleObj name="Equation" r:id="rId16" imgW="2856240" imgH="584280" progId="Equation.DSMT4">
                  <p:embed/>
                </p:oleObj>
              </mc:Choice>
              <mc:Fallback>
                <p:oleObj name="Equation" r:id="rId16" imgW="2856240" imgH="584280" progId="Equation.DSMT4">
                  <p:embed/>
                  <p:pic>
                    <p:nvPicPr>
                      <p:cNvPr id="22" name="Object 8">
                        <a:extLst>
                          <a:ext uri="{FF2B5EF4-FFF2-40B4-BE49-F238E27FC236}">
                            <a16:creationId xmlns:a16="http://schemas.microsoft.com/office/drawing/2014/main" id="{C668CAAD-92F8-0E17-9338-E0C27414CC4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86112" y="3180790"/>
                        <a:ext cx="3887787" cy="881062"/>
                      </a:xfrm>
                      <a:prstGeom prst="rect">
                        <a:avLst/>
                      </a:prstGeom>
                      <a:solidFill>
                        <a:srgbClr val="FFFFFF"/>
                      </a:solid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 calcmode="lin" valueType="num">
                                      <p:cBhvr additive="base">
                                        <p:cTn id="7" dur="500" fill="hold"/>
                                        <p:tgtEl>
                                          <p:spTgt spid="3450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50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45092"/>
                                        </p:tgtEl>
                                        <p:attrNameLst>
                                          <p:attrName>style.visibility</p:attrName>
                                        </p:attrNameLst>
                                      </p:cBhvr>
                                      <p:to>
                                        <p:strVal val="visible"/>
                                      </p:to>
                                    </p:set>
                                    <p:anim calcmode="lin" valueType="num">
                                      <p:cBhvr additive="base">
                                        <p:cTn id="13" dur="500" fill="hold"/>
                                        <p:tgtEl>
                                          <p:spTgt spid="345092"/>
                                        </p:tgtEl>
                                        <p:attrNameLst>
                                          <p:attrName>ppt_x</p:attrName>
                                        </p:attrNameLst>
                                      </p:cBhvr>
                                      <p:tavLst>
                                        <p:tav tm="0">
                                          <p:val>
                                            <p:strVal val="1+#ppt_w/2"/>
                                          </p:val>
                                        </p:tav>
                                        <p:tav tm="100000">
                                          <p:val>
                                            <p:strVal val="#ppt_x"/>
                                          </p:val>
                                        </p:tav>
                                      </p:tavLst>
                                    </p:anim>
                                    <p:anim calcmode="lin" valueType="num">
                                      <p:cBhvr additive="base">
                                        <p:cTn id="14" dur="500" fill="hold"/>
                                        <p:tgtEl>
                                          <p:spTgt spid="345092"/>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45091">
                                            <p:txEl>
                                              <p:pRg st="1" end="1"/>
                                            </p:txEl>
                                          </p:spTgt>
                                        </p:tgtEl>
                                        <p:attrNameLst>
                                          <p:attrName>style.visibility</p:attrName>
                                        </p:attrNameLst>
                                      </p:cBhvr>
                                      <p:to>
                                        <p:strVal val="visible"/>
                                      </p:to>
                                    </p:set>
                                    <p:anim calcmode="lin" valueType="num">
                                      <p:cBhvr additive="base">
                                        <p:cTn id="18" dur="500" fill="hold"/>
                                        <p:tgtEl>
                                          <p:spTgt spid="34509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450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345095"/>
                                        </p:tgtEl>
                                        <p:attrNameLst>
                                          <p:attrName>style.visibility</p:attrName>
                                        </p:attrNameLst>
                                      </p:cBhvr>
                                      <p:to>
                                        <p:strVal val="visible"/>
                                      </p:to>
                                    </p:set>
                                    <p:anim calcmode="lin" valueType="num">
                                      <p:cBhvr additive="base">
                                        <p:cTn id="24" dur="500" fill="hold"/>
                                        <p:tgtEl>
                                          <p:spTgt spid="345095"/>
                                        </p:tgtEl>
                                        <p:attrNameLst>
                                          <p:attrName>ppt_x</p:attrName>
                                        </p:attrNameLst>
                                      </p:cBhvr>
                                      <p:tavLst>
                                        <p:tav tm="0">
                                          <p:val>
                                            <p:strVal val="1+#ppt_w/2"/>
                                          </p:val>
                                        </p:tav>
                                        <p:tav tm="100000">
                                          <p:val>
                                            <p:strVal val="#ppt_x"/>
                                          </p:val>
                                        </p:tav>
                                      </p:tavLst>
                                    </p:anim>
                                    <p:anim calcmode="lin" valueType="num">
                                      <p:cBhvr additive="base">
                                        <p:cTn id="25" dur="500" fill="hold"/>
                                        <p:tgtEl>
                                          <p:spTgt spid="345095"/>
                                        </p:tgtEl>
                                        <p:attrNameLst>
                                          <p:attrName>ppt_y</p:attrName>
                                        </p:attrNameLst>
                                      </p:cBhvr>
                                      <p:tavLst>
                                        <p:tav tm="0">
                                          <p:val>
                                            <p:strVal val="0-#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345091">
                                            <p:txEl>
                                              <p:pRg st="2" end="2"/>
                                            </p:txEl>
                                          </p:spTgt>
                                        </p:tgtEl>
                                        <p:attrNameLst>
                                          <p:attrName>style.visibility</p:attrName>
                                        </p:attrNameLst>
                                      </p:cBhvr>
                                      <p:to>
                                        <p:strVal val="visible"/>
                                      </p:to>
                                    </p:set>
                                    <p:anim calcmode="lin" valueType="num">
                                      <p:cBhvr additive="base">
                                        <p:cTn id="29" dur="500" fill="hold"/>
                                        <p:tgtEl>
                                          <p:spTgt spid="345091">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450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345096"/>
                                        </p:tgtEl>
                                        <p:attrNameLst>
                                          <p:attrName>style.visibility</p:attrName>
                                        </p:attrNameLst>
                                      </p:cBhvr>
                                      <p:to>
                                        <p:strVal val="visible"/>
                                      </p:to>
                                    </p:set>
                                    <p:anim calcmode="lin" valueType="num">
                                      <p:cBhvr additive="base">
                                        <p:cTn id="35" dur="500" fill="hold"/>
                                        <p:tgtEl>
                                          <p:spTgt spid="345096"/>
                                        </p:tgtEl>
                                        <p:attrNameLst>
                                          <p:attrName>ppt_x</p:attrName>
                                        </p:attrNameLst>
                                      </p:cBhvr>
                                      <p:tavLst>
                                        <p:tav tm="0">
                                          <p:val>
                                            <p:strVal val="1+#ppt_w/2"/>
                                          </p:val>
                                        </p:tav>
                                        <p:tav tm="100000">
                                          <p:val>
                                            <p:strVal val="#ppt_x"/>
                                          </p:val>
                                        </p:tav>
                                      </p:tavLst>
                                    </p:anim>
                                    <p:anim calcmode="lin" valueType="num">
                                      <p:cBhvr additive="base">
                                        <p:cTn id="36" dur="500" fill="hold"/>
                                        <p:tgtEl>
                                          <p:spTgt spid="345096"/>
                                        </p:tgtEl>
                                        <p:attrNameLst>
                                          <p:attrName>ppt_y</p:attrName>
                                        </p:attrNameLst>
                                      </p:cBhvr>
                                      <p:tavLst>
                                        <p:tav tm="0">
                                          <p:val>
                                            <p:strVal val="0-#ppt_h/2"/>
                                          </p:val>
                                        </p:tav>
                                        <p:tav tm="100000">
                                          <p:val>
                                            <p:strVal val="#ppt_y"/>
                                          </p:val>
                                        </p:tav>
                                      </p:tavLst>
                                    </p:anim>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345091">
                                            <p:txEl>
                                              <p:pRg st="3" end="3"/>
                                            </p:txEl>
                                          </p:spTgt>
                                        </p:tgtEl>
                                        <p:attrNameLst>
                                          <p:attrName>style.visibility</p:attrName>
                                        </p:attrNameLst>
                                      </p:cBhvr>
                                      <p:to>
                                        <p:strVal val="visible"/>
                                      </p:to>
                                    </p:set>
                                    <p:anim calcmode="lin" valueType="num">
                                      <p:cBhvr additive="base">
                                        <p:cTn id="40" dur="500" fill="hold"/>
                                        <p:tgtEl>
                                          <p:spTgt spid="345091">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450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3" fill="hold" nodeType="clickEffect">
                                  <p:stCondLst>
                                    <p:cond delay="0"/>
                                  </p:stCondLst>
                                  <p:childTnLst>
                                    <p:set>
                                      <p:cBhvr>
                                        <p:cTn id="45" dur="1" fill="hold">
                                          <p:stCondLst>
                                            <p:cond delay="0"/>
                                          </p:stCondLst>
                                        </p:cTn>
                                        <p:tgtEl>
                                          <p:spTgt spid="345097"/>
                                        </p:tgtEl>
                                        <p:attrNameLst>
                                          <p:attrName>style.visibility</p:attrName>
                                        </p:attrNameLst>
                                      </p:cBhvr>
                                      <p:to>
                                        <p:strVal val="visible"/>
                                      </p:to>
                                    </p:set>
                                    <p:anim calcmode="lin" valueType="num">
                                      <p:cBhvr additive="base">
                                        <p:cTn id="46" dur="500" fill="hold"/>
                                        <p:tgtEl>
                                          <p:spTgt spid="345097"/>
                                        </p:tgtEl>
                                        <p:attrNameLst>
                                          <p:attrName>ppt_x</p:attrName>
                                        </p:attrNameLst>
                                      </p:cBhvr>
                                      <p:tavLst>
                                        <p:tav tm="0">
                                          <p:val>
                                            <p:strVal val="1+#ppt_w/2"/>
                                          </p:val>
                                        </p:tav>
                                        <p:tav tm="100000">
                                          <p:val>
                                            <p:strVal val="#ppt_x"/>
                                          </p:val>
                                        </p:tav>
                                      </p:tavLst>
                                    </p:anim>
                                    <p:anim calcmode="lin" valueType="num">
                                      <p:cBhvr additive="base">
                                        <p:cTn id="47" dur="500" fill="hold"/>
                                        <p:tgtEl>
                                          <p:spTgt spid="345097"/>
                                        </p:tgtEl>
                                        <p:attrNameLst>
                                          <p:attrName>ppt_y</p:attrName>
                                        </p:attrNameLst>
                                      </p:cBhvr>
                                      <p:tavLst>
                                        <p:tav tm="0">
                                          <p:val>
                                            <p:strVal val="0-#ppt_h/2"/>
                                          </p:val>
                                        </p:tav>
                                        <p:tav tm="100000">
                                          <p:val>
                                            <p:strVal val="#ppt_y"/>
                                          </p:val>
                                        </p:tav>
                                      </p:tavLst>
                                    </p:anim>
                                  </p:childTnLst>
                                </p:cTn>
                              </p:par>
                            </p:childTnLst>
                          </p:cTn>
                        </p:par>
                        <p:par>
                          <p:cTn id="48" fill="hold">
                            <p:stCondLst>
                              <p:cond delay="500"/>
                            </p:stCondLst>
                            <p:childTnLst>
                              <p:par>
                                <p:cTn id="49" presetID="2" presetClass="entr" presetSubtype="4" fill="hold" grpId="0" nodeType="afterEffect">
                                  <p:stCondLst>
                                    <p:cond delay="0"/>
                                  </p:stCondLst>
                                  <p:childTnLst>
                                    <p:set>
                                      <p:cBhvr>
                                        <p:cTn id="50" dur="1" fill="hold">
                                          <p:stCondLst>
                                            <p:cond delay="0"/>
                                          </p:stCondLst>
                                        </p:cTn>
                                        <p:tgtEl>
                                          <p:spTgt spid="345091">
                                            <p:txEl>
                                              <p:pRg st="5" end="5"/>
                                            </p:txEl>
                                          </p:spTgt>
                                        </p:tgtEl>
                                        <p:attrNameLst>
                                          <p:attrName>style.visibility</p:attrName>
                                        </p:attrNameLst>
                                      </p:cBhvr>
                                      <p:to>
                                        <p:strVal val="visible"/>
                                      </p:to>
                                    </p:set>
                                    <p:anim calcmode="lin" valueType="num">
                                      <p:cBhvr additive="base">
                                        <p:cTn id="51" dur="500" fill="hold"/>
                                        <p:tgtEl>
                                          <p:spTgt spid="345091">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450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3" fill="hold" nodeType="clickEffect">
                                  <p:stCondLst>
                                    <p:cond delay="0"/>
                                  </p:stCondLst>
                                  <p:childTnLst>
                                    <p:set>
                                      <p:cBhvr>
                                        <p:cTn id="56" dur="1" fill="hold">
                                          <p:stCondLst>
                                            <p:cond delay="0"/>
                                          </p:stCondLst>
                                        </p:cTn>
                                        <p:tgtEl>
                                          <p:spTgt spid="345098"/>
                                        </p:tgtEl>
                                        <p:attrNameLst>
                                          <p:attrName>style.visibility</p:attrName>
                                        </p:attrNameLst>
                                      </p:cBhvr>
                                      <p:to>
                                        <p:strVal val="visible"/>
                                      </p:to>
                                    </p:set>
                                    <p:anim calcmode="lin" valueType="num">
                                      <p:cBhvr additive="base">
                                        <p:cTn id="57" dur="500" fill="hold"/>
                                        <p:tgtEl>
                                          <p:spTgt spid="345098"/>
                                        </p:tgtEl>
                                        <p:attrNameLst>
                                          <p:attrName>ppt_x</p:attrName>
                                        </p:attrNameLst>
                                      </p:cBhvr>
                                      <p:tavLst>
                                        <p:tav tm="0">
                                          <p:val>
                                            <p:strVal val="1+#ppt_w/2"/>
                                          </p:val>
                                        </p:tav>
                                        <p:tav tm="100000">
                                          <p:val>
                                            <p:strVal val="#ppt_x"/>
                                          </p:val>
                                        </p:tav>
                                      </p:tavLst>
                                    </p:anim>
                                    <p:anim calcmode="lin" valueType="num">
                                      <p:cBhvr additive="base">
                                        <p:cTn id="58" dur="500" fill="hold"/>
                                        <p:tgtEl>
                                          <p:spTgt spid="345098"/>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circle(in)">
                                      <p:cBhvr>
                                        <p:cTn id="63" dur="2000"/>
                                        <p:tgtEl>
                                          <p:spTgt spid="12"/>
                                        </p:tgtEl>
                                      </p:cBhvr>
                                    </p:animEffect>
                                  </p:childTnLst>
                                </p:cTn>
                              </p:par>
                            </p:childTnLst>
                          </p:cTn>
                        </p:par>
                        <p:par>
                          <p:cTn id="64" fill="hold">
                            <p:stCondLst>
                              <p:cond delay="2000"/>
                            </p:stCondLst>
                            <p:childTnLst>
                              <p:par>
                                <p:cTn id="65" presetID="1" presetClass="entr" presetSubtype="0" fill="hold" nodeType="after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par>
                          <p:cTn id="67" fill="hold">
                            <p:stCondLst>
                              <p:cond delay="2000"/>
                            </p:stCondLst>
                            <p:childTnLst>
                              <p:par>
                                <p:cTn id="68" presetID="2" presetClass="entr" presetSubtype="4"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ppt_x"/>
                                          </p:val>
                                        </p:tav>
                                        <p:tav tm="100000">
                                          <p:val>
                                            <p:strVal val="#ppt_x"/>
                                          </p:val>
                                        </p:tav>
                                      </p:tavLst>
                                    </p:anim>
                                    <p:anim calcmode="lin" valueType="num">
                                      <p:cBhvr additive="base">
                                        <p:cTn id="7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P38</a:t>
            </a:r>
            <a:endParaRPr lang="zh-CN" altLang="en-US" dirty="0"/>
          </a:p>
        </p:txBody>
      </p:sp>
      <p:pic>
        <p:nvPicPr>
          <p:cNvPr id="8" name="图片 7"/>
          <p:cNvPicPr>
            <a:picLocks noChangeAspect="1"/>
          </p:cNvPicPr>
          <p:nvPr/>
        </p:nvPicPr>
        <p:blipFill>
          <a:blip r:embed="rId2"/>
          <a:stretch>
            <a:fillRect/>
          </a:stretch>
        </p:blipFill>
        <p:spPr>
          <a:xfrm>
            <a:off x="1831975" y="1677194"/>
            <a:ext cx="7770687" cy="4321480"/>
          </a:xfrm>
          <a:prstGeom prst="rect">
            <a:avLst/>
          </a:prstGeom>
        </p:spPr>
      </p:pic>
    </p:spTree>
    <p:extLst>
      <p:ext uri="{BB962C8B-B14F-4D97-AF65-F5344CB8AC3E}">
        <p14:creationId xmlns:p14="http://schemas.microsoft.com/office/powerpoint/2010/main" val="23254511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 name="Rectangle 2"/>
          <p:cNvSpPr>
            <a:spLocks noGrp="1" noChangeArrowheads="1"/>
          </p:cNvSpPr>
          <p:nvPr>
            <p:ph type="title"/>
          </p:nvPr>
        </p:nvSpPr>
        <p:spPr>
          <a:xfrm>
            <a:off x="765175" y="290581"/>
            <a:ext cx="9961986" cy="609741"/>
          </a:xfrm>
        </p:spPr>
        <p:txBody>
          <a:bodyPr/>
          <a:lstStyle/>
          <a:p>
            <a:pPr eaLnBrk="1" hangingPunct="1"/>
            <a:r>
              <a:rPr lang="zh-CN" altLang="en-US" dirty="0"/>
              <a:t>正态过程的二维概率分布</a:t>
            </a:r>
          </a:p>
        </p:txBody>
      </p:sp>
      <p:sp>
        <p:nvSpPr>
          <p:cNvPr id="347139" name="Rectangle 3"/>
          <p:cNvSpPr>
            <a:spLocks noGrp="1" noChangeArrowheads="1"/>
          </p:cNvSpPr>
          <p:nvPr>
            <p:ph type="body" sz="half" idx="1"/>
          </p:nvPr>
        </p:nvSpPr>
        <p:spPr>
          <a:xfrm>
            <a:off x="750988" y="900322"/>
            <a:ext cx="3772773" cy="5959266"/>
          </a:xfrm>
        </p:spPr>
        <p:txBody>
          <a:bodyPr>
            <a:normAutofit/>
          </a:bodyPr>
          <a:lstStyle/>
          <a:p>
            <a:pPr eaLnBrk="1" hangingPunct="1">
              <a:lnSpc>
                <a:spcPct val="200000"/>
              </a:lnSpc>
              <a:buFont typeface="Wingdings" pitchFamily="2" charset="2"/>
              <a:buNone/>
            </a:pPr>
            <a:r>
              <a:rPr lang="zh-CN" altLang="en-US" dirty="0">
                <a:solidFill>
                  <a:srgbClr val="0000FF"/>
                </a:solidFill>
              </a:rPr>
              <a:t>均值函数向量</a:t>
            </a:r>
          </a:p>
          <a:p>
            <a:pPr eaLnBrk="1" hangingPunct="1">
              <a:lnSpc>
                <a:spcPct val="300000"/>
              </a:lnSpc>
              <a:buFont typeface="Wingdings" pitchFamily="2" charset="2"/>
              <a:buNone/>
            </a:pPr>
            <a:r>
              <a:rPr lang="zh-CN" altLang="en-US" dirty="0">
                <a:solidFill>
                  <a:srgbClr val="0000FF"/>
                </a:solidFill>
              </a:rPr>
              <a:t>二阶协方差矩阵</a:t>
            </a:r>
          </a:p>
          <a:p>
            <a:pPr eaLnBrk="1" hangingPunct="1">
              <a:lnSpc>
                <a:spcPct val="200000"/>
              </a:lnSpc>
              <a:buFont typeface="Wingdings" pitchFamily="2" charset="2"/>
              <a:buNone/>
            </a:pPr>
            <a:r>
              <a:rPr lang="zh-CN" altLang="en-US" dirty="0">
                <a:solidFill>
                  <a:srgbClr val="0000FF"/>
                </a:solidFill>
              </a:rPr>
              <a:t>二维概率分布</a:t>
            </a:r>
          </a:p>
          <a:p>
            <a:pPr eaLnBrk="1" hangingPunct="1">
              <a:lnSpc>
                <a:spcPct val="200000"/>
              </a:lnSpc>
              <a:buFont typeface="Wingdings" pitchFamily="2" charset="2"/>
              <a:buNone/>
            </a:pPr>
            <a:r>
              <a:rPr lang="zh-CN" altLang="en-US" dirty="0">
                <a:solidFill>
                  <a:srgbClr val="0000FF"/>
                </a:solidFill>
              </a:rPr>
              <a:t>二维概率密度函数</a:t>
            </a:r>
          </a:p>
          <a:p>
            <a:pPr eaLnBrk="1" hangingPunct="1">
              <a:lnSpc>
                <a:spcPct val="200000"/>
              </a:lnSpc>
              <a:buFont typeface="Wingdings" pitchFamily="2" charset="2"/>
              <a:buNone/>
            </a:pPr>
            <a:endParaRPr lang="zh-CN" altLang="en-US" dirty="0">
              <a:solidFill>
                <a:srgbClr val="0000FF"/>
              </a:solidFill>
            </a:endParaRPr>
          </a:p>
          <a:p>
            <a:pPr eaLnBrk="1" hangingPunct="1">
              <a:lnSpc>
                <a:spcPct val="200000"/>
              </a:lnSpc>
              <a:spcBef>
                <a:spcPct val="30000"/>
              </a:spcBef>
              <a:buFont typeface="Wingdings" pitchFamily="2" charset="2"/>
              <a:buNone/>
            </a:pPr>
            <a:r>
              <a:rPr lang="zh-CN" altLang="en-US" dirty="0">
                <a:solidFill>
                  <a:srgbClr val="0000FF"/>
                </a:solidFill>
              </a:rPr>
              <a:t>二维特征函数</a:t>
            </a:r>
          </a:p>
        </p:txBody>
      </p:sp>
      <p:graphicFrame>
        <p:nvGraphicFramePr>
          <p:cNvPr id="347140" name="Object 4"/>
          <p:cNvGraphicFramePr>
            <a:graphicFrameLocks noGrp="1" noChangeAspect="1"/>
          </p:cNvGraphicFramePr>
          <p:nvPr>
            <p:ph sz="half" idx="2"/>
          </p:nvPr>
        </p:nvGraphicFramePr>
        <p:xfrm>
          <a:off x="3161620" y="997310"/>
          <a:ext cx="2937555" cy="601802"/>
        </p:xfrm>
        <a:graphic>
          <a:graphicData uri="http://schemas.openxmlformats.org/presentationml/2006/ole">
            <mc:AlternateContent xmlns:mc="http://schemas.openxmlformats.org/markup-compatibility/2006">
              <mc:Choice xmlns:v="urn:schemas-microsoft-com:vml" Requires="v">
                <p:oleObj name="公式" r:id="rId2" imgW="1180800" imgH="241200" progId="Equation.3">
                  <p:embed/>
                </p:oleObj>
              </mc:Choice>
              <mc:Fallback>
                <p:oleObj name="公式" r:id="rId2" imgW="1180800" imgH="241200" progId="Equation.3">
                  <p:embed/>
                  <p:pic>
                    <p:nvPicPr>
                      <p:cNvPr id="3471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1620" y="997310"/>
                        <a:ext cx="2937555" cy="6018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7141" name="Object 5"/>
          <p:cNvGraphicFramePr>
            <a:graphicFrameLocks noChangeAspect="1"/>
          </p:cNvGraphicFramePr>
          <p:nvPr/>
        </p:nvGraphicFramePr>
        <p:xfrm>
          <a:off x="3259138" y="1943100"/>
          <a:ext cx="3055937" cy="1060450"/>
        </p:xfrm>
        <a:graphic>
          <a:graphicData uri="http://schemas.openxmlformats.org/presentationml/2006/ole">
            <mc:AlternateContent xmlns:mc="http://schemas.openxmlformats.org/markup-compatibility/2006">
              <mc:Choice xmlns:v="urn:schemas-microsoft-com:vml" Requires="v">
                <p:oleObj name="公式" r:id="rId4" imgW="1358640" imgH="469800" progId="Equation.3">
                  <p:embed/>
                </p:oleObj>
              </mc:Choice>
              <mc:Fallback>
                <p:oleObj name="公式" r:id="rId4" imgW="1358640" imgH="469800" progId="Equation.3">
                  <p:embed/>
                  <p:pic>
                    <p:nvPicPr>
                      <p:cNvPr id="3471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9138" y="1943100"/>
                        <a:ext cx="3055937"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7142" name="Object 6"/>
          <p:cNvGraphicFramePr>
            <a:graphicFrameLocks noChangeAspect="1"/>
          </p:cNvGraphicFramePr>
          <p:nvPr/>
        </p:nvGraphicFramePr>
        <p:xfrm>
          <a:off x="3157079" y="3077510"/>
          <a:ext cx="3679088" cy="571632"/>
        </p:xfrm>
        <a:graphic>
          <a:graphicData uri="http://schemas.openxmlformats.org/presentationml/2006/ole">
            <mc:AlternateContent xmlns:mc="http://schemas.openxmlformats.org/markup-compatibility/2006">
              <mc:Choice xmlns:v="urn:schemas-microsoft-com:vml" Requires="v">
                <p:oleObj name="公式" r:id="rId6" imgW="1473120" imgH="228600" progId="Equation.3">
                  <p:embed/>
                </p:oleObj>
              </mc:Choice>
              <mc:Fallback>
                <p:oleObj name="公式" r:id="rId6" imgW="1473120" imgH="228600" progId="Equation.3">
                  <p:embed/>
                  <p:pic>
                    <p:nvPicPr>
                      <p:cNvPr id="34714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7079" y="3077510"/>
                        <a:ext cx="3679088"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7143" name="Object 7"/>
          <p:cNvGraphicFramePr>
            <a:graphicFrameLocks noChangeAspect="1"/>
          </p:cNvGraphicFramePr>
          <p:nvPr/>
        </p:nvGraphicFramePr>
        <p:xfrm>
          <a:off x="3157079" y="4344406"/>
          <a:ext cx="7574128" cy="1340160"/>
        </p:xfrm>
        <a:graphic>
          <a:graphicData uri="http://schemas.openxmlformats.org/presentationml/2006/ole">
            <mc:AlternateContent xmlns:mc="http://schemas.openxmlformats.org/markup-compatibility/2006">
              <mc:Choice xmlns:v="urn:schemas-microsoft-com:vml" Requires="v">
                <p:oleObj name="公式" r:id="rId8" imgW="3162240" imgH="558720" progId="Equation.3">
                  <p:embed/>
                </p:oleObj>
              </mc:Choice>
              <mc:Fallback>
                <p:oleObj name="公式" r:id="rId8" imgW="3162240" imgH="558720" progId="Equation.3">
                  <p:embed/>
                  <p:pic>
                    <p:nvPicPr>
                      <p:cNvPr id="347143"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57079" y="4344406"/>
                        <a:ext cx="7574128" cy="1340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7144" name="Object 8"/>
          <p:cNvGraphicFramePr>
            <a:graphicFrameLocks noChangeAspect="1"/>
          </p:cNvGraphicFramePr>
          <p:nvPr/>
        </p:nvGraphicFramePr>
        <p:xfrm>
          <a:off x="3270882" y="5798745"/>
          <a:ext cx="6468972" cy="1175022"/>
        </p:xfrm>
        <a:graphic>
          <a:graphicData uri="http://schemas.openxmlformats.org/presentationml/2006/ole">
            <mc:AlternateContent xmlns:mc="http://schemas.openxmlformats.org/markup-compatibility/2006">
              <mc:Choice xmlns:v="urn:schemas-microsoft-com:vml" Requires="v">
                <p:oleObj name="公式" r:id="rId10" imgW="2590560" imgH="469800" progId="Equation.3">
                  <p:embed/>
                </p:oleObj>
              </mc:Choice>
              <mc:Fallback>
                <p:oleObj name="公式" r:id="rId10" imgW="2590560" imgH="469800" progId="Equation.3">
                  <p:embed/>
                  <p:pic>
                    <p:nvPicPr>
                      <p:cNvPr id="347144"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0882" y="5798745"/>
                        <a:ext cx="6468972" cy="11750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additive="base">
                                        <p:cTn id="7" dur="500" fill="hold"/>
                                        <p:tgtEl>
                                          <p:spTgt spid="3471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1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47140"/>
                                        </p:tgtEl>
                                        <p:attrNameLst>
                                          <p:attrName>style.visibility</p:attrName>
                                        </p:attrNameLst>
                                      </p:cBhvr>
                                      <p:to>
                                        <p:strVal val="visible"/>
                                      </p:to>
                                    </p:set>
                                    <p:anim calcmode="lin" valueType="num">
                                      <p:cBhvr additive="base">
                                        <p:cTn id="13" dur="500" fill="hold"/>
                                        <p:tgtEl>
                                          <p:spTgt spid="347140"/>
                                        </p:tgtEl>
                                        <p:attrNameLst>
                                          <p:attrName>ppt_x</p:attrName>
                                        </p:attrNameLst>
                                      </p:cBhvr>
                                      <p:tavLst>
                                        <p:tav tm="0">
                                          <p:val>
                                            <p:strVal val="1+#ppt_w/2"/>
                                          </p:val>
                                        </p:tav>
                                        <p:tav tm="100000">
                                          <p:val>
                                            <p:strVal val="#ppt_x"/>
                                          </p:val>
                                        </p:tav>
                                      </p:tavLst>
                                    </p:anim>
                                    <p:anim calcmode="lin" valueType="num">
                                      <p:cBhvr additive="base">
                                        <p:cTn id="14" dur="500" fill="hold"/>
                                        <p:tgtEl>
                                          <p:spTgt spid="347140"/>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47139">
                                            <p:txEl>
                                              <p:pRg st="1" end="1"/>
                                            </p:txEl>
                                          </p:spTgt>
                                        </p:tgtEl>
                                        <p:attrNameLst>
                                          <p:attrName>style.visibility</p:attrName>
                                        </p:attrNameLst>
                                      </p:cBhvr>
                                      <p:to>
                                        <p:strVal val="visible"/>
                                      </p:to>
                                    </p:set>
                                    <p:anim calcmode="lin" valueType="num">
                                      <p:cBhvr additive="base">
                                        <p:cTn id="18" dur="500" fill="hold"/>
                                        <p:tgtEl>
                                          <p:spTgt spid="34713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471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347141"/>
                                        </p:tgtEl>
                                        <p:attrNameLst>
                                          <p:attrName>style.visibility</p:attrName>
                                        </p:attrNameLst>
                                      </p:cBhvr>
                                      <p:to>
                                        <p:strVal val="visible"/>
                                      </p:to>
                                    </p:set>
                                    <p:anim calcmode="lin" valueType="num">
                                      <p:cBhvr additive="base">
                                        <p:cTn id="24" dur="500" fill="hold"/>
                                        <p:tgtEl>
                                          <p:spTgt spid="347141"/>
                                        </p:tgtEl>
                                        <p:attrNameLst>
                                          <p:attrName>ppt_x</p:attrName>
                                        </p:attrNameLst>
                                      </p:cBhvr>
                                      <p:tavLst>
                                        <p:tav tm="0">
                                          <p:val>
                                            <p:strVal val="1+#ppt_w/2"/>
                                          </p:val>
                                        </p:tav>
                                        <p:tav tm="100000">
                                          <p:val>
                                            <p:strVal val="#ppt_x"/>
                                          </p:val>
                                        </p:tav>
                                      </p:tavLst>
                                    </p:anim>
                                    <p:anim calcmode="lin" valueType="num">
                                      <p:cBhvr additive="base">
                                        <p:cTn id="25" dur="500" fill="hold"/>
                                        <p:tgtEl>
                                          <p:spTgt spid="347141"/>
                                        </p:tgtEl>
                                        <p:attrNameLst>
                                          <p:attrName>ppt_y</p:attrName>
                                        </p:attrNameLst>
                                      </p:cBhvr>
                                      <p:tavLst>
                                        <p:tav tm="0">
                                          <p:val>
                                            <p:strVal val="0-#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347139">
                                            <p:txEl>
                                              <p:pRg st="2" end="2"/>
                                            </p:txEl>
                                          </p:spTgt>
                                        </p:tgtEl>
                                        <p:attrNameLst>
                                          <p:attrName>style.visibility</p:attrName>
                                        </p:attrNameLst>
                                      </p:cBhvr>
                                      <p:to>
                                        <p:strVal val="visible"/>
                                      </p:to>
                                    </p:set>
                                    <p:anim calcmode="lin" valueType="num">
                                      <p:cBhvr additive="base">
                                        <p:cTn id="29" dur="500" fill="hold"/>
                                        <p:tgtEl>
                                          <p:spTgt spid="347139">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471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347142"/>
                                        </p:tgtEl>
                                        <p:attrNameLst>
                                          <p:attrName>style.visibility</p:attrName>
                                        </p:attrNameLst>
                                      </p:cBhvr>
                                      <p:to>
                                        <p:strVal val="visible"/>
                                      </p:to>
                                    </p:set>
                                    <p:anim calcmode="lin" valueType="num">
                                      <p:cBhvr additive="base">
                                        <p:cTn id="35" dur="500" fill="hold"/>
                                        <p:tgtEl>
                                          <p:spTgt spid="347142"/>
                                        </p:tgtEl>
                                        <p:attrNameLst>
                                          <p:attrName>ppt_x</p:attrName>
                                        </p:attrNameLst>
                                      </p:cBhvr>
                                      <p:tavLst>
                                        <p:tav tm="0">
                                          <p:val>
                                            <p:strVal val="1+#ppt_w/2"/>
                                          </p:val>
                                        </p:tav>
                                        <p:tav tm="100000">
                                          <p:val>
                                            <p:strVal val="#ppt_x"/>
                                          </p:val>
                                        </p:tav>
                                      </p:tavLst>
                                    </p:anim>
                                    <p:anim calcmode="lin" valueType="num">
                                      <p:cBhvr additive="base">
                                        <p:cTn id="36" dur="500" fill="hold"/>
                                        <p:tgtEl>
                                          <p:spTgt spid="347142"/>
                                        </p:tgtEl>
                                        <p:attrNameLst>
                                          <p:attrName>ppt_y</p:attrName>
                                        </p:attrNameLst>
                                      </p:cBhvr>
                                      <p:tavLst>
                                        <p:tav tm="0">
                                          <p:val>
                                            <p:strVal val="0-#ppt_h/2"/>
                                          </p:val>
                                        </p:tav>
                                        <p:tav tm="100000">
                                          <p:val>
                                            <p:strVal val="#ppt_y"/>
                                          </p:val>
                                        </p:tav>
                                      </p:tavLst>
                                    </p:anim>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347139">
                                            <p:txEl>
                                              <p:pRg st="3" end="3"/>
                                            </p:txEl>
                                          </p:spTgt>
                                        </p:tgtEl>
                                        <p:attrNameLst>
                                          <p:attrName>style.visibility</p:attrName>
                                        </p:attrNameLst>
                                      </p:cBhvr>
                                      <p:to>
                                        <p:strVal val="visible"/>
                                      </p:to>
                                    </p:set>
                                    <p:anim calcmode="lin" valueType="num">
                                      <p:cBhvr additive="base">
                                        <p:cTn id="40" dur="500" fill="hold"/>
                                        <p:tgtEl>
                                          <p:spTgt spid="347139">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471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3" fill="hold" nodeType="clickEffect">
                                  <p:stCondLst>
                                    <p:cond delay="0"/>
                                  </p:stCondLst>
                                  <p:childTnLst>
                                    <p:set>
                                      <p:cBhvr>
                                        <p:cTn id="45" dur="1" fill="hold">
                                          <p:stCondLst>
                                            <p:cond delay="0"/>
                                          </p:stCondLst>
                                        </p:cTn>
                                        <p:tgtEl>
                                          <p:spTgt spid="347143"/>
                                        </p:tgtEl>
                                        <p:attrNameLst>
                                          <p:attrName>style.visibility</p:attrName>
                                        </p:attrNameLst>
                                      </p:cBhvr>
                                      <p:to>
                                        <p:strVal val="visible"/>
                                      </p:to>
                                    </p:set>
                                    <p:anim calcmode="lin" valueType="num">
                                      <p:cBhvr additive="base">
                                        <p:cTn id="46" dur="500" fill="hold"/>
                                        <p:tgtEl>
                                          <p:spTgt spid="347143"/>
                                        </p:tgtEl>
                                        <p:attrNameLst>
                                          <p:attrName>ppt_x</p:attrName>
                                        </p:attrNameLst>
                                      </p:cBhvr>
                                      <p:tavLst>
                                        <p:tav tm="0">
                                          <p:val>
                                            <p:strVal val="1+#ppt_w/2"/>
                                          </p:val>
                                        </p:tav>
                                        <p:tav tm="100000">
                                          <p:val>
                                            <p:strVal val="#ppt_x"/>
                                          </p:val>
                                        </p:tav>
                                      </p:tavLst>
                                    </p:anim>
                                    <p:anim calcmode="lin" valueType="num">
                                      <p:cBhvr additive="base">
                                        <p:cTn id="47" dur="500" fill="hold"/>
                                        <p:tgtEl>
                                          <p:spTgt spid="347143"/>
                                        </p:tgtEl>
                                        <p:attrNameLst>
                                          <p:attrName>ppt_y</p:attrName>
                                        </p:attrNameLst>
                                      </p:cBhvr>
                                      <p:tavLst>
                                        <p:tav tm="0">
                                          <p:val>
                                            <p:strVal val="0-#ppt_h/2"/>
                                          </p:val>
                                        </p:tav>
                                        <p:tav tm="100000">
                                          <p:val>
                                            <p:strVal val="#ppt_y"/>
                                          </p:val>
                                        </p:tav>
                                      </p:tavLst>
                                    </p:anim>
                                  </p:childTnLst>
                                </p:cTn>
                              </p:par>
                            </p:childTnLst>
                          </p:cTn>
                        </p:par>
                        <p:par>
                          <p:cTn id="48" fill="hold">
                            <p:stCondLst>
                              <p:cond delay="500"/>
                            </p:stCondLst>
                            <p:childTnLst>
                              <p:par>
                                <p:cTn id="49" presetID="2" presetClass="entr" presetSubtype="4" fill="hold" grpId="0" nodeType="afterEffect">
                                  <p:stCondLst>
                                    <p:cond delay="0"/>
                                  </p:stCondLst>
                                  <p:childTnLst>
                                    <p:set>
                                      <p:cBhvr>
                                        <p:cTn id="50" dur="1" fill="hold">
                                          <p:stCondLst>
                                            <p:cond delay="0"/>
                                          </p:stCondLst>
                                        </p:cTn>
                                        <p:tgtEl>
                                          <p:spTgt spid="347139">
                                            <p:txEl>
                                              <p:pRg st="5" end="5"/>
                                            </p:txEl>
                                          </p:spTgt>
                                        </p:tgtEl>
                                        <p:attrNameLst>
                                          <p:attrName>style.visibility</p:attrName>
                                        </p:attrNameLst>
                                      </p:cBhvr>
                                      <p:to>
                                        <p:strVal val="visible"/>
                                      </p:to>
                                    </p:set>
                                    <p:anim calcmode="lin" valueType="num">
                                      <p:cBhvr additive="base">
                                        <p:cTn id="51" dur="500" fill="hold"/>
                                        <p:tgtEl>
                                          <p:spTgt spid="347139">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471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3" fill="hold" nodeType="clickEffect">
                                  <p:stCondLst>
                                    <p:cond delay="0"/>
                                  </p:stCondLst>
                                  <p:childTnLst>
                                    <p:set>
                                      <p:cBhvr>
                                        <p:cTn id="56" dur="1" fill="hold">
                                          <p:stCondLst>
                                            <p:cond delay="0"/>
                                          </p:stCondLst>
                                        </p:cTn>
                                        <p:tgtEl>
                                          <p:spTgt spid="347144"/>
                                        </p:tgtEl>
                                        <p:attrNameLst>
                                          <p:attrName>style.visibility</p:attrName>
                                        </p:attrNameLst>
                                      </p:cBhvr>
                                      <p:to>
                                        <p:strVal val="visible"/>
                                      </p:to>
                                    </p:set>
                                    <p:anim calcmode="lin" valueType="num">
                                      <p:cBhvr additive="base">
                                        <p:cTn id="57" dur="500" fill="hold"/>
                                        <p:tgtEl>
                                          <p:spTgt spid="347144"/>
                                        </p:tgtEl>
                                        <p:attrNameLst>
                                          <p:attrName>ppt_x</p:attrName>
                                        </p:attrNameLst>
                                      </p:cBhvr>
                                      <p:tavLst>
                                        <p:tav tm="0">
                                          <p:val>
                                            <p:strVal val="1+#ppt_w/2"/>
                                          </p:val>
                                        </p:tav>
                                        <p:tav tm="100000">
                                          <p:val>
                                            <p:strVal val="#ppt_x"/>
                                          </p:val>
                                        </p:tav>
                                      </p:tavLst>
                                    </p:anim>
                                    <p:anim calcmode="lin" valueType="num">
                                      <p:cBhvr additive="base">
                                        <p:cTn id="58" dur="500" fill="hold"/>
                                        <p:tgtEl>
                                          <p:spTgt spid="34714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Rectangle 2"/>
          <p:cNvSpPr>
            <a:spLocks noGrp="1" noChangeArrowheads="1"/>
          </p:cNvSpPr>
          <p:nvPr>
            <p:ph type="title"/>
          </p:nvPr>
        </p:nvSpPr>
        <p:spPr>
          <a:xfrm>
            <a:off x="765175" y="258822"/>
            <a:ext cx="9961986" cy="609741"/>
          </a:xfrm>
        </p:spPr>
        <p:txBody>
          <a:bodyPr/>
          <a:lstStyle/>
          <a:p>
            <a:pPr eaLnBrk="1" hangingPunct="1"/>
            <a:r>
              <a:rPr lang="zh-CN" altLang="en-US" dirty="0"/>
              <a:t>正态过程的</a:t>
            </a:r>
            <a:r>
              <a:rPr lang="en-US" altLang="zh-CN" dirty="0"/>
              <a:t>n</a:t>
            </a:r>
            <a:r>
              <a:rPr lang="zh-CN" altLang="en-US" dirty="0"/>
              <a:t>维概率分布</a:t>
            </a:r>
          </a:p>
        </p:txBody>
      </p:sp>
      <p:sp>
        <p:nvSpPr>
          <p:cNvPr id="349187" name="Rectangle 3"/>
          <p:cNvSpPr>
            <a:spLocks noGrp="1" noChangeArrowheads="1"/>
          </p:cNvSpPr>
          <p:nvPr>
            <p:ph type="body" sz="half" idx="1"/>
          </p:nvPr>
        </p:nvSpPr>
        <p:spPr>
          <a:xfrm>
            <a:off x="612775" y="1124210"/>
            <a:ext cx="3772773" cy="4611167"/>
          </a:xfrm>
        </p:spPr>
        <p:txBody>
          <a:bodyPr>
            <a:normAutofit lnSpcReduction="10000"/>
          </a:bodyPr>
          <a:lstStyle/>
          <a:p>
            <a:pPr eaLnBrk="1" hangingPunct="1">
              <a:lnSpc>
                <a:spcPct val="200000"/>
              </a:lnSpc>
              <a:buFont typeface="Wingdings" pitchFamily="2" charset="2"/>
              <a:buNone/>
            </a:pPr>
            <a:r>
              <a:rPr lang="zh-CN" altLang="en-US" dirty="0">
                <a:solidFill>
                  <a:srgbClr val="0000FF"/>
                </a:solidFill>
              </a:rPr>
              <a:t>均值函数向量</a:t>
            </a:r>
          </a:p>
          <a:p>
            <a:pPr eaLnBrk="1" hangingPunct="1">
              <a:lnSpc>
                <a:spcPct val="200000"/>
              </a:lnSpc>
              <a:buFont typeface="Wingdings" pitchFamily="2" charset="2"/>
              <a:buNone/>
            </a:pPr>
            <a:r>
              <a:rPr lang="en-US" altLang="zh-CN" dirty="0">
                <a:solidFill>
                  <a:srgbClr val="0000FF"/>
                </a:solidFill>
              </a:rPr>
              <a:t>n</a:t>
            </a:r>
            <a:r>
              <a:rPr lang="zh-CN" altLang="en-US" dirty="0">
                <a:solidFill>
                  <a:srgbClr val="0000FF"/>
                </a:solidFill>
              </a:rPr>
              <a:t>阶协方差矩阵</a:t>
            </a:r>
          </a:p>
          <a:p>
            <a:pPr eaLnBrk="1" hangingPunct="1">
              <a:lnSpc>
                <a:spcPct val="200000"/>
              </a:lnSpc>
              <a:buFont typeface="Wingdings" pitchFamily="2" charset="2"/>
              <a:buNone/>
            </a:pPr>
            <a:endParaRPr lang="zh-CN" altLang="en-US" dirty="0">
              <a:solidFill>
                <a:srgbClr val="0000FF"/>
              </a:solidFill>
            </a:endParaRPr>
          </a:p>
          <a:p>
            <a:pPr eaLnBrk="1" hangingPunct="1">
              <a:lnSpc>
                <a:spcPct val="200000"/>
              </a:lnSpc>
              <a:buFont typeface="Wingdings" pitchFamily="2" charset="2"/>
              <a:buNone/>
            </a:pPr>
            <a:endParaRPr lang="zh-CN" altLang="en-US" dirty="0">
              <a:solidFill>
                <a:srgbClr val="0000FF"/>
              </a:solidFill>
            </a:endParaRPr>
          </a:p>
          <a:p>
            <a:pPr eaLnBrk="1" hangingPunct="1">
              <a:lnSpc>
                <a:spcPct val="200000"/>
              </a:lnSpc>
              <a:buFont typeface="Wingdings" pitchFamily="2" charset="2"/>
              <a:buNone/>
            </a:pPr>
            <a:endParaRPr lang="zh-CN" altLang="en-US" dirty="0">
              <a:solidFill>
                <a:srgbClr val="0000FF"/>
              </a:solidFill>
            </a:endParaRPr>
          </a:p>
          <a:p>
            <a:pPr eaLnBrk="1" hangingPunct="1">
              <a:lnSpc>
                <a:spcPct val="200000"/>
              </a:lnSpc>
              <a:buFont typeface="Wingdings" pitchFamily="2" charset="2"/>
              <a:buNone/>
            </a:pPr>
            <a:r>
              <a:rPr lang="en-US" altLang="zh-CN" dirty="0">
                <a:solidFill>
                  <a:srgbClr val="0000FF"/>
                </a:solidFill>
              </a:rPr>
              <a:t>n</a:t>
            </a:r>
            <a:r>
              <a:rPr lang="zh-CN" altLang="en-US" dirty="0">
                <a:solidFill>
                  <a:srgbClr val="0000FF"/>
                </a:solidFill>
              </a:rPr>
              <a:t>维概率分布</a:t>
            </a:r>
          </a:p>
        </p:txBody>
      </p:sp>
      <p:graphicFrame>
        <p:nvGraphicFramePr>
          <p:cNvPr id="349188" name="Object 4"/>
          <p:cNvGraphicFramePr>
            <a:graphicFrameLocks noGrp="1" noChangeAspect="1"/>
          </p:cNvGraphicFramePr>
          <p:nvPr>
            <p:ph sz="half" idx="2"/>
          </p:nvPr>
        </p:nvGraphicFramePr>
        <p:xfrm>
          <a:off x="2822575" y="1263227"/>
          <a:ext cx="4114164" cy="543051"/>
        </p:xfrm>
        <a:graphic>
          <a:graphicData uri="http://schemas.openxmlformats.org/presentationml/2006/ole">
            <mc:AlternateContent xmlns:mc="http://schemas.openxmlformats.org/markup-compatibility/2006">
              <mc:Choice xmlns:v="urn:schemas-microsoft-com:vml" Requires="v">
                <p:oleObj name="公式" r:id="rId2" imgW="1828800" imgH="241200" progId="Equation.3">
                  <p:embed/>
                </p:oleObj>
              </mc:Choice>
              <mc:Fallback>
                <p:oleObj name="公式" r:id="rId2" imgW="1828800" imgH="241200" progId="Equation.3">
                  <p:embed/>
                  <p:pic>
                    <p:nvPicPr>
                      <p:cNvPr id="34918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2575" y="1263227"/>
                        <a:ext cx="4114164" cy="5430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9189" name="Object 5"/>
          <p:cNvGraphicFramePr>
            <a:graphicFrameLocks noChangeAspect="1"/>
          </p:cNvGraphicFramePr>
          <p:nvPr/>
        </p:nvGraphicFramePr>
        <p:xfrm>
          <a:off x="2795732" y="2743994"/>
          <a:ext cx="5771898" cy="2084870"/>
        </p:xfrm>
        <a:graphic>
          <a:graphicData uri="http://schemas.openxmlformats.org/presentationml/2006/ole">
            <mc:AlternateContent xmlns:mc="http://schemas.openxmlformats.org/markup-compatibility/2006">
              <mc:Choice xmlns:v="urn:schemas-microsoft-com:vml" Requires="v">
                <p:oleObj name="公式" r:id="rId4" imgW="2565360" imgH="927000" progId="Equation.3">
                  <p:embed/>
                </p:oleObj>
              </mc:Choice>
              <mc:Fallback>
                <p:oleObj name="公式" r:id="rId4" imgW="2565360" imgH="927000" progId="Equation.3">
                  <p:embed/>
                  <p:pic>
                    <p:nvPicPr>
                      <p:cNvPr id="34918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5732" y="2743994"/>
                        <a:ext cx="5771898" cy="20848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9193" name="Object 9"/>
          <p:cNvGraphicFramePr>
            <a:graphicFrameLocks noChangeAspect="1"/>
          </p:cNvGraphicFramePr>
          <p:nvPr/>
        </p:nvGraphicFramePr>
        <p:xfrm>
          <a:off x="2853338" y="5183120"/>
          <a:ext cx="4943032" cy="514469"/>
        </p:xfrm>
        <a:graphic>
          <a:graphicData uri="http://schemas.openxmlformats.org/presentationml/2006/ole">
            <mc:AlternateContent xmlns:mc="http://schemas.openxmlformats.org/markup-compatibility/2006">
              <mc:Choice xmlns:v="urn:schemas-microsoft-com:vml" Requires="v">
                <p:oleObj name="公式" r:id="rId6" imgW="2197080" imgH="228600" progId="Equation.3">
                  <p:embed/>
                </p:oleObj>
              </mc:Choice>
              <mc:Fallback>
                <p:oleObj name="公式" r:id="rId6" imgW="2197080" imgH="228600" progId="Equation.3">
                  <p:embed/>
                  <p:pic>
                    <p:nvPicPr>
                      <p:cNvPr id="349193"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3338" y="5183120"/>
                        <a:ext cx="4943032" cy="5144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 presetClass="entr" presetSubtype="4" fill="hold" grpId="0" nodeType="after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 calcmode="lin" valueType="num">
                                      <p:cBhvr additive="base">
                                        <p:cTn id="7" dur="500" fill="hold"/>
                                        <p:tgtEl>
                                          <p:spTgt spid="349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91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49188"/>
                                        </p:tgtEl>
                                        <p:attrNameLst>
                                          <p:attrName>style.visibility</p:attrName>
                                        </p:attrNameLst>
                                      </p:cBhvr>
                                      <p:to>
                                        <p:strVal val="visible"/>
                                      </p:to>
                                    </p:set>
                                    <p:anim calcmode="lin" valueType="num">
                                      <p:cBhvr additive="base">
                                        <p:cTn id="13" dur="500" fill="hold"/>
                                        <p:tgtEl>
                                          <p:spTgt spid="349188"/>
                                        </p:tgtEl>
                                        <p:attrNameLst>
                                          <p:attrName>ppt_x</p:attrName>
                                        </p:attrNameLst>
                                      </p:cBhvr>
                                      <p:tavLst>
                                        <p:tav tm="0">
                                          <p:val>
                                            <p:strVal val="1+#ppt_w/2"/>
                                          </p:val>
                                        </p:tav>
                                        <p:tav tm="100000">
                                          <p:val>
                                            <p:strVal val="#ppt_x"/>
                                          </p:val>
                                        </p:tav>
                                      </p:tavLst>
                                    </p:anim>
                                    <p:anim calcmode="lin" valueType="num">
                                      <p:cBhvr additive="base">
                                        <p:cTn id="14" dur="500" fill="hold"/>
                                        <p:tgtEl>
                                          <p:spTgt spid="349188"/>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49187">
                                            <p:txEl>
                                              <p:pRg st="1" end="1"/>
                                            </p:txEl>
                                          </p:spTgt>
                                        </p:tgtEl>
                                        <p:attrNameLst>
                                          <p:attrName>style.visibility</p:attrName>
                                        </p:attrNameLst>
                                      </p:cBhvr>
                                      <p:to>
                                        <p:strVal val="visible"/>
                                      </p:to>
                                    </p:set>
                                    <p:anim calcmode="lin" valueType="num">
                                      <p:cBhvr additive="base">
                                        <p:cTn id="18" dur="500" fill="hold"/>
                                        <p:tgtEl>
                                          <p:spTgt spid="349187">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491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349189"/>
                                        </p:tgtEl>
                                        <p:attrNameLst>
                                          <p:attrName>style.visibility</p:attrName>
                                        </p:attrNameLst>
                                      </p:cBhvr>
                                      <p:to>
                                        <p:strVal val="visible"/>
                                      </p:to>
                                    </p:set>
                                    <p:anim calcmode="lin" valueType="num">
                                      <p:cBhvr additive="base">
                                        <p:cTn id="24" dur="500" fill="hold"/>
                                        <p:tgtEl>
                                          <p:spTgt spid="349189"/>
                                        </p:tgtEl>
                                        <p:attrNameLst>
                                          <p:attrName>ppt_x</p:attrName>
                                        </p:attrNameLst>
                                      </p:cBhvr>
                                      <p:tavLst>
                                        <p:tav tm="0">
                                          <p:val>
                                            <p:strVal val="1+#ppt_w/2"/>
                                          </p:val>
                                        </p:tav>
                                        <p:tav tm="100000">
                                          <p:val>
                                            <p:strVal val="#ppt_x"/>
                                          </p:val>
                                        </p:tav>
                                      </p:tavLst>
                                    </p:anim>
                                    <p:anim calcmode="lin" valueType="num">
                                      <p:cBhvr additive="base">
                                        <p:cTn id="25" dur="500" fill="hold"/>
                                        <p:tgtEl>
                                          <p:spTgt spid="349189"/>
                                        </p:tgtEl>
                                        <p:attrNameLst>
                                          <p:attrName>ppt_y</p:attrName>
                                        </p:attrNameLst>
                                      </p:cBhvr>
                                      <p:tavLst>
                                        <p:tav tm="0">
                                          <p:val>
                                            <p:strVal val="0-#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349187">
                                            <p:txEl>
                                              <p:pRg st="5" end="5"/>
                                            </p:txEl>
                                          </p:spTgt>
                                        </p:tgtEl>
                                        <p:attrNameLst>
                                          <p:attrName>style.visibility</p:attrName>
                                        </p:attrNameLst>
                                      </p:cBhvr>
                                      <p:to>
                                        <p:strVal val="visible"/>
                                      </p:to>
                                    </p:set>
                                    <p:anim calcmode="lin" valueType="num">
                                      <p:cBhvr additive="base">
                                        <p:cTn id="29" dur="500" fill="hold"/>
                                        <p:tgtEl>
                                          <p:spTgt spid="34918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491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349193"/>
                                        </p:tgtEl>
                                        <p:attrNameLst>
                                          <p:attrName>style.visibility</p:attrName>
                                        </p:attrNameLst>
                                      </p:cBhvr>
                                      <p:to>
                                        <p:strVal val="visible"/>
                                      </p:to>
                                    </p:set>
                                    <p:anim calcmode="lin" valueType="num">
                                      <p:cBhvr additive="base">
                                        <p:cTn id="35" dur="500" fill="hold"/>
                                        <p:tgtEl>
                                          <p:spTgt spid="349193"/>
                                        </p:tgtEl>
                                        <p:attrNameLst>
                                          <p:attrName>ppt_x</p:attrName>
                                        </p:attrNameLst>
                                      </p:cBhvr>
                                      <p:tavLst>
                                        <p:tav tm="0">
                                          <p:val>
                                            <p:strVal val="1+#ppt_w/2"/>
                                          </p:val>
                                        </p:tav>
                                        <p:tav tm="100000">
                                          <p:val>
                                            <p:strVal val="#ppt_x"/>
                                          </p:val>
                                        </p:tav>
                                      </p:tavLst>
                                    </p:anim>
                                    <p:anim calcmode="lin" valueType="num">
                                      <p:cBhvr additive="base">
                                        <p:cTn id="36" dur="500" fill="hold"/>
                                        <p:tgtEl>
                                          <p:spTgt spid="34919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Rectangle 2"/>
          <p:cNvSpPr>
            <a:spLocks noGrp="1" noChangeArrowheads="1"/>
          </p:cNvSpPr>
          <p:nvPr>
            <p:ph type="title"/>
          </p:nvPr>
        </p:nvSpPr>
        <p:spPr>
          <a:xfrm>
            <a:off x="765175" y="279089"/>
            <a:ext cx="9961986" cy="609741"/>
          </a:xfrm>
        </p:spPr>
        <p:txBody>
          <a:bodyPr/>
          <a:lstStyle/>
          <a:p>
            <a:pPr eaLnBrk="1" hangingPunct="1"/>
            <a:r>
              <a:rPr lang="zh-CN" altLang="en-US" dirty="0"/>
              <a:t>正态过程的</a:t>
            </a:r>
            <a:r>
              <a:rPr lang="en-US" altLang="zh-CN" dirty="0"/>
              <a:t>n</a:t>
            </a:r>
            <a:r>
              <a:rPr lang="zh-CN" altLang="en-US" dirty="0"/>
              <a:t>维概率分布</a:t>
            </a:r>
          </a:p>
        </p:txBody>
      </p:sp>
      <p:sp>
        <p:nvSpPr>
          <p:cNvPr id="350211" name="Rectangle 3"/>
          <p:cNvSpPr>
            <a:spLocks noGrp="1" noChangeArrowheads="1"/>
          </p:cNvSpPr>
          <p:nvPr>
            <p:ph type="body" sz="half" idx="1"/>
          </p:nvPr>
        </p:nvSpPr>
        <p:spPr>
          <a:xfrm>
            <a:off x="737484" y="1211920"/>
            <a:ext cx="3772773" cy="641498"/>
          </a:xfrm>
        </p:spPr>
        <p:txBody>
          <a:bodyPr>
            <a:normAutofit/>
          </a:bodyPr>
          <a:lstStyle/>
          <a:p>
            <a:pPr eaLnBrk="1" hangingPunct="1">
              <a:lnSpc>
                <a:spcPct val="150000"/>
              </a:lnSpc>
              <a:buFont typeface="Wingdings" pitchFamily="2" charset="2"/>
              <a:buNone/>
            </a:pPr>
            <a:r>
              <a:rPr lang="en-US" altLang="zh-CN" dirty="0">
                <a:solidFill>
                  <a:srgbClr val="0000FF"/>
                </a:solidFill>
              </a:rPr>
              <a:t>n</a:t>
            </a:r>
            <a:r>
              <a:rPr lang="zh-CN" altLang="en-US" dirty="0">
                <a:solidFill>
                  <a:srgbClr val="0000FF"/>
                </a:solidFill>
              </a:rPr>
              <a:t>维概率密度函数</a:t>
            </a:r>
          </a:p>
        </p:txBody>
      </p:sp>
      <p:graphicFrame>
        <p:nvGraphicFramePr>
          <p:cNvPr id="350214" name="Object 6"/>
          <p:cNvGraphicFramePr>
            <a:graphicFrameLocks noChangeAspect="1"/>
          </p:cNvGraphicFramePr>
          <p:nvPr/>
        </p:nvGraphicFramePr>
        <p:xfrm>
          <a:off x="3584575" y="1277321"/>
          <a:ext cx="4769954" cy="571632"/>
        </p:xfrm>
        <a:graphic>
          <a:graphicData uri="http://schemas.openxmlformats.org/presentationml/2006/ole">
            <mc:AlternateContent xmlns:mc="http://schemas.openxmlformats.org/markup-compatibility/2006">
              <mc:Choice xmlns:v="urn:schemas-microsoft-com:vml" Requires="v">
                <p:oleObj name="公式" r:id="rId2" imgW="2120760" imgH="253800" progId="Equation.3">
                  <p:embed/>
                </p:oleObj>
              </mc:Choice>
              <mc:Fallback>
                <p:oleObj name="公式" r:id="rId2" imgW="2120760" imgH="253800" progId="Equation.3">
                  <p:embed/>
                  <p:pic>
                    <p:nvPicPr>
                      <p:cNvPr id="35021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4575" y="1277321"/>
                        <a:ext cx="4769954"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0215" name="Object 7"/>
          <p:cNvGraphicFramePr>
            <a:graphicFrameLocks noChangeAspect="1"/>
          </p:cNvGraphicFramePr>
          <p:nvPr/>
        </p:nvGraphicFramePr>
        <p:xfrm>
          <a:off x="3642744" y="3994914"/>
          <a:ext cx="4912862" cy="571632"/>
        </p:xfrm>
        <a:graphic>
          <a:graphicData uri="http://schemas.openxmlformats.org/presentationml/2006/ole">
            <mc:AlternateContent xmlns:mc="http://schemas.openxmlformats.org/markup-compatibility/2006">
              <mc:Choice xmlns:v="urn:schemas-microsoft-com:vml" Requires="v">
                <p:oleObj name="公式" r:id="rId4" imgW="2184120" imgH="253800" progId="Equation.3">
                  <p:embed/>
                </p:oleObj>
              </mc:Choice>
              <mc:Fallback>
                <p:oleObj name="公式" r:id="rId4" imgW="2184120" imgH="253800" progId="Equation.3">
                  <p:embed/>
                  <p:pic>
                    <p:nvPicPr>
                      <p:cNvPr id="35021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2744" y="3994914"/>
                        <a:ext cx="4912862"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0218" name="Object 10"/>
          <p:cNvGraphicFramePr>
            <a:graphicFrameLocks noChangeAspect="1"/>
          </p:cNvGraphicFramePr>
          <p:nvPr/>
        </p:nvGraphicFramePr>
        <p:xfrm>
          <a:off x="4346575" y="1616047"/>
          <a:ext cx="5313005" cy="2086458"/>
        </p:xfrm>
        <a:graphic>
          <a:graphicData uri="http://schemas.openxmlformats.org/presentationml/2006/ole">
            <mc:AlternateContent xmlns:mc="http://schemas.openxmlformats.org/markup-compatibility/2006">
              <mc:Choice xmlns:v="urn:schemas-microsoft-com:vml" Requires="v">
                <p:oleObj name="公式" r:id="rId6" imgW="2361960" imgH="927000" progId="Equation.3">
                  <p:embed/>
                </p:oleObj>
              </mc:Choice>
              <mc:Fallback>
                <p:oleObj name="公式" r:id="rId6" imgW="2361960" imgH="927000" progId="Equation.3">
                  <p:embed/>
                  <p:pic>
                    <p:nvPicPr>
                      <p:cNvPr id="350218"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6575" y="1616047"/>
                        <a:ext cx="5313005" cy="2086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0219" name="Object 11"/>
          <p:cNvGraphicFramePr>
            <a:graphicFrameLocks noChangeAspect="1"/>
          </p:cNvGraphicFramePr>
          <p:nvPr/>
        </p:nvGraphicFramePr>
        <p:xfrm>
          <a:off x="4370781" y="4650854"/>
          <a:ext cx="3456788" cy="2086458"/>
        </p:xfrm>
        <a:graphic>
          <a:graphicData uri="http://schemas.openxmlformats.org/presentationml/2006/ole">
            <mc:AlternateContent xmlns:mc="http://schemas.openxmlformats.org/markup-compatibility/2006">
              <mc:Choice xmlns:v="urn:schemas-microsoft-com:vml" Requires="v">
                <p:oleObj name="公式" r:id="rId8" imgW="1536480" imgH="927000" progId="Equation.3">
                  <p:embed/>
                </p:oleObj>
              </mc:Choice>
              <mc:Fallback>
                <p:oleObj name="公式" r:id="rId8" imgW="1536480" imgH="927000" progId="Equation.3">
                  <p:embed/>
                  <p:pic>
                    <p:nvPicPr>
                      <p:cNvPr id="350219"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0781" y="4650854"/>
                        <a:ext cx="3456788" cy="2086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0220" name="Rectangle 12"/>
          <p:cNvSpPr>
            <a:spLocks noChangeArrowheads="1"/>
          </p:cNvSpPr>
          <p:nvPr/>
        </p:nvSpPr>
        <p:spPr bwMode="auto">
          <a:xfrm>
            <a:off x="737484" y="3906532"/>
            <a:ext cx="2161088" cy="660014"/>
          </a:xfrm>
          <a:prstGeom prst="rect">
            <a:avLst/>
          </a:prstGeom>
          <a:noFill/>
          <a:ln w="9525">
            <a:noFill/>
            <a:miter lim="800000"/>
            <a:headEnd/>
            <a:tailEnd/>
          </a:ln>
        </p:spPr>
        <p:txBody>
          <a:bodyPr lIns="0" tIns="0" rIns="0" bIns="0">
            <a:spAutoFit/>
          </a:bodyPr>
          <a:lstStyle/>
          <a:p>
            <a:pPr marL="533507" indent="-533507">
              <a:lnSpc>
                <a:spcPct val="180000"/>
              </a:lnSpc>
              <a:spcBef>
                <a:spcPct val="70000"/>
              </a:spcBef>
              <a:buClr>
                <a:srgbClr val="00FF00"/>
              </a:buClr>
            </a:pPr>
            <a:r>
              <a:rPr lang="en-US" altLang="zh-CN" sz="2801" b="1" dirty="0">
                <a:solidFill>
                  <a:srgbClr val="0000FF"/>
                </a:solidFill>
                <a:ea typeface="黑体" pitchFamily="2" charset="-122"/>
              </a:rPr>
              <a:t>n</a:t>
            </a:r>
            <a:r>
              <a:rPr lang="zh-CN" altLang="en-US" sz="2801" b="1" dirty="0">
                <a:solidFill>
                  <a:srgbClr val="0000FF"/>
                </a:solidFill>
                <a:ea typeface="黑体" pitchFamily="2" charset="-122"/>
              </a:rPr>
              <a:t>维特征函数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 calcmode="lin" valueType="num">
                                      <p:cBhvr additive="base">
                                        <p:cTn id="7" dur="500" fill="hold"/>
                                        <p:tgtEl>
                                          <p:spTgt spid="3502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021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3" fill="hold" nodeType="afterEffect">
                                  <p:stCondLst>
                                    <p:cond delay="0"/>
                                  </p:stCondLst>
                                  <p:childTnLst>
                                    <p:set>
                                      <p:cBhvr>
                                        <p:cTn id="11" dur="1" fill="hold">
                                          <p:stCondLst>
                                            <p:cond delay="0"/>
                                          </p:stCondLst>
                                        </p:cTn>
                                        <p:tgtEl>
                                          <p:spTgt spid="350214"/>
                                        </p:tgtEl>
                                        <p:attrNameLst>
                                          <p:attrName>style.visibility</p:attrName>
                                        </p:attrNameLst>
                                      </p:cBhvr>
                                      <p:to>
                                        <p:strVal val="visible"/>
                                      </p:to>
                                    </p:set>
                                    <p:anim calcmode="lin" valueType="num">
                                      <p:cBhvr additive="base">
                                        <p:cTn id="12" dur="500" fill="hold"/>
                                        <p:tgtEl>
                                          <p:spTgt spid="350214"/>
                                        </p:tgtEl>
                                        <p:attrNameLst>
                                          <p:attrName>ppt_x</p:attrName>
                                        </p:attrNameLst>
                                      </p:cBhvr>
                                      <p:tavLst>
                                        <p:tav tm="0">
                                          <p:val>
                                            <p:strVal val="1+#ppt_w/2"/>
                                          </p:val>
                                        </p:tav>
                                        <p:tav tm="100000">
                                          <p:val>
                                            <p:strVal val="#ppt_x"/>
                                          </p:val>
                                        </p:tav>
                                      </p:tavLst>
                                    </p:anim>
                                    <p:anim calcmode="lin" valueType="num">
                                      <p:cBhvr additive="base">
                                        <p:cTn id="13" dur="500" fill="hold"/>
                                        <p:tgtEl>
                                          <p:spTgt spid="350214"/>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3" fill="hold" nodeType="afterEffect">
                                  <p:stCondLst>
                                    <p:cond delay="0"/>
                                  </p:stCondLst>
                                  <p:childTnLst>
                                    <p:set>
                                      <p:cBhvr>
                                        <p:cTn id="16" dur="1" fill="hold">
                                          <p:stCondLst>
                                            <p:cond delay="0"/>
                                          </p:stCondLst>
                                        </p:cTn>
                                        <p:tgtEl>
                                          <p:spTgt spid="350218"/>
                                        </p:tgtEl>
                                        <p:attrNameLst>
                                          <p:attrName>style.visibility</p:attrName>
                                        </p:attrNameLst>
                                      </p:cBhvr>
                                      <p:to>
                                        <p:strVal val="visible"/>
                                      </p:to>
                                    </p:set>
                                    <p:anim calcmode="lin" valueType="num">
                                      <p:cBhvr additive="base">
                                        <p:cTn id="17" dur="500" fill="hold"/>
                                        <p:tgtEl>
                                          <p:spTgt spid="350218"/>
                                        </p:tgtEl>
                                        <p:attrNameLst>
                                          <p:attrName>ppt_x</p:attrName>
                                        </p:attrNameLst>
                                      </p:cBhvr>
                                      <p:tavLst>
                                        <p:tav tm="0">
                                          <p:val>
                                            <p:strVal val="1+#ppt_w/2"/>
                                          </p:val>
                                        </p:tav>
                                        <p:tav tm="100000">
                                          <p:val>
                                            <p:strVal val="#ppt_x"/>
                                          </p:val>
                                        </p:tav>
                                      </p:tavLst>
                                    </p:anim>
                                    <p:anim calcmode="lin" valueType="num">
                                      <p:cBhvr additive="base">
                                        <p:cTn id="18" dur="500" fill="hold"/>
                                        <p:tgtEl>
                                          <p:spTgt spid="350218"/>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50220">
                                            <p:txEl>
                                              <p:pRg st="0" end="0"/>
                                            </p:txEl>
                                          </p:spTgt>
                                        </p:tgtEl>
                                        <p:attrNameLst>
                                          <p:attrName>style.visibility</p:attrName>
                                        </p:attrNameLst>
                                      </p:cBhvr>
                                      <p:to>
                                        <p:strVal val="visible"/>
                                      </p:to>
                                    </p:set>
                                    <p:anim calcmode="lin" valueType="num">
                                      <p:cBhvr additive="base">
                                        <p:cTn id="23" dur="500" fill="hold"/>
                                        <p:tgtEl>
                                          <p:spTgt spid="35022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50220">
                                            <p:txEl>
                                              <p:pRg st="0" end="0"/>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3" fill="hold" nodeType="afterEffect">
                                  <p:stCondLst>
                                    <p:cond delay="0"/>
                                  </p:stCondLst>
                                  <p:childTnLst>
                                    <p:set>
                                      <p:cBhvr>
                                        <p:cTn id="27" dur="1" fill="hold">
                                          <p:stCondLst>
                                            <p:cond delay="0"/>
                                          </p:stCondLst>
                                        </p:cTn>
                                        <p:tgtEl>
                                          <p:spTgt spid="350215"/>
                                        </p:tgtEl>
                                        <p:attrNameLst>
                                          <p:attrName>style.visibility</p:attrName>
                                        </p:attrNameLst>
                                      </p:cBhvr>
                                      <p:to>
                                        <p:strVal val="visible"/>
                                      </p:to>
                                    </p:set>
                                    <p:anim calcmode="lin" valueType="num">
                                      <p:cBhvr additive="base">
                                        <p:cTn id="28" dur="500" fill="hold"/>
                                        <p:tgtEl>
                                          <p:spTgt spid="350215"/>
                                        </p:tgtEl>
                                        <p:attrNameLst>
                                          <p:attrName>ppt_x</p:attrName>
                                        </p:attrNameLst>
                                      </p:cBhvr>
                                      <p:tavLst>
                                        <p:tav tm="0">
                                          <p:val>
                                            <p:strVal val="1+#ppt_w/2"/>
                                          </p:val>
                                        </p:tav>
                                        <p:tav tm="100000">
                                          <p:val>
                                            <p:strVal val="#ppt_x"/>
                                          </p:val>
                                        </p:tav>
                                      </p:tavLst>
                                    </p:anim>
                                    <p:anim calcmode="lin" valueType="num">
                                      <p:cBhvr additive="base">
                                        <p:cTn id="29" dur="500" fill="hold"/>
                                        <p:tgtEl>
                                          <p:spTgt spid="350215"/>
                                        </p:tgtEl>
                                        <p:attrNameLst>
                                          <p:attrName>ppt_y</p:attrName>
                                        </p:attrNameLst>
                                      </p:cBhvr>
                                      <p:tavLst>
                                        <p:tav tm="0">
                                          <p:val>
                                            <p:strVal val="0-#ppt_h/2"/>
                                          </p:val>
                                        </p:tav>
                                        <p:tav tm="100000">
                                          <p:val>
                                            <p:strVal val="#ppt_y"/>
                                          </p:val>
                                        </p:tav>
                                      </p:tavLst>
                                    </p:anim>
                                  </p:childTnLst>
                                </p:cTn>
                              </p:par>
                            </p:childTnLst>
                          </p:cTn>
                        </p:par>
                        <p:par>
                          <p:cTn id="30" fill="hold">
                            <p:stCondLst>
                              <p:cond delay="1000"/>
                            </p:stCondLst>
                            <p:childTnLst>
                              <p:par>
                                <p:cTn id="31" presetID="2" presetClass="entr" presetSubtype="3" fill="hold" nodeType="afterEffect">
                                  <p:stCondLst>
                                    <p:cond delay="0"/>
                                  </p:stCondLst>
                                  <p:childTnLst>
                                    <p:set>
                                      <p:cBhvr>
                                        <p:cTn id="32" dur="1" fill="hold">
                                          <p:stCondLst>
                                            <p:cond delay="0"/>
                                          </p:stCondLst>
                                        </p:cTn>
                                        <p:tgtEl>
                                          <p:spTgt spid="350219"/>
                                        </p:tgtEl>
                                        <p:attrNameLst>
                                          <p:attrName>style.visibility</p:attrName>
                                        </p:attrNameLst>
                                      </p:cBhvr>
                                      <p:to>
                                        <p:strVal val="visible"/>
                                      </p:to>
                                    </p:set>
                                    <p:anim calcmode="lin" valueType="num">
                                      <p:cBhvr additive="base">
                                        <p:cTn id="33" dur="500" fill="hold"/>
                                        <p:tgtEl>
                                          <p:spTgt spid="350219"/>
                                        </p:tgtEl>
                                        <p:attrNameLst>
                                          <p:attrName>ppt_x</p:attrName>
                                        </p:attrNameLst>
                                      </p:cBhvr>
                                      <p:tavLst>
                                        <p:tav tm="0">
                                          <p:val>
                                            <p:strVal val="1+#ppt_w/2"/>
                                          </p:val>
                                        </p:tav>
                                        <p:tav tm="100000">
                                          <p:val>
                                            <p:strVal val="#ppt_x"/>
                                          </p:val>
                                        </p:tav>
                                      </p:tavLst>
                                    </p:anim>
                                    <p:anim calcmode="lin" valueType="num">
                                      <p:cBhvr additive="base">
                                        <p:cTn id="34" dur="500" fill="hold"/>
                                        <p:tgtEl>
                                          <p:spTgt spid="3502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build="p"/>
      <p:bldP spid="350220"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2"/>
          <p:cNvSpPr>
            <a:spLocks noGrp="1" noChangeArrowheads="1"/>
          </p:cNvSpPr>
          <p:nvPr>
            <p:ph type="title"/>
          </p:nvPr>
        </p:nvSpPr>
        <p:spPr>
          <a:xfrm>
            <a:off x="841375" y="279465"/>
            <a:ext cx="9961986" cy="609741"/>
          </a:xfrm>
        </p:spPr>
        <p:txBody>
          <a:bodyPr/>
          <a:lstStyle/>
          <a:p>
            <a:pPr algn="l" eaLnBrk="1" hangingPunct="1"/>
            <a:r>
              <a:rPr lang="zh-CN" altLang="en-US" dirty="0"/>
              <a:t>实例</a:t>
            </a:r>
          </a:p>
        </p:txBody>
      </p:sp>
      <p:sp>
        <p:nvSpPr>
          <p:cNvPr id="342019" name="Rectangle 3"/>
          <p:cNvSpPr>
            <a:spLocks noGrp="1" noChangeArrowheads="1"/>
          </p:cNvSpPr>
          <p:nvPr>
            <p:ph type="body" sz="half" idx="1"/>
          </p:nvPr>
        </p:nvSpPr>
        <p:spPr>
          <a:xfrm>
            <a:off x="384175" y="938165"/>
            <a:ext cx="11049000" cy="2339229"/>
          </a:xfrm>
        </p:spPr>
        <p:txBody>
          <a:bodyPr/>
          <a:lstStyle/>
          <a:p>
            <a:pPr eaLnBrk="1" hangingPunct="1">
              <a:lnSpc>
                <a:spcPct val="130000"/>
              </a:lnSpc>
              <a:buFont typeface="Wingdings" pitchFamily="2" charset="2"/>
              <a:buNone/>
            </a:pPr>
            <a:r>
              <a:rPr lang="zh-CN" altLang="en-US" dirty="0"/>
              <a:t>给定随机过程</a:t>
            </a:r>
            <a:r>
              <a:rPr lang="en-US" altLang="zh-CN" dirty="0"/>
              <a:t>{X(t),</a:t>
            </a:r>
            <a:r>
              <a:rPr lang="en-US" altLang="zh-CN" dirty="0" err="1"/>
              <a:t>t</a:t>
            </a:r>
            <a:r>
              <a:rPr lang="en-US" altLang="zh-CN" dirty="0" err="1">
                <a:sym typeface="Symbol" pitchFamily="18" charset="2"/>
              </a:rPr>
              <a:t>T</a:t>
            </a:r>
            <a:r>
              <a:rPr lang="en-US" altLang="zh-CN" dirty="0">
                <a:sym typeface="Symbol" pitchFamily="18" charset="2"/>
              </a:rPr>
              <a:t>}</a:t>
            </a:r>
            <a:r>
              <a:rPr lang="zh-CN" altLang="en-US" dirty="0">
                <a:sym typeface="Symbol" pitchFamily="18" charset="2"/>
              </a:rPr>
              <a:t>，</a:t>
            </a:r>
          </a:p>
          <a:p>
            <a:pPr algn="ctr" eaLnBrk="1" hangingPunct="1">
              <a:lnSpc>
                <a:spcPct val="130000"/>
              </a:lnSpc>
              <a:buFont typeface="Wingdings" pitchFamily="2" charset="2"/>
              <a:buNone/>
            </a:pPr>
            <a:r>
              <a:rPr lang="en-US" altLang="zh-CN" dirty="0">
                <a:sym typeface="Symbol" pitchFamily="18" charset="2"/>
              </a:rPr>
              <a:t>X(t)</a:t>
            </a:r>
            <a:r>
              <a:rPr lang="zh-CN" altLang="en-US" dirty="0">
                <a:sym typeface="Symbol" pitchFamily="18" charset="2"/>
              </a:rPr>
              <a:t>＝</a:t>
            </a:r>
            <a:r>
              <a:rPr lang="en-US" altLang="zh-CN" dirty="0">
                <a:sym typeface="Symbol" pitchFamily="18" charset="2"/>
              </a:rPr>
              <a:t>X</a:t>
            </a:r>
            <a:r>
              <a:rPr lang="en-US" altLang="zh-CN" baseline="-25000" dirty="0">
                <a:sym typeface="Symbol" pitchFamily="18" charset="2"/>
              </a:rPr>
              <a:t>0</a:t>
            </a:r>
            <a:r>
              <a:rPr lang="en-US" altLang="zh-CN" dirty="0">
                <a:sym typeface="Symbol" pitchFamily="18" charset="2"/>
              </a:rPr>
              <a:t>+Vt,	0≤t</a:t>
            </a:r>
            <a:r>
              <a:rPr lang="zh-CN" altLang="en-US" dirty="0">
                <a:sym typeface="Symbol" pitchFamily="18" charset="2"/>
              </a:rPr>
              <a:t>＜</a:t>
            </a:r>
            <a:r>
              <a:rPr lang="en-US" altLang="zh-CN" dirty="0">
                <a:sym typeface="Symbol" pitchFamily="18" charset="2"/>
              </a:rPr>
              <a:t>+∞</a:t>
            </a:r>
          </a:p>
          <a:p>
            <a:pPr eaLnBrk="1" hangingPunct="1">
              <a:lnSpc>
                <a:spcPct val="130000"/>
              </a:lnSpc>
              <a:buFont typeface="Wingdings" pitchFamily="2" charset="2"/>
              <a:buNone/>
            </a:pPr>
            <a:r>
              <a:rPr lang="zh-CN" altLang="en-US" dirty="0">
                <a:sym typeface="Symbol" pitchFamily="18" charset="2"/>
              </a:rPr>
              <a:t>其中</a:t>
            </a:r>
            <a:r>
              <a:rPr lang="en-US" altLang="zh-CN" dirty="0">
                <a:sym typeface="Symbol" pitchFamily="18" charset="2"/>
              </a:rPr>
              <a:t>X</a:t>
            </a:r>
            <a:r>
              <a:rPr lang="en-US" altLang="zh-CN" baseline="-25000" dirty="0">
                <a:sym typeface="Symbol" pitchFamily="18" charset="2"/>
              </a:rPr>
              <a:t>0</a:t>
            </a:r>
            <a:r>
              <a:rPr lang="zh-CN" altLang="en-US" dirty="0">
                <a:sym typeface="Symbol" pitchFamily="18" charset="2"/>
              </a:rPr>
              <a:t>和</a:t>
            </a:r>
            <a:r>
              <a:rPr lang="en-US" altLang="zh-CN" dirty="0">
                <a:sym typeface="Symbol" pitchFamily="18" charset="2"/>
              </a:rPr>
              <a:t>V</a:t>
            </a:r>
            <a:r>
              <a:rPr lang="zh-CN" altLang="en-US" dirty="0">
                <a:sym typeface="Symbol" pitchFamily="18" charset="2"/>
              </a:rPr>
              <a:t>是相互独立的标准正态</a:t>
            </a:r>
            <a:r>
              <a:rPr lang="en-US" altLang="zh-CN" dirty="0">
                <a:sym typeface="Symbol" pitchFamily="18" charset="2"/>
              </a:rPr>
              <a:t>N(0,1)</a:t>
            </a:r>
            <a:r>
              <a:rPr lang="zh-CN" altLang="en-US" dirty="0">
                <a:sym typeface="Symbol" pitchFamily="18" charset="2"/>
              </a:rPr>
              <a:t>随机变量。</a:t>
            </a:r>
          </a:p>
          <a:p>
            <a:pPr eaLnBrk="1" hangingPunct="1">
              <a:lnSpc>
                <a:spcPct val="130000"/>
              </a:lnSpc>
              <a:buFont typeface="Wingdings" pitchFamily="2" charset="2"/>
              <a:buNone/>
            </a:pPr>
            <a:r>
              <a:rPr lang="zh-CN" altLang="en-US" dirty="0">
                <a:solidFill>
                  <a:srgbClr val="C00000"/>
                </a:solidFill>
                <a:sym typeface="Symbol" pitchFamily="18" charset="2"/>
              </a:rPr>
              <a:t>证明</a:t>
            </a:r>
            <a:r>
              <a:rPr lang="en-US" altLang="zh-CN" dirty="0">
                <a:solidFill>
                  <a:srgbClr val="C00000"/>
                </a:solidFill>
              </a:rPr>
              <a:t>{X(t),</a:t>
            </a:r>
            <a:r>
              <a:rPr lang="en-US" altLang="zh-CN" dirty="0" err="1">
                <a:solidFill>
                  <a:srgbClr val="C00000"/>
                </a:solidFill>
              </a:rPr>
              <a:t>t</a:t>
            </a:r>
            <a:r>
              <a:rPr lang="en-US" altLang="zh-CN" dirty="0" err="1">
                <a:solidFill>
                  <a:srgbClr val="C00000"/>
                </a:solidFill>
                <a:sym typeface="Symbol" pitchFamily="18" charset="2"/>
              </a:rPr>
              <a:t>T</a:t>
            </a:r>
            <a:r>
              <a:rPr lang="en-US" altLang="zh-CN" dirty="0">
                <a:solidFill>
                  <a:srgbClr val="C00000"/>
                </a:solidFill>
                <a:sym typeface="Symbol" pitchFamily="18" charset="2"/>
              </a:rPr>
              <a:t>}</a:t>
            </a:r>
            <a:r>
              <a:rPr lang="zh-CN" altLang="en-US" dirty="0">
                <a:solidFill>
                  <a:srgbClr val="C00000"/>
                </a:solidFill>
              </a:rPr>
              <a:t>为正态过程</a:t>
            </a:r>
            <a:r>
              <a:rPr lang="zh-CN" altLang="en-US" dirty="0"/>
              <a:t>，并写出一、二、</a:t>
            </a:r>
            <a:r>
              <a:rPr lang="en-US" altLang="zh-CN" dirty="0"/>
              <a:t>n</a:t>
            </a:r>
            <a:r>
              <a:rPr lang="zh-CN" altLang="en-US" dirty="0"/>
              <a:t>维概率密度和特征函数。</a:t>
            </a:r>
          </a:p>
        </p:txBody>
      </p:sp>
      <p:sp>
        <p:nvSpPr>
          <p:cNvPr id="342020" name="Text Box 4"/>
          <p:cNvSpPr txBox="1">
            <a:spLocks noChangeArrowheads="1"/>
          </p:cNvSpPr>
          <p:nvPr/>
        </p:nvSpPr>
        <p:spPr bwMode="auto">
          <a:xfrm>
            <a:off x="536575" y="4702174"/>
            <a:ext cx="1151204" cy="519233"/>
          </a:xfrm>
          <a:prstGeom prst="rect">
            <a:avLst/>
          </a:prstGeom>
          <a:noFill/>
          <a:ln w="9525">
            <a:noFill/>
            <a:miter lim="800000"/>
            <a:headEnd/>
            <a:tailEnd/>
          </a:ln>
        </p:spPr>
        <p:txBody>
          <a:bodyPr>
            <a:spAutoFit/>
          </a:bodyPr>
          <a:lstStyle/>
          <a:p>
            <a:pPr>
              <a:spcBef>
                <a:spcPct val="50000"/>
              </a:spcBef>
            </a:pPr>
            <a:r>
              <a:rPr lang="zh-CN" altLang="en-US" sz="2801" b="1" dirty="0">
                <a:solidFill>
                  <a:srgbClr val="C00000"/>
                </a:solidFill>
                <a:ea typeface="黑体" pitchFamily="2" charset="-122"/>
              </a:rPr>
              <a:t>解</a:t>
            </a:r>
            <a:r>
              <a:rPr lang="zh-CN" altLang="en-US" sz="2801" b="1" dirty="0">
                <a:solidFill>
                  <a:srgbClr val="6600CC"/>
                </a:solidFill>
                <a:ea typeface="黑体" pitchFamily="2" charset="-122"/>
              </a:rPr>
              <a:t>  </a:t>
            </a:r>
            <a:r>
              <a:rPr lang="zh-CN" altLang="en-US" sz="2801" b="1" dirty="0">
                <a:ea typeface="黑体" pitchFamily="2" charset="-122"/>
              </a:rPr>
              <a:t>设</a:t>
            </a:r>
          </a:p>
        </p:txBody>
      </p:sp>
      <p:graphicFrame>
        <p:nvGraphicFramePr>
          <p:cNvPr id="342021" name="Object 5"/>
          <p:cNvGraphicFramePr>
            <a:graphicFrameLocks noGrp="1" noChangeAspect="1"/>
          </p:cNvGraphicFramePr>
          <p:nvPr>
            <p:ph sz="half" idx="2"/>
          </p:nvPr>
        </p:nvGraphicFramePr>
        <p:xfrm>
          <a:off x="1707351" y="4749053"/>
          <a:ext cx="7948865" cy="1854629"/>
        </p:xfrm>
        <a:graphic>
          <a:graphicData uri="http://schemas.openxmlformats.org/presentationml/2006/ole">
            <mc:AlternateContent xmlns:mc="http://schemas.openxmlformats.org/markup-compatibility/2006">
              <mc:Choice xmlns:v="urn:schemas-microsoft-com:vml" Requires="v">
                <p:oleObj name="公式" r:id="rId2" imgW="3974760" imgH="927000" progId="Equation.3">
                  <p:embed/>
                </p:oleObj>
              </mc:Choice>
              <mc:Fallback>
                <p:oleObj name="公式" r:id="rId2" imgW="3974760" imgH="927000" progId="Equation.3">
                  <p:embed/>
                  <p:pic>
                    <p:nvPicPr>
                      <p:cNvPr id="34202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7351" y="4749053"/>
                        <a:ext cx="7948865" cy="18546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3"/>
          <p:cNvSpPr txBox="1">
            <a:spLocks noChangeArrowheads="1"/>
          </p:cNvSpPr>
          <p:nvPr/>
        </p:nvSpPr>
        <p:spPr bwMode="auto">
          <a:xfrm>
            <a:off x="536575" y="3277394"/>
            <a:ext cx="11353800" cy="1042080"/>
          </a:xfrm>
          <a:prstGeom prst="rect">
            <a:avLst/>
          </a:prstGeom>
          <a:solidFill>
            <a:schemeClr val="accent5">
              <a:lumMod val="40000"/>
              <a:lumOff val="60000"/>
            </a:schemeClr>
          </a:solidFill>
          <a:ln w="9525">
            <a:noFill/>
            <a:miter lim="800000"/>
            <a:headEnd/>
            <a:tailEnd/>
          </a:ln>
        </p:spPr>
        <p:txBody>
          <a:bodyPr vert="horz" wrap="square" lIns="0" tIns="0" rIns="0" bIns="0" numCol="1" anchor="t" anchorCtr="0" compatLnSpc="1">
            <a:prstTxWarp prst="textNoShape">
              <a:avLst/>
            </a:prstTxWarp>
            <a:spAutoFit/>
          </a:bodyPr>
          <a:lstStyle>
            <a:lvl1pPr marL="533400" indent="-533400" algn="l" rtl="0" eaLnBrk="0" fontAlgn="base" hangingPunct="0">
              <a:lnSpc>
                <a:spcPct val="120000"/>
              </a:lnSpc>
              <a:spcBef>
                <a:spcPct val="0"/>
              </a:spcBef>
              <a:spcAft>
                <a:spcPct val="0"/>
              </a:spcAft>
              <a:buClr>
                <a:srgbClr val="00FF00"/>
              </a:buClr>
              <a:buFont typeface="Wingdings" pitchFamily="2" charset="2"/>
              <a:buAutoNum type="arabicPeriod"/>
              <a:defRPr kumimoji="1" sz="2800" b="1">
                <a:solidFill>
                  <a:schemeClr val="tx1"/>
                </a:solidFill>
                <a:latin typeface="+mn-lt"/>
                <a:ea typeface="+mn-ea"/>
                <a:cs typeface="+mn-cs"/>
              </a:defRPr>
            </a:lvl1pPr>
            <a:lvl2pPr marL="914400" indent="-457200" algn="l" rtl="0" eaLnBrk="0" fontAlgn="base" hangingPunct="0">
              <a:lnSpc>
                <a:spcPct val="120000"/>
              </a:lnSpc>
              <a:spcBef>
                <a:spcPct val="0"/>
              </a:spcBef>
              <a:spcAft>
                <a:spcPct val="0"/>
              </a:spcAft>
              <a:buClr>
                <a:srgbClr val="CC00CC"/>
              </a:buClr>
              <a:buAutoNum type="arabicParenR"/>
              <a:defRPr kumimoji="1" sz="2400" b="1">
                <a:solidFill>
                  <a:schemeClr val="tx1"/>
                </a:solidFill>
                <a:latin typeface="+mn-lt"/>
                <a:ea typeface="+mn-ea"/>
              </a:defRPr>
            </a:lvl2pPr>
            <a:lvl3pPr marL="1371600" indent="-457200" algn="l" rtl="0" eaLnBrk="0" fontAlgn="base" hangingPunct="0">
              <a:spcBef>
                <a:spcPct val="20000"/>
              </a:spcBef>
              <a:spcAft>
                <a:spcPct val="0"/>
              </a:spcAft>
              <a:buChar char="•"/>
              <a:defRPr kumimoji="1" sz="2400">
                <a:solidFill>
                  <a:schemeClr val="tx1"/>
                </a:solidFill>
                <a:latin typeface="+mn-lt"/>
                <a:ea typeface="宋体" pitchFamily="2" charset="-122"/>
              </a:defRPr>
            </a:lvl3pPr>
            <a:lvl4pPr marL="1752600" indent="-381000" algn="l" rtl="0" eaLnBrk="0" fontAlgn="base" hangingPunct="0">
              <a:spcBef>
                <a:spcPct val="20000"/>
              </a:spcBef>
              <a:spcAft>
                <a:spcPct val="0"/>
              </a:spcAft>
              <a:buChar char="–"/>
              <a:defRPr kumimoji="1" sz="2000">
                <a:solidFill>
                  <a:schemeClr val="tx1"/>
                </a:solidFill>
                <a:latin typeface="+mn-lt"/>
                <a:ea typeface="宋体" pitchFamily="2" charset="-122"/>
              </a:defRPr>
            </a:lvl4pPr>
            <a:lvl5pPr marL="2209800" indent="-381000" algn="l" rtl="0" eaLnBrk="0" fontAlgn="base" hangingPunct="0">
              <a:spcBef>
                <a:spcPct val="20000"/>
              </a:spcBef>
              <a:spcAft>
                <a:spcPct val="0"/>
              </a:spcAft>
              <a:buChar char="»"/>
              <a:defRPr kumimoji="1" sz="2000">
                <a:solidFill>
                  <a:schemeClr val="tx1"/>
                </a:solidFill>
                <a:latin typeface="+mn-lt"/>
                <a:ea typeface="宋体" pitchFamily="2" charset="-122"/>
              </a:defRPr>
            </a:lvl5pPr>
            <a:lvl6pPr marL="2667000" indent="-381000" algn="l" rtl="0" fontAlgn="base">
              <a:spcBef>
                <a:spcPct val="20000"/>
              </a:spcBef>
              <a:spcAft>
                <a:spcPct val="0"/>
              </a:spcAft>
              <a:buChar char="»"/>
              <a:defRPr kumimoji="1" sz="2000">
                <a:solidFill>
                  <a:schemeClr val="tx1"/>
                </a:solidFill>
                <a:latin typeface="+mn-lt"/>
                <a:ea typeface="宋体" pitchFamily="2" charset="-122"/>
              </a:defRPr>
            </a:lvl6pPr>
            <a:lvl7pPr marL="3124200" indent="-381000" algn="l" rtl="0" fontAlgn="base">
              <a:spcBef>
                <a:spcPct val="20000"/>
              </a:spcBef>
              <a:spcAft>
                <a:spcPct val="0"/>
              </a:spcAft>
              <a:buChar char="»"/>
              <a:defRPr kumimoji="1" sz="2000">
                <a:solidFill>
                  <a:schemeClr val="tx1"/>
                </a:solidFill>
                <a:latin typeface="+mn-lt"/>
                <a:ea typeface="宋体" pitchFamily="2" charset="-122"/>
              </a:defRPr>
            </a:lvl7pPr>
            <a:lvl8pPr marL="3581400" indent="-381000" algn="l" rtl="0" fontAlgn="base">
              <a:spcBef>
                <a:spcPct val="20000"/>
              </a:spcBef>
              <a:spcAft>
                <a:spcPct val="0"/>
              </a:spcAft>
              <a:buChar char="»"/>
              <a:defRPr kumimoji="1" sz="2000">
                <a:solidFill>
                  <a:schemeClr val="tx1"/>
                </a:solidFill>
                <a:latin typeface="+mn-lt"/>
                <a:ea typeface="宋体" pitchFamily="2" charset="-122"/>
              </a:defRPr>
            </a:lvl8pPr>
            <a:lvl9pPr marL="4038600" indent="-381000" algn="l" rtl="0" fontAlgn="base">
              <a:spcBef>
                <a:spcPct val="20000"/>
              </a:spcBef>
              <a:spcAft>
                <a:spcPct val="0"/>
              </a:spcAft>
              <a:buChar char="»"/>
              <a:defRPr kumimoji="1" sz="2000">
                <a:solidFill>
                  <a:schemeClr val="tx1"/>
                </a:solidFill>
                <a:latin typeface="+mn-lt"/>
                <a:ea typeface="宋体" pitchFamily="2" charset="-122"/>
              </a:defRPr>
            </a:lvl9pPr>
          </a:lstStyle>
          <a:p>
            <a:pPr eaLnBrk="1" hangingPunct="1">
              <a:lnSpc>
                <a:spcPct val="150000"/>
              </a:lnSpc>
              <a:buNone/>
            </a:pPr>
            <a:r>
              <a:rPr lang="zh-CN" altLang="en-US" sz="2400" kern="0" dirty="0">
                <a:solidFill>
                  <a:srgbClr val="C00000"/>
                </a:solidFill>
              </a:rPr>
              <a:t>分析</a:t>
            </a:r>
            <a:r>
              <a:rPr lang="en-US" altLang="zh-CN" sz="2400" kern="0" dirty="0">
                <a:solidFill>
                  <a:srgbClr val="C00000"/>
                </a:solidFill>
              </a:rPr>
              <a:t> :</a:t>
            </a:r>
            <a:r>
              <a:rPr lang="en-US" altLang="zh-CN" sz="2400" dirty="0">
                <a:solidFill>
                  <a:srgbClr val="C00000"/>
                </a:solidFill>
              </a:rPr>
              <a:t> </a:t>
            </a:r>
            <a:r>
              <a:rPr lang="en-US" altLang="zh-CN" sz="2400" dirty="0"/>
              <a:t>{X(t),</a:t>
            </a:r>
            <a:r>
              <a:rPr lang="en-US" altLang="zh-CN" sz="2400" dirty="0" err="1"/>
              <a:t>t</a:t>
            </a:r>
            <a:r>
              <a:rPr lang="en-US" altLang="zh-CN" sz="2400" dirty="0" err="1">
                <a:sym typeface="Symbol" pitchFamily="18" charset="2"/>
              </a:rPr>
              <a:t>T</a:t>
            </a:r>
            <a:r>
              <a:rPr lang="en-US" altLang="zh-CN" sz="2400" dirty="0">
                <a:sym typeface="Symbol" pitchFamily="18" charset="2"/>
              </a:rPr>
              <a:t>}</a:t>
            </a:r>
            <a:r>
              <a:rPr lang="zh-CN" altLang="en-US" sz="2400" dirty="0"/>
              <a:t>为正态过程，即证明</a:t>
            </a:r>
            <a:r>
              <a:rPr lang="zh-CN" altLang="en-US" sz="2400" kern="0" dirty="0">
                <a:sym typeface="Symbol" pitchFamily="18" charset="2"/>
              </a:rPr>
              <a:t>对任意正整数</a:t>
            </a:r>
            <a:r>
              <a:rPr lang="en-US" altLang="zh-CN" sz="2400" kern="0" dirty="0">
                <a:sym typeface="Symbol" pitchFamily="18" charset="2"/>
              </a:rPr>
              <a:t>n</a:t>
            </a:r>
            <a:r>
              <a:rPr lang="zh-CN" altLang="en-US" sz="2400" kern="0" dirty="0">
                <a:sym typeface="Symbol" pitchFamily="18" charset="2"/>
              </a:rPr>
              <a:t>及</a:t>
            </a:r>
            <a:r>
              <a:rPr lang="en-US" altLang="zh-CN" sz="2400" kern="0" dirty="0">
                <a:sym typeface="Symbol" pitchFamily="18" charset="2"/>
              </a:rPr>
              <a:t>t</a:t>
            </a:r>
            <a:r>
              <a:rPr lang="en-US" altLang="zh-CN" sz="2400" kern="0" baseline="-25000" dirty="0">
                <a:sym typeface="Symbol" pitchFamily="18" charset="2"/>
              </a:rPr>
              <a:t>1</a:t>
            </a:r>
            <a:r>
              <a:rPr lang="en-US" altLang="zh-CN" sz="2400" kern="0" dirty="0">
                <a:sym typeface="Symbol" pitchFamily="18" charset="2"/>
              </a:rPr>
              <a:t>,t</a:t>
            </a:r>
            <a:r>
              <a:rPr lang="en-US" altLang="zh-CN" sz="2400" kern="0" baseline="-25000" dirty="0">
                <a:sym typeface="Symbol" pitchFamily="18" charset="2"/>
              </a:rPr>
              <a:t>2</a:t>
            </a:r>
            <a:r>
              <a:rPr lang="en-US" altLang="zh-CN" sz="2400" kern="0" dirty="0">
                <a:sym typeface="Symbol" pitchFamily="18" charset="2"/>
              </a:rPr>
              <a:t>,…,</a:t>
            </a:r>
            <a:r>
              <a:rPr lang="en-US" altLang="zh-CN" sz="2400" kern="0" dirty="0" err="1">
                <a:sym typeface="Symbol" pitchFamily="18" charset="2"/>
              </a:rPr>
              <a:t>t</a:t>
            </a:r>
            <a:r>
              <a:rPr lang="en-US" altLang="zh-CN" sz="2400" kern="0" baseline="-25000" dirty="0" err="1">
                <a:sym typeface="Symbol" pitchFamily="18" charset="2"/>
              </a:rPr>
              <a:t>n</a:t>
            </a:r>
            <a:r>
              <a:rPr lang="en-US" altLang="zh-CN" sz="2400" kern="0" dirty="0" err="1">
                <a:sym typeface="Symbol" pitchFamily="18" charset="2"/>
              </a:rPr>
              <a:t>T</a:t>
            </a:r>
            <a:r>
              <a:rPr lang="zh-CN" altLang="en-US" sz="2400" kern="0" dirty="0">
                <a:sym typeface="Symbol" pitchFamily="18" charset="2"/>
              </a:rPr>
              <a:t>，</a:t>
            </a:r>
            <a:r>
              <a:rPr lang="en-US" altLang="zh-CN" sz="2400" kern="0" dirty="0">
                <a:sym typeface="Symbol" pitchFamily="18" charset="2"/>
              </a:rPr>
              <a:t>n</a:t>
            </a:r>
            <a:r>
              <a:rPr lang="zh-CN" altLang="en-US" sz="2400" kern="0" dirty="0">
                <a:sym typeface="Symbol" pitchFamily="18" charset="2"/>
              </a:rPr>
              <a:t>维随机变量</a:t>
            </a:r>
            <a:r>
              <a:rPr lang="en-US" altLang="zh-CN" sz="2400" kern="0" dirty="0"/>
              <a:t>X(</a:t>
            </a:r>
            <a:r>
              <a:rPr lang="en-US" altLang="zh-CN" sz="2400" kern="0" dirty="0">
                <a:sym typeface="Symbol" pitchFamily="18" charset="2"/>
              </a:rPr>
              <a:t>t</a:t>
            </a:r>
            <a:r>
              <a:rPr lang="en-US" altLang="zh-CN" sz="2400" kern="0" baseline="-25000" dirty="0">
                <a:sym typeface="Symbol" pitchFamily="18" charset="2"/>
              </a:rPr>
              <a:t>1</a:t>
            </a:r>
            <a:r>
              <a:rPr lang="en-US" altLang="zh-CN" sz="2400" kern="0" dirty="0"/>
              <a:t>),X(</a:t>
            </a:r>
            <a:r>
              <a:rPr lang="en-US" altLang="zh-CN" sz="2400" kern="0" dirty="0">
                <a:sym typeface="Symbol" pitchFamily="18" charset="2"/>
              </a:rPr>
              <a:t>t</a:t>
            </a:r>
            <a:r>
              <a:rPr lang="en-US" altLang="zh-CN" sz="2400" kern="0" baseline="-25000" dirty="0">
                <a:sym typeface="Symbol" pitchFamily="18" charset="2"/>
              </a:rPr>
              <a:t>2</a:t>
            </a:r>
            <a:r>
              <a:rPr lang="en-US" altLang="zh-CN" sz="2400" kern="0" dirty="0"/>
              <a:t>),</a:t>
            </a:r>
            <a:r>
              <a:rPr lang="en-US" altLang="zh-CN" sz="2400" kern="0" dirty="0">
                <a:sym typeface="Symbol" pitchFamily="18" charset="2"/>
              </a:rPr>
              <a:t>…, </a:t>
            </a:r>
            <a:r>
              <a:rPr lang="en-US" altLang="zh-CN" sz="2400" kern="0" dirty="0"/>
              <a:t>X(</a:t>
            </a:r>
            <a:r>
              <a:rPr lang="en-US" altLang="zh-CN" sz="2400" kern="0" dirty="0" err="1">
                <a:sym typeface="Symbol" pitchFamily="18" charset="2"/>
              </a:rPr>
              <a:t>t</a:t>
            </a:r>
            <a:r>
              <a:rPr lang="en-US" altLang="zh-CN" sz="2400" kern="0" baseline="-25000" dirty="0" err="1">
                <a:sym typeface="Symbol" pitchFamily="18" charset="2"/>
              </a:rPr>
              <a:t>n</a:t>
            </a:r>
            <a:r>
              <a:rPr lang="en-US" altLang="zh-CN" sz="2400" kern="0" dirty="0">
                <a:sym typeface="Symbol" pitchFamily="18" charset="2"/>
              </a:rPr>
              <a:t>)</a:t>
            </a:r>
            <a:r>
              <a:rPr lang="en-US" altLang="zh-CN" sz="2400" kern="0" dirty="0"/>
              <a:t>)</a:t>
            </a:r>
            <a:r>
              <a:rPr lang="zh-CN" altLang="en-US" sz="2400" kern="0" dirty="0"/>
              <a:t>的联合概率分布为</a:t>
            </a:r>
            <a:r>
              <a:rPr lang="en-US" altLang="zh-CN" sz="2400" kern="0" dirty="0"/>
              <a:t>n</a:t>
            </a:r>
            <a:r>
              <a:rPr lang="zh-CN" altLang="en-US" sz="2400" kern="0" dirty="0"/>
              <a:t>维正态分布</a:t>
            </a:r>
            <a:endParaRPr lang="zh-CN" altLang="en-US" sz="2400" kern="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42019">
                                            <p:txEl>
                                              <p:pRg st="0" end="0"/>
                                            </p:txEl>
                                          </p:spTgt>
                                        </p:tgtEl>
                                        <p:attrNameLst>
                                          <p:attrName>style.visibility</p:attrName>
                                        </p:attrNameLst>
                                      </p:cBhvr>
                                      <p:to>
                                        <p:strVal val="visible"/>
                                      </p:to>
                                    </p:set>
                                    <p:anim calcmode="lin" valueType="num">
                                      <p:cBhvr additive="base">
                                        <p:cTn id="7" dur="500" fill="hold"/>
                                        <p:tgtEl>
                                          <p:spTgt spid="3420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201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42019">
                                            <p:txEl>
                                              <p:pRg st="1" end="1"/>
                                            </p:txEl>
                                          </p:spTgt>
                                        </p:tgtEl>
                                        <p:attrNameLst>
                                          <p:attrName>style.visibility</p:attrName>
                                        </p:attrNameLst>
                                      </p:cBhvr>
                                      <p:to>
                                        <p:strVal val="visible"/>
                                      </p:to>
                                    </p:set>
                                    <p:anim calcmode="lin" valueType="num">
                                      <p:cBhvr additive="base">
                                        <p:cTn id="12" dur="500" fill="hold"/>
                                        <p:tgtEl>
                                          <p:spTgt spid="34201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42019">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42019">
                                            <p:txEl>
                                              <p:pRg st="2" end="2"/>
                                            </p:txEl>
                                          </p:spTgt>
                                        </p:tgtEl>
                                        <p:attrNameLst>
                                          <p:attrName>style.visibility</p:attrName>
                                        </p:attrNameLst>
                                      </p:cBhvr>
                                      <p:to>
                                        <p:strVal val="visible"/>
                                      </p:to>
                                    </p:set>
                                    <p:anim calcmode="lin" valueType="num">
                                      <p:cBhvr additive="base">
                                        <p:cTn id="17" dur="500" fill="hold"/>
                                        <p:tgtEl>
                                          <p:spTgt spid="34201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42019">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42019">
                                            <p:txEl>
                                              <p:pRg st="3" end="3"/>
                                            </p:txEl>
                                          </p:spTgt>
                                        </p:tgtEl>
                                        <p:attrNameLst>
                                          <p:attrName>style.visibility</p:attrName>
                                        </p:attrNameLst>
                                      </p:cBhvr>
                                      <p:to>
                                        <p:strVal val="visible"/>
                                      </p:to>
                                    </p:set>
                                    <p:anim calcmode="lin" valueType="num">
                                      <p:cBhvr additive="base">
                                        <p:cTn id="22" dur="500" fill="hold"/>
                                        <p:tgtEl>
                                          <p:spTgt spid="34201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42019">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9">
                                            <p:bg/>
                                          </p:spTgt>
                                        </p:tgtEl>
                                        <p:attrNameLst>
                                          <p:attrName>style.visibility</p:attrName>
                                        </p:attrNameLst>
                                      </p:cBhvr>
                                      <p:to>
                                        <p:strVal val="visible"/>
                                      </p:to>
                                    </p:set>
                                    <p:anim calcmode="lin" valueType="num">
                                      <p:cBhvr additive="base">
                                        <p:cTn id="27" dur="500" fill="hold"/>
                                        <p:tgtEl>
                                          <p:spTgt spid="9">
                                            <p:bg/>
                                          </p:spTgt>
                                        </p:tgtEl>
                                        <p:attrNameLst>
                                          <p:attrName>ppt_x</p:attrName>
                                        </p:attrNameLst>
                                      </p:cBhvr>
                                      <p:tavLst>
                                        <p:tav tm="0">
                                          <p:val>
                                            <p:strVal val="#ppt_x"/>
                                          </p:val>
                                        </p:tav>
                                        <p:tav tm="100000">
                                          <p:val>
                                            <p:strVal val="#ppt_x"/>
                                          </p:val>
                                        </p:tav>
                                      </p:tavLst>
                                    </p:anim>
                                    <p:anim calcmode="lin" valueType="num">
                                      <p:cBhvr additive="base">
                                        <p:cTn id="28" dur="500" fill="hold"/>
                                        <p:tgtEl>
                                          <p:spTgt spid="9">
                                            <p:bg/>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 calcmode="lin" valueType="num">
                                      <p:cBhvr additive="base">
                                        <p:cTn id="3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1" nodeType="clickEffect">
                                  <p:stCondLst>
                                    <p:cond delay="0"/>
                                  </p:stCondLst>
                                  <p:childTnLst>
                                    <p:set>
                                      <p:cBhvr>
                                        <p:cTn id="38" dur="1" fill="hold">
                                          <p:stCondLst>
                                            <p:cond delay="0"/>
                                          </p:stCondLst>
                                        </p:cTn>
                                        <p:tgtEl>
                                          <p:spTgt spid="9">
                                            <p:bg/>
                                          </p:spTgt>
                                        </p:tgtEl>
                                        <p:attrNameLst>
                                          <p:attrName>style.visibility</p:attrName>
                                        </p:attrNameLst>
                                      </p:cBhvr>
                                      <p:to>
                                        <p:strVal val="visible"/>
                                      </p:to>
                                    </p:set>
                                    <p:animEffect transition="in" filter="fade">
                                      <p:cBhvr>
                                        <p:cTn id="39" dur="500"/>
                                        <p:tgtEl>
                                          <p:spTgt spid="9">
                                            <p:bg/>
                                          </p:spTgt>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9">
                                            <p:txEl>
                                              <p:pRg st="0" end="0"/>
                                            </p:txEl>
                                          </p:spTgt>
                                        </p:tgtEl>
                                        <p:attrNameLst>
                                          <p:attrName>style.visibility</p:attrName>
                                        </p:attrNameLst>
                                      </p:cBhvr>
                                      <p:to>
                                        <p:strVal val="visible"/>
                                      </p:to>
                                    </p:set>
                                    <p:animEffect transition="in" filter="fade">
                                      <p:cBhvr>
                                        <p:cTn id="42" dur="500"/>
                                        <p:tgtEl>
                                          <p:spTgt spid="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42020"/>
                                        </p:tgtEl>
                                        <p:attrNameLst>
                                          <p:attrName>style.visibility</p:attrName>
                                        </p:attrNameLst>
                                      </p:cBhvr>
                                      <p:to>
                                        <p:strVal val="visible"/>
                                      </p:to>
                                    </p:set>
                                    <p:anim calcmode="lin" valueType="num">
                                      <p:cBhvr additive="base">
                                        <p:cTn id="47" dur="500" fill="hold"/>
                                        <p:tgtEl>
                                          <p:spTgt spid="342020"/>
                                        </p:tgtEl>
                                        <p:attrNameLst>
                                          <p:attrName>ppt_x</p:attrName>
                                        </p:attrNameLst>
                                      </p:cBhvr>
                                      <p:tavLst>
                                        <p:tav tm="0">
                                          <p:val>
                                            <p:strVal val="#ppt_x"/>
                                          </p:val>
                                        </p:tav>
                                        <p:tav tm="100000">
                                          <p:val>
                                            <p:strVal val="#ppt_x"/>
                                          </p:val>
                                        </p:tav>
                                      </p:tavLst>
                                    </p:anim>
                                    <p:anim calcmode="lin" valueType="num">
                                      <p:cBhvr additive="base">
                                        <p:cTn id="48" dur="500" fill="hold"/>
                                        <p:tgtEl>
                                          <p:spTgt spid="342020"/>
                                        </p:tgtEl>
                                        <p:attrNameLst>
                                          <p:attrName>ppt_y</p:attrName>
                                        </p:attrNameLst>
                                      </p:cBhvr>
                                      <p:tavLst>
                                        <p:tav tm="0">
                                          <p:val>
                                            <p:strVal val="1+#ppt_h/2"/>
                                          </p:val>
                                        </p:tav>
                                        <p:tav tm="100000">
                                          <p:val>
                                            <p:strVal val="#ppt_y"/>
                                          </p:val>
                                        </p:tav>
                                      </p:tavLst>
                                    </p:anim>
                                  </p:childTnLst>
                                </p:cTn>
                              </p:par>
                            </p:childTnLst>
                          </p:cTn>
                        </p:par>
                        <p:par>
                          <p:cTn id="49" fill="hold">
                            <p:stCondLst>
                              <p:cond delay="500"/>
                            </p:stCondLst>
                            <p:childTnLst>
                              <p:par>
                                <p:cTn id="50" presetID="2" presetClass="entr" presetSubtype="4" fill="hold" nodeType="afterEffect">
                                  <p:stCondLst>
                                    <p:cond delay="0"/>
                                  </p:stCondLst>
                                  <p:childTnLst>
                                    <p:set>
                                      <p:cBhvr>
                                        <p:cTn id="51" dur="1" fill="hold">
                                          <p:stCondLst>
                                            <p:cond delay="0"/>
                                          </p:stCondLst>
                                        </p:cTn>
                                        <p:tgtEl>
                                          <p:spTgt spid="342021"/>
                                        </p:tgtEl>
                                        <p:attrNameLst>
                                          <p:attrName>style.visibility</p:attrName>
                                        </p:attrNameLst>
                                      </p:cBhvr>
                                      <p:to>
                                        <p:strVal val="visible"/>
                                      </p:to>
                                    </p:set>
                                    <p:anim calcmode="lin" valueType="num">
                                      <p:cBhvr additive="base">
                                        <p:cTn id="52" dur="500" fill="hold"/>
                                        <p:tgtEl>
                                          <p:spTgt spid="342021"/>
                                        </p:tgtEl>
                                        <p:attrNameLst>
                                          <p:attrName>ppt_x</p:attrName>
                                        </p:attrNameLst>
                                      </p:cBhvr>
                                      <p:tavLst>
                                        <p:tav tm="0">
                                          <p:val>
                                            <p:strVal val="#ppt_x"/>
                                          </p:val>
                                        </p:tav>
                                        <p:tav tm="100000">
                                          <p:val>
                                            <p:strVal val="#ppt_x"/>
                                          </p:val>
                                        </p:tav>
                                      </p:tavLst>
                                    </p:anim>
                                    <p:anim calcmode="lin" valueType="num">
                                      <p:cBhvr additive="base">
                                        <p:cTn id="53" dur="500" fill="hold"/>
                                        <p:tgtEl>
                                          <p:spTgt spid="3420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9" grpId="0" uiExpand="1" build="p"/>
      <p:bldP spid="342020" grpId="0"/>
      <p:bldP spid="9" grpId="0" build="p" animBg="1"/>
      <p:bldP spid="9" grpId="1" build="allAtOnce"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Rectangle 2"/>
          <p:cNvSpPr>
            <a:spLocks noGrp="1" noChangeArrowheads="1"/>
          </p:cNvSpPr>
          <p:nvPr>
            <p:ph type="title"/>
          </p:nvPr>
        </p:nvSpPr>
        <p:spPr>
          <a:xfrm>
            <a:off x="917575" y="282137"/>
            <a:ext cx="9961986" cy="609741"/>
          </a:xfrm>
        </p:spPr>
        <p:txBody>
          <a:bodyPr/>
          <a:lstStyle/>
          <a:p>
            <a:pPr algn="l" eaLnBrk="1" hangingPunct="1"/>
            <a:r>
              <a:rPr lang="zh-CN" altLang="en-US" dirty="0"/>
              <a:t>实例</a:t>
            </a:r>
            <a:r>
              <a:rPr lang="en-US" altLang="zh-CN" dirty="0"/>
              <a:t>(</a:t>
            </a:r>
            <a:r>
              <a:rPr lang="zh-CN" altLang="en-US" dirty="0"/>
              <a:t>续</a:t>
            </a:r>
            <a:r>
              <a:rPr lang="en-US" altLang="zh-CN" dirty="0"/>
              <a:t>1)</a:t>
            </a:r>
          </a:p>
        </p:txBody>
      </p:sp>
      <p:sp>
        <p:nvSpPr>
          <p:cNvPr id="352259" name="Rectangle 3"/>
          <p:cNvSpPr>
            <a:spLocks noGrp="1" noChangeArrowheads="1"/>
          </p:cNvSpPr>
          <p:nvPr>
            <p:ph type="body" sz="half" idx="1"/>
          </p:nvPr>
        </p:nvSpPr>
        <p:spPr>
          <a:xfrm>
            <a:off x="789011" y="1146240"/>
            <a:ext cx="814364" cy="555754"/>
          </a:xfrm>
        </p:spPr>
        <p:txBody>
          <a:bodyPr>
            <a:normAutofit/>
          </a:bodyPr>
          <a:lstStyle/>
          <a:p>
            <a:pPr eaLnBrk="1" hangingPunct="1">
              <a:lnSpc>
                <a:spcPct val="130000"/>
              </a:lnSpc>
              <a:buFont typeface="Wingdings" pitchFamily="2" charset="2"/>
              <a:buNone/>
            </a:pPr>
            <a:r>
              <a:rPr lang="zh-CN" altLang="en-US" dirty="0"/>
              <a:t>因</a:t>
            </a:r>
          </a:p>
        </p:txBody>
      </p:sp>
      <p:sp>
        <p:nvSpPr>
          <p:cNvPr id="352260" name="Text Box 4"/>
          <p:cNvSpPr txBox="1">
            <a:spLocks noChangeArrowheads="1"/>
          </p:cNvSpPr>
          <p:nvPr/>
        </p:nvSpPr>
        <p:spPr bwMode="auto">
          <a:xfrm>
            <a:off x="760356" y="2482341"/>
            <a:ext cx="1151203" cy="461665"/>
          </a:xfrm>
          <a:prstGeom prst="rect">
            <a:avLst/>
          </a:prstGeom>
          <a:noFill/>
          <a:ln w="9525">
            <a:noFill/>
            <a:miter lim="800000"/>
            <a:headEnd/>
            <a:tailEnd/>
          </a:ln>
        </p:spPr>
        <p:txBody>
          <a:bodyPr>
            <a:spAutoFit/>
          </a:bodyPr>
          <a:lstStyle/>
          <a:p>
            <a:pPr>
              <a:spcBef>
                <a:spcPct val="50000"/>
              </a:spcBef>
            </a:pPr>
            <a:r>
              <a:rPr lang="zh-CN" altLang="en-US" b="1" dirty="0">
                <a:ea typeface="黑体" pitchFamily="2" charset="-122"/>
              </a:rPr>
              <a:t>从而</a:t>
            </a:r>
          </a:p>
        </p:txBody>
      </p:sp>
      <p:graphicFrame>
        <p:nvGraphicFramePr>
          <p:cNvPr id="352261" name="Object 5"/>
          <p:cNvGraphicFramePr>
            <a:graphicFrameLocks noGrp="1" noChangeAspect="1"/>
          </p:cNvGraphicFramePr>
          <p:nvPr>
            <p:ph sz="half" idx="2"/>
          </p:nvPr>
        </p:nvGraphicFramePr>
        <p:xfrm>
          <a:off x="2923105" y="930290"/>
          <a:ext cx="4222140" cy="1113095"/>
        </p:xfrm>
        <a:graphic>
          <a:graphicData uri="http://schemas.openxmlformats.org/presentationml/2006/ole">
            <mc:AlternateContent xmlns:mc="http://schemas.openxmlformats.org/markup-compatibility/2006">
              <mc:Choice xmlns:v="urn:schemas-microsoft-com:vml" Requires="v">
                <p:oleObj name="公式" r:id="rId2" imgW="1879560" imgH="495000" progId="Equation.3">
                  <p:embed/>
                </p:oleObj>
              </mc:Choice>
              <mc:Fallback>
                <p:oleObj name="公式" r:id="rId2" imgW="1879560" imgH="495000" progId="Equation.3">
                  <p:embed/>
                  <p:pic>
                    <p:nvPicPr>
                      <p:cNvPr id="35226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3105" y="930290"/>
                        <a:ext cx="4222140" cy="11130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2262" name="Object 6"/>
          <p:cNvGraphicFramePr>
            <a:graphicFrameLocks noChangeAspect="1"/>
          </p:cNvGraphicFramePr>
          <p:nvPr/>
        </p:nvGraphicFramePr>
        <p:xfrm>
          <a:off x="3137392" y="2209227"/>
          <a:ext cx="3964906" cy="1113096"/>
        </p:xfrm>
        <a:graphic>
          <a:graphicData uri="http://schemas.openxmlformats.org/presentationml/2006/ole">
            <mc:AlternateContent xmlns:mc="http://schemas.openxmlformats.org/markup-compatibility/2006">
              <mc:Choice xmlns:v="urn:schemas-microsoft-com:vml" Requires="v">
                <p:oleObj name="公式" r:id="rId4" imgW="1765080" imgH="495000" progId="Equation.3">
                  <p:embed/>
                </p:oleObj>
              </mc:Choice>
              <mc:Fallback>
                <p:oleObj name="公式" r:id="rId4" imgW="1765080" imgH="495000" progId="Equation.3">
                  <p:embed/>
                  <p:pic>
                    <p:nvPicPr>
                      <p:cNvPr id="35226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7392" y="2209227"/>
                        <a:ext cx="3964906" cy="1113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2263" name="Text Box 7"/>
          <p:cNvSpPr txBox="1">
            <a:spLocks noChangeArrowheads="1"/>
          </p:cNvSpPr>
          <p:nvPr/>
        </p:nvSpPr>
        <p:spPr bwMode="auto">
          <a:xfrm>
            <a:off x="612775" y="3356876"/>
            <a:ext cx="7336402" cy="3387979"/>
          </a:xfrm>
          <a:prstGeom prst="rect">
            <a:avLst/>
          </a:prstGeom>
          <a:noFill/>
          <a:ln w="9525">
            <a:noFill/>
            <a:miter lim="800000"/>
            <a:headEnd/>
            <a:tailEnd/>
          </a:ln>
        </p:spPr>
        <p:txBody>
          <a:bodyPr wrap="square">
            <a:spAutoFit/>
          </a:bodyPr>
          <a:lstStyle/>
          <a:p>
            <a:pPr>
              <a:lnSpc>
                <a:spcPct val="150000"/>
              </a:lnSpc>
              <a:spcBef>
                <a:spcPct val="40000"/>
              </a:spcBef>
            </a:pPr>
            <a:r>
              <a:rPr lang="zh-CN" altLang="en-US" b="1" dirty="0">
                <a:latin typeface="+mn-ea"/>
              </a:rPr>
              <a:t>故</a:t>
            </a:r>
            <a:r>
              <a:rPr lang="en-US" altLang="zh-CN" b="1" dirty="0">
                <a:latin typeface="+mn-ea"/>
              </a:rPr>
              <a:t>{X(t),</a:t>
            </a:r>
            <a:r>
              <a:rPr lang="en-US" altLang="zh-CN" b="1" dirty="0" err="1">
                <a:latin typeface="+mn-ea"/>
              </a:rPr>
              <a:t>t</a:t>
            </a:r>
            <a:r>
              <a:rPr lang="en-US" altLang="zh-CN" b="1" dirty="0" err="1">
                <a:latin typeface="+mn-ea"/>
                <a:sym typeface="Symbol" pitchFamily="18" charset="2"/>
              </a:rPr>
              <a:t>T</a:t>
            </a:r>
            <a:r>
              <a:rPr lang="en-US" altLang="zh-CN" b="1" dirty="0">
                <a:latin typeface="+mn-ea"/>
                <a:sym typeface="Symbol" pitchFamily="18" charset="2"/>
              </a:rPr>
              <a:t>}</a:t>
            </a:r>
            <a:r>
              <a:rPr lang="zh-CN" altLang="en-US" b="1" dirty="0">
                <a:latin typeface="+mn-ea"/>
              </a:rPr>
              <a:t>为正态过程。</a:t>
            </a:r>
          </a:p>
          <a:p>
            <a:pPr>
              <a:lnSpc>
                <a:spcPct val="150000"/>
              </a:lnSpc>
              <a:spcBef>
                <a:spcPct val="40000"/>
              </a:spcBef>
            </a:pPr>
            <a:r>
              <a:rPr lang="zh-CN" altLang="en-US" b="1" dirty="0">
                <a:latin typeface="+mn-ea"/>
              </a:rPr>
              <a:t>均值函数	</a:t>
            </a:r>
            <a:r>
              <a:rPr lang="en-US" altLang="zh-CN" b="1" dirty="0">
                <a:latin typeface="+mn-ea"/>
              </a:rPr>
              <a:t>m(t)</a:t>
            </a:r>
            <a:r>
              <a:rPr lang="zh-CN" altLang="en-US" b="1" dirty="0">
                <a:latin typeface="+mn-ea"/>
              </a:rPr>
              <a:t>＝</a:t>
            </a:r>
            <a:r>
              <a:rPr lang="en-US" altLang="zh-CN" b="1" dirty="0">
                <a:latin typeface="+mn-ea"/>
              </a:rPr>
              <a:t>E[X(t)]</a:t>
            </a:r>
            <a:r>
              <a:rPr lang="zh-CN" altLang="en-US" b="1" dirty="0">
                <a:latin typeface="+mn-ea"/>
              </a:rPr>
              <a:t>＝</a:t>
            </a:r>
            <a:r>
              <a:rPr lang="en-US" altLang="zh-CN" b="1" dirty="0">
                <a:latin typeface="+mn-ea"/>
              </a:rPr>
              <a:t>0</a:t>
            </a:r>
            <a:r>
              <a:rPr lang="zh-CN" altLang="en-US" b="1" dirty="0">
                <a:latin typeface="+mn-ea"/>
              </a:rPr>
              <a:t>；</a:t>
            </a:r>
          </a:p>
          <a:p>
            <a:pPr>
              <a:lnSpc>
                <a:spcPct val="150000"/>
              </a:lnSpc>
              <a:spcBef>
                <a:spcPct val="40000"/>
              </a:spcBef>
            </a:pPr>
            <a:r>
              <a:rPr lang="zh-CN" altLang="en-US" b="1" dirty="0">
                <a:latin typeface="+mn-ea"/>
              </a:rPr>
              <a:t>协方差函数	</a:t>
            </a:r>
            <a:r>
              <a:rPr lang="en-US" altLang="zh-CN" b="1" dirty="0">
                <a:latin typeface="+mn-ea"/>
              </a:rPr>
              <a:t>C(</a:t>
            </a:r>
            <a:r>
              <a:rPr lang="en-US" altLang="zh-CN" b="1" dirty="0" err="1">
                <a:latin typeface="+mn-ea"/>
              </a:rPr>
              <a:t>s,t</a:t>
            </a:r>
            <a:r>
              <a:rPr lang="en-US" altLang="zh-CN" b="1" dirty="0">
                <a:latin typeface="+mn-ea"/>
              </a:rPr>
              <a:t>)</a:t>
            </a:r>
            <a:r>
              <a:rPr lang="zh-CN" altLang="en-US" b="1" dirty="0">
                <a:latin typeface="+mn-ea"/>
              </a:rPr>
              <a:t>＝</a:t>
            </a:r>
            <a:r>
              <a:rPr lang="en-US" altLang="zh-CN" b="1" dirty="0">
                <a:latin typeface="+mn-ea"/>
              </a:rPr>
              <a:t>1+st</a:t>
            </a:r>
            <a:r>
              <a:rPr lang="zh-CN" altLang="en-US" b="1" dirty="0">
                <a:latin typeface="+mn-ea"/>
              </a:rPr>
              <a:t>；</a:t>
            </a:r>
          </a:p>
          <a:p>
            <a:pPr>
              <a:lnSpc>
                <a:spcPct val="150000"/>
              </a:lnSpc>
              <a:spcBef>
                <a:spcPct val="40000"/>
              </a:spcBef>
            </a:pPr>
            <a:r>
              <a:rPr lang="zh-CN" altLang="en-US" b="1" dirty="0">
                <a:latin typeface="+mn-ea"/>
              </a:rPr>
              <a:t>方差函数	</a:t>
            </a:r>
            <a:r>
              <a:rPr lang="en-US" altLang="zh-CN" b="1" dirty="0">
                <a:latin typeface="+mn-ea"/>
              </a:rPr>
              <a:t>D(t)</a:t>
            </a:r>
            <a:r>
              <a:rPr lang="zh-CN" altLang="en-US" b="1" dirty="0">
                <a:latin typeface="+mn-ea"/>
              </a:rPr>
              <a:t>＝</a:t>
            </a:r>
            <a:r>
              <a:rPr lang="en-US" altLang="zh-CN" b="1" dirty="0">
                <a:latin typeface="+mn-ea"/>
              </a:rPr>
              <a:t>1+t</a:t>
            </a:r>
            <a:r>
              <a:rPr lang="en-US" altLang="zh-CN" b="1" baseline="30000" dirty="0">
                <a:latin typeface="+mn-ea"/>
              </a:rPr>
              <a:t>2</a:t>
            </a:r>
            <a:r>
              <a:rPr lang="zh-CN" altLang="en-US" b="1" dirty="0">
                <a:latin typeface="+mn-ea"/>
              </a:rPr>
              <a:t>；</a:t>
            </a:r>
          </a:p>
          <a:p>
            <a:pPr>
              <a:lnSpc>
                <a:spcPct val="150000"/>
              </a:lnSpc>
              <a:spcBef>
                <a:spcPct val="40000"/>
              </a:spcBef>
            </a:pPr>
            <a:r>
              <a:rPr lang="zh-CN" altLang="en-US" b="1" dirty="0">
                <a:latin typeface="+mn-ea"/>
              </a:rPr>
              <a:t>一维概率分布	</a:t>
            </a:r>
            <a:r>
              <a:rPr lang="en-US" altLang="zh-CN" b="1" dirty="0">
                <a:latin typeface="+mn-ea"/>
              </a:rPr>
              <a:t>X(t)~N(0,1+t</a:t>
            </a:r>
            <a:r>
              <a:rPr lang="en-US" altLang="zh-CN" b="1" baseline="30000" dirty="0">
                <a:latin typeface="+mn-ea"/>
              </a:rPr>
              <a:t>2</a:t>
            </a:r>
            <a:r>
              <a:rPr lang="en-US" altLang="zh-CN" b="1" dirty="0">
                <a:latin typeface="+mn-ea"/>
              </a:rPr>
              <a:t>)</a:t>
            </a:r>
            <a:r>
              <a:rPr lang="zh-CN" altLang="en-US" b="1" dirty="0">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52259">
                                            <p:txEl>
                                              <p:pRg st="0" end="0"/>
                                            </p:txEl>
                                          </p:spTgt>
                                        </p:tgtEl>
                                        <p:attrNameLst>
                                          <p:attrName>style.visibility</p:attrName>
                                        </p:attrNameLst>
                                      </p:cBhvr>
                                      <p:to>
                                        <p:strVal val="visible"/>
                                      </p:to>
                                    </p:set>
                                    <p:anim calcmode="lin" valueType="num">
                                      <p:cBhvr additive="base">
                                        <p:cTn id="7" dur="500" fill="hold"/>
                                        <p:tgtEl>
                                          <p:spTgt spid="352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225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52261"/>
                                        </p:tgtEl>
                                        <p:attrNameLst>
                                          <p:attrName>style.visibility</p:attrName>
                                        </p:attrNameLst>
                                      </p:cBhvr>
                                      <p:to>
                                        <p:strVal val="visible"/>
                                      </p:to>
                                    </p:set>
                                    <p:anim calcmode="lin" valueType="num">
                                      <p:cBhvr additive="base">
                                        <p:cTn id="12" dur="500" fill="hold"/>
                                        <p:tgtEl>
                                          <p:spTgt spid="352261"/>
                                        </p:tgtEl>
                                        <p:attrNameLst>
                                          <p:attrName>ppt_x</p:attrName>
                                        </p:attrNameLst>
                                      </p:cBhvr>
                                      <p:tavLst>
                                        <p:tav tm="0">
                                          <p:val>
                                            <p:strVal val="#ppt_x"/>
                                          </p:val>
                                        </p:tav>
                                        <p:tav tm="100000">
                                          <p:val>
                                            <p:strVal val="#ppt_x"/>
                                          </p:val>
                                        </p:tav>
                                      </p:tavLst>
                                    </p:anim>
                                    <p:anim calcmode="lin" valueType="num">
                                      <p:cBhvr additive="base">
                                        <p:cTn id="13" dur="500" fill="hold"/>
                                        <p:tgtEl>
                                          <p:spTgt spid="35226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52260"/>
                                        </p:tgtEl>
                                        <p:attrNameLst>
                                          <p:attrName>style.visibility</p:attrName>
                                        </p:attrNameLst>
                                      </p:cBhvr>
                                      <p:to>
                                        <p:strVal val="visible"/>
                                      </p:to>
                                    </p:set>
                                    <p:anim calcmode="lin" valueType="num">
                                      <p:cBhvr additive="base">
                                        <p:cTn id="18" dur="500" fill="hold"/>
                                        <p:tgtEl>
                                          <p:spTgt spid="352260"/>
                                        </p:tgtEl>
                                        <p:attrNameLst>
                                          <p:attrName>ppt_x</p:attrName>
                                        </p:attrNameLst>
                                      </p:cBhvr>
                                      <p:tavLst>
                                        <p:tav tm="0">
                                          <p:val>
                                            <p:strVal val="#ppt_x"/>
                                          </p:val>
                                        </p:tav>
                                        <p:tav tm="100000">
                                          <p:val>
                                            <p:strVal val="#ppt_x"/>
                                          </p:val>
                                        </p:tav>
                                      </p:tavLst>
                                    </p:anim>
                                    <p:anim calcmode="lin" valueType="num">
                                      <p:cBhvr additive="base">
                                        <p:cTn id="19" dur="500" fill="hold"/>
                                        <p:tgtEl>
                                          <p:spTgt spid="352260"/>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352262"/>
                                        </p:tgtEl>
                                        <p:attrNameLst>
                                          <p:attrName>style.visibility</p:attrName>
                                        </p:attrNameLst>
                                      </p:cBhvr>
                                      <p:to>
                                        <p:strVal val="visible"/>
                                      </p:to>
                                    </p:set>
                                    <p:anim calcmode="lin" valueType="num">
                                      <p:cBhvr additive="base">
                                        <p:cTn id="23" dur="500" fill="hold"/>
                                        <p:tgtEl>
                                          <p:spTgt spid="352262"/>
                                        </p:tgtEl>
                                        <p:attrNameLst>
                                          <p:attrName>ppt_x</p:attrName>
                                        </p:attrNameLst>
                                      </p:cBhvr>
                                      <p:tavLst>
                                        <p:tav tm="0">
                                          <p:val>
                                            <p:strVal val="#ppt_x"/>
                                          </p:val>
                                        </p:tav>
                                        <p:tav tm="100000">
                                          <p:val>
                                            <p:strVal val="#ppt_x"/>
                                          </p:val>
                                        </p:tav>
                                      </p:tavLst>
                                    </p:anim>
                                    <p:anim calcmode="lin" valueType="num">
                                      <p:cBhvr additive="base">
                                        <p:cTn id="24" dur="500" fill="hold"/>
                                        <p:tgtEl>
                                          <p:spTgt spid="35226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52263">
                                            <p:txEl>
                                              <p:pRg st="0" end="0"/>
                                            </p:txEl>
                                          </p:spTgt>
                                        </p:tgtEl>
                                        <p:attrNameLst>
                                          <p:attrName>style.visibility</p:attrName>
                                        </p:attrNameLst>
                                      </p:cBhvr>
                                      <p:to>
                                        <p:strVal val="visible"/>
                                      </p:to>
                                    </p:set>
                                    <p:anim calcmode="lin" valueType="num">
                                      <p:cBhvr additive="base">
                                        <p:cTn id="29" dur="500" fill="hold"/>
                                        <p:tgtEl>
                                          <p:spTgt spid="352263">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22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52263">
                                            <p:txEl>
                                              <p:pRg st="1" end="1"/>
                                            </p:txEl>
                                          </p:spTgt>
                                        </p:tgtEl>
                                        <p:attrNameLst>
                                          <p:attrName>style.visibility</p:attrName>
                                        </p:attrNameLst>
                                      </p:cBhvr>
                                      <p:to>
                                        <p:strVal val="visible"/>
                                      </p:to>
                                    </p:set>
                                    <p:anim calcmode="lin" valueType="num">
                                      <p:cBhvr additive="base">
                                        <p:cTn id="35" dur="500" fill="hold"/>
                                        <p:tgtEl>
                                          <p:spTgt spid="352263">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522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52263">
                                            <p:txEl>
                                              <p:pRg st="2" end="2"/>
                                            </p:txEl>
                                          </p:spTgt>
                                        </p:tgtEl>
                                        <p:attrNameLst>
                                          <p:attrName>style.visibility</p:attrName>
                                        </p:attrNameLst>
                                      </p:cBhvr>
                                      <p:to>
                                        <p:strVal val="visible"/>
                                      </p:to>
                                    </p:set>
                                    <p:anim calcmode="lin" valueType="num">
                                      <p:cBhvr additive="base">
                                        <p:cTn id="41" dur="500" fill="hold"/>
                                        <p:tgtEl>
                                          <p:spTgt spid="352263">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522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52263">
                                            <p:txEl>
                                              <p:pRg st="3" end="3"/>
                                            </p:txEl>
                                          </p:spTgt>
                                        </p:tgtEl>
                                        <p:attrNameLst>
                                          <p:attrName>style.visibility</p:attrName>
                                        </p:attrNameLst>
                                      </p:cBhvr>
                                      <p:to>
                                        <p:strVal val="visible"/>
                                      </p:to>
                                    </p:set>
                                    <p:anim calcmode="lin" valueType="num">
                                      <p:cBhvr additive="base">
                                        <p:cTn id="47" dur="500" fill="hold"/>
                                        <p:tgtEl>
                                          <p:spTgt spid="352263">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522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52263">
                                            <p:txEl>
                                              <p:pRg st="4" end="4"/>
                                            </p:txEl>
                                          </p:spTgt>
                                        </p:tgtEl>
                                        <p:attrNameLst>
                                          <p:attrName>style.visibility</p:attrName>
                                        </p:attrNameLst>
                                      </p:cBhvr>
                                      <p:to>
                                        <p:strVal val="visible"/>
                                      </p:to>
                                    </p:set>
                                    <p:anim calcmode="lin" valueType="num">
                                      <p:cBhvr additive="base">
                                        <p:cTn id="53" dur="500" fill="hold"/>
                                        <p:tgtEl>
                                          <p:spTgt spid="352263">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5226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build="p"/>
      <p:bldP spid="352260" grpId="0"/>
      <p:bldP spid="35226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2"/>
          <p:cNvSpPr>
            <a:spLocks noGrp="1" noChangeArrowheads="1"/>
          </p:cNvSpPr>
          <p:nvPr>
            <p:ph type="title"/>
          </p:nvPr>
        </p:nvSpPr>
        <p:spPr>
          <a:xfrm>
            <a:off x="882850" y="275534"/>
            <a:ext cx="9961986" cy="609741"/>
          </a:xfrm>
        </p:spPr>
        <p:txBody>
          <a:bodyPr/>
          <a:lstStyle/>
          <a:p>
            <a:pPr algn="l" eaLnBrk="1" hangingPunct="1"/>
            <a:r>
              <a:rPr lang="zh-CN" altLang="en-US" dirty="0"/>
              <a:t>实例</a:t>
            </a:r>
            <a:r>
              <a:rPr lang="en-US" altLang="zh-CN" dirty="0"/>
              <a:t>(</a:t>
            </a:r>
            <a:r>
              <a:rPr lang="zh-CN" altLang="en-US" dirty="0"/>
              <a:t>续</a:t>
            </a:r>
            <a:r>
              <a:rPr lang="en-US" altLang="zh-CN" dirty="0"/>
              <a:t>2)</a:t>
            </a:r>
          </a:p>
        </p:txBody>
      </p:sp>
      <p:sp>
        <p:nvSpPr>
          <p:cNvPr id="353283" name="Rectangle 3"/>
          <p:cNvSpPr>
            <a:spLocks noGrp="1" noChangeArrowheads="1"/>
          </p:cNvSpPr>
          <p:nvPr>
            <p:ph type="body" sz="half" idx="1"/>
          </p:nvPr>
        </p:nvSpPr>
        <p:spPr>
          <a:xfrm>
            <a:off x="594603" y="1278234"/>
            <a:ext cx="3772773" cy="555754"/>
          </a:xfrm>
        </p:spPr>
        <p:txBody>
          <a:bodyPr>
            <a:normAutofit/>
          </a:bodyPr>
          <a:lstStyle/>
          <a:p>
            <a:pPr eaLnBrk="1" hangingPunct="1">
              <a:lnSpc>
                <a:spcPct val="130000"/>
              </a:lnSpc>
              <a:buFont typeface="Wingdings" pitchFamily="2" charset="2"/>
              <a:buNone/>
            </a:pPr>
            <a:r>
              <a:rPr lang="zh-CN" altLang="en-US" dirty="0"/>
              <a:t>一维概率密度函数</a:t>
            </a:r>
          </a:p>
        </p:txBody>
      </p:sp>
      <p:graphicFrame>
        <p:nvGraphicFramePr>
          <p:cNvPr id="353288" name="Object 8"/>
          <p:cNvGraphicFramePr>
            <a:graphicFrameLocks noGrp="1" noChangeAspect="1"/>
          </p:cNvGraphicFramePr>
          <p:nvPr>
            <p:ph sz="quarter" idx="3"/>
          </p:nvPr>
        </p:nvGraphicFramePr>
        <p:xfrm>
          <a:off x="2212975" y="1842558"/>
          <a:ext cx="5713147" cy="1235361"/>
        </p:xfrm>
        <a:graphic>
          <a:graphicData uri="http://schemas.openxmlformats.org/presentationml/2006/ole">
            <mc:AlternateContent xmlns:mc="http://schemas.openxmlformats.org/markup-compatibility/2006">
              <mc:Choice xmlns:v="urn:schemas-microsoft-com:vml" Requires="v">
                <p:oleObj name="公式" r:id="rId2" imgW="2527200" imgH="545760" progId="Equation.3">
                  <p:embed/>
                </p:oleObj>
              </mc:Choice>
              <mc:Fallback>
                <p:oleObj name="公式" r:id="rId2" imgW="2527200" imgH="545760" progId="Equation.3">
                  <p:embed/>
                  <p:pic>
                    <p:nvPicPr>
                      <p:cNvPr id="35328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975" y="1842558"/>
                        <a:ext cx="5713147" cy="1235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3284" name="Text Box 4"/>
          <p:cNvSpPr txBox="1">
            <a:spLocks noChangeArrowheads="1"/>
          </p:cNvSpPr>
          <p:nvPr/>
        </p:nvSpPr>
        <p:spPr bwMode="auto">
          <a:xfrm>
            <a:off x="570786" y="3351989"/>
            <a:ext cx="2808937" cy="461665"/>
          </a:xfrm>
          <a:prstGeom prst="rect">
            <a:avLst/>
          </a:prstGeom>
          <a:noFill/>
          <a:ln w="9525">
            <a:noFill/>
            <a:miter lim="800000"/>
            <a:headEnd/>
            <a:tailEnd/>
          </a:ln>
        </p:spPr>
        <p:txBody>
          <a:bodyPr>
            <a:spAutoFit/>
          </a:bodyPr>
          <a:lstStyle/>
          <a:p>
            <a:pPr>
              <a:spcBef>
                <a:spcPct val="50000"/>
              </a:spcBef>
            </a:pPr>
            <a:r>
              <a:rPr lang="zh-CN" altLang="en-US" b="1">
                <a:ea typeface="黑体" pitchFamily="2" charset="-122"/>
              </a:rPr>
              <a:t>一维特征函数</a:t>
            </a:r>
          </a:p>
        </p:txBody>
      </p:sp>
      <p:graphicFrame>
        <p:nvGraphicFramePr>
          <p:cNvPr id="353291" name="Object 11"/>
          <p:cNvGraphicFramePr>
            <a:graphicFrameLocks noGrp="1" noChangeAspect="1"/>
          </p:cNvGraphicFramePr>
          <p:nvPr>
            <p:ph sz="quarter" idx="2"/>
          </p:nvPr>
        </p:nvGraphicFramePr>
        <p:xfrm>
          <a:off x="2270165" y="4035202"/>
          <a:ext cx="4279302" cy="770115"/>
        </p:xfrm>
        <a:graphic>
          <a:graphicData uri="http://schemas.openxmlformats.org/presentationml/2006/ole">
            <mc:AlternateContent xmlns:mc="http://schemas.openxmlformats.org/markup-compatibility/2006">
              <mc:Choice xmlns:v="urn:schemas-microsoft-com:vml" Requires="v">
                <p:oleObj name="公式" r:id="rId4" imgW="1904760" imgH="342720" progId="Equation.3">
                  <p:embed/>
                </p:oleObj>
              </mc:Choice>
              <mc:Fallback>
                <p:oleObj name="公式" r:id="rId4" imgW="1904760" imgH="342720" progId="Equation.3">
                  <p:embed/>
                  <p:pic>
                    <p:nvPicPr>
                      <p:cNvPr id="353291"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0165" y="4035202"/>
                        <a:ext cx="4279302" cy="770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53283">
                                            <p:txEl>
                                              <p:pRg st="0" end="0"/>
                                            </p:txEl>
                                          </p:spTgt>
                                        </p:tgtEl>
                                        <p:attrNameLst>
                                          <p:attrName>style.visibility</p:attrName>
                                        </p:attrNameLst>
                                      </p:cBhvr>
                                      <p:to>
                                        <p:strVal val="visible"/>
                                      </p:to>
                                    </p:set>
                                    <p:anim calcmode="lin" valueType="num">
                                      <p:cBhvr additive="base">
                                        <p:cTn id="7" dur="500" fill="hold"/>
                                        <p:tgtEl>
                                          <p:spTgt spid="353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32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53288"/>
                                        </p:tgtEl>
                                        <p:attrNameLst>
                                          <p:attrName>style.visibility</p:attrName>
                                        </p:attrNameLst>
                                      </p:cBhvr>
                                      <p:to>
                                        <p:strVal val="visible"/>
                                      </p:to>
                                    </p:set>
                                    <p:anim calcmode="lin" valueType="num">
                                      <p:cBhvr additive="base">
                                        <p:cTn id="13" dur="500" fill="hold"/>
                                        <p:tgtEl>
                                          <p:spTgt spid="353288"/>
                                        </p:tgtEl>
                                        <p:attrNameLst>
                                          <p:attrName>ppt_x</p:attrName>
                                        </p:attrNameLst>
                                      </p:cBhvr>
                                      <p:tavLst>
                                        <p:tav tm="0">
                                          <p:val>
                                            <p:strVal val="1+#ppt_w/2"/>
                                          </p:val>
                                        </p:tav>
                                        <p:tav tm="100000">
                                          <p:val>
                                            <p:strVal val="#ppt_x"/>
                                          </p:val>
                                        </p:tav>
                                      </p:tavLst>
                                    </p:anim>
                                    <p:anim calcmode="lin" valueType="num">
                                      <p:cBhvr additive="base">
                                        <p:cTn id="14" dur="500" fill="hold"/>
                                        <p:tgtEl>
                                          <p:spTgt spid="35328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3284"/>
                                        </p:tgtEl>
                                        <p:attrNameLst>
                                          <p:attrName>style.visibility</p:attrName>
                                        </p:attrNameLst>
                                      </p:cBhvr>
                                      <p:to>
                                        <p:strVal val="visible"/>
                                      </p:to>
                                    </p:set>
                                    <p:anim calcmode="lin" valueType="num">
                                      <p:cBhvr additive="base">
                                        <p:cTn id="19" dur="500" fill="hold"/>
                                        <p:tgtEl>
                                          <p:spTgt spid="353284"/>
                                        </p:tgtEl>
                                        <p:attrNameLst>
                                          <p:attrName>ppt_x</p:attrName>
                                        </p:attrNameLst>
                                      </p:cBhvr>
                                      <p:tavLst>
                                        <p:tav tm="0">
                                          <p:val>
                                            <p:strVal val="#ppt_x"/>
                                          </p:val>
                                        </p:tav>
                                        <p:tav tm="100000">
                                          <p:val>
                                            <p:strVal val="#ppt_x"/>
                                          </p:val>
                                        </p:tav>
                                      </p:tavLst>
                                    </p:anim>
                                    <p:anim calcmode="lin" valueType="num">
                                      <p:cBhvr additive="base">
                                        <p:cTn id="20" dur="500" fill="hold"/>
                                        <p:tgtEl>
                                          <p:spTgt spid="35328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nodeType="clickEffect">
                                  <p:stCondLst>
                                    <p:cond delay="0"/>
                                  </p:stCondLst>
                                  <p:childTnLst>
                                    <p:set>
                                      <p:cBhvr>
                                        <p:cTn id="24" dur="1" fill="hold">
                                          <p:stCondLst>
                                            <p:cond delay="0"/>
                                          </p:stCondLst>
                                        </p:cTn>
                                        <p:tgtEl>
                                          <p:spTgt spid="353291"/>
                                        </p:tgtEl>
                                        <p:attrNameLst>
                                          <p:attrName>style.visibility</p:attrName>
                                        </p:attrNameLst>
                                      </p:cBhvr>
                                      <p:to>
                                        <p:strVal val="visible"/>
                                      </p:to>
                                    </p:set>
                                    <p:anim calcmode="lin" valueType="num">
                                      <p:cBhvr additive="base">
                                        <p:cTn id="25" dur="500" fill="hold"/>
                                        <p:tgtEl>
                                          <p:spTgt spid="353291"/>
                                        </p:tgtEl>
                                        <p:attrNameLst>
                                          <p:attrName>ppt_x</p:attrName>
                                        </p:attrNameLst>
                                      </p:cBhvr>
                                      <p:tavLst>
                                        <p:tav tm="0">
                                          <p:val>
                                            <p:strVal val="1+#ppt_w/2"/>
                                          </p:val>
                                        </p:tav>
                                        <p:tav tm="100000">
                                          <p:val>
                                            <p:strVal val="#ppt_x"/>
                                          </p:val>
                                        </p:tav>
                                      </p:tavLst>
                                    </p:anim>
                                    <p:anim calcmode="lin" valueType="num">
                                      <p:cBhvr additive="base">
                                        <p:cTn id="26" dur="500" fill="hold"/>
                                        <p:tgtEl>
                                          <p:spTgt spid="35329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p:bldP spid="35328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 name="Rectangle 2"/>
          <p:cNvSpPr>
            <a:spLocks noGrp="1" noChangeArrowheads="1"/>
          </p:cNvSpPr>
          <p:nvPr>
            <p:ph type="title"/>
          </p:nvPr>
        </p:nvSpPr>
        <p:spPr>
          <a:xfrm>
            <a:off x="776750" y="276207"/>
            <a:ext cx="9961986" cy="609741"/>
          </a:xfrm>
        </p:spPr>
        <p:txBody>
          <a:bodyPr/>
          <a:lstStyle/>
          <a:p>
            <a:pPr algn="l" eaLnBrk="1" hangingPunct="1"/>
            <a:r>
              <a:rPr lang="zh-CN" altLang="en-US" dirty="0"/>
              <a:t>实例</a:t>
            </a:r>
            <a:r>
              <a:rPr lang="en-US" altLang="zh-CN" dirty="0"/>
              <a:t>(</a:t>
            </a:r>
            <a:r>
              <a:rPr lang="zh-CN" altLang="en-US" dirty="0"/>
              <a:t>续</a:t>
            </a:r>
            <a:r>
              <a:rPr lang="en-US" altLang="zh-CN" dirty="0"/>
              <a:t>3)</a:t>
            </a:r>
          </a:p>
        </p:txBody>
      </p:sp>
      <p:sp>
        <p:nvSpPr>
          <p:cNvPr id="355331" name="Rectangle 3"/>
          <p:cNvSpPr>
            <a:spLocks noGrp="1" noChangeArrowheads="1"/>
          </p:cNvSpPr>
          <p:nvPr>
            <p:ph type="body" sz="half" idx="1"/>
          </p:nvPr>
        </p:nvSpPr>
        <p:spPr>
          <a:xfrm>
            <a:off x="776750" y="3737269"/>
            <a:ext cx="3772773" cy="555754"/>
          </a:xfrm>
        </p:spPr>
        <p:txBody>
          <a:bodyPr>
            <a:normAutofit/>
          </a:bodyPr>
          <a:lstStyle/>
          <a:p>
            <a:pPr eaLnBrk="1" hangingPunct="1">
              <a:lnSpc>
                <a:spcPct val="130000"/>
              </a:lnSpc>
              <a:buFont typeface="Wingdings" pitchFamily="2" charset="2"/>
              <a:buNone/>
            </a:pPr>
            <a:r>
              <a:rPr lang="zh-CN" altLang="en-US"/>
              <a:t>二维概率密度函数</a:t>
            </a:r>
          </a:p>
        </p:txBody>
      </p:sp>
      <p:graphicFrame>
        <p:nvGraphicFramePr>
          <p:cNvPr id="355332" name="Object 4"/>
          <p:cNvGraphicFramePr>
            <a:graphicFrameLocks noGrp="1" noChangeAspect="1"/>
          </p:cNvGraphicFramePr>
          <p:nvPr>
            <p:ph sz="quarter" idx="3"/>
          </p:nvPr>
        </p:nvGraphicFramePr>
        <p:xfrm>
          <a:off x="2541664" y="4288755"/>
          <a:ext cx="6827830" cy="1143265"/>
        </p:xfrm>
        <a:graphic>
          <a:graphicData uri="http://schemas.openxmlformats.org/presentationml/2006/ole">
            <mc:AlternateContent xmlns:mc="http://schemas.openxmlformats.org/markup-compatibility/2006">
              <mc:Choice xmlns:v="urn:schemas-microsoft-com:vml" Requires="v">
                <p:oleObj name="公式" r:id="rId2" imgW="3035160" imgH="507960" progId="Equation.3">
                  <p:embed/>
                </p:oleObj>
              </mc:Choice>
              <mc:Fallback>
                <p:oleObj name="公式" r:id="rId2" imgW="3035160" imgH="507960" progId="Equation.3">
                  <p:embed/>
                  <p:pic>
                    <p:nvPicPr>
                      <p:cNvPr id="35533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1664" y="4288755"/>
                        <a:ext cx="6827830" cy="1143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5333" name="Text Box 5"/>
          <p:cNvSpPr txBox="1">
            <a:spLocks noChangeArrowheads="1"/>
          </p:cNvSpPr>
          <p:nvPr/>
        </p:nvSpPr>
        <p:spPr bwMode="auto">
          <a:xfrm>
            <a:off x="776750" y="5488134"/>
            <a:ext cx="2808937" cy="461665"/>
          </a:xfrm>
          <a:prstGeom prst="rect">
            <a:avLst/>
          </a:prstGeom>
          <a:noFill/>
          <a:ln w="9525">
            <a:noFill/>
            <a:miter lim="800000"/>
            <a:headEnd/>
            <a:tailEnd/>
          </a:ln>
        </p:spPr>
        <p:txBody>
          <a:bodyPr>
            <a:spAutoFit/>
          </a:bodyPr>
          <a:lstStyle/>
          <a:p>
            <a:pPr>
              <a:spcBef>
                <a:spcPct val="50000"/>
              </a:spcBef>
            </a:pPr>
            <a:r>
              <a:rPr lang="zh-CN" altLang="en-US" b="1" dirty="0">
                <a:latin typeface="+mn-ea"/>
              </a:rPr>
              <a:t>二维特征函数</a:t>
            </a:r>
          </a:p>
        </p:txBody>
      </p:sp>
      <p:graphicFrame>
        <p:nvGraphicFramePr>
          <p:cNvPr id="355335" name="Object 7"/>
          <p:cNvGraphicFramePr>
            <a:graphicFrameLocks noGrp="1" noChangeAspect="1"/>
          </p:cNvGraphicFramePr>
          <p:nvPr>
            <p:ph sz="quarter" idx="2"/>
          </p:nvPr>
        </p:nvGraphicFramePr>
        <p:xfrm>
          <a:off x="2517775" y="5771699"/>
          <a:ext cx="6283316" cy="942789"/>
        </p:xfrm>
        <a:graphic>
          <a:graphicData uri="http://schemas.openxmlformats.org/presentationml/2006/ole">
            <mc:AlternateContent xmlns:mc="http://schemas.openxmlformats.org/markup-compatibility/2006">
              <mc:Choice xmlns:v="urn:schemas-microsoft-com:vml" Requires="v">
                <p:oleObj name="公式" r:id="rId4" imgW="2286000" imgH="342720" progId="Equation.3">
                  <p:embed/>
                </p:oleObj>
              </mc:Choice>
              <mc:Fallback>
                <p:oleObj name="公式" r:id="rId4" imgW="2286000" imgH="342720" progId="Equation.3">
                  <p:embed/>
                  <p:pic>
                    <p:nvPicPr>
                      <p:cNvPr id="35533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7775" y="5771699"/>
                        <a:ext cx="6283316" cy="942789"/>
                      </a:xfrm>
                      <a:prstGeom prst="rect">
                        <a:avLst/>
                      </a:prstGeom>
                      <a:noFill/>
                    </p:spPr>
                  </p:pic>
                </p:oleObj>
              </mc:Fallback>
            </mc:AlternateContent>
          </a:graphicData>
        </a:graphic>
      </p:graphicFrame>
      <p:sp>
        <p:nvSpPr>
          <p:cNvPr id="355343" name="Text Box 15"/>
          <p:cNvSpPr txBox="1">
            <a:spLocks noChangeArrowheads="1"/>
          </p:cNvSpPr>
          <p:nvPr/>
        </p:nvSpPr>
        <p:spPr bwMode="auto">
          <a:xfrm>
            <a:off x="6480176" y="1065446"/>
            <a:ext cx="1219200" cy="830997"/>
          </a:xfrm>
          <a:prstGeom prst="rect">
            <a:avLst/>
          </a:prstGeom>
          <a:noFill/>
          <a:ln w="9525">
            <a:noFill/>
            <a:miter lim="800000"/>
            <a:headEnd/>
            <a:tailEnd/>
          </a:ln>
        </p:spPr>
        <p:txBody>
          <a:bodyPr wrap="square">
            <a:spAutoFit/>
          </a:bodyPr>
          <a:lstStyle/>
          <a:p>
            <a:pPr>
              <a:spcBef>
                <a:spcPct val="40000"/>
              </a:spcBef>
            </a:pPr>
            <a:r>
              <a:rPr lang="zh-CN" altLang="en-US" b="1" dirty="0">
                <a:latin typeface="+mn-ea"/>
              </a:rPr>
              <a:t>其	</a:t>
            </a:r>
            <a:endParaRPr lang="en-US" altLang="zh-CN" b="1" dirty="0">
              <a:latin typeface="+mn-ea"/>
            </a:endParaRPr>
          </a:p>
        </p:txBody>
      </p:sp>
      <p:sp>
        <p:nvSpPr>
          <p:cNvPr id="355344" name="Text Box 16"/>
          <p:cNvSpPr txBox="1">
            <a:spLocks noChangeArrowheads="1"/>
          </p:cNvSpPr>
          <p:nvPr/>
        </p:nvSpPr>
        <p:spPr bwMode="auto">
          <a:xfrm>
            <a:off x="776751" y="1067594"/>
            <a:ext cx="5703426" cy="830997"/>
          </a:xfrm>
          <a:prstGeom prst="rect">
            <a:avLst/>
          </a:prstGeom>
          <a:noFill/>
          <a:ln w="9525">
            <a:noFill/>
            <a:miter lim="800000"/>
            <a:headEnd/>
            <a:tailEnd/>
          </a:ln>
        </p:spPr>
        <p:txBody>
          <a:bodyPr wrap="square">
            <a:spAutoFit/>
          </a:bodyPr>
          <a:lstStyle/>
          <a:p>
            <a:pPr>
              <a:spcBef>
                <a:spcPct val="50000"/>
              </a:spcBef>
            </a:pPr>
            <a:r>
              <a:rPr lang="zh-CN" altLang="en-US" b="1" dirty="0">
                <a:latin typeface="+mn-ea"/>
              </a:rPr>
              <a:t>二维概率分布	</a:t>
            </a:r>
            <a:r>
              <a:rPr lang="en-US" altLang="zh-CN" b="1" dirty="0">
                <a:latin typeface="+mn-ea"/>
              </a:rPr>
              <a:t>(X(s),X(t))</a:t>
            </a:r>
            <a:r>
              <a:rPr lang="en-US" altLang="zh-CN" b="1" baseline="30000" dirty="0">
                <a:latin typeface="+mn-ea"/>
              </a:rPr>
              <a:t>T</a:t>
            </a:r>
            <a:r>
              <a:rPr lang="en-US" altLang="zh-CN" b="1" dirty="0">
                <a:latin typeface="+mn-ea"/>
              </a:rPr>
              <a:t>~N(O,C)	</a:t>
            </a:r>
          </a:p>
        </p:txBody>
      </p:sp>
      <p:graphicFrame>
        <p:nvGraphicFramePr>
          <p:cNvPr id="355345" name="Object 17"/>
          <p:cNvGraphicFramePr>
            <a:graphicFrameLocks noChangeAspect="1"/>
          </p:cNvGraphicFramePr>
          <p:nvPr/>
        </p:nvGraphicFramePr>
        <p:xfrm>
          <a:off x="2574740" y="2449772"/>
          <a:ext cx="2824816" cy="1084513"/>
        </p:xfrm>
        <a:graphic>
          <a:graphicData uri="http://schemas.openxmlformats.org/presentationml/2006/ole">
            <mc:AlternateContent xmlns:mc="http://schemas.openxmlformats.org/markup-compatibility/2006">
              <mc:Choice xmlns:v="urn:schemas-microsoft-com:vml" Requires="v">
                <p:oleObj name="公式" r:id="rId6" imgW="1257120" imgH="482400" progId="Equation.3">
                  <p:embed/>
                </p:oleObj>
              </mc:Choice>
              <mc:Fallback>
                <p:oleObj name="公式" r:id="rId6" imgW="1257120" imgH="482400" progId="Equation.3">
                  <p:embed/>
                  <p:pic>
                    <p:nvPicPr>
                      <p:cNvPr id="355345"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4740" y="2449772"/>
                        <a:ext cx="2824816" cy="1084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5346" name="Text Box 18"/>
          <p:cNvSpPr txBox="1">
            <a:spLocks noChangeArrowheads="1"/>
          </p:cNvSpPr>
          <p:nvPr/>
        </p:nvSpPr>
        <p:spPr bwMode="auto">
          <a:xfrm>
            <a:off x="776750" y="2708464"/>
            <a:ext cx="3529829" cy="461665"/>
          </a:xfrm>
          <a:prstGeom prst="rect">
            <a:avLst/>
          </a:prstGeom>
          <a:noFill/>
          <a:ln w="9525">
            <a:noFill/>
            <a:miter lim="800000"/>
            <a:headEnd/>
            <a:tailEnd/>
          </a:ln>
        </p:spPr>
        <p:txBody>
          <a:bodyPr>
            <a:spAutoFit/>
          </a:bodyPr>
          <a:lstStyle/>
          <a:p>
            <a:pPr>
              <a:spcBef>
                <a:spcPct val="40000"/>
              </a:spcBef>
            </a:pPr>
            <a:r>
              <a:rPr lang="zh-CN" altLang="en-US" b="1" dirty="0">
                <a:latin typeface="+mn-ea"/>
              </a:rPr>
              <a:t>协方差阵</a:t>
            </a:r>
          </a:p>
        </p:txBody>
      </p:sp>
      <p:sp>
        <p:nvSpPr>
          <p:cNvPr id="2" name="Text Box 15">
            <a:extLst>
              <a:ext uri="{FF2B5EF4-FFF2-40B4-BE49-F238E27FC236}">
                <a16:creationId xmlns:a16="http://schemas.microsoft.com/office/drawing/2014/main" id="{B9F19E03-F05D-093A-6760-9B6413FEA1C0}"/>
              </a:ext>
            </a:extLst>
          </p:cNvPr>
          <p:cNvSpPr txBox="1">
            <a:spLocks noChangeArrowheads="1"/>
          </p:cNvSpPr>
          <p:nvPr/>
        </p:nvSpPr>
        <p:spPr bwMode="auto">
          <a:xfrm>
            <a:off x="805003" y="1934820"/>
            <a:ext cx="7707509" cy="461665"/>
          </a:xfrm>
          <a:prstGeom prst="rect">
            <a:avLst/>
          </a:prstGeom>
          <a:noFill/>
          <a:ln w="9525">
            <a:noFill/>
            <a:miter lim="800000"/>
            <a:headEnd/>
            <a:tailEnd/>
          </a:ln>
        </p:spPr>
        <p:txBody>
          <a:bodyPr>
            <a:spAutoFit/>
          </a:bodyPr>
          <a:lstStyle/>
          <a:p>
            <a:pPr>
              <a:spcBef>
                <a:spcPct val="40000"/>
              </a:spcBef>
            </a:pPr>
            <a:r>
              <a:rPr lang="zh-CN" altLang="en-US" b="1" dirty="0">
                <a:latin typeface="+mn-ea"/>
              </a:rPr>
              <a:t>均值	     </a:t>
            </a:r>
            <a:r>
              <a:rPr lang="en-US" altLang="zh-CN" b="1" dirty="0">
                <a:latin typeface="+mn-ea"/>
              </a:rPr>
              <a:t>O</a:t>
            </a:r>
            <a:r>
              <a:rPr lang="zh-CN" altLang="en-US" b="1" dirty="0">
                <a:latin typeface="+mn-ea"/>
              </a:rPr>
              <a:t>＝</a:t>
            </a:r>
            <a:r>
              <a:rPr lang="en-US" altLang="zh-CN" b="1" dirty="0">
                <a:latin typeface="+mn-ea"/>
              </a:rPr>
              <a:t>(0,0)</a:t>
            </a:r>
            <a:r>
              <a:rPr lang="en-US" altLang="zh-CN" b="1" baseline="30000" dirty="0">
                <a:latin typeface="+mn-ea"/>
              </a:rPr>
              <a: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55344"/>
                                        </p:tgtEl>
                                        <p:attrNameLst>
                                          <p:attrName>style.visibility</p:attrName>
                                        </p:attrNameLst>
                                      </p:cBhvr>
                                      <p:to>
                                        <p:strVal val="visible"/>
                                      </p:to>
                                    </p:set>
                                    <p:anim calcmode="lin" valueType="num">
                                      <p:cBhvr additive="base">
                                        <p:cTn id="7" dur="500" fill="hold"/>
                                        <p:tgtEl>
                                          <p:spTgt spid="355344"/>
                                        </p:tgtEl>
                                        <p:attrNameLst>
                                          <p:attrName>ppt_x</p:attrName>
                                        </p:attrNameLst>
                                      </p:cBhvr>
                                      <p:tavLst>
                                        <p:tav tm="0">
                                          <p:val>
                                            <p:strVal val="#ppt_x"/>
                                          </p:val>
                                        </p:tav>
                                        <p:tav tm="100000">
                                          <p:val>
                                            <p:strVal val="#ppt_x"/>
                                          </p:val>
                                        </p:tav>
                                      </p:tavLst>
                                    </p:anim>
                                    <p:anim calcmode="lin" valueType="num">
                                      <p:cBhvr additive="base">
                                        <p:cTn id="8" dur="500" fill="hold"/>
                                        <p:tgtEl>
                                          <p:spTgt spid="35534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55343"/>
                                        </p:tgtEl>
                                        <p:attrNameLst>
                                          <p:attrName>style.visibility</p:attrName>
                                        </p:attrNameLst>
                                      </p:cBhvr>
                                      <p:to>
                                        <p:strVal val="visible"/>
                                      </p:to>
                                    </p:set>
                                    <p:anim calcmode="lin" valueType="num">
                                      <p:cBhvr additive="base">
                                        <p:cTn id="12" dur="500" fill="hold"/>
                                        <p:tgtEl>
                                          <p:spTgt spid="355343"/>
                                        </p:tgtEl>
                                        <p:attrNameLst>
                                          <p:attrName>ppt_x</p:attrName>
                                        </p:attrNameLst>
                                      </p:cBhvr>
                                      <p:tavLst>
                                        <p:tav tm="0">
                                          <p:val>
                                            <p:strVal val="#ppt_x"/>
                                          </p:val>
                                        </p:tav>
                                        <p:tav tm="100000">
                                          <p:val>
                                            <p:strVal val="#ppt_x"/>
                                          </p:val>
                                        </p:tav>
                                      </p:tavLst>
                                    </p:anim>
                                    <p:anim calcmode="lin" valueType="num">
                                      <p:cBhvr additive="base">
                                        <p:cTn id="13" dur="500" fill="hold"/>
                                        <p:tgtEl>
                                          <p:spTgt spid="35534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55346"/>
                                        </p:tgtEl>
                                        <p:attrNameLst>
                                          <p:attrName>style.visibility</p:attrName>
                                        </p:attrNameLst>
                                      </p:cBhvr>
                                      <p:to>
                                        <p:strVal val="visible"/>
                                      </p:to>
                                    </p:set>
                                    <p:anim calcmode="lin" valueType="num">
                                      <p:cBhvr additive="base">
                                        <p:cTn id="22" dur="500" fill="hold"/>
                                        <p:tgtEl>
                                          <p:spTgt spid="355346"/>
                                        </p:tgtEl>
                                        <p:attrNameLst>
                                          <p:attrName>ppt_x</p:attrName>
                                        </p:attrNameLst>
                                      </p:cBhvr>
                                      <p:tavLst>
                                        <p:tav tm="0">
                                          <p:val>
                                            <p:strVal val="#ppt_x"/>
                                          </p:val>
                                        </p:tav>
                                        <p:tav tm="100000">
                                          <p:val>
                                            <p:strVal val="#ppt_x"/>
                                          </p:val>
                                        </p:tav>
                                      </p:tavLst>
                                    </p:anim>
                                    <p:anim calcmode="lin" valueType="num">
                                      <p:cBhvr additive="base">
                                        <p:cTn id="23" dur="500" fill="hold"/>
                                        <p:tgtEl>
                                          <p:spTgt spid="355346"/>
                                        </p:tgtEl>
                                        <p:attrNameLst>
                                          <p:attrName>ppt_y</p:attrName>
                                        </p:attrNameLst>
                                      </p:cBhvr>
                                      <p:tavLst>
                                        <p:tav tm="0">
                                          <p:val>
                                            <p:strVal val="1+#ppt_h/2"/>
                                          </p:val>
                                        </p:tav>
                                        <p:tav tm="100000">
                                          <p:val>
                                            <p:strVal val="#ppt_y"/>
                                          </p:val>
                                        </p:tav>
                                      </p:tavLst>
                                    </p:anim>
                                  </p:childTnLst>
                                </p:cTn>
                              </p:par>
                              <p:par>
                                <p:cTn id="24" presetID="2" presetClass="entr" presetSubtype="3" fill="hold" nodeType="withEffect">
                                  <p:stCondLst>
                                    <p:cond delay="0"/>
                                  </p:stCondLst>
                                  <p:childTnLst>
                                    <p:set>
                                      <p:cBhvr>
                                        <p:cTn id="25" dur="1" fill="hold">
                                          <p:stCondLst>
                                            <p:cond delay="0"/>
                                          </p:stCondLst>
                                        </p:cTn>
                                        <p:tgtEl>
                                          <p:spTgt spid="355345"/>
                                        </p:tgtEl>
                                        <p:attrNameLst>
                                          <p:attrName>style.visibility</p:attrName>
                                        </p:attrNameLst>
                                      </p:cBhvr>
                                      <p:to>
                                        <p:strVal val="visible"/>
                                      </p:to>
                                    </p:set>
                                    <p:anim calcmode="lin" valueType="num">
                                      <p:cBhvr additive="base">
                                        <p:cTn id="26" dur="500" fill="hold"/>
                                        <p:tgtEl>
                                          <p:spTgt spid="355345"/>
                                        </p:tgtEl>
                                        <p:attrNameLst>
                                          <p:attrName>ppt_x</p:attrName>
                                        </p:attrNameLst>
                                      </p:cBhvr>
                                      <p:tavLst>
                                        <p:tav tm="0">
                                          <p:val>
                                            <p:strVal val="1+#ppt_w/2"/>
                                          </p:val>
                                        </p:tav>
                                        <p:tav tm="100000">
                                          <p:val>
                                            <p:strVal val="#ppt_x"/>
                                          </p:val>
                                        </p:tav>
                                      </p:tavLst>
                                    </p:anim>
                                    <p:anim calcmode="lin" valueType="num">
                                      <p:cBhvr additive="base">
                                        <p:cTn id="27" dur="500" fill="hold"/>
                                        <p:tgtEl>
                                          <p:spTgt spid="355345"/>
                                        </p:tgtEl>
                                        <p:attrNameLst>
                                          <p:attrName>ppt_y</p:attrName>
                                        </p:attrNameLst>
                                      </p:cBhvr>
                                      <p:tavLst>
                                        <p:tav tm="0">
                                          <p:val>
                                            <p:strVal val="0-#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55331">
                                            <p:txEl>
                                              <p:pRg st="0" end="0"/>
                                            </p:txEl>
                                          </p:spTgt>
                                        </p:tgtEl>
                                        <p:attrNameLst>
                                          <p:attrName>style.visibility</p:attrName>
                                        </p:attrNameLst>
                                      </p:cBhvr>
                                      <p:to>
                                        <p:strVal val="visible"/>
                                      </p:to>
                                    </p:set>
                                    <p:anim calcmode="lin" valueType="num">
                                      <p:cBhvr additive="base">
                                        <p:cTn id="32" dur="500" fill="hold"/>
                                        <p:tgtEl>
                                          <p:spTgt spid="355331">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55331">
                                            <p:txEl>
                                              <p:pRg st="0" end="0"/>
                                            </p:txEl>
                                          </p:spTgt>
                                        </p:tgtEl>
                                        <p:attrNameLst>
                                          <p:attrName>ppt_y</p:attrName>
                                        </p:attrNameLst>
                                      </p:cBhvr>
                                      <p:tavLst>
                                        <p:tav tm="0">
                                          <p:val>
                                            <p:strVal val="1+#ppt_h/2"/>
                                          </p:val>
                                        </p:tav>
                                        <p:tav tm="100000">
                                          <p:val>
                                            <p:strVal val="#ppt_y"/>
                                          </p:val>
                                        </p:tav>
                                      </p:tavLst>
                                    </p:anim>
                                  </p:childTnLst>
                                </p:cTn>
                              </p:par>
                            </p:childTnLst>
                          </p:cTn>
                        </p:par>
                        <p:par>
                          <p:cTn id="34" fill="hold">
                            <p:stCondLst>
                              <p:cond delay="500"/>
                            </p:stCondLst>
                            <p:childTnLst>
                              <p:par>
                                <p:cTn id="35" presetID="2" presetClass="entr" presetSubtype="3" fill="hold" nodeType="afterEffect">
                                  <p:stCondLst>
                                    <p:cond delay="0"/>
                                  </p:stCondLst>
                                  <p:childTnLst>
                                    <p:set>
                                      <p:cBhvr>
                                        <p:cTn id="36" dur="1" fill="hold">
                                          <p:stCondLst>
                                            <p:cond delay="0"/>
                                          </p:stCondLst>
                                        </p:cTn>
                                        <p:tgtEl>
                                          <p:spTgt spid="355332"/>
                                        </p:tgtEl>
                                        <p:attrNameLst>
                                          <p:attrName>style.visibility</p:attrName>
                                        </p:attrNameLst>
                                      </p:cBhvr>
                                      <p:to>
                                        <p:strVal val="visible"/>
                                      </p:to>
                                    </p:set>
                                    <p:anim calcmode="lin" valueType="num">
                                      <p:cBhvr additive="base">
                                        <p:cTn id="37" dur="500" fill="hold"/>
                                        <p:tgtEl>
                                          <p:spTgt spid="355332"/>
                                        </p:tgtEl>
                                        <p:attrNameLst>
                                          <p:attrName>ppt_x</p:attrName>
                                        </p:attrNameLst>
                                      </p:cBhvr>
                                      <p:tavLst>
                                        <p:tav tm="0">
                                          <p:val>
                                            <p:strVal val="1+#ppt_w/2"/>
                                          </p:val>
                                        </p:tav>
                                        <p:tav tm="100000">
                                          <p:val>
                                            <p:strVal val="#ppt_x"/>
                                          </p:val>
                                        </p:tav>
                                      </p:tavLst>
                                    </p:anim>
                                    <p:anim calcmode="lin" valueType="num">
                                      <p:cBhvr additive="base">
                                        <p:cTn id="38" dur="500" fill="hold"/>
                                        <p:tgtEl>
                                          <p:spTgt spid="355332"/>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55333"/>
                                        </p:tgtEl>
                                        <p:attrNameLst>
                                          <p:attrName>style.visibility</p:attrName>
                                        </p:attrNameLst>
                                      </p:cBhvr>
                                      <p:to>
                                        <p:strVal val="visible"/>
                                      </p:to>
                                    </p:set>
                                    <p:anim calcmode="lin" valueType="num">
                                      <p:cBhvr additive="base">
                                        <p:cTn id="43" dur="500" fill="hold"/>
                                        <p:tgtEl>
                                          <p:spTgt spid="355333"/>
                                        </p:tgtEl>
                                        <p:attrNameLst>
                                          <p:attrName>ppt_x</p:attrName>
                                        </p:attrNameLst>
                                      </p:cBhvr>
                                      <p:tavLst>
                                        <p:tav tm="0">
                                          <p:val>
                                            <p:strVal val="#ppt_x"/>
                                          </p:val>
                                        </p:tav>
                                        <p:tav tm="100000">
                                          <p:val>
                                            <p:strVal val="#ppt_x"/>
                                          </p:val>
                                        </p:tav>
                                      </p:tavLst>
                                    </p:anim>
                                    <p:anim calcmode="lin" valueType="num">
                                      <p:cBhvr additive="base">
                                        <p:cTn id="44" dur="500" fill="hold"/>
                                        <p:tgtEl>
                                          <p:spTgt spid="355333"/>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2" presetClass="entr" presetSubtype="3" fill="hold" nodeType="afterEffect">
                                  <p:stCondLst>
                                    <p:cond delay="0"/>
                                  </p:stCondLst>
                                  <p:childTnLst>
                                    <p:set>
                                      <p:cBhvr>
                                        <p:cTn id="47" dur="1" fill="hold">
                                          <p:stCondLst>
                                            <p:cond delay="0"/>
                                          </p:stCondLst>
                                        </p:cTn>
                                        <p:tgtEl>
                                          <p:spTgt spid="355335"/>
                                        </p:tgtEl>
                                        <p:attrNameLst>
                                          <p:attrName>style.visibility</p:attrName>
                                        </p:attrNameLst>
                                      </p:cBhvr>
                                      <p:to>
                                        <p:strVal val="visible"/>
                                      </p:to>
                                    </p:set>
                                    <p:anim calcmode="lin" valueType="num">
                                      <p:cBhvr additive="base">
                                        <p:cTn id="48" dur="500" fill="hold"/>
                                        <p:tgtEl>
                                          <p:spTgt spid="355335"/>
                                        </p:tgtEl>
                                        <p:attrNameLst>
                                          <p:attrName>ppt_x</p:attrName>
                                        </p:attrNameLst>
                                      </p:cBhvr>
                                      <p:tavLst>
                                        <p:tav tm="0">
                                          <p:val>
                                            <p:strVal val="1+#ppt_w/2"/>
                                          </p:val>
                                        </p:tav>
                                        <p:tav tm="100000">
                                          <p:val>
                                            <p:strVal val="#ppt_x"/>
                                          </p:val>
                                        </p:tav>
                                      </p:tavLst>
                                    </p:anim>
                                    <p:anim calcmode="lin" valueType="num">
                                      <p:cBhvr additive="base">
                                        <p:cTn id="49" dur="500" fill="hold"/>
                                        <p:tgtEl>
                                          <p:spTgt spid="35533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p:bldP spid="355333" grpId="0"/>
      <p:bldP spid="355343" grpId="0"/>
      <p:bldP spid="355344" grpId="0"/>
      <p:bldP spid="355346" grpId="0"/>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2" name="Rectangle 12"/>
          <p:cNvSpPr>
            <a:spLocks noGrp="1" noChangeArrowheads="1"/>
          </p:cNvSpPr>
          <p:nvPr>
            <p:ph type="body" sz="half" idx="1"/>
          </p:nvPr>
        </p:nvSpPr>
        <p:spPr>
          <a:xfrm>
            <a:off x="307975" y="839111"/>
            <a:ext cx="4648200" cy="838084"/>
          </a:xfrm>
        </p:spPr>
        <p:txBody>
          <a:bodyPr>
            <a:normAutofit/>
          </a:bodyPr>
          <a:lstStyle/>
          <a:p>
            <a:pPr eaLnBrk="1" hangingPunct="1">
              <a:buFont typeface="Wingdings" pitchFamily="2" charset="2"/>
              <a:buNone/>
            </a:pPr>
            <a:r>
              <a:rPr lang="en-US" altLang="zh-CN" dirty="0"/>
              <a:t>	n</a:t>
            </a:r>
            <a:r>
              <a:rPr lang="zh-CN" altLang="en-US" dirty="0"/>
              <a:t>维概率分布</a:t>
            </a:r>
          </a:p>
        </p:txBody>
      </p:sp>
      <p:graphicFrame>
        <p:nvGraphicFramePr>
          <p:cNvPr id="358411" name="Object 11"/>
          <p:cNvGraphicFramePr>
            <a:graphicFrameLocks noChangeAspect="1"/>
          </p:cNvGraphicFramePr>
          <p:nvPr/>
        </p:nvGraphicFramePr>
        <p:xfrm>
          <a:off x="957403" y="2162303"/>
          <a:ext cx="6449918" cy="1854629"/>
        </p:xfrm>
        <a:graphic>
          <a:graphicData uri="http://schemas.openxmlformats.org/presentationml/2006/ole">
            <mc:AlternateContent xmlns:mc="http://schemas.openxmlformats.org/markup-compatibility/2006">
              <mc:Choice xmlns:v="urn:schemas-microsoft-com:vml" Requires="v">
                <p:oleObj name="公式" r:id="rId2" imgW="3225600" imgH="927000" progId="Equation.3">
                  <p:embed/>
                </p:oleObj>
              </mc:Choice>
              <mc:Fallback>
                <p:oleObj name="公式" r:id="rId2" imgW="3225600" imgH="927000" progId="Equation.3">
                  <p:embed/>
                  <p:pic>
                    <p:nvPicPr>
                      <p:cNvPr id="358411"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403" y="2162303"/>
                        <a:ext cx="6449918" cy="18546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15" name="Object 15"/>
          <p:cNvGraphicFramePr>
            <a:graphicFrameLocks noGrp="1" noChangeAspect="1"/>
          </p:cNvGraphicFramePr>
          <p:nvPr>
            <p:ph sz="half" idx="2"/>
          </p:nvPr>
        </p:nvGraphicFramePr>
        <p:xfrm>
          <a:off x="957403" y="4496594"/>
          <a:ext cx="5587705" cy="1854629"/>
        </p:xfrm>
        <a:graphic>
          <a:graphicData uri="http://schemas.openxmlformats.org/presentationml/2006/ole">
            <mc:AlternateContent xmlns:mc="http://schemas.openxmlformats.org/markup-compatibility/2006">
              <mc:Choice xmlns:v="urn:schemas-microsoft-com:vml" Requires="v">
                <p:oleObj name="公式" r:id="rId4" imgW="2793960" imgH="927000" progId="Equation.3">
                  <p:embed/>
                </p:oleObj>
              </mc:Choice>
              <mc:Fallback>
                <p:oleObj name="公式" r:id="rId4" imgW="2793960" imgH="927000" progId="Equation.3">
                  <p:embed/>
                  <p:pic>
                    <p:nvPicPr>
                      <p:cNvPr id="358415"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403" y="4496594"/>
                        <a:ext cx="5587705" cy="18546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17" name="Object 17"/>
          <p:cNvGraphicFramePr>
            <a:graphicFrameLocks noChangeAspect="1"/>
          </p:cNvGraphicFramePr>
          <p:nvPr/>
        </p:nvGraphicFramePr>
        <p:xfrm>
          <a:off x="6545108" y="4458484"/>
          <a:ext cx="4393630" cy="1930847"/>
        </p:xfrm>
        <a:graphic>
          <a:graphicData uri="http://schemas.openxmlformats.org/presentationml/2006/ole">
            <mc:AlternateContent xmlns:mc="http://schemas.openxmlformats.org/markup-compatibility/2006">
              <mc:Choice xmlns:v="urn:schemas-microsoft-com:vml" Requires="v">
                <p:oleObj name="公式" r:id="rId6" imgW="2197080" imgH="965160" progId="Equation.3">
                  <p:embed/>
                </p:oleObj>
              </mc:Choice>
              <mc:Fallback>
                <p:oleObj name="公式" r:id="rId6" imgW="2197080" imgH="965160" progId="Equation.3">
                  <p:embed/>
                  <p:pic>
                    <p:nvPicPr>
                      <p:cNvPr id="358417"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45108" y="4458484"/>
                        <a:ext cx="4393630" cy="19308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2">
            <a:extLst>
              <a:ext uri="{FF2B5EF4-FFF2-40B4-BE49-F238E27FC236}">
                <a16:creationId xmlns:a16="http://schemas.microsoft.com/office/drawing/2014/main" id="{A46E7B79-78FB-4CE1-8D11-AF29C8DDC7CC}"/>
              </a:ext>
            </a:extLst>
          </p:cNvPr>
          <p:cNvSpPr>
            <a:spLocks noGrp="1" noChangeArrowheads="1"/>
          </p:cNvSpPr>
          <p:nvPr>
            <p:ph type="title"/>
          </p:nvPr>
        </p:nvSpPr>
        <p:spPr>
          <a:xfrm>
            <a:off x="776750" y="276207"/>
            <a:ext cx="9961986" cy="609741"/>
          </a:xfrm>
        </p:spPr>
        <p:txBody>
          <a:bodyPr/>
          <a:lstStyle/>
          <a:p>
            <a:pPr algn="l" eaLnBrk="1" hangingPunct="1"/>
            <a:r>
              <a:rPr lang="zh-CN" altLang="en-US" dirty="0"/>
              <a:t>实例</a:t>
            </a:r>
            <a:r>
              <a:rPr lang="en-US" altLang="zh-CN" dirty="0"/>
              <a:t>(</a:t>
            </a:r>
            <a:r>
              <a:rPr lang="zh-CN" altLang="en-US" dirty="0"/>
              <a:t>续</a:t>
            </a:r>
            <a:r>
              <a:rPr lang="en-US" altLang="zh-CN" dirty="0"/>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58412">
                                            <p:txEl>
                                              <p:pRg st="0" end="0"/>
                                            </p:txEl>
                                          </p:spTgt>
                                        </p:tgtEl>
                                        <p:attrNameLst>
                                          <p:attrName>style.visibility</p:attrName>
                                        </p:attrNameLst>
                                      </p:cBhvr>
                                      <p:to>
                                        <p:strVal val="visible"/>
                                      </p:to>
                                    </p:set>
                                    <p:anim calcmode="lin" valueType="num">
                                      <p:cBhvr additive="base">
                                        <p:cTn id="7" dur="500" fill="hold"/>
                                        <p:tgtEl>
                                          <p:spTgt spid="3584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1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58411"/>
                                        </p:tgtEl>
                                        <p:attrNameLst>
                                          <p:attrName>style.visibility</p:attrName>
                                        </p:attrNameLst>
                                      </p:cBhvr>
                                      <p:to>
                                        <p:strVal val="visible"/>
                                      </p:to>
                                    </p:set>
                                    <p:anim calcmode="lin" valueType="num">
                                      <p:cBhvr additive="base">
                                        <p:cTn id="12" dur="500" fill="hold"/>
                                        <p:tgtEl>
                                          <p:spTgt spid="358411"/>
                                        </p:tgtEl>
                                        <p:attrNameLst>
                                          <p:attrName>ppt_x</p:attrName>
                                        </p:attrNameLst>
                                      </p:cBhvr>
                                      <p:tavLst>
                                        <p:tav tm="0">
                                          <p:val>
                                            <p:strVal val="#ppt_x"/>
                                          </p:val>
                                        </p:tav>
                                        <p:tav tm="100000">
                                          <p:val>
                                            <p:strVal val="#ppt_x"/>
                                          </p:val>
                                        </p:tav>
                                      </p:tavLst>
                                    </p:anim>
                                    <p:anim calcmode="lin" valueType="num">
                                      <p:cBhvr additive="base">
                                        <p:cTn id="13" dur="500" fill="hold"/>
                                        <p:tgtEl>
                                          <p:spTgt spid="358411"/>
                                        </p:tgtEl>
                                        <p:attrNameLst>
                                          <p:attrName>ppt_y</p:attrName>
                                        </p:attrNameLst>
                                      </p:cBhvr>
                                      <p:tavLst>
                                        <p:tav tm="0">
                                          <p:val>
                                            <p:strVal val="1+#ppt_h/2"/>
                                          </p:val>
                                        </p:tav>
                                        <p:tav tm="100000">
                                          <p:val>
                                            <p:strVal val="#ppt_y"/>
                                          </p:val>
                                        </p:tav>
                                      </p:tavLst>
                                    </p:anim>
                                  </p:childTnLst>
                                </p:cTn>
                              </p:par>
                              <p:par>
                                <p:cTn id="14" presetID="2" presetClass="entr" presetSubtype="3" fill="hold" nodeType="withEffect">
                                  <p:stCondLst>
                                    <p:cond delay="0"/>
                                  </p:stCondLst>
                                  <p:childTnLst>
                                    <p:set>
                                      <p:cBhvr>
                                        <p:cTn id="15" dur="1" fill="hold">
                                          <p:stCondLst>
                                            <p:cond delay="0"/>
                                          </p:stCondLst>
                                        </p:cTn>
                                        <p:tgtEl>
                                          <p:spTgt spid="358415"/>
                                        </p:tgtEl>
                                        <p:attrNameLst>
                                          <p:attrName>style.visibility</p:attrName>
                                        </p:attrNameLst>
                                      </p:cBhvr>
                                      <p:to>
                                        <p:strVal val="visible"/>
                                      </p:to>
                                    </p:set>
                                    <p:anim calcmode="lin" valueType="num">
                                      <p:cBhvr additive="base">
                                        <p:cTn id="16" dur="500" fill="hold"/>
                                        <p:tgtEl>
                                          <p:spTgt spid="358415"/>
                                        </p:tgtEl>
                                        <p:attrNameLst>
                                          <p:attrName>ppt_x</p:attrName>
                                        </p:attrNameLst>
                                      </p:cBhvr>
                                      <p:tavLst>
                                        <p:tav tm="0">
                                          <p:val>
                                            <p:strVal val="1+#ppt_w/2"/>
                                          </p:val>
                                        </p:tav>
                                        <p:tav tm="100000">
                                          <p:val>
                                            <p:strVal val="#ppt_x"/>
                                          </p:val>
                                        </p:tav>
                                      </p:tavLst>
                                    </p:anim>
                                    <p:anim calcmode="lin" valueType="num">
                                      <p:cBhvr additive="base">
                                        <p:cTn id="17" dur="500" fill="hold"/>
                                        <p:tgtEl>
                                          <p:spTgt spid="358415"/>
                                        </p:tgtEl>
                                        <p:attrNameLst>
                                          <p:attrName>ppt_y</p:attrName>
                                        </p:attrNameLst>
                                      </p:cBhvr>
                                      <p:tavLst>
                                        <p:tav tm="0">
                                          <p:val>
                                            <p:strVal val="0-#ppt_h/2"/>
                                          </p:val>
                                        </p:tav>
                                        <p:tav tm="100000">
                                          <p:val>
                                            <p:strVal val="#ppt_y"/>
                                          </p:val>
                                        </p:tav>
                                      </p:tavLst>
                                    </p:anim>
                                  </p:childTnLst>
                                </p:cTn>
                              </p:par>
                              <p:par>
                                <p:cTn id="18" presetID="2" presetClass="entr" presetSubtype="3" fill="hold" nodeType="withEffect">
                                  <p:stCondLst>
                                    <p:cond delay="0"/>
                                  </p:stCondLst>
                                  <p:childTnLst>
                                    <p:set>
                                      <p:cBhvr>
                                        <p:cTn id="19" dur="1" fill="hold">
                                          <p:stCondLst>
                                            <p:cond delay="0"/>
                                          </p:stCondLst>
                                        </p:cTn>
                                        <p:tgtEl>
                                          <p:spTgt spid="358417"/>
                                        </p:tgtEl>
                                        <p:attrNameLst>
                                          <p:attrName>style.visibility</p:attrName>
                                        </p:attrNameLst>
                                      </p:cBhvr>
                                      <p:to>
                                        <p:strVal val="visible"/>
                                      </p:to>
                                    </p:set>
                                    <p:anim calcmode="lin" valueType="num">
                                      <p:cBhvr additive="base">
                                        <p:cTn id="20" dur="500" fill="hold"/>
                                        <p:tgtEl>
                                          <p:spTgt spid="358417"/>
                                        </p:tgtEl>
                                        <p:attrNameLst>
                                          <p:attrName>ppt_x</p:attrName>
                                        </p:attrNameLst>
                                      </p:cBhvr>
                                      <p:tavLst>
                                        <p:tav tm="0">
                                          <p:val>
                                            <p:strVal val="1+#ppt_w/2"/>
                                          </p:val>
                                        </p:tav>
                                        <p:tav tm="100000">
                                          <p:val>
                                            <p:strVal val="#ppt_x"/>
                                          </p:val>
                                        </p:tav>
                                      </p:tavLst>
                                    </p:anim>
                                    <p:anim calcmode="lin" valueType="num">
                                      <p:cBhvr additive="base">
                                        <p:cTn id="21" dur="500" fill="hold"/>
                                        <p:tgtEl>
                                          <p:spTgt spid="3584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12"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5" name="Rectangle 3"/>
          <p:cNvSpPr>
            <a:spLocks noGrp="1" noChangeArrowheads="1"/>
          </p:cNvSpPr>
          <p:nvPr>
            <p:ph type="body" sz="half" idx="1"/>
          </p:nvPr>
        </p:nvSpPr>
        <p:spPr>
          <a:xfrm>
            <a:off x="540050" y="1108333"/>
            <a:ext cx="3772773" cy="641498"/>
          </a:xfrm>
        </p:spPr>
        <p:txBody>
          <a:bodyPr>
            <a:normAutofit/>
          </a:bodyPr>
          <a:lstStyle/>
          <a:p>
            <a:pPr eaLnBrk="1" hangingPunct="1">
              <a:lnSpc>
                <a:spcPct val="150000"/>
              </a:lnSpc>
              <a:buFont typeface="Wingdings" pitchFamily="2" charset="2"/>
              <a:buNone/>
            </a:pPr>
            <a:r>
              <a:rPr lang="en-US" altLang="zh-CN" dirty="0"/>
              <a:t>n</a:t>
            </a:r>
            <a:r>
              <a:rPr lang="zh-CN" altLang="en-US" dirty="0"/>
              <a:t>维概率密度函数</a:t>
            </a:r>
          </a:p>
        </p:txBody>
      </p:sp>
      <p:graphicFrame>
        <p:nvGraphicFramePr>
          <p:cNvPr id="361476" name="Object 4"/>
          <p:cNvGraphicFramePr>
            <a:graphicFrameLocks noChangeAspect="1"/>
          </p:cNvGraphicFramePr>
          <p:nvPr/>
        </p:nvGraphicFramePr>
        <p:xfrm>
          <a:off x="987789" y="2485011"/>
          <a:ext cx="4769954" cy="571632"/>
        </p:xfrm>
        <a:graphic>
          <a:graphicData uri="http://schemas.openxmlformats.org/presentationml/2006/ole">
            <mc:AlternateContent xmlns:mc="http://schemas.openxmlformats.org/markup-compatibility/2006">
              <mc:Choice xmlns:v="urn:schemas-microsoft-com:vml" Requires="v">
                <p:oleObj name="公式" r:id="rId2" imgW="2120760" imgH="253800" progId="Equation.3">
                  <p:embed/>
                </p:oleObj>
              </mc:Choice>
              <mc:Fallback>
                <p:oleObj name="公式" r:id="rId2" imgW="2120760" imgH="253800" progId="Equation.3">
                  <p:embed/>
                  <p:pic>
                    <p:nvPicPr>
                      <p:cNvPr id="36147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789" y="2485011"/>
                        <a:ext cx="4769954"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1477" name="Object 5"/>
          <p:cNvGraphicFramePr>
            <a:graphicFrameLocks noChangeAspect="1"/>
          </p:cNvGraphicFramePr>
          <p:nvPr/>
        </p:nvGraphicFramePr>
        <p:xfrm>
          <a:off x="987789" y="5109563"/>
          <a:ext cx="4912862" cy="571632"/>
        </p:xfrm>
        <a:graphic>
          <a:graphicData uri="http://schemas.openxmlformats.org/presentationml/2006/ole">
            <mc:AlternateContent xmlns:mc="http://schemas.openxmlformats.org/markup-compatibility/2006">
              <mc:Choice xmlns:v="urn:schemas-microsoft-com:vml" Requires="v">
                <p:oleObj name="公式" r:id="rId4" imgW="2184120" imgH="253800" progId="Equation.3">
                  <p:embed/>
                </p:oleObj>
              </mc:Choice>
              <mc:Fallback>
                <p:oleObj name="公式" r:id="rId4" imgW="2184120" imgH="253800" progId="Equation.3">
                  <p:embed/>
                  <p:pic>
                    <p:nvPicPr>
                      <p:cNvPr id="36147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7789" y="5109563"/>
                        <a:ext cx="4912862"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1478" name="Object 6"/>
          <p:cNvGraphicFramePr>
            <a:graphicFrameLocks noChangeAspect="1"/>
          </p:cNvGraphicFramePr>
          <p:nvPr/>
        </p:nvGraphicFramePr>
        <p:xfrm>
          <a:off x="5757743" y="1749831"/>
          <a:ext cx="4455556" cy="2086458"/>
        </p:xfrm>
        <a:graphic>
          <a:graphicData uri="http://schemas.openxmlformats.org/presentationml/2006/ole">
            <mc:AlternateContent xmlns:mc="http://schemas.openxmlformats.org/markup-compatibility/2006">
              <mc:Choice xmlns:v="urn:schemas-microsoft-com:vml" Requires="v">
                <p:oleObj name="公式" r:id="rId6" imgW="1981080" imgH="927000" progId="Equation.3">
                  <p:embed/>
                </p:oleObj>
              </mc:Choice>
              <mc:Fallback>
                <p:oleObj name="公式" r:id="rId6" imgW="1981080" imgH="927000" progId="Equation.3">
                  <p:embed/>
                  <p:pic>
                    <p:nvPicPr>
                      <p:cNvPr id="36147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57743" y="1749831"/>
                        <a:ext cx="4455556" cy="2086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1479" name="Object 7"/>
          <p:cNvGraphicFramePr>
            <a:graphicFrameLocks noChangeAspect="1"/>
          </p:cNvGraphicFramePr>
          <p:nvPr/>
        </p:nvGraphicFramePr>
        <p:xfrm>
          <a:off x="6065697" y="4387137"/>
          <a:ext cx="2885156" cy="2086458"/>
        </p:xfrm>
        <a:graphic>
          <a:graphicData uri="http://schemas.openxmlformats.org/presentationml/2006/ole">
            <mc:AlternateContent xmlns:mc="http://schemas.openxmlformats.org/markup-compatibility/2006">
              <mc:Choice xmlns:v="urn:schemas-microsoft-com:vml" Requires="v">
                <p:oleObj name="公式" r:id="rId8" imgW="1282680" imgH="927000" progId="Equation.3">
                  <p:embed/>
                </p:oleObj>
              </mc:Choice>
              <mc:Fallback>
                <p:oleObj name="公式" r:id="rId8" imgW="1282680" imgH="927000" progId="Equation.3">
                  <p:embed/>
                  <p:pic>
                    <p:nvPicPr>
                      <p:cNvPr id="36147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65697" y="4387137"/>
                        <a:ext cx="2885156" cy="2086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1480" name="Rectangle 8"/>
          <p:cNvSpPr>
            <a:spLocks noChangeArrowheads="1"/>
          </p:cNvSpPr>
          <p:nvPr/>
        </p:nvSpPr>
        <p:spPr bwMode="auto">
          <a:xfrm>
            <a:off x="584511" y="3802945"/>
            <a:ext cx="2161088" cy="571823"/>
          </a:xfrm>
          <a:prstGeom prst="rect">
            <a:avLst/>
          </a:prstGeom>
          <a:noFill/>
          <a:ln w="9525">
            <a:noFill/>
            <a:miter lim="800000"/>
            <a:headEnd/>
            <a:tailEnd/>
          </a:ln>
        </p:spPr>
        <p:txBody>
          <a:bodyPr lIns="0" tIns="0" rIns="0" bIns="0">
            <a:spAutoFit/>
          </a:bodyPr>
          <a:lstStyle/>
          <a:p>
            <a:pPr marL="533507" indent="-533507">
              <a:lnSpc>
                <a:spcPct val="180000"/>
              </a:lnSpc>
              <a:spcBef>
                <a:spcPct val="70000"/>
              </a:spcBef>
              <a:buClr>
                <a:srgbClr val="00FF00"/>
              </a:buClr>
            </a:pPr>
            <a:r>
              <a:rPr lang="en-US" altLang="zh-CN" b="1" dirty="0">
                <a:latin typeface="+mn-ea"/>
              </a:rPr>
              <a:t>n</a:t>
            </a:r>
            <a:r>
              <a:rPr lang="zh-CN" altLang="en-US" b="1" dirty="0">
                <a:latin typeface="+mn-ea"/>
              </a:rPr>
              <a:t>维特征函数</a:t>
            </a:r>
          </a:p>
        </p:txBody>
      </p:sp>
      <p:sp>
        <p:nvSpPr>
          <p:cNvPr id="4" name="Rectangle 2">
            <a:extLst>
              <a:ext uri="{FF2B5EF4-FFF2-40B4-BE49-F238E27FC236}">
                <a16:creationId xmlns:a16="http://schemas.microsoft.com/office/drawing/2014/main" id="{C99D8BC2-594F-9476-CFEC-D996F6EA4096}"/>
              </a:ext>
            </a:extLst>
          </p:cNvPr>
          <p:cNvSpPr>
            <a:spLocks noGrp="1" noChangeArrowheads="1"/>
          </p:cNvSpPr>
          <p:nvPr>
            <p:ph type="title"/>
          </p:nvPr>
        </p:nvSpPr>
        <p:spPr>
          <a:xfrm>
            <a:off x="776750" y="276207"/>
            <a:ext cx="9961986" cy="609741"/>
          </a:xfrm>
        </p:spPr>
        <p:txBody>
          <a:bodyPr/>
          <a:lstStyle/>
          <a:p>
            <a:pPr algn="l" eaLnBrk="1" hangingPunct="1"/>
            <a:r>
              <a:rPr lang="zh-CN" altLang="en-US" dirty="0"/>
              <a:t>实例</a:t>
            </a:r>
            <a:r>
              <a:rPr lang="en-US" altLang="zh-CN" dirty="0"/>
              <a:t>(</a:t>
            </a:r>
            <a:r>
              <a:rPr lang="zh-CN" altLang="en-US" dirty="0"/>
              <a:t>续</a:t>
            </a:r>
            <a:r>
              <a:rPr lang="en-US" altLang="zh-CN" dirty="0"/>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1475">
                                            <p:txEl>
                                              <p:pRg st="0" end="0"/>
                                            </p:txEl>
                                          </p:spTgt>
                                        </p:tgtEl>
                                        <p:attrNameLst>
                                          <p:attrName>style.visibility</p:attrName>
                                        </p:attrNameLst>
                                      </p:cBhvr>
                                      <p:to>
                                        <p:strVal val="visible"/>
                                      </p:to>
                                    </p:set>
                                    <p:anim calcmode="lin" valueType="num">
                                      <p:cBhvr additive="base">
                                        <p:cTn id="7" dur="500" fill="hold"/>
                                        <p:tgtEl>
                                          <p:spTgt spid="3614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147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3" fill="hold" nodeType="afterEffect">
                                  <p:stCondLst>
                                    <p:cond delay="0"/>
                                  </p:stCondLst>
                                  <p:childTnLst>
                                    <p:set>
                                      <p:cBhvr>
                                        <p:cTn id="11" dur="1" fill="hold">
                                          <p:stCondLst>
                                            <p:cond delay="0"/>
                                          </p:stCondLst>
                                        </p:cTn>
                                        <p:tgtEl>
                                          <p:spTgt spid="361476"/>
                                        </p:tgtEl>
                                        <p:attrNameLst>
                                          <p:attrName>style.visibility</p:attrName>
                                        </p:attrNameLst>
                                      </p:cBhvr>
                                      <p:to>
                                        <p:strVal val="visible"/>
                                      </p:to>
                                    </p:set>
                                    <p:anim calcmode="lin" valueType="num">
                                      <p:cBhvr additive="base">
                                        <p:cTn id="12" dur="500" fill="hold"/>
                                        <p:tgtEl>
                                          <p:spTgt spid="361476"/>
                                        </p:tgtEl>
                                        <p:attrNameLst>
                                          <p:attrName>ppt_x</p:attrName>
                                        </p:attrNameLst>
                                      </p:cBhvr>
                                      <p:tavLst>
                                        <p:tav tm="0">
                                          <p:val>
                                            <p:strVal val="1+#ppt_w/2"/>
                                          </p:val>
                                        </p:tav>
                                        <p:tav tm="100000">
                                          <p:val>
                                            <p:strVal val="#ppt_x"/>
                                          </p:val>
                                        </p:tav>
                                      </p:tavLst>
                                    </p:anim>
                                    <p:anim calcmode="lin" valueType="num">
                                      <p:cBhvr additive="base">
                                        <p:cTn id="13" dur="500" fill="hold"/>
                                        <p:tgtEl>
                                          <p:spTgt spid="361476"/>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3" fill="hold" nodeType="afterEffect">
                                  <p:stCondLst>
                                    <p:cond delay="0"/>
                                  </p:stCondLst>
                                  <p:childTnLst>
                                    <p:set>
                                      <p:cBhvr>
                                        <p:cTn id="16" dur="1" fill="hold">
                                          <p:stCondLst>
                                            <p:cond delay="0"/>
                                          </p:stCondLst>
                                        </p:cTn>
                                        <p:tgtEl>
                                          <p:spTgt spid="361478"/>
                                        </p:tgtEl>
                                        <p:attrNameLst>
                                          <p:attrName>style.visibility</p:attrName>
                                        </p:attrNameLst>
                                      </p:cBhvr>
                                      <p:to>
                                        <p:strVal val="visible"/>
                                      </p:to>
                                    </p:set>
                                    <p:anim calcmode="lin" valueType="num">
                                      <p:cBhvr additive="base">
                                        <p:cTn id="17" dur="500" fill="hold"/>
                                        <p:tgtEl>
                                          <p:spTgt spid="361478"/>
                                        </p:tgtEl>
                                        <p:attrNameLst>
                                          <p:attrName>ppt_x</p:attrName>
                                        </p:attrNameLst>
                                      </p:cBhvr>
                                      <p:tavLst>
                                        <p:tav tm="0">
                                          <p:val>
                                            <p:strVal val="1+#ppt_w/2"/>
                                          </p:val>
                                        </p:tav>
                                        <p:tav tm="100000">
                                          <p:val>
                                            <p:strVal val="#ppt_x"/>
                                          </p:val>
                                        </p:tav>
                                      </p:tavLst>
                                    </p:anim>
                                    <p:anim calcmode="lin" valueType="num">
                                      <p:cBhvr additive="base">
                                        <p:cTn id="18" dur="500" fill="hold"/>
                                        <p:tgtEl>
                                          <p:spTgt spid="361478"/>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61480">
                                            <p:txEl>
                                              <p:pRg st="0" end="0"/>
                                            </p:txEl>
                                          </p:spTgt>
                                        </p:tgtEl>
                                        <p:attrNameLst>
                                          <p:attrName>style.visibility</p:attrName>
                                        </p:attrNameLst>
                                      </p:cBhvr>
                                      <p:to>
                                        <p:strVal val="visible"/>
                                      </p:to>
                                    </p:set>
                                    <p:anim calcmode="lin" valueType="num">
                                      <p:cBhvr additive="base">
                                        <p:cTn id="23" dur="500" fill="hold"/>
                                        <p:tgtEl>
                                          <p:spTgt spid="36148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1480">
                                            <p:txEl>
                                              <p:pRg st="0" end="0"/>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3" fill="hold" nodeType="afterEffect">
                                  <p:stCondLst>
                                    <p:cond delay="0"/>
                                  </p:stCondLst>
                                  <p:childTnLst>
                                    <p:set>
                                      <p:cBhvr>
                                        <p:cTn id="27" dur="1" fill="hold">
                                          <p:stCondLst>
                                            <p:cond delay="0"/>
                                          </p:stCondLst>
                                        </p:cTn>
                                        <p:tgtEl>
                                          <p:spTgt spid="361477"/>
                                        </p:tgtEl>
                                        <p:attrNameLst>
                                          <p:attrName>style.visibility</p:attrName>
                                        </p:attrNameLst>
                                      </p:cBhvr>
                                      <p:to>
                                        <p:strVal val="visible"/>
                                      </p:to>
                                    </p:set>
                                    <p:anim calcmode="lin" valueType="num">
                                      <p:cBhvr additive="base">
                                        <p:cTn id="28" dur="500" fill="hold"/>
                                        <p:tgtEl>
                                          <p:spTgt spid="361477"/>
                                        </p:tgtEl>
                                        <p:attrNameLst>
                                          <p:attrName>ppt_x</p:attrName>
                                        </p:attrNameLst>
                                      </p:cBhvr>
                                      <p:tavLst>
                                        <p:tav tm="0">
                                          <p:val>
                                            <p:strVal val="1+#ppt_w/2"/>
                                          </p:val>
                                        </p:tav>
                                        <p:tav tm="100000">
                                          <p:val>
                                            <p:strVal val="#ppt_x"/>
                                          </p:val>
                                        </p:tav>
                                      </p:tavLst>
                                    </p:anim>
                                    <p:anim calcmode="lin" valueType="num">
                                      <p:cBhvr additive="base">
                                        <p:cTn id="29" dur="500" fill="hold"/>
                                        <p:tgtEl>
                                          <p:spTgt spid="361477"/>
                                        </p:tgtEl>
                                        <p:attrNameLst>
                                          <p:attrName>ppt_y</p:attrName>
                                        </p:attrNameLst>
                                      </p:cBhvr>
                                      <p:tavLst>
                                        <p:tav tm="0">
                                          <p:val>
                                            <p:strVal val="0-#ppt_h/2"/>
                                          </p:val>
                                        </p:tav>
                                        <p:tav tm="100000">
                                          <p:val>
                                            <p:strVal val="#ppt_y"/>
                                          </p:val>
                                        </p:tav>
                                      </p:tavLst>
                                    </p:anim>
                                  </p:childTnLst>
                                </p:cTn>
                              </p:par>
                            </p:childTnLst>
                          </p:cTn>
                        </p:par>
                        <p:par>
                          <p:cTn id="30" fill="hold">
                            <p:stCondLst>
                              <p:cond delay="1000"/>
                            </p:stCondLst>
                            <p:childTnLst>
                              <p:par>
                                <p:cTn id="31" presetID="2" presetClass="entr" presetSubtype="3" fill="hold" nodeType="afterEffect">
                                  <p:stCondLst>
                                    <p:cond delay="0"/>
                                  </p:stCondLst>
                                  <p:childTnLst>
                                    <p:set>
                                      <p:cBhvr>
                                        <p:cTn id="32" dur="1" fill="hold">
                                          <p:stCondLst>
                                            <p:cond delay="0"/>
                                          </p:stCondLst>
                                        </p:cTn>
                                        <p:tgtEl>
                                          <p:spTgt spid="361479"/>
                                        </p:tgtEl>
                                        <p:attrNameLst>
                                          <p:attrName>style.visibility</p:attrName>
                                        </p:attrNameLst>
                                      </p:cBhvr>
                                      <p:to>
                                        <p:strVal val="visible"/>
                                      </p:to>
                                    </p:set>
                                    <p:anim calcmode="lin" valueType="num">
                                      <p:cBhvr additive="base">
                                        <p:cTn id="33" dur="500" fill="hold"/>
                                        <p:tgtEl>
                                          <p:spTgt spid="361479"/>
                                        </p:tgtEl>
                                        <p:attrNameLst>
                                          <p:attrName>ppt_x</p:attrName>
                                        </p:attrNameLst>
                                      </p:cBhvr>
                                      <p:tavLst>
                                        <p:tav tm="0">
                                          <p:val>
                                            <p:strVal val="1+#ppt_w/2"/>
                                          </p:val>
                                        </p:tav>
                                        <p:tav tm="100000">
                                          <p:val>
                                            <p:strVal val="#ppt_x"/>
                                          </p:val>
                                        </p:tav>
                                      </p:tavLst>
                                    </p:anim>
                                    <p:anim calcmode="lin" valueType="num">
                                      <p:cBhvr additive="base">
                                        <p:cTn id="34" dur="500" fill="hold"/>
                                        <p:tgtEl>
                                          <p:spTgt spid="3614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build="p"/>
      <p:bldP spid="361480"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ChangeArrowheads="1"/>
          </p:cNvSpPr>
          <p:nvPr>
            <p:ph type="title"/>
          </p:nvPr>
        </p:nvSpPr>
        <p:spPr/>
        <p:txBody>
          <a:bodyPr/>
          <a:lstStyle/>
          <a:p>
            <a:pPr eaLnBrk="1" hangingPunct="1"/>
            <a:r>
              <a:rPr lang="en-US" altLang="zh-CN"/>
              <a:t>4. </a:t>
            </a:r>
            <a:r>
              <a:rPr lang="zh-CN" altLang="en-US"/>
              <a:t>维纳过程</a:t>
            </a:r>
            <a:r>
              <a:rPr lang="en-US" altLang="zh-CN"/>
              <a:t>(Brown</a:t>
            </a:r>
            <a:r>
              <a:rPr lang="zh-CN" altLang="en-US"/>
              <a:t>运动</a:t>
            </a:r>
            <a:r>
              <a:rPr lang="en-US" altLang="zh-CN"/>
              <a:t>)</a:t>
            </a:r>
          </a:p>
        </p:txBody>
      </p:sp>
      <p:sp>
        <p:nvSpPr>
          <p:cNvPr id="363523" name="Rectangle 3"/>
          <p:cNvSpPr>
            <a:spLocks noGrp="1" noChangeArrowheads="1"/>
          </p:cNvSpPr>
          <p:nvPr>
            <p:ph type="body" idx="1"/>
          </p:nvPr>
        </p:nvSpPr>
        <p:spPr>
          <a:xfrm>
            <a:off x="612775" y="1448594"/>
            <a:ext cx="10972800" cy="4876800"/>
          </a:xfrm>
        </p:spPr>
        <p:txBody>
          <a:bodyPr>
            <a:normAutofit/>
          </a:bodyPr>
          <a:lstStyle/>
          <a:p>
            <a:pPr eaLnBrk="1" hangingPunct="1">
              <a:buFont typeface="Wingdings" pitchFamily="2" charset="2"/>
              <a:buNone/>
            </a:pPr>
            <a:r>
              <a:rPr lang="en-US" altLang="zh-CN" dirty="0"/>
              <a:t> </a:t>
            </a:r>
            <a:r>
              <a:rPr lang="zh-CN" altLang="en-US" kern="0" dirty="0"/>
              <a:t>英国植物学家</a:t>
            </a:r>
            <a:r>
              <a:rPr lang="en-US" altLang="zh-CN" kern="0" dirty="0"/>
              <a:t>Brown</a:t>
            </a:r>
            <a:r>
              <a:rPr lang="zh-CN" altLang="en-US" kern="0" dirty="0"/>
              <a:t>于</a:t>
            </a:r>
            <a:r>
              <a:rPr lang="en-US" altLang="zh-CN" kern="0" dirty="0"/>
              <a:t>1827</a:t>
            </a:r>
            <a:r>
              <a:rPr lang="zh-CN" altLang="en-US" kern="0" dirty="0"/>
              <a:t>年观察到悬浮于液体中的花粉微粒的运动是非常不</a:t>
            </a:r>
            <a:endParaRPr lang="en-US" altLang="zh-CN" kern="0" dirty="0"/>
          </a:p>
          <a:p>
            <a:pPr eaLnBrk="1" hangingPunct="1">
              <a:buFont typeface="Wingdings" pitchFamily="2" charset="2"/>
              <a:buNone/>
            </a:pPr>
            <a:r>
              <a:rPr lang="zh-CN" altLang="en-US" kern="0" dirty="0"/>
              <a:t>规则的，后人把这种运动称为</a:t>
            </a:r>
            <a:r>
              <a:rPr lang="en-US" altLang="zh-CN" kern="0" dirty="0"/>
              <a:t>Brown</a:t>
            </a:r>
            <a:r>
              <a:rPr lang="zh-CN" altLang="en-US" kern="0" dirty="0"/>
              <a:t>运动。</a:t>
            </a:r>
            <a:r>
              <a:rPr lang="en-US" altLang="zh-CN" kern="0" dirty="0"/>
              <a:t>1918</a:t>
            </a:r>
            <a:r>
              <a:rPr lang="zh-CN" altLang="en-US" kern="0" dirty="0"/>
              <a:t>年，</a:t>
            </a:r>
            <a:r>
              <a:rPr lang="en-US" altLang="zh-CN" kern="0" dirty="0"/>
              <a:t>Wiener</a:t>
            </a:r>
            <a:r>
              <a:rPr lang="zh-CN" altLang="en-US" kern="0" dirty="0"/>
              <a:t>提出了</a:t>
            </a:r>
            <a:r>
              <a:rPr lang="en-US" altLang="zh-CN" kern="0" dirty="0"/>
              <a:t>Brown</a:t>
            </a:r>
            <a:r>
              <a:rPr lang="zh-CN" altLang="en-US" kern="0" dirty="0"/>
              <a:t>运</a:t>
            </a:r>
            <a:endParaRPr lang="en-US" altLang="zh-CN" kern="0" dirty="0"/>
          </a:p>
          <a:p>
            <a:pPr eaLnBrk="1" hangingPunct="1">
              <a:buFont typeface="Wingdings" pitchFamily="2" charset="2"/>
              <a:buNone/>
            </a:pPr>
            <a:r>
              <a:rPr lang="zh-CN" altLang="en-US" kern="0" dirty="0"/>
              <a:t>动的精确数学公式，所以</a:t>
            </a:r>
            <a:r>
              <a:rPr lang="en-US" altLang="zh-CN" kern="0" dirty="0"/>
              <a:t>Brown</a:t>
            </a:r>
            <a:r>
              <a:rPr lang="zh-CN" altLang="en-US" kern="0" dirty="0"/>
              <a:t>运动又称为</a:t>
            </a:r>
            <a:r>
              <a:rPr lang="en-US" altLang="zh-CN" kern="0" dirty="0"/>
              <a:t>Wiener</a:t>
            </a:r>
            <a:r>
              <a:rPr lang="zh-CN" altLang="en-US" kern="0" dirty="0"/>
              <a:t>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fill="hold"/>
                                        <p:tgtEl>
                                          <p:spTgt spid="363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352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63523">
                                            <p:txEl>
                                              <p:pRg st="1" end="1"/>
                                            </p:txEl>
                                          </p:spTgt>
                                        </p:tgtEl>
                                        <p:attrNameLst>
                                          <p:attrName>style.visibility</p:attrName>
                                        </p:attrNameLst>
                                      </p:cBhvr>
                                      <p:to>
                                        <p:strVal val="visible"/>
                                      </p:to>
                                    </p:set>
                                    <p:anim calcmode="lin" valueType="num">
                                      <p:cBhvr additive="base">
                                        <p:cTn id="12" dur="500" fill="hold"/>
                                        <p:tgtEl>
                                          <p:spTgt spid="36352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6352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63523">
                                            <p:txEl>
                                              <p:pRg st="2" end="2"/>
                                            </p:txEl>
                                          </p:spTgt>
                                        </p:tgtEl>
                                        <p:attrNameLst>
                                          <p:attrName>style.visibility</p:attrName>
                                        </p:attrNameLst>
                                      </p:cBhvr>
                                      <p:to>
                                        <p:strVal val="visible"/>
                                      </p:to>
                                    </p:set>
                                    <p:anim calcmode="lin" valueType="num">
                                      <p:cBhvr additive="base">
                                        <p:cTn id="17" dur="500" fill="hold"/>
                                        <p:tgtEl>
                                          <p:spTgt spid="36352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35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ChangeArrowheads="1"/>
          </p:cNvSpPr>
          <p:nvPr>
            <p:ph type="title"/>
          </p:nvPr>
        </p:nvSpPr>
        <p:spPr/>
        <p:txBody>
          <a:bodyPr/>
          <a:lstStyle/>
          <a:p>
            <a:pPr eaLnBrk="1" hangingPunct="1"/>
            <a:r>
              <a:rPr lang="zh-CN" altLang="en-US"/>
              <a:t>维纳过程的定义</a:t>
            </a:r>
          </a:p>
        </p:txBody>
      </p:sp>
      <p:sp>
        <p:nvSpPr>
          <p:cNvPr id="364547" name="Rectangle 3"/>
          <p:cNvSpPr>
            <a:spLocks noGrp="1" noChangeArrowheads="1"/>
          </p:cNvSpPr>
          <p:nvPr>
            <p:ph type="body" idx="1"/>
          </p:nvPr>
        </p:nvSpPr>
        <p:spPr>
          <a:xfrm>
            <a:off x="355600" y="866143"/>
            <a:ext cx="11506200" cy="4621051"/>
          </a:xfrm>
        </p:spPr>
        <p:txBody>
          <a:bodyPr>
            <a:normAutofit/>
          </a:bodyPr>
          <a:lstStyle/>
          <a:p>
            <a:pPr eaLnBrk="1" hangingPunct="1">
              <a:buFont typeface="Wingdings" pitchFamily="2" charset="2"/>
              <a:buNone/>
            </a:pPr>
            <a:r>
              <a:rPr lang="en-US" altLang="zh-CN" dirty="0"/>
              <a:t>	</a:t>
            </a:r>
            <a:r>
              <a:rPr lang="zh-CN" altLang="en-US" dirty="0"/>
              <a:t>如果随机过程</a:t>
            </a:r>
            <a:r>
              <a:rPr lang="en-US" altLang="zh-CN" dirty="0"/>
              <a:t>{W(t),t</a:t>
            </a:r>
            <a:r>
              <a:rPr lang="en-US" altLang="en-US" dirty="0">
                <a:sym typeface="Symbol" pitchFamily="18" charset="2"/>
              </a:rPr>
              <a:t>≥</a:t>
            </a:r>
            <a:r>
              <a:rPr lang="en-US" altLang="zh-CN" dirty="0">
                <a:sym typeface="Symbol" pitchFamily="18" charset="2"/>
              </a:rPr>
              <a:t>0}</a:t>
            </a:r>
            <a:r>
              <a:rPr lang="zh-CN" altLang="en-US" dirty="0">
                <a:sym typeface="Symbol" pitchFamily="18" charset="2"/>
              </a:rPr>
              <a:t>满足下列条件：</a:t>
            </a:r>
          </a:p>
          <a:p>
            <a:pPr lvl="2" eaLnBrk="1" hangingPunct="1">
              <a:buClr>
                <a:srgbClr val="6600CC"/>
              </a:buClr>
              <a:buFontTx/>
              <a:buAutoNum type="arabicParenBoth"/>
            </a:pPr>
            <a:r>
              <a:rPr lang="en-US" altLang="zh-CN" dirty="0">
                <a:sym typeface="Symbol" pitchFamily="18" charset="2"/>
              </a:rPr>
              <a:t>W(0)</a:t>
            </a:r>
            <a:r>
              <a:rPr lang="zh-CN" altLang="en-US" dirty="0">
                <a:sym typeface="Symbol" pitchFamily="18" charset="2"/>
              </a:rPr>
              <a:t>＝</a:t>
            </a:r>
            <a:r>
              <a:rPr lang="en-US" altLang="zh-CN" dirty="0">
                <a:sym typeface="Symbol" pitchFamily="18" charset="2"/>
              </a:rPr>
              <a:t>0</a:t>
            </a:r>
            <a:r>
              <a:rPr lang="zh-CN" altLang="en-US" dirty="0">
                <a:sym typeface="Symbol" pitchFamily="18" charset="2"/>
              </a:rPr>
              <a:t>；</a:t>
            </a:r>
          </a:p>
          <a:p>
            <a:pPr lvl="2" eaLnBrk="1" hangingPunct="1">
              <a:buClr>
                <a:srgbClr val="6600CC"/>
              </a:buClr>
              <a:buFontTx/>
              <a:buAutoNum type="arabicParenBoth"/>
            </a:pPr>
            <a:r>
              <a:rPr lang="en-US" altLang="zh-CN" dirty="0">
                <a:sym typeface="Symbol" pitchFamily="18" charset="2"/>
              </a:rPr>
              <a:t>E[W(t)]</a:t>
            </a:r>
            <a:r>
              <a:rPr lang="zh-CN" altLang="en-US" dirty="0">
                <a:sym typeface="Symbol" pitchFamily="18" charset="2"/>
              </a:rPr>
              <a:t>＝</a:t>
            </a:r>
            <a:r>
              <a:rPr lang="en-US" altLang="zh-CN" dirty="0">
                <a:sym typeface="Symbol" pitchFamily="18" charset="2"/>
              </a:rPr>
              <a:t>0</a:t>
            </a:r>
            <a:r>
              <a:rPr lang="zh-CN" altLang="en-US" dirty="0">
                <a:sym typeface="Symbol" pitchFamily="18" charset="2"/>
              </a:rPr>
              <a:t>；</a:t>
            </a:r>
          </a:p>
          <a:p>
            <a:pPr lvl="2" eaLnBrk="1" hangingPunct="1">
              <a:buClr>
                <a:srgbClr val="6600CC"/>
              </a:buClr>
              <a:buFontTx/>
              <a:buAutoNum type="arabicParenBoth"/>
            </a:pPr>
            <a:r>
              <a:rPr lang="zh-CN" altLang="en-US" dirty="0">
                <a:sym typeface="Symbol" pitchFamily="18" charset="2"/>
              </a:rPr>
              <a:t>具有平稳独立增量；</a:t>
            </a:r>
          </a:p>
          <a:p>
            <a:pPr lvl="2" eaLnBrk="1" hangingPunct="1">
              <a:buClr>
                <a:srgbClr val="6600CC"/>
              </a:buClr>
              <a:buFontTx/>
              <a:buAutoNum type="arabicParenBoth"/>
            </a:pPr>
            <a:r>
              <a:rPr lang="en-US" altLang="zh-CN" dirty="0">
                <a:sym typeface="Symbol" pitchFamily="18" charset="2"/>
              </a:rPr>
              <a:t>t&gt;0</a:t>
            </a:r>
            <a:r>
              <a:rPr lang="zh-CN" altLang="en-US" dirty="0">
                <a:sym typeface="Symbol" pitchFamily="18" charset="2"/>
              </a:rPr>
              <a:t>，</a:t>
            </a:r>
            <a:r>
              <a:rPr lang="en-US" altLang="zh-CN" dirty="0">
                <a:sym typeface="Symbol" pitchFamily="18" charset="2"/>
              </a:rPr>
              <a:t>W(t)~N(0,</a:t>
            </a:r>
            <a:r>
              <a:rPr lang="el-GR" altLang="zh-CN" dirty="0">
                <a:sym typeface="Symbol" pitchFamily="18" charset="2"/>
              </a:rPr>
              <a:t>σ</a:t>
            </a:r>
            <a:r>
              <a:rPr lang="en-US" altLang="zh-CN" baseline="30000" dirty="0">
                <a:sym typeface="Symbol" pitchFamily="18" charset="2"/>
              </a:rPr>
              <a:t>2</a:t>
            </a:r>
            <a:r>
              <a:rPr lang="en-US" altLang="zh-CN" dirty="0">
                <a:sym typeface="Symbol" pitchFamily="18" charset="2"/>
              </a:rPr>
              <a:t>t)</a:t>
            </a:r>
            <a:r>
              <a:rPr lang="zh-CN" altLang="en-US" dirty="0">
                <a:sym typeface="Symbol" pitchFamily="18" charset="2"/>
              </a:rPr>
              <a:t>，</a:t>
            </a:r>
            <a:r>
              <a:rPr lang="en-US" altLang="zh-CN" dirty="0">
                <a:sym typeface="Symbol" pitchFamily="18" charset="2"/>
              </a:rPr>
              <a:t>(</a:t>
            </a:r>
            <a:r>
              <a:rPr lang="el-GR" altLang="zh-CN" dirty="0">
                <a:sym typeface="Symbol" pitchFamily="18" charset="2"/>
              </a:rPr>
              <a:t>σ</a:t>
            </a:r>
            <a:r>
              <a:rPr lang="en-US" altLang="zh-CN" dirty="0">
                <a:sym typeface="Symbol" pitchFamily="18" charset="2"/>
              </a:rPr>
              <a:t>&gt;0)</a:t>
            </a:r>
            <a:endParaRPr lang="el-GR" altLang="zh-CN" dirty="0">
              <a:sym typeface="Symbol" pitchFamily="18" charset="2"/>
            </a:endParaRPr>
          </a:p>
          <a:p>
            <a:pPr eaLnBrk="1" hangingPunct="1">
              <a:buFont typeface="Wingdings" pitchFamily="2" charset="2"/>
              <a:buNone/>
            </a:pPr>
            <a:r>
              <a:rPr lang="zh-CN" altLang="en-US" dirty="0"/>
              <a:t>则称随机过程</a:t>
            </a:r>
            <a:r>
              <a:rPr lang="en-US" altLang="zh-CN" dirty="0"/>
              <a:t>{W(t),t</a:t>
            </a:r>
            <a:r>
              <a:rPr lang="en-US" altLang="en-US" dirty="0">
                <a:sym typeface="Symbol" pitchFamily="18" charset="2"/>
              </a:rPr>
              <a:t>≥</a:t>
            </a:r>
            <a:r>
              <a:rPr lang="en-US" altLang="zh-CN" dirty="0">
                <a:sym typeface="Symbol" pitchFamily="18" charset="2"/>
              </a:rPr>
              <a:t>0}</a:t>
            </a:r>
            <a:r>
              <a:rPr lang="zh-CN" altLang="en-US" dirty="0">
                <a:sym typeface="Symbol" pitchFamily="18" charset="2"/>
              </a:rPr>
              <a:t>是参数为</a:t>
            </a:r>
            <a:r>
              <a:rPr lang="el-GR" altLang="zh-CN" b="0" dirty="0">
                <a:sym typeface="Symbol" pitchFamily="18" charset="2"/>
              </a:rPr>
              <a:t>σ</a:t>
            </a:r>
            <a:r>
              <a:rPr lang="en-US" altLang="zh-CN" b="0" baseline="30000" dirty="0">
                <a:sym typeface="Symbol" pitchFamily="18" charset="2"/>
              </a:rPr>
              <a:t>2</a:t>
            </a:r>
            <a:r>
              <a:rPr lang="zh-CN" altLang="en-US" dirty="0">
                <a:sym typeface="Symbol" pitchFamily="18" charset="2"/>
              </a:rPr>
              <a:t>的</a:t>
            </a:r>
            <a:r>
              <a:rPr lang="zh-CN" altLang="en-US" dirty="0">
                <a:solidFill>
                  <a:srgbClr val="CC00CC"/>
                </a:solidFill>
              </a:rPr>
              <a:t>维纳过程</a:t>
            </a:r>
            <a:r>
              <a:rPr lang="en-US" altLang="zh-CN" dirty="0"/>
              <a:t>(</a:t>
            </a:r>
            <a:r>
              <a:rPr lang="zh-CN" altLang="en-US" dirty="0"/>
              <a:t>或</a:t>
            </a:r>
            <a:r>
              <a:rPr lang="zh-CN" altLang="en-US" dirty="0">
                <a:solidFill>
                  <a:srgbClr val="CC00CC"/>
                </a:solidFill>
              </a:rPr>
              <a:t>布朗运动</a:t>
            </a:r>
            <a:r>
              <a:rPr lang="en-US" altLang="zh-CN" dirty="0"/>
              <a:t>)</a:t>
            </a:r>
            <a:r>
              <a:rPr lang="zh-CN" altLang="en-US" dirty="0"/>
              <a:t>。</a:t>
            </a:r>
          </a:p>
          <a:p>
            <a:pPr eaLnBrk="1" hangingPunct="1">
              <a:buFont typeface="Wingdings" pitchFamily="2" charset="2"/>
              <a:buNone/>
            </a:pPr>
            <a:r>
              <a:rPr lang="zh-CN" altLang="en-US" dirty="0">
                <a:solidFill>
                  <a:srgbClr val="0000FF"/>
                </a:solidFill>
              </a:rPr>
              <a:t>	</a:t>
            </a:r>
            <a:r>
              <a:rPr lang="zh-CN" altLang="en-US" dirty="0"/>
              <a:t>布朗运动是应用概率论中最有用的随机过程之一，已大量地在概率统计分析股票</a:t>
            </a:r>
            <a:endParaRPr lang="en-US" altLang="zh-CN" dirty="0"/>
          </a:p>
          <a:p>
            <a:pPr eaLnBrk="1" hangingPunct="1">
              <a:buFont typeface="Wingdings" pitchFamily="2" charset="2"/>
              <a:buNone/>
            </a:pPr>
            <a:r>
              <a:rPr lang="zh-CN" altLang="en-US" dirty="0"/>
              <a:t>价格水平、通信理论、生物学、管理科学等领域得到广泛应用</a:t>
            </a:r>
            <a:r>
              <a:rPr lang="en-US" altLang="zh-CN" dirty="0"/>
              <a:t>.</a:t>
            </a:r>
            <a:endParaRPr lang="en-US" altLang="zh-CN" dirty="0">
              <a:solidFill>
                <a:srgbClr val="0000FF"/>
              </a:solidFill>
            </a:endParaRPr>
          </a:p>
        </p:txBody>
      </p:sp>
      <p:sp>
        <p:nvSpPr>
          <p:cNvPr id="8" name="Rectangle 3"/>
          <p:cNvSpPr txBox="1">
            <a:spLocks noChangeArrowheads="1"/>
          </p:cNvSpPr>
          <p:nvPr/>
        </p:nvSpPr>
        <p:spPr bwMode="auto">
          <a:xfrm>
            <a:off x="508000" y="5613521"/>
            <a:ext cx="11201400" cy="893643"/>
          </a:xfrm>
          <a:prstGeom prst="rect">
            <a:avLst/>
          </a:prstGeom>
          <a:solidFill>
            <a:schemeClr val="accent1">
              <a:lumMod val="40000"/>
              <a:lumOff val="60000"/>
            </a:schemeClr>
          </a:solidFill>
          <a:ln w="9525">
            <a:noFill/>
            <a:miter lim="800000"/>
            <a:headEnd/>
            <a:tailEnd/>
          </a:ln>
        </p:spPr>
        <p:txBody>
          <a:bodyPr vert="horz" wrap="square" lIns="0" tIns="0" rIns="0" bIns="0" numCol="1" anchor="t" anchorCtr="0" compatLnSpc="1">
            <a:prstTxWarp prst="textNoShape">
              <a:avLst/>
            </a:prstTxWarp>
            <a:spAutoFit/>
          </a:bodyPr>
          <a:lstStyle>
            <a:lvl1pPr marL="533400" indent="-533400" algn="l" rtl="0" eaLnBrk="0" fontAlgn="base" hangingPunct="0">
              <a:lnSpc>
                <a:spcPct val="120000"/>
              </a:lnSpc>
              <a:spcBef>
                <a:spcPct val="0"/>
              </a:spcBef>
              <a:spcAft>
                <a:spcPct val="0"/>
              </a:spcAft>
              <a:buClr>
                <a:srgbClr val="00FF00"/>
              </a:buClr>
              <a:buFont typeface="Wingdings" pitchFamily="2" charset="2"/>
              <a:buAutoNum type="arabicPeriod"/>
              <a:defRPr kumimoji="1" sz="2800" b="1">
                <a:solidFill>
                  <a:schemeClr val="tx1"/>
                </a:solidFill>
                <a:latin typeface="+mn-lt"/>
                <a:ea typeface="+mn-ea"/>
                <a:cs typeface="+mn-cs"/>
              </a:defRPr>
            </a:lvl1pPr>
            <a:lvl2pPr marL="914400" indent="-457200" algn="l" rtl="0" eaLnBrk="0" fontAlgn="base" hangingPunct="0">
              <a:lnSpc>
                <a:spcPct val="120000"/>
              </a:lnSpc>
              <a:spcBef>
                <a:spcPct val="0"/>
              </a:spcBef>
              <a:spcAft>
                <a:spcPct val="0"/>
              </a:spcAft>
              <a:buClr>
                <a:srgbClr val="CC00CC"/>
              </a:buClr>
              <a:buAutoNum type="arabicParenR"/>
              <a:defRPr kumimoji="1" sz="2400" b="1">
                <a:solidFill>
                  <a:schemeClr val="tx1"/>
                </a:solidFill>
                <a:latin typeface="+mn-lt"/>
                <a:ea typeface="+mn-ea"/>
              </a:defRPr>
            </a:lvl2pPr>
            <a:lvl3pPr marL="1371600" indent="-457200" algn="l" rtl="0" eaLnBrk="0" fontAlgn="base" hangingPunct="0">
              <a:spcBef>
                <a:spcPct val="20000"/>
              </a:spcBef>
              <a:spcAft>
                <a:spcPct val="0"/>
              </a:spcAft>
              <a:buChar char="•"/>
              <a:defRPr kumimoji="1" sz="2400">
                <a:solidFill>
                  <a:schemeClr val="tx1"/>
                </a:solidFill>
                <a:latin typeface="+mn-lt"/>
                <a:ea typeface="宋体" pitchFamily="2" charset="-122"/>
              </a:defRPr>
            </a:lvl3pPr>
            <a:lvl4pPr marL="1752600" indent="-381000" algn="l" rtl="0" eaLnBrk="0" fontAlgn="base" hangingPunct="0">
              <a:spcBef>
                <a:spcPct val="20000"/>
              </a:spcBef>
              <a:spcAft>
                <a:spcPct val="0"/>
              </a:spcAft>
              <a:buChar char="–"/>
              <a:defRPr kumimoji="1" sz="2000">
                <a:solidFill>
                  <a:schemeClr val="tx1"/>
                </a:solidFill>
                <a:latin typeface="+mn-lt"/>
                <a:ea typeface="宋体" pitchFamily="2" charset="-122"/>
              </a:defRPr>
            </a:lvl4pPr>
            <a:lvl5pPr marL="2209800" indent="-381000" algn="l" rtl="0" eaLnBrk="0" fontAlgn="base" hangingPunct="0">
              <a:spcBef>
                <a:spcPct val="20000"/>
              </a:spcBef>
              <a:spcAft>
                <a:spcPct val="0"/>
              </a:spcAft>
              <a:buChar char="»"/>
              <a:defRPr kumimoji="1" sz="2000">
                <a:solidFill>
                  <a:schemeClr val="tx1"/>
                </a:solidFill>
                <a:latin typeface="+mn-lt"/>
                <a:ea typeface="宋体" pitchFamily="2" charset="-122"/>
              </a:defRPr>
            </a:lvl5pPr>
            <a:lvl6pPr marL="2667000" indent="-381000" algn="l" rtl="0" fontAlgn="base">
              <a:spcBef>
                <a:spcPct val="20000"/>
              </a:spcBef>
              <a:spcAft>
                <a:spcPct val="0"/>
              </a:spcAft>
              <a:buChar char="»"/>
              <a:defRPr kumimoji="1" sz="2000">
                <a:solidFill>
                  <a:schemeClr val="tx1"/>
                </a:solidFill>
                <a:latin typeface="+mn-lt"/>
                <a:ea typeface="宋体" pitchFamily="2" charset="-122"/>
              </a:defRPr>
            </a:lvl6pPr>
            <a:lvl7pPr marL="3124200" indent="-381000" algn="l" rtl="0" fontAlgn="base">
              <a:spcBef>
                <a:spcPct val="20000"/>
              </a:spcBef>
              <a:spcAft>
                <a:spcPct val="0"/>
              </a:spcAft>
              <a:buChar char="»"/>
              <a:defRPr kumimoji="1" sz="2000">
                <a:solidFill>
                  <a:schemeClr val="tx1"/>
                </a:solidFill>
                <a:latin typeface="+mn-lt"/>
                <a:ea typeface="宋体" pitchFamily="2" charset="-122"/>
              </a:defRPr>
            </a:lvl7pPr>
            <a:lvl8pPr marL="3581400" indent="-381000" algn="l" rtl="0" fontAlgn="base">
              <a:spcBef>
                <a:spcPct val="20000"/>
              </a:spcBef>
              <a:spcAft>
                <a:spcPct val="0"/>
              </a:spcAft>
              <a:buChar char="»"/>
              <a:defRPr kumimoji="1" sz="2000">
                <a:solidFill>
                  <a:schemeClr val="tx1"/>
                </a:solidFill>
                <a:latin typeface="+mn-lt"/>
                <a:ea typeface="宋体" pitchFamily="2" charset="-122"/>
              </a:defRPr>
            </a:lvl8pPr>
            <a:lvl9pPr marL="4038600" indent="-381000" algn="l" rtl="0" fontAlgn="base">
              <a:spcBef>
                <a:spcPct val="20000"/>
              </a:spcBef>
              <a:spcAft>
                <a:spcPct val="0"/>
              </a:spcAft>
              <a:buChar char="»"/>
              <a:defRPr kumimoji="1" sz="2000">
                <a:solidFill>
                  <a:schemeClr val="tx1"/>
                </a:solidFill>
                <a:latin typeface="+mn-lt"/>
                <a:ea typeface="宋体" pitchFamily="2" charset="-122"/>
              </a:defRPr>
            </a:lvl9pPr>
          </a:lstStyle>
          <a:p>
            <a:pPr eaLnBrk="1" hangingPunct="1">
              <a:lnSpc>
                <a:spcPct val="110000"/>
              </a:lnSpc>
              <a:buFont typeface="Wingdings" panose="05000000000000000000" pitchFamily="2" charset="2"/>
              <a:buNone/>
            </a:pPr>
            <a:r>
              <a:rPr lang="en-US" altLang="zh-CN" sz="2400" kern="0" dirty="0"/>
              <a:t>     </a:t>
            </a:r>
            <a:r>
              <a:rPr lang="zh-CN" altLang="en-US" sz="2400" kern="0" dirty="0"/>
              <a:t>如果独立增量过程</a:t>
            </a:r>
            <a:r>
              <a:rPr lang="en-US" altLang="zh-CN" sz="2400" kern="0" dirty="0"/>
              <a:t>{X(t),</a:t>
            </a:r>
            <a:r>
              <a:rPr lang="en-US" altLang="zh-CN" sz="2400" kern="0" dirty="0" err="1"/>
              <a:t>t</a:t>
            </a:r>
            <a:r>
              <a:rPr lang="en-US" altLang="zh-CN" sz="2400" kern="0" dirty="0" err="1">
                <a:sym typeface="Symbol" panose="05050102010706020507" pitchFamily="18" charset="2"/>
              </a:rPr>
              <a:t>T</a:t>
            </a:r>
            <a:r>
              <a:rPr lang="en-US" altLang="zh-CN" sz="2400" kern="0" dirty="0">
                <a:sym typeface="Symbol" panose="05050102010706020507" pitchFamily="18" charset="2"/>
              </a:rPr>
              <a:t>}</a:t>
            </a:r>
            <a:r>
              <a:rPr lang="zh-CN" altLang="en-US" sz="2400" kern="0" dirty="0">
                <a:sym typeface="Symbol" panose="05050102010706020507" pitchFamily="18" charset="2"/>
              </a:rPr>
              <a:t>，</a:t>
            </a:r>
            <a:r>
              <a:rPr lang="en-US" altLang="zh-CN" sz="2400" kern="0" dirty="0">
                <a:sym typeface="Symbol" panose="05050102010706020507" pitchFamily="18" charset="2"/>
              </a:rPr>
              <a:t>T</a:t>
            </a:r>
            <a:r>
              <a:rPr lang="zh-CN" altLang="en-US" sz="2400" kern="0" dirty="0">
                <a:sym typeface="Symbol" panose="05050102010706020507" pitchFamily="18" charset="2"/>
              </a:rPr>
              <a:t>＝</a:t>
            </a:r>
            <a:r>
              <a:rPr lang="en-US" altLang="zh-CN" sz="2400" kern="0" dirty="0">
                <a:sym typeface="Symbol" panose="05050102010706020507" pitchFamily="18" charset="2"/>
              </a:rPr>
              <a:t>[0,+)</a:t>
            </a:r>
            <a:r>
              <a:rPr lang="zh-CN" altLang="en-US" sz="2400" kern="0" dirty="0">
                <a:sym typeface="Symbol" panose="05050102010706020507" pitchFamily="18" charset="2"/>
              </a:rPr>
              <a:t>，对所有的</a:t>
            </a:r>
            <a:r>
              <a:rPr lang="en-US" altLang="zh-CN" sz="2400" kern="0" dirty="0" err="1">
                <a:sym typeface="Symbol" panose="05050102010706020507" pitchFamily="18" charset="2"/>
              </a:rPr>
              <a:t>s,tT</a:t>
            </a:r>
            <a:r>
              <a:rPr lang="zh-CN" altLang="en-US" sz="2400" kern="0" dirty="0">
                <a:sym typeface="Symbol" panose="05050102010706020507" pitchFamily="18" charset="2"/>
              </a:rPr>
              <a:t>及</a:t>
            </a:r>
            <a:r>
              <a:rPr lang="en-US" altLang="zh-CN" sz="2400" kern="0" dirty="0">
                <a:sym typeface="Symbol" panose="05050102010706020507" pitchFamily="18" charset="2"/>
              </a:rPr>
              <a:t>h&gt;0,s+h,t+hT</a:t>
            </a:r>
          </a:p>
          <a:p>
            <a:pPr algn="ctr" eaLnBrk="1" hangingPunct="1">
              <a:lnSpc>
                <a:spcPct val="150000"/>
              </a:lnSpc>
              <a:buFont typeface="Wingdings" pitchFamily="2" charset="2"/>
              <a:buNone/>
            </a:pPr>
            <a:r>
              <a:rPr lang="en-US" altLang="zh-CN" sz="2400" kern="0" dirty="0"/>
              <a:t>X(</a:t>
            </a:r>
            <a:r>
              <a:rPr lang="en-US" altLang="zh-CN" sz="2400" kern="0" dirty="0" err="1">
                <a:sym typeface="Symbol" panose="05050102010706020507" pitchFamily="18" charset="2"/>
              </a:rPr>
              <a:t>t+h</a:t>
            </a:r>
            <a:r>
              <a:rPr lang="en-US" altLang="zh-CN" sz="2400" kern="0" dirty="0">
                <a:sym typeface="Symbol" panose="05050102010706020507" pitchFamily="18" charset="2"/>
              </a:rPr>
              <a:t>)-</a:t>
            </a:r>
            <a:r>
              <a:rPr lang="en-US" altLang="zh-CN" sz="2400" kern="0" dirty="0"/>
              <a:t>X(</a:t>
            </a:r>
            <a:r>
              <a:rPr lang="en-US" altLang="zh-CN" sz="2400" kern="0" dirty="0" err="1">
                <a:sym typeface="Symbol" panose="05050102010706020507" pitchFamily="18" charset="2"/>
              </a:rPr>
              <a:t>s+h</a:t>
            </a:r>
            <a:r>
              <a:rPr lang="en-US" altLang="zh-CN" sz="2400" kern="0" dirty="0"/>
              <a:t>)</a:t>
            </a:r>
            <a:r>
              <a:rPr lang="zh-CN" altLang="en-US" sz="2400" kern="0" dirty="0"/>
              <a:t>与</a:t>
            </a:r>
            <a:r>
              <a:rPr lang="en-US" altLang="zh-CN" sz="2400" kern="0" dirty="0"/>
              <a:t>X(</a:t>
            </a:r>
            <a:r>
              <a:rPr lang="en-US" altLang="zh-CN" sz="2400" kern="0" dirty="0">
                <a:sym typeface="Symbol" panose="05050102010706020507" pitchFamily="18" charset="2"/>
              </a:rPr>
              <a:t>t)-</a:t>
            </a:r>
            <a:r>
              <a:rPr lang="en-US" altLang="zh-CN" sz="2400" kern="0" dirty="0"/>
              <a:t>X(</a:t>
            </a:r>
            <a:r>
              <a:rPr lang="en-US" altLang="zh-CN" sz="2400" kern="0" dirty="0">
                <a:sym typeface="Symbol" panose="05050102010706020507" pitchFamily="18" charset="2"/>
              </a:rPr>
              <a:t>s</a:t>
            </a:r>
            <a:r>
              <a:rPr lang="en-US" altLang="zh-CN" sz="2400" kern="0" dirty="0"/>
              <a:t>)	</a:t>
            </a:r>
            <a:r>
              <a:rPr lang="zh-CN" altLang="en-US" sz="2400" kern="0" dirty="0"/>
              <a:t>有相同的概率分布，则称</a:t>
            </a:r>
            <a:r>
              <a:rPr lang="en-US" altLang="zh-CN" sz="2400" kern="0" dirty="0"/>
              <a:t>{X(t),</a:t>
            </a:r>
            <a:r>
              <a:rPr lang="en-US" altLang="zh-CN" sz="2400" kern="0" dirty="0" err="1"/>
              <a:t>t</a:t>
            </a:r>
            <a:r>
              <a:rPr lang="en-US" altLang="zh-CN" sz="2400" kern="0" dirty="0" err="1">
                <a:sym typeface="Symbol" panose="05050102010706020507" pitchFamily="18" charset="2"/>
              </a:rPr>
              <a:t>T</a:t>
            </a:r>
            <a:r>
              <a:rPr lang="en-US" altLang="zh-CN" sz="2400" kern="0" dirty="0">
                <a:sym typeface="Symbol" panose="05050102010706020507" pitchFamily="18" charset="2"/>
              </a:rPr>
              <a:t>}</a:t>
            </a:r>
            <a:r>
              <a:rPr lang="zh-CN" altLang="en-US" sz="2400" kern="0" dirty="0"/>
              <a:t>为</a:t>
            </a:r>
            <a:r>
              <a:rPr lang="zh-CN" altLang="en-US" sz="2400" kern="0" dirty="0">
                <a:solidFill>
                  <a:srgbClr val="CC00CC"/>
                </a:solidFill>
              </a:rPr>
              <a:t>平稳独立增量过程</a:t>
            </a:r>
            <a:r>
              <a:rPr lang="zh-CN" altLang="en-US" sz="2400" kern="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4547">
                                            <p:txEl>
                                              <p:pRg st="0" end="0"/>
                                            </p:txEl>
                                          </p:spTgt>
                                        </p:tgtEl>
                                        <p:attrNameLst>
                                          <p:attrName>style.visibility</p:attrName>
                                        </p:attrNameLst>
                                      </p:cBhvr>
                                      <p:to>
                                        <p:strVal val="visible"/>
                                      </p:to>
                                    </p:set>
                                    <p:anim calcmode="lin" valueType="num">
                                      <p:cBhvr additive="base">
                                        <p:cTn id="7" dur="500" fill="hold"/>
                                        <p:tgtEl>
                                          <p:spTgt spid="3645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454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64547">
                                            <p:txEl>
                                              <p:pRg st="1" end="1"/>
                                            </p:txEl>
                                          </p:spTgt>
                                        </p:tgtEl>
                                        <p:attrNameLst>
                                          <p:attrName>style.visibility</p:attrName>
                                        </p:attrNameLst>
                                      </p:cBhvr>
                                      <p:to>
                                        <p:strVal val="visible"/>
                                      </p:to>
                                    </p:set>
                                    <p:anim calcmode="lin" valueType="num">
                                      <p:cBhvr additive="base">
                                        <p:cTn id="12" dur="500" fill="hold"/>
                                        <p:tgtEl>
                                          <p:spTgt spid="36454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6454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64547">
                                            <p:txEl>
                                              <p:pRg st="2" end="2"/>
                                            </p:txEl>
                                          </p:spTgt>
                                        </p:tgtEl>
                                        <p:attrNameLst>
                                          <p:attrName>style.visibility</p:attrName>
                                        </p:attrNameLst>
                                      </p:cBhvr>
                                      <p:to>
                                        <p:strVal val="visible"/>
                                      </p:to>
                                    </p:set>
                                    <p:anim calcmode="lin" valueType="num">
                                      <p:cBhvr additive="base">
                                        <p:cTn id="17" dur="500" fill="hold"/>
                                        <p:tgtEl>
                                          <p:spTgt spid="3645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4547">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64547">
                                            <p:txEl>
                                              <p:pRg st="3" end="3"/>
                                            </p:txEl>
                                          </p:spTgt>
                                        </p:tgtEl>
                                        <p:attrNameLst>
                                          <p:attrName>style.visibility</p:attrName>
                                        </p:attrNameLst>
                                      </p:cBhvr>
                                      <p:to>
                                        <p:strVal val="visible"/>
                                      </p:to>
                                    </p:set>
                                    <p:anim calcmode="lin" valueType="num">
                                      <p:cBhvr additive="base">
                                        <p:cTn id="22" dur="500" fill="hold"/>
                                        <p:tgtEl>
                                          <p:spTgt spid="36454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64547">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8">
                                            <p:bg/>
                                          </p:spTgt>
                                        </p:tgtEl>
                                        <p:attrNameLst>
                                          <p:attrName>style.visibility</p:attrName>
                                        </p:attrNameLst>
                                      </p:cBhvr>
                                      <p:to>
                                        <p:strVal val="visible"/>
                                      </p:to>
                                    </p:set>
                                    <p:anim calcmode="lin" valueType="num">
                                      <p:cBhvr additive="base">
                                        <p:cTn id="27" dur="500" fill="hold"/>
                                        <p:tgtEl>
                                          <p:spTgt spid="8">
                                            <p:bg/>
                                          </p:spTgt>
                                        </p:tgtEl>
                                        <p:attrNameLst>
                                          <p:attrName>ppt_x</p:attrName>
                                        </p:attrNameLst>
                                      </p:cBhvr>
                                      <p:tavLst>
                                        <p:tav tm="0">
                                          <p:val>
                                            <p:strVal val="#ppt_x"/>
                                          </p:val>
                                        </p:tav>
                                        <p:tav tm="100000">
                                          <p:val>
                                            <p:strVal val="#ppt_x"/>
                                          </p:val>
                                        </p:tav>
                                      </p:tavLst>
                                    </p:anim>
                                    <p:anim calcmode="lin" valueType="num">
                                      <p:cBhvr additive="base">
                                        <p:cTn id="28" dur="500" fill="hold"/>
                                        <p:tgtEl>
                                          <p:spTgt spid="8">
                                            <p:bg/>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additive="base">
                                        <p:cTn id="3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35" fill="hold">
                            <p:stCondLst>
                              <p:cond delay="500"/>
                            </p:stCondLst>
                            <p:childTnLst>
                              <p:par>
                                <p:cTn id="36" presetID="2" presetClass="entr" presetSubtype="4" fill="hold" grpId="0" nodeType="afterEffect">
                                  <p:stCondLst>
                                    <p:cond delay="0"/>
                                  </p:stCondLst>
                                  <p:childTnLst>
                                    <p:set>
                                      <p:cBhvr>
                                        <p:cTn id="37" dur="1" fill="hold">
                                          <p:stCondLst>
                                            <p:cond delay="0"/>
                                          </p:stCondLst>
                                        </p:cTn>
                                        <p:tgtEl>
                                          <p:spTgt spid="8">
                                            <p:txEl>
                                              <p:pRg st="1" end="1"/>
                                            </p:txEl>
                                          </p:spTgt>
                                        </p:tgtEl>
                                        <p:attrNameLst>
                                          <p:attrName>style.visibility</p:attrName>
                                        </p:attrNameLst>
                                      </p:cBhvr>
                                      <p:to>
                                        <p:strVal val="visible"/>
                                      </p:to>
                                    </p:set>
                                    <p:anim calcmode="lin" valueType="num">
                                      <p:cBhvr additive="base">
                                        <p:cTn id="38"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1" nodeType="clickEffect">
                                  <p:stCondLst>
                                    <p:cond delay="0"/>
                                  </p:stCondLst>
                                  <p:childTnLst>
                                    <p:anim calcmode="lin" valueType="num">
                                      <p:cBhvr additive="base">
                                        <p:cTn id="43" dur="500"/>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4" dur="500"/>
                                        <p:tgtEl>
                                          <p:spTgt spid="8">
                                            <p:txEl>
                                              <p:pRg st="0" end="0"/>
                                            </p:txEl>
                                          </p:spTgt>
                                        </p:tgtEl>
                                        <p:attrNameLst>
                                          <p:attrName>ppt_y</p:attrName>
                                        </p:attrNameLst>
                                      </p:cBhvr>
                                      <p:tavLst>
                                        <p:tav tm="0">
                                          <p:val>
                                            <p:strVal val="ppt_y"/>
                                          </p:val>
                                        </p:tav>
                                        <p:tav tm="100000">
                                          <p:val>
                                            <p:strVal val="1+ppt_h/2"/>
                                          </p:val>
                                        </p:tav>
                                      </p:tavLst>
                                    </p:anim>
                                    <p:set>
                                      <p:cBhvr>
                                        <p:cTn id="45" dur="1" fill="hold">
                                          <p:stCondLst>
                                            <p:cond delay="499"/>
                                          </p:stCondLst>
                                        </p:cTn>
                                        <p:tgtEl>
                                          <p:spTgt spid="8">
                                            <p:txEl>
                                              <p:pRg st="0" end="0"/>
                                            </p:txEl>
                                          </p:spTgt>
                                        </p:tgtEl>
                                        <p:attrNameLst>
                                          <p:attrName>style.visibility</p:attrName>
                                        </p:attrNameLst>
                                      </p:cBhvr>
                                      <p:to>
                                        <p:strVal val="hidden"/>
                                      </p:to>
                                    </p:set>
                                  </p:childTnLst>
                                </p:cTn>
                              </p:par>
                              <p:par>
                                <p:cTn id="46" presetID="2" presetClass="exit" presetSubtype="4" fill="hold" grpId="1" nodeType="withEffect">
                                  <p:stCondLst>
                                    <p:cond delay="0"/>
                                  </p:stCondLst>
                                  <p:childTnLst>
                                    <p:anim calcmode="lin" valueType="num">
                                      <p:cBhvr additive="base">
                                        <p:cTn id="47" dur="500"/>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48" dur="500"/>
                                        <p:tgtEl>
                                          <p:spTgt spid="8">
                                            <p:txEl>
                                              <p:pRg st="1" end="1"/>
                                            </p:txEl>
                                          </p:spTgt>
                                        </p:tgtEl>
                                        <p:attrNameLst>
                                          <p:attrName>ppt_y</p:attrName>
                                        </p:attrNameLst>
                                      </p:cBhvr>
                                      <p:tavLst>
                                        <p:tav tm="0">
                                          <p:val>
                                            <p:strVal val="ppt_y"/>
                                          </p:val>
                                        </p:tav>
                                        <p:tav tm="100000">
                                          <p:val>
                                            <p:strVal val="1+ppt_h/2"/>
                                          </p:val>
                                        </p:tav>
                                      </p:tavLst>
                                    </p:anim>
                                    <p:set>
                                      <p:cBhvr>
                                        <p:cTn id="49" dur="1" fill="hold">
                                          <p:stCondLst>
                                            <p:cond delay="499"/>
                                          </p:stCondLst>
                                        </p:cTn>
                                        <p:tgtEl>
                                          <p:spTgt spid="8">
                                            <p:txEl>
                                              <p:pRg st="1" end="1"/>
                                            </p:txEl>
                                          </p:spTgt>
                                        </p:tgtEl>
                                        <p:attrNameLst>
                                          <p:attrName>style.visibility</p:attrName>
                                        </p:attrNameLst>
                                      </p:cBhvr>
                                      <p:to>
                                        <p:strVal val="hidden"/>
                                      </p:to>
                                    </p:set>
                                  </p:childTnLst>
                                </p:cTn>
                              </p:par>
                              <p:par>
                                <p:cTn id="50" presetID="2" presetClass="exit" presetSubtype="4" fill="hold" grpId="1" nodeType="withEffect">
                                  <p:stCondLst>
                                    <p:cond delay="0"/>
                                  </p:stCondLst>
                                  <p:childTnLst>
                                    <p:anim calcmode="lin" valueType="num">
                                      <p:cBhvr additive="base">
                                        <p:cTn id="51" dur="500"/>
                                        <p:tgtEl>
                                          <p:spTgt spid="8">
                                            <p:bg/>
                                          </p:spTgt>
                                        </p:tgtEl>
                                        <p:attrNameLst>
                                          <p:attrName>ppt_x</p:attrName>
                                        </p:attrNameLst>
                                      </p:cBhvr>
                                      <p:tavLst>
                                        <p:tav tm="0">
                                          <p:val>
                                            <p:strVal val="ppt_x"/>
                                          </p:val>
                                        </p:tav>
                                        <p:tav tm="100000">
                                          <p:val>
                                            <p:strVal val="ppt_x"/>
                                          </p:val>
                                        </p:tav>
                                      </p:tavLst>
                                    </p:anim>
                                    <p:anim calcmode="lin" valueType="num">
                                      <p:cBhvr additive="base">
                                        <p:cTn id="52" dur="500"/>
                                        <p:tgtEl>
                                          <p:spTgt spid="8">
                                            <p:bg/>
                                          </p:spTgt>
                                        </p:tgtEl>
                                        <p:attrNameLst>
                                          <p:attrName>ppt_y</p:attrName>
                                        </p:attrNameLst>
                                      </p:cBhvr>
                                      <p:tavLst>
                                        <p:tav tm="0">
                                          <p:val>
                                            <p:strVal val="ppt_y"/>
                                          </p:val>
                                        </p:tav>
                                        <p:tav tm="100000">
                                          <p:val>
                                            <p:strVal val="1+ppt_h/2"/>
                                          </p:val>
                                        </p:tav>
                                      </p:tavLst>
                                    </p:anim>
                                    <p:set>
                                      <p:cBhvr>
                                        <p:cTn id="53" dur="1" fill="hold">
                                          <p:stCondLst>
                                            <p:cond delay="499"/>
                                          </p:stCondLst>
                                        </p:cTn>
                                        <p:tgtEl>
                                          <p:spTgt spid="8">
                                            <p:bg/>
                                          </p:spTgt>
                                        </p:tgtEl>
                                        <p:attrNameLst>
                                          <p:attrName>style.visibility</p:attrName>
                                        </p:attrNameLst>
                                      </p:cBhvr>
                                      <p:to>
                                        <p:strVal val="hidden"/>
                                      </p:to>
                                    </p:set>
                                  </p:childTnLst>
                                </p:cTn>
                              </p:par>
                            </p:childTnLst>
                          </p:cTn>
                        </p:par>
                        <p:par>
                          <p:cTn id="54" fill="hold">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364547">
                                            <p:txEl>
                                              <p:pRg st="4" end="4"/>
                                            </p:txEl>
                                          </p:spTgt>
                                        </p:tgtEl>
                                        <p:attrNameLst>
                                          <p:attrName>style.visibility</p:attrName>
                                        </p:attrNameLst>
                                      </p:cBhvr>
                                      <p:to>
                                        <p:strVal val="visible"/>
                                      </p:to>
                                    </p:set>
                                    <p:anim calcmode="lin" valueType="num">
                                      <p:cBhvr additive="base">
                                        <p:cTn id="57" dur="500" fill="hold"/>
                                        <p:tgtEl>
                                          <p:spTgt spid="364547">
                                            <p:txEl>
                                              <p:pRg st="4" end="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64547">
                                            <p:txEl>
                                              <p:pRg st="4" end="4"/>
                                            </p:txEl>
                                          </p:spTgt>
                                        </p:tgtEl>
                                        <p:attrNameLst>
                                          <p:attrName>ppt_y</p:attrName>
                                        </p:attrNameLst>
                                      </p:cBhvr>
                                      <p:tavLst>
                                        <p:tav tm="0">
                                          <p:val>
                                            <p:strVal val="1+#ppt_h/2"/>
                                          </p:val>
                                        </p:tav>
                                        <p:tav tm="100000">
                                          <p:val>
                                            <p:strVal val="#ppt_y"/>
                                          </p:val>
                                        </p:tav>
                                      </p:tavLst>
                                    </p:anim>
                                  </p:childTnLst>
                                </p:cTn>
                              </p:par>
                            </p:childTnLst>
                          </p:cTn>
                        </p:par>
                        <p:par>
                          <p:cTn id="59" fill="hold">
                            <p:stCondLst>
                              <p:cond delay="1000"/>
                            </p:stCondLst>
                            <p:childTnLst>
                              <p:par>
                                <p:cTn id="60" presetID="2" presetClass="entr" presetSubtype="4" fill="hold" grpId="0" nodeType="afterEffect">
                                  <p:stCondLst>
                                    <p:cond delay="0"/>
                                  </p:stCondLst>
                                  <p:childTnLst>
                                    <p:set>
                                      <p:cBhvr>
                                        <p:cTn id="61" dur="1" fill="hold">
                                          <p:stCondLst>
                                            <p:cond delay="0"/>
                                          </p:stCondLst>
                                        </p:cTn>
                                        <p:tgtEl>
                                          <p:spTgt spid="364547">
                                            <p:txEl>
                                              <p:pRg st="5" end="5"/>
                                            </p:txEl>
                                          </p:spTgt>
                                        </p:tgtEl>
                                        <p:attrNameLst>
                                          <p:attrName>style.visibility</p:attrName>
                                        </p:attrNameLst>
                                      </p:cBhvr>
                                      <p:to>
                                        <p:strVal val="visible"/>
                                      </p:to>
                                    </p:set>
                                    <p:anim calcmode="lin" valueType="num">
                                      <p:cBhvr additive="base">
                                        <p:cTn id="62" dur="500" fill="hold"/>
                                        <p:tgtEl>
                                          <p:spTgt spid="364547">
                                            <p:txEl>
                                              <p:pRg st="5" end="5"/>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645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364547">
                                            <p:txEl>
                                              <p:pRg st="6" end="6"/>
                                            </p:txEl>
                                          </p:spTgt>
                                        </p:tgtEl>
                                        <p:attrNameLst>
                                          <p:attrName>style.visibility</p:attrName>
                                        </p:attrNameLst>
                                      </p:cBhvr>
                                      <p:to>
                                        <p:strVal val="visible"/>
                                      </p:to>
                                    </p:set>
                                    <p:anim calcmode="lin" valueType="num">
                                      <p:cBhvr additive="base">
                                        <p:cTn id="68" dur="500" fill="hold"/>
                                        <p:tgtEl>
                                          <p:spTgt spid="364547">
                                            <p:txEl>
                                              <p:pRg st="6" end="6"/>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36454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364547">
                                            <p:txEl>
                                              <p:pRg st="7" end="7"/>
                                            </p:txEl>
                                          </p:spTgt>
                                        </p:tgtEl>
                                        <p:attrNameLst>
                                          <p:attrName>style.visibility</p:attrName>
                                        </p:attrNameLst>
                                      </p:cBhvr>
                                      <p:to>
                                        <p:strVal val="visible"/>
                                      </p:to>
                                    </p:set>
                                    <p:anim calcmode="lin" valueType="num">
                                      <p:cBhvr additive="base">
                                        <p:cTn id="74" dur="500" fill="hold"/>
                                        <p:tgtEl>
                                          <p:spTgt spid="364547">
                                            <p:txEl>
                                              <p:pRg st="7" end="7"/>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36454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7" grpId="0" uiExpand="1" build="p" bldLvl="3"/>
      <p:bldP spid="8" grpId="0" build="p" animBg="1"/>
      <p:bldP spid="8" grpId="1" build="allAtOnce"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1" name="Rectangle 2"/>
          <p:cNvSpPr>
            <a:spLocks noGrp="1" noChangeArrowheads="1"/>
          </p:cNvSpPr>
          <p:nvPr>
            <p:ph type="title"/>
          </p:nvPr>
        </p:nvSpPr>
        <p:spPr>
          <a:xfrm>
            <a:off x="804645" y="261954"/>
            <a:ext cx="9961986" cy="609741"/>
          </a:xfrm>
        </p:spPr>
        <p:txBody>
          <a:bodyPr/>
          <a:lstStyle/>
          <a:p>
            <a:pPr eaLnBrk="1" hangingPunct="1"/>
            <a:r>
              <a:rPr lang="zh-CN" altLang="en-US" dirty="0"/>
              <a:t>维纳过程的概率分布及数字特征</a:t>
            </a:r>
          </a:p>
        </p:txBody>
      </p:sp>
      <p:sp>
        <p:nvSpPr>
          <p:cNvPr id="365571" name="Rectangle 3"/>
          <p:cNvSpPr>
            <a:spLocks noGrp="1" noChangeArrowheads="1"/>
          </p:cNvSpPr>
          <p:nvPr>
            <p:ph type="body" sz="half" idx="1"/>
          </p:nvPr>
        </p:nvSpPr>
        <p:spPr>
          <a:xfrm>
            <a:off x="612775" y="1220768"/>
            <a:ext cx="3772773" cy="5259017"/>
          </a:xfrm>
        </p:spPr>
        <p:txBody>
          <a:bodyPr/>
          <a:lstStyle/>
          <a:p>
            <a:pPr eaLnBrk="1" hangingPunct="1">
              <a:lnSpc>
                <a:spcPct val="150000"/>
              </a:lnSpc>
              <a:buFont typeface="Wingdings" pitchFamily="2" charset="2"/>
              <a:buNone/>
            </a:pPr>
            <a:r>
              <a:rPr lang="zh-CN" altLang="en-US" dirty="0">
                <a:solidFill>
                  <a:srgbClr val="0000FF"/>
                </a:solidFill>
              </a:rPr>
              <a:t>一维概率密度函数</a:t>
            </a:r>
          </a:p>
          <a:p>
            <a:pPr eaLnBrk="1" hangingPunct="1">
              <a:lnSpc>
                <a:spcPct val="150000"/>
              </a:lnSpc>
              <a:buFont typeface="Wingdings" pitchFamily="2" charset="2"/>
              <a:buNone/>
            </a:pPr>
            <a:endParaRPr lang="zh-CN" altLang="en-US" dirty="0">
              <a:solidFill>
                <a:srgbClr val="0000FF"/>
              </a:solidFill>
            </a:endParaRPr>
          </a:p>
          <a:p>
            <a:pPr eaLnBrk="1" hangingPunct="1">
              <a:lnSpc>
                <a:spcPct val="150000"/>
              </a:lnSpc>
              <a:spcBef>
                <a:spcPct val="100000"/>
              </a:spcBef>
              <a:buFont typeface="Wingdings" pitchFamily="2" charset="2"/>
              <a:buNone/>
            </a:pPr>
            <a:r>
              <a:rPr lang="zh-CN" altLang="en-US" dirty="0">
                <a:solidFill>
                  <a:srgbClr val="0000FF"/>
                </a:solidFill>
              </a:rPr>
              <a:t>一维特征函数</a:t>
            </a:r>
          </a:p>
          <a:p>
            <a:pPr eaLnBrk="1" hangingPunct="1">
              <a:lnSpc>
                <a:spcPct val="150000"/>
              </a:lnSpc>
              <a:buFont typeface="Wingdings" pitchFamily="2" charset="2"/>
              <a:buNone/>
            </a:pPr>
            <a:endParaRPr lang="zh-CN" altLang="en-US" dirty="0">
              <a:solidFill>
                <a:srgbClr val="0000FF"/>
              </a:solidFill>
            </a:endParaRPr>
          </a:p>
          <a:p>
            <a:pPr eaLnBrk="1" hangingPunct="1">
              <a:lnSpc>
                <a:spcPct val="150000"/>
              </a:lnSpc>
              <a:spcBef>
                <a:spcPts val="0"/>
              </a:spcBef>
              <a:buFont typeface="Wingdings" pitchFamily="2" charset="2"/>
              <a:buNone/>
            </a:pPr>
            <a:r>
              <a:rPr lang="zh-CN" altLang="en-US" dirty="0">
                <a:solidFill>
                  <a:srgbClr val="0000FF"/>
                </a:solidFill>
              </a:rPr>
              <a:t>增量分布</a:t>
            </a:r>
          </a:p>
          <a:p>
            <a:pPr eaLnBrk="1" hangingPunct="1">
              <a:lnSpc>
                <a:spcPct val="200000"/>
              </a:lnSpc>
              <a:spcBef>
                <a:spcPct val="100000"/>
              </a:spcBef>
              <a:buFont typeface="Wingdings" pitchFamily="2" charset="2"/>
              <a:buNone/>
            </a:pPr>
            <a:r>
              <a:rPr lang="zh-CN" altLang="en-US" dirty="0">
                <a:solidFill>
                  <a:srgbClr val="0000FF"/>
                </a:solidFill>
              </a:rPr>
              <a:t>协方差函数</a:t>
            </a:r>
          </a:p>
        </p:txBody>
      </p:sp>
      <p:graphicFrame>
        <p:nvGraphicFramePr>
          <p:cNvPr id="365575" name="Object 7"/>
          <p:cNvGraphicFramePr>
            <a:graphicFrameLocks noChangeAspect="1"/>
          </p:cNvGraphicFramePr>
          <p:nvPr/>
        </p:nvGraphicFramePr>
        <p:xfrm>
          <a:off x="3376629" y="952963"/>
          <a:ext cx="6057714" cy="1206779"/>
        </p:xfrm>
        <a:graphic>
          <a:graphicData uri="http://schemas.openxmlformats.org/presentationml/2006/ole">
            <mc:AlternateContent xmlns:mc="http://schemas.openxmlformats.org/markup-compatibility/2006">
              <mc:Choice xmlns:v="urn:schemas-microsoft-com:vml" Requires="v">
                <p:oleObj name="公式" r:id="rId2" imgW="2425680" imgH="482400" progId="Equation.3">
                  <p:embed/>
                </p:oleObj>
              </mc:Choice>
              <mc:Fallback>
                <p:oleObj name="公式" r:id="rId2" imgW="2425680" imgH="482400" progId="Equation.3">
                  <p:embed/>
                  <p:pic>
                    <p:nvPicPr>
                      <p:cNvPr id="36557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6629" y="952963"/>
                        <a:ext cx="6057714" cy="12067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5576" name="Object 8"/>
          <p:cNvGraphicFramePr>
            <a:graphicFrameLocks noChangeAspect="1"/>
          </p:cNvGraphicFramePr>
          <p:nvPr/>
        </p:nvGraphicFramePr>
        <p:xfrm>
          <a:off x="3372489" y="2504017"/>
          <a:ext cx="5200265" cy="857448"/>
        </p:xfrm>
        <a:graphic>
          <a:graphicData uri="http://schemas.openxmlformats.org/presentationml/2006/ole">
            <mc:AlternateContent xmlns:mc="http://schemas.openxmlformats.org/markup-compatibility/2006">
              <mc:Choice xmlns:v="urn:schemas-microsoft-com:vml" Requires="v">
                <p:oleObj name="公式" r:id="rId4" imgW="2082600" imgH="342720" progId="Equation.3">
                  <p:embed/>
                </p:oleObj>
              </mc:Choice>
              <mc:Fallback>
                <p:oleObj name="公式" r:id="rId4" imgW="2082600" imgH="342720" progId="Equation.3">
                  <p:embed/>
                  <p:pic>
                    <p:nvPicPr>
                      <p:cNvPr id="365576"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2489" y="2504017"/>
                        <a:ext cx="5200265" cy="8574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5578" name="Object 10"/>
          <p:cNvGraphicFramePr>
            <a:graphicFrameLocks noChangeAspect="1"/>
          </p:cNvGraphicFramePr>
          <p:nvPr/>
        </p:nvGraphicFramePr>
        <p:xfrm>
          <a:off x="3368912" y="4041324"/>
          <a:ext cx="4503192" cy="603390"/>
        </p:xfrm>
        <a:graphic>
          <a:graphicData uri="http://schemas.openxmlformats.org/presentationml/2006/ole">
            <mc:AlternateContent xmlns:mc="http://schemas.openxmlformats.org/markup-compatibility/2006">
              <mc:Choice xmlns:v="urn:schemas-microsoft-com:vml" Requires="v">
                <p:oleObj name="公式" r:id="rId6" imgW="1803240" imgH="241200" progId="Equation.3">
                  <p:embed/>
                </p:oleObj>
              </mc:Choice>
              <mc:Fallback>
                <p:oleObj name="公式" r:id="rId6" imgW="1803240" imgH="241200" progId="Equation.3">
                  <p:embed/>
                  <p:pic>
                    <p:nvPicPr>
                      <p:cNvPr id="365578"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8912" y="4041324"/>
                        <a:ext cx="4503192" cy="6033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5579" name="Object 11"/>
          <p:cNvGraphicFramePr>
            <a:graphicFrameLocks noChangeAspect="1"/>
          </p:cNvGraphicFramePr>
          <p:nvPr/>
        </p:nvGraphicFramePr>
        <p:xfrm>
          <a:off x="3508375" y="5092286"/>
          <a:ext cx="3234487" cy="571632"/>
        </p:xfrm>
        <a:graphic>
          <a:graphicData uri="http://schemas.openxmlformats.org/presentationml/2006/ole">
            <mc:AlternateContent xmlns:mc="http://schemas.openxmlformats.org/markup-compatibility/2006">
              <mc:Choice xmlns:v="urn:schemas-microsoft-com:vml" Requires="v">
                <p:oleObj name="公式" r:id="rId8" imgW="1295280" imgH="228600" progId="Equation.3">
                  <p:embed/>
                </p:oleObj>
              </mc:Choice>
              <mc:Fallback>
                <p:oleObj name="公式" r:id="rId8" imgW="1295280" imgH="228600" progId="Equation.3">
                  <p:embed/>
                  <p:pic>
                    <p:nvPicPr>
                      <p:cNvPr id="365579"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8375" y="5092286"/>
                        <a:ext cx="3234487"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anim calcmode="lin" valueType="num">
                                      <p:cBhvr additive="base">
                                        <p:cTn id="7" dur="500" fill="hold"/>
                                        <p:tgtEl>
                                          <p:spTgt spid="3655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55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65575"/>
                                        </p:tgtEl>
                                        <p:attrNameLst>
                                          <p:attrName>style.visibility</p:attrName>
                                        </p:attrNameLst>
                                      </p:cBhvr>
                                      <p:to>
                                        <p:strVal val="visible"/>
                                      </p:to>
                                    </p:set>
                                    <p:anim calcmode="lin" valueType="num">
                                      <p:cBhvr additive="base">
                                        <p:cTn id="13" dur="500" fill="hold"/>
                                        <p:tgtEl>
                                          <p:spTgt spid="365575"/>
                                        </p:tgtEl>
                                        <p:attrNameLst>
                                          <p:attrName>ppt_x</p:attrName>
                                        </p:attrNameLst>
                                      </p:cBhvr>
                                      <p:tavLst>
                                        <p:tav tm="0">
                                          <p:val>
                                            <p:strVal val="1+#ppt_w/2"/>
                                          </p:val>
                                        </p:tav>
                                        <p:tav tm="100000">
                                          <p:val>
                                            <p:strVal val="#ppt_x"/>
                                          </p:val>
                                        </p:tav>
                                      </p:tavLst>
                                    </p:anim>
                                    <p:anim calcmode="lin" valueType="num">
                                      <p:cBhvr additive="base">
                                        <p:cTn id="14" dur="500" fill="hold"/>
                                        <p:tgtEl>
                                          <p:spTgt spid="365575"/>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65571">
                                            <p:txEl>
                                              <p:pRg st="2" end="2"/>
                                            </p:txEl>
                                          </p:spTgt>
                                        </p:tgtEl>
                                        <p:attrNameLst>
                                          <p:attrName>style.visibility</p:attrName>
                                        </p:attrNameLst>
                                      </p:cBhvr>
                                      <p:to>
                                        <p:strVal val="visible"/>
                                      </p:to>
                                    </p:set>
                                    <p:anim calcmode="lin" valueType="num">
                                      <p:cBhvr additive="base">
                                        <p:cTn id="18" dur="500" fill="hold"/>
                                        <p:tgtEl>
                                          <p:spTgt spid="365571">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655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365576"/>
                                        </p:tgtEl>
                                        <p:attrNameLst>
                                          <p:attrName>style.visibility</p:attrName>
                                        </p:attrNameLst>
                                      </p:cBhvr>
                                      <p:to>
                                        <p:strVal val="visible"/>
                                      </p:to>
                                    </p:set>
                                    <p:anim calcmode="lin" valueType="num">
                                      <p:cBhvr additive="base">
                                        <p:cTn id="24" dur="500" fill="hold"/>
                                        <p:tgtEl>
                                          <p:spTgt spid="365576"/>
                                        </p:tgtEl>
                                        <p:attrNameLst>
                                          <p:attrName>ppt_x</p:attrName>
                                        </p:attrNameLst>
                                      </p:cBhvr>
                                      <p:tavLst>
                                        <p:tav tm="0">
                                          <p:val>
                                            <p:strVal val="1+#ppt_w/2"/>
                                          </p:val>
                                        </p:tav>
                                        <p:tav tm="100000">
                                          <p:val>
                                            <p:strVal val="#ppt_x"/>
                                          </p:val>
                                        </p:tav>
                                      </p:tavLst>
                                    </p:anim>
                                    <p:anim calcmode="lin" valueType="num">
                                      <p:cBhvr additive="base">
                                        <p:cTn id="25" dur="500" fill="hold"/>
                                        <p:tgtEl>
                                          <p:spTgt spid="365576"/>
                                        </p:tgtEl>
                                        <p:attrNameLst>
                                          <p:attrName>ppt_y</p:attrName>
                                        </p:attrNameLst>
                                      </p:cBhvr>
                                      <p:tavLst>
                                        <p:tav tm="0">
                                          <p:val>
                                            <p:strVal val="0-#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365571">
                                            <p:txEl>
                                              <p:pRg st="4" end="4"/>
                                            </p:txEl>
                                          </p:spTgt>
                                        </p:tgtEl>
                                        <p:attrNameLst>
                                          <p:attrName>style.visibility</p:attrName>
                                        </p:attrNameLst>
                                      </p:cBhvr>
                                      <p:to>
                                        <p:strVal val="visible"/>
                                      </p:to>
                                    </p:set>
                                    <p:anim calcmode="lin" valueType="num">
                                      <p:cBhvr additive="base">
                                        <p:cTn id="29" dur="500" fill="hold"/>
                                        <p:tgtEl>
                                          <p:spTgt spid="36557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655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365578"/>
                                        </p:tgtEl>
                                        <p:attrNameLst>
                                          <p:attrName>style.visibility</p:attrName>
                                        </p:attrNameLst>
                                      </p:cBhvr>
                                      <p:to>
                                        <p:strVal val="visible"/>
                                      </p:to>
                                    </p:set>
                                    <p:anim calcmode="lin" valueType="num">
                                      <p:cBhvr additive="base">
                                        <p:cTn id="35" dur="500" fill="hold"/>
                                        <p:tgtEl>
                                          <p:spTgt spid="365578"/>
                                        </p:tgtEl>
                                        <p:attrNameLst>
                                          <p:attrName>ppt_x</p:attrName>
                                        </p:attrNameLst>
                                      </p:cBhvr>
                                      <p:tavLst>
                                        <p:tav tm="0">
                                          <p:val>
                                            <p:strVal val="1+#ppt_w/2"/>
                                          </p:val>
                                        </p:tav>
                                        <p:tav tm="100000">
                                          <p:val>
                                            <p:strVal val="#ppt_x"/>
                                          </p:val>
                                        </p:tav>
                                      </p:tavLst>
                                    </p:anim>
                                    <p:anim calcmode="lin" valueType="num">
                                      <p:cBhvr additive="base">
                                        <p:cTn id="36" dur="500" fill="hold"/>
                                        <p:tgtEl>
                                          <p:spTgt spid="365578"/>
                                        </p:tgtEl>
                                        <p:attrNameLst>
                                          <p:attrName>ppt_y</p:attrName>
                                        </p:attrNameLst>
                                      </p:cBhvr>
                                      <p:tavLst>
                                        <p:tav tm="0">
                                          <p:val>
                                            <p:strVal val="0-#ppt_h/2"/>
                                          </p:val>
                                        </p:tav>
                                        <p:tav tm="100000">
                                          <p:val>
                                            <p:strVal val="#ppt_y"/>
                                          </p:val>
                                        </p:tav>
                                      </p:tavLst>
                                    </p:anim>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365571">
                                            <p:txEl>
                                              <p:pRg st="5" end="5"/>
                                            </p:txEl>
                                          </p:spTgt>
                                        </p:tgtEl>
                                        <p:attrNameLst>
                                          <p:attrName>style.visibility</p:attrName>
                                        </p:attrNameLst>
                                      </p:cBhvr>
                                      <p:to>
                                        <p:strVal val="visible"/>
                                      </p:to>
                                    </p:set>
                                    <p:anim calcmode="lin" valueType="num">
                                      <p:cBhvr additive="base">
                                        <p:cTn id="40" dur="500" fill="hold"/>
                                        <p:tgtEl>
                                          <p:spTgt spid="365571">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655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3" fill="hold" nodeType="clickEffect">
                                  <p:stCondLst>
                                    <p:cond delay="0"/>
                                  </p:stCondLst>
                                  <p:childTnLst>
                                    <p:set>
                                      <p:cBhvr>
                                        <p:cTn id="45" dur="1" fill="hold">
                                          <p:stCondLst>
                                            <p:cond delay="0"/>
                                          </p:stCondLst>
                                        </p:cTn>
                                        <p:tgtEl>
                                          <p:spTgt spid="365579"/>
                                        </p:tgtEl>
                                        <p:attrNameLst>
                                          <p:attrName>style.visibility</p:attrName>
                                        </p:attrNameLst>
                                      </p:cBhvr>
                                      <p:to>
                                        <p:strVal val="visible"/>
                                      </p:to>
                                    </p:set>
                                    <p:anim calcmode="lin" valueType="num">
                                      <p:cBhvr additive="base">
                                        <p:cTn id="46" dur="500" fill="hold"/>
                                        <p:tgtEl>
                                          <p:spTgt spid="365579"/>
                                        </p:tgtEl>
                                        <p:attrNameLst>
                                          <p:attrName>ppt_x</p:attrName>
                                        </p:attrNameLst>
                                      </p:cBhvr>
                                      <p:tavLst>
                                        <p:tav tm="0">
                                          <p:val>
                                            <p:strVal val="1+#ppt_w/2"/>
                                          </p:val>
                                        </p:tav>
                                        <p:tav tm="100000">
                                          <p:val>
                                            <p:strVal val="#ppt_x"/>
                                          </p:val>
                                        </p:tav>
                                      </p:tavLst>
                                    </p:anim>
                                    <p:anim calcmode="lin" valueType="num">
                                      <p:cBhvr additive="base">
                                        <p:cTn id="47" dur="500" fill="hold"/>
                                        <p:tgtEl>
                                          <p:spTgt spid="3655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 name="Rectangle 2"/>
          <p:cNvSpPr>
            <a:spLocks noGrp="1" noChangeArrowheads="1"/>
          </p:cNvSpPr>
          <p:nvPr>
            <p:ph type="title"/>
          </p:nvPr>
        </p:nvSpPr>
        <p:spPr>
          <a:xfrm>
            <a:off x="833967" y="282019"/>
            <a:ext cx="9961986" cy="609741"/>
          </a:xfrm>
        </p:spPr>
        <p:txBody>
          <a:bodyPr/>
          <a:lstStyle/>
          <a:p>
            <a:pPr eaLnBrk="1" hangingPunct="1"/>
            <a:r>
              <a:rPr lang="zh-CN" altLang="en-US" dirty="0"/>
              <a:t>维纳过程的二维概率分布</a:t>
            </a:r>
          </a:p>
        </p:txBody>
      </p:sp>
      <p:sp>
        <p:nvSpPr>
          <p:cNvPr id="366595" name="Rectangle 3"/>
          <p:cNvSpPr>
            <a:spLocks noGrp="1" noChangeArrowheads="1"/>
          </p:cNvSpPr>
          <p:nvPr>
            <p:ph type="body" sz="half" idx="1"/>
          </p:nvPr>
        </p:nvSpPr>
        <p:spPr>
          <a:xfrm>
            <a:off x="833967" y="1059902"/>
            <a:ext cx="3772773" cy="5799686"/>
          </a:xfrm>
        </p:spPr>
        <p:txBody>
          <a:bodyPr>
            <a:normAutofit/>
          </a:bodyPr>
          <a:lstStyle/>
          <a:p>
            <a:pPr eaLnBrk="1" hangingPunct="1">
              <a:lnSpc>
                <a:spcPct val="200000"/>
              </a:lnSpc>
              <a:buFont typeface="Wingdings" pitchFamily="2" charset="2"/>
              <a:buNone/>
            </a:pPr>
            <a:r>
              <a:rPr lang="zh-CN" altLang="en-US" dirty="0">
                <a:solidFill>
                  <a:srgbClr val="0000FF"/>
                </a:solidFill>
              </a:rPr>
              <a:t>均值函数向量</a:t>
            </a:r>
          </a:p>
          <a:p>
            <a:pPr eaLnBrk="1" hangingPunct="1">
              <a:lnSpc>
                <a:spcPct val="260000"/>
              </a:lnSpc>
              <a:spcBef>
                <a:spcPts val="1200"/>
              </a:spcBef>
              <a:buFont typeface="Wingdings" pitchFamily="2" charset="2"/>
              <a:buNone/>
            </a:pPr>
            <a:r>
              <a:rPr lang="zh-CN" altLang="en-US" dirty="0">
                <a:solidFill>
                  <a:srgbClr val="0000FF"/>
                </a:solidFill>
              </a:rPr>
              <a:t>二阶协方差矩阵</a:t>
            </a:r>
          </a:p>
          <a:p>
            <a:pPr eaLnBrk="1" hangingPunct="1">
              <a:lnSpc>
                <a:spcPct val="200000"/>
              </a:lnSpc>
              <a:buFont typeface="Wingdings" pitchFamily="2" charset="2"/>
              <a:buNone/>
            </a:pPr>
            <a:r>
              <a:rPr lang="zh-CN" altLang="en-US" dirty="0">
                <a:solidFill>
                  <a:srgbClr val="0000FF"/>
                </a:solidFill>
              </a:rPr>
              <a:t>二维概率分布</a:t>
            </a:r>
          </a:p>
          <a:p>
            <a:pPr eaLnBrk="1" hangingPunct="1">
              <a:buFont typeface="Wingdings" pitchFamily="2" charset="2"/>
              <a:buNone/>
            </a:pPr>
            <a:endParaRPr lang="en-US" altLang="zh-CN" dirty="0">
              <a:solidFill>
                <a:srgbClr val="0000FF"/>
              </a:solidFill>
            </a:endParaRPr>
          </a:p>
          <a:p>
            <a:pPr eaLnBrk="1" hangingPunct="1">
              <a:buFont typeface="Wingdings" pitchFamily="2" charset="2"/>
              <a:buNone/>
            </a:pPr>
            <a:r>
              <a:rPr lang="zh-CN" altLang="en-US" dirty="0">
                <a:solidFill>
                  <a:srgbClr val="0000FF"/>
                </a:solidFill>
              </a:rPr>
              <a:t>二维概率密度函数</a:t>
            </a:r>
          </a:p>
          <a:p>
            <a:pPr eaLnBrk="1" hangingPunct="1">
              <a:lnSpc>
                <a:spcPct val="300000"/>
              </a:lnSpc>
              <a:spcBef>
                <a:spcPct val="30000"/>
              </a:spcBef>
              <a:buFont typeface="Wingdings" pitchFamily="2" charset="2"/>
              <a:buNone/>
            </a:pPr>
            <a:r>
              <a:rPr lang="zh-CN" altLang="en-US" dirty="0">
                <a:solidFill>
                  <a:srgbClr val="0000FF"/>
                </a:solidFill>
              </a:rPr>
              <a:t>二维特征函数</a:t>
            </a:r>
          </a:p>
        </p:txBody>
      </p:sp>
      <p:graphicFrame>
        <p:nvGraphicFramePr>
          <p:cNvPr id="366596" name="Object 4"/>
          <p:cNvGraphicFramePr>
            <a:graphicFrameLocks noGrp="1" noChangeAspect="1"/>
          </p:cNvGraphicFramePr>
          <p:nvPr>
            <p:ph sz="half" idx="2"/>
          </p:nvPr>
        </p:nvGraphicFramePr>
        <p:xfrm>
          <a:off x="3506188" y="1284757"/>
          <a:ext cx="1932434" cy="601802"/>
        </p:xfrm>
        <a:graphic>
          <a:graphicData uri="http://schemas.openxmlformats.org/presentationml/2006/ole">
            <mc:AlternateContent xmlns:mc="http://schemas.openxmlformats.org/markup-compatibility/2006">
              <mc:Choice xmlns:v="urn:schemas-microsoft-com:vml" Requires="v">
                <p:oleObj name="公式" r:id="rId2" imgW="774360" imgH="241200" progId="Equation.3">
                  <p:embed/>
                </p:oleObj>
              </mc:Choice>
              <mc:Fallback>
                <p:oleObj name="公式" r:id="rId2" imgW="774360" imgH="241200" progId="Equation.3">
                  <p:embed/>
                  <p:pic>
                    <p:nvPicPr>
                      <p:cNvPr id="3665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6188" y="1284757"/>
                        <a:ext cx="1932434" cy="6018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597" name="Object 5"/>
          <p:cNvGraphicFramePr>
            <a:graphicFrameLocks noChangeAspect="1"/>
          </p:cNvGraphicFramePr>
          <p:nvPr/>
        </p:nvGraphicFramePr>
        <p:xfrm>
          <a:off x="3534249" y="2004462"/>
          <a:ext cx="3714022" cy="1087690"/>
        </p:xfrm>
        <a:graphic>
          <a:graphicData uri="http://schemas.openxmlformats.org/presentationml/2006/ole">
            <mc:AlternateContent xmlns:mc="http://schemas.openxmlformats.org/markup-compatibility/2006">
              <mc:Choice xmlns:v="urn:schemas-microsoft-com:vml" Requires="v">
                <p:oleObj name="公式" r:id="rId4" imgW="1650960" imgH="482400" progId="Equation.3">
                  <p:embed/>
                </p:oleObj>
              </mc:Choice>
              <mc:Fallback>
                <p:oleObj name="公式" r:id="rId4" imgW="1650960" imgH="482400" progId="Equation.3">
                  <p:embed/>
                  <p:pic>
                    <p:nvPicPr>
                      <p:cNvPr id="36659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4249" y="2004462"/>
                        <a:ext cx="3714022" cy="10876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598" name="Object 6"/>
          <p:cNvGraphicFramePr>
            <a:graphicFrameLocks noChangeAspect="1"/>
          </p:cNvGraphicFramePr>
          <p:nvPr/>
        </p:nvGraphicFramePr>
        <p:xfrm>
          <a:off x="3534249" y="3121216"/>
          <a:ext cx="5516252" cy="571632"/>
        </p:xfrm>
        <a:graphic>
          <a:graphicData uri="http://schemas.openxmlformats.org/presentationml/2006/ole">
            <mc:AlternateContent xmlns:mc="http://schemas.openxmlformats.org/markup-compatibility/2006">
              <mc:Choice xmlns:v="urn:schemas-microsoft-com:vml" Requires="v">
                <p:oleObj name="公式" r:id="rId6" imgW="2209680" imgH="228600" progId="Equation.3">
                  <p:embed/>
                </p:oleObj>
              </mc:Choice>
              <mc:Fallback>
                <p:oleObj name="公式" r:id="rId6" imgW="2209680" imgH="228600" progId="Equation.3">
                  <p:embed/>
                  <p:pic>
                    <p:nvPicPr>
                      <p:cNvPr id="36659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4249" y="3121216"/>
                        <a:ext cx="5516252"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599" name="Object 7"/>
          <p:cNvGraphicFramePr>
            <a:graphicFrameLocks noChangeAspect="1"/>
          </p:cNvGraphicFramePr>
          <p:nvPr/>
        </p:nvGraphicFramePr>
        <p:xfrm>
          <a:off x="3534249" y="4169438"/>
          <a:ext cx="6873878" cy="1217895"/>
        </p:xfrm>
        <a:graphic>
          <a:graphicData uri="http://schemas.openxmlformats.org/presentationml/2006/ole">
            <mc:AlternateContent xmlns:mc="http://schemas.openxmlformats.org/markup-compatibility/2006">
              <mc:Choice xmlns:v="urn:schemas-microsoft-com:vml" Requires="v">
                <p:oleObj name="公式" r:id="rId8" imgW="2869920" imgH="507960" progId="Equation.3">
                  <p:embed/>
                </p:oleObj>
              </mc:Choice>
              <mc:Fallback>
                <p:oleObj name="公式" r:id="rId8" imgW="2869920" imgH="507960" progId="Equation.3">
                  <p:embed/>
                  <p:pic>
                    <p:nvPicPr>
                      <p:cNvPr id="36659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34249" y="4169438"/>
                        <a:ext cx="6873878" cy="12178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600" name="Object 8"/>
          <p:cNvGraphicFramePr>
            <a:graphicFrameLocks noChangeAspect="1"/>
          </p:cNvGraphicFramePr>
          <p:nvPr/>
        </p:nvGraphicFramePr>
        <p:xfrm>
          <a:off x="3506188" y="5234254"/>
          <a:ext cx="5929097" cy="889206"/>
        </p:xfrm>
        <a:graphic>
          <a:graphicData uri="http://schemas.openxmlformats.org/presentationml/2006/ole">
            <mc:AlternateContent xmlns:mc="http://schemas.openxmlformats.org/markup-compatibility/2006">
              <mc:Choice xmlns:v="urn:schemas-microsoft-com:vml" Requires="v">
                <p:oleObj name="公式" r:id="rId10" imgW="2374560" imgH="355320" progId="Equation.3">
                  <p:embed/>
                </p:oleObj>
              </mc:Choice>
              <mc:Fallback>
                <p:oleObj name="公式" r:id="rId10" imgW="2374560" imgH="355320" progId="Equation.3">
                  <p:embed/>
                  <p:pic>
                    <p:nvPicPr>
                      <p:cNvPr id="36660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6188" y="5234254"/>
                        <a:ext cx="5929097" cy="889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6595">
                                            <p:txEl>
                                              <p:pRg st="0" end="0"/>
                                            </p:txEl>
                                          </p:spTgt>
                                        </p:tgtEl>
                                        <p:attrNameLst>
                                          <p:attrName>style.visibility</p:attrName>
                                        </p:attrNameLst>
                                      </p:cBhvr>
                                      <p:to>
                                        <p:strVal val="visible"/>
                                      </p:to>
                                    </p:set>
                                    <p:anim calcmode="lin" valueType="num">
                                      <p:cBhvr additive="base">
                                        <p:cTn id="7" dur="500" fill="hold"/>
                                        <p:tgtEl>
                                          <p:spTgt spid="3665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65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66596"/>
                                        </p:tgtEl>
                                        <p:attrNameLst>
                                          <p:attrName>style.visibility</p:attrName>
                                        </p:attrNameLst>
                                      </p:cBhvr>
                                      <p:to>
                                        <p:strVal val="visible"/>
                                      </p:to>
                                    </p:set>
                                    <p:anim calcmode="lin" valueType="num">
                                      <p:cBhvr additive="base">
                                        <p:cTn id="13" dur="500" fill="hold"/>
                                        <p:tgtEl>
                                          <p:spTgt spid="366596"/>
                                        </p:tgtEl>
                                        <p:attrNameLst>
                                          <p:attrName>ppt_x</p:attrName>
                                        </p:attrNameLst>
                                      </p:cBhvr>
                                      <p:tavLst>
                                        <p:tav tm="0">
                                          <p:val>
                                            <p:strVal val="1+#ppt_w/2"/>
                                          </p:val>
                                        </p:tav>
                                        <p:tav tm="100000">
                                          <p:val>
                                            <p:strVal val="#ppt_x"/>
                                          </p:val>
                                        </p:tav>
                                      </p:tavLst>
                                    </p:anim>
                                    <p:anim calcmode="lin" valueType="num">
                                      <p:cBhvr additive="base">
                                        <p:cTn id="14" dur="500" fill="hold"/>
                                        <p:tgtEl>
                                          <p:spTgt spid="366596"/>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66595">
                                            <p:txEl>
                                              <p:pRg st="1" end="1"/>
                                            </p:txEl>
                                          </p:spTgt>
                                        </p:tgtEl>
                                        <p:attrNameLst>
                                          <p:attrName>style.visibility</p:attrName>
                                        </p:attrNameLst>
                                      </p:cBhvr>
                                      <p:to>
                                        <p:strVal val="visible"/>
                                      </p:to>
                                    </p:set>
                                    <p:anim calcmode="lin" valueType="num">
                                      <p:cBhvr additive="base">
                                        <p:cTn id="18" dur="500" fill="hold"/>
                                        <p:tgtEl>
                                          <p:spTgt spid="366595">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665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366597"/>
                                        </p:tgtEl>
                                        <p:attrNameLst>
                                          <p:attrName>style.visibility</p:attrName>
                                        </p:attrNameLst>
                                      </p:cBhvr>
                                      <p:to>
                                        <p:strVal val="visible"/>
                                      </p:to>
                                    </p:set>
                                    <p:anim calcmode="lin" valueType="num">
                                      <p:cBhvr additive="base">
                                        <p:cTn id="24" dur="500" fill="hold"/>
                                        <p:tgtEl>
                                          <p:spTgt spid="366597"/>
                                        </p:tgtEl>
                                        <p:attrNameLst>
                                          <p:attrName>ppt_x</p:attrName>
                                        </p:attrNameLst>
                                      </p:cBhvr>
                                      <p:tavLst>
                                        <p:tav tm="0">
                                          <p:val>
                                            <p:strVal val="1+#ppt_w/2"/>
                                          </p:val>
                                        </p:tav>
                                        <p:tav tm="100000">
                                          <p:val>
                                            <p:strVal val="#ppt_x"/>
                                          </p:val>
                                        </p:tav>
                                      </p:tavLst>
                                    </p:anim>
                                    <p:anim calcmode="lin" valueType="num">
                                      <p:cBhvr additive="base">
                                        <p:cTn id="25" dur="500" fill="hold"/>
                                        <p:tgtEl>
                                          <p:spTgt spid="366597"/>
                                        </p:tgtEl>
                                        <p:attrNameLst>
                                          <p:attrName>ppt_y</p:attrName>
                                        </p:attrNameLst>
                                      </p:cBhvr>
                                      <p:tavLst>
                                        <p:tav tm="0">
                                          <p:val>
                                            <p:strVal val="0-#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366595">
                                            <p:txEl>
                                              <p:pRg st="2" end="2"/>
                                            </p:txEl>
                                          </p:spTgt>
                                        </p:tgtEl>
                                        <p:attrNameLst>
                                          <p:attrName>style.visibility</p:attrName>
                                        </p:attrNameLst>
                                      </p:cBhvr>
                                      <p:to>
                                        <p:strVal val="visible"/>
                                      </p:to>
                                    </p:set>
                                    <p:anim calcmode="lin" valueType="num">
                                      <p:cBhvr additive="base">
                                        <p:cTn id="29" dur="500" fill="hold"/>
                                        <p:tgtEl>
                                          <p:spTgt spid="366595">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665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366598"/>
                                        </p:tgtEl>
                                        <p:attrNameLst>
                                          <p:attrName>style.visibility</p:attrName>
                                        </p:attrNameLst>
                                      </p:cBhvr>
                                      <p:to>
                                        <p:strVal val="visible"/>
                                      </p:to>
                                    </p:set>
                                    <p:anim calcmode="lin" valueType="num">
                                      <p:cBhvr additive="base">
                                        <p:cTn id="35" dur="500" fill="hold"/>
                                        <p:tgtEl>
                                          <p:spTgt spid="366598"/>
                                        </p:tgtEl>
                                        <p:attrNameLst>
                                          <p:attrName>ppt_x</p:attrName>
                                        </p:attrNameLst>
                                      </p:cBhvr>
                                      <p:tavLst>
                                        <p:tav tm="0">
                                          <p:val>
                                            <p:strVal val="1+#ppt_w/2"/>
                                          </p:val>
                                        </p:tav>
                                        <p:tav tm="100000">
                                          <p:val>
                                            <p:strVal val="#ppt_x"/>
                                          </p:val>
                                        </p:tav>
                                      </p:tavLst>
                                    </p:anim>
                                    <p:anim calcmode="lin" valueType="num">
                                      <p:cBhvr additive="base">
                                        <p:cTn id="36" dur="500" fill="hold"/>
                                        <p:tgtEl>
                                          <p:spTgt spid="366598"/>
                                        </p:tgtEl>
                                        <p:attrNameLst>
                                          <p:attrName>ppt_y</p:attrName>
                                        </p:attrNameLst>
                                      </p:cBhvr>
                                      <p:tavLst>
                                        <p:tav tm="0">
                                          <p:val>
                                            <p:strVal val="0-#ppt_h/2"/>
                                          </p:val>
                                        </p:tav>
                                        <p:tav tm="100000">
                                          <p:val>
                                            <p:strVal val="#ppt_y"/>
                                          </p:val>
                                        </p:tav>
                                      </p:tavLst>
                                    </p:anim>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366595">
                                            <p:txEl>
                                              <p:pRg st="4" end="4"/>
                                            </p:txEl>
                                          </p:spTgt>
                                        </p:tgtEl>
                                        <p:attrNameLst>
                                          <p:attrName>style.visibility</p:attrName>
                                        </p:attrNameLst>
                                      </p:cBhvr>
                                      <p:to>
                                        <p:strVal val="visible"/>
                                      </p:to>
                                    </p:set>
                                    <p:anim calcmode="lin" valueType="num">
                                      <p:cBhvr additive="base">
                                        <p:cTn id="40" dur="500" fill="hold"/>
                                        <p:tgtEl>
                                          <p:spTgt spid="366595">
                                            <p:txEl>
                                              <p:pRg st="4" end="4"/>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665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3" fill="hold" nodeType="clickEffect">
                                  <p:stCondLst>
                                    <p:cond delay="0"/>
                                  </p:stCondLst>
                                  <p:childTnLst>
                                    <p:set>
                                      <p:cBhvr>
                                        <p:cTn id="45" dur="1" fill="hold">
                                          <p:stCondLst>
                                            <p:cond delay="0"/>
                                          </p:stCondLst>
                                        </p:cTn>
                                        <p:tgtEl>
                                          <p:spTgt spid="366599"/>
                                        </p:tgtEl>
                                        <p:attrNameLst>
                                          <p:attrName>style.visibility</p:attrName>
                                        </p:attrNameLst>
                                      </p:cBhvr>
                                      <p:to>
                                        <p:strVal val="visible"/>
                                      </p:to>
                                    </p:set>
                                    <p:anim calcmode="lin" valueType="num">
                                      <p:cBhvr additive="base">
                                        <p:cTn id="46" dur="500" fill="hold"/>
                                        <p:tgtEl>
                                          <p:spTgt spid="366599"/>
                                        </p:tgtEl>
                                        <p:attrNameLst>
                                          <p:attrName>ppt_x</p:attrName>
                                        </p:attrNameLst>
                                      </p:cBhvr>
                                      <p:tavLst>
                                        <p:tav tm="0">
                                          <p:val>
                                            <p:strVal val="1+#ppt_w/2"/>
                                          </p:val>
                                        </p:tav>
                                        <p:tav tm="100000">
                                          <p:val>
                                            <p:strVal val="#ppt_x"/>
                                          </p:val>
                                        </p:tav>
                                      </p:tavLst>
                                    </p:anim>
                                    <p:anim calcmode="lin" valueType="num">
                                      <p:cBhvr additive="base">
                                        <p:cTn id="47" dur="500" fill="hold"/>
                                        <p:tgtEl>
                                          <p:spTgt spid="366599"/>
                                        </p:tgtEl>
                                        <p:attrNameLst>
                                          <p:attrName>ppt_y</p:attrName>
                                        </p:attrNameLst>
                                      </p:cBhvr>
                                      <p:tavLst>
                                        <p:tav tm="0">
                                          <p:val>
                                            <p:strVal val="0-#ppt_h/2"/>
                                          </p:val>
                                        </p:tav>
                                        <p:tav tm="100000">
                                          <p:val>
                                            <p:strVal val="#ppt_y"/>
                                          </p:val>
                                        </p:tav>
                                      </p:tavLst>
                                    </p:anim>
                                  </p:childTnLst>
                                </p:cTn>
                              </p:par>
                            </p:childTnLst>
                          </p:cTn>
                        </p:par>
                        <p:par>
                          <p:cTn id="48" fill="hold">
                            <p:stCondLst>
                              <p:cond delay="500"/>
                            </p:stCondLst>
                            <p:childTnLst>
                              <p:par>
                                <p:cTn id="49" presetID="2" presetClass="entr" presetSubtype="4" fill="hold" grpId="0" nodeType="afterEffect">
                                  <p:stCondLst>
                                    <p:cond delay="0"/>
                                  </p:stCondLst>
                                  <p:childTnLst>
                                    <p:set>
                                      <p:cBhvr>
                                        <p:cTn id="50" dur="1" fill="hold">
                                          <p:stCondLst>
                                            <p:cond delay="0"/>
                                          </p:stCondLst>
                                        </p:cTn>
                                        <p:tgtEl>
                                          <p:spTgt spid="366595">
                                            <p:txEl>
                                              <p:pRg st="5" end="5"/>
                                            </p:txEl>
                                          </p:spTgt>
                                        </p:tgtEl>
                                        <p:attrNameLst>
                                          <p:attrName>style.visibility</p:attrName>
                                        </p:attrNameLst>
                                      </p:cBhvr>
                                      <p:to>
                                        <p:strVal val="visible"/>
                                      </p:to>
                                    </p:set>
                                    <p:anim calcmode="lin" valueType="num">
                                      <p:cBhvr additive="base">
                                        <p:cTn id="51" dur="500" fill="hold"/>
                                        <p:tgtEl>
                                          <p:spTgt spid="366595">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665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3" fill="hold" nodeType="clickEffect">
                                  <p:stCondLst>
                                    <p:cond delay="0"/>
                                  </p:stCondLst>
                                  <p:childTnLst>
                                    <p:set>
                                      <p:cBhvr>
                                        <p:cTn id="56" dur="1" fill="hold">
                                          <p:stCondLst>
                                            <p:cond delay="0"/>
                                          </p:stCondLst>
                                        </p:cTn>
                                        <p:tgtEl>
                                          <p:spTgt spid="366600"/>
                                        </p:tgtEl>
                                        <p:attrNameLst>
                                          <p:attrName>style.visibility</p:attrName>
                                        </p:attrNameLst>
                                      </p:cBhvr>
                                      <p:to>
                                        <p:strVal val="visible"/>
                                      </p:to>
                                    </p:set>
                                    <p:anim calcmode="lin" valueType="num">
                                      <p:cBhvr additive="base">
                                        <p:cTn id="57" dur="500" fill="hold"/>
                                        <p:tgtEl>
                                          <p:spTgt spid="366600"/>
                                        </p:tgtEl>
                                        <p:attrNameLst>
                                          <p:attrName>ppt_x</p:attrName>
                                        </p:attrNameLst>
                                      </p:cBhvr>
                                      <p:tavLst>
                                        <p:tav tm="0">
                                          <p:val>
                                            <p:strVal val="1+#ppt_w/2"/>
                                          </p:val>
                                        </p:tav>
                                        <p:tav tm="100000">
                                          <p:val>
                                            <p:strVal val="#ppt_x"/>
                                          </p:val>
                                        </p:tav>
                                      </p:tavLst>
                                    </p:anim>
                                    <p:anim calcmode="lin" valueType="num">
                                      <p:cBhvr additive="base">
                                        <p:cTn id="58" dur="500" fill="hold"/>
                                        <p:tgtEl>
                                          <p:spTgt spid="36660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Rectangle 2"/>
          <p:cNvSpPr>
            <a:spLocks noGrp="1" noChangeArrowheads="1"/>
          </p:cNvSpPr>
          <p:nvPr>
            <p:ph type="title"/>
          </p:nvPr>
        </p:nvSpPr>
        <p:spPr>
          <a:xfrm>
            <a:off x="816220" y="273529"/>
            <a:ext cx="9961986" cy="609741"/>
          </a:xfrm>
        </p:spPr>
        <p:txBody>
          <a:bodyPr/>
          <a:lstStyle/>
          <a:p>
            <a:pPr eaLnBrk="1" hangingPunct="1"/>
            <a:r>
              <a:rPr lang="zh-CN" altLang="en-US" dirty="0"/>
              <a:t>维纳过程的</a:t>
            </a:r>
            <a:r>
              <a:rPr lang="en-US" altLang="zh-CN" dirty="0"/>
              <a:t>n</a:t>
            </a:r>
            <a:r>
              <a:rPr lang="zh-CN" altLang="en-US" dirty="0"/>
              <a:t>维概率分布</a:t>
            </a:r>
          </a:p>
        </p:txBody>
      </p:sp>
      <p:sp>
        <p:nvSpPr>
          <p:cNvPr id="367619" name="Rectangle 3"/>
          <p:cNvSpPr>
            <a:spLocks noGrp="1" noChangeArrowheads="1"/>
          </p:cNvSpPr>
          <p:nvPr>
            <p:ph type="body" sz="half" idx="1"/>
          </p:nvPr>
        </p:nvSpPr>
        <p:spPr>
          <a:xfrm>
            <a:off x="789494" y="1125799"/>
            <a:ext cx="3772773" cy="4611167"/>
          </a:xfrm>
        </p:spPr>
        <p:txBody>
          <a:bodyPr/>
          <a:lstStyle/>
          <a:p>
            <a:pPr eaLnBrk="1" hangingPunct="1">
              <a:lnSpc>
                <a:spcPct val="180000"/>
              </a:lnSpc>
              <a:buFont typeface="Wingdings" pitchFamily="2" charset="2"/>
              <a:buNone/>
            </a:pPr>
            <a:r>
              <a:rPr lang="zh-CN" altLang="en-US" dirty="0">
                <a:solidFill>
                  <a:srgbClr val="0000FF"/>
                </a:solidFill>
              </a:rPr>
              <a:t>均值函数向量</a:t>
            </a:r>
          </a:p>
          <a:p>
            <a:pPr eaLnBrk="1" hangingPunct="1">
              <a:lnSpc>
                <a:spcPct val="180000"/>
              </a:lnSpc>
              <a:buFont typeface="Wingdings" pitchFamily="2" charset="2"/>
              <a:buNone/>
            </a:pPr>
            <a:r>
              <a:rPr lang="en-US" altLang="zh-CN" dirty="0">
                <a:solidFill>
                  <a:srgbClr val="0000FF"/>
                </a:solidFill>
              </a:rPr>
              <a:t>n</a:t>
            </a:r>
            <a:r>
              <a:rPr lang="zh-CN" altLang="en-US" dirty="0">
                <a:solidFill>
                  <a:srgbClr val="0000FF"/>
                </a:solidFill>
              </a:rPr>
              <a:t>阶协方差矩阵</a:t>
            </a:r>
          </a:p>
          <a:p>
            <a:pPr eaLnBrk="1" hangingPunct="1">
              <a:lnSpc>
                <a:spcPct val="180000"/>
              </a:lnSpc>
              <a:buFont typeface="Wingdings" pitchFamily="2" charset="2"/>
              <a:buNone/>
            </a:pPr>
            <a:endParaRPr lang="zh-CN" altLang="en-US" dirty="0">
              <a:solidFill>
                <a:srgbClr val="0000FF"/>
              </a:solidFill>
            </a:endParaRPr>
          </a:p>
          <a:p>
            <a:pPr eaLnBrk="1" hangingPunct="1">
              <a:lnSpc>
                <a:spcPct val="180000"/>
              </a:lnSpc>
              <a:buFont typeface="Wingdings" pitchFamily="2" charset="2"/>
              <a:buNone/>
            </a:pPr>
            <a:endParaRPr lang="zh-CN" altLang="en-US" dirty="0">
              <a:solidFill>
                <a:srgbClr val="0000FF"/>
              </a:solidFill>
            </a:endParaRPr>
          </a:p>
          <a:p>
            <a:pPr eaLnBrk="1" hangingPunct="1">
              <a:lnSpc>
                <a:spcPct val="180000"/>
              </a:lnSpc>
              <a:buFont typeface="Wingdings" pitchFamily="2" charset="2"/>
              <a:buNone/>
            </a:pPr>
            <a:endParaRPr lang="zh-CN" altLang="en-US" dirty="0">
              <a:solidFill>
                <a:srgbClr val="0000FF"/>
              </a:solidFill>
            </a:endParaRPr>
          </a:p>
          <a:p>
            <a:pPr eaLnBrk="1" hangingPunct="1">
              <a:lnSpc>
                <a:spcPct val="180000"/>
              </a:lnSpc>
              <a:buFont typeface="Wingdings" pitchFamily="2" charset="2"/>
              <a:buNone/>
            </a:pPr>
            <a:r>
              <a:rPr lang="en-US" altLang="zh-CN" dirty="0">
                <a:solidFill>
                  <a:srgbClr val="0000FF"/>
                </a:solidFill>
              </a:rPr>
              <a:t>n</a:t>
            </a:r>
            <a:r>
              <a:rPr lang="zh-CN" altLang="en-US" dirty="0">
                <a:solidFill>
                  <a:srgbClr val="0000FF"/>
                </a:solidFill>
              </a:rPr>
              <a:t>维概率分布</a:t>
            </a:r>
          </a:p>
        </p:txBody>
      </p:sp>
      <p:graphicFrame>
        <p:nvGraphicFramePr>
          <p:cNvPr id="367620" name="Object 4"/>
          <p:cNvGraphicFramePr>
            <a:graphicFrameLocks noGrp="1" noChangeAspect="1"/>
          </p:cNvGraphicFramePr>
          <p:nvPr>
            <p:ph sz="half" idx="2"/>
          </p:nvPr>
        </p:nvGraphicFramePr>
        <p:xfrm>
          <a:off x="2993307" y="1307445"/>
          <a:ext cx="2229366" cy="543051"/>
        </p:xfrm>
        <a:graphic>
          <a:graphicData uri="http://schemas.openxmlformats.org/presentationml/2006/ole">
            <mc:AlternateContent xmlns:mc="http://schemas.openxmlformats.org/markup-compatibility/2006">
              <mc:Choice xmlns:v="urn:schemas-microsoft-com:vml" Requires="v">
                <p:oleObj name="公式" r:id="rId2" imgW="990360" imgH="241200" progId="Equation.3">
                  <p:embed/>
                </p:oleObj>
              </mc:Choice>
              <mc:Fallback>
                <p:oleObj name="公式" r:id="rId2" imgW="990360" imgH="241200" progId="Equation.3">
                  <p:embed/>
                  <p:pic>
                    <p:nvPicPr>
                      <p:cNvPr id="3676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3307" y="1307445"/>
                        <a:ext cx="2229366" cy="5430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7621" name="Object 5"/>
          <p:cNvGraphicFramePr>
            <a:graphicFrameLocks noChangeAspect="1"/>
          </p:cNvGraphicFramePr>
          <p:nvPr/>
        </p:nvGraphicFramePr>
        <p:xfrm>
          <a:off x="2993307" y="2528894"/>
          <a:ext cx="4144334" cy="2142034"/>
        </p:xfrm>
        <a:graphic>
          <a:graphicData uri="http://schemas.openxmlformats.org/presentationml/2006/ole">
            <mc:AlternateContent xmlns:mc="http://schemas.openxmlformats.org/markup-compatibility/2006">
              <mc:Choice xmlns:v="urn:schemas-microsoft-com:vml" Requires="v">
                <p:oleObj name="公式" r:id="rId4" imgW="1841400" imgH="952200" progId="Equation.3">
                  <p:embed/>
                </p:oleObj>
              </mc:Choice>
              <mc:Fallback>
                <p:oleObj name="公式" r:id="rId4" imgW="1841400" imgH="952200" progId="Equation.3">
                  <p:embed/>
                  <p:pic>
                    <p:nvPicPr>
                      <p:cNvPr id="36762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3307" y="2528894"/>
                        <a:ext cx="4144334" cy="2142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7622" name="Object 6"/>
          <p:cNvGraphicFramePr>
            <a:graphicFrameLocks noChangeAspect="1"/>
          </p:cNvGraphicFramePr>
          <p:nvPr/>
        </p:nvGraphicFramePr>
        <p:xfrm>
          <a:off x="3017702" y="4947794"/>
          <a:ext cx="5313005" cy="1571989"/>
        </p:xfrm>
        <a:graphic>
          <a:graphicData uri="http://schemas.openxmlformats.org/presentationml/2006/ole">
            <mc:AlternateContent xmlns:mc="http://schemas.openxmlformats.org/markup-compatibility/2006">
              <mc:Choice xmlns:v="urn:schemas-microsoft-com:vml" Requires="v">
                <p:oleObj name="公式" r:id="rId6" imgW="2361960" imgH="698400" progId="Equation.3">
                  <p:embed/>
                </p:oleObj>
              </mc:Choice>
              <mc:Fallback>
                <p:oleObj name="公式" r:id="rId6" imgW="2361960" imgH="698400" progId="Equation.3">
                  <p:embed/>
                  <p:pic>
                    <p:nvPicPr>
                      <p:cNvPr id="36762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7702" y="4947794"/>
                        <a:ext cx="5313005" cy="1571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 calcmode="lin" valueType="num">
                                      <p:cBhvr additive="base">
                                        <p:cTn id="7" dur="500" fill="hold"/>
                                        <p:tgtEl>
                                          <p:spTgt spid="3676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76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67620"/>
                                        </p:tgtEl>
                                        <p:attrNameLst>
                                          <p:attrName>style.visibility</p:attrName>
                                        </p:attrNameLst>
                                      </p:cBhvr>
                                      <p:to>
                                        <p:strVal val="visible"/>
                                      </p:to>
                                    </p:set>
                                    <p:anim calcmode="lin" valueType="num">
                                      <p:cBhvr additive="base">
                                        <p:cTn id="13" dur="500" fill="hold"/>
                                        <p:tgtEl>
                                          <p:spTgt spid="367620"/>
                                        </p:tgtEl>
                                        <p:attrNameLst>
                                          <p:attrName>ppt_x</p:attrName>
                                        </p:attrNameLst>
                                      </p:cBhvr>
                                      <p:tavLst>
                                        <p:tav tm="0">
                                          <p:val>
                                            <p:strVal val="1+#ppt_w/2"/>
                                          </p:val>
                                        </p:tav>
                                        <p:tav tm="100000">
                                          <p:val>
                                            <p:strVal val="#ppt_x"/>
                                          </p:val>
                                        </p:tav>
                                      </p:tavLst>
                                    </p:anim>
                                    <p:anim calcmode="lin" valueType="num">
                                      <p:cBhvr additive="base">
                                        <p:cTn id="14" dur="500" fill="hold"/>
                                        <p:tgtEl>
                                          <p:spTgt spid="367620"/>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367619">
                                            <p:txEl>
                                              <p:pRg st="1" end="1"/>
                                            </p:txEl>
                                          </p:spTgt>
                                        </p:tgtEl>
                                        <p:attrNameLst>
                                          <p:attrName>style.visibility</p:attrName>
                                        </p:attrNameLst>
                                      </p:cBhvr>
                                      <p:to>
                                        <p:strVal val="visible"/>
                                      </p:to>
                                    </p:set>
                                    <p:anim calcmode="lin" valueType="num">
                                      <p:cBhvr additive="base">
                                        <p:cTn id="18" dur="500" fill="hold"/>
                                        <p:tgtEl>
                                          <p:spTgt spid="36761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676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367621"/>
                                        </p:tgtEl>
                                        <p:attrNameLst>
                                          <p:attrName>style.visibility</p:attrName>
                                        </p:attrNameLst>
                                      </p:cBhvr>
                                      <p:to>
                                        <p:strVal val="visible"/>
                                      </p:to>
                                    </p:set>
                                    <p:anim calcmode="lin" valueType="num">
                                      <p:cBhvr additive="base">
                                        <p:cTn id="24" dur="500" fill="hold"/>
                                        <p:tgtEl>
                                          <p:spTgt spid="367621"/>
                                        </p:tgtEl>
                                        <p:attrNameLst>
                                          <p:attrName>ppt_x</p:attrName>
                                        </p:attrNameLst>
                                      </p:cBhvr>
                                      <p:tavLst>
                                        <p:tav tm="0">
                                          <p:val>
                                            <p:strVal val="1+#ppt_w/2"/>
                                          </p:val>
                                        </p:tav>
                                        <p:tav tm="100000">
                                          <p:val>
                                            <p:strVal val="#ppt_x"/>
                                          </p:val>
                                        </p:tav>
                                      </p:tavLst>
                                    </p:anim>
                                    <p:anim calcmode="lin" valueType="num">
                                      <p:cBhvr additive="base">
                                        <p:cTn id="25" dur="500" fill="hold"/>
                                        <p:tgtEl>
                                          <p:spTgt spid="367621"/>
                                        </p:tgtEl>
                                        <p:attrNameLst>
                                          <p:attrName>ppt_y</p:attrName>
                                        </p:attrNameLst>
                                      </p:cBhvr>
                                      <p:tavLst>
                                        <p:tav tm="0">
                                          <p:val>
                                            <p:strVal val="0-#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367619">
                                            <p:txEl>
                                              <p:pRg st="5" end="5"/>
                                            </p:txEl>
                                          </p:spTgt>
                                        </p:tgtEl>
                                        <p:attrNameLst>
                                          <p:attrName>style.visibility</p:attrName>
                                        </p:attrNameLst>
                                      </p:cBhvr>
                                      <p:to>
                                        <p:strVal val="visible"/>
                                      </p:to>
                                    </p:set>
                                    <p:anim calcmode="lin" valueType="num">
                                      <p:cBhvr additive="base">
                                        <p:cTn id="29" dur="500" fill="hold"/>
                                        <p:tgtEl>
                                          <p:spTgt spid="36761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67619">
                                            <p:txEl>
                                              <p:pRg st="5" end="5"/>
                                            </p:txEl>
                                          </p:spTgt>
                                        </p:tgtEl>
                                        <p:attrNameLst>
                                          <p:attrName>ppt_y</p:attrName>
                                        </p:attrNameLst>
                                      </p:cBhvr>
                                      <p:tavLst>
                                        <p:tav tm="0">
                                          <p:val>
                                            <p:strVal val="1+#ppt_h/2"/>
                                          </p:val>
                                        </p:tav>
                                        <p:tav tm="100000">
                                          <p:val>
                                            <p:strVal val="#ppt_y"/>
                                          </p:val>
                                        </p:tav>
                                      </p:tavLst>
                                    </p:anim>
                                  </p:childTnLst>
                                </p:cTn>
                              </p:par>
                            </p:childTnLst>
                          </p:cTn>
                        </p:par>
                        <p:par>
                          <p:cTn id="31" fill="hold">
                            <p:stCondLst>
                              <p:cond delay="1000"/>
                            </p:stCondLst>
                            <p:childTnLst>
                              <p:par>
                                <p:cTn id="32" presetID="2" presetClass="entr" presetSubtype="3" fill="hold" nodeType="afterEffect">
                                  <p:stCondLst>
                                    <p:cond delay="0"/>
                                  </p:stCondLst>
                                  <p:childTnLst>
                                    <p:set>
                                      <p:cBhvr>
                                        <p:cTn id="33" dur="1" fill="hold">
                                          <p:stCondLst>
                                            <p:cond delay="0"/>
                                          </p:stCondLst>
                                        </p:cTn>
                                        <p:tgtEl>
                                          <p:spTgt spid="367622"/>
                                        </p:tgtEl>
                                        <p:attrNameLst>
                                          <p:attrName>style.visibility</p:attrName>
                                        </p:attrNameLst>
                                      </p:cBhvr>
                                      <p:to>
                                        <p:strVal val="visible"/>
                                      </p:to>
                                    </p:set>
                                    <p:anim calcmode="lin" valueType="num">
                                      <p:cBhvr additive="base">
                                        <p:cTn id="34" dur="500" fill="hold"/>
                                        <p:tgtEl>
                                          <p:spTgt spid="367622"/>
                                        </p:tgtEl>
                                        <p:attrNameLst>
                                          <p:attrName>ppt_x</p:attrName>
                                        </p:attrNameLst>
                                      </p:cBhvr>
                                      <p:tavLst>
                                        <p:tav tm="0">
                                          <p:val>
                                            <p:strVal val="1+#ppt_w/2"/>
                                          </p:val>
                                        </p:tav>
                                        <p:tav tm="100000">
                                          <p:val>
                                            <p:strVal val="#ppt_x"/>
                                          </p:val>
                                        </p:tav>
                                      </p:tavLst>
                                    </p:anim>
                                    <p:anim calcmode="lin" valueType="num">
                                      <p:cBhvr additive="base">
                                        <p:cTn id="35" dur="500" fill="hold"/>
                                        <p:tgtEl>
                                          <p:spTgt spid="3676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3" name="Rectangle 2"/>
          <p:cNvSpPr>
            <a:spLocks noGrp="1" noChangeArrowheads="1"/>
          </p:cNvSpPr>
          <p:nvPr>
            <p:ph type="title"/>
          </p:nvPr>
        </p:nvSpPr>
        <p:spPr>
          <a:xfrm>
            <a:off x="746774" y="261954"/>
            <a:ext cx="9961986" cy="609741"/>
          </a:xfrm>
        </p:spPr>
        <p:txBody>
          <a:bodyPr/>
          <a:lstStyle/>
          <a:p>
            <a:pPr eaLnBrk="1" hangingPunct="1"/>
            <a:r>
              <a:rPr lang="zh-CN" altLang="en-US"/>
              <a:t>维纳过程的</a:t>
            </a:r>
            <a:r>
              <a:rPr lang="en-US" altLang="zh-CN"/>
              <a:t>n</a:t>
            </a:r>
            <a:r>
              <a:rPr lang="zh-CN" altLang="en-US"/>
              <a:t>维概率分布</a:t>
            </a:r>
          </a:p>
        </p:txBody>
      </p:sp>
      <p:sp>
        <p:nvSpPr>
          <p:cNvPr id="368643" name="Rectangle 3"/>
          <p:cNvSpPr>
            <a:spLocks noGrp="1" noChangeArrowheads="1"/>
          </p:cNvSpPr>
          <p:nvPr>
            <p:ph type="body" sz="half" idx="1"/>
          </p:nvPr>
        </p:nvSpPr>
        <p:spPr>
          <a:xfrm>
            <a:off x="746774" y="1376682"/>
            <a:ext cx="3772773" cy="641498"/>
          </a:xfrm>
        </p:spPr>
        <p:txBody>
          <a:bodyPr>
            <a:normAutofit/>
          </a:bodyPr>
          <a:lstStyle/>
          <a:p>
            <a:pPr eaLnBrk="1" hangingPunct="1">
              <a:lnSpc>
                <a:spcPct val="150000"/>
              </a:lnSpc>
              <a:buFont typeface="Wingdings" pitchFamily="2" charset="2"/>
              <a:buNone/>
            </a:pPr>
            <a:r>
              <a:rPr lang="en-US" altLang="zh-CN" dirty="0">
                <a:solidFill>
                  <a:srgbClr val="0000FF"/>
                </a:solidFill>
              </a:rPr>
              <a:t>n</a:t>
            </a:r>
            <a:r>
              <a:rPr lang="zh-CN" altLang="en-US" dirty="0">
                <a:solidFill>
                  <a:srgbClr val="0000FF"/>
                </a:solidFill>
              </a:rPr>
              <a:t>维概率密度函数</a:t>
            </a:r>
          </a:p>
        </p:txBody>
      </p:sp>
      <p:graphicFrame>
        <p:nvGraphicFramePr>
          <p:cNvPr id="368644" name="Object 4"/>
          <p:cNvGraphicFramePr>
            <a:graphicFrameLocks noChangeAspect="1"/>
          </p:cNvGraphicFramePr>
          <p:nvPr/>
        </p:nvGraphicFramePr>
        <p:xfrm>
          <a:off x="917575" y="2592265"/>
          <a:ext cx="4769954" cy="571632"/>
        </p:xfrm>
        <a:graphic>
          <a:graphicData uri="http://schemas.openxmlformats.org/presentationml/2006/ole">
            <mc:AlternateContent xmlns:mc="http://schemas.openxmlformats.org/markup-compatibility/2006">
              <mc:Choice xmlns:v="urn:schemas-microsoft-com:vml" Requires="v">
                <p:oleObj name="公式" r:id="rId2" imgW="2120760" imgH="253800" progId="Equation.3">
                  <p:embed/>
                </p:oleObj>
              </mc:Choice>
              <mc:Fallback>
                <p:oleObj name="公式" r:id="rId2" imgW="2120760" imgH="253800" progId="Equation.3">
                  <p:embed/>
                  <p:pic>
                    <p:nvPicPr>
                      <p:cNvPr id="3686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2592265"/>
                        <a:ext cx="4769954"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45" name="Object 5"/>
          <p:cNvGraphicFramePr>
            <a:graphicFrameLocks noChangeAspect="1"/>
          </p:cNvGraphicFramePr>
          <p:nvPr/>
        </p:nvGraphicFramePr>
        <p:xfrm>
          <a:off x="1040229" y="5289089"/>
          <a:ext cx="4912862" cy="571632"/>
        </p:xfrm>
        <a:graphic>
          <a:graphicData uri="http://schemas.openxmlformats.org/presentationml/2006/ole">
            <mc:AlternateContent xmlns:mc="http://schemas.openxmlformats.org/markup-compatibility/2006">
              <mc:Choice xmlns:v="urn:schemas-microsoft-com:vml" Requires="v">
                <p:oleObj name="公式" r:id="rId4" imgW="2184120" imgH="253800" progId="Equation.3">
                  <p:embed/>
                </p:oleObj>
              </mc:Choice>
              <mc:Fallback>
                <p:oleObj name="公式" r:id="rId4" imgW="2184120" imgH="253800" progId="Equation.3">
                  <p:embed/>
                  <p:pic>
                    <p:nvPicPr>
                      <p:cNvPr id="36864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0229" y="5289089"/>
                        <a:ext cx="4912862" cy="571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46" name="Object 6"/>
          <p:cNvGraphicFramePr>
            <a:graphicFrameLocks noChangeAspect="1"/>
          </p:cNvGraphicFramePr>
          <p:nvPr/>
        </p:nvGraphicFramePr>
        <p:xfrm>
          <a:off x="5682023" y="1925739"/>
          <a:ext cx="4455556" cy="2086458"/>
        </p:xfrm>
        <a:graphic>
          <a:graphicData uri="http://schemas.openxmlformats.org/presentationml/2006/ole">
            <mc:AlternateContent xmlns:mc="http://schemas.openxmlformats.org/markup-compatibility/2006">
              <mc:Choice xmlns:v="urn:schemas-microsoft-com:vml" Requires="v">
                <p:oleObj name="公式" r:id="rId6" imgW="1981080" imgH="927000" progId="Equation.3">
                  <p:embed/>
                </p:oleObj>
              </mc:Choice>
              <mc:Fallback>
                <p:oleObj name="公式" r:id="rId6" imgW="1981080" imgH="927000" progId="Equation.3">
                  <p:embed/>
                  <p:pic>
                    <p:nvPicPr>
                      <p:cNvPr id="36864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2023" y="1925739"/>
                        <a:ext cx="4455556" cy="2086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47" name="Object 7"/>
          <p:cNvGraphicFramePr>
            <a:graphicFrameLocks noChangeAspect="1"/>
          </p:cNvGraphicFramePr>
          <p:nvPr/>
        </p:nvGraphicFramePr>
        <p:xfrm>
          <a:off x="6070520" y="4630752"/>
          <a:ext cx="2885156" cy="2086458"/>
        </p:xfrm>
        <a:graphic>
          <a:graphicData uri="http://schemas.openxmlformats.org/presentationml/2006/ole">
            <mc:AlternateContent xmlns:mc="http://schemas.openxmlformats.org/markup-compatibility/2006">
              <mc:Choice xmlns:v="urn:schemas-microsoft-com:vml" Requires="v">
                <p:oleObj name="公式" r:id="rId8" imgW="1282680" imgH="927000" progId="Equation.3">
                  <p:embed/>
                </p:oleObj>
              </mc:Choice>
              <mc:Fallback>
                <p:oleObj name="公式" r:id="rId8" imgW="1282680" imgH="927000" progId="Equation.3">
                  <p:embed/>
                  <p:pic>
                    <p:nvPicPr>
                      <p:cNvPr id="368647"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70520" y="4630752"/>
                        <a:ext cx="2885156" cy="2086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48" name="Rectangle 8"/>
          <p:cNvSpPr>
            <a:spLocks noChangeArrowheads="1"/>
          </p:cNvSpPr>
          <p:nvPr/>
        </p:nvSpPr>
        <p:spPr bwMode="auto">
          <a:xfrm>
            <a:off x="917575" y="4039394"/>
            <a:ext cx="2161088" cy="660014"/>
          </a:xfrm>
          <a:prstGeom prst="rect">
            <a:avLst/>
          </a:prstGeom>
          <a:noFill/>
          <a:ln w="9525">
            <a:noFill/>
            <a:miter lim="800000"/>
            <a:headEnd/>
            <a:tailEnd/>
          </a:ln>
        </p:spPr>
        <p:txBody>
          <a:bodyPr lIns="0" tIns="0" rIns="0" bIns="0">
            <a:spAutoFit/>
          </a:bodyPr>
          <a:lstStyle/>
          <a:p>
            <a:pPr marL="533507" indent="-533507">
              <a:lnSpc>
                <a:spcPct val="180000"/>
              </a:lnSpc>
              <a:spcBef>
                <a:spcPct val="70000"/>
              </a:spcBef>
              <a:buClr>
                <a:srgbClr val="00FF00"/>
              </a:buClr>
            </a:pPr>
            <a:r>
              <a:rPr lang="en-US" altLang="zh-CN" sz="2801" b="1" dirty="0">
                <a:solidFill>
                  <a:srgbClr val="0000FF"/>
                </a:solidFill>
                <a:ea typeface="黑体" pitchFamily="2" charset="-122"/>
              </a:rPr>
              <a:t>n</a:t>
            </a:r>
            <a:r>
              <a:rPr lang="zh-CN" altLang="en-US" sz="2801" b="1" dirty="0">
                <a:solidFill>
                  <a:srgbClr val="0000FF"/>
                </a:solidFill>
                <a:ea typeface="黑体" pitchFamily="2" charset="-122"/>
              </a:rPr>
              <a:t>维特征函数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8643">
                                            <p:txEl>
                                              <p:pRg st="0" end="0"/>
                                            </p:txEl>
                                          </p:spTgt>
                                        </p:tgtEl>
                                        <p:attrNameLst>
                                          <p:attrName>style.visibility</p:attrName>
                                        </p:attrNameLst>
                                      </p:cBhvr>
                                      <p:to>
                                        <p:strVal val="visible"/>
                                      </p:to>
                                    </p:set>
                                    <p:anim calcmode="lin" valueType="num">
                                      <p:cBhvr additive="base">
                                        <p:cTn id="7" dur="500" fill="hold"/>
                                        <p:tgtEl>
                                          <p:spTgt spid="3686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4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3" fill="hold" nodeType="afterEffect">
                                  <p:stCondLst>
                                    <p:cond delay="0"/>
                                  </p:stCondLst>
                                  <p:childTnLst>
                                    <p:set>
                                      <p:cBhvr>
                                        <p:cTn id="11" dur="1" fill="hold">
                                          <p:stCondLst>
                                            <p:cond delay="0"/>
                                          </p:stCondLst>
                                        </p:cTn>
                                        <p:tgtEl>
                                          <p:spTgt spid="368644"/>
                                        </p:tgtEl>
                                        <p:attrNameLst>
                                          <p:attrName>style.visibility</p:attrName>
                                        </p:attrNameLst>
                                      </p:cBhvr>
                                      <p:to>
                                        <p:strVal val="visible"/>
                                      </p:to>
                                    </p:set>
                                    <p:anim calcmode="lin" valueType="num">
                                      <p:cBhvr additive="base">
                                        <p:cTn id="12" dur="500" fill="hold"/>
                                        <p:tgtEl>
                                          <p:spTgt spid="368644"/>
                                        </p:tgtEl>
                                        <p:attrNameLst>
                                          <p:attrName>ppt_x</p:attrName>
                                        </p:attrNameLst>
                                      </p:cBhvr>
                                      <p:tavLst>
                                        <p:tav tm="0">
                                          <p:val>
                                            <p:strVal val="1+#ppt_w/2"/>
                                          </p:val>
                                        </p:tav>
                                        <p:tav tm="100000">
                                          <p:val>
                                            <p:strVal val="#ppt_x"/>
                                          </p:val>
                                        </p:tav>
                                      </p:tavLst>
                                    </p:anim>
                                    <p:anim calcmode="lin" valueType="num">
                                      <p:cBhvr additive="base">
                                        <p:cTn id="13" dur="500" fill="hold"/>
                                        <p:tgtEl>
                                          <p:spTgt spid="368644"/>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3" fill="hold" nodeType="afterEffect">
                                  <p:stCondLst>
                                    <p:cond delay="0"/>
                                  </p:stCondLst>
                                  <p:childTnLst>
                                    <p:set>
                                      <p:cBhvr>
                                        <p:cTn id="16" dur="1" fill="hold">
                                          <p:stCondLst>
                                            <p:cond delay="0"/>
                                          </p:stCondLst>
                                        </p:cTn>
                                        <p:tgtEl>
                                          <p:spTgt spid="368646"/>
                                        </p:tgtEl>
                                        <p:attrNameLst>
                                          <p:attrName>style.visibility</p:attrName>
                                        </p:attrNameLst>
                                      </p:cBhvr>
                                      <p:to>
                                        <p:strVal val="visible"/>
                                      </p:to>
                                    </p:set>
                                    <p:anim calcmode="lin" valueType="num">
                                      <p:cBhvr additive="base">
                                        <p:cTn id="17" dur="500" fill="hold"/>
                                        <p:tgtEl>
                                          <p:spTgt spid="368646"/>
                                        </p:tgtEl>
                                        <p:attrNameLst>
                                          <p:attrName>ppt_x</p:attrName>
                                        </p:attrNameLst>
                                      </p:cBhvr>
                                      <p:tavLst>
                                        <p:tav tm="0">
                                          <p:val>
                                            <p:strVal val="1+#ppt_w/2"/>
                                          </p:val>
                                        </p:tav>
                                        <p:tav tm="100000">
                                          <p:val>
                                            <p:strVal val="#ppt_x"/>
                                          </p:val>
                                        </p:tav>
                                      </p:tavLst>
                                    </p:anim>
                                    <p:anim calcmode="lin" valueType="num">
                                      <p:cBhvr additive="base">
                                        <p:cTn id="18" dur="500" fill="hold"/>
                                        <p:tgtEl>
                                          <p:spTgt spid="368646"/>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68648">
                                            <p:txEl>
                                              <p:pRg st="0" end="0"/>
                                            </p:txEl>
                                          </p:spTgt>
                                        </p:tgtEl>
                                        <p:attrNameLst>
                                          <p:attrName>style.visibility</p:attrName>
                                        </p:attrNameLst>
                                      </p:cBhvr>
                                      <p:to>
                                        <p:strVal val="visible"/>
                                      </p:to>
                                    </p:set>
                                    <p:anim calcmode="lin" valueType="num">
                                      <p:cBhvr additive="base">
                                        <p:cTn id="23" dur="500" fill="hold"/>
                                        <p:tgtEl>
                                          <p:spTgt spid="368648">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8648">
                                            <p:txEl>
                                              <p:pRg st="0" end="0"/>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3" fill="hold" nodeType="afterEffect">
                                  <p:stCondLst>
                                    <p:cond delay="0"/>
                                  </p:stCondLst>
                                  <p:childTnLst>
                                    <p:set>
                                      <p:cBhvr>
                                        <p:cTn id="27" dur="1" fill="hold">
                                          <p:stCondLst>
                                            <p:cond delay="0"/>
                                          </p:stCondLst>
                                        </p:cTn>
                                        <p:tgtEl>
                                          <p:spTgt spid="368645"/>
                                        </p:tgtEl>
                                        <p:attrNameLst>
                                          <p:attrName>style.visibility</p:attrName>
                                        </p:attrNameLst>
                                      </p:cBhvr>
                                      <p:to>
                                        <p:strVal val="visible"/>
                                      </p:to>
                                    </p:set>
                                    <p:anim calcmode="lin" valueType="num">
                                      <p:cBhvr additive="base">
                                        <p:cTn id="28" dur="500" fill="hold"/>
                                        <p:tgtEl>
                                          <p:spTgt spid="368645"/>
                                        </p:tgtEl>
                                        <p:attrNameLst>
                                          <p:attrName>ppt_x</p:attrName>
                                        </p:attrNameLst>
                                      </p:cBhvr>
                                      <p:tavLst>
                                        <p:tav tm="0">
                                          <p:val>
                                            <p:strVal val="1+#ppt_w/2"/>
                                          </p:val>
                                        </p:tav>
                                        <p:tav tm="100000">
                                          <p:val>
                                            <p:strVal val="#ppt_x"/>
                                          </p:val>
                                        </p:tav>
                                      </p:tavLst>
                                    </p:anim>
                                    <p:anim calcmode="lin" valueType="num">
                                      <p:cBhvr additive="base">
                                        <p:cTn id="29" dur="500" fill="hold"/>
                                        <p:tgtEl>
                                          <p:spTgt spid="368645"/>
                                        </p:tgtEl>
                                        <p:attrNameLst>
                                          <p:attrName>ppt_y</p:attrName>
                                        </p:attrNameLst>
                                      </p:cBhvr>
                                      <p:tavLst>
                                        <p:tav tm="0">
                                          <p:val>
                                            <p:strVal val="0-#ppt_h/2"/>
                                          </p:val>
                                        </p:tav>
                                        <p:tav tm="100000">
                                          <p:val>
                                            <p:strVal val="#ppt_y"/>
                                          </p:val>
                                        </p:tav>
                                      </p:tavLst>
                                    </p:anim>
                                  </p:childTnLst>
                                </p:cTn>
                              </p:par>
                            </p:childTnLst>
                          </p:cTn>
                        </p:par>
                        <p:par>
                          <p:cTn id="30" fill="hold">
                            <p:stCondLst>
                              <p:cond delay="1000"/>
                            </p:stCondLst>
                            <p:childTnLst>
                              <p:par>
                                <p:cTn id="31" presetID="2" presetClass="entr" presetSubtype="3" fill="hold" nodeType="afterEffect">
                                  <p:stCondLst>
                                    <p:cond delay="0"/>
                                  </p:stCondLst>
                                  <p:childTnLst>
                                    <p:set>
                                      <p:cBhvr>
                                        <p:cTn id="32" dur="1" fill="hold">
                                          <p:stCondLst>
                                            <p:cond delay="0"/>
                                          </p:stCondLst>
                                        </p:cTn>
                                        <p:tgtEl>
                                          <p:spTgt spid="368647"/>
                                        </p:tgtEl>
                                        <p:attrNameLst>
                                          <p:attrName>style.visibility</p:attrName>
                                        </p:attrNameLst>
                                      </p:cBhvr>
                                      <p:to>
                                        <p:strVal val="visible"/>
                                      </p:to>
                                    </p:set>
                                    <p:anim calcmode="lin" valueType="num">
                                      <p:cBhvr additive="base">
                                        <p:cTn id="33" dur="500" fill="hold"/>
                                        <p:tgtEl>
                                          <p:spTgt spid="368647"/>
                                        </p:tgtEl>
                                        <p:attrNameLst>
                                          <p:attrName>ppt_x</p:attrName>
                                        </p:attrNameLst>
                                      </p:cBhvr>
                                      <p:tavLst>
                                        <p:tav tm="0">
                                          <p:val>
                                            <p:strVal val="1+#ppt_w/2"/>
                                          </p:val>
                                        </p:tav>
                                        <p:tav tm="100000">
                                          <p:val>
                                            <p:strVal val="#ppt_x"/>
                                          </p:val>
                                        </p:tav>
                                      </p:tavLst>
                                    </p:anim>
                                    <p:anim calcmode="lin" valueType="num">
                                      <p:cBhvr additive="base">
                                        <p:cTn id="34" dur="500" fill="hold"/>
                                        <p:tgtEl>
                                          <p:spTgt spid="36864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p:bldP spid="368648"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ChangeArrowheads="1"/>
          </p:cNvSpPr>
          <p:nvPr>
            <p:ph type="title"/>
          </p:nvPr>
        </p:nvSpPr>
        <p:spPr>
          <a:xfrm>
            <a:off x="885668" y="285104"/>
            <a:ext cx="9961986" cy="609741"/>
          </a:xfrm>
        </p:spPr>
        <p:txBody>
          <a:bodyPr/>
          <a:lstStyle/>
          <a:p>
            <a:pPr eaLnBrk="1" hangingPunct="1"/>
            <a:r>
              <a:rPr lang="zh-CN" altLang="en-US" dirty="0"/>
              <a:t>维纳过程的性质</a:t>
            </a:r>
          </a:p>
        </p:txBody>
      </p:sp>
      <p:sp>
        <p:nvSpPr>
          <p:cNvPr id="369667" name="Rectangle 3"/>
          <p:cNvSpPr>
            <a:spLocks noGrp="1" noChangeArrowheads="1"/>
          </p:cNvSpPr>
          <p:nvPr>
            <p:ph type="body" sz="half" idx="1"/>
          </p:nvPr>
        </p:nvSpPr>
        <p:spPr>
          <a:xfrm>
            <a:off x="892701" y="1074787"/>
            <a:ext cx="7534432" cy="1538644"/>
          </a:xfrm>
        </p:spPr>
        <p:txBody>
          <a:bodyPr>
            <a:noAutofit/>
          </a:bodyPr>
          <a:lstStyle/>
          <a:p>
            <a:pPr eaLnBrk="1" hangingPunct="1">
              <a:buClr>
                <a:srgbClr val="6600CC"/>
              </a:buClr>
            </a:pPr>
            <a:r>
              <a:rPr lang="zh-CN" altLang="en-US" dirty="0"/>
              <a:t>维纳过程是平稳独立增量过程。</a:t>
            </a:r>
          </a:p>
          <a:p>
            <a:pPr eaLnBrk="1" hangingPunct="1">
              <a:buClr>
                <a:srgbClr val="6600CC"/>
              </a:buClr>
            </a:pPr>
            <a:r>
              <a:rPr lang="zh-CN" altLang="en-US" dirty="0"/>
              <a:t>维纳过程是正态过程。</a:t>
            </a:r>
          </a:p>
          <a:p>
            <a:pPr eaLnBrk="1" hangingPunct="1">
              <a:buClr>
                <a:srgbClr val="6600CC"/>
              </a:buClr>
            </a:pPr>
            <a:r>
              <a:rPr lang="zh-CN" altLang="en-US" dirty="0">
                <a:solidFill>
                  <a:srgbClr val="0000FF"/>
                </a:solidFill>
              </a:rPr>
              <a:t>维纳过程是马尔可夫过程。</a:t>
            </a:r>
          </a:p>
        </p:txBody>
      </p:sp>
      <p:sp>
        <p:nvSpPr>
          <p:cNvPr id="369668" name="Text Box 4"/>
          <p:cNvSpPr txBox="1">
            <a:spLocks noChangeArrowheads="1"/>
          </p:cNvSpPr>
          <p:nvPr/>
        </p:nvSpPr>
        <p:spPr bwMode="auto">
          <a:xfrm>
            <a:off x="900699" y="3325632"/>
            <a:ext cx="10896600" cy="2033442"/>
          </a:xfrm>
          <a:prstGeom prst="rect">
            <a:avLst/>
          </a:prstGeom>
          <a:noFill/>
          <a:ln w="9525">
            <a:noFill/>
            <a:miter lim="800000"/>
            <a:headEnd/>
            <a:tailEnd/>
          </a:ln>
        </p:spPr>
        <p:txBody>
          <a:bodyPr wrap="square">
            <a:spAutoFit/>
          </a:bodyPr>
          <a:lstStyle/>
          <a:p>
            <a:pPr>
              <a:lnSpc>
                <a:spcPct val="130000"/>
              </a:lnSpc>
            </a:pPr>
            <a:r>
              <a:rPr lang="zh-CN" altLang="en-US" b="1" dirty="0">
                <a:solidFill>
                  <a:srgbClr val="6600CC"/>
                </a:solidFill>
                <a:latin typeface="+mn-ea"/>
              </a:rPr>
              <a:t>证明  </a:t>
            </a:r>
            <a:r>
              <a:rPr lang="en-US" altLang="zh-CN" b="1" dirty="0">
                <a:solidFill>
                  <a:srgbClr val="6600CC"/>
                </a:solidFill>
                <a:latin typeface="+mn-ea"/>
              </a:rPr>
              <a:t>2. </a:t>
            </a:r>
            <a:r>
              <a:rPr lang="zh-CN" altLang="en-US" b="1" dirty="0">
                <a:latin typeface="+mn-ea"/>
              </a:rPr>
              <a:t>设 </a:t>
            </a:r>
            <a:r>
              <a:rPr lang="en-US" altLang="zh-CN" b="1" dirty="0">
                <a:latin typeface="+mn-ea"/>
              </a:rPr>
              <a:t>{W(t),t</a:t>
            </a:r>
            <a:r>
              <a:rPr lang="en-US" altLang="en-US" b="1" dirty="0">
                <a:latin typeface="+mn-ea"/>
                <a:sym typeface="Symbol" pitchFamily="18" charset="2"/>
              </a:rPr>
              <a:t>≥</a:t>
            </a:r>
            <a:r>
              <a:rPr lang="en-US" altLang="zh-CN" b="1" dirty="0">
                <a:latin typeface="+mn-ea"/>
                <a:sym typeface="Symbol" pitchFamily="18" charset="2"/>
              </a:rPr>
              <a:t>0}</a:t>
            </a:r>
            <a:r>
              <a:rPr lang="zh-CN" altLang="en-US" b="1" dirty="0">
                <a:latin typeface="+mn-ea"/>
                <a:sym typeface="Symbol" pitchFamily="18" charset="2"/>
              </a:rPr>
              <a:t>是参数为</a:t>
            </a:r>
            <a:r>
              <a:rPr lang="el-GR" altLang="zh-CN" dirty="0">
                <a:latin typeface="+mn-ea"/>
                <a:sym typeface="Symbol" pitchFamily="18" charset="2"/>
              </a:rPr>
              <a:t>σ</a:t>
            </a:r>
            <a:r>
              <a:rPr lang="en-US" altLang="zh-CN" baseline="30000" dirty="0">
                <a:latin typeface="+mn-ea"/>
                <a:sym typeface="Symbol" pitchFamily="18" charset="2"/>
              </a:rPr>
              <a:t>2</a:t>
            </a:r>
            <a:r>
              <a:rPr lang="zh-CN" altLang="en-US" b="1" dirty="0">
                <a:latin typeface="+mn-ea"/>
                <a:sym typeface="Symbol" pitchFamily="18" charset="2"/>
              </a:rPr>
              <a:t>的</a:t>
            </a:r>
            <a:r>
              <a:rPr lang="zh-CN" altLang="en-US" b="1" dirty="0">
                <a:latin typeface="+mn-ea"/>
              </a:rPr>
              <a:t>维纳过程，</a:t>
            </a:r>
            <a:r>
              <a:rPr lang="en-US" altLang="zh-CN" b="1" dirty="0">
                <a:latin typeface="+mn-ea"/>
              </a:rPr>
              <a:t>0&lt;t</a:t>
            </a:r>
            <a:r>
              <a:rPr lang="en-US" altLang="zh-CN" b="1" baseline="-25000" dirty="0">
                <a:latin typeface="+mn-ea"/>
              </a:rPr>
              <a:t>1</a:t>
            </a:r>
            <a:r>
              <a:rPr lang="en-US" altLang="zh-CN" b="1" dirty="0">
                <a:latin typeface="+mn-ea"/>
              </a:rPr>
              <a:t>&lt;t</a:t>
            </a:r>
            <a:r>
              <a:rPr lang="en-US" altLang="zh-CN" b="1" baseline="-25000" dirty="0">
                <a:latin typeface="+mn-ea"/>
              </a:rPr>
              <a:t>2</a:t>
            </a:r>
            <a:r>
              <a:rPr lang="en-US" altLang="zh-CN" b="1" dirty="0">
                <a:latin typeface="+mn-ea"/>
              </a:rPr>
              <a:t>&lt;…&lt;</a:t>
            </a:r>
            <a:r>
              <a:rPr lang="en-US" altLang="zh-CN" b="1" dirty="0" err="1">
                <a:latin typeface="+mn-ea"/>
              </a:rPr>
              <a:t>t</a:t>
            </a:r>
            <a:r>
              <a:rPr lang="en-US" altLang="zh-CN" b="1" baseline="-25000" dirty="0" err="1">
                <a:latin typeface="+mn-ea"/>
              </a:rPr>
              <a:t>n</a:t>
            </a:r>
            <a:r>
              <a:rPr lang="zh-CN" altLang="en-US" b="1" dirty="0">
                <a:latin typeface="+mn-ea"/>
              </a:rPr>
              <a:t>。</a:t>
            </a:r>
          </a:p>
          <a:p>
            <a:pPr algn="ctr">
              <a:lnSpc>
                <a:spcPct val="150000"/>
              </a:lnSpc>
            </a:pPr>
            <a:r>
              <a:rPr lang="en-US" altLang="zh-CN" b="1" dirty="0" err="1">
                <a:latin typeface="+mn-ea"/>
              </a:rPr>
              <a:t>X</a:t>
            </a:r>
            <a:r>
              <a:rPr lang="en-US" altLang="zh-CN" b="1" baseline="-25000" dirty="0" err="1">
                <a:latin typeface="+mn-ea"/>
              </a:rPr>
              <a:t>k</a:t>
            </a:r>
            <a:r>
              <a:rPr lang="zh-CN" altLang="en-US" b="1" dirty="0">
                <a:latin typeface="+mn-ea"/>
              </a:rPr>
              <a:t>＝</a:t>
            </a:r>
            <a:r>
              <a:rPr lang="en-US" altLang="zh-CN" b="1" dirty="0">
                <a:latin typeface="+mn-ea"/>
              </a:rPr>
              <a:t>W(</a:t>
            </a:r>
            <a:r>
              <a:rPr lang="en-US" altLang="zh-CN" b="1" dirty="0" err="1">
                <a:latin typeface="+mn-ea"/>
              </a:rPr>
              <a:t>t</a:t>
            </a:r>
            <a:r>
              <a:rPr lang="en-US" altLang="zh-CN" b="1" baseline="-25000" dirty="0" err="1">
                <a:latin typeface="+mn-ea"/>
              </a:rPr>
              <a:t>k</a:t>
            </a:r>
            <a:r>
              <a:rPr lang="en-US" altLang="zh-CN" b="1" dirty="0">
                <a:latin typeface="+mn-ea"/>
              </a:rPr>
              <a:t>)</a:t>
            </a:r>
            <a:r>
              <a:rPr lang="zh-CN" altLang="en-US" b="1" dirty="0">
                <a:latin typeface="+mn-ea"/>
              </a:rPr>
              <a:t>－</a:t>
            </a:r>
            <a:r>
              <a:rPr lang="en-US" altLang="zh-CN" b="1" dirty="0">
                <a:latin typeface="+mn-ea"/>
              </a:rPr>
              <a:t>W(t</a:t>
            </a:r>
            <a:r>
              <a:rPr lang="en-US" altLang="zh-CN" b="1" baseline="-25000" dirty="0">
                <a:latin typeface="+mn-ea"/>
              </a:rPr>
              <a:t>k-1</a:t>
            </a:r>
            <a:r>
              <a:rPr lang="en-US" altLang="zh-CN" b="1" dirty="0">
                <a:latin typeface="+mn-ea"/>
              </a:rPr>
              <a:t>)</a:t>
            </a:r>
            <a:r>
              <a:rPr lang="zh-CN" altLang="en-US" b="1" dirty="0">
                <a:latin typeface="+mn-ea"/>
              </a:rPr>
              <a:t>～</a:t>
            </a:r>
            <a:r>
              <a:rPr lang="en-US" altLang="zh-CN" b="1" dirty="0">
                <a:latin typeface="+mn-ea"/>
              </a:rPr>
              <a:t>N(0, </a:t>
            </a:r>
            <a:r>
              <a:rPr lang="el-GR" altLang="zh-CN" dirty="0">
                <a:latin typeface="+mn-ea"/>
                <a:sym typeface="Symbol" pitchFamily="18" charset="2"/>
              </a:rPr>
              <a:t>σ</a:t>
            </a:r>
            <a:r>
              <a:rPr lang="en-US" altLang="zh-CN" baseline="30000" dirty="0">
                <a:latin typeface="+mn-ea"/>
                <a:sym typeface="Symbol" pitchFamily="18" charset="2"/>
              </a:rPr>
              <a:t>2</a:t>
            </a:r>
            <a:r>
              <a:rPr lang="en-US" altLang="zh-CN" b="1" dirty="0">
                <a:latin typeface="+mn-ea"/>
              </a:rPr>
              <a:t>(t</a:t>
            </a:r>
            <a:r>
              <a:rPr lang="en-US" altLang="zh-CN" b="1" baseline="-25000" dirty="0">
                <a:latin typeface="+mn-ea"/>
              </a:rPr>
              <a:t>k</a:t>
            </a:r>
            <a:r>
              <a:rPr lang="en-US" altLang="zh-CN" b="1" dirty="0">
                <a:latin typeface="+mn-ea"/>
              </a:rPr>
              <a:t>-t</a:t>
            </a:r>
            <a:r>
              <a:rPr lang="en-US" altLang="zh-CN" b="1" baseline="-25000" dirty="0">
                <a:latin typeface="+mn-ea"/>
              </a:rPr>
              <a:t>k-1</a:t>
            </a:r>
            <a:r>
              <a:rPr lang="en-US" altLang="zh-CN" b="1" dirty="0">
                <a:latin typeface="+mn-ea"/>
              </a:rPr>
              <a:t>))</a:t>
            </a:r>
            <a:r>
              <a:rPr lang="zh-CN" altLang="en-US" b="1" dirty="0">
                <a:latin typeface="+mn-ea"/>
              </a:rPr>
              <a:t>，</a:t>
            </a:r>
            <a:r>
              <a:rPr lang="en-US" altLang="zh-CN" b="1" dirty="0">
                <a:latin typeface="+mn-ea"/>
              </a:rPr>
              <a:t>t</a:t>
            </a:r>
            <a:r>
              <a:rPr lang="en-US" altLang="zh-CN" b="1" baseline="-25000" dirty="0">
                <a:latin typeface="+mn-ea"/>
              </a:rPr>
              <a:t>0</a:t>
            </a:r>
            <a:r>
              <a:rPr lang="zh-CN" altLang="en-US" b="1" dirty="0">
                <a:latin typeface="+mn-ea"/>
              </a:rPr>
              <a:t>＝</a:t>
            </a:r>
            <a:r>
              <a:rPr lang="en-US" altLang="zh-CN" b="1" dirty="0">
                <a:latin typeface="+mn-ea"/>
              </a:rPr>
              <a:t>0</a:t>
            </a:r>
            <a:r>
              <a:rPr lang="zh-CN" altLang="en-US" b="1" dirty="0">
                <a:latin typeface="+mn-ea"/>
              </a:rPr>
              <a:t>，</a:t>
            </a:r>
            <a:r>
              <a:rPr lang="en-US" altLang="zh-CN" b="1" dirty="0">
                <a:latin typeface="+mn-ea"/>
              </a:rPr>
              <a:t>k=1,2,…,n</a:t>
            </a:r>
          </a:p>
          <a:p>
            <a:pPr>
              <a:lnSpc>
                <a:spcPct val="130000"/>
              </a:lnSpc>
            </a:pPr>
            <a:r>
              <a:rPr lang="zh-CN" altLang="en-US" b="1" dirty="0">
                <a:latin typeface="+mn-ea"/>
              </a:rPr>
              <a:t>相互独立。</a:t>
            </a:r>
          </a:p>
          <a:p>
            <a:pPr algn="ctr">
              <a:lnSpc>
                <a:spcPct val="130000"/>
              </a:lnSpc>
            </a:pPr>
            <a:r>
              <a:rPr lang="en-US" altLang="zh-CN" b="1" dirty="0">
                <a:latin typeface="+mn-ea"/>
              </a:rPr>
              <a:t>W(</a:t>
            </a:r>
            <a:r>
              <a:rPr lang="en-US" altLang="zh-CN" b="1" dirty="0" err="1">
                <a:latin typeface="+mn-ea"/>
              </a:rPr>
              <a:t>t</a:t>
            </a:r>
            <a:r>
              <a:rPr lang="en-US" altLang="zh-CN" b="1" baseline="-25000" dirty="0" err="1">
                <a:latin typeface="+mn-ea"/>
              </a:rPr>
              <a:t>k</a:t>
            </a:r>
            <a:r>
              <a:rPr lang="en-US" altLang="zh-CN" b="1" dirty="0">
                <a:latin typeface="+mn-ea"/>
              </a:rPr>
              <a:t>)</a:t>
            </a:r>
            <a:r>
              <a:rPr lang="zh-CN" altLang="en-US" b="1" dirty="0">
                <a:latin typeface="+mn-ea"/>
              </a:rPr>
              <a:t>＝</a:t>
            </a:r>
            <a:r>
              <a:rPr lang="en-US" altLang="zh-CN" b="1" dirty="0">
                <a:latin typeface="+mn-ea"/>
              </a:rPr>
              <a:t>X</a:t>
            </a:r>
            <a:r>
              <a:rPr lang="en-US" altLang="zh-CN" b="1" baseline="-25000" dirty="0">
                <a:latin typeface="+mn-ea"/>
              </a:rPr>
              <a:t>1</a:t>
            </a:r>
            <a:r>
              <a:rPr lang="en-US" altLang="zh-CN" b="1" dirty="0">
                <a:latin typeface="+mn-ea"/>
              </a:rPr>
              <a:t>+ X</a:t>
            </a:r>
            <a:r>
              <a:rPr lang="en-US" altLang="zh-CN" b="1" baseline="-25000" dirty="0">
                <a:latin typeface="+mn-ea"/>
              </a:rPr>
              <a:t>2</a:t>
            </a:r>
            <a:r>
              <a:rPr lang="en-US" altLang="zh-CN" b="1" dirty="0">
                <a:latin typeface="+mn-ea"/>
              </a:rPr>
              <a:t>+…+ </a:t>
            </a:r>
            <a:r>
              <a:rPr lang="en-US" altLang="zh-CN" b="1" dirty="0" err="1">
                <a:latin typeface="+mn-ea"/>
              </a:rPr>
              <a:t>X</a:t>
            </a:r>
            <a:r>
              <a:rPr lang="en-US" altLang="zh-CN" b="1" baseline="-25000" dirty="0" err="1">
                <a:latin typeface="+mn-ea"/>
              </a:rPr>
              <a:t>k</a:t>
            </a:r>
            <a:r>
              <a:rPr lang="zh-CN" altLang="en-US" b="1" dirty="0">
                <a:latin typeface="+mn-ea"/>
              </a:rPr>
              <a:t>，</a:t>
            </a:r>
            <a:r>
              <a:rPr lang="en-US" altLang="zh-CN" b="1" dirty="0">
                <a:latin typeface="+mn-ea"/>
              </a:rPr>
              <a:t>k=1,2,…,k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69667">
                                            <p:txEl>
                                              <p:pRg st="0" end="0"/>
                                            </p:txEl>
                                          </p:spTgt>
                                        </p:tgtEl>
                                        <p:attrNameLst>
                                          <p:attrName>style.visibility</p:attrName>
                                        </p:attrNameLst>
                                      </p:cBhvr>
                                      <p:to>
                                        <p:strVal val="visible"/>
                                      </p:to>
                                    </p:set>
                                    <p:anim calcmode="lin" valueType="num">
                                      <p:cBhvr additive="base">
                                        <p:cTn id="7" dur="500" fill="hold"/>
                                        <p:tgtEl>
                                          <p:spTgt spid="369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96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9667">
                                            <p:txEl>
                                              <p:pRg st="1" end="1"/>
                                            </p:txEl>
                                          </p:spTgt>
                                        </p:tgtEl>
                                        <p:attrNameLst>
                                          <p:attrName>style.visibility</p:attrName>
                                        </p:attrNameLst>
                                      </p:cBhvr>
                                      <p:to>
                                        <p:strVal val="visible"/>
                                      </p:to>
                                    </p:set>
                                    <p:anim calcmode="lin" valueType="num">
                                      <p:cBhvr additive="base">
                                        <p:cTn id="13" dur="500" fill="hold"/>
                                        <p:tgtEl>
                                          <p:spTgt spid="3696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96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9667">
                                            <p:txEl>
                                              <p:pRg st="2" end="2"/>
                                            </p:txEl>
                                          </p:spTgt>
                                        </p:tgtEl>
                                        <p:attrNameLst>
                                          <p:attrName>style.visibility</p:attrName>
                                        </p:attrNameLst>
                                      </p:cBhvr>
                                      <p:to>
                                        <p:strVal val="visible"/>
                                      </p:to>
                                    </p:set>
                                    <p:anim calcmode="lin" valueType="num">
                                      <p:cBhvr additive="base">
                                        <p:cTn id="19" dur="500" fill="hold"/>
                                        <p:tgtEl>
                                          <p:spTgt spid="3696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96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9668">
                                            <p:txEl>
                                              <p:pRg st="0" end="0"/>
                                            </p:txEl>
                                          </p:spTgt>
                                        </p:tgtEl>
                                        <p:attrNameLst>
                                          <p:attrName>style.visibility</p:attrName>
                                        </p:attrNameLst>
                                      </p:cBhvr>
                                      <p:to>
                                        <p:strVal val="visible"/>
                                      </p:to>
                                    </p:set>
                                    <p:anim calcmode="lin" valueType="num">
                                      <p:cBhvr additive="base">
                                        <p:cTn id="25" dur="500" fill="hold"/>
                                        <p:tgtEl>
                                          <p:spTgt spid="369668">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96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9668">
                                            <p:txEl>
                                              <p:pRg st="1" end="1"/>
                                            </p:txEl>
                                          </p:spTgt>
                                        </p:tgtEl>
                                        <p:attrNameLst>
                                          <p:attrName>style.visibility</p:attrName>
                                        </p:attrNameLst>
                                      </p:cBhvr>
                                      <p:to>
                                        <p:strVal val="visible"/>
                                      </p:to>
                                    </p:set>
                                    <p:anim calcmode="lin" valueType="num">
                                      <p:cBhvr additive="base">
                                        <p:cTn id="31" dur="500" fill="hold"/>
                                        <p:tgtEl>
                                          <p:spTgt spid="369668">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96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9668">
                                            <p:txEl>
                                              <p:pRg st="2" end="2"/>
                                            </p:txEl>
                                          </p:spTgt>
                                        </p:tgtEl>
                                        <p:attrNameLst>
                                          <p:attrName>style.visibility</p:attrName>
                                        </p:attrNameLst>
                                      </p:cBhvr>
                                      <p:to>
                                        <p:strVal val="visible"/>
                                      </p:to>
                                    </p:set>
                                    <p:anim calcmode="lin" valueType="num">
                                      <p:cBhvr additive="base">
                                        <p:cTn id="37" dur="500" fill="hold"/>
                                        <p:tgtEl>
                                          <p:spTgt spid="369668">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966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69668">
                                            <p:txEl>
                                              <p:pRg st="3" end="3"/>
                                            </p:txEl>
                                          </p:spTgt>
                                        </p:tgtEl>
                                        <p:attrNameLst>
                                          <p:attrName>style.visibility</p:attrName>
                                        </p:attrNameLst>
                                      </p:cBhvr>
                                      <p:to>
                                        <p:strVal val="visible"/>
                                      </p:to>
                                    </p:set>
                                    <p:anim calcmode="lin" valueType="num">
                                      <p:cBhvr additive="base">
                                        <p:cTn id="43" dur="500" fill="hold"/>
                                        <p:tgtEl>
                                          <p:spTgt spid="369668">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966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P spid="369668"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5" name="Rectangle 2"/>
          <p:cNvSpPr>
            <a:spLocks noGrp="1" noChangeArrowheads="1"/>
          </p:cNvSpPr>
          <p:nvPr>
            <p:ph type="title"/>
          </p:nvPr>
        </p:nvSpPr>
        <p:spPr>
          <a:xfrm>
            <a:off x="993775" y="275582"/>
            <a:ext cx="9961986" cy="609741"/>
          </a:xfrm>
        </p:spPr>
        <p:txBody>
          <a:bodyPr/>
          <a:lstStyle/>
          <a:p>
            <a:pPr eaLnBrk="1" hangingPunct="1"/>
            <a:r>
              <a:rPr lang="zh-CN" altLang="en-US" dirty="0"/>
              <a:t>维纳过程的性质</a:t>
            </a:r>
          </a:p>
        </p:txBody>
      </p:sp>
      <p:sp>
        <p:nvSpPr>
          <p:cNvPr id="376835" name="Rectangle 3"/>
          <p:cNvSpPr>
            <a:spLocks noGrp="1" noChangeArrowheads="1"/>
          </p:cNvSpPr>
          <p:nvPr>
            <p:ph type="body" sz="half" idx="1"/>
          </p:nvPr>
        </p:nvSpPr>
        <p:spPr>
          <a:xfrm>
            <a:off x="707765" y="1208682"/>
            <a:ext cx="7534432" cy="427137"/>
          </a:xfrm>
        </p:spPr>
        <p:txBody>
          <a:bodyPr>
            <a:normAutofit fontScale="92500" lnSpcReduction="10000"/>
          </a:bodyPr>
          <a:lstStyle/>
          <a:p>
            <a:pPr eaLnBrk="1" hangingPunct="1">
              <a:lnSpc>
                <a:spcPct val="100000"/>
              </a:lnSpc>
              <a:buClrTx/>
              <a:buFontTx/>
              <a:buNone/>
            </a:pPr>
            <a:r>
              <a:rPr lang="zh-CN" altLang="en-US" dirty="0"/>
              <a:t>从而</a:t>
            </a:r>
          </a:p>
        </p:txBody>
      </p:sp>
      <p:graphicFrame>
        <p:nvGraphicFramePr>
          <p:cNvPr id="376837" name="Object 5"/>
          <p:cNvGraphicFramePr>
            <a:graphicFrameLocks noGrp="1" noChangeAspect="1"/>
          </p:cNvGraphicFramePr>
          <p:nvPr>
            <p:ph sz="half" idx="2"/>
          </p:nvPr>
        </p:nvGraphicFramePr>
        <p:xfrm>
          <a:off x="1831975" y="1539742"/>
          <a:ext cx="5181600" cy="2266691"/>
        </p:xfrm>
        <a:graphic>
          <a:graphicData uri="http://schemas.openxmlformats.org/presentationml/2006/ole">
            <mc:AlternateContent xmlns:mc="http://schemas.openxmlformats.org/markup-compatibility/2006">
              <mc:Choice xmlns:v="urn:schemas-microsoft-com:vml" Requires="v">
                <p:oleObj name="公式" r:id="rId2" imgW="2641320" imgH="1155600" progId="Equation.3">
                  <p:embed/>
                </p:oleObj>
              </mc:Choice>
              <mc:Fallback>
                <p:oleObj name="公式" r:id="rId2" imgW="2641320" imgH="1155600" progId="Equation.3">
                  <p:embed/>
                  <p:pic>
                    <p:nvPicPr>
                      <p:cNvPr id="37683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1975" y="1539742"/>
                        <a:ext cx="5181600" cy="2266691"/>
                      </a:xfrm>
                      <a:prstGeom prst="rect">
                        <a:avLst/>
                      </a:prstGeom>
                      <a:noFill/>
                    </p:spPr>
                  </p:pic>
                </p:oleObj>
              </mc:Fallback>
            </mc:AlternateContent>
          </a:graphicData>
        </a:graphic>
      </p:graphicFrame>
      <p:graphicFrame>
        <p:nvGraphicFramePr>
          <p:cNvPr id="376838" name="Object 6"/>
          <p:cNvGraphicFramePr>
            <a:graphicFrameLocks noChangeAspect="1"/>
          </p:cNvGraphicFramePr>
          <p:nvPr/>
        </p:nvGraphicFramePr>
        <p:xfrm>
          <a:off x="841375" y="4156075"/>
          <a:ext cx="5500688" cy="2327275"/>
        </p:xfrm>
        <a:graphic>
          <a:graphicData uri="http://schemas.openxmlformats.org/presentationml/2006/ole">
            <mc:AlternateContent xmlns:mc="http://schemas.openxmlformats.org/markup-compatibility/2006">
              <mc:Choice xmlns:v="urn:schemas-microsoft-com:vml" Requires="v">
                <p:oleObj name="公式" r:id="rId4" imgW="2730240" imgH="1155600" progId="Equation.3">
                  <p:embed/>
                </p:oleObj>
              </mc:Choice>
              <mc:Fallback>
                <p:oleObj name="公式" r:id="rId4" imgW="2730240" imgH="1155600" progId="Equation.3">
                  <p:embed/>
                  <p:pic>
                    <p:nvPicPr>
                      <p:cNvPr id="37683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375" y="4156075"/>
                        <a:ext cx="5500688" cy="2327275"/>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76835">
                                            <p:txEl>
                                              <p:pRg st="0" end="0"/>
                                            </p:txEl>
                                          </p:spTgt>
                                        </p:tgtEl>
                                        <p:attrNameLst>
                                          <p:attrName>style.visibility</p:attrName>
                                        </p:attrNameLst>
                                      </p:cBhvr>
                                      <p:to>
                                        <p:strVal val="visible"/>
                                      </p:to>
                                    </p:set>
                                    <p:anim calcmode="lin" valueType="num">
                                      <p:cBhvr additive="base">
                                        <p:cTn id="7" dur="500" fill="hold"/>
                                        <p:tgtEl>
                                          <p:spTgt spid="3768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683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76837"/>
                                        </p:tgtEl>
                                        <p:attrNameLst>
                                          <p:attrName>style.visibility</p:attrName>
                                        </p:attrNameLst>
                                      </p:cBhvr>
                                      <p:to>
                                        <p:strVal val="visible"/>
                                      </p:to>
                                    </p:set>
                                    <p:anim calcmode="lin" valueType="num">
                                      <p:cBhvr additive="base">
                                        <p:cTn id="12" dur="500" fill="hold"/>
                                        <p:tgtEl>
                                          <p:spTgt spid="376837"/>
                                        </p:tgtEl>
                                        <p:attrNameLst>
                                          <p:attrName>ppt_x</p:attrName>
                                        </p:attrNameLst>
                                      </p:cBhvr>
                                      <p:tavLst>
                                        <p:tav tm="0">
                                          <p:val>
                                            <p:strVal val="#ppt_x"/>
                                          </p:val>
                                        </p:tav>
                                        <p:tav tm="100000">
                                          <p:val>
                                            <p:strVal val="#ppt_x"/>
                                          </p:val>
                                        </p:tav>
                                      </p:tavLst>
                                    </p:anim>
                                    <p:anim calcmode="lin" valueType="num">
                                      <p:cBhvr additive="base">
                                        <p:cTn id="13" dur="500" fill="hold"/>
                                        <p:tgtEl>
                                          <p:spTgt spid="376837"/>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76838"/>
                                        </p:tgtEl>
                                        <p:attrNameLst>
                                          <p:attrName>style.visibility</p:attrName>
                                        </p:attrNameLst>
                                      </p:cBhvr>
                                      <p:to>
                                        <p:strVal val="visible"/>
                                      </p:to>
                                    </p:set>
                                    <p:anim calcmode="lin" valueType="num">
                                      <p:cBhvr additive="base">
                                        <p:cTn id="17" dur="500" fill="hold"/>
                                        <p:tgtEl>
                                          <p:spTgt spid="376838"/>
                                        </p:tgtEl>
                                        <p:attrNameLst>
                                          <p:attrName>ppt_x</p:attrName>
                                        </p:attrNameLst>
                                      </p:cBhvr>
                                      <p:tavLst>
                                        <p:tav tm="0">
                                          <p:val>
                                            <p:strVal val="#ppt_x"/>
                                          </p:val>
                                        </p:tav>
                                        <p:tav tm="100000">
                                          <p:val>
                                            <p:strVal val="#ppt_x"/>
                                          </p:val>
                                        </p:tav>
                                      </p:tavLst>
                                    </p:anim>
                                    <p:anim calcmode="lin" valueType="num">
                                      <p:cBhvr additive="base">
                                        <p:cTn id="18" dur="500" fill="hold"/>
                                        <p:tgtEl>
                                          <p:spTgt spid="3768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9" name="Rectangle 2"/>
          <p:cNvSpPr>
            <a:spLocks noGrp="1" noChangeArrowheads="1"/>
          </p:cNvSpPr>
          <p:nvPr>
            <p:ph type="title"/>
          </p:nvPr>
        </p:nvSpPr>
        <p:spPr>
          <a:xfrm>
            <a:off x="871275" y="171489"/>
            <a:ext cx="9961986" cy="811566"/>
          </a:xfrm>
        </p:spPr>
        <p:txBody>
          <a:bodyPr/>
          <a:lstStyle/>
          <a:p>
            <a:pPr eaLnBrk="1" hangingPunct="1"/>
            <a:r>
              <a:rPr lang="zh-CN" altLang="en-US" dirty="0"/>
              <a:t>维纳过程的性质</a:t>
            </a:r>
          </a:p>
        </p:txBody>
      </p:sp>
      <p:sp>
        <p:nvSpPr>
          <p:cNvPr id="375811" name="Rectangle 3"/>
          <p:cNvSpPr>
            <a:spLocks noGrp="1" noChangeArrowheads="1"/>
          </p:cNvSpPr>
          <p:nvPr>
            <p:ph type="body" sz="half" idx="1"/>
          </p:nvPr>
        </p:nvSpPr>
        <p:spPr>
          <a:xfrm>
            <a:off x="688975" y="1121033"/>
            <a:ext cx="4582586" cy="427137"/>
          </a:xfrm>
        </p:spPr>
        <p:txBody>
          <a:bodyPr>
            <a:normAutofit fontScale="92500" lnSpcReduction="10000"/>
          </a:bodyPr>
          <a:lstStyle/>
          <a:p>
            <a:pPr eaLnBrk="1" hangingPunct="1">
              <a:lnSpc>
                <a:spcPct val="100000"/>
              </a:lnSpc>
              <a:buClrTx/>
              <a:buFontTx/>
              <a:buNone/>
            </a:pPr>
            <a:r>
              <a:rPr lang="zh-CN" altLang="en-US" dirty="0"/>
              <a:t>因此		</a:t>
            </a:r>
            <a:r>
              <a:rPr lang="en-US" altLang="zh-CN" dirty="0"/>
              <a:t>X</a:t>
            </a:r>
            <a:r>
              <a:rPr lang="zh-CN" altLang="en-US" dirty="0"/>
              <a:t>～</a:t>
            </a:r>
            <a:r>
              <a:rPr lang="en-US" altLang="zh-CN" dirty="0"/>
              <a:t>N(O, C</a:t>
            </a:r>
            <a:r>
              <a:rPr lang="en-US" altLang="zh-CN" baseline="-25000" dirty="0"/>
              <a:t>X</a:t>
            </a:r>
            <a:r>
              <a:rPr lang="en-US" altLang="zh-CN" dirty="0"/>
              <a:t>)</a:t>
            </a:r>
          </a:p>
        </p:txBody>
      </p:sp>
      <p:graphicFrame>
        <p:nvGraphicFramePr>
          <p:cNvPr id="375813" name="Object 5"/>
          <p:cNvGraphicFramePr>
            <a:graphicFrameLocks noGrp="1" noChangeAspect="1"/>
          </p:cNvGraphicFramePr>
          <p:nvPr>
            <p:ph sz="quarter" idx="2"/>
          </p:nvPr>
        </p:nvGraphicFramePr>
        <p:xfrm>
          <a:off x="3279775" y="1833986"/>
          <a:ext cx="6027545" cy="2064228"/>
        </p:xfrm>
        <a:graphic>
          <a:graphicData uri="http://schemas.openxmlformats.org/presentationml/2006/ole">
            <mc:AlternateContent xmlns:mc="http://schemas.openxmlformats.org/markup-compatibility/2006">
              <mc:Choice xmlns:v="urn:schemas-microsoft-com:vml" Requires="v">
                <p:oleObj name="公式" r:id="rId2" imgW="2781000" imgH="952200" progId="Equation.3">
                  <p:embed/>
                </p:oleObj>
              </mc:Choice>
              <mc:Fallback>
                <p:oleObj name="公式" r:id="rId2" imgW="2781000" imgH="952200" progId="Equation.3">
                  <p:embed/>
                  <p:pic>
                    <p:nvPicPr>
                      <p:cNvPr id="37581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9775" y="1833986"/>
                        <a:ext cx="6027545" cy="2064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5812" name="Text Box 4"/>
          <p:cNvSpPr txBox="1">
            <a:spLocks noChangeArrowheads="1"/>
          </p:cNvSpPr>
          <p:nvPr/>
        </p:nvSpPr>
        <p:spPr bwMode="auto">
          <a:xfrm>
            <a:off x="868663" y="3993488"/>
            <a:ext cx="7707509" cy="519232"/>
          </a:xfrm>
          <a:prstGeom prst="rect">
            <a:avLst/>
          </a:prstGeom>
          <a:noFill/>
          <a:ln w="9525">
            <a:noFill/>
            <a:miter lim="800000"/>
            <a:headEnd/>
            <a:tailEnd/>
          </a:ln>
        </p:spPr>
        <p:txBody>
          <a:bodyPr>
            <a:spAutoFit/>
          </a:bodyPr>
          <a:lstStyle/>
          <a:p>
            <a:r>
              <a:rPr lang="zh-CN" altLang="en-US" sz="2801" b="1" dirty="0">
                <a:ea typeface="黑体" pitchFamily="2" charset="-122"/>
              </a:rPr>
              <a:t>故</a:t>
            </a:r>
          </a:p>
        </p:txBody>
      </p:sp>
      <p:graphicFrame>
        <p:nvGraphicFramePr>
          <p:cNvPr id="375814" name="Object 6"/>
          <p:cNvGraphicFramePr>
            <a:graphicFrameLocks noGrp="1" noChangeAspect="1"/>
          </p:cNvGraphicFramePr>
          <p:nvPr>
            <p:ph sz="quarter" idx="3"/>
          </p:nvPr>
        </p:nvGraphicFramePr>
        <p:xfrm>
          <a:off x="4298533" y="4558603"/>
          <a:ext cx="3409724" cy="1915134"/>
        </p:xfrm>
        <a:graphic>
          <a:graphicData uri="http://schemas.openxmlformats.org/presentationml/2006/ole">
            <mc:AlternateContent xmlns:mc="http://schemas.openxmlformats.org/markup-compatibility/2006">
              <mc:Choice xmlns:v="urn:schemas-microsoft-com:vml" Requires="v">
                <p:oleObj name="公式" r:id="rId4" imgW="1650960" imgH="927000" progId="Equation.3">
                  <p:embed/>
                </p:oleObj>
              </mc:Choice>
              <mc:Fallback>
                <p:oleObj name="公式" r:id="rId4" imgW="1650960" imgH="927000" progId="Equation.3">
                  <p:embed/>
                  <p:pic>
                    <p:nvPicPr>
                      <p:cNvPr id="37581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8533" y="4558603"/>
                        <a:ext cx="3409724" cy="1915134"/>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 calcmode="lin" valueType="num">
                                      <p:cBhvr additive="base">
                                        <p:cTn id="7" dur="500" fill="hold"/>
                                        <p:tgtEl>
                                          <p:spTgt spid="375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581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75813"/>
                                        </p:tgtEl>
                                        <p:attrNameLst>
                                          <p:attrName>style.visibility</p:attrName>
                                        </p:attrNameLst>
                                      </p:cBhvr>
                                      <p:to>
                                        <p:strVal val="visible"/>
                                      </p:to>
                                    </p:set>
                                    <p:anim calcmode="lin" valueType="num">
                                      <p:cBhvr additive="base">
                                        <p:cTn id="12" dur="500" fill="hold"/>
                                        <p:tgtEl>
                                          <p:spTgt spid="375813"/>
                                        </p:tgtEl>
                                        <p:attrNameLst>
                                          <p:attrName>ppt_x</p:attrName>
                                        </p:attrNameLst>
                                      </p:cBhvr>
                                      <p:tavLst>
                                        <p:tav tm="0">
                                          <p:val>
                                            <p:strVal val="#ppt_x"/>
                                          </p:val>
                                        </p:tav>
                                        <p:tav tm="100000">
                                          <p:val>
                                            <p:strVal val="#ppt_x"/>
                                          </p:val>
                                        </p:tav>
                                      </p:tavLst>
                                    </p:anim>
                                    <p:anim calcmode="lin" valueType="num">
                                      <p:cBhvr additive="base">
                                        <p:cTn id="13" dur="500" fill="hold"/>
                                        <p:tgtEl>
                                          <p:spTgt spid="37581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5812"/>
                                        </p:tgtEl>
                                        <p:attrNameLst>
                                          <p:attrName>style.visibility</p:attrName>
                                        </p:attrNameLst>
                                      </p:cBhvr>
                                      <p:to>
                                        <p:strVal val="visible"/>
                                      </p:to>
                                    </p:set>
                                    <p:anim calcmode="lin" valueType="num">
                                      <p:cBhvr additive="base">
                                        <p:cTn id="18" dur="500" fill="hold"/>
                                        <p:tgtEl>
                                          <p:spTgt spid="375812"/>
                                        </p:tgtEl>
                                        <p:attrNameLst>
                                          <p:attrName>ppt_x</p:attrName>
                                        </p:attrNameLst>
                                      </p:cBhvr>
                                      <p:tavLst>
                                        <p:tav tm="0">
                                          <p:val>
                                            <p:strVal val="#ppt_x"/>
                                          </p:val>
                                        </p:tav>
                                        <p:tav tm="100000">
                                          <p:val>
                                            <p:strVal val="#ppt_x"/>
                                          </p:val>
                                        </p:tav>
                                      </p:tavLst>
                                    </p:anim>
                                    <p:anim calcmode="lin" valueType="num">
                                      <p:cBhvr additive="base">
                                        <p:cTn id="19" dur="500" fill="hold"/>
                                        <p:tgtEl>
                                          <p:spTgt spid="375812"/>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375814"/>
                                        </p:tgtEl>
                                        <p:attrNameLst>
                                          <p:attrName>style.visibility</p:attrName>
                                        </p:attrNameLst>
                                      </p:cBhvr>
                                      <p:to>
                                        <p:strVal val="visible"/>
                                      </p:to>
                                    </p:set>
                                    <p:anim calcmode="lin" valueType="num">
                                      <p:cBhvr additive="base">
                                        <p:cTn id="23" dur="500" fill="hold"/>
                                        <p:tgtEl>
                                          <p:spTgt spid="375814"/>
                                        </p:tgtEl>
                                        <p:attrNameLst>
                                          <p:attrName>ppt_x</p:attrName>
                                        </p:attrNameLst>
                                      </p:cBhvr>
                                      <p:tavLst>
                                        <p:tav tm="0">
                                          <p:val>
                                            <p:strVal val="#ppt_x"/>
                                          </p:val>
                                        </p:tav>
                                        <p:tav tm="100000">
                                          <p:val>
                                            <p:strVal val="#ppt_x"/>
                                          </p:val>
                                        </p:tav>
                                      </p:tavLst>
                                    </p:anim>
                                    <p:anim calcmode="lin" valueType="num">
                                      <p:cBhvr additive="base">
                                        <p:cTn id="24" dur="500" fill="hold"/>
                                        <p:tgtEl>
                                          <p:spTgt spid="3758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P spid="37581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B3FD0-3788-90F9-5006-839417E14106}"/>
            </a:ext>
          </a:extLst>
        </p:cNvPr>
        <p:cNvGrpSpPr/>
        <p:nvPr/>
      </p:nvGrpSpPr>
      <p:grpSpPr>
        <a:xfrm>
          <a:off x="0" y="0"/>
          <a:ext cx="0" cy="0"/>
          <a:chOff x="0" y="0"/>
          <a:chExt cx="0" cy="0"/>
        </a:xfrm>
      </p:grpSpPr>
      <p:sp>
        <p:nvSpPr>
          <p:cNvPr id="8197" name="Rectangle 2">
            <a:extLst>
              <a:ext uri="{FF2B5EF4-FFF2-40B4-BE49-F238E27FC236}">
                <a16:creationId xmlns:a16="http://schemas.microsoft.com/office/drawing/2014/main" id="{E262AFB8-B1FC-C504-4DCE-6D444117A864}"/>
              </a:ext>
            </a:extLst>
          </p:cNvPr>
          <p:cNvSpPr>
            <a:spLocks noGrp="1" noChangeArrowheads="1"/>
          </p:cNvSpPr>
          <p:nvPr>
            <p:ph type="title"/>
          </p:nvPr>
        </p:nvSpPr>
        <p:spPr/>
        <p:txBody>
          <a:bodyPr/>
          <a:lstStyle/>
          <a:p>
            <a:pPr eaLnBrk="1" hangingPunct="1"/>
            <a:r>
              <a:rPr lang="zh-CN" altLang="en-US"/>
              <a:t>本讲主要内容</a:t>
            </a:r>
          </a:p>
        </p:txBody>
      </p:sp>
      <p:sp>
        <p:nvSpPr>
          <p:cNvPr id="319491" name="Rectangle 3">
            <a:extLst>
              <a:ext uri="{FF2B5EF4-FFF2-40B4-BE49-F238E27FC236}">
                <a16:creationId xmlns:a16="http://schemas.microsoft.com/office/drawing/2014/main" id="{1469D5A5-5B72-01AD-53B6-0987FEAFACA1}"/>
              </a:ext>
            </a:extLst>
          </p:cNvPr>
          <p:cNvSpPr>
            <a:spLocks noGrp="1" noChangeArrowheads="1"/>
          </p:cNvSpPr>
          <p:nvPr>
            <p:ph type="body" idx="1"/>
          </p:nvPr>
        </p:nvSpPr>
        <p:spPr>
          <a:xfrm>
            <a:off x="774700" y="1052758"/>
            <a:ext cx="9429113" cy="5806830"/>
          </a:xfrm>
        </p:spPr>
        <p:txBody>
          <a:bodyPr>
            <a:normAutofit/>
          </a:bodyPr>
          <a:lstStyle/>
          <a:p>
            <a:pPr eaLnBrk="1" hangingPunct="1">
              <a:buFont typeface="Wingdings" panose="05000000000000000000" pitchFamily="2" charset="2"/>
              <a:buChar char="Ø"/>
            </a:pPr>
            <a:r>
              <a:rPr lang="zh-CN" altLang="en-US" dirty="0">
                <a:solidFill>
                  <a:srgbClr val="0000FF"/>
                </a:solidFill>
              </a:rPr>
              <a:t>随机过程的基本概念</a:t>
            </a:r>
          </a:p>
          <a:p>
            <a:pPr lvl="1" eaLnBrk="1" hangingPunct="1">
              <a:buClr>
                <a:srgbClr val="FF0000"/>
              </a:buClr>
              <a:buFontTx/>
              <a:buChar char="•"/>
            </a:pPr>
            <a:r>
              <a:rPr lang="zh-CN" altLang="en-US" dirty="0">
                <a:solidFill>
                  <a:srgbClr val="CC00CC"/>
                </a:solidFill>
                <a:latin typeface="黑体" panose="02010609060101010101" pitchFamily="49" charset="-122"/>
              </a:rPr>
              <a:t>随机过程的定义</a:t>
            </a:r>
          </a:p>
          <a:p>
            <a:pPr lvl="1" eaLnBrk="1" hangingPunct="1">
              <a:buClr>
                <a:srgbClr val="FF0000"/>
              </a:buClr>
              <a:buFontTx/>
              <a:buChar char="•"/>
            </a:pPr>
            <a:r>
              <a:rPr lang="zh-CN" altLang="en-US" dirty="0">
                <a:solidFill>
                  <a:srgbClr val="CC00CC"/>
                </a:solidFill>
                <a:latin typeface="黑体" panose="02010609060101010101" pitchFamily="49" charset="-122"/>
              </a:rPr>
              <a:t>随机过程的分布</a:t>
            </a:r>
          </a:p>
          <a:p>
            <a:pPr lvl="1" eaLnBrk="1" hangingPunct="1">
              <a:buClr>
                <a:srgbClr val="FF0000"/>
              </a:buClr>
              <a:buFontTx/>
              <a:buChar char="•"/>
            </a:pPr>
            <a:r>
              <a:rPr lang="zh-CN" altLang="en-US" dirty="0">
                <a:solidFill>
                  <a:srgbClr val="CC00CC"/>
                </a:solidFill>
                <a:latin typeface="黑体" panose="02010609060101010101" pitchFamily="49" charset="-122"/>
              </a:rPr>
              <a:t>随机过程的数字特征</a:t>
            </a:r>
          </a:p>
          <a:p>
            <a:pPr eaLnBrk="1" hangingPunct="1">
              <a:buFont typeface="Wingdings" panose="05000000000000000000" pitchFamily="2" charset="2"/>
              <a:buChar char="Ø"/>
            </a:pPr>
            <a:r>
              <a:rPr lang="zh-CN" altLang="en-US" dirty="0">
                <a:solidFill>
                  <a:srgbClr val="0000FF"/>
                </a:solidFill>
              </a:rPr>
              <a:t>重要随机过程</a:t>
            </a:r>
          </a:p>
          <a:p>
            <a:pPr lvl="1" eaLnBrk="1" hangingPunct="1">
              <a:buClr>
                <a:srgbClr val="FF0000"/>
              </a:buClr>
              <a:buFontTx/>
              <a:buChar char="•"/>
            </a:pPr>
            <a:r>
              <a:rPr lang="zh-CN" altLang="en-US" dirty="0">
                <a:solidFill>
                  <a:srgbClr val="CC00CC"/>
                </a:solidFill>
                <a:latin typeface="黑体" panose="02010609060101010101" pitchFamily="49" charset="-122"/>
              </a:rPr>
              <a:t>独立过程</a:t>
            </a:r>
          </a:p>
          <a:p>
            <a:pPr lvl="1" eaLnBrk="1" hangingPunct="1">
              <a:buClr>
                <a:srgbClr val="FF0000"/>
              </a:buClr>
              <a:buFontTx/>
              <a:buChar char="•"/>
            </a:pPr>
            <a:r>
              <a:rPr lang="zh-CN" altLang="en-US" dirty="0">
                <a:solidFill>
                  <a:srgbClr val="CC00CC"/>
                </a:solidFill>
                <a:latin typeface="黑体" panose="02010609060101010101" pitchFamily="49" charset="-122"/>
              </a:rPr>
              <a:t>独立增量过程</a:t>
            </a:r>
            <a:endParaRPr lang="en-US" altLang="zh-CN" dirty="0">
              <a:solidFill>
                <a:srgbClr val="CC00CC"/>
              </a:solidFill>
              <a:latin typeface="黑体" panose="02010609060101010101" pitchFamily="49" charset="-122"/>
            </a:endParaRPr>
          </a:p>
          <a:p>
            <a:pPr lvl="1">
              <a:buClr>
                <a:srgbClr val="FF0000"/>
              </a:buClr>
              <a:buFontTx/>
              <a:buChar char="•"/>
            </a:pPr>
            <a:r>
              <a:rPr lang="zh-CN" altLang="en-US" dirty="0">
                <a:solidFill>
                  <a:srgbClr val="CC00CC"/>
                </a:solidFill>
                <a:latin typeface="黑体" panose="02010609060101010101" pitchFamily="49" charset="-122"/>
              </a:rPr>
              <a:t>正态过程</a:t>
            </a:r>
            <a:endParaRPr lang="en-US" altLang="zh-CN" dirty="0">
              <a:solidFill>
                <a:srgbClr val="CC00CC"/>
              </a:solidFill>
              <a:latin typeface="黑体" panose="02010609060101010101" pitchFamily="49" charset="-122"/>
            </a:endParaRPr>
          </a:p>
          <a:p>
            <a:pPr lvl="1">
              <a:buClr>
                <a:srgbClr val="FF0000"/>
              </a:buClr>
              <a:buFontTx/>
              <a:buChar char="•"/>
            </a:pPr>
            <a:r>
              <a:rPr lang="zh-CN" altLang="en-US" dirty="0">
                <a:solidFill>
                  <a:srgbClr val="CC00CC"/>
                </a:solidFill>
                <a:latin typeface="黑体" panose="02010609060101010101" pitchFamily="49" charset="-122"/>
              </a:rPr>
              <a:t>维纳过程</a:t>
            </a:r>
            <a:endParaRPr lang="en-US" altLang="zh-CN" dirty="0">
              <a:solidFill>
                <a:srgbClr val="CC00CC"/>
              </a:solidFill>
              <a:latin typeface="黑体" panose="02010609060101010101" pitchFamily="49" charset="-122"/>
            </a:endParaRPr>
          </a:p>
          <a:p>
            <a:pPr lvl="1" eaLnBrk="1" hangingPunct="1">
              <a:buClr>
                <a:srgbClr val="FF0000"/>
              </a:buClr>
              <a:buFontTx/>
              <a:buChar char="•"/>
            </a:pPr>
            <a:endParaRPr lang="zh-CN" altLang="en-US" dirty="0">
              <a:solidFill>
                <a:srgbClr val="CC00CC"/>
              </a:solidFill>
              <a:latin typeface="黑体" panose="02010609060101010101" pitchFamily="49" charset="-122"/>
            </a:endParaRPr>
          </a:p>
        </p:txBody>
      </p:sp>
    </p:spTree>
    <p:extLst>
      <p:ext uri="{BB962C8B-B14F-4D97-AF65-F5344CB8AC3E}">
        <p14:creationId xmlns:p14="http://schemas.microsoft.com/office/powerpoint/2010/main" val="2759735471"/>
      </p:ext>
    </p:extLst>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 calcmode="lin" valueType="num">
                                      <p:cBhvr additive="base">
                                        <p:cTn id="7" dur="500" fill="hold"/>
                                        <p:tgtEl>
                                          <p:spTgt spid="319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94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9491">
                                            <p:txEl>
                                              <p:pRg st="1" end="1"/>
                                            </p:txEl>
                                          </p:spTgt>
                                        </p:tgtEl>
                                        <p:attrNameLst>
                                          <p:attrName>style.visibility</p:attrName>
                                        </p:attrNameLst>
                                      </p:cBhvr>
                                      <p:to>
                                        <p:strVal val="visible"/>
                                      </p:to>
                                    </p:set>
                                    <p:anim calcmode="lin" valueType="num">
                                      <p:cBhvr additive="base">
                                        <p:cTn id="11" dur="500" fill="hold"/>
                                        <p:tgtEl>
                                          <p:spTgt spid="3194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949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9491">
                                            <p:txEl>
                                              <p:pRg st="2" end="2"/>
                                            </p:txEl>
                                          </p:spTgt>
                                        </p:tgtEl>
                                        <p:attrNameLst>
                                          <p:attrName>style.visibility</p:attrName>
                                        </p:attrNameLst>
                                      </p:cBhvr>
                                      <p:to>
                                        <p:strVal val="visible"/>
                                      </p:to>
                                    </p:set>
                                    <p:anim calcmode="lin" valueType="num">
                                      <p:cBhvr additive="base">
                                        <p:cTn id="15" dur="500" fill="hold"/>
                                        <p:tgtEl>
                                          <p:spTgt spid="31949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949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9491">
                                            <p:txEl>
                                              <p:pRg st="3" end="3"/>
                                            </p:txEl>
                                          </p:spTgt>
                                        </p:tgtEl>
                                        <p:attrNameLst>
                                          <p:attrName>style.visibility</p:attrName>
                                        </p:attrNameLst>
                                      </p:cBhvr>
                                      <p:to>
                                        <p:strVal val="visible"/>
                                      </p:to>
                                    </p:set>
                                    <p:anim calcmode="lin" valueType="num">
                                      <p:cBhvr additive="base">
                                        <p:cTn id="19" dur="500" fill="hold"/>
                                        <p:tgtEl>
                                          <p:spTgt spid="3194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94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9491">
                                            <p:txEl>
                                              <p:pRg st="4" end="4"/>
                                            </p:txEl>
                                          </p:spTgt>
                                        </p:tgtEl>
                                        <p:attrNameLst>
                                          <p:attrName>style.visibility</p:attrName>
                                        </p:attrNameLst>
                                      </p:cBhvr>
                                      <p:to>
                                        <p:strVal val="visible"/>
                                      </p:to>
                                    </p:set>
                                    <p:anim calcmode="lin" valueType="num">
                                      <p:cBhvr additive="base">
                                        <p:cTn id="25" dur="500" fill="hold"/>
                                        <p:tgtEl>
                                          <p:spTgt spid="31949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949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9491">
                                            <p:txEl>
                                              <p:pRg st="5" end="5"/>
                                            </p:txEl>
                                          </p:spTgt>
                                        </p:tgtEl>
                                        <p:attrNameLst>
                                          <p:attrName>style.visibility</p:attrName>
                                        </p:attrNameLst>
                                      </p:cBhvr>
                                      <p:to>
                                        <p:strVal val="visible"/>
                                      </p:to>
                                    </p:set>
                                    <p:anim calcmode="lin" valueType="num">
                                      <p:cBhvr additive="base">
                                        <p:cTn id="29" dur="500" fill="hold"/>
                                        <p:tgtEl>
                                          <p:spTgt spid="31949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1949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19491">
                                            <p:txEl>
                                              <p:pRg st="6" end="6"/>
                                            </p:txEl>
                                          </p:spTgt>
                                        </p:tgtEl>
                                        <p:attrNameLst>
                                          <p:attrName>style.visibility</p:attrName>
                                        </p:attrNameLst>
                                      </p:cBhvr>
                                      <p:to>
                                        <p:strVal val="visible"/>
                                      </p:to>
                                    </p:set>
                                    <p:anim calcmode="lin" valueType="num">
                                      <p:cBhvr additive="base">
                                        <p:cTn id="33" dur="500" fill="hold"/>
                                        <p:tgtEl>
                                          <p:spTgt spid="31949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949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9491">
                                            <p:txEl>
                                              <p:pRg st="7" end="7"/>
                                            </p:txEl>
                                          </p:spTgt>
                                        </p:tgtEl>
                                        <p:attrNameLst>
                                          <p:attrName>style.visibility</p:attrName>
                                        </p:attrNameLst>
                                      </p:cBhvr>
                                      <p:to>
                                        <p:strVal val="visible"/>
                                      </p:to>
                                    </p:set>
                                    <p:anim calcmode="lin" valueType="num">
                                      <p:cBhvr additive="base">
                                        <p:cTn id="37" dur="500" fill="hold"/>
                                        <p:tgtEl>
                                          <p:spTgt spid="31949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949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19491">
                                            <p:txEl>
                                              <p:pRg st="8" end="8"/>
                                            </p:txEl>
                                          </p:spTgt>
                                        </p:tgtEl>
                                        <p:attrNameLst>
                                          <p:attrName>style.visibility</p:attrName>
                                        </p:attrNameLst>
                                      </p:cBhvr>
                                      <p:to>
                                        <p:strVal val="visible"/>
                                      </p:to>
                                    </p:set>
                                    <p:anim calcmode="lin" valueType="num">
                                      <p:cBhvr additive="base">
                                        <p:cTn id="41" dur="500" fill="hold"/>
                                        <p:tgtEl>
                                          <p:spTgt spid="31949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1949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Rectangle 2">
            <a:extLst>
              <a:ext uri="{FF2B5EF4-FFF2-40B4-BE49-F238E27FC236}">
                <a16:creationId xmlns:a16="http://schemas.microsoft.com/office/drawing/2014/main" id="{7392AE60-2BE4-8053-D34A-9547EFC42F90}"/>
              </a:ext>
            </a:extLst>
          </p:cNvPr>
          <p:cNvSpPr>
            <a:spLocks noGrp="1" noChangeArrowheads="1"/>
          </p:cNvSpPr>
          <p:nvPr>
            <p:ph type="title"/>
          </p:nvPr>
        </p:nvSpPr>
        <p:spPr/>
        <p:txBody>
          <a:bodyPr/>
          <a:lstStyle/>
          <a:p>
            <a:pPr eaLnBrk="1" hangingPunct="1"/>
            <a:r>
              <a:rPr lang="zh-CN" altLang="en-US"/>
              <a:t>下一讲内容预告</a:t>
            </a:r>
          </a:p>
        </p:txBody>
      </p:sp>
      <p:sp>
        <p:nvSpPr>
          <p:cNvPr id="318467" name="Rectangle 3">
            <a:extLst>
              <a:ext uri="{FF2B5EF4-FFF2-40B4-BE49-F238E27FC236}">
                <a16:creationId xmlns:a16="http://schemas.microsoft.com/office/drawing/2014/main" id="{7810D6D9-12B3-C3B9-9569-A3B1CEBA4AA3}"/>
              </a:ext>
            </a:extLst>
          </p:cNvPr>
          <p:cNvSpPr>
            <a:spLocks noGrp="1" noChangeArrowheads="1"/>
          </p:cNvSpPr>
          <p:nvPr>
            <p:ph type="body" idx="1"/>
          </p:nvPr>
        </p:nvSpPr>
        <p:spPr>
          <a:xfrm>
            <a:off x="612776" y="922084"/>
            <a:ext cx="5638800" cy="5015420"/>
          </a:xfrm>
        </p:spPr>
        <p:txBody>
          <a:bodyPr>
            <a:noAutofit/>
          </a:bodyPr>
          <a:lstStyle/>
          <a:p>
            <a:pPr>
              <a:buClr>
                <a:srgbClr val="00FF00"/>
              </a:buClr>
              <a:buFont typeface="Wingdings" panose="05000000000000000000" pitchFamily="2" charset="2"/>
              <a:buChar char="Ø"/>
            </a:pPr>
            <a:r>
              <a:rPr lang="zh-CN" altLang="en-US" dirty="0">
                <a:solidFill>
                  <a:srgbClr val="0000FF"/>
                </a:solidFill>
                <a:latin typeface="黑体" panose="02010609060101010101" pitchFamily="49" charset="-122"/>
              </a:rPr>
              <a:t>泊松过程</a:t>
            </a:r>
          </a:p>
          <a:p>
            <a:pPr lvl="1">
              <a:buClr>
                <a:srgbClr val="FFC000"/>
              </a:buClr>
              <a:buFont typeface="Wingdings" panose="05000000000000000000" pitchFamily="2" charset="2"/>
              <a:buChar char="Ø"/>
            </a:pPr>
            <a:r>
              <a:rPr lang="zh-CN" altLang="en-US" dirty="0">
                <a:solidFill>
                  <a:srgbClr val="CC00CC"/>
                </a:solidFill>
                <a:latin typeface="黑体" panose="02010609060101010101" pitchFamily="49" charset="-122"/>
              </a:rPr>
              <a:t>泊松过程的两个定义及其等价性</a:t>
            </a:r>
            <a:endParaRPr lang="en-US" altLang="zh-CN" dirty="0">
              <a:solidFill>
                <a:srgbClr val="CC00CC"/>
              </a:solidFill>
              <a:latin typeface="黑体" panose="02010609060101010101" pitchFamily="49" charset="-122"/>
            </a:endParaRPr>
          </a:p>
          <a:p>
            <a:pPr lvl="1">
              <a:buClr>
                <a:srgbClr val="FFC000"/>
              </a:buClr>
              <a:buFont typeface="Wingdings" panose="05000000000000000000" pitchFamily="2" charset="2"/>
              <a:buChar char="Ø"/>
            </a:pPr>
            <a:r>
              <a:rPr lang="zh-CN" altLang="en-US" dirty="0">
                <a:solidFill>
                  <a:srgbClr val="CC00CC"/>
                </a:solidFill>
                <a:latin typeface="黑体" panose="02010609060101010101" pitchFamily="49" charset="-122"/>
              </a:rPr>
              <a:t>泊松过程的概率分布</a:t>
            </a:r>
            <a:endParaRPr lang="en-US" altLang="zh-CN" dirty="0">
              <a:solidFill>
                <a:srgbClr val="CC00CC"/>
              </a:solidFill>
              <a:latin typeface="黑体" panose="02010609060101010101" pitchFamily="49" charset="-122"/>
            </a:endParaRPr>
          </a:p>
          <a:p>
            <a:pPr lvl="1">
              <a:buClr>
                <a:srgbClr val="FFC000"/>
              </a:buClr>
              <a:buFont typeface="Wingdings" panose="05000000000000000000" pitchFamily="2" charset="2"/>
              <a:buChar char="Ø"/>
            </a:pPr>
            <a:r>
              <a:rPr lang="zh-CN" altLang="en-US" dirty="0">
                <a:solidFill>
                  <a:srgbClr val="CC00CC"/>
                </a:solidFill>
                <a:latin typeface="黑体" panose="02010609060101010101" pitchFamily="49" charset="-122"/>
              </a:rPr>
              <a:t>泊松过程的数字特征</a:t>
            </a:r>
            <a:endParaRPr lang="en-US" altLang="zh-CN" dirty="0">
              <a:solidFill>
                <a:srgbClr val="CC00CC"/>
              </a:solidFill>
              <a:latin typeface="黑体" panose="02010609060101010101" pitchFamily="49" charset="-122"/>
            </a:endParaRPr>
          </a:p>
          <a:p>
            <a:pPr lvl="1">
              <a:buClr>
                <a:srgbClr val="FFC000"/>
              </a:buClr>
              <a:buFont typeface="Wingdings" panose="05000000000000000000" pitchFamily="2" charset="2"/>
              <a:buChar char="Ø"/>
            </a:pPr>
            <a:r>
              <a:rPr lang="zh-CN" altLang="en-US" dirty="0">
                <a:solidFill>
                  <a:srgbClr val="CC00CC"/>
                </a:solidFill>
                <a:latin typeface="黑体" panose="02010609060101010101" pitchFamily="49" charset="-122"/>
              </a:rPr>
              <a:t>泊松过程的性质</a:t>
            </a:r>
            <a:endParaRPr lang="en-US" altLang="zh-CN" dirty="0">
              <a:solidFill>
                <a:srgbClr val="CC00CC"/>
              </a:solidFill>
              <a:latin typeface="黑体" panose="02010609060101010101" pitchFamily="49" charset="-122"/>
            </a:endParaRPr>
          </a:p>
          <a:p>
            <a:pPr lvl="1">
              <a:buClr>
                <a:srgbClr val="FFC000"/>
              </a:buClr>
              <a:buFont typeface="Wingdings" panose="05000000000000000000" pitchFamily="2" charset="2"/>
              <a:buChar char="Ø"/>
            </a:pPr>
            <a:r>
              <a:rPr lang="zh-CN" altLang="en-US" dirty="0">
                <a:solidFill>
                  <a:srgbClr val="CC00CC"/>
                </a:solidFill>
                <a:latin typeface="黑体" panose="02010609060101010101" pitchFamily="49" charset="-122"/>
              </a:rPr>
              <a:t>非齐次泊松过程</a:t>
            </a:r>
            <a:endParaRPr lang="en-US" altLang="zh-CN" dirty="0">
              <a:solidFill>
                <a:srgbClr val="CC00CC"/>
              </a:solidFill>
              <a:latin typeface="黑体" panose="02010609060101010101" pitchFamily="49" charset="-122"/>
            </a:endParaRPr>
          </a:p>
          <a:p>
            <a:pPr lvl="1">
              <a:buClr>
                <a:srgbClr val="FFC000"/>
              </a:buClr>
              <a:buFont typeface="Wingdings" panose="05000000000000000000" pitchFamily="2" charset="2"/>
              <a:buChar char="Ø"/>
            </a:pPr>
            <a:r>
              <a:rPr lang="zh-CN" altLang="en-US" dirty="0">
                <a:solidFill>
                  <a:srgbClr val="CC00CC"/>
                </a:solidFill>
                <a:latin typeface="黑体" panose="02010609060101010101" pitchFamily="49" charset="-122"/>
              </a:rPr>
              <a:t>复合泊松过程</a:t>
            </a:r>
          </a:p>
          <a:p>
            <a:pPr>
              <a:buFont typeface="Wingdings" panose="05000000000000000000" pitchFamily="2" charset="2"/>
              <a:buChar char="Ø"/>
            </a:pPr>
            <a:r>
              <a:rPr lang="zh-CN" altLang="en-US" dirty="0">
                <a:solidFill>
                  <a:srgbClr val="0000FF"/>
                </a:solidFill>
                <a:latin typeface="黑体" panose="02010609060101010101" pitchFamily="49" charset="-122"/>
              </a:rPr>
              <a:t>更新计数过程</a:t>
            </a:r>
            <a:endParaRPr lang="en-US" altLang="zh-CN" dirty="0">
              <a:solidFill>
                <a:srgbClr val="0000FF"/>
              </a:solidFill>
              <a:latin typeface="黑体" panose="02010609060101010101" pitchFamily="49" charset="-122"/>
            </a:endParaRPr>
          </a:p>
          <a:p>
            <a:pPr lvl="1">
              <a:buClr>
                <a:srgbClr val="FFC000"/>
              </a:buClr>
              <a:buFont typeface="Wingdings" panose="05000000000000000000" pitchFamily="2" charset="2"/>
              <a:buChar char="l"/>
            </a:pPr>
            <a:endParaRPr lang="zh-CN" altLang="en-US" dirty="0">
              <a:solidFill>
                <a:srgbClr val="CC00CC"/>
              </a:solidFill>
              <a:latin typeface="黑体" panose="02010609060101010101" pitchFamily="49" charset="-122"/>
            </a:endParaRPr>
          </a:p>
        </p:txBody>
      </p:sp>
      <p:sp>
        <p:nvSpPr>
          <p:cNvPr id="2" name="Rectangle 3">
            <a:extLst>
              <a:ext uri="{FF2B5EF4-FFF2-40B4-BE49-F238E27FC236}">
                <a16:creationId xmlns:a16="http://schemas.microsoft.com/office/drawing/2014/main" id="{574CB8B9-2612-BCDD-30B7-D8407304ADAC}"/>
              </a:ext>
            </a:extLst>
          </p:cNvPr>
          <p:cNvSpPr txBox="1">
            <a:spLocks noChangeArrowheads="1"/>
          </p:cNvSpPr>
          <p:nvPr/>
        </p:nvSpPr>
        <p:spPr>
          <a:xfrm>
            <a:off x="6300781" y="922084"/>
            <a:ext cx="5284793" cy="4749460"/>
          </a:xfrm>
          <a:prstGeom prst="rect">
            <a:avLst/>
          </a:prstGeom>
        </p:spPr>
        <p:txBody>
          <a:bodyPr vert="horz" lIns="121917" tIns="60958" rIns="121917" bIns="60958" rtlCol="0">
            <a:normAutofit/>
          </a:bodyPr>
          <a:lstStyle>
            <a:lvl1pPr marL="457200" indent="-457200" algn="l" defTabSz="1219835" rtl="0" eaLnBrk="1" latinLnBrk="0" hangingPunct="1">
              <a:lnSpc>
                <a:spcPct val="150000"/>
              </a:lnSpc>
              <a:spcBef>
                <a:spcPts val="0"/>
              </a:spcBef>
              <a:buSzPct val="80000"/>
              <a:buFont typeface="Wingdings" panose="05000000000000000000" pitchFamily="2" charset="2"/>
              <a:buChar char="l"/>
              <a:defRPr sz="2400" b="1" kern="1200">
                <a:solidFill>
                  <a:schemeClr val="tx1"/>
                </a:solidFill>
                <a:latin typeface="+mn-ea"/>
                <a:ea typeface="+mn-ea"/>
                <a:cs typeface="+mn-cs"/>
              </a:defRPr>
            </a:lvl1pPr>
            <a:lvl2pPr marL="991235" indent="-3810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2pPr>
            <a:lvl3pPr marL="15246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3pPr>
            <a:lvl4pPr marL="2134235"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4pPr>
            <a:lvl5pPr marL="2744470" indent="-304800" algn="l" defTabSz="1219835" rtl="0" eaLnBrk="1" latinLnBrk="0" hangingPunct="1">
              <a:lnSpc>
                <a:spcPct val="150000"/>
              </a:lnSpc>
              <a:spcBef>
                <a:spcPts val="0"/>
              </a:spcBef>
              <a:buFont typeface="Arial" panose="020B0604020202020204" pitchFamily="34" charset="0"/>
              <a:buChar char="»"/>
              <a:defRPr sz="2400" b="1" kern="1200">
                <a:solidFill>
                  <a:schemeClr val="tx1"/>
                </a:solidFill>
                <a:latin typeface="+mn-ea"/>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60000"/>
              </a:lnSpc>
              <a:buFont typeface="Wingdings" panose="05000000000000000000" pitchFamily="2" charset="2"/>
              <a:buChar char="Ø"/>
            </a:pPr>
            <a:r>
              <a:rPr lang="zh-CN" altLang="en-US" dirty="0">
                <a:solidFill>
                  <a:srgbClr val="0000FF"/>
                </a:solidFill>
                <a:latin typeface="黑体" panose="02010609060101010101" pitchFamily="49" charset="-122"/>
              </a:rPr>
              <a:t>马尔可夫过程</a:t>
            </a:r>
          </a:p>
          <a:p>
            <a:pPr lvl="1">
              <a:lnSpc>
                <a:spcPct val="160000"/>
              </a:lnSpc>
              <a:buClr>
                <a:srgbClr val="FF0000"/>
              </a:buClr>
              <a:buFontTx/>
              <a:buChar char="•"/>
            </a:pPr>
            <a:r>
              <a:rPr lang="zh-CN" altLang="en-US" dirty="0">
                <a:solidFill>
                  <a:srgbClr val="CC00CC"/>
                </a:solidFill>
                <a:latin typeface="黑体" panose="02010609060101010101" pitchFamily="49" charset="-122"/>
              </a:rPr>
              <a:t>马尔可夫过程的概念</a:t>
            </a:r>
          </a:p>
          <a:p>
            <a:pPr lvl="1">
              <a:buClr>
                <a:srgbClr val="FF0000"/>
              </a:buClr>
              <a:buFontTx/>
              <a:buChar char="•"/>
            </a:pPr>
            <a:r>
              <a:rPr lang="zh-CN" altLang="en-US" dirty="0">
                <a:solidFill>
                  <a:srgbClr val="CC00CC"/>
                </a:solidFill>
                <a:latin typeface="黑体" panose="02010609060101010101" pitchFamily="49" charset="-122"/>
              </a:rPr>
              <a:t>马尔可夫过程的分类</a:t>
            </a:r>
          </a:p>
          <a:p>
            <a:pPr lvl="1">
              <a:lnSpc>
                <a:spcPct val="160000"/>
              </a:lnSpc>
              <a:buClr>
                <a:srgbClr val="FF0000"/>
              </a:buClr>
              <a:buFontTx/>
              <a:buChar char="•"/>
            </a:pPr>
            <a:r>
              <a:rPr lang="zh-CN" altLang="en-US" dirty="0">
                <a:solidFill>
                  <a:srgbClr val="CC00CC"/>
                </a:solidFill>
                <a:latin typeface="黑体" panose="02010609060101010101" pitchFamily="49" charset="-122"/>
              </a:rPr>
              <a:t>离散参数马氏链</a:t>
            </a:r>
            <a:endParaRPr lang="en-US" altLang="zh-CN" dirty="0">
              <a:solidFill>
                <a:srgbClr val="CC00CC"/>
              </a:solidFill>
              <a:latin typeface="黑体" panose="02010609060101010101" pitchFamily="49" charset="-122"/>
            </a:endParaRPr>
          </a:p>
          <a:p>
            <a:pPr lvl="1">
              <a:lnSpc>
                <a:spcPct val="160000"/>
              </a:lnSpc>
              <a:buClr>
                <a:srgbClr val="FF0000"/>
              </a:buClr>
              <a:buFontTx/>
              <a:buChar char="•"/>
            </a:pPr>
            <a:r>
              <a:rPr lang="en-US" altLang="zh-CN" dirty="0">
                <a:solidFill>
                  <a:srgbClr val="CC00CC"/>
                </a:solidFill>
                <a:latin typeface="黑体" panose="02010609060101010101" pitchFamily="49" charset="-122"/>
              </a:rPr>
              <a:t>k</a:t>
            </a:r>
            <a:r>
              <a:rPr lang="zh-CN" altLang="en-US" dirty="0">
                <a:solidFill>
                  <a:srgbClr val="CC00CC"/>
                </a:solidFill>
                <a:latin typeface="黑体" panose="02010609060101010101" pitchFamily="49" charset="-122"/>
              </a:rPr>
              <a:t>步转移概率、 </a:t>
            </a:r>
            <a:r>
              <a:rPr lang="en-US" altLang="zh-CN" dirty="0">
                <a:solidFill>
                  <a:srgbClr val="CC00CC"/>
                </a:solidFill>
                <a:latin typeface="黑体" panose="02010609060101010101" pitchFamily="49" charset="-122"/>
              </a:rPr>
              <a:t>k</a:t>
            </a:r>
            <a:r>
              <a:rPr lang="zh-CN" altLang="en-US" dirty="0">
                <a:solidFill>
                  <a:srgbClr val="CC00CC"/>
                </a:solidFill>
                <a:latin typeface="黑体" panose="02010609060101010101" pitchFamily="49" charset="-122"/>
              </a:rPr>
              <a:t>步转移矩阵</a:t>
            </a:r>
          </a:p>
          <a:p>
            <a:pPr lvl="1">
              <a:lnSpc>
                <a:spcPct val="160000"/>
              </a:lnSpc>
              <a:buClr>
                <a:srgbClr val="FF0000"/>
              </a:buClr>
              <a:buFontTx/>
              <a:buChar char="•"/>
            </a:pPr>
            <a:r>
              <a:rPr lang="zh-CN" altLang="en-US" dirty="0">
                <a:solidFill>
                  <a:srgbClr val="CC00CC"/>
                </a:solidFill>
                <a:latin typeface="黑体" panose="02010609060101010101" pitchFamily="49" charset="-122"/>
              </a:rPr>
              <a:t>齐次马尔可夫链</a:t>
            </a:r>
          </a:p>
        </p:txBody>
      </p:sp>
    </p:spTree>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anim calcmode="lin" valueType="num">
                                      <p:cBhvr additive="base">
                                        <p:cTn id="7" dur="500" fill="hold"/>
                                        <p:tgtEl>
                                          <p:spTgt spid="318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846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8467">
                                            <p:txEl>
                                              <p:pRg st="1" end="1"/>
                                            </p:txEl>
                                          </p:spTgt>
                                        </p:tgtEl>
                                        <p:attrNameLst>
                                          <p:attrName>style.visibility</p:attrName>
                                        </p:attrNameLst>
                                      </p:cBhvr>
                                      <p:to>
                                        <p:strVal val="visible"/>
                                      </p:to>
                                    </p:set>
                                    <p:anim calcmode="lin" valueType="num">
                                      <p:cBhvr additive="base">
                                        <p:cTn id="11" dur="500" fill="hold"/>
                                        <p:tgtEl>
                                          <p:spTgt spid="31846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846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8467">
                                            <p:txEl>
                                              <p:pRg st="2" end="2"/>
                                            </p:txEl>
                                          </p:spTgt>
                                        </p:tgtEl>
                                        <p:attrNameLst>
                                          <p:attrName>style.visibility</p:attrName>
                                        </p:attrNameLst>
                                      </p:cBhvr>
                                      <p:to>
                                        <p:strVal val="visible"/>
                                      </p:to>
                                    </p:set>
                                    <p:anim calcmode="lin" valueType="num">
                                      <p:cBhvr additive="base">
                                        <p:cTn id="15" dur="500" fill="hold"/>
                                        <p:tgtEl>
                                          <p:spTgt spid="31846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846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8467">
                                            <p:txEl>
                                              <p:pRg st="3" end="3"/>
                                            </p:txEl>
                                          </p:spTgt>
                                        </p:tgtEl>
                                        <p:attrNameLst>
                                          <p:attrName>style.visibility</p:attrName>
                                        </p:attrNameLst>
                                      </p:cBhvr>
                                      <p:to>
                                        <p:strVal val="visible"/>
                                      </p:to>
                                    </p:set>
                                    <p:anim calcmode="lin" valueType="num">
                                      <p:cBhvr additive="base">
                                        <p:cTn id="19" dur="500" fill="hold"/>
                                        <p:tgtEl>
                                          <p:spTgt spid="3184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846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18467">
                                            <p:txEl>
                                              <p:pRg st="4" end="4"/>
                                            </p:txEl>
                                          </p:spTgt>
                                        </p:tgtEl>
                                        <p:attrNameLst>
                                          <p:attrName>style.visibility</p:attrName>
                                        </p:attrNameLst>
                                      </p:cBhvr>
                                      <p:to>
                                        <p:strVal val="visible"/>
                                      </p:to>
                                    </p:set>
                                    <p:anim calcmode="lin" valueType="num">
                                      <p:cBhvr additive="base">
                                        <p:cTn id="23" dur="500" fill="hold"/>
                                        <p:tgtEl>
                                          <p:spTgt spid="31846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1846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18467">
                                            <p:txEl>
                                              <p:pRg st="5" end="5"/>
                                            </p:txEl>
                                          </p:spTgt>
                                        </p:tgtEl>
                                        <p:attrNameLst>
                                          <p:attrName>style.visibility</p:attrName>
                                        </p:attrNameLst>
                                      </p:cBhvr>
                                      <p:to>
                                        <p:strVal val="visible"/>
                                      </p:to>
                                    </p:set>
                                    <p:anim calcmode="lin" valueType="num">
                                      <p:cBhvr additive="base">
                                        <p:cTn id="27" dur="500" fill="hold"/>
                                        <p:tgtEl>
                                          <p:spTgt spid="31846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846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18467">
                                            <p:txEl>
                                              <p:pRg st="6" end="6"/>
                                            </p:txEl>
                                          </p:spTgt>
                                        </p:tgtEl>
                                        <p:attrNameLst>
                                          <p:attrName>style.visibility</p:attrName>
                                        </p:attrNameLst>
                                      </p:cBhvr>
                                      <p:to>
                                        <p:strVal val="visible"/>
                                      </p:to>
                                    </p:set>
                                    <p:anim calcmode="lin" valueType="num">
                                      <p:cBhvr additive="base">
                                        <p:cTn id="31" dur="500" fill="hold"/>
                                        <p:tgtEl>
                                          <p:spTgt spid="31846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84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18467">
                                            <p:txEl>
                                              <p:pRg st="7" end="7"/>
                                            </p:txEl>
                                          </p:spTgt>
                                        </p:tgtEl>
                                        <p:attrNameLst>
                                          <p:attrName>style.visibility</p:attrName>
                                        </p:attrNameLst>
                                      </p:cBhvr>
                                      <p:to>
                                        <p:strVal val="visible"/>
                                      </p:to>
                                    </p:set>
                                    <p:anim calcmode="lin" valueType="num">
                                      <p:cBhvr additive="base">
                                        <p:cTn id="37" dur="500" fill="hold"/>
                                        <p:tgtEl>
                                          <p:spTgt spid="31846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84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0" end="0"/>
                                            </p:txEl>
                                          </p:spTgt>
                                        </p:tgtEl>
                                        <p:attrNameLst>
                                          <p:attrName>style.visibility</p:attrName>
                                        </p:attrNameLst>
                                      </p:cBhvr>
                                      <p:to>
                                        <p:strVal val="visible"/>
                                      </p:to>
                                    </p:set>
                                    <p:anim calcmode="lin" valueType="num">
                                      <p:cBhvr additive="base">
                                        <p:cTn id="4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xEl>
                                              <p:pRg st="1" end="1"/>
                                            </p:txEl>
                                          </p:spTgt>
                                        </p:tgtEl>
                                        <p:attrNameLst>
                                          <p:attrName>style.visibility</p:attrName>
                                        </p:attrNameLst>
                                      </p:cBhvr>
                                      <p:to>
                                        <p:strVal val="visible"/>
                                      </p:to>
                                    </p:set>
                                    <p:anim calcmode="lin" valueType="num">
                                      <p:cBhvr additive="base">
                                        <p:cTn id="4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
                                            <p:txEl>
                                              <p:pRg st="2" end="2"/>
                                            </p:txEl>
                                          </p:spTgt>
                                        </p:tgtEl>
                                        <p:attrNameLst>
                                          <p:attrName>style.visibility</p:attrName>
                                        </p:attrNameLst>
                                      </p:cBhvr>
                                      <p:to>
                                        <p:strVal val="visible"/>
                                      </p:to>
                                    </p:set>
                                    <p:anim calcmode="lin" valueType="num">
                                      <p:cBhvr additive="base">
                                        <p:cTn id="5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
                                            <p:txEl>
                                              <p:pRg st="3" end="3"/>
                                            </p:txEl>
                                          </p:spTgt>
                                        </p:tgtEl>
                                        <p:attrNameLst>
                                          <p:attrName>style.visibility</p:attrName>
                                        </p:attrNameLst>
                                      </p:cBhvr>
                                      <p:to>
                                        <p:strVal val="visible"/>
                                      </p:to>
                                    </p:set>
                                    <p:anim calcmode="lin" valueType="num">
                                      <p:cBhvr additive="base">
                                        <p:cTn id="5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
                                            <p:txEl>
                                              <p:pRg st="4" end="4"/>
                                            </p:txEl>
                                          </p:spTgt>
                                        </p:tgtEl>
                                        <p:attrNameLst>
                                          <p:attrName>style.visibility</p:attrName>
                                        </p:attrNameLst>
                                      </p:cBhvr>
                                      <p:to>
                                        <p:strVal val="visible"/>
                                      </p:to>
                                    </p:set>
                                    <p:anim calcmode="lin" valueType="num">
                                      <p:cBhvr additive="base">
                                        <p:cTn id="5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 calcmode="lin" valueType="num">
                                      <p:cBhvr additive="base">
                                        <p:cTn id="6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build="p"/>
      <p:bldP spid="2" grpId="0" build="p"/>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FC0011B-C63D-9DB0-1266-A4A9515DEF46}"/>
              </a:ext>
            </a:extLst>
          </p:cNvPr>
          <p:cNvSpPr>
            <a:spLocks noGrp="1" noChangeArrowheads="1"/>
          </p:cNvSpPr>
          <p:nvPr>
            <p:ph type="body" idx="1"/>
          </p:nvPr>
        </p:nvSpPr>
        <p:spPr>
          <a:xfrm>
            <a:off x="307975" y="991395"/>
            <a:ext cx="4876800" cy="609599"/>
          </a:xfrm>
        </p:spPr>
        <p:txBody>
          <a:bodyPr>
            <a:normAutofit/>
          </a:bodyPr>
          <a:lstStyle/>
          <a:p>
            <a:pPr eaLnBrk="1" hangingPunct="1">
              <a:lnSpc>
                <a:spcPct val="110000"/>
              </a:lnSpc>
              <a:buFont typeface="Wingdings" panose="05000000000000000000" pitchFamily="2" charset="2"/>
              <a:buNone/>
            </a:pPr>
            <a:r>
              <a:rPr lang="en-US" altLang="zh-CN" dirty="0">
                <a:solidFill>
                  <a:srgbClr val="CC00CC"/>
                </a:solidFill>
              </a:rPr>
              <a:t>P66</a:t>
            </a:r>
            <a:r>
              <a:rPr lang="zh-CN" altLang="en-US" dirty="0">
                <a:solidFill>
                  <a:srgbClr val="CC00CC"/>
                </a:solidFill>
              </a:rPr>
              <a:t>～</a:t>
            </a:r>
            <a:r>
              <a:rPr lang="en-US" altLang="zh-CN" dirty="0">
                <a:solidFill>
                  <a:srgbClr val="CC00CC"/>
                </a:solidFill>
              </a:rPr>
              <a:t>69  </a:t>
            </a:r>
            <a:r>
              <a:rPr lang="en-US" altLang="en-US" dirty="0">
                <a:solidFill>
                  <a:srgbClr val="0000FF"/>
                </a:solidFill>
              </a:rPr>
              <a:t>1.  </a:t>
            </a:r>
            <a:r>
              <a:rPr lang="en-US" altLang="zh-CN" dirty="0">
                <a:solidFill>
                  <a:srgbClr val="0000FF"/>
                </a:solidFill>
              </a:rPr>
              <a:t>9.   15.    19.</a:t>
            </a:r>
          </a:p>
        </p:txBody>
      </p:sp>
      <p:sp>
        <p:nvSpPr>
          <p:cNvPr id="70662" name="Rectangle 3">
            <a:extLst>
              <a:ext uri="{FF2B5EF4-FFF2-40B4-BE49-F238E27FC236}">
                <a16:creationId xmlns:a16="http://schemas.microsoft.com/office/drawing/2014/main" id="{B6F6E993-BAF4-260A-4694-35F5E8503501}"/>
              </a:ext>
            </a:extLst>
          </p:cNvPr>
          <p:cNvSpPr>
            <a:spLocks noGrp="1" noChangeArrowheads="1"/>
          </p:cNvSpPr>
          <p:nvPr>
            <p:ph type="title"/>
          </p:nvPr>
        </p:nvSpPr>
        <p:spPr>
          <a:xfrm>
            <a:off x="765175" y="305594"/>
            <a:ext cx="7469329" cy="516056"/>
          </a:xfrm>
          <a:noFill/>
        </p:spPr>
        <p:txBody>
          <a:bodyPr/>
          <a:lstStyle/>
          <a:p>
            <a:pPr eaLnBrk="1" hangingPunct="1"/>
            <a:r>
              <a:rPr lang="zh-CN" altLang="en-US" dirty="0"/>
              <a:t>习 题 二</a:t>
            </a:r>
          </a:p>
        </p:txBody>
      </p:sp>
      <p:pic>
        <p:nvPicPr>
          <p:cNvPr id="3" name="图片 2">
            <a:extLst>
              <a:ext uri="{FF2B5EF4-FFF2-40B4-BE49-F238E27FC236}">
                <a16:creationId xmlns:a16="http://schemas.microsoft.com/office/drawing/2014/main" id="{0953D506-59BA-C413-FE74-BEB232350DF1}"/>
              </a:ext>
            </a:extLst>
          </p:cNvPr>
          <p:cNvPicPr>
            <a:picLocks noChangeAspect="1"/>
          </p:cNvPicPr>
          <p:nvPr/>
        </p:nvPicPr>
        <p:blipFill>
          <a:blip r:embed="rId2"/>
          <a:stretch>
            <a:fillRect/>
          </a:stretch>
        </p:blipFill>
        <p:spPr>
          <a:xfrm>
            <a:off x="288965" y="1600994"/>
            <a:ext cx="4465707" cy="2263336"/>
          </a:xfrm>
          <a:prstGeom prst="rect">
            <a:avLst/>
          </a:prstGeom>
        </p:spPr>
      </p:pic>
      <p:pic>
        <p:nvPicPr>
          <p:cNvPr id="5" name="图片 4">
            <a:extLst>
              <a:ext uri="{FF2B5EF4-FFF2-40B4-BE49-F238E27FC236}">
                <a16:creationId xmlns:a16="http://schemas.microsoft.com/office/drawing/2014/main" id="{54A4F8DB-4A60-65FF-72D3-C1286BB2A67F}"/>
              </a:ext>
            </a:extLst>
          </p:cNvPr>
          <p:cNvPicPr>
            <a:picLocks noChangeAspect="1"/>
          </p:cNvPicPr>
          <p:nvPr/>
        </p:nvPicPr>
        <p:blipFill>
          <a:blip r:embed="rId3"/>
          <a:stretch>
            <a:fillRect/>
          </a:stretch>
        </p:blipFill>
        <p:spPr>
          <a:xfrm>
            <a:off x="5603674" y="1304704"/>
            <a:ext cx="5608806" cy="3048264"/>
          </a:xfrm>
          <a:prstGeom prst="rect">
            <a:avLst/>
          </a:prstGeom>
        </p:spPr>
      </p:pic>
      <p:pic>
        <p:nvPicPr>
          <p:cNvPr id="7" name="图片 6">
            <a:extLst>
              <a:ext uri="{FF2B5EF4-FFF2-40B4-BE49-F238E27FC236}">
                <a16:creationId xmlns:a16="http://schemas.microsoft.com/office/drawing/2014/main" id="{6BD9D643-856B-09B9-C836-05EAFBAABB57}"/>
              </a:ext>
            </a:extLst>
          </p:cNvPr>
          <p:cNvPicPr>
            <a:picLocks noChangeAspect="1"/>
          </p:cNvPicPr>
          <p:nvPr/>
        </p:nvPicPr>
        <p:blipFill>
          <a:blip r:embed="rId4"/>
          <a:stretch>
            <a:fillRect/>
          </a:stretch>
        </p:blipFill>
        <p:spPr>
          <a:xfrm>
            <a:off x="5786657" y="4666277"/>
            <a:ext cx="5349704" cy="1005927"/>
          </a:xfrm>
          <a:prstGeom prst="rect">
            <a:avLst/>
          </a:prstGeom>
        </p:spPr>
      </p:pic>
      <p:pic>
        <p:nvPicPr>
          <p:cNvPr id="9" name="图片 8">
            <a:extLst>
              <a:ext uri="{FF2B5EF4-FFF2-40B4-BE49-F238E27FC236}">
                <a16:creationId xmlns:a16="http://schemas.microsoft.com/office/drawing/2014/main" id="{96BBB202-D623-ACA5-D196-F5A2EB972B38}"/>
              </a:ext>
            </a:extLst>
          </p:cNvPr>
          <p:cNvPicPr>
            <a:picLocks noChangeAspect="1"/>
          </p:cNvPicPr>
          <p:nvPr/>
        </p:nvPicPr>
        <p:blipFill>
          <a:blip r:embed="rId5"/>
          <a:stretch>
            <a:fillRect/>
          </a:stretch>
        </p:blipFill>
        <p:spPr>
          <a:xfrm>
            <a:off x="126445" y="4205227"/>
            <a:ext cx="5448772" cy="922100"/>
          </a:xfrm>
          <a:prstGeom prst="rect">
            <a:avLst/>
          </a:prstGeom>
        </p:spPr>
      </p:pic>
      <p:pic>
        <p:nvPicPr>
          <p:cNvPr id="11" name="图片 10">
            <a:extLst>
              <a:ext uri="{FF2B5EF4-FFF2-40B4-BE49-F238E27FC236}">
                <a16:creationId xmlns:a16="http://schemas.microsoft.com/office/drawing/2014/main" id="{C27A50CC-78B3-464F-1279-D41F6B01A3E8}"/>
              </a:ext>
            </a:extLst>
          </p:cNvPr>
          <p:cNvPicPr>
            <a:picLocks noChangeAspect="1"/>
          </p:cNvPicPr>
          <p:nvPr/>
        </p:nvPicPr>
        <p:blipFill>
          <a:blip r:embed="rId6"/>
          <a:stretch>
            <a:fillRect/>
          </a:stretch>
        </p:blipFill>
        <p:spPr>
          <a:xfrm>
            <a:off x="36934" y="5593961"/>
            <a:ext cx="5326842" cy="1150720"/>
          </a:xfrm>
          <a:prstGeom prst="rect">
            <a:avLst/>
          </a:prstGeom>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utoUpdateAnimBg="0" advAuto="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1679</TotalTime>
  <Words>8190</Words>
  <Application>Microsoft Macintosh PowerPoint</Application>
  <PresentationFormat>自定义</PresentationFormat>
  <Paragraphs>634</Paragraphs>
  <Slides>79</Slides>
  <Notes>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79</vt:i4>
      </vt:variant>
    </vt:vector>
  </HeadingPairs>
  <TitlesOfParts>
    <vt:vector size="94" baseType="lpstr">
      <vt:lpstr>等线</vt:lpstr>
      <vt:lpstr>黑体</vt:lpstr>
      <vt:lpstr>华文行楷</vt:lpstr>
      <vt:lpstr>楷体_GB2312</vt:lpstr>
      <vt:lpstr>宋体</vt:lpstr>
      <vt:lpstr>微软雅黑</vt:lpstr>
      <vt:lpstr>Arial Unicode MS</vt:lpstr>
      <vt:lpstr>Arial</vt:lpstr>
      <vt:lpstr>Cambria Math</vt:lpstr>
      <vt:lpstr>Symbol</vt:lpstr>
      <vt:lpstr>Times New Roman</vt:lpstr>
      <vt:lpstr>Wingdings</vt:lpstr>
      <vt:lpstr>Office Theme</vt:lpstr>
      <vt:lpstr>Equation</vt:lpstr>
      <vt:lpstr>公式</vt:lpstr>
      <vt:lpstr>PowerPoint 演示文稿</vt:lpstr>
      <vt:lpstr>PowerPoint 演示文稿</vt:lpstr>
      <vt:lpstr>上一讲内容回顾</vt:lpstr>
      <vt:lpstr>本讲主要内容</vt:lpstr>
      <vt:lpstr>PowerPoint 演示文稿</vt:lpstr>
      <vt:lpstr>PowerPoint 演示文稿</vt:lpstr>
      <vt:lpstr>随机过程的广泛应用</vt:lpstr>
      <vt:lpstr>例</vt:lpstr>
      <vt:lpstr>二、随机过程的定义</vt:lpstr>
      <vt:lpstr>样本函数与状态空间</vt:lpstr>
      <vt:lpstr>PowerPoint 演示文稿</vt:lpstr>
      <vt:lpstr>PowerPoint 演示文稿</vt:lpstr>
      <vt:lpstr>PowerPoint 演示文稿</vt:lpstr>
      <vt:lpstr>PowerPoint 演示文稿</vt:lpstr>
      <vt:lpstr>PowerPoint 演示文稿</vt:lpstr>
      <vt:lpstr>PowerPoint 演示文稿</vt:lpstr>
      <vt:lpstr>随机过程的分类</vt:lpstr>
      <vt:lpstr>三、随机过程的分布</vt:lpstr>
      <vt:lpstr>二维分布函数</vt:lpstr>
      <vt:lpstr>二维概率密度</vt:lpstr>
      <vt:lpstr>n维分布函数</vt:lpstr>
      <vt:lpstr>n维概率密度</vt:lpstr>
      <vt:lpstr>n+m维联合分布函数</vt:lpstr>
      <vt:lpstr>n+m维联合概率密度</vt:lpstr>
      <vt:lpstr>相互独立的随机过程</vt:lpstr>
      <vt:lpstr>n维特征函数</vt:lpstr>
      <vt:lpstr>实例</vt:lpstr>
      <vt:lpstr>例4(续1)</vt:lpstr>
      <vt:lpstr>例4(续2)</vt:lpstr>
      <vt:lpstr>四、随机过程的数字特征</vt:lpstr>
      <vt:lpstr>方差函数</vt:lpstr>
      <vt:lpstr>协方差函数和相关函数</vt:lpstr>
      <vt:lpstr>互协方差函数和互相关函数</vt:lpstr>
      <vt:lpstr>例5</vt:lpstr>
      <vt:lpstr>例5(续1)</vt:lpstr>
      <vt:lpstr>例5(续2)</vt:lpstr>
      <vt:lpstr>例6</vt:lpstr>
      <vt:lpstr>例6(续1)</vt:lpstr>
      <vt:lpstr>PowerPoint 演示文稿</vt:lpstr>
      <vt:lpstr>1.独立过程</vt:lpstr>
      <vt:lpstr>实例</vt:lpstr>
      <vt:lpstr>2.独立增量过程</vt:lpstr>
      <vt:lpstr>3. 平稳独立增量过程</vt:lpstr>
      <vt:lpstr>实例</vt:lpstr>
      <vt:lpstr>实例</vt:lpstr>
      <vt:lpstr>PowerPoint 演示文稿</vt:lpstr>
      <vt:lpstr>独立增量过程的性质</vt:lpstr>
      <vt:lpstr>证明</vt:lpstr>
      <vt:lpstr>证明(续1)</vt:lpstr>
      <vt:lpstr>证明(续2)</vt:lpstr>
      <vt:lpstr>证明(续3)</vt:lpstr>
      <vt:lpstr>证明(续4)</vt:lpstr>
      <vt:lpstr>说明</vt:lpstr>
      <vt:lpstr>4.正态过程(高斯过程)</vt:lpstr>
      <vt:lpstr>正态过程的定义</vt:lpstr>
      <vt:lpstr>正态过程的一维概率分布</vt:lpstr>
      <vt:lpstr>P38</vt:lpstr>
      <vt:lpstr>正态过程的二维概率分布</vt:lpstr>
      <vt:lpstr>正态过程的n维概率分布</vt:lpstr>
      <vt:lpstr>正态过程的n维概率分布</vt:lpstr>
      <vt:lpstr>实例</vt:lpstr>
      <vt:lpstr>实例(续1)</vt:lpstr>
      <vt:lpstr>实例(续2)</vt:lpstr>
      <vt:lpstr>实例(续3)</vt:lpstr>
      <vt:lpstr>实例(续4)</vt:lpstr>
      <vt:lpstr>实例(续5)</vt:lpstr>
      <vt:lpstr>4. 维纳过程(Brown运动)</vt:lpstr>
      <vt:lpstr>维纳过程的定义</vt:lpstr>
      <vt:lpstr>维纳过程的概率分布及数字特征</vt:lpstr>
      <vt:lpstr>维纳过程的二维概率分布</vt:lpstr>
      <vt:lpstr>维纳过程的n维概率分布</vt:lpstr>
      <vt:lpstr>维纳过程的n维概率分布</vt:lpstr>
      <vt:lpstr>维纳过程的性质</vt:lpstr>
      <vt:lpstr>维纳过程的性质</vt:lpstr>
      <vt:lpstr>维纳过程的性质</vt:lpstr>
      <vt:lpstr>本讲主要内容</vt:lpstr>
      <vt:lpstr>下一讲内容预告</vt:lpstr>
      <vt:lpstr>习 题 二</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Qingxian Wang</cp:lastModifiedBy>
  <cp:revision>1269</cp:revision>
  <cp:lastPrinted>2022-01-15T12:13:00Z</cp:lastPrinted>
  <dcterms:created xsi:type="dcterms:W3CDTF">2006-08-16T00:00:00Z</dcterms:created>
  <dcterms:modified xsi:type="dcterms:W3CDTF">2026-09-15T11:18:14Z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E98F3E2A8F6D4B7EBE46F1C3936A5CEF</vt:lpwstr>
  </property>
  <property fmtid="{D5CDD505-2E9C-101B-9397-08002B2CF9AE}" pid="3" name="KSOProductBuildVer">
    <vt:lpwstr>2052-11.1.0.11579</vt:lpwstr>
  </property>
</Properties>
</file>