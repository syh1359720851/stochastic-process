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4">
  <p:sldMasterIdLst>
    <p:sldMasterId id="2147483648" r:id="rId1"/>
  </p:sldMasterIdLst>
  <p:notesMasterIdLst>
    <p:notesMasterId r:id="rId76"/>
  </p:notesMasterIdLst>
  <p:sldIdLst>
    <p:sldId id="256" r:id="rId2"/>
    <p:sldId id="337" r:id="rId3"/>
    <p:sldId id="340" r:id="rId4"/>
    <p:sldId id="416" r:id="rId5"/>
    <p:sldId id="341" r:id="rId6"/>
    <p:sldId id="389" r:id="rId7"/>
    <p:sldId id="390" r:id="rId8"/>
    <p:sldId id="391" r:id="rId9"/>
    <p:sldId id="392" r:id="rId10"/>
    <p:sldId id="393" r:id="rId11"/>
    <p:sldId id="394" r:id="rId12"/>
    <p:sldId id="395" r:id="rId13"/>
    <p:sldId id="396" r:id="rId14"/>
    <p:sldId id="397" r:id="rId15"/>
    <p:sldId id="398" r:id="rId16"/>
    <p:sldId id="399" r:id="rId17"/>
    <p:sldId id="400" r:id="rId18"/>
    <p:sldId id="401" r:id="rId19"/>
    <p:sldId id="376" r:id="rId20"/>
    <p:sldId id="377" r:id="rId21"/>
    <p:sldId id="402" r:id="rId22"/>
    <p:sldId id="403" r:id="rId23"/>
    <p:sldId id="404" r:id="rId24"/>
    <p:sldId id="405" r:id="rId25"/>
    <p:sldId id="406" r:id="rId26"/>
    <p:sldId id="407" r:id="rId27"/>
    <p:sldId id="408" r:id="rId28"/>
    <p:sldId id="380" r:id="rId29"/>
    <p:sldId id="381" r:id="rId30"/>
    <p:sldId id="378" r:id="rId31"/>
    <p:sldId id="409" r:id="rId32"/>
    <p:sldId id="410" r:id="rId33"/>
    <p:sldId id="411" r:id="rId34"/>
    <p:sldId id="412" r:id="rId35"/>
    <p:sldId id="417" r:id="rId36"/>
    <p:sldId id="418" r:id="rId37"/>
    <p:sldId id="419" r:id="rId38"/>
    <p:sldId id="420" r:id="rId39"/>
    <p:sldId id="421" r:id="rId40"/>
    <p:sldId id="422" r:id="rId41"/>
    <p:sldId id="423" r:id="rId42"/>
    <p:sldId id="425" r:id="rId43"/>
    <p:sldId id="426" r:id="rId44"/>
    <p:sldId id="427" r:id="rId45"/>
    <p:sldId id="428" r:id="rId46"/>
    <p:sldId id="429" r:id="rId47"/>
    <p:sldId id="430" r:id="rId48"/>
    <p:sldId id="431" r:id="rId49"/>
    <p:sldId id="432" r:id="rId50"/>
    <p:sldId id="433" r:id="rId51"/>
    <p:sldId id="434" r:id="rId52"/>
    <p:sldId id="435" r:id="rId53"/>
    <p:sldId id="436" r:id="rId54"/>
    <p:sldId id="437" r:id="rId55"/>
    <p:sldId id="439" r:id="rId56"/>
    <p:sldId id="440" r:id="rId57"/>
    <p:sldId id="441" r:id="rId58"/>
    <p:sldId id="442" r:id="rId59"/>
    <p:sldId id="443" r:id="rId60"/>
    <p:sldId id="444" r:id="rId61"/>
    <p:sldId id="445" r:id="rId62"/>
    <p:sldId id="447" r:id="rId63"/>
    <p:sldId id="448" r:id="rId64"/>
    <p:sldId id="449" r:id="rId65"/>
    <p:sldId id="450" r:id="rId66"/>
    <p:sldId id="451" r:id="rId67"/>
    <p:sldId id="452" r:id="rId68"/>
    <p:sldId id="453" r:id="rId69"/>
    <p:sldId id="454" r:id="rId70"/>
    <p:sldId id="455" r:id="rId71"/>
    <p:sldId id="456" r:id="rId72"/>
    <p:sldId id="457" r:id="rId73"/>
    <p:sldId id="319" r:id="rId74"/>
    <p:sldId id="260" r:id="rId75"/>
  </p:sldIdLst>
  <p:sldSz cx="12198350" cy="6859588"/>
  <p:notesSz cx="9144000" cy="6858000"/>
  <p:defaultTextStyle>
    <a:defPPr>
      <a:defRPr lang="en-US"/>
    </a:defPPr>
    <a:lvl1pPr marL="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83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943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903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927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887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847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870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22">
          <p15:clr>
            <a:srgbClr val="A4A3A4"/>
          </p15:clr>
        </p15:guide>
        <p15:guide id="3" orient="horz" pos="2878">
          <p15:clr>
            <a:srgbClr val="A4A3A4"/>
          </p15:clr>
        </p15:guide>
        <p15:guide id="4" pos="384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0000CC"/>
    <a:srgbClr val="0000FF"/>
    <a:srgbClr val="92D050"/>
    <a:srgbClr val="CC00CC"/>
    <a:srgbClr val="BD9B53"/>
    <a:srgbClr val="009900"/>
    <a:srgbClr val="F4FA12"/>
    <a:srgbClr val="1157AB"/>
    <a:srgbClr val="C05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39" autoAdjust="0"/>
    <p:restoredTop sz="92466" autoAdjust="0"/>
  </p:normalViewPr>
  <p:slideViewPr>
    <p:cSldViewPr>
      <p:cViewPr varScale="1">
        <p:scale>
          <a:sx n="59" d="100"/>
          <a:sy n="59" d="100"/>
        </p:scale>
        <p:origin x="208" y="1440"/>
      </p:cViewPr>
      <p:guideLst>
        <p:guide orient="horz" pos="2160"/>
        <p:guide pos="2822"/>
        <p:guide orient="horz" pos="2878"/>
        <p:guide pos="3848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  <p:sld r:id="rId37" collapse="1"/>
      <p:sld r:id="rId38" collapse="1"/>
      <p:sld r:id="rId39" collapse="1"/>
      <p:sld r:id="rId40" collapse="1"/>
      <p:sld r:id="rId41" collapse="1"/>
      <p:sld r:id="rId42" collapse="1"/>
      <p:sld r:id="rId43" collapse="1"/>
      <p:sld r:id="rId44" collapse="1"/>
      <p:sld r:id="rId45" collapse="1"/>
      <p:sld r:id="rId46" collapse="1"/>
      <p:sld r:id="rId47" collapse="1"/>
      <p:sld r:id="rId48" collapse="1"/>
      <p:sld r:id="rId49" collapse="1"/>
      <p:sld r:id="rId50" collapse="1"/>
      <p:sld r:id="rId51" collapse="1"/>
      <p:sld r:id="rId52" collapse="1"/>
      <p:sld r:id="rId53" collapse="1"/>
      <p:sld r:id="rId54" collapse="1"/>
      <p:sld r:id="rId55" collapse="1"/>
      <p:sld r:id="rId56" collapse="1"/>
      <p:sld r:id="rId57" collapse="1"/>
      <p:sld r:id="rId58" collapse="1"/>
      <p:sld r:id="rId59" collapse="1"/>
      <p:sld r:id="rId60" collapse="1"/>
      <p:sld r:id="rId61" collapse="1"/>
      <p:sld r:id="rId62" collapse="1"/>
      <p:sld r:id="rId63" collapse="1"/>
      <p:sld r:id="rId64" collapse="1"/>
      <p:sld r:id="rId65" collapse="1"/>
      <p:sld r:id="rId66" collapse="1"/>
      <p:sld r:id="rId67" collapse="1"/>
      <p:sld r:id="rId68" collapse="1"/>
      <p:sld r:id="rId69" collapse="1"/>
      <p:sld r:id="rId70" collapse="1"/>
      <p:sld r:id="rId7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5" d="100"/>
          <a:sy n="95" d="100"/>
        </p:scale>
        <p:origin x="4042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_rels/viewProps.xml.rels><?xml version="1.0" encoding="UTF-8" standalone="yes"?>
<Relationships xmlns="http://schemas.openxmlformats.org/package/2006/relationships"><Relationship Id="rId26" Type="http://schemas.openxmlformats.org/officeDocument/2006/relationships/slide" Target="slides/slide27.xml"/><Relationship Id="rId21" Type="http://schemas.openxmlformats.org/officeDocument/2006/relationships/slide" Target="slides/slide22.xml"/><Relationship Id="rId42" Type="http://schemas.openxmlformats.org/officeDocument/2006/relationships/slide" Target="slides/slide43.xml"/><Relationship Id="rId47" Type="http://schemas.openxmlformats.org/officeDocument/2006/relationships/slide" Target="slides/slide49.xml"/><Relationship Id="rId63" Type="http://schemas.openxmlformats.org/officeDocument/2006/relationships/slide" Target="slides/slide66.xml"/><Relationship Id="rId68" Type="http://schemas.openxmlformats.org/officeDocument/2006/relationships/slide" Target="slides/slide71.xml"/><Relationship Id="rId7" Type="http://schemas.openxmlformats.org/officeDocument/2006/relationships/slide" Target="slides/slide8.xml"/><Relationship Id="rId71" Type="http://schemas.openxmlformats.org/officeDocument/2006/relationships/slide" Target="slides/slide74.xml"/><Relationship Id="rId2" Type="http://schemas.openxmlformats.org/officeDocument/2006/relationships/slide" Target="slides/slide3.xml"/><Relationship Id="rId16" Type="http://schemas.openxmlformats.org/officeDocument/2006/relationships/slide" Target="slides/slide17.xml"/><Relationship Id="rId29" Type="http://schemas.openxmlformats.org/officeDocument/2006/relationships/slide" Target="slides/slide30.xml"/><Relationship Id="rId11" Type="http://schemas.openxmlformats.org/officeDocument/2006/relationships/slide" Target="slides/slide12.xml"/><Relationship Id="rId24" Type="http://schemas.openxmlformats.org/officeDocument/2006/relationships/slide" Target="slides/slide25.xml"/><Relationship Id="rId32" Type="http://schemas.openxmlformats.org/officeDocument/2006/relationships/slide" Target="slides/slide33.xml"/><Relationship Id="rId37" Type="http://schemas.openxmlformats.org/officeDocument/2006/relationships/slide" Target="slides/slide38.xml"/><Relationship Id="rId40" Type="http://schemas.openxmlformats.org/officeDocument/2006/relationships/slide" Target="slides/slide41.xml"/><Relationship Id="rId45" Type="http://schemas.openxmlformats.org/officeDocument/2006/relationships/slide" Target="slides/slide47.xml"/><Relationship Id="rId53" Type="http://schemas.openxmlformats.org/officeDocument/2006/relationships/slide" Target="slides/slide56.xml"/><Relationship Id="rId58" Type="http://schemas.openxmlformats.org/officeDocument/2006/relationships/slide" Target="slides/slide61.xml"/><Relationship Id="rId66" Type="http://schemas.openxmlformats.org/officeDocument/2006/relationships/slide" Target="slides/slide69.xml"/><Relationship Id="rId5" Type="http://schemas.openxmlformats.org/officeDocument/2006/relationships/slide" Target="slides/slide6.xml"/><Relationship Id="rId61" Type="http://schemas.openxmlformats.org/officeDocument/2006/relationships/slide" Target="slides/slide64.xml"/><Relationship Id="rId19" Type="http://schemas.openxmlformats.org/officeDocument/2006/relationships/slide" Target="slides/slide20.xml"/><Relationship Id="rId14" Type="http://schemas.openxmlformats.org/officeDocument/2006/relationships/slide" Target="slides/slide15.xml"/><Relationship Id="rId22" Type="http://schemas.openxmlformats.org/officeDocument/2006/relationships/slide" Target="slides/slide23.xml"/><Relationship Id="rId27" Type="http://schemas.openxmlformats.org/officeDocument/2006/relationships/slide" Target="slides/slide28.xml"/><Relationship Id="rId30" Type="http://schemas.openxmlformats.org/officeDocument/2006/relationships/slide" Target="slides/slide31.xml"/><Relationship Id="rId35" Type="http://schemas.openxmlformats.org/officeDocument/2006/relationships/slide" Target="slides/slide36.xml"/><Relationship Id="rId43" Type="http://schemas.openxmlformats.org/officeDocument/2006/relationships/slide" Target="slides/slide45.xml"/><Relationship Id="rId48" Type="http://schemas.openxmlformats.org/officeDocument/2006/relationships/slide" Target="slides/slide50.xml"/><Relationship Id="rId56" Type="http://schemas.openxmlformats.org/officeDocument/2006/relationships/slide" Target="slides/slide59.xml"/><Relationship Id="rId64" Type="http://schemas.openxmlformats.org/officeDocument/2006/relationships/slide" Target="slides/slide67.xml"/><Relationship Id="rId69" Type="http://schemas.openxmlformats.org/officeDocument/2006/relationships/slide" Target="slides/slide72.xml"/><Relationship Id="rId8" Type="http://schemas.openxmlformats.org/officeDocument/2006/relationships/slide" Target="slides/slide9.xml"/><Relationship Id="rId51" Type="http://schemas.openxmlformats.org/officeDocument/2006/relationships/slide" Target="slides/slide54.xml"/><Relationship Id="rId3" Type="http://schemas.openxmlformats.org/officeDocument/2006/relationships/slide" Target="slides/slide4.xml"/><Relationship Id="rId12" Type="http://schemas.openxmlformats.org/officeDocument/2006/relationships/slide" Target="slides/slide13.xml"/><Relationship Id="rId17" Type="http://schemas.openxmlformats.org/officeDocument/2006/relationships/slide" Target="slides/slide18.xml"/><Relationship Id="rId25" Type="http://schemas.openxmlformats.org/officeDocument/2006/relationships/slide" Target="slides/slide26.xml"/><Relationship Id="rId33" Type="http://schemas.openxmlformats.org/officeDocument/2006/relationships/slide" Target="slides/slide34.xml"/><Relationship Id="rId38" Type="http://schemas.openxmlformats.org/officeDocument/2006/relationships/slide" Target="slides/slide39.xml"/><Relationship Id="rId46" Type="http://schemas.openxmlformats.org/officeDocument/2006/relationships/slide" Target="slides/slide48.xml"/><Relationship Id="rId59" Type="http://schemas.openxmlformats.org/officeDocument/2006/relationships/slide" Target="slides/slide62.xml"/><Relationship Id="rId67" Type="http://schemas.openxmlformats.org/officeDocument/2006/relationships/slide" Target="slides/slide70.xml"/><Relationship Id="rId20" Type="http://schemas.openxmlformats.org/officeDocument/2006/relationships/slide" Target="slides/slide21.xml"/><Relationship Id="rId41" Type="http://schemas.openxmlformats.org/officeDocument/2006/relationships/slide" Target="slides/slide42.xml"/><Relationship Id="rId54" Type="http://schemas.openxmlformats.org/officeDocument/2006/relationships/slide" Target="slides/slide57.xml"/><Relationship Id="rId62" Type="http://schemas.openxmlformats.org/officeDocument/2006/relationships/slide" Target="slides/slide65.xml"/><Relationship Id="rId70" Type="http://schemas.openxmlformats.org/officeDocument/2006/relationships/slide" Target="slides/slide73.xml"/><Relationship Id="rId1" Type="http://schemas.openxmlformats.org/officeDocument/2006/relationships/slide" Target="slides/slide2.xml"/><Relationship Id="rId6" Type="http://schemas.openxmlformats.org/officeDocument/2006/relationships/slide" Target="slides/slide7.xml"/><Relationship Id="rId15" Type="http://schemas.openxmlformats.org/officeDocument/2006/relationships/slide" Target="slides/slide16.xml"/><Relationship Id="rId23" Type="http://schemas.openxmlformats.org/officeDocument/2006/relationships/slide" Target="slides/slide24.xml"/><Relationship Id="rId28" Type="http://schemas.openxmlformats.org/officeDocument/2006/relationships/slide" Target="slides/slide29.xml"/><Relationship Id="rId36" Type="http://schemas.openxmlformats.org/officeDocument/2006/relationships/slide" Target="slides/slide37.xml"/><Relationship Id="rId49" Type="http://schemas.openxmlformats.org/officeDocument/2006/relationships/slide" Target="slides/slide51.xml"/><Relationship Id="rId57" Type="http://schemas.openxmlformats.org/officeDocument/2006/relationships/slide" Target="slides/slide60.xml"/><Relationship Id="rId10" Type="http://schemas.openxmlformats.org/officeDocument/2006/relationships/slide" Target="slides/slide11.xml"/><Relationship Id="rId31" Type="http://schemas.openxmlformats.org/officeDocument/2006/relationships/slide" Target="slides/slide32.xml"/><Relationship Id="rId44" Type="http://schemas.openxmlformats.org/officeDocument/2006/relationships/slide" Target="slides/slide46.xml"/><Relationship Id="rId52" Type="http://schemas.openxmlformats.org/officeDocument/2006/relationships/slide" Target="slides/slide55.xml"/><Relationship Id="rId60" Type="http://schemas.openxmlformats.org/officeDocument/2006/relationships/slide" Target="slides/slide63.xml"/><Relationship Id="rId65" Type="http://schemas.openxmlformats.org/officeDocument/2006/relationships/slide" Target="slides/slide68.xml"/><Relationship Id="rId4" Type="http://schemas.openxmlformats.org/officeDocument/2006/relationships/slide" Target="slides/slide5.xml"/><Relationship Id="rId9" Type="http://schemas.openxmlformats.org/officeDocument/2006/relationships/slide" Target="slides/slide10.xml"/><Relationship Id="rId13" Type="http://schemas.openxmlformats.org/officeDocument/2006/relationships/slide" Target="slides/slide14.xml"/><Relationship Id="rId18" Type="http://schemas.openxmlformats.org/officeDocument/2006/relationships/slide" Target="slides/slide19.xml"/><Relationship Id="rId39" Type="http://schemas.openxmlformats.org/officeDocument/2006/relationships/slide" Target="slides/slide40.xml"/><Relationship Id="rId34" Type="http://schemas.openxmlformats.org/officeDocument/2006/relationships/slide" Target="slides/slide35.xml"/><Relationship Id="rId50" Type="http://schemas.openxmlformats.org/officeDocument/2006/relationships/slide" Target="slides/slide52.xml"/><Relationship Id="rId55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881824-7EDF-4B1D-9D44-4D7461D95900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F2A367-4377-4BC9-85D6-558F91AD7B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F2A367-4377-4BC9-85D6-558F91AD7B75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C7D03EA-144B-4A19-84C3-C4DBCC3F0444}" type="slidenum">
              <a:rPr lang="en-US" altLang="zh-CN" sz="1200" baseline="0" smtClean="0"/>
              <a:pPr/>
              <a:t>3</a:t>
            </a:fld>
            <a:endParaRPr lang="en-US" altLang="zh-CN" sz="1200" baseline="0"/>
          </a:p>
        </p:txBody>
      </p:sp>
    </p:spTree>
    <p:extLst>
      <p:ext uri="{BB962C8B-B14F-4D97-AF65-F5344CB8AC3E}">
        <p14:creationId xmlns:p14="http://schemas.microsoft.com/office/powerpoint/2010/main" val="624532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02773-4202-ED40-7E64-8AF5B4924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6FD2DECE-7886-94BF-FCA1-8C4EE3A300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备注占位符 2">
            <a:extLst>
              <a:ext uri="{FF2B5EF4-FFF2-40B4-BE49-F238E27FC236}">
                <a16:creationId xmlns:a16="http://schemas.microsoft.com/office/drawing/2014/main" id="{253C8CAA-E7C6-8168-4149-C742D4CF9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1FAA3EE8-A7B7-2CE3-4372-D092B2DB1D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C7D03EA-144B-4A19-84C3-C4DBCC3F0444}" type="slidenum">
              <a:rPr lang="en-US" altLang="zh-CN" sz="1200" baseline="0" smtClean="0"/>
              <a:pPr/>
              <a:t>4</a:t>
            </a:fld>
            <a:endParaRPr lang="en-US" altLang="zh-CN" sz="1200" baseline="0"/>
          </a:p>
        </p:txBody>
      </p:sp>
    </p:spTree>
    <p:extLst>
      <p:ext uri="{BB962C8B-B14F-4D97-AF65-F5344CB8AC3E}">
        <p14:creationId xmlns:p14="http://schemas.microsoft.com/office/powerpoint/2010/main" val="4011176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F2A367-4377-4BC9-85D6-558F91AD7B75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2340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F2A367-4377-4BC9-85D6-558F91AD7B75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3307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9753" y="5182800"/>
            <a:ext cx="8538845" cy="23373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9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90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9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88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84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8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一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700" y="352424"/>
            <a:ext cx="5334000" cy="429419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918" y="1143795"/>
            <a:ext cx="10978515" cy="5029200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2400">
                <a:solidFill>
                  <a:schemeClr val="tx1"/>
                </a:solidFill>
                <a:latin typeface="+mn-ea"/>
                <a:ea typeface="+mn-ea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2400">
                <a:solidFill>
                  <a:schemeClr val="tx1"/>
                </a:solidFill>
                <a:latin typeface="+mn-ea"/>
                <a:ea typeface="+mn-ea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2400">
                <a:solidFill>
                  <a:schemeClr val="tx1"/>
                </a:solidFill>
                <a:latin typeface="+mn-ea"/>
                <a:ea typeface="+mn-ea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2400">
                <a:solidFill>
                  <a:schemeClr val="tx1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两级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700" y="362744"/>
            <a:ext cx="6581775" cy="400050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+mn-ea"/>
                <a:ea typeface="+mn-ea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918" y="1600994"/>
            <a:ext cx="10978515" cy="4572000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30000"/>
              </a:lnSpc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lnSpc>
                <a:spcPct val="130000"/>
              </a:lnSpc>
              <a:defRPr sz="2400" b="1">
                <a:solidFill>
                  <a:schemeClr val="tx1"/>
                </a:solidFill>
                <a:latin typeface="+mn-ea"/>
                <a:ea typeface="+mn-ea"/>
              </a:defRPr>
            </a:lvl2pPr>
            <a:lvl3pPr>
              <a:lnSpc>
                <a:spcPct val="130000"/>
              </a:lnSpc>
              <a:defRPr sz="2400" b="1">
                <a:solidFill>
                  <a:schemeClr val="tx1"/>
                </a:solidFill>
                <a:latin typeface="+mn-ea"/>
                <a:ea typeface="+mn-ea"/>
              </a:defRPr>
            </a:lvl3pPr>
            <a:lvl4pPr>
              <a:lnSpc>
                <a:spcPct val="130000"/>
              </a:lnSpc>
              <a:defRPr sz="2400" b="1">
                <a:solidFill>
                  <a:schemeClr val="tx1"/>
                </a:solidFill>
                <a:latin typeface="+mn-ea"/>
                <a:ea typeface="+mn-ea"/>
              </a:defRPr>
            </a:lvl4pPr>
            <a:lvl5pPr>
              <a:lnSpc>
                <a:spcPct val="130000"/>
              </a:lnSpc>
              <a:defRPr sz="2400" b="1">
                <a:solidFill>
                  <a:schemeClr val="tx1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841375" y="984137"/>
            <a:ext cx="10747058" cy="4644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SzPct val="80000"/>
              <a:buFont typeface="Wingdings" panose="05000000000000000000" pitchFamily="2" charset="2"/>
              <a:buNone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3"/>
          <p:cNvSpPr/>
          <p:nvPr userDrawn="1"/>
        </p:nvSpPr>
        <p:spPr>
          <a:xfrm>
            <a:off x="-73026" y="0"/>
            <a:ext cx="12271375" cy="6859588"/>
          </a:xfrm>
          <a:custGeom>
            <a:avLst/>
            <a:gdLst>
              <a:gd name="connsiteX0" fmla="*/ 0 w 9144000"/>
              <a:gd name="connsiteY0" fmla="*/ 5143500 h 5143500"/>
              <a:gd name="connsiteX1" fmla="*/ 9144000 w 9144000"/>
              <a:gd name="connsiteY1" fmla="*/ 5143500 h 5143500"/>
              <a:gd name="connsiteX2" fmla="*/ 9144000 w 9144000"/>
              <a:gd name="connsiteY2" fmla="*/ 0 h 5143500"/>
              <a:gd name="connsiteX3" fmla="*/ 0 w 9144000"/>
              <a:gd name="connsiteY3" fmla="*/ 0 h 5143500"/>
              <a:gd name="connsiteX4" fmla="*/ 0 w 9144000"/>
              <a:gd name="connsiteY4" fmla="*/ 5143500 h 5143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5143500">
                <a:moveTo>
                  <a:pt x="0" y="5143500"/>
                </a:moveTo>
                <a:lnTo>
                  <a:pt x="9144000" y="5143500"/>
                </a:lnTo>
                <a:lnTo>
                  <a:pt x="9144000" y="0"/>
                </a:lnTo>
                <a:lnTo>
                  <a:pt x="0" y="0"/>
                </a:lnTo>
                <a:lnTo>
                  <a:pt x="0" y="5143500"/>
                </a:lnTo>
              </a:path>
            </a:pathLst>
          </a:custGeom>
          <a:solidFill>
            <a:srgbClr val="ECECF2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366269"/>
            <a:ext cx="10978515" cy="15243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917" y="2134095"/>
            <a:ext cx="5387605" cy="6036015"/>
          </a:xfrm>
          <a:prstGeom prst="rect">
            <a:avLst/>
          </a:prstGeo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0828" y="2134095"/>
            <a:ext cx="5387605" cy="6036015"/>
          </a:xfrm>
          <a:prstGeom prst="rect">
            <a:avLst/>
          </a:prstGeo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366269"/>
            <a:ext cx="10978515" cy="152435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918" y="2047291"/>
            <a:ext cx="5389723" cy="85321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835" indent="0">
              <a:buNone/>
              <a:defRPr sz="2400" b="1"/>
            </a:lvl3pPr>
            <a:lvl4pPr marL="1829435" indent="0">
              <a:buNone/>
              <a:defRPr sz="2100" b="1"/>
            </a:lvl4pPr>
            <a:lvl5pPr marL="2439035" indent="0">
              <a:buNone/>
              <a:defRPr sz="2100" b="1"/>
            </a:lvl5pPr>
            <a:lvl6pPr marL="3049270" indent="0">
              <a:buNone/>
              <a:defRPr sz="2100" b="1"/>
            </a:lvl6pPr>
            <a:lvl7pPr marL="3658870" indent="0">
              <a:buNone/>
              <a:defRPr sz="2100" b="1"/>
            </a:lvl7pPr>
            <a:lvl8pPr marL="4268470" indent="0">
              <a:buNone/>
              <a:defRPr sz="2100" b="1"/>
            </a:lvl8pPr>
            <a:lvl9pPr marL="4878705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918" y="2900505"/>
            <a:ext cx="5389723" cy="5269604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6593" y="2047291"/>
            <a:ext cx="5391840" cy="85321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835" indent="0">
              <a:buNone/>
              <a:defRPr sz="2400" b="1"/>
            </a:lvl3pPr>
            <a:lvl4pPr marL="1829435" indent="0">
              <a:buNone/>
              <a:defRPr sz="2100" b="1"/>
            </a:lvl4pPr>
            <a:lvl5pPr marL="2439035" indent="0">
              <a:buNone/>
              <a:defRPr sz="2100" b="1"/>
            </a:lvl5pPr>
            <a:lvl6pPr marL="3049270" indent="0">
              <a:buNone/>
              <a:defRPr sz="2100" b="1"/>
            </a:lvl6pPr>
            <a:lvl7pPr marL="3658870" indent="0">
              <a:buNone/>
              <a:defRPr sz="2100" b="1"/>
            </a:lvl7pPr>
            <a:lvl8pPr marL="4268470" indent="0">
              <a:buNone/>
              <a:defRPr sz="2100" b="1"/>
            </a:lvl8pPr>
            <a:lvl9pPr marL="4878705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6593" y="2900505"/>
            <a:ext cx="5391840" cy="5269604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364151"/>
            <a:ext cx="4013173" cy="1549759"/>
          </a:xfrm>
          <a:prstGeom prst="rect">
            <a:avLst/>
          </a:prstGeo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9216" y="364152"/>
            <a:ext cx="6819216" cy="7805958"/>
          </a:xfrm>
          <a:prstGeom prst="rect">
            <a:avLst/>
          </a:prstGeo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918" y="1913910"/>
            <a:ext cx="4013173" cy="62561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835" indent="0">
              <a:buNone/>
              <a:defRPr sz="1300"/>
            </a:lvl3pPr>
            <a:lvl4pPr marL="1829435" indent="0">
              <a:buNone/>
              <a:defRPr sz="1200"/>
            </a:lvl4pPr>
            <a:lvl5pPr marL="2439035" indent="0">
              <a:buNone/>
              <a:defRPr sz="1200"/>
            </a:lvl5pPr>
            <a:lvl6pPr marL="3049270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870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962" y="6402282"/>
            <a:ext cx="7319010" cy="755826"/>
          </a:xfrm>
          <a:prstGeom prst="rect">
            <a:avLst/>
          </a:prstGeo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90962" y="817223"/>
            <a:ext cx="7319010" cy="548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300"/>
            </a:lvl1pPr>
            <a:lvl2pPr marL="609600" indent="0">
              <a:buNone/>
              <a:defRPr sz="3700"/>
            </a:lvl2pPr>
            <a:lvl3pPr marL="1219835" indent="0">
              <a:buNone/>
              <a:defRPr sz="3200"/>
            </a:lvl3pPr>
            <a:lvl4pPr marL="1829435" indent="0">
              <a:buNone/>
              <a:defRPr sz="2700"/>
            </a:lvl4pPr>
            <a:lvl5pPr marL="2439035" indent="0">
              <a:buNone/>
              <a:defRPr sz="2700"/>
            </a:lvl5pPr>
            <a:lvl6pPr marL="3049270" indent="0">
              <a:buNone/>
              <a:defRPr sz="2700"/>
            </a:lvl6pPr>
            <a:lvl7pPr marL="3658870" indent="0">
              <a:buNone/>
              <a:defRPr sz="2700"/>
            </a:lvl7pPr>
            <a:lvl8pPr marL="4268470" indent="0">
              <a:buNone/>
              <a:defRPr sz="2700"/>
            </a:lvl8pPr>
            <a:lvl9pPr marL="4878705" indent="0">
              <a:buNone/>
              <a:defRPr sz="27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90962" y="7158108"/>
            <a:ext cx="7319010" cy="10733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835" indent="0">
              <a:buNone/>
              <a:defRPr sz="1300"/>
            </a:lvl3pPr>
            <a:lvl4pPr marL="1829435" indent="0">
              <a:buNone/>
              <a:defRPr sz="1200"/>
            </a:lvl4pPr>
            <a:lvl5pPr marL="2439035" indent="0">
              <a:buNone/>
              <a:defRPr sz="1200"/>
            </a:lvl5pPr>
            <a:lvl6pPr marL="3049270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870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366269"/>
            <a:ext cx="10978515" cy="15243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918" y="2134095"/>
            <a:ext cx="10978515" cy="603601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43804" y="366269"/>
            <a:ext cx="2744629" cy="7803840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918" y="366269"/>
            <a:ext cx="8030580" cy="780384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26447" y="342979"/>
            <a:ext cx="9961986" cy="60974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1524794" y="1143265"/>
            <a:ext cx="5031819" cy="87650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759919" y="1143265"/>
            <a:ext cx="5031819" cy="87650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52718E-3B98-4DCC-A1BA-E41061EE8910}" type="datetime1">
              <a:rPr lang="zh-CN" altLang="en-US"/>
              <a:t>2026/9/8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信息与软件工程学院　王庆先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33</a:t>
            </a:r>
            <a:r>
              <a:rPr lang="zh-CN" altLang="en-US"/>
              <a:t>－</a:t>
            </a:r>
            <a:fld id="{21E7CC7C-8826-4A7E-AD1C-4981BD213B77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76144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26447" y="342979"/>
            <a:ext cx="9961986" cy="60974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24794" y="1143265"/>
            <a:ext cx="5031819" cy="10257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759919" y="1143265"/>
            <a:ext cx="5031819" cy="43666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759919" y="1732364"/>
            <a:ext cx="5031819" cy="4366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F52175-DB7B-41E9-A14B-3C6A69E2958B}" type="datetime1">
              <a:rPr lang="zh-CN" altLang="en-US"/>
              <a:t>2026/9/8</a:t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信息与软件工程学院　王庆先</a:t>
            </a: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56</a:t>
            </a:r>
            <a:r>
              <a:rPr lang="zh-CN" altLang="en-US"/>
              <a:t>－</a:t>
            </a:r>
            <a:fld id="{2B9AB3A9-E6CB-44AF-A17A-5F039E5121C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177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917" y="8477096"/>
            <a:ext cx="2846282" cy="486946"/>
          </a:xfrm>
          <a:prstGeom prst="rect">
            <a:avLst/>
          </a:prstGeom>
        </p:spPr>
        <p:txBody>
          <a:bodyPr vert="horz" lIns="121963" tIns="60981" rIns="121963" bIns="60981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7770" y="8477096"/>
            <a:ext cx="3862811" cy="486946"/>
          </a:xfrm>
          <a:prstGeom prst="rect">
            <a:avLst/>
          </a:prstGeom>
        </p:spPr>
        <p:txBody>
          <a:bodyPr vert="horz" lIns="121963" tIns="60981" rIns="121963" bIns="60981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2151" y="8477096"/>
            <a:ext cx="2846282" cy="486946"/>
          </a:xfrm>
          <a:prstGeom prst="rect">
            <a:avLst/>
          </a:prstGeom>
        </p:spPr>
        <p:txBody>
          <a:bodyPr vert="horz" lIns="121963" tIns="60981" rIns="121963" bIns="60981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609521" y="1143794"/>
            <a:ext cx="10971372" cy="5000369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矩形 23"/>
          <p:cNvSpPr/>
          <p:nvPr userDrawn="1"/>
        </p:nvSpPr>
        <p:spPr>
          <a:xfrm>
            <a:off x="0" y="332656"/>
            <a:ext cx="12198350" cy="432048"/>
          </a:xfrm>
          <a:prstGeom prst="rect">
            <a:avLst/>
          </a:prstGeom>
          <a:solidFill>
            <a:srgbClr val="3A418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矩形 24"/>
          <p:cNvSpPr/>
          <p:nvPr userDrawn="1"/>
        </p:nvSpPr>
        <p:spPr>
          <a:xfrm>
            <a:off x="0" y="764704"/>
            <a:ext cx="12198350" cy="7200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 userDrawn="1"/>
        </p:nvSpPr>
        <p:spPr>
          <a:xfrm>
            <a:off x="11280775" y="330107"/>
            <a:ext cx="485233" cy="485233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15"/>
          <p:cNvSpPr txBox="1"/>
          <p:nvPr userDrawn="1"/>
        </p:nvSpPr>
        <p:spPr>
          <a:xfrm>
            <a:off x="11283362" y="442092"/>
            <a:ext cx="48339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r>
              <a:rPr lang="zh-CN" altLang="en-US" sz="16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9" name="矩形 28"/>
          <p:cNvSpPr/>
          <p:nvPr userDrawn="1"/>
        </p:nvSpPr>
        <p:spPr>
          <a:xfrm>
            <a:off x="7775575" y="332656"/>
            <a:ext cx="3429000" cy="43204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0" rtlCol="0" anchor="ctr"/>
          <a:lstStyle/>
          <a:p>
            <a:pPr marL="0" marR="0" lvl="0" indent="0" algn="ctr" defTabSz="1219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 </a:t>
            </a:r>
            <a:r>
              <a:rPr lang="zh-CN" altLang="en-US" sz="18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随机变量的数字特征</a:t>
            </a:r>
            <a:endParaRPr lang="zh-CN" altLang="en-US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itle Placeholder 1"/>
          <p:cNvSpPr>
            <a:spLocks noGrp="1"/>
          </p:cNvSpPr>
          <p:nvPr>
            <p:ph type="title"/>
          </p:nvPr>
        </p:nvSpPr>
        <p:spPr>
          <a:xfrm>
            <a:off x="772942" y="362834"/>
            <a:ext cx="5305686" cy="39996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0" name="等腰三角形 39">
            <a:hlinkClick r:id="" action="ppaction://hlinkshowjump?jump=previousslide"/>
          </p:cNvPr>
          <p:cNvSpPr/>
          <p:nvPr userDrawn="1"/>
        </p:nvSpPr>
        <p:spPr>
          <a:xfrm rot="5400000" flipH="1">
            <a:off x="385417" y="517775"/>
            <a:ext cx="98663" cy="101148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  <p:sp>
        <p:nvSpPr>
          <p:cNvPr id="41" name="等腰三角形 40">
            <a:hlinkClick r:id="" action="ppaction://hlinkshowjump?jump=previousslide"/>
          </p:cNvPr>
          <p:cNvSpPr/>
          <p:nvPr userDrawn="1"/>
        </p:nvSpPr>
        <p:spPr>
          <a:xfrm rot="5400000" flipH="1">
            <a:off x="525117" y="517775"/>
            <a:ext cx="98663" cy="101148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  <p:sp>
        <p:nvSpPr>
          <p:cNvPr id="42" name="等腰三角形 41">
            <a:hlinkClick r:id="" action="ppaction://hlinkshowjump?jump=previousslide"/>
          </p:cNvPr>
          <p:cNvSpPr/>
          <p:nvPr userDrawn="1"/>
        </p:nvSpPr>
        <p:spPr>
          <a:xfrm rot="5400000" flipH="1">
            <a:off x="658467" y="517775"/>
            <a:ext cx="98663" cy="101148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1219835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835" rtl="0" eaLnBrk="1" latinLnBrk="0" hangingPunct="1">
        <a:lnSpc>
          <a:spcPct val="150000"/>
        </a:lnSpc>
        <a:spcBef>
          <a:spcPct val="20000"/>
        </a:spcBef>
        <a:buSzPct val="80000"/>
        <a:buFont typeface="Wingdings" panose="05000000000000000000" pitchFamily="2" charset="2"/>
        <a:buChar char="l"/>
        <a:defRPr sz="2400" b="1" kern="1200">
          <a:solidFill>
            <a:schemeClr val="tx1"/>
          </a:solidFill>
          <a:latin typeface="+mn-ea"/>
          <a:ea typeface="+mn-ea"/>
          <a:cs typeface="+mn-cs"/>
        </a:defRPr>
      </a:lvl1pPr>
      <a:lvl2pPr marL="991235" indent="-381000" algn="l" defTabSz="1219835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Char char="–"/>
        <a:defRPr sz="2400" b="1" kern="1200">
          <a:solidFill>
            <a:schemeClr val="tx1"/>
          </a:solidFill>
          <a:latin typeface="+mn-ea"/>
          <a:ea typeface="+mn-ea"/>
          <a:cs typeface="+mn-cs"/>
        </a:defRPr>
      </a:lvl2pPr>
      <a:lvl3pPr marL="1524635" indent="-304800" algn="l" defTabSz="1219835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+mn-ea"/>
          <a:ea typeface="+mn-ea"/>
          <a:cs typeface="+mn-cs"/>
        </a:defRPr>
      </a:lvl3pPr>
      <a:lvl4pPr marL="2134235" indent="-304800" algn="l" defTabSz="1219835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Char char="–"/>
        <a:defRPr sz="2400" b="1" kern="1200">
          <a:solidFill>
            <a:schemeClr val="tx1"/>
          </a:solidFill>
          <a:latin typeface="+mn-ea"/>
          <a:ea typeface="+mn-ea"/>
          <a:cs typeface="+mn-cs"/>
        </a:defRPr>
      </a:lvl4pPr>
      <a:lvl5pPr marL="2744470" indent="-304800" algn="l" defTabSz="1219835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Char char="»"/>
        <a:defRPr sz="2400" b="1" kern="1200">
          <a:solidFill>
            <a:schemeClr val="tx1"/>
          </a:solidFill>
          <a:latin typeface="+mn-ea"/>
          <a:ea typeface="+mn-ea"/>
          <a:cs typeface="+mn-cs"/>
        </a:defRPr>
      </a:lvl5pPr>
      <a:lvl6pPr marL="3354070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3670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390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350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8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4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927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87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47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870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7" Type="http://schemas.openxmlformats.org/officeDocument/2006/relationships/image" Target="../media/image4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10" Type="http://schemas.openxmlformats.org/officeDocument/2006/relationships/image" Target="../media/image640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00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Relationship Id="rId14" Type="http://schemas.openxmlformats.org/officeDocument/2006/relationships/image" Target="../media/image7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0.png"/><Relationship Id="rId7" Type="http://schemas.openxmlformats.org/officeDocument/2006/relationships/image" Target="../media/image76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Relationship Id="rId6" Type="http://schemas.openxmlformats.org/officeDocument/2006/relationships/image" Target="../media/image750.png"/><Relationship Id="rId5" Type="http://schemas.openxmlformats.org/officeDocument/2006/relationships/image" Target="../media/image740.png"/><Relationship Id="rId4" Type="http://schemas.openxmlformats.org/officeDocument/2006/relationships/image" Target="../media/image730.png"/><Relationship Id="rId9" Type="http://schemas.openxmlformats.org/officeDocument/2006/relationships/image" Target="../media/image7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0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15.png"/><Relationship Id="rId4" Type="http://schemas.openxmlformats.org/officeDocument/2006/relationships/image" Target="../media/image114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image" Target="../media/image21.wmf"/><Relationship Id="rId18" Type="http://schemas.openxmlformats.org/officeDocument/2006/relationships/image" Target="../media/image24.png"/><Relationship Id="rId3" Type="http://schemas.openxmlformats.org/officeDocument/2006/relationships/image" Target="../media/image16.wmf"/><Relationship Id="rId7" Type="http://schemas.openxmlformats.org/officeDocument/2006/relationships/image" Target="../media/image18.wmf"/><Relationship Id="rId12" Type="http://schemas.openxmlformats.org/officeDocument/2006/relationships/oleObject" Target="../embeddings/oleObject8.bin"/><Relationship Id="rId17" Type="http://schemas.openxmlformats.org/officeDocument/2006/relationships/image" Target="../media/image23.wmf"/><Relationship Id="rId2" Type="http://schemas.openxmlformats.org/officeDocument/2006/relationships/oleObject" Target="../embeddings/oleObject3.bin"/><Relationship Id="rId16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20.wmf"/><Relationship Id="rId5" Type="http://schemas.openxmlformats.org/officeDocument/2006/relationships/image" Target="../media/image17.wmf"/><Relationship Id="rId15" Type="http://schemas.openxmlformats.org/officeDocument/2006/relationships/image" Target="../media/image22.wmf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4.bin"/><Relationship Id="rId9" Type="http://schemas.openxmlformats.org/officeDocument/2006/relationships/image" Target="../media/image19.wmf"/><Relationship Id="rId14" Type="http://schemas.openxmlformats.org/officeDocument/2006/relationships/oleObject" Target="../embeddings/oleObject9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29.wmf"/><Relationship Id="rId3" Type="http://schemas.openxmlformats.org/officeDocument/2006/relationships/image" Target="../media/image24.wmf"/><Relationship Id="rId7" Type="http://schemas.openxmlformats.org/officeDocument/2006/relationships/image" Target="../media/image26.wmf"/><Relationship Id="rId12" Type="http://schemas.openxmlformats.org/officeDocument/2006/relationships/oleObject" Target="../embeddings/oleObject16.bin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28.wmf"/><Relationship Id="rId5" Type="http://schemas.openxmlformats.org/officeDocument/2006/relationships/image" Target="../media/image25.wmf"/><Relationship Id="rId15" Type="http://schemas.openxmlformats.org/officeDocument/2006/relationships/image" Target="../media/image30.wmf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27.wmf"/><Relationship Id="rId14" Type="http://schemas.openxmlformats.org/officeDocument/2006/relationships/oleObject" Target="../embeddings/oleObject17.bin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image" Target="../media/image31.wmf"/><Relationship Id="rId7" Type="http://schemas.openxmlformats.org/officeDocument/2006/relationships/image" Target="../media/image33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35.wmf"/><Relationship Id="rId5" Type="http://schemas.openxmlformats.org/officeDocument/2006/relationships/image" Target="../media/image32.wmf"/><Relationship Id="rId10" Type="http://schemas.openxmlformats.org/officeDocument/2006/relationships/oleObject" Target="../embeddings/oleObject22.bin"/><Relationship Id="rId4" Type="http://schemas.openxmlformats.org/officeDocument/2006/relationships/oleObject" Target="../embeddings/oleObject19.bin"/><Relationship Id="rId9" Type="http://schemas.openxmlformats.org/officeDocument/2006/relationships/image" Target="../media/image34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image" Target="../media/image36.wmf"/><Relationship Id="rId7" Type="http://schemas.openxmlformats.org/officeDocument/2006/relationships/image" Target="../media/image38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37.wmf"/><Relationship Id="rId4" Type="http://schemas.openxmlformats.org/officeDocument/2006/relationships/oleObject" Target="../embeddings/oleObject24.bin"/><Relationship Id="rId9" Type="http://schemas.openxmlformats.org/officeDocument/2006/relationships/image" Target="../media/image39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image" Target="../media/image43.wmf"/><Relationship Id="rId3" Type="http://schemas.openxmlformats.org/officeDocument/2006/relationships/image" Target="../media/image40.wmf"/><Relationship Id="rId7" Type="http://schemas.openxmlformats.org/officeDocument/2006/relationships/image" Target="../media/image42.wmf"/><Relationship Id="rId12" Type="http://schemas.openxmlformats.org/officeDocument/2006/relationships/oleObject" Target="../embeddings/oleObject30.bin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39.wmf"/><Relationship Id="rId5" Type="http://schemas.openxmlformats.org/officeDocument/2006/relationships/image" Target="../media/image41.wmf"/><Relationship Id="rId10" Type="http://schemas.openxmlformats.org/officeDocument/2006/relationships/oleObject" Target="../embeddings/oleObject26.bin"/><Relationship Id="rId4" Type="http://schemas.openxmlformats.org/officeDocument/2006/relationships/oleObject" Target="../embeddings/oleObject28.bin"/><Relationship Id="rId9" Type="http://schemas.openxmlformats.org/officeDocument/2006/relationships/image" Target="../media/image35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3" Type="http://schemas.openxmlformats.org/officeDocument/2006/relationships/image" Target="../media/image44.wmf"/><Relationship Id="rId7" Type="http://schemas.openxmlformats.org/officeDocument/2006/relationships/image" Target="../media/image46.w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45.wmf"/><Relationship Id="rId4" Type="http://schemas.openxmlformats.org/officeDocument/2006/relationships/oleObject" Target="../embeddings/oleObject32.bin"/><Relationship Id="rId9" Type="http://schemas.openxmlformats.org/officeDocument/2006/relationships/image" Target="../media/image47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13" Type="http://schemas.openxmlformats.org/officeDocument/2006/relationships/image" Target="../media/image54.wmf"/><Relationship Id="rId3" Type="http://schemas.openxmlformats.org/officeDocument/2006/relationships/image" Target="../media/image49.wmf"/><Relationship Id="rId7" Type="http://schemas.openxmlformats.org/officeDocument/2006/relationships/image" Target="../media/image51.wmf"/><Relationship Id="rId12" Type="http://schemas.openxmlformats.org/officeDocument/2006/relationships/oleObject" Target="../embeddings/oleObject41.bin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53.wmf"/><Relationship Id="rId5" Type="http://schemas.openxmlformats.org/officeDocument/2006/relationships/image" Target="../media/image50.wmf"/><Relationship Id="rId10" Type="http://schemas.openxmlformats.org/officeDocument/2006/relationships/oleObject" Target="../embeddings/oleObject40.bin"/><Relationship Id="rId4" Type="http://schemas.openxmlformats.org/officeDocument/2006/relationships/oleObject" Target="../embeddings/oleObject37.bin"/><Relationship Id="rId9" Type="http://schemas.openxmlformats.org/officeDocument/2006/relationships/image" Target="../media/image52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3" Type="http://schemas.openxmlformats.org/officeDocument/2006/relationships/image" Target="../media/image55.wmf"/><Relationship Id="rId7" Type="http://schemas.openxmlformats.org/officeDocument/2006/relationships/image" Target="../media/image57.w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59.wmf"/><Relationship Id="rId5" Type="http://schemas.openxmlformats.org/officeDocument/2006/relationships/image" Target="../media/image56.wmf"/><Relationship Id="rId10" Type="http://schemas.openxmlformats.org/officeDocument/2006/relationships/oleObject" Target="../embeddings/oleObject46.bin"/><Relationship Id="rId4" Type="http://schemas.openxmlformats.org/officeDocument/2006/relationships/oleObject" Target="../embeddings/oleObject43.bin"/><Relationship Id="rId9" Type="http://schemas.openxmlformats.org/officeDocument/2006/relationships/image" Target="../media/image58.w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oleObject" Target="../embeddings/oleObject48.bin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wmf"/><Relationship Id="rId4" Type="http://schemas.openxmlformats.org/officeDocument/2006/relationships/oleObject" Target="../embeddings/oleObject51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oleObject" Target="../embeddings/oleObject52.bin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3" Type="http://schemas.openxmlformats.org/officeDocument/2006/relationships/image" Target="../media/image66.wmf"/><Relationship Id="rId7" Type="http://schemas.openxmlformats.org/officeDocument/2006/relationships/image" Target="../media/image68.wmf"/><Relationship Id="rId12" Type="http://schemas.openxmlformats.org/officeDocument/2006/relationships/image" Target="../media/image103.png"/><Relationship Id="rId2" Type="http://schemas.openxmlformats.org/officeDocument/2006/relationships/oleObject" Target="../embeddings/oleObject5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5.bin"/><Relationship Id="rId11" Type="http://schemas.openxmlformats.org/officeDocument/2006/relationships/image" Target="../media/image70.wmf"/><Relationship Id="rId5" Type="http://schemas.openxmlformats.org/officeDocument/2006/relationships/image" Target="../media/image67.wmf"/><Relationship Id="rId10" Type="http://schemas.openxmlformats.org/officeDocument/2006/relationships/oleObject" Target="../embeddings/oleObject57.bin"/><Relationship Id="rId4" Type="http://schemas.openxmlformats.org/officeDocument/2006/relationships/oleObject" Target="../embeddings/oleObject54.bin"/><Relationship Id="rId9" Type="http://schemas.openxmlformats.org/officeDocument/2006/relationships/image" Target="../media/image69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13" Type="http://schemas.openxmlformats.org/officeDocument/2006/relationships/image" Target="../media/image109.wmf"/><Relationship Id="rId3" Type="http://schemas.openxmlformats.org/officeDocument/2006/relationships/image" Target="../media/image104.wmf"/><Relationship Id="rId7" Type="http://schemas.openxmlformats.org/officeDocument/2006/relationships/image" Target="../media/image106.wmf"/><Relationship Id="rId12" Type="http://schemas.openxmlformats.org/officeDocument/2006/relationships/oleObject" Target="../embeddings/oleObject63.bin"/><Relationship Id="rId2" Type="http://schemas.openxmlformats.org/officeDocument/2006/relationships/oleObject" Target="../embeddings/oleObject5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0.bin"/><Relationship Id="rId11" Type="http://schemas.openxmlformats.org/officeDocument/2006/relationships/image" Target="../media/image108.wmf"/><Relationship Id="rId5" Type="http://schemas.openxmlformats.org/officeDocument/2006/relationships/image" Target="../media/image105.wmf"/><Relationship Id="rId10" Type="http://schemas.openxmlformats.org/officeDocument/2006/relationships/oleObject" Target="../embeddings/oleObject62.bin"/><Relationship Id="rId4" Type="http://schemas.openxmlformats.org/officeDocument/2006/relationships/oleObject" Target="../embeddings/oleObject59.bin"/><Relationship Id="rId9" Type="http://schemas.openxmlformats.org/officeDocument/2006/relationships/image" Target="../media/image107.w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7.bin"/><Relationship Id="rId3" Type="http://schemas.openxmlformats.org/officeDocument/2006/relationships/image" Target="../media/image110.wmf"/><Relationship Id="rId7" Type="http://schemas.openxmlformats.org/officeDocument/2006/relationships/image" Target="../media/image112.wmf"/><Relationship Id="rId2" Type="http://schemas.openxmlformats.org/officeDocument/2006/relationships/oleObject" Target="../embeddings/oleObject6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6.bin"/><Relationship Id="rId5" Type="http://schemas.openxmlformats.org/officeDocument/2006/relationships/image" Target="../media/image111.wmf"/><Relationship Id="rId4" Type="http://schemas.openxmlformats.org/officeDocument/2006/relationships/oleObject" Target="../embeddings/oleObject65.bin"/><Relationship Id="rId9" Type="http://schemas.openxmlformats.org/officeDocument/2006/relationships/image" Target="../media/image113.w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114.wmf"/><Relationship Id="rId7" Type="http://schemas.openxmlformats.org/officeDocument/2006/relationships/image" Target="../media/image116.wmf"/><Relationship Id="rId2" Type="http://schemas.openxmlformats.org/officeDocument/2006/relationships/oleObject" Target="../embeddings/oleObject6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0.bin"/><Relationship Id="rId5" Type="http://schemas.openxmlformats.org/officeDocument/2006/relationships/image" Target="../media/image115.wmf"/><Relationship Id="rId4" Type="http://schemas.openxmlformats.org/officeDocument/2006/relationships/oleObject" Target="../embeddings/oleObject69.bin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wmf"/><Relationship Id="rId7" Type="http://schemas.openxmlformats.org/officeDocument/2006/relationships/image" Target="../media/image121.wmf"/><Relationship Id="rId2" Type="http://schemas.openxmlformats.org/officeDocument/2006/relationships/oleObject" Target="../embeddings/oleObject7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3.bin"/><Relationship Id="rId5" Type="http://schemas.openxmlformats.org/officeDocument/2006/relationships/image" Target="../media/image120.wmf"/><Relationship Id="rId4" Type="http://schemas.openxmlformats.org/officeDocument/2006/relationships/oleObject" Target="../embeddings/oleObject72.bin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.bin"/><Relationship Id="rId3" Type="http://schemas.openxmlformats.org/officeDocument/2006/relationships/image" Target="../media/image122.wmf"/><Relationship Id="rId7" Type="http://schemas.openxmlformats.org/officeDocument/2006/relationships/image" Target="../media/image124.wmf"/><Relationship Id="rId2" Type="http://schemas.openxmlformats.org/officeDocument/2006/relationships/oleObject" Target="../embeddings/oleObject7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6.bin"/><Relationship Id="rId5" Type="http://schemas.openxmlformats.org/officeDocument/2006/relationships/image" Target="../media/image123.wmf"/><Relationship Id="rId4" Type="http://schemas.openxmlformats.org/officeDocument/2006/relationships/oleObject" Target="../embeddings/oleObject75.bin"/><Relationship Id="rId9" Type="http://schemas.openxmlformats.org/officeDocument/2006/relationships/image" Target="../media/image125.wmf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8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6.w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2" Type="http://schemas.openxmlformats.org/officeDocument/2006/relationships/oleObject" Target="../embeddings/oleObject79.bin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emf"/><Relationship Id="rId7" Type="http://schemas.openxmlformats.org/officeDocument/2006/relationships/image" Target="../media/image130.emf"/><Relationship Id="rId2" Type="http://schemas.openxmlformats.org/officeDocument/2006/relationships/oleObject" Target="../embeddings/oleObject8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2.bin"/><Relationship Id="rId5" Type="http://schemas.openxmlformats.org/officeDocument/2006/relationships/image" Target="../media/image129.emf"/><Relationship Id="rId4" Type="http://schemas.openxmlformats.org/officeDocument/2006/relationships/oleObject" Target="../embeddings/oleObject81.bin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6.bin"/><Relationship Id="rId3" Type="http://schemas.openxmlformats.org/officeDocument/2006/relationships/image" Target="../media/image131.wmf"/><Relationship Id="rId7" Type="http://schemas.openxmlformats.org/officeDocument/2006/relationships/image" Target="../media/image133.wmf"/><Relationship Id="rId2" Type="http://schemas.openxmlformats.org/officeDocument/2006/relationships/oleObject" Target="../embeddings/oleObject8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5.bin"/><Relationship Id="rId11" Type="http://schemas.openxmlformats.org/officeDocument/2006/relationships/image" Target="../media/image135.wmf"/><Relationship Id="rId5" Type="http://schemas.openxmlformats.org/officeDocument/2006/relationships/image" Target="../media/image132.wmf"/><Relationship Id="rId10" Type="http://schemas.openxmlformats.org/officeDocument/2006/relationships/oleObject" Target="../embeddings/oleObject87.bin"/><Relationship Id="rId4" Type="http://schemas.openxmlformats.org/officeDocument/2006/relationships/oleObject" Target="../embeddings/oleObject84.bin"/><Relationship Id="rId9" Type="http://schemas.openxmlformats.org/officeDocument/2006/relationships/image" Target="../media/image134.wmf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1.bin"/><Relationship Id="rId13" Type="http://schemas.openxmlformats.org/officeDocument/2006/relationships/image" Target="../media/image140.wmf"/><Relationship Id="rId3" Type="http://schemas.openxmlformats.org/officeDocument/2006/relationships/image" Target="../media/image50.wmf"/><Relationship Id="rId7" Type="http://schemas.openxmlformats.org/officeDocument/2006/relationships/image" Target="../media/image137.wmf"/><Relationship Id="rId12" Type="http://schemas.openxmlformats.org/officeDocument/2006/relationships/oleObject" Target="../embeddings/oleObject93.bin"/><Relationship Id="rId2" Type="http://schemas.openxmlformats.org/officeDocument/2006/relationships/oleObject" Target="../embeddings/oleObject8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0.bin"/><Relationship Id="rId11" Type="http://schemas.openxmlformats.org/officeDocument/2006/relationships/image" Target="../media/image139.wmf"/><Relationship Id="rId5" Type="http://schemas.openxmlformats.org/officeDocument/2006/relationships/image" Target="../media/image136.wmf"/><Relationship Id="rId10" Type="http://schemas.openxmlformats.org/officeDocument/2006/relationships/oleObject" Target="../embeddings/oleObject92.bin"/><Relationship Id="rId4" Type="http://schemas.openxmlformats.org/officeDocument/2006/relationships/oleObject" Target="../embeddings/oleObject89.bin"/><Relationship Id="rId9" Type="http://schemas.openxmlformats.org/officeDocument/2006/relationships/image" Target="../media/image138.wmf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7.bin"/><Relationship Id="rId3" Type="http://schemas.openxmlformats.org/officeDocument/2006/relationships/image" Target="../media/image141.wmf"/><Relationship Id="rId7" Type="http://schemas.openxmlformats.org/officeDocument/2006/relationships/image" Target="../media/image143.wmf"/><Relationship Id="rId2" Type="http://schemas.openxmlformats.org/officeDocument/2006/relationships/oleObject" Target="../embeddings/oleObject9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6.bin"/><Relationship Id="rId11" Type="http://schemas.openxmlformats.org/officeDocument/2006/relationships/image" Target="../media/image145.wmf"/><Relationship Id="rId5" Type="http://schemas.openxmlformats.org/officeDocument/2006/relationships/image" Target="../media/image142.wmf"/><Relationship Id="rId10" Type="http://schemas.openxmlformats.org/officeDocument/2006/relationships/oleObject" Target="../embeddings/oleObject98.bin"/><Relationship Id="rId4" Type="http://schemas.openxmlformats.org/officeDocument/2006/relationships/oleObject" Target="../embeddings/oleObject95.bin"/><Relationship Id="rId9" Type="http://schemas.openxmlformats.org/officeDocument/2006/relationships/image" Target="../media/image144.wmf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2.bin"/><Relationship Id="rId13" Type="http://schemas.openxmlformats.org/officeDocument/2006/relationships/image" Target="../media/image151.wmf"/><Relationship Id="rId3" Type="http://schemas.openxmlformats.org/officeDocument/2006/relationships/image" Target="../media/image146.wmf"/><Relationship Id="rId7" Type="http://schemas.openxmlformats.org/officeDocument/2006/relationships/image" Target="../media/image148.wmf"/><Relationship Id="rId12" Type="http://schemas.openxmlformats.org/officeDocument/2006/relationships/oleObject" Target="../embeddings/oleObject104.bin"/><Relationship Id="rId2" Type="http://schemas.openxmlformats.org/officeDocument/2006/relationships/oleObject" Target="../embeddings/oleObject9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1.bin"/><Relationship Id="rId11" Type="http://schemas.openxmlformats.org/officeDocument/2006/relationships/image" Target="../media/image150.wmf"/><Relationship Id="rId5" Type="http://schemas.openxmlformats.org/officeDocument/2006/relationships/image" Target="../media/image147.wmf"/><Relationship Id="rId10" Type="http://schemas.openxmlformats.org/officeDocument/2006/relationships/oleObject" Target="../embeddings/oleObject103.bin"/><Relationship Id="rId4" Type="http://schemas.openxmlformats.org/officeDocument/2006/relationships/oleObject" Target="../embeddings/oleObject100.bin"/><Relationship Id="rId9" Type="http://schemas.openxmlformats.org/officeDocument/2006/relationships/image" Target="../media/image149.w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5.bin"/><Relationship Id="rId7" Type="http://schemas.openxmlformats.org/officeDocument/2006/relationships/image" Target="../media/image15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emf"/><Relationship Id="rId5" Type="http://schemas.openxmlformats.org/officeDocument/2006/relationships/oleObject" Target="../embeddings/oleObject81.bin"/><Relationship Id="rId4" Type="http://schemas.openxmlformats.org/officeDocument/2006/relationships/image" Target="../media/image152.wm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wmf"/><Relationship Id="rId2" Type="http://schemas.openxmlformats.org/officeDocument/2006/relationships/oleObject" Target="../embeddings/oleObject10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5.wmf"/><Relationship Id="rId4" Type="http://schemas.openxmlformats.org/officeDocument/2006/relationships/oleObject" Target="../embeddings/oleObject107.bin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wmf"/><Relationship Id="rId2" Type="http://schemas.openxmlformats.org/officeDocument/2006/relationships/oleObject" Target="../embeddings/oleObject10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7.wmf"/><Relationship Id="rId4" Type="http://schemas.openxmlformats.org/officeDocument/2006/relationships/oleObject" Target="../embeddings/oleObject109.bin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wmf"/><Relationship Id="rId2" Type="http://schemas.openxmlformats.org/officeDocument/2006/relationships/oleObject" Target="../embeddings/oleObject11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9.wmf"/><Relationship Id="rId4" Type="http://schemas.openxmlformats.org/officeDocument/2006/relationships/oleObject" Target="../embeddings/oleObject111.bin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350" cy="685958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901096" y="2310557"/>
            <a:ext cx="4560279" cy="430930"/>
          </a:xfrm>
          <a:prstGeom prst="rect">
            <a:avLst/>
          </a:prstGeom>
          <a:noFill/>
        </p:spPr>
        <p:txBody>
          <a:bodyPr wrap="square" lIns="121963" tIns="60981" rIns="121963" bIns="60981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</a:rPr>
              <a:t>             《</a:t>
            </a:r>
            <a:r>
              <a:rPr lang="zh-CN" altLang="en-US" sz="2000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随机过程与排队论</a:t>
            </a:r>
            <a:r>
              <a:rPr lang="en-US" altLang="zh-CN" sz="2000" dirty="0">
                <a:solidFill>
                  <a:schemeClr val="bg1"/>
                </a:solidFill>
              </a:rPr>
              <a:t>》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61147" y="1101971"/>
            <a:ext cx="2076056" cy="861817"/>
          </a:xfrm>
          <a:prstGeom prst="rect">
            <a:avLst/>
          </a:prstGeom>
          <a:solidFill>
            <a:srgbClr val="28A7E1"/>
          </a:solidFill>
        </p:spPr>
        <p:txBody>
          <a:bodyPr wrap="square" lIns="121963" tIns="60981" rIns="121963" bIns="60981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</a:rPr>
              <a:t>第</a:t>
            </a:r>
            <a:r>
              <a:rPr lang="en-US" altLang="zh-CN" sz="4800" dirty="0">
                <a:solidFill>
                  <a:schemeClr val="bg1"/>
                </a:solidFill>
              </a:rPr>
              <a:t>2</a:t>
            </a:r>
            <a:r>
              <a:rPr lang="zh-CN" altLang="en-US" sz="4800" dirty="0">
                <a:solidFill>
                  <a:schemeClr val="bg1"/>
                </a:solidFill>
              </a:rPr>
              <a:t>讲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1135" y="3519164"/>
            <a:ext cx="4854640" cy="430930"/>
          </a:xfrm>
          <a:prstGeom prst="rect">
            <a:avLst/>
          </a:prstGeom>
          <a:noFill/>
        </p:spPr>
        <p:txBody>
          <a:bodyPr wrap="square" lIns="121963" tIns="60981" rIns="121963" bIns="60981" rtlCol="0">
            <a:spAutoFit/>
          </a:bodyPr>
          <a:lstStyle/>
          <a:p>
            <a:pPr eaLnBrk="1" hangingPunct="1"/>
            <a:r>
              <a:rPr lang="en-US" altLang="zh-CN" sz="2000" dirty="0">
                <a:solidFill>
                  <a:schemeClr val="bg1"/>
                </a:solidFill>
                <a:ea typeface="华文行楷" panose="02010800040101010101" pitchFamily="2" charset="-122"/>
              </a:rPr>
              <a:t>Email</a:t>
            </a:r>
            <a:r>
              <a:rPr lang="zh-CN" altLang="en-US" sz="2000" dirty="0">
                <a:solidFill>
                  <a:schemeClr val="bg1"/>
                </a:solidFill>
                <a:ea typeface="华文行楷" panose="02010800040101010101" pitchFamily="2" charset="-122"/>
              </a:rPr>
              <a:t>：</a:t>
            </a:r>
            <a:r>
              <a:rPr lang="en-US" altLang="zh-CN" sz="2000" dirty="0">
                <a:solidFill>
                  <a:schemeClr val="bg1"/>
                </a:solidFill>
                <a:ea typeface="华文行楷" panose="02010800040101010101" pitchFamily="2" charset="-122"/>
              </a:rPr>
              <a:t>qxwang@uestc.edu.cn</a:t>
            </a:r>
          </a:p>
        </p:txBody>
      </p:sp>
      <p:sp>
        <p:nvSpPr>
          <p:cNvPr id="22" name="矩形 21"/>
          <p:cNvSpPr/>
          <p:nvPr/>
        </p:nvSpPr>
        <p:spPr>
          <a:xfrm>
            <a:off x="2258147" y="2210312"/>
            <a:ext cx="7682056" cy="60973"/>
          </a:xfrm>
          <a:prstGeom prst="rect">
            <a:avLst/>
          </a:prstGeom>
          <a:gradFill flip="none" rotWithShape="1">
            <a:gsLst>
              <a:gs pos="0">
                <a:srgbClr val="28A7E1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rgbClr val="28A7E1"/>
              </a:gs>
            </a:gsLst>
            <a:lin ang="5400000" scaled="0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spcCol="0"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2258147" y="4025019"/>
            <a:ext cx="7682056" cy="60973"/>
          </a:xfrm>
          <a:prstGeom prst="rect">
            <a:avLst/>
          </a:prstGeom>
          <a:gradFill flip="none" rotWithShape="1">
            <a:gsLst>
              <a:gs pos="0">
                <a:srgbClr val="28A7E1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rgbClr val="28A7E1"/>
              </a:gs>
            </a:gsLst>
            <a:lin ang="5400000" scaled="0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spcCol="0"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5794375" y="2900778"/>
            <a:ext cx="1754309" cy="430930"/>
          </a:xfrm>
          <a:prstGeom prst="rect">
            <a:avLst/>
          </a:prstGeom>
          <a:noFill/>
        </p:spPr>
        <p:txBody>
          <a:bodyPr wrap="square" lIns="121963" tIns="60981" rIns="121963" bIns="60981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王庆先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98775" y="2900930"/>
            <a:ext cx="3078481" cy="430930"/>
          </a:xfrm>
          <a:prstGeom prst="rect">
            <a:avLst/>
          </a:prstGeom>
          <a:noFill/>
        </p:spPr>
        <p:txBody>
          <a:bodyPr wrap="square" lIns="121963" tIns="60981" rIns="121963" bIns="60981" rtlCol="0">
            <a:spAutoFit/>
          </a:bodyPr>
          <a:lstStyle/>
          <a:p>
            <a:pPr eaLnBrk="1" hangingPunct="1"/>
            <a:r>
              <a:rPr lang="zh-CN" altLang="en-US" sz="2000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信息与软件工程学院</a:t>
            </a:r>
          </a:p>
        </p:txBody>
      </p:sp>
      <p:sp>
        <p:nvSpPr>
          <p:cNvPr id="2" name="矩形 1"/>
          <p:cNvSpPr/>
          <p:nvPr/>
        </p:nvSpPr>
        <p:spPr>
          <a:xfrm>
            <a:off x="5748656" y="2975515"/>
            <a:ext cx="45719" cy="3217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上一讲内容回顾</a:t>
            </a:r>
          </a:p>
        </p:txBody>
      </p:sp>
      <p:sp>
        <p:nvSpPr>
          <p:cNvPr id="33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8261" y="1075432"/>
            <a:ext cx="11301827" cy="3332934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FF"/>
                </a:solidFill>
              </a:rPr>
              <a:t>概率空间</a:t>
            </a:r>
            <a:r>
              <a:rPr lang="zh-CN" altLang="en-US" dirty="0"/>
              <a:t>	</a:t>
            </a:r>
          </a:p>
          <a:p>
            <a:pPr lvl="1">
              <a:spcBef>
                <a:spcPts val="1200"/>
              </a:spcBef>
              <a:buClr>
                <a:srgbClr val="FF0000"/>
              </a:buClr>
              <a:buFontTx/>
              <a:buChar char="•"/>
            </a:pPr>
            <a:r>
              <a:rPr lang="zh-CN" altLang="en-US" dirty="0"/>
              <a:t>随机试验、样本空间、随机事件体、概率、</a:t>
            </a:r>
            <a:r>
              <a:rPr lang="zh-CN" altLang="en-US" dirty="0">
                <a:sym typeface="Symbol" panose="05050102010706020507" pitchFamily="18" charset="2"/>
              </a:rPr>
              <a:t>概率空间、</a:t>
            </a:r>
            <a:r>
              <a:rPr lang="zh-CN" altLang="en-US" dirty="0"/>
              <a:t>概率的性质</a:t>
            </a:r>
            <a:endParaRPr lang="en-US" altLang="zh-CN" dirty="0"/>
          </a:p>
          <a:p>
            <a:pPr lvl="1">
              <a:spcBef>
                <a:spcPts val="1200"/>
              </a:spcBef>
              <a:buClr>
                <a:srgbClr val="FF0000"/>
              </a:buClr>
              <a:buFontTx/>
              <a:buChar char="•"/>
            </a:pPr>
            <a:r>
              <a:rPr lang="zh-CN" altLang="en-US" dirty="0"/>
              <a:t>条件概率、乘法公式、事件的独立性、全概率公式与贝叶斯公式</a:t>
            </a:r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/>
        </p:nvGraphicFramePr>
        <p:xfrm>
          <a:off x="1732707" y="4742924"/>
          <a:ext cx="3739428" cy="9924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25600" imgH="431800" progId="Equation.DSMT4">
                  <p:embed/>
                </p:oleObj>
              </mc:Choice>
              <mc:Fallback>
                <p:oleObj name="Equation" r:id="rId2" imgW="1625600" imgH="431800" progId="Equation.DSMT4">
                  <p:embed/>
                  <p:pic>
                    <p:nvPicPr>
                      <p:cNvPr id="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2707" y="4742924"/>
                        <a:ext cx="3739428" cy="9924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6177859" y="4725194"/>
          <a:ext cx="4339642" cy="14862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92300" imgH="647700" progId="Equation.DSMT4">
                  <p:embed/>
                </p:oleObj>
              </mc:Choice>
              <mc:Fallback>
                <p:oleObj name="Equation" r:id="rId4" imgW="1892300" imgH="647700" progId="Equation.DSMT4">
                  <p:embed/>
                  <p:pic>
                    <p:nvPicPr>
                      <p:cNvPr id="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7859" y="4725194"/>
                        <a:ext cx="4339642" cy="14862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2"/>
              <p:cNvSpPr txBox="1"/>
              <p:nvPr/>
            </p:nvSpPr>
            <p:spPr bwMode="auto">
              <a:xfrm>
                <a:off x="1721511" y="3689451"/>
                <a:ext cx="2515182" cy="94001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𝑨𝑩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b="1" dirty="0">
                  <a:solidFill>
                    <a:srgbClr val="C00000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9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21511" y="3689451"/>
                <a:ext cx="2515182" cy="940018"/>
              </a:xfrm>
              <a:prstGeom prst="rect">
                <a:avLst/>
              </a:prstGeom>
              <a:blipFill rotWithShape="1">
                <a:blip r:embed="rId7"/>
                <a:stretch>
                  <a:fillRect l="-1" t="-11" r="24" b="3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5571403" y="3689451"/>
            <a:ext cx="6102416" cy="718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0000FF"/>
                </a:solidFill>
                <a:latin typeface="+mn-ea"/>
                <a:sym typeface="Symbol" panose="05050102010706020507" pitchFamily="18" charset="2"/>
              </a:rPr>
              <a:t>P(AB)</a:t>
            </a:r>
            <a:r>
              <a:rPr lang="zh-CN" altLang="en-US" b="1" dirty="0">
                <a:solidFill>
                  <a:srgbClr val="0000FF"/>
                </a:solidFill>
                <a:latin typeface="+mn-ea"/>
                <a:sym typeface="Symbol" panose="05050102010706020507" pitchFamily="18" charset="2"/>
              </a:rPr>
              <a:t>＝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sym typeface="Symbol" panose="05050102010706020507" pitchFamily="18" charset="2"/>
              </a:rPr>
              <a:t>P(A)P(B|A)</a:t>
            </a:r>
            <a:r>
              <a:rPr lang="zh-CN" altLang="en-US" b="1" dirty="0">
                <a:solidFill>
                  <a:srgbClr val="0000FF"/>
                </a:solidFill>
                <a:latin typeface="+mn-ea"/>
                <a:sym typeface="Symbol" panose="05050102010706020507" pitchFamily="18" charset="2"/>
              </a:rPr>
              <a:t>＝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sym typeface="Symbol" panose="05050102010706020507" pitchFamily="18" charset="2"/>
              </a:rPr>
              <a:t>P(B)P(A|B)</a:t>
            </a:r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1" grpId="0"/>
      <p:bldP spid="11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</a:rPr>
              <a:t>上一讲内容回顾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（续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dirty="0">
              <a:latin typeface="黑体" panose="02010609060101010101" pitchFamily="49" charset="-122"/>
            </a:endParaRPr>
          </a:p>
        </p:txBody>
      </p:sp>
      <p:sp>
        <p:nvSpPr>
          <p:cNvPr id="395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8461" y="1067594"/>
            <a:ext cx="10694714" cy="5715000"/>
          </a:xfrm>
        </p:spPr>
        <p:txBody>
          <a:bodyPr>
            <a:normAutofit lnSpcReduction="10000"/>
          </a:bodyPr>
          <a:lstStyle/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</a:rPr>
              <a:t>随机变量及其分布</a:t>
            </a:r>
          </a:p>
          <a:p>
            <a:pPr lvl="1">
              <a:spcBef>
                <a:spcPts val="600"/>
              </a:spcBef>
              <a:buClr>
                <a:srgbClr val="0000CC"/>
              </a:buClr>
              <a:buFont typeface="Wingdings" pitchFamily="2" charset="2"/>
              <a:buChar char="ü"/>
            </a:pPr>
            <a:r>
              <a:rPr lang="zh-CN" altLang="en-US" dirty="0">
                <a:latin typeface="黑体" panose="02010609060101010101" pitchFamily="49" charset="-122"/>
                <a:sym typeface="Symbol" panose="05050102010706020507" pitchFamily="18" charset="2"/>
              </a:rPr>
              <a:t>随机变量、分布函数</a:t>
            </a:r>
            <a:endParaRPr lang="en-US" altLang="zh-CN" dirty="0">
              <a:latin typeface="黑体" panose="02010609060101010101" pitchFamily="49" charset="-122"/>
              <a:sym typeface="Symbol" panose="05050102010706020507" pitchFamily="18" charset="2"/>
            </a:endParaRPr>
          </a:p>
          <a:p>
            <a:pPr marL="610235" lvl="1" indent="0">
              <a:spcBef>
                <a:spcPts val="600"/>
              </a:spcBef>
              <a:buClr>
                <a:srgbClr val="0000CC"/>
              </a:buClr>
              <a:buNone/>
            </a:pP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     随机变量</a:t>
            </a:r>
            <a:r>
              <a:rPr lang="en-US" altLang="zh-CN" dirty="0">
                <a:sym typeface="Symbol" panose="05050102010706020507" pitchFamily="18" charset="2"/>
              </a:rPr>
              <a:t>X()</a:t>
            </a:r>
            <a:r>
              <a:rPr lang="zh-CN" altLang="en-US" dirty="0">
                <a:sym typeface="Symbol" panose="05050102010706020507" pitchFamily="18" charset="2"/>
              </a:rPr>
              <a:t>满足</a:t>
            </a:r>
            <a:r>
              <a:rPr lang="en-US" altLang="zh-CN" dirty="0">
                <a:solidFill>
                  <a:srgbClr val="CC00CC"/>
                </a:solidFill>
                <a:sym typeface="Symbol" panose="05050102010706020507" pitchFamily="18" charset="2"/>
              </a:rPr>
              <a:t>{</a:t>
            </a:r>
            <a:r>
              <a:rPr lang="zh-CN" altLang="en-US" dirty="0">
                <a:solidFill>
                  <a:srgbClr val="CC00CC"/>
                </a:solidFill>
              </a:rPr>
              <a:t>：</a:t>
            </a:r>
            <a:r>
              <a:rPr lang="en-US" altLang="zh-CN" dirty="0">
                <a:solidFill>
                  <a:srgbClr val="CC00CC"/>
                </a:solidFill>
                <a:sym typeface="Symbol" panose="05050102010706020507" pitchFamily="18" charset="2"/>
              </a:rPr>
              <a:t>X()&lt;x}F    -</a:t>
            </a:r>
            <a:r>
              <a:rPr lang="en-US" altLang="zh-CN" dirty="0">
                <a:solidFill>
                  <a:srgbClr val="CC00CC"/>
                </a:solidFill>
              </a:rPr>
              <a:t>∞&lt;x&lt;+∞</a:t>
            </a:r>
          </a:p>
          <a:p>
            <a:pPr marL="610235" lvl="1" indent="0">
              <a:spcBef>
                <a:spcPts val="600"/>
              </a:spcBef>
              <a:buClr>
                <a:srgbClr val="0000CC"/>
              </a:buClr>
              <a:buNone/>
            </a:pP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    分布函数</a:t>
            </a:r>
            <a:r>
              <a:rPr lang="en-US" altLang="zh-CN" dirty="0">
                <a:solidFill>
                  <a:srgbClr val="CC00CC"/>
                </a:solidFill>
                <a:sym typeface="Symbol" panose="05050102010706020507" pitchFamily="18" charset="2"/>
              </a:rPr>
              <a:t>F(x)</a:t>
            </a:r>
            <a:r>
              <a:rPr lang="zh-CN" altLang="en-US" dirty="0">
                <a:solidFill>
                  <a:srgbClr val="CC00CC"/>
                </a:solidFill>
                <a:sym typeface="Symbol" panose="05050102010706020507" pitchFamily="18" charset="2"/>
              </a:rPr>
              <a:t>＝</a:t>
            </a:r>
            <a:r>
              <a:rPr lang="en-US" altLang="zh-CN" dirty="0">
                <a:solidFill>
                  <a:srgbClr val="CC00CC"/>
                </a:solidFill>
                <a:sym typeface="Symbol" panose="05050102010706020507" pitchFamily="18" charset="2"/>
              </a:rPr>
              <a:t>P{X&lt;x}    -</a:t>
            </a:r>
            <a:r>
              <a:rPr lang="en-US" altLang="zh-CN" dirty="0">
                <a:solidFill>
                  <a:srgbClr val="CC00CC"/>
                </a:solidFill>
              </a:rPr>
              <a:t>∞&lt;x&lt;+∞</a:t>
            </a:r>
            <a:endParaRPr lang="zh-CN" altLang="en-US" dirty="0">
              <a:latin typeface="黑体" panose="02010609060101010101" pitchFamily="49" charset="-122"/>
              <a:sym typeface="Symbol" panose="05050102010706020507" pitchFamily="18" charset="2"/>
            </a:endParaRPr>
          </a:p>
          <a:p>
            <a:pPr lvl="1">
              <a:spcBef>
                <a:spcPts val="600"/>
              </a:spcBef>
              <a:buClr>
                <a:srgbClr val="0000CC"/>
              </a:buClr>
              <a:buFont typeface="Wingdings" pitchFamily="2" charset="2"/>
              <a:buChar char="ü"/>
            </a:pPr>
            <a:r>
              <a:rPr lang="zh-CN" altLang="en-US" dirty="0">
                <a:latin typeface="黑体" panose="02010609060101010101" pitchFamily="49" charset="-122"/>
              </a:rPr>
              <a:t>离散型随机变量及其分布律</a:t>
            </a:r>
            <a:endParaRPr lang="en-US" altLang="zh-CN" dirty="0">
              <a:latin typeface="黑体" panose="02010609060101010101" pitchFamily="49" charset="-122"/>
            </a:endParaRPr>
          </a:p>
          <a:p>
            <a:pPr lvl="1">
              <a:spcBef>
                <a:spcPts val="600"/>
              </a:spcBef>
              <a:buClr>
                <a:srgbClr val="FF0000"/>
              </a:buClr>
              <a:buFontTx/>
              <a:buChar char="•"/>
            </a:pPr>
            <a:endParaRPr lang="zh-CN" altLang="en-US" dirty="0">
              <a:latin typeface="黑体" panose="02010609060101010101" pitchFamily="49" charset="-122"/>
            </a:endParaRPr>
          </a:p>
          <a:p>
            <a:pPr lvl="1">
              <a:spcBef>
                <a:spcPts val="1800"/>
              </a:spcBef>
              <a:buClr>
                <a:srgbClr val="0000CC"/>
              </a:buClr>
              <a:buFont typeface="Wingdings" pitchFamily="2" charset="2"/>
              <a:buChar char="ü"/>
            </a:pPr>
            <a:r>
              <a:rPr lang="zh-CN" altLang="en-US" dirty="0">
                <a:latin typeface="黑体" panose="02010609060101010101" pitchFamily="49" charset="-122"/>
              </a:rPr>
              <a:t>连续型随机变量及其概率密度</a:t>
            </a:r>
            <a:endParaRPr lang="en-US" altLang="zh-CN" dirty="0">
              <a:latin typeface="黑体" panose="02010609060101010101" pitchFamily="49" charset="-122"/>
            </a:endParaRPr>
          </a:p>
          <a:p>
            <a:pPr lvl="1">
              <a:spcBef>
                <a:spcPts val="1800"/>
              </a:spcBef>
              <a:buClr>
                <a:srgbClr val="FF0000"/>
              </a:buClr>
              <a:buFontTx/>
              <a:buChar char="•"/>
            </a:pPr>
            <a:endParaRPr lang="zh-CN" altLang="en-US" dirty="0">
              <a:latin typeface="黑体" panose="02010609060101010101" pitchFamily="49" charset="-122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</a:rPr>
              <a:t>常见的随机变量及其分布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5">
                <a:extLst>
                  <a:ext uri="{FF2B5EF4-FFF2-40B4-BE49-F238E27FC236}">
                    <a16:creationId xmlns:a16="http://schemas.microsoft.com/office/drawing/2014/main" id="{13BA5537-4597-04BF-E074-B0B87DC8FCB8}"/>
                  </a:ext>
                </a:extLst>
              </p:cNvPr>
              <p:cNvSpPr txBox="1"/>
              <p:nvPr/>
            </p:nvSpPr>
            <p:spPr bwMode="auto">
              <a:xfrm>
                <a:off x="1679575" y="4014637"/>
                <a:ext cx="7240118" cy="8463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}=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</m:mr>
                      </m:m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(−∞&lt;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&lt;+∞)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Object 5">
                <a:extLst>
                  <a:ext uri="{FF2B5EF4-FFF2-40B4-BE49-F238E27FC236}">
                    <a16:creationId xmlns:a16="http://schemas.microsoft.com/office/drawing/2014/main" id="{13BA5537-4597-04BF-E074-B0B87DC8F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79575" y="4014637"/>
                <a:ext cx="7240118" cy="846333"/>
              </a:xfrm>
              <a:prstGeom prst="rect">
                <a:avLst/>
              </a:prstGeom>
              <a:blipFill>
                <a:blip r:embed="rId3"/>
                <a:stretch>
                  <a:fillRect t="-119403" b="-15970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5">
                <a:extLst>
                  <a:ext uri="{FF2B5EF4-FFF2-40B4-BE49-F238E27FC236}">
                    <a16:creationId xmlns:a16="http://schemas.microsoft.com/office/drawing/2014/main" id="{8B50FCCA-96A1-2D00-7B2D-4776F98A9C0D}"/>
                  </a:ext>
                </a:extLst>
              </p:cNvPr>
              <p:cNvSpPr txBox="1"/>
              <p:nvPr/>
            </p:nvSpPr>
            <p:spPr bwMode="auto">
              <a:xfrm>
                <a:off x="1679575" y="5267869"/>
                <a:ext cx="8229600" cy="10482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𝒅𝒖</m:t>
                          </m:r>
                        </m:e>
                      </m:nary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</m:mr>
                      </m:m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(−∞&lt;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&lt;+∞)</m:t>
                      </m:r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" name="Object 5">
                <a:extLst>
                  <a:ext uri="{FF2B5EF4-FFF2-40B4-BE49-F238E27FC236}">
                    <a16:creationId xmlns:a16="http://schemas.microsoft.com/office/drawing/2014/main" id="{8B50FCCA-96A1-2D00-7B2D-4776F98A9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79575" y="5267869"/>
                <a:ext cx="8229600" cy="1048249"/>
              </a:xfrm>
              <a:prstGeom prst="rect">
                <a:avLst/>
              </a:prstGeom>
              <a:blipFill>
                <a:blip r:embed="rId4"/>
                <a:stretch>
                  <a:fillRect l="-2619" t="-142857" b="-1916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C8A5D39F-181B-8555-5AD4-CD6EF1B42AC6}"/>
                  </a:ext>
                </a:extLst>
              </p:cNvPr>
              <p:cNvSpPr txBox="1"/>
              <p:nvPr/>
            </p:nvSpPr>
            <p:spPr bwMode="auto">
              <a:xfrm>
                <a:off x="5299634" y="5581430"/>
                <a:ext cx="6553200" cy="16080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}=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𝝀</m:t>
                              </m:r>
                            </m:e>
                            <m:sup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p>
                          </m:sSup>
                        </m:num>
                        <m:den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𝝀</m:t>
                          </m:r>
                        </m:sup>
                      </m:sSup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</m:mr>
                      </m:m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𝝀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,⋯</m:t>
                      </m:r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C8A5D39F-181B-8555-5AD4-CD6EF1B42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99634" y="5581430"/>
                <a:ext cx="6553200" cy="1608063"/>
              </a:xfrm>
              <a:prstGeom prst="rect">
                <a:avLst/>
              </a:prstGeom>
              <a:blipFill>
                <a:blip r:embed="rId5"/>
                <a:stretch>
                  <a:fillRect l="-38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8958521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5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5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5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5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5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5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5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5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95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95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95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95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95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95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5267" grpId="0" build="p"/>
      <p:bldP spid="2" grpId="0"/>
      <p:bldP spid="3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507F0-13A9-81D4-7792-3D681F6D1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>
            <a:extLst>
              <a:ext uri="{FF2B5EF4-FFF2-40B4-BE49-F238E27FC236}">
                <a16:creationId xmlns:a16="http://schemas.microsoft.com/office/drawing/2014/main" id="{B5C07987-DF56-5DD6-69B4-46075AC6F0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</a:rPr>
              <a:t>上一讲内容回顾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（续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dirty="0">
              <a:latin typeface="黑体" panose="02010609060101010101" pitchFamily="49" charset="-122"/>
            </a:endParaRPr>
          </a:p>
        </p:txBody>
      </p:sp>
      <p:sp>
        <p:nvSpPr>
          <p:cNvPr id="395267" name="Rectangle 3">
            <a:extLst>
              <a:ext uri="{FF2B5EF4-FFF2-40B4-BE49-F238E27FC236}">
                <a16:creationId xmlns:a16="http://schemas.microsoft.com/office/drawing/2014/main" id="{848F2605-871D-8EDF-3C4D-1161759E72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8461" y="1067594"/>
            <a:ext cx="10694714" cy="57150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</a:rPr>
              <a:t>常见的随机变量及其分布</a:t>
            </a:r>
            <a:endParaRPr lang="en-US" altLang="zh-CN" dirty="0">
              <a:solidFill>
                <a:srgbClr val="0000FF"/>
              </a:solidFill>
              <a:latin typeface="黑体" panose="02010609060101010101" pitchFamily="49" charset="-122"/>
            </a:endParaRPr>
          </a:p>
          <a:p>
            <a:pPr lvl="1">
              <a:spcBef>
                <a:spcPts val="600"/>
              </a:spcBef>
              <a:buFont typeface="Wingdings" pitchFamily="2" charset="2"/>
              <a:buChar char="ü"/>
            </a:pPr>
            <a:r>
              <a:rPr lang="zh-CN" altLang="en-US" dirty="0"/>
              <a:t>服从参数为</a:t>
            </a:r>
            <a:r>
              <a:rPr lang="en-US" altLang="zh-CN" dirty="0" err="1"/>
              <a:t>λ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C00CC"/>
                </a:solidFill>
              </a:rPr>
              <a:t>泊松分布</a:t>
            </a:r>
            <a:endParaRPr lang="en-US" altLang="zh-CN" dirty="0">
              <a:solidFill>
                <a:srgbClr val="CC00CC"/>
              </a:solidFill>
            </a:endParaRPr>
          </a:p>
          <a:p>
            <a:pPr lvl="1">
              <a:spcBef>
                <a:spcPts val="600"/>
              </a:spcBef>
              <a:buFont typeface="Wingdings" pitchFamily="2" charset="2"/>
              <a:buChar char="ü"/>
            </a:pPr>
            <a:endParaRPr lang="en-US" altLang="zh-CN" dirty="0">
              <a:solidFill>
                <a:srgbClr val="CC00CC"/>
              </a:solidFill>
              <a:latin typeface="黑体" panose="02010609060101010101" pitchFamily="49" charset="-122"/>
            </a:endParaRPr>
          </a:p>
          <a:p>
            <a:pPr lvl="1">
              <a:spcBef>
                <a:spcPts val="600"/>
              </a:spcBef>
              <a:buFont typeface="Wingdings" pitchFamily="2" charset="2"/>
              <a:buChar char="ü"/>
            </a:pPr>
            <a:r>
              <a:rPr lang="zh-CN" altLang="en-US" dirty="0"/>
              <a:t>服从参数为</a:t>
            </a:r>
            <a:r>
              <a:rPr lang="zh-CN" altLang="en-US" dirty="0">
                <a:sym typeface="Symbol" panose="05050102010706020507" pitchFamily="18" charset="2"/>
              </a:rPr>
              <a:t>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00FF"/>
                </a:solidFill>
              </a:rPr>
              <a:t>指数分布</a:t>
            </a:r>
            <a:r>
              <a:rPr lang="en-US" altLang="zh-CN" dirty="0">
                <a:solidFill>
                  <a:srgbClr val="CC00CC"/>
                </a:solidFill>
              </a:rPr>
              <a:t>(</a:t>
            </a:r>
            <a:r>
              <a:rPr lang="zh-CN" altLang="en-US" dirty="0">
                <a:solidFill>
                  <a:srgbClr val="CC00CC"/>
                </a:solidFill>
              </a:rPr>
              <a:t>寿命分布</a:t>
            </a:r>
            <a:r>
              <a:rPr lang="en-US" altLang="zh-CN" dirty="0">
                <a:solidFill>
                  <a:srgbClr val="CC00CC"/>
                </a:solidFill>
              </a:rPr>
              <a:t>)</a:t>
            </a:r>
          </a:p>
          <a:p>
            <a:pPr marL="610235" lvl="1" indent="0">
              <a:spcBef>
                <a:spcPts val="600"/>
              </a:spcBef>
              <a:buNone/>
            </a:pPr>
            <a:endParaRPr lang="en-US" altLang="zh-CN" dirty="0">
              <a:solidFill>
                <a:srgbClr val="0000FF"/>
              </a:solidFill>
              <a:latin typeface="黑体" panose="02010609060101010101" pitchFamily="49" charset="-122"/>
            </a:endParaRPr>
          </a:p>
          <a:p>
            <a:pPr lvl="1">
              <a:spcBef>
                <a:spcPts val="3000"/>
              </a:spcBef>
              <a:buFont typeface="Wingdings" pitchFamily="2" charset="2"/>
              <a:buChar char="ü"/>
            </a:pPr>
            <a:r>
              <a:rPr lang="zh-CN" altLang="en-US" dirty="0"/>
              <a:t>服从</a:t>
            </a:r>
            <a:r>
              <a:rPr lang="zh-CN" altLang="en-US" dirty="0">
                <a:solidFill>
                  <a:srgbClr val="0000FF"/>
                </a:solidFill>
              </a:rPr>
              <a:t>参数为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（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&gt;0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）</a:t>
            </a:r>
            <a:r>
              <a:rPr lang="zh-CN" altLang="en-US" dirty="0">
                <a:solidFill>
                  <a:srgbClr val="0000FF"/>
                </a:solidFill>
              </a:rPr>
              <a:t>的 </a:t>
            </a:r>
            <a:r>
              <a:rPr lang="en-US" altLang="zh-CN" dirty="0">
                <a:solidFill>
                  <a:srgbClr val="CC00CC"/>
                </a:solidFill>
                <a:sym typeface="Symbol" panose="05050102010706020507" pitchFamily="18" charset="2"/>
              </a:rPr>
              <a:t>k</a:t>
            </a:r>
            <a:r>
              <a:rPr lang="zh-CN" altLang="en-US" dirty="0">
                <a:solidFill>
                  <a:srgbClr val="CC00CC"/>
                </a:solidFill>
                <a:sym typeface="Symbol" panose="05050102010706020507" pitchFamily="18" charset="2"/>
              </a:rPr>
              <a:t>阶爱尔朗</a:t>
            </a:r>
            <a:r>
              <a:rPr lang="zh-CN" altLang="en-US" dirty="0">
                <a:solidFill>
                  <a:srgbClr val="CC00CC"/>
                </a:solidFill>
              </a:rPr>
              <a:t>分布</a:t>
            </a:r>
            <a:endParaRPr lang="zh-CN" altLang="en-US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D53C817E-7A87-8606-0409-64560C833858}"/>
                  </a:ext>
                </a:extLst>
              </p:cNvPr>
              <p:cNvSpPr txBox="1"/>
              <p:nvPr/>
            </p:nvSpPr>
            <p:spPr bwMode="auto">
              <a:xfrm>
                <a:off x="1679575" y="1846562"/>
                <a:ext cx="6553200" cy="16080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}=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𝝀</m:t>
                              </m:r>
                            </m:e>
                            <m:sup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p>
                          </m:sSup>
                        </m:num>
                        <m:den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𝝀</m:t>
                          </m:r>
                        </m:sup>
                      </m:sSup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</m:mr>
                      </m:m>
                      <m:r>
                        <a:rPr lang="en-US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𝝀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,⋯</m:t>
                      </m:r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D53C817E-7A87-8606-0409-64560C833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79575" y="1846562"/>
                <a:ext cx="6553200" cy="1608063"/>
              </a:xfrm>
              <a:prstGeom prst="rect">
                <a:avLst/>
              </a:prstGeom>
              <a:blipFill>
                <a:blip r:embed="rId3"/>
                <a:stretch>
                  <a:fillRect l="-38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6">
                <a:extLst>
                  <a:ext uri="{FF2B5EF4-FFF2-40B4-BE49-F238E27FC236}">
                    <a16:creationId xmlns:a16="http://schemas.microsoft.com/office/drawing/2014/main" id="{1BA9164E-8CD8-BAA7-C9CB-2FF65689328F}"/>
                  </a:ext>
                </a:extLst>
              </p:cNvPr>
              <p:cNvSpPr txBox="1"/>
              <p:nvPr/>
            </p:nvSpPr>
            <p:spPr bwMode="auto">
              <a:xfrm>
                <a:off x="6478537" y="3659040"/>
                <a:ext cx="4920802" cy="167567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𝝀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p>
                                </m:sSup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5" name="Object 6">
                <a:extLst>
                  <a:ext uri="{FF2B5EF4-FFF2-40B4-BE49-F238E27FC236}">
                    <a16:creationId xmlns:a16="http://schemas.microsoft.com/office/drawing/2014/main" id="{1BA9164E-8CD8-BAA7-C9CB-2FF6568932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78537" y="3659040"/>
                <a:ext cx="4920802" cy="1675677"/>
              </a:xfrm>
              <a:prstGeom prst="rect">
                <a:avLst/>
              </a:prstGeom>
              <a:blipFill>
                <a:blip r:embed="rId4"/>
                <a:stretch>
                  <a:fillRect l="-9021" t="-109023" b="-11278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E7034A2D-7BF1-8043-5099-A18B9AE8986F}"/>
                  </a:ext>
                </a:extLst>
              </p:cNvPr>
              <p:cNvSpPr txBox="1"/>
              <p:nvPr/>
            </p:nvSpPr>
            <p:spPr bwMode="auto">
              <a:xfrm>
                <a:off x="1660979" y="3663394"/>
                <a:ext cx="5562352" cy="1747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𝝀</m:t>
                                </m:r>
                                <m:sSup>
                                  <m:sSup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𝝀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p>
                                </m:sSup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，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𝝀</m:t>
                            </m:r>
                            <m: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mr>
                      </m:m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E7034A2D-7BF1-8043-5099-A18B9AE89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60979" y="3663394"/>
                <a:ext cx="5562352" cy="1747600"/>
              </a:xfrm>
              <a:prstGeom prst="rect">
                <a:avLst/>
              </a:prstGeom>
              <a:blipFill>
                <a:blip r:embed="rId5"/>
                <a:stretch>
                  <a:fillRect l="-8200" t="-103597" b="-10431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4">
                <a:extLst>
                  <a:ext uri="{FF2B5EF4-FFF2-40B4-BE49-F238E27FC236}">
                    <a16:creationId xmlns:a16="http://schemas.microsoft.com/office/drawing/2014/main" id="{AF068BCA-B256-9774-6C1C-E2E4E3BB7D48}"/>
                  </a:ext>
                </a:extLst>
              </p:cNvPr>
              <p:cNvSpPr txBox="1"/>
              <p:nvPr/>
            </p:nvSpPr>
            <p:spPr bwMode="auto">
              <a:xfrm>
                <a:off x="1629741" y="4357359"/>
                <a:ext cx="5894146" cy="222330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𝝀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𝝀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sSup>
                                      <m:sSupPr>
                                        <m:ctrlP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)!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𝝀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p>
                                </m:sSup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，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7" name="Object 4">
                <a:extLst>
                  <a:ext uri="{FF2B5EF4-FFF2-40B4-BE49-F238E27FC236}">
                    <a16:creationId xmlns:a16="http://schemas.microsoft.com/office/drawing/2014/main" id="{AF068BCA-B256-9774-6C1C-E2E4E3BB7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29741" y="4357359"/>
                <a:ext cx="5894146" cy="2223308"/>
              </a:xfrm>
              <a:prstGeom prst="rect">
                <a:avLst/>
              </a:prstGeom>
              <a:blipFill>
                <a:blip r:embed="rId6"/>
                <a:stretch>
                  <a:fillRect l="-26022" t="-111932" b="-19829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6">
                <a:extLst>
                  <a:ext uri="{FF2B5EF4-FFF2-40B4-BE49-F238E27FC236}">
                    <a16:creationId xmlns:a16="http://schemas.microsoft.com/office/drawing/2014/main" id="{10D257BB-E825-0328-13A3-2BE279F9A38A}"/>
                  </a:ext>
                </a:extLst>
              </p:cNvPr>
              <p:cNvSpPr txBox="1"/>
              <p:nvPr/>
            </p:nvSpPr>
            <p:spPr bwMode="auto">
              <a:xfrm>
                <a:off x="6813163" y="3969390"/>
                <a:ext cx="5227726" cy="282052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𝝀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p>
                                </m:sSup>
                                <m:nary>
                                  <m:naryPr>
                                    <m:chr m:val="∑"/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  <m:sup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  <m:e>
                                    <m:f>
                                      <m:fPr>
                                        <m:ctrlP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𝝀</m:t>
                                        </m:r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  <m:sSup>
                                          <m:sSupPr>
                                            <m:ctrlP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  <m:sup>
                                            <m:r>
                                              <a:rPr lang="en-US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𝒊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  <m:r>
                                          <a:rPr lang="en-US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!</m:t>
                                        </m:r>
                                      </m:den>
                                    </m:f>
                                  </m:e>
                                </m:nary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</m:mr>
                      </m:m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8" name="Object 6">
                <a:extLst>
                  <a:ext uri="{FF2B5EF4-FFF2-40B4-BE49-F238E27FC236}">
                    <a16:creationId xmlns:a16="http://schemas.microsoft.com/office/drawing/2014/main" id="{10D257BB-E825-0328-13A3-2BE279F9A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13163" y="3969390"/>
                <a:ext cx="5227726" cy="2820529"/>
              </a:xfrm>
              <a:prstGeom prst="rect">
                <a:avLst/>
              </a:prstGeom>
              <a:blipFill>
                <a:blip r:embed="rId7"/>
                <a:stretch>
                  <a:fillRect l="-242" t="-6726" b="-3811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0660134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5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5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5267" grpId="0" build="p"/>
      <p:bldP spid="4" grpId="0"/>
      <p:bldP spid="5" grpId="0"/>
      <p:bldP spid="6" grpId="0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</a:rPr>
              <a:t>本讲主要内容</a:t>
            </a:r>
          </a:p>
        </p:txBody>
      </p:sp>
      <p:sp>
        <p:nvSpPr>
          <p:cNvPr id="396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9072" y="2468564"/>
            <a:ext cx="7469329" cy="4038600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FF"/>
                </a:solidFill>
              </a:rPr>
              <a:t>随机变量的数字特征</a:t>
            </a:r>
          </a:p>
          <a:p>
            <a:pPr lvl="1" eaLnBrk="1" hangingPunct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</a:rPr>
              <a:t>数学期望</a:t>
            </a:r>
          </a:p>
          <a:p>
            <a:pPr lvl="1" eaLnBrk="1" hangingPunct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</a:rPr>
              <a:t>方差</a:t>
            </a:r>
          </a:p>
          <a:p>
            <a:pPr lvl="1" eaLnBrk="1" hangingPunct="1">
              <a:buClr>
                <a:srgbClr val="FF0000"/>
              </a:buClr>
              <a:buFontTx/>
              <a:buChar char="•"/>
            </a:pPr>
            <a:r>
              <a:rPr lang="en-US" altLang="zh-CN" dirty="0">
                <a:solidFill>
                  <a:srgbClr val="CC00CC"/>
                </a:solidFill>
              </a:rPr>
              <a:t>k</a:t>
            </a:r>
            <a:r>
              <a:rPr lang="zh-CN" altLang="en-US" dirty="0">
                <a:solidFill>
                  <a:srgbClr val="CC00CC"/>
                </a:solidFill>
              </a:rPr>
              <a:t>阶矩</a:t>
            </a:r>
          </a:p>
          <a:p>
            <a:pPr lvl="1" eaLnBrk="1" hangingPunct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</a:rPr>
              <a:t>协方差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FF"/>
                </a:solidFill>
              </a:rPr>
              <a:t>条件数学期望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FF"/>
                </a:solidFill>
              </a:rPr>
              <a:t>随机变量的特征函数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233C217A-681A-24CD-6FF1-D59AFCC79AB3}"/>
              </a:ext>
            </a:extLst>
          </p:cNvPr>
          <p:cNvSpPr txBox="1">
            <a:spLocks noChangeArrowheads="1"/>
          </p:cNvSpPr>
          <p:nvPr/>
        </p:nvSpPr>
        <p:spPr>
          <a:xfrm>
            <a:off x="399072" y="1173164"/>
            <a:ext cx="7469329" cy="1295400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>
            <a:lvl1pPr marL="457200" indent="-4572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l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»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0000FF"/>
                </a:solidFill>
                <a:latin typeface="黑体" panose="02010609060101010101" pitchFamily="49" charset="-122"/>
              </a:rPr>
              <a:t>n</a:t>
            </a: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</a:rPr>
              <a:t>维随机变量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</a:rPr>
              <a:t>随机变量函数的分布</a:t>
            </a:r>
          </a:p>
        </p:txBody>
      </p:sp>
    </p:spTree>
    <p:extLst>
      <p:ext uri="{BB962C8B-B14F-4D97-AF65-F5344CB8AC3E}">
        <p14:creationId xmlns:p14="http://schemas.microsoft.com/office/powerpoint/2010/main" val="3542962119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6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6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6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6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6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6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6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6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96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96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96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96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96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96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6291" grpId="0" build="p"/>
      <p:bldP spid="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一、二维随机变量（向量）</a:t>
            </a:r>
          </a:p>
        </p:txBody>
      </p:sp>
      <p:sp>
        <p:nvSpPr>
          <p:cNvPr id="370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4175" y="1753394"/>
            <a:ext cx="11125200" cy="1538643"/>
          </a:xfrm>
        </p:spPr>
        <p:txBody>
          <a:bodyPr>
            <a:normAutofit/>
          </a:bodyPr>
          <a:lstStyle/>
          <a:p>
            <a:pPr marL="0" indent="0" eaLnBrk="1" hangingPunct="1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如果</a:t>
            </a:r>
            <a:r>
              <a:rPr lang="en-US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是定义在同一概率空间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dirty="0"/>
              <a:t>Ω</a:t>
            </a:r>
            <a:r>
              <a:rPr lang="en-US" altLang="zh-CN" dirty="0">
                <a:sym typeface="Symbol" panose="05050102010706020507" pitchFamily="18" charset="2"/>
              </a:rPr>
              <a:t>, F, P)</a:t>
            </a:r>
            <a:r>
              <a:rPr lang="zh-CN" altLang="en-US" dirty="0">
                <a:sym typeface="Symbol" panose="05050102010706020507" pitchFamily="18" charset="2"/>
              </a:rPr>
              <a:t>上的两个随机变量，则称</a:t>
            </a:r>
            <a:r>
              <a:rPr lang="en-US" altLang="zh-CN" dirty="0">
                <a:sym typeface="Symbol" panose="05050102010706020507" pitchFamily="18" charset="2"/>
              </a:rPr>
              <a:t>(X, Y)</a:t>
            </a:r>
            <a:r>
              <a:rPr lang="zh-CN" altLang="en-US" dirty="0">
                <a:sym typeface="Symbol" panose="05050102010706020507" pitchFamily="18" charset="2"/>
              </a:rPr>
              <a:t>为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二维随机变量</a:t>
            </a:r>
            <a:r>
              <a:rPr lang="zh-CN" altLang="en-US" dirty="0">
                <a:sym typeface="Symbol" panose="05050102010706020507" pitchFamily="18" charset="2"/>
              </a:rPr>
              <a:t>，记为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二维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R.V.(X, Y)</a:t>
            </a:r>
            <a:r>
              <a:rPr lang="zh-CN" altLang="en-US" dirty="0"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370692" name="Rectangle 4"/>
          <p:cNvSpPr>
            <a:spLocks noChangeArrowheads="1"/>
          </p:cNvSpPr>
          <p:nvPr/>
        </p:nvSpPr>
        <p:spPr bwMode="auto">
          <a:xfrm>
            <a:off x="460375" y="3556781"/>
            <a:ext cx="10605331" cy="1910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30000"/>
              </a:spcBef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设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(X, Y)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是二维随机变量，定义函数</a:t>
            </a:r>
          </a:p>
          <a:p>
            <a:pPr algn="ctr" eaLnBrk="1" hangingPunct="1">
              <a:lnSpc>
                <a:spcPct val="150000"/>
              </a:lnSpc>
              <a:spcBef>
                <a:spcPct val="30000"/>
              </a:spcBef>
              <a:buClrTx/>
              <a:buFontTx/>
              <a:buNone/>
            </a:pP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F(x, y)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＝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P{X&lt;x, Y&lt;y}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，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-</a:t>
            </a:r>
            <a:r>
              <a:rPr lang="en-US" altLang="zh-CN" sz="2400" dirty="0">
                <a:latin typeface="+mn-ea"/>
                <a:ea typeface="+mn-ea"/>
              </a:rPr>
              <a:t>∞&lt;x&lt;+∞</a:t>
            </a:r>
            <a:r>
              <a:rPr lang="zh-CN" altLang="en-US" sz="2400" dirty="0">
                <a:latin typeface="+mn-ea"/>
                <a:ea typeface="+mn-ea"/>
              </a:rPr>
              <a:t>，</a:t>
            </a:r>
            <a:r>
              <a:rPr lang="en-US" altLang="zh-CN" sz="2400" dirty="0">
                <a:latin typeface="+mn-ea"/>
                <a:ea typeface="+mn-ea"/>
              </a:rPr>
              <a:t>-∞&lt;y&lt;+∞</a:t>
            </a:r>
          </a:p>
          <a:p>
            <a:pPr eaLnBrk="1" hangingPunct="1">
              <a:lnSpc>
                <a:spcPct val="150000"/>
              </a:lnSpc>
              <a:spcBef>
                <a:spcPct val="30000"/>
              </a:spcBef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为</a:t>
            </a:r>
            <a:r>
              <a:rPr lang="en-US" altLang="zh-CN" sz="2400" dirty="0">
                <a:latin typeface="+mn-ea"/>
                <a:ea typeface="+mn-ea"/>
              </a:rPr>
              <a:t>R.V.(X, Y)</a:t>
            </a:r>
            <a:r>
              <a:rPr lang="zh-CN" altLang="en-US" sz="2400" dirty="0">
                <a:latin typeface="+mn-ea"/>
                <a:ea typeface="+mn-ea"/>
              </a:rPr>
              <a:t>的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二维联合分布函数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0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0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0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0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06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06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06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06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0691" grpId="0" build="p"/>
      <p:bldP spid="37069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>
            <a:extLst>
              <a:ext uri="{FF2B5EF4-FFF2-40B4-BE49-F238E27FC236}">
                <a16:creationId xmlns:a16="http://schemas.microsoft.com/office/drawing/2014/main" id="{7E0547AE-D30D-5B66-5B58-AB91180D0D87}"/>
              </a:ext>
            </a:extLst>
          </p:cNvPr>
          <p:cNvGrpSpPr/>
          <p:nvPr/>
        </p:nvGrpSpPr>
        <p:grpSpPr>
          <a:xfrm>
            <a:off x="8872100" y="2062145"/>
            <a:ext cx="2848313" cy="1915451"/>
            <a:chOff x="9680575" y="2047456"/>
            <a:chExt cx="2848313" cy="1915451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6881BBFD-50CA-36E4-ABF4-8CFB52B617E5}"/>
                </a:ext>
              </a:extLst>
            </p:cNvPr>
            <p:cNvSpPr/>
            <p:nvPr/>
          </p:nvSpPr>
          <p:spPr>
            <a:xfrm>
              <a:off x="9680575" y="2515396"/>
              <a:ext cx="1600200" cy="144751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77DA1663-E5E0-2380-4666-2257AC82BF4B}"/>
                </a:ext>
              </a:extLst>
            </p:cNvPr>
            <p:cNvSpPr/>
            <p:nvPr/>
          </p:nvSpPr>
          <p:spPr>
            <a:xfrm>
              <a:off x="11172723" y="2446802"/>
              <a:ext cx="144000" cy="144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F61CD833-8C60-0431-385D-26297382798B}"/>
                </a:ext>
              </a:extLst>
            </p:cNvPr>
            <p:cNvSpPr txBox="1"/>
            <p:nvPr/>
          </p:nvSpPr>
          <p:spPr>
            <a:xfrm>
              <a:off x="11309688" y="2047456"/>
              <a:ext cx="1219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(x</a:t>
              </a:r>
              <a:r>
                <a:rPr 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,y</a:t>
              </a:r>
              <a:r>
                <a:rPr 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</p:grpSp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黑体" panose="02010609060101010101" pitchFamily="49" charset="-122"/>
              </a:rPr>
              <a:t>二维联合分布的性质</a:t>
            </a:r>
          </a:p>
        </p:txBody>
      </p:sp>
      <p:sp>
        <p:nvSpPr>
          <p:cNvPr id="371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6150" y="1219994"/>
            <a:ext cx="7812825" cy="4611167"/>
          </a:xfrm>
        </p:spPr>
        <p:txBody>
          <a:bodyPr/>
          <a:lstStyle/>
          <a:p>
            <a:pPr eaLnBrk="1" hangingPunct="1">
              <a:lnSpc>
                <a:spcPct val="180000"/>
              </a:lnSpc>
            </a:pP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0 </a:t>
            </a:r>
            <a:r>
              <a:rPr lang="en-US" altLang="zh-CN" dirty="0">
                <a:cs typeface="Times New Roman" panose="02020603050405020304" pitchFamily="18" charset="0"/>
              </a:rPr>
              <a:t>≤ 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F(x, y) </a:t>
            </a:r>
            <a:r>
              <a:rPr lang="en-US" altLang="zh-CN" dirty="0">
                <a:cs typeface="Times New Roman" panose="02020603050405020304" pitchFamily="18" charset="0"/>
              </a:rPr>
              <a:t>≤ 1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；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F(+</a:t>
            </a:r>
            <a:r>
              <a:rPr lang="en-US" altLang="zh-CN" dirty="0">
                <a:cs typeface="Times New Roman" panose="02020603050405020304" pitchFamily="18" charset="0"/>
              </a:rPr>
              <a:t>∞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, +</a:t>
            </a:r>
            <a:r>
              <a:rPr lang="en-US" altLang="zh-CN" dirty="0">
                <a:cs typeface="Times New Roman" panose="02020603050405020304" pitchFamily="18" charset="0"/>
              </a:rPr>
              <a:t>∞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＝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；</a:t>
            </a:r>
          </a:p>
          <a:p>
            <a:pPr lvl="1" eaLnBrk="1" hangingPunct="1">
              <a:lnSpc>
                <a:spcPct val="18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F(-</a:t>
            </a:r>
            <a:r>
              <a:rPr lang="en-US" altLang="zh-CN" dirty="0">
                <a:cs typeface="Times New Roman" panose="02020603050405020304" pitchFamily="18" charset="0"/>
              </a:rPr>
              <a:t>∞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, y)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＝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F(x, -</a:t>
            </a:r>
            <a:r>
              <a:rPr lang="en-US" altLang="zh-CN" dirty="0">
                <a:cs typeface="Times New Roman" panose="02020603050405020304" pitchFamily="18" charset="0"/>
              </a:rPr>
              <a:t>∞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＝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F(-</a:t>
            </a:r>
            <a:r>
              <a:rPr lang="en-US" altLang="zh-CN" dirty="0">
                <a:cs typeface="Times New Roman" panose="02020603050405020304" pitchFamily="18" charset="0"/>
              </a:rPr>
              <a:t>∞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, -</a:t>
            </a:r>
            <a:r>
              <a:rPr lang="en-US" altLang="zh-CN" dirty="0">
                <a:cs typeface="Times New Roman" panose="02020603050405020304" pitchFamily="18" charset="0"/>
              </a:rPr>
              <a:t>∞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＝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；</a:t>
            </a:r>
          </a:p>
          <a:p>
            <a:pPr eaLnBrk="1" hangingPunct="1">
              <a:lnSpc>
                <a:spcPct val="180000"/>
              </a:lnSpc>
            </a:pPr>
            <a:r>
              <a:rPr lang="en-US" altLang="zh-CN" dirty="0">
                <a:cs typeface="Times New Roman" panose="02020603050405020304" pitchFamily="18" charset="0"/>
              </a:rPr>
              <a:t>F(x, y)</a:t>
            </a:r>
            <a:r>
              <a:rPr lang="zh-CN" altLang="en-US" dirty="0">
                <a:cs typeface="Times New Roman" panose="02020603050405020304" pitchFamily="18" charset="0"/>
              </a:rPr>
              <a:t>对每个变量都是单调不减函数；</a:t>
            </a:r>
          </a:p>
          <a:p>
            <a:pPr eaLnBrk="1" hangingPunct="1">
              <a:lnSpc>
                <a:spcPct val="180000"/>
              </a:lnSpc>
            </a:pPr>
            <a:r>
              <a:rPr lang="en-US" altLang="zh-CN" dirty="0">
                <a:cs typeface="Times New Roman" panose="02020603050405020304" pitchFamily="18" charset="0"/>
              </a:rPr>
              <a:t>F(x, y)</a:t>
            </a:r>
            <a:r>
              <a:rPr lang="zh-CN" altLang="en-US" dirty="0">
                <a:cs typeface="Times New Roman" panose="02020603050405020304" pitchFamily="18" charset="0"/>
              </a:rPr>
              <a:t>对每个变量都是左连续函数；</a:t>
            </a:r>
          </a:p>
          <a:p>
            <a:pPr eaLnBrk="1" hangingPunct="1">
              <a:lnSpc>
                <a:spcPct val="180000"/>
              </a:lnSpc>
            </a:pPr>
            <a:r>
              <a:rPr lang="zh-CN" altLang="en-US" dirty="0">
                <a:cs typeface="Times New Roman" panose="02020603050405020304" pitchFamily="18" charset="0"/>
              </a:rPr>
              <a:t>对任意</a:t>
            </a:r>
            <a:r>
              <a:rPr lang="en-US" altLang="zh-CN" dirty="0"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cs typeface="Times New Roman" panose="02020603050405020304" pitchFamily="18" charset="0"/>
              </a:rPr>
              <a:t>1</a:t>
            </a:r>
            <a:r>
              <a:rPr lang="en-US" altLang="zh-CN" dirty="0">
                <a:cs typeface="Times New Roman" panose="02020603050405020304" pitchFamily="18" charset="0"/>
              </a:rPr>
              <a:t>&lt;x</a:t>
            </a:r>
            <a:r>
              <a:rPr lang="en-US" altLang="zh-CN" baseline="-25000" dirty="0">
                <a:cs typeface="Times New Roman" panose="02020603050405020304" pitchFamily="18" charset="0"/>
              </a:rPr>
              <a:t>2</a:t>
            </a:r>
            <a:r>
              <a:rPr lang="zh-CN" altLang="en-US" dirty="0"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cs typeface="Times New Roman" panose="02020603050405020304" pitchFamily="18" charset="0"/>
              </a:rPr>
              <a:t>1</a:t>
            </a:r>
            <a:r>
              <a:rPr lang="en-US" altLang="zh-CN" dirty="0">
                <a:cs typeface="Times New Roman" panose="02020603050405020304" pitchFamily="18" charset="0"/>
              </a:rPr>
              <a:t>&lt;y</a:t>
            </a:r>
            <a:r>
              <a:rPr lang="en-US" altLang="zh-CN" baseline="-25000" dirty="0">
                <a:cs typeface="Times New Roman" panose="02020603050405020304" pitchFamily="18" charset="0"/>
              </a:rPr>
              <a:t>2</a:t>
            </a:r>
            <a:r>
              <a:rPr lang="zh-CN" altLang="en-US" dirty="0">
                <a:cs typeface="Times New Roman" panose="02020603050405020304" pitchFamily="18" charset="0"/>
              </a:rPr>
              <a:t>，有</a:t>
            </a:r>
          </a:p>
          <a:p>
            <a:pPr lvl="1" eaLnBrk="1" hangingPunct="1">
              <a:lnSpc>
                <a:spcPct val="18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cs typeface="Times New Roman" panose="02020603050405020304" pitchFamily="18" charset="0"/>
              </a:rPr>
              <a:t>F(x</a:t>
            </a:r>
            <a:r>
              <a:rPr lang="en-US" altLang="zh-CN" baseline="-25000" dirty="0">
                <a:cs typeface="Times New Roman" panose="02020603050405020304" pitchFamily="18" charset="0"/>
              </a:rPr>
              <a:t>2</a:t>
            </a:r>
            <a:r>
              <a:rPr lang="en-US" altLang="zh-CN" dirty="0">
                <a:cs typeface="Times New Roman" panose="02020603050405020304" pitchFamily="18" charset="0"/>
              </a:rPr>
              <a:t>, y</a:t>
            </a:r>
            <a:r>
              <a:rPr lang="en-US" altLang="zh-CN" baseline="-25000" dirty="0">
                <a:cs typeface="Times New Roman" panose="02020603050405020304" pitchFamily="18" charset="0"/>
              </a:rPr>
              <a:t>2</a:t>
            </a:r>
            <a:r>
              <a:rPr lang="en-US" altLang="zh-CN" dirty="0">
                <a:cs typeface="Times New Roman" panose="02020603050405020304" pitchFamily="18" charset="0"/>
              </a:rPr>
              <a:t>)</a:t>
            </a:r>
            <a:r>
              <a:rPr lang="zh-CN" altLang="en-US" dirty="0">
                <a:cs typeface="Times New Roman" panose="02020603050405020304" pitchFamily="18" charset="0"/>
              </a:rPr>
              <a:t>－</a:t>
            </a:r>
            <a:r>
              <a:rPr lang="en-US" altLang="zh-CN" dirty="0">
                <a:cs typeface="Times New Roman" panose="02020603050405020304" pitchFamily="18" charset="0"/>
              </a:rPr>
              <a:t>F(x</a:t>
            </a:r>
            <a:r>
              <a:rPr lang="en-US" altLang="zh-CN" baseline="-25000" dirty="0">
                <a:cs typeface="Times New Roman" panose="02020603050405020304" pitchFamily="18" charset="0"/>
              </a:rPr>
              <a:t>1</a:t>
            </a:r>
            <a:r>
              <a:rPr lang="en-US" altLang="zh-CN" dirty="0">
                <a:cs typeface="Times New Roman" panose="02020603050405020304" pitchFamily="18" charset="0"/>
              </a:rPr>
              <a:t>, y</a:t>
            </a:r>
            <a:r>
              <a:rPr lang="en-US" altLang="zh-CN" baseline="-25000" dirty="0">
                <a:cs typeface="Times New Roman" panose="02020603050405020304" pitchFamily="18" charset="0"/>
              </a:rPr>
              <a:t>2</a:t>
            </a:r>
            <a:r>
              <a:rPr lang="en-US" altLang="zh-CN" dirty="0">
                <a:cs typeface="Times New Roman" panose="02020603050405020304" pitchFamily="18" charset="0"/>
              </a:rPr>
              <a:t>)</a:t>
            </a:r>
            <a:r>
              <a:rPr lang="zh-CN" altLang="en-US" dirty="0">
                <a:cs typeface="Times New Roman" panose="02020603050405020304" pitchFamily="18" charset="0"/>
              </a:rPr>
              <a:t>－</a:t>
            </a:r>
            <a:r>
              <a:rPr lang="en-US" altLang="zh-CN" dirty="0">
                <a:cs typeface="Times New Roman" panose="02020603050405020304" pitchFamily="18" charset="0"/>
              </a:rPr>
              <a:t>F(x</a:t>
            </a:r>
            <a:r>
              <a:rPr lang="en-US" altLang="zh-CN" baseline="-25000" dirty="0">
                <a:cs typeface="Times New Roman" panose="02020603050405020304" pitchFamily="18" charset="0"/>
              </a:rPr>
              <a:t>2</a:t>
            </a:r>
            <a:r>
              <a:rPr lang="en-US" altLang="zh-CN" dirty="0">
                <a:cs typeface="Times New Roman" panose="02020603050405020304" pitchFamily="18" charset="0"/>
              </a:rPr>
              <a:t>, y</a:t>
            </a:r>
            <a:r>
              <a:rPr lang="en-US" altLang="zh-CN" baseline="-25000" dirty="0">
                <a:cs typeface="Times New Roman" panose="02020603050405020304" pitchFamily="18" charset="0"/>
              </a:rPr>
              <a:t>1</a:t>
            </a:r>
            <a:r>
              <a:rPr lang="en-US" altLang="zh-CN" dirty="0">
                <a:cs typeface="Times New Roman" panose="02020603050405020304" pitchFamily="18" charset="0"/>
              </a:rPr>
              <a:t>)</a:t>
            </a:r>
            <a:r>
              <a:rPr lang="zh-CN" altLang="en-US" dirty="0">
                <a:cs typeface="Times New Roman" panose="02020603050405020304" pitchFamily="18" charset="0"/>
              </a:rPr>
              <a:t>＋</a:t>
            </a:r>
            <a:r>
              <a:rPr lang="en-US" altLang="zh-CN" dirty="0">
                <a:cs typeface="Times New Roman" panose="02020603050405020304" pitchFamily="18" charset="0"/>
              </a:rPr>
              <a:t>F(x</a:t>
            </a:r>
            <a:r>
              <a:rPr lang="en-US" altLang="zh-CN" baseline="-25000" dirty="0">
                <a:cs typeface="Times New Roman" panose="02020603050405020304" pitchFamily="18" charset="0"/>
              </a:rPr>
              <a:t>1</a:t>
            </a:r>
            <a:r>
              <a:rPr lang="en-US" altLang="zh-CN" dirty="0">
                <a:cs typeface="Times New Roman" panose="02020603050405020304" pitchFamily="18" charset="0"/>
              </a:rPr>
              <a:t>, y</a:t>
            </a:r>
            <a:r>
              <a:rPr lang="en-US" altLang="zh-CN" baseline="-25000" dirty="0">
                <a:cs typeface="Times New Roman" panose="02020603050405020304" pitchFamily="18" charset="0"/>
              </a:rPr>
              <a:t>1</a:t>
            </a:r>
            <a:r>
              <a:rPr lang="en-US" altLang="zh-CN" dirty="0">
                <a:cs typeface="Times New Roman" panose="02020603050405020304" pitchFamily="18" charset="0"/>
              </a:rPr>
              <a:t>) ≥ 0</a:t>
            </a:r>
            <a:r>
              <a:rPr lang="zh-CN" altLang="en-US" dirty="0">
                <a:cs typeface="Times New Roman" panose="02020603050405020304" pitchFamily="18" charset="0"/>
              </a:rPr>
              <a:t>。</a:t>
            </a:r>
          </a:p>
        </p:txBody>
      </p:sp>
      <p:grpSp>
        <p:nvGrpSpPr>
          <p:cNvPr id="30732" name="组合 30731">
            <a:extLst>
              <a:ext uri="{FF2B5EF4-FFF2-40B4-BE49-F238E27FC236}">
                <a16:creationId xmlns:a16="http://schemas.microsoft.com/office/drawing/2014/main" id="{04F71247-910C-ADE4-CD75-BE38976E49CD}"/>
              </a:ext>
            </a:extLst>
          </p:cNvPr>
          <p:cNvGrpSpPr/>
          <p:nvPr/>
        </p:nvGrpSpPr>
        <p:grpSpPr>
          <a:xfrm>
            <a:off x="7170144" y="1629901"/>
            <a:ext cx="3810000" cy="3352800"/>
            <a:chOff x="7170144" y="1629901"/>
            <a:chExt cx="3810000" cy="3352800"/>
          </a:xfrm>
        </p:grpSpPr>
        <p:cxnSp>
          <p:nvCxnSpPr>
            <p:cNvPr id="3" name="直接箭头连接符 2">
              <a:extLst>
                <a:ext uri="{FF2B5EF4-FFF2-40B4-BE49-F238E27FC236}">
                  <a16:creationId xmlns:a16="http://schemas.microsoft.com/office/drawing/2014/main" id="{A373DA5A-E183-6C92-2E82-15B83B5282F0}"/>
                </a:ext>
              </a:extLst>
            </p:cNvPr>
            <p:cNvCxnSpPr/>
            <p:nvPr/>
          </p:nvCxnSpPr>
          <p:spPr>
            <a:xfrm>
              <a:off x="7170144" y="3983701"/>
              <a:ext cx="3810000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CA64D8D6-AC97-F111-4D21-810AEB97A5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46542" y="1629901"/>
              <a:ext cx="0" cy="3352800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F0C3E0AD-31CA-1FAC-62D3-BD1115E750BB}"/>
                </a:ext>
              </a:extLst>
            </p:cNvPr>
            <p:cNvGrpSpPr/>
            <p:nvPr/>
          </p:nvGrpSpPr>
          <p:grpSpPr>
            <a:xfrm>
              <a:off x="9684744" y="3907501"/>
              <a:ext cx="457200" cy="533683"/>
              <a:chOff x="10518775" y="3886994"/>
              <a:chExt cx="457200" cy="533683"/>
            </a:xfrm>
          </p:grpSpPr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A56A8092-C11C-E484-64EA-9D7A3B359EFD}"/>
                  </a:ext>
                </a:extLst>
              </p:cNvPr>
              <p:cNvSpPr/>
              <p:nvPr/>
            </p:nvSpPr>
            <p:spPr>
              <a:xfrm>
                <a:off x="10594974" y="3886994"/>
                <a:ext cx="144000" cy="144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A4DA428-DEDD-60F0-040E-72775D5B206A}"/>
                  </a:ext>
                </a:extLst>
              </p:cNvPr>
              <p:cNvSpPr txBox="1"/>
              <p:nvPr/>
            </p:nvSpPr>
            <p:spPr>
              <a:xfrm>
                <a:off x="10518775" y="3963477"/>
                <a:ext cx="457200" cy="457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92B24514-0AF2-B811-B5B7-63985F6CBBCC}"/>
                </a:ext>
              </a:extLst>
            </p:cNvPr>
            <p:cNvGrpSpPr/>
            <p:nvPr/>
          </p:nvGrpSpPr>
          <p:grpSpPr>
            <a:xfrm>
              <a:off x="10332444" y="3907501"/>
              <a:ext cx="457200" cy="533683"/>
              <a:chOff x="10518775" y="3886994"/>
              <a:chExt cx="457200" cy="533683"/>
            </a:xfrm>
          </p:grpSpPr>
          <p:sp>
            <p:nvSpPr>
              <p:cNvPr id="14" name="椭圆 13">
                <a:extLst>
                  <a:ext uri="{FF2B5EF4-FFF2-40B4-BE49-F238E27FC236}">
                    <a16:creationId xmlns:a16="http://schemas.microsoft.com/office/drawing/2014/main" id="{923A0BC4-3976-5AE5-6D21-8C77D473979C}"/>
                  </a:ext>
                </a:extLst>
              </p:cNvPr>
              <p:cNvSpPr/>
              <p:nvPr/>
            </p:nvSpPr>
            <p:spPr>
              <a:xfrm>
                <a:off x="10594974" y="3886994"/>
                <a:ext cx="144000" cy="144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C0843B78-F1AA-3996-228D-1A206E759CC0}"/>
                  </a:ext>
                </a:extLst>
              </p:cNvPr>
              <p:cNvSpPr txBox="1"/>
              <p:nvPr/>
            </p:nvSpPr>
            <p:spPr>
              <a:xfrm>
                <a:off x="10518775" y="3963477"/>
                <a:ext cx="457200" cy="457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D74122F7-3DCC-931D-9A22-4F16BBB63F06}"/>
                </a:ext>
              </a:extLst>
            </p:cNvPr>
            <p:cNvGrpSpPr/>
            <p:nvPr/>
          </p:nvGrpSpPr>
          <p:grpSpPr>
            <a:xfrm>
              <a:off x="8317344" y="3102566"/>
              <a:ext cx="601200" cy="461665"/>
              <a:chOff x="9151375" y="3082059"/>
              <a:chExt cx="601200" cy="461665"/>
            </a:xfrm>
          </p:grpSpPr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60FDE9D4-2FD3-5D33-4000-24D57C4CDF07}"/>
                  </a:ext>
                </a:extLst>
              </p:cNvPr>
              <p:cNvSpPr/>
              <p:nvPr/>
            </p:nvSpPr>
            <p:spPr>
              <a:xfrm>
                <a:off x="9608575" y="3285794"/>
                <a:ext cx="144000" cy="144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77E184B3-4F28-BF05-C5F3-97EF4B606202}"/>
                  </a:ext>
                </a:extLst>
              </p:cNvPr>
              <p:cNvSpPr txBox="1"/>
              <p:nvPr/>
            </p:nvSpPr>
            <p:spPr>
              <a:xfrm>
                <a:off x="9151375" y="3082059"/>
                <a:ext cx="457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2E76A710-6C32-795D-F3E7-A2731D70BC58}"/>
                </a:ext>
              </a:extLst>
            </p:cNvPr>
            <p:cNvGrpSpPr/>
            <p:nvPr/>
          </p:nvGrpSpPr>
          <p:grpSpPr>
            <a:xfrm>
              <a:off x="8303509" y="2289755"/>
              <a:ext cx="601200" cy="461665"/>
              <a:chOff x="9151375" y="3082059"/>
              <a:chExt cx="601200" cy="461665"/>
            </a:xfrm>
          </p:grpSpPr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95474436-38C0-B1E1-CED1-EEC98ED7C0E6}"/>
                  </a:ext>
                </a:extLst>
              </p:cNvPr>
              <p:cNvSpPr/>
              <p:nvPr/>
            </p:nvSpPr>
            <p:spPr>
              <a:xfrm>
                <a:off x="9608575" y="3285794"/>
                <a:ext cx="144000" cy="144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DB49C593-D295-2155-40C1-DD3AE4E313CF}"/>
                  </a:ext>
                </a:extLst>
              </p:cNvPr>
              <p:cNvSpPr txBox="1"/>
              <p:nvPr/>
            </p:nvSpPr>
            <p:spPr>
              <a:xfrm>
                <a:off x="9151375" y="3082059"/>
                <a:ext cx="457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</p:grpSp>
      </p:grpSp>
      <p:grpSp>
        <p:nvGrpSpPr>
          <p:cNvPr id="30730" name="组合 30729">
            <a:extLst>
              <a:ext uri="{FF2B5EF4-FFF2-40B4-BE49-F238E27FC236}">
                <a16:creationId xmlns:a16="http://schemas.microsoft.com/office/drawing/2014/main" id="{4BED6E4C-EA79-FF4A-271B-EDE707CEF024}"/>
              </a:ext>
            </a:extLst>
          </p:cNvPr>
          <p:cNvGrpSpPr/>
          <p:nvPr/>
        </p:nvGrpSpPr>
        <p:grpSpPr>
          <a:xfrm>
            <a:off x="8872100" y="3122910"/>
            <a:ext cx="2853300" cy="850097"/>
            <a:chOff x="8846543" y="3132809"/>
            <a:chExt cx="2853300" cy="850097"/>
          </a:xfrm>
        </p:grpSpPr>
        <p:sp>
          <p:nvSpPr>
            <p:cNvPr id="30721" name="椭圆 30720">
              <a:extLst>
                <a:ext uri="{FF2B5EF4-FFF2-40B4-BE49-F238E27FC236}">
                  <a16:creationId xmlns:a16="http://schemas.microsoft.com/office/drawing/2014/main" id="{7303495C-BF3D-7075-1946-13BB421B0E3F}"/>
                </a:ext>
              </a:extLst>
            </p:cNvPr>
            <p:cNvSpPr/>
            <p:nvPr/>
          </p:nvSpPr>
          <p:spPr>
            <a:xfrm>
              <a:off x="10374742" y="3295561"/>
              <a:ext cx="144000" cy="144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0729" name="组合 30728">
              <a:extLst>
                <a:ext uri="{FF2B5EF4-FFF2-40B4-BE49-F238E27FC236}">
                  <a16:creationId xmlns:a16="http://schemas.microsoft.com/office/drawing/2014/main" id="{F0C6EE5C-0280-13A6-F806-5E2594F205C7}"/>
                </a:ext>
              </a:extLst>
            </p:cNvPr>
            <p:cNvGrpSpPr/>
            <p:nvPr/>
          </p:nvGrpSpPr>
          <p:grpSpPr>
            <a:xfrm>
              <a:off x="8846543" y="3132809"/>
              <a:ext cx="2853300" cy="850097"/>
              <a:chOff x="8846543" y="3132809"/>
              <a:chExt cx="2853300" cy="850097"/>
            </a:xfrm>
          </p:grpSpPr>
          <p:sp>
            <p:nvSpPr>
              <p:cNvPr id="30720" name="矩形 30719">
                <a:extLst>
                  <a:ext uri="{FF2B5EF4-FFF2-40B4-BE49-F238E27FC236}">
                    <a16:creationId xmlns:a16="http://schemas.microsoft.com/office/drawing/2014/main" id="{F618300E-82C0-C23D-B216-591391E62801}"/>
                  </a:ext>
                </a:extLst>
              </p:cNvPr>
              <p:cNvSpPr/>
              <p:nvPr/>
            </p:nvSpPr>
            <p:spPr>
              <a:xfrm>
                <a:off x="8846543" y="3381707"/>
                <a:ext cx="1600199" cy="601199"/>
              </a:xfrm>
              <a:prstGeom prst="rect">
                <a:avLst/>
              </a:prstGeom>
              <a:solidFill>
                <a:schemeClr val="accent1">
                  <a:alpha val="81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722" name="文本框 30721">
                <a:extLst>
                  <a:ext uri="{FF2B5EF4-FFF2-40B4-BE49-F238E27FC236}">
                    <a16:creationId xmlns:a16="http://schemas.microsoft.com/office/drawing/2014/main" id="{6AC4837C-E4A6-F50A-9234-D5B6550CD96B}"/>
                  </a:ext>
                </a:extLst>
              </p:cNvPr>
              <p:cNvSpPr txBox="1"/>
              <p:nvPr/>
            </p:nvSpPr>
            <p:spPr>
              <a:xfrm>
                <a:off x="10480643" y="3132809"/>
                <a:ext cx="1219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(x</a:t>
                </a:r>
                <a:r>
                  <a:rPr lang="en-US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,y</a:t>
                </a:r>
                <a:r>
                  <a:rPr lang="en-US" altLang="zh-CN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p:grpSp>
      </p:grpSp>
      <p:grpSp>
        <p:nvGrpSpPr>
          <p:cNvPr id="30731" name="组合 30730">
            <a:extLst>
              <a:ext uri="{FF2B5EF4-FFF2-40B4-BE49-F238E27FC236}">
                <a16:creationId xmlns:a16="http://schemas.microsoft.com/office/drawing/2014/main" id="{4AC2CCCF-FC96-A1BB-DFD9-1C78C73925C8}"/>
              </a:ext>
            </a:extLst>
          </p:cNvPr>
          <p:cNvGrpSpPr/>
          <p:nvPr/>
        </p:nvGrpSpPr>
        <p:grpSpPr>
          <a:xfrm>
            <a:off x="8866633" y="2038699"/>
            <a:ext cx="1560829" cy="1955697"/>
            <a:chOff x="8857730" y="2023519"/>
            <a:chExt cx="1560829" cy="1955697"/>
          </a:xfrm>
        </p:grpSpPr>
        <p:grpSp>
          <p:nvGrpSpPr>
            <p:cNvPr id="30728" name="组合 30727">
              <a:extLst>
                <a:ext uri="{FF2B5EF4-FFF2-40B4-BE49-F238E27FC236}">
                  <a16:creationId xmlns:a16="http://schemas.microsoft.com/office/drawing/2014/main" id="{A8D1764A-1980-EC66-53C4-131F6006C39D}"/>
                </a:ext>
              </a:extLst>
            </p:cNvPr>
            <p:cNvGrpSpPr/>
            <p:nvPr/>
          </p:nvGrpSpPr>
          <p:grpSpPr>
            <a:xfrm>
              <a:off x="8857730" y="2023519"/>
              <a:ext cx="1560829" cy="1955697"/>
              <a:chOff x="8881711" y="2003763"/>
              <a:chExt cx="1560829" cy="1955697"/>
            </a:xfrm>
          </p:grpSpPr>
          <p:sp>
            <p:nvSpPr>
              <p:cNvPr id="30723" name="矩形 30722">
                <a:extLst>
                  <a:ext uri="{FF2B5EF4-FFF2-40B4-BE49-F238E27FC236}">
                    <a16:creationId xmlns:a16="http://schemas.microsoft.com/office/drawing/2014/main" id="{E231BE09-D2DF-DD6B-25C1-4176E4BCDB68}"/>
                  </a:ext>
                </a:extLst>
              </p:cNvPr>
              <p:cNvSpPr/>
              <p:nvPr/>
            </p:nvSpPr>
            <p:spPr>
              <a:xfrm>
                <a:off x="8881711" y="2515861"/>
                <a:ext cx="986398" cy="1443599"/>
              </a:xfrm>
              <a:prstGeom prst="rect">
                <a:avLst/>
              </a:prstGeom>
              <a:solidFill>
                <a:schemeClr val="accent3">
                  <a:alpha val="81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725" name="文本框 30724">
                <a:extLst>
                  <a:ext uri="{FF2B5EF4-FFF2-40B4-BE49-F238E27FC236}">
                    <a16:creationId xmlns:a16="http://schemas.microsoft.com/office/drawing/2014/main" id="{11635FEB-CE48-00F7-E9BC-93EDE92D3304}"/>
                  </a:ext>
                </a:extLst>
              </p:cNvPr>
              <p:cNvSpPr txBox="1"/>
              <p:nvPr/>
            </p:nvSpPr>
            <p:spPr>
              <a:xfrm>
                <a:off x="9223340" y="2003763"/>
                <a:ext cx="1219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(x</a:t>
                </a:r>
                <a:r>
                  <a:rPr lang="en-US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,y</a:t>
                </a:r>
                <a:r>
                  <a:rPr lang="en-US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p:grpSp>
        <p:sp>
          <p:nvSpPr>
            <p:cNvPr id="30727" name="椭圆 30726">
              <a:extLst>
                <a:ext uri="{FF2B5EF4-FFF2-40B4-BE49-F238E27FC236}">
                  <a16:creationId xmlns:a16="http://schemas.microsoft.com/office/drawing/2014/main" id="{5F7312EE-B1B1-1C71-779C-E9DCE3AAC998}"/>
                </a:ext>
              </a:extLst>
            </p:cNvPr>
            <p:cNvSpPr/>
            <p:nvPr/>
          </p:nvSpPr>
          <p:spPr>
            <a:xfrm>
              <a:off x="9747007" y="2449180"/>
              <a:ext cx="144000" cy="144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0735" name="组合 30734">
            <a:extLst>
              <a:ext uri="{FF2B5EF4-FFF2-40B4-BE49-F238E27FC236}">
                <a16:creationId xmlns:a16="http://schemas.microsoft.com/office/drawing/2014/main" id="{C8225533-910B-F4B8-200B-2B49D43E9B2B}"/>
              </a:ext>
            </a:extLst>
          </p:cNvPr>
          <p:cNvGrpSpPr/>
          <p:nvPr/>
        </p:nvGrpSpPr>
        <p:grpSpPr>
          <a:xfrm>
            <a:off x="8843187" y="2942164"/>
            <a:ext cx="1629112" cy="1072027"/>
            <a:chOff x="8843187" y="2942164"/>
            <a:chExt cx="1629112" cy="1072027"/>
          </a:xfrm>
        </p:grpSpPr>
        <p:sp>
          <p:nvSpPr>
            <p:cNvPr id="30733" name="矩形 30732">
              <a:extLst>
                <a:ext uri="{FF2B5EF4-FFF2-40B4-BE49-F238E27FC236}">
                  <a16:creationId xmlns:a16="http://schemas.microsoft.com/office/drawing/2014/main" id="{D5A1B32A-3CD6-AF57-4381-185E91170DF4}"/>
                </a:ext>
              </a:extLst>
            </p:cNvPr>
            <p:cNvSpPr/>
            <p:nvPr/>
          </p:nvSpPr>
          <p:spPr>
            <a:xfrm>
              <a:off x="8843187" y="3363864"/>
              <a:ext cx="986398" cy="650327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34" name="文本框 30733">
              <a:extLst>
                <a:ext uri="{FF2B5EF4-FFF2-40B4-BE49-F238E27FC236}">
                  <a16:creationId xmlns:a16="http://schemas.microsoft.com/office/drawing/2014/main" id="{3DB6FF57-106D-67A6-5308-EA423CCCEAAE}"/>
                </a:ext>
              </a:extLst>
            </p:cNvPr>
            <p:cNvSpPr txBox="1"/>
            <p:nvPr/>
          </p:nvSpPr>
          <p:spPr>
            <a:xfrm>
              <a:off x="9353335" y="2942164"/>
              <a:ext cx="1118964" cy="47639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(x</a:t>
              </a:r>
              <a:r>
                <a:rPr 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,y</a:t>
              </a:r>
              <a:r>
                <a:rPr lang="en-US" altLang="zh-CN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</p:grp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1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1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1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1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71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1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1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1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1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1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71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71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0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9" dur="2000"/>
                                        <p:tgtEl>
                                          <p:spTgt spid="30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0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30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1715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黑体" panose="02010609060101010101" pitchFamily="49" charset="-122"/>
                <a:cs typeface="Times New Roman" panose="02020603050405020304" pitchFamily="18" charset="0"/>
              </a:rPr>
              <a:t>离散型二维随机变量</a:t>
            </a:r>
          </a:p>
        </p:txBody>
      </p:sp>
      <p:sp>
        <p:nvSpPr>
          <p:cNvPr id="372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917" y="1096431"/>
            <a:ext cx="11280458" cy="3933148"/>
          </a:xfrm>
        </p:spPr>
        <p:txBody>
          <a:bodyPr>
            <a:normAutofit/>
          </a:bodyPr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cs typeface="Times New Roman" panose="02020603050405020304" pitchFamily="18" charset="0"/>
              </a:rPr>
              <a:t>如果二维若随机变量</a:t>
            </a:r>
            <a:r>
              <a:rPr lang="en-US" altLang="zh-CN" dirty="0">
                <a:cs typeface="Times New Roman" panose="02020603050405020304" pitchFamily="18" charset="0"/>
              </a:rPr>
              <a:t>(X, Y)</a:t>
            </a:r>
            <a:r>
              <a:rPr lang="zh-CN" altLang="en-US" dirty="0">
                <a:solidFill>
                  <a:srgbClr val="C00000"/>
                </a:solidFill>
                <a:cs typeface="Times New Roman" panose="02020603050405020304" pitchFamily="18" charset="0"/>
              </a:rPr>
              <a:t>至多只取可列无穷多对数值</a:t>
            </a:r>
            <a:r>
              <a:rPr lang="en-US" altLang="zh-CN" dirty="0">
                <a:cs typeface="Times New Roman" panose="02020603050405020304" pitchFamily="18" charset="0"/>
              </a:rPr>
              <a:t>(x</a:t>
            </a:r>
            <a:r>
              <a:rPr lang="en-US" altLang="zh-CN" baseline="-25000" dirty="0">
                <a:cs typeface="Times New Roman" panose="02020603050405020304" pitchFamily="18" charset="0"/>
              </a:rPr>
              <a:t>i</a:t>
            </a:r>
            <a:r>
              <a:rPr lang="en-US" altLang="zh-CN" dirty="0"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cs typeface="Times New Roman" panose="02020603050405020304" pitchFamily="18" charset="0"/>
              </a:rPr>
              <a:t>y</a:t>
            </a:r>
            <a:r>
              <a:rPr lang="en-US" altLang="zh-CN" baseline="-25000" dirty="0" err="1">
                <a:cs typeface="Times New Roman" panose="02020603050405020304" pitchFamily="18" charset="0"/>
              </a:rPr>
              <a:t>j</a:t>
            </a:r>
            <a:r>
              <a:rPr lang="en-US" altLang="zh-CN" dirty="0">
                <a:cs typeface="Times New Roman" panose="02020603050405020304" pitchFamily="18" charset="0"/>
              </a:rPr>
              <a:t>)</a:t>
            </a:r>
            <a:r>
              <a:rPr lang="zh-CN" altLang="en-US" dirty="0">
                <a:cs typeface="Times New Roman" panose="02020603050405020304" pitchFamily="18" charset="0"/>
              </a:rPr>
              <a:t>，</a:t>
            </a:r>
            <a:r>
              <a:rPr lang="en-US" altLang="zh-CN" dirty="0" err="1">
                <a:cs typeface="Times New Roman" panose="02020603050405020304" pitchFamily="18" charset="0"/>
              </a:rPr>
              <a:t>i</a:t>
            </a:r>
            <a:r>
              <a:rPr lang="en-US" altLang="zh-CN" dirty="0">
                <a:cs typeface="Times New Roman" panose="02020603050405020304" pitchFamily="18" charset="0"/>
              </a:rPr>
              <a:t>, j = 1, 2, …</a:t>
            </a:r>
            <a:r>
              <a:rPr lang="zh-CN" altLang="en-US" dirty="0">
                <a:cs typeface="Times New Roman" panose="02020603050405020304" pitchFamily="18" charset="0"/>
              </a:rPr>
              <a:t>，令</a:t>
            </a:r>
            <a:r>
              <a:rPr lang="en-US" altLang="zh-CN" dirty="0" err="1">
                <a:cs typeface="Times New Roman" panose="02020603050405020304" pitchFamily="18" charset="0"/>
              </a:rPr>
              <a:t>p</a:t>
            </a:r>
            <a:r>
              <a:rPr lang="en-US" altLang="zh-CN" baseline="-25000" dirty="0" err="1">
                <a:cs typeface="Times New Roman" panose="02020603050405020304" pitchFamily="18" charset="0"/>
              </a:rPr>
              <a:t>ij</a:t>
            </a:r>
            <a:r>
              <a:rPr lang="zh-CN" altLang="en-US" dirty="0">
                <a:cs typeface="Times New Roman" panose="02020603050405020304" pitchFamily="18" charset="0"/>
              </a:rPr>
              <a:t>＝</a:t>
            </a:r>
            <a:r>
              <a:rPr lang="en-US" altLang="zh-CN" dirty="0">
                <a:cs typeface="Times New Roman" panose="02020603050405020304" pitchFamily="18" charset="0"/>
              </a:rPr>
              <a:t>P{X</a:t>
            </a:r>
            <a:r>
              <a:rPr lang="zh-CN" altLang="en-US" dirty="0">
                <a:cs typeface="Times New Roman" panose="02020603050405020304" pitchFamily="18" charset="0"/>
              </a:rPr>
              <a:t>＝</a:t>
            </a:r>
            <a:r>
              <a:rPr lang="en-US" altLang="zh-CN" dirty="0"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cs typeface="Times New Roman" panose="02020603050405020304" pitchFamily="18" charset="0"/>
              </a:rPr>
              <a:t>i</a:t>
            </a:r>
            <a:r>
              <a:rPr lang="en-US" altLang="zh-CN" dirty="0">
                <a:cs typeface="Times New Roman" panose="02020603050405020304" pitchFamily="18" charset="0"/>
              </a:rPr>
              <a:t>, Y</a:t>
            </a:r>
            <a:r>
              <a:rPr lang="zh-CN" altLang="en-US" dirty="0">
                <a:cs typeface="Times New Roman" panose="02020603050405020304" pitchFamily="18" charset="0"/>
              </a:rPr>
              <a:t>＝</a:t>
            </a:r>
            <a:r>
              <a:rPr lang="en-US" altLang="zh-CN" dirty="0" err="1">
                <a:cs typeface="Times New Roman" panose="02020603050405020304" pitchFamily="18" charset="0"/>
              </a:rPr>
              <a:t>y</a:t>
            </a:r>
            <a:r>
              <a:rPr lang="en-US" altLang="zh-CN" baseline="-25000" dirty="0" err="1">
                <a:cs typeface="Times New Roman" panose="02020603050405020304" pitchFamily="18" charset="0"/>
              </a:rPr>
              <a:t>j</a:t>
            </a:r>
            <a:r>
              <a:rPr lang="en-US" altLang="zh-CN" dirty="0">
                <a:cs typeface="Times New Roman" panose="02020603050405020304" pitchFamily="18" charset="0"/>
              </a:rPr>
              <a:t>}</a:t>
            </a:r>
            <a:r>
              <a:rPr lang="zh-CN" altLang="en-US" dirty="0">
                <a:cs typeface="Times New Roman" panose="02020603050405020304" pitchFamily="18" charset="0"/>
              </a:rPr>
              <a:t>，它满足：</a:t>
            </a:r>
          </a:p>
          <a:p>
            <a:pPr marL="0" indent="0" eaLnBrk="1" hangingPunct="1">
              <a:spcBef>
                <a:spcPct val="30000"/>
              </a:spcBef>
              <a:spcAft>
                <a:spcPct val="50000"/>
              </a:spcAft>
              <a:buFont typeface="Wingdings" panose="05000000000000000000" pitchFamily="2" charset="2"/>
              <a:buNone/>
            </a:pPr>
            <a:r>
              <a:rPr lang="en-US" altLang="zh-CN" dirty="0">
                <a:cs typeface="Times New Roman" panose="02020603050405020304" pitchFamily="18" charset="0"/>
              </a:rPr>
              <a:t>     (1)  </a:t>
            </a:r>
            <a:r>
              <a:rPr lang="en-US" altLang="zh-CN" dirty="0" err="1">
                <a:cs typeface="Times New Roman" panose="02020603050405020304" pitchFamily="18" charset="0"/>
              </a:rPr>
              <a:t>p</a:t>
            </a:r>
            <a:r>
              <a:rPr lang="en-US" altLang="zh-CN" baseline="-25000" dirty="0" err="1">
                <a:cs typeface="Times New Roman" panose="02020603050405020304" pitchFamily="18" charset="0"/>
              </a:rPr>
              <a:t>ij</a:t>
            </a:r>
            <a:r>
              <a:rPr lang="en-US" altLang="zh-CN" baseline="-25000" dirty="0">
                <a:cs typeface="Times New Roman" panose="02020603050405020304" pitchFamily="18" charset="0"/>
              </a:rPr>
              <a:t> </a:t>
            </a:r>
            <a:r>
              <a:rPr lang="en-US" altLang="zh-CN" dirty="0">
                <a:cs typeface="Times New Roman" panose="02020603050405020304" pitchFamily="18" charset="0"/>
              </a:rPr>
              <a:t>≥ 0</a:t>
            </a:r>
            <a:r>
              <a:rPr lang="zh-CN" altLang="en-US" dirty="0">
                <a:cs typeface="Times New Roman" panose="02020603050405020304" pitchFamily="18" charset="0"/>
              </a:rPr>
              <a:t>，      </a:t>
            </a:r>
            <a:r>
              <a:rPr lang="en-US" altLang="zh-CN" dirty="0">
                <a:cs typeface="Times New Roman" panose="02020603050405020304" pitchFamily="18" charset="0"/>
              </a:rPr>
              <a:t>(2)             </a:t>
            </a:r>
            <a:r>
              <a:rPr lang="zh-CN" altLang="en-US" dirty="0">
                <a:cs typeface="Times New Roman" panose="02020603050405020304" pitchFamily="18" charset="0"/>
              </a:rPr>
              <a:t>＝</a:t>
            </a:r>
            <a:r>
              <a:rPr lang="en-US" altLang="zh-CN" dirty="0">
                <a:cs typeface="Times New Roman" panose="02020603050405020304" pitchFamily="18" charset="0"/>
              </a:rPr>
              <a:t>1</a:t>
            </a:r>
            <a:r>
              <a:rPr lang="zh-CN" altLang="en-US" dirty="0">
                <a:cs typeface="Times New Roman" panose="02020603050405020304" pitchFamily="18" charset="0"/>
              </a:rPr>
              <a:t>，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cs typeface="Times New Roman" panose="02020603050405020304" pitchFamily="18" charset="0"/>
              </a:rPr>
              <a:t>则称</a:t>
            </a:r>
            <a:r>
              <a:rPr lang="en-US" altLang="zh-CN" dirty="0">
                <a:cs typeface="Times New Roman" panose="02020603050405020304" pitchFamily="18" charset="0"/>
              </a:rPr>
              <a:t>(X, Y)</a:t>
            </a:r>
            <a:r>
              <a:rPr lang="zh-CN" altLang="en-US" dirty="0">
                <a:cs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离散型二维随机变量</a:t>
            </a:r>
            <a:r>
              <a:rPr lang="zh-CN" altLang="en-US" dirty="0">
                <a:cs typeface="Times New Roman" panose="02020603050405020304" pitchFamily="18" charset="0"/>
              </a:rPr>
              <a:t>。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cs typeface="Times New Roman" panose="02020603050405020304" pitchFamily="18" charset="0"/>
              </a:rPr>
              <a:t>称    </a:t>
            </a:r>
            <a:r>
              <a:rPr lang="en-US" altLang="zh-CN" dirty="0" err="1">
                <a:cs typeface="Times New Roman" panose="02020603050405020304" pitchFamily="18" charset="0"/>
              </a:rPr>
              <a:t>p</a:t>
            </a:r>
            <a:r>
              <a:rPr lang="en-US" altLang="zh-CN" baseline="-25000" dirty="0" err="1">
                <a:cs typeface="Times New Roman" panose="02020603050405020304" pitchFamily="18" charset="0"/>
              </a:rPr>
              <a:t>ij</a:t>
            </a:r>
            <a:r>
              <a:rPr lang="zh-CN" altLang="en-US" dirty="0">
                <a:cs typeface="Times New Roman" panose="02020603050405020304" pitchFamily="18" charset="0"/>
              </a:rPr>
              <a:t>＝</a:t>
            </a:r>
            <a:r>
              <a:rPr lang="en-US" altLang="zh-CN" dirty="0">
                <a:cs typeface="Times New Roman" panose="02020603050405020304" pitchFamily="18" charset="0"/>
              </a:rPr>
              <a:t>P{X</a:t>
            </a:r>
            <a:r>
              <a:rPr lang="zh-CN" altLang="en-US" dirty="0">
                <a:cs typeface="Times New Roman" panose="02020603050405020304" pitchFamily="18" charset="0"/>
              </a:rPr>
              <a:t>＝</a:t>
            </a:r>
            <a:r>
              <a:rPr lang="en-US" altLang="zh-CN" dirty="0"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cs typeface="Times New Roman" panose="02020603050405020304" pitchFamily="18" charset="0"/>
              </a:rPr>
              <a:t>i</a:t>
            </a:r>
            <a:r>
              <a:rPr lang="en-US" altLang="zh-CN" dirty="0">
                <a:cs typeface="Times New Roman" panose="02020603050405020304" pitchFamily="18" charset="0"/>
              </a:rPr>
              <a:t>, Y</a:t>
            </a:r>
            <a:r>
              <a:rPr lang="zh-CN" altLang="en-US" dirty="0">
                <a:cs typeface="Times New Roman" panose="02020603050405020304" pitchFamily="18" charset="0"/>
              </a:rPr>
              <a:t>＝</a:t>
            </a:r>
            <a:r>
              <a:rPr lang="en-US" altLang="zh-CN" dirty="0" err="1">
                <a:cs typeface="Times New Roman" panose="02020603050405020304" pitchFamily="18" charset="0"/>
              </a:rPr>
              <a:t>y</a:t>
            </a:r>
            <a:r>
              <a:rPr lang="en-US" altLang="zh-CN" baseline="-25000" dirty="0" err="1">
                <a:cs typeface="Times New Roman" panose="02020603050405020304" pitchFamily="18" charset="0"/>
              </a:rPr>
              <a:t>j</a:t>
            </a:r>
            <a:r>
              <a:rPr lang="en-US" altLang="zh-CN" dirty="0">
                <a:cs typeface="Times New Roman" panose="02020603050405020304" pitchFamily="18" charset="0"/>
              </a:rPr>
              <a:t>}</a:t>
            </a:r>
            <a:r>
              <a:rPr lang="zh-CN" altLang="en-US" dirty="0">
                <a:cs typeface="Times New Roman" panose="02020603050405020304" pitchFamily="18" charset="0"/>
              </a:rPr>
              <a:t>，</a:t>
            </a:r>
            <a:r>
              <a:rPr lang="en-US" altLang="zh-CN" dirty="0" err="1">
                <a:cs typeface="Times New Roman" panose="02020603050405020304" pitchFamily="18" charset="0"/>
              </a:rPr>
              <a:t>i</a:t>
            </a:r>
            <a:r>
              <a:rPr lang="en-US" altLang="zh-CN" dirty="0">
                <a:cs typeface="Times New Roman" panose="02020603050405020304" pitchFamily="18" charset="0"/>
              </a:rPr>
              <a:t>, j = 1, 2, … </a:t>
            </a:r>
            <a:r>
              <a:rPr lang="zh-CN" altLang="en-US" dirty="0">
                <a:cs typeface="Times New Roman" panose="02020603050405020304" pitchFamily="18" charset="0"/>
              </a:rPr>
              <a:t>为</a:t>
            </a:r>
            <a:r>
              <a:rPr lang="en-US" altLang="zh-CN" dirty="0">
                <a:cs typeface="Times New Roman" panose="02020603050405020304" pitchFamily="18" charset="0"/>
              </a:rPr>
              <a:t>(X, Y)</a:t>
            </a:r>
            <a:r>
              <a:rPr lang="zh-CN" altLang="en-US" dirty="0">
                <a:cs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联合分布律</a:t>
            </a:r>
            <a:r>
              <a:rPr lang="zh-CN" altLang="en-US" dirty="0">
                <a:cs typeface="Times New Roman" panose="02020603050405020304" pitchFamily="18" charset="0"/>
              </a:rPr>
              <a:t>。称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2740" name="Object 4"/>
              <p:cNvSpPr txBox="1"/>
              <p:nvPr/>
            </p:nvSpPr>
            <p:spPr bwMode="auto">
              <a:xfrm>
                <a:off x="3965575" y="2294305"/>
                <a:ext cx="1216306" cy="94636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𝒊𝒋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72740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65575" y="2294305"/>
                <a:ext cx="1216306" cy="946369"/>
              </a:xfrm>
              <a:prstGeom prst="rect">
                <a:avLst/>
              </a:prstGeom>
              <a:blipFill rotWithShape="1">
                <a:blip r:embed="rId2"/>
                <a:stretch>
                  <a:fillRect t="-3696" r="23" b="2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2741" name="Rectangle 5"/>
          <p:cNvSpPr>
            <a:spLocks noChangeArrowheads="1"/>
          </p:cNvSpPr>
          <p:nvPr/>
        </p:nvSpPr>
        <p:spPr bwMode="auto">
          <a:xfrm>
            <a:off x="719728" y="5967343"/>
            <a:ext cx="37994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</a:rPr>
              <a:t>为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</a:rPr>
              <a:t>(X, Y)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联合分布函数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2742" name="Object 6"/>
              <p:cNvSpPr txBox="1"/>
              <p:nvPr/>
            </p:nvSpPr>
            <p:spPr bwMode="auto">
              <a:xfrm>
                <a:off x="993775" y="4483625"/>
                <a:ext cx="7696200" cy="148371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sub>
                            <m:sup/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𝒊𝒋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72742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775" y="4483625"/>
                <a:ext cx="7696200" cy="14837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E3CBD828-F522-7170-91FA-4A406B5FF7DB}"/>
              </a:ext>
            </a:extLst>
          </p:cNvPr>
          <p:cNvSpPr txBox="1"/>
          <p:nvPr/>
        </p:nvSpPr>
        <p:spPr>
          <a:xfrm>
            <a:off x="5646655" y="2974156"/>
            <a:ext cx="6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2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2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2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2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72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2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72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2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72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72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72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72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2739" grpId="0" uiExpand="1" build="p"/>
      <p:bldP spid="372740" grpId="0"/>
      <p:bldP spid="372741" grpId="0"/>
      <p:bldP spid="37274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>
          <a:xfrm>
            <a:off x="846300" y="340923"/>
            <a:ext cx="5334000" cy="429419"/>
          </a:xfrm>
        </p:spPr>
        <p:txBody>
          <a:bodyPr/>
          <a:lstStyle/>
          <a:p>
            <a:pPr eaLnBrk="1" hangingPunct="1"/>
            <a:r>
              <a:rPr lang="zh-CN" altLang="en-US">
                <a:ea typeface="黑体" panose="02010609060101010101" pitchFamily="49" charset="-122"/>
              </a:rPr>
              <a:t>边缘分布律、条件分布律</a:t>
            </a:r>
          </a:p>
        </p:txBody>
      </p:sp>
      <p:sp>
        <p:nvSpPr>
          <p:cNvPr id="373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5335" y="2508139"/>
            <a:ext cx="756102" cy="735690"/>
          </a:xfrm>
        </p:spPr>
        <p:txBody>
          <a:bodyPr>
            <a:noAutofit/>
          </a:bodyPr>
          <a:lstStyle/>
          <a:p>
            <a:pPr marL="0" indent="0"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3764" name="Object 4"/>
              <p:cNvSpPr txBox="1"/>
              <p:nvPr/>
            </p:nvSpPr>
            <p:spPr bwMode="auto">
              <a:xfrm>
                <a:off x="1025228" y="683941"/>
                <a:ext cx="6934200" cy="216803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}=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=1,2,⋯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376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25228" y="683941"/>
                <a:ext cx="6934200" cy="21680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3765" name="Rectangle 5"/>
          <p:cNvSpPr>
            <a:spLocks noChangeArrowheads="1"/>
          </p:cNvSpPr>
          <p:nvPr/>
        </p:nvSpPr>
        <p:spPr bwMode="auto">
          <a:xfrm>
            <a:off x="6135714" y="2626254"/>
            <a:ext cx="4573058" cy="561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8" tIns="36008" rIns="36008" bIns="36008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ea"/>
                <a:ea typeface="+mn-ea"/>
              </a:rPr>
              <a:t>为</a:t>
            </a:r>
            <a:r>
              <a:rPr lang="en-US" altLang="zh-CN" sz="2400" dirty="0">
                <a:latin typeface="+mn-ea"/>
                <a:ea typeface="+mn-ea"/>
              </a:rPr>
              <a:t>R.V.Y</a:t>
            </a:r>
            <a:r>
              <a:rPr lang="zh-CN" altLang="en-US" sz="2400" dirty="0">
                <a:latin typeface="+mn-ea"/>
                <a:ea typeface="+mn-ea"/>
              </a:rPr>
              <a:t>的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边缘分布律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3766" name="Object 6"/>
              <p:cNvSpPr txBox="1"/>
              <p:nvPr/>
            </p:nvSpPr>
            <p:spPr bwMode="auto">
              <a:xfrm>
                <a:off x="954114" y="1899963"/>
                <a:ext cx="5181600" cy="164169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}=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=1,2,⋯</m:t>
                      </m:r>
                    </m:oMath>
                  </m:oMathPara>
                </a14:m>
                <a:endParaRPr lang="en-US" dirty="0">
                  <a:latin typeface="+mn-ea"/>
                </a:endParaRPr>
              </a:p>
            </p:txBody>
          </p:sp>
        </mc:Choice>
        <mc:Fallback xmlns="">
          <p:sp>
            <p:nvSpPr>
              <p:cNvPr id="37376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54114" y="1899963"/>
                <a:ext cx="5181600" cy="16416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3767" name="Rectangle 7"/>
          <p:cNvSpPr>
            <a:spLocks noChangeArrowheads="1"/>
          </p:cNvSpPr>
          <p:nvPr/>
        </p:nvSpPr>
        <p:spPr bwMode="auto">
          <a:xfrm>
            <a:off x="569607" y="4692335"/>
            <a:ext cx="611830" cy="561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8" tIns="36008" rIns="36008" bIns="36008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ea"/>
                <a:ea typeface="+mn-ea"/>
              </a:rPr>
              <a:t>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3768" name="Object 8"/>
              <p:cNvSpPr txBox="1"/>
              <p:nvPr/>
            </p:nvSpPr>
            <p:spPr bwMode="auto">
              <a:xfrm>
                <a:off x="942796" y="3331845"/>
                <a:ext cx="3450436" cy="92572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=1,2,⋯</m:t>
                      </m:r>
                    </m:oMath>
                  </m:oMathPara>
                </a14:m>
                <a:endParaRPr lang="en-US" dirty="0">
                  <a:latin typeface="+mn-ea"/>
                </a:endParaRPr>
              </a:p>
            </p:txBody>
          </p:sp>
        </mc:Choice>
        <mc:Fallback xmlns="">
          <p:sp>
            <p:nvSpPr>
              <p:cNvPr id="37376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2796" y="3331845"/>
                <a:ext cx="3450436" cy="925726"/>
              </a:xfrm>
              <a:prstGeom prst="rect">
                <a:avLst/>
              </a:prstGeom>
              <a:blipFill rotWithShape="1">
                <a:blip r:embed="rId4"/>
                <a:stretch>
                  <a:fillRect l="-13" r="9" b="5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3769" name="Rectangle 9"/>
          <p:cNvSpPr>
            <a:spLocks noChangeArrowheads="1"/>
          </p:cNvSpPr>
          <p:nvPr/>
        </p:nvSpPr>
        <p:spPr bwMode="auto">
          <a:xfrm>
            <a:off x="4595996" y="4630633"/>
            <a:ext cx="7834538" cy="561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8" tIns="36008" rIns="36008" bIns="36008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ea"/>
                <a:ea typeface="+mn-ea"/>
              </a:rPr>
              <a:t>为在已知</a:t>
            </a:r>
            <a:r>
              <a:rPr lang="en-US" altLang="zh-CN" sz="2400" dirty="0">
                <a:latin typeface="+mn-ea"/>
                <a:ea typeface="+mn-ea"/>
              </a:rPr>
              <a:t>X=x</a:t>
            </a:r>
            <a:r>
              <a:rPr lang="en-US" altLang="zh-CN" sz="2400" baseline="-25000" dirty="0">
                <a:latin typeface="+mn-ea"/>
                <a:ea typeface="+mn-ea"/>
              </a:rPr>
              <a:t>i</a:t>
            </a:r>
            <a:r>
              <a:rPr lang="zh-CN" altLang="en-US" sz="2400" dirty="0">
                <a:latin typeface="+mn-ea"/>
                <a:ea typeface="+mn-ea"/>
              </a:rPr>
              <a:t>的条件下，</a:t>
            </a:r>
            <a:r>
              <a:rPr lang="en-US" altLang="zh-CN" sz="2400" dirty="0">
                <a:latin typeface="+mn-ea"/>
                <a:ea typeface="+mn-ea"/>
              </a:rPr>
              <a:t>R.V.Y</a:t>
            </a:r>
            <a:r>
              <a:rPr lang="zh-CN" altLang="en-US" sz="2400" dirty="0">
                <a:latin typeface="+mn-ea"/>
                <a:ea typeface="+mn-ea"/>
              </a:rPr>
              <a:t>的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条件分布律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3770" name="Object 10"/>
              <p:cNvSpPr txBox="1"/>
              <p:nvPr/>
            </p:nvSpPr>
            <p:spPr bwMode="auto">
              <a:xfrm>
                <a:off x="1153291" y="4491996"/>
                <a:ext cx="3421855" cy="8987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=1,2,⋯</m:t>
                      </m:r>
                    </m:oMath>
                  </m:oMathPara>
                </a14:m>
                <a:endParaRPr lang="en-US" dirty="0">
                  <a:latin typeface="+mn-ea"/>
                </a:endParaRPr>
              </a:p>
            </p:txBody>
          </p:sp>
        </mc:Choice>
        <mc:Fallback xmlns="">
          <p:sp>
            <p:nvSpPr>
              <p:cNvPr id="373770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53291" y="4491996"/>
                <a:ext cx="3421855" cy="898733"/>
              </a:xfrm>
              <a:prstGeom prst="rect">
                <a:avLst/>
              </a:prstGeom>
              <a:blipFill rotWithShape="1">
                <a:blip r:embed="rId5"/>
                <a:stretch>
                  <a:fillRect l="-4" t="-1" r="18" b="2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3771" name="Rectangle 11"/>
          <p:cNvSpPr>
            <a:spLocks noChangeArrowheads="1"/>
          </p:cNvSpPr>
          <p:nvPr/>
        </p:nvSpPr>
        <p:spPr bwMode="auto">
          <a:xfrm>
            <a:off x="594570" y="5772736"/>
            <a:ext cx="8002852" cy="561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8" tIns="36008" rIns="36008" bIns="36008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ea"/>
                <a:ea typeface="+mn-ea"/>
              </a:rPr>
              <a:t>如果</a:t>
            </a:r>
            <a:r>
              <a:rPr lang="en-US" altLang="zh-CN" sz="2400" dirty="0" err="1">
                <a:latin typeface="+mn-ea"/>
                <a:ea typeface="+mn-ea"/>
              </a:rPr>
              <a:t>p</a:t>
            </a:r>
            <a:r>
              <a:rPr lang="en-US" altLang="zh-CN" sz="2400" baseline="-25000" dirty="0" err="1">
                <a:latin typeface="+mn-ea"/>
                <a:ea typeface="+mn-ea"/>
              </a:rPr>
              <a:t>ij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 err="1">
                <a:latin typeface="+mn-ea"/>
                <a:ea typeface="+mn-ea"/>
              </a:rPr>
              <a:t>p</a:t>
            </a:r>
            <a:r>
              <a:rPr lang="en-US" altLang="zh-CN" sz="2400" baseline="-25000" dirty="0" err="1">
                <a:latin typeface="+mn-ea"/>
                <a:ea typeface="+mn-ea"/>
              </a:rPr>
              <a:t>i.</a:t>
            </a:r>
            <a:r>
              <a:rPr lang="en-US" altLang="zh-CN" sz="2400" dirty="0" err="1">
                <a:latin typeface="+mn-ea"/>
                <a:ea typeface="+mn-ea"/>
              </a:rPr>
              <a:t>p</a:t>
            </a:r>
            <a:r>
              <a:rPr lang="en-US" altLang="zh-CN" sz="2400" baseline="-25000" dirty="0" err="1">
                <a:latin typeface="+mn-ea"/>
                <a:ea typeface="+mn-ea"/>
              </a:rPr>
              <a:t>.j</a:t>
            </a:r>
            <a:r>
              <a:rPr lang="zh-CN" altLang="en-US" sz="2400" dirty="0">
                <a:latin typeface="+mn-ea"/>
                <a:ea typeface="+mn-ea"/>
              </a:rPr>
              <a:t>，</a:t>
            </a:r>
            <a:r>
              <a:rPr lang="en-US" altLang="zh-CN" sz="2400" dirty="0" err="1">
                <a:latin typeface="+mn-ea"/>
                <a:ea typeface="+mn-ea"/>
              </a:rPr>
              <a:t>i,j</a:t>
            </a:r>
            <a:r>
              <a:rPr lang="en-US" altLang="zh-CN" sz="2400" dirty="0">
                <a:latin typeface="+mn-ea"/>
                <a:ea typeface="+mn-ea"/>
              </a:rPr>
              <a:t>=1,2,…</a:t>
            </a:r>
            <a:r>
              <a:rPr lang="zh-CN" altLang="en-US" sz="2400" dirty="0">
                <a:latin typeface="+mn-ea"/>
                <a:ea typeface="+mn-ea"/>
              </a:rPr>
              <a:t>，则称</a:t>
            </a:r>
            <a:r>
              <a:rPr lang="en-US" altLang="zh-CN" sz="2400" dirty="0">
                <a:latin typeface="+mn-ea"/>
                <a:ea typeface="+mn-ea"/>
              </a:rPr>
              <a:t>R.V.X</a:t>
            </a:r>
            <a:r>
              <a:rPr lang="zh-CN" altLang="en-US" sz="2400" dirty="0">
                <a:latin typeface="+mn-ea"/>
                <a:ea typeface="+mn-ea"/>
              </a:rPr>
              <a:t>与</a:t>
            </a:r>
            <a:r>
              <a:rPr lang="en-US" altLang="zh-CN" sz="2400" dirty="0">
                <a:latin typeface="+mn-ea"/>
                <a:ea typeface="+mn-ea"/>
              </a:rPr>
              <a:t>Y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相互独立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.</a:t>
            </a:r>
            <a:endParaRPr lang="zh-CN" altLang="en-US" sz="2400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373772" name="Rectangle 12"/>
          <p:cNvSpPr>
            <a:spLocks noChangeArrowheads="1"/>
          </p:cNvSpPr>
          <p:nvPr/>
        </p:nvSpPr>
        <p:spPr bwMode="auto">
          <a:xfrm>
            <a:off x="573895" y="1570723"/>
            <a:ext cx="427137" cy="488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称</a:t>
            </a:r>
          </a:p>
        </p:txBody>
      </p:sp>
      <p:sp>
        <p:nvSpPr>
          <p:cNvPr id="24" name="Rectangle 3"/>
          <p:cNvSpPr txBox="1">
            <a:spLocks noChangeArrowheads="1"/>
          </p:cNvSpPr>
          <p:nvPr/>
        </p:nvSpPr>
        <p:spPr>
          <a:xfrm>
            <a:off x="6022975" y="1448594"/>
            <a:ext cx="4798536" cy="735690"/>
          </a:xfrm>
          <a:prstGeom prst="rect">
            <a:avLst/>
          </a:prstGeom>
        </p:spPr>
        <p:txBody>
          <a:bodyPr vert="horz" lIns="121917" tIns="60958" rIns="121917" bIns="60958" rtlCol="0">
            <a:noAutofit/>
          </a:bodyPr>
          <a:lstStyle>
            <a:lvl1pPr marL="457200" indent="-4572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l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»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为</a:t>
            </a:r>
            <a:r>
              <a:rPr lang="en-US" altLang="zh-CN" dirty="0"/>
              <a:t>R.V.X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00FF"/>
                </a:solidFill>
              </a:rPr>
              <a:t>边缘分布律</a:t>
            </a:r>
            <a:r>
              <a:rPr lang="zh-CN" altLang="en-US" dirty="0"/>
              <a:t>。</a:t>
            </a:r>
          </a:p>
        </p:txBody>
      </p:sp>
      <p:sp>
        <p:nvSpPr>
          <p:cNvPr id="25" name="Rectangle 5"/>
          <p:cNvSpPr>
            <a:spLocks noChangeArrowheads="1"/>
          </p:cNvSpPr>
          <p:nvPr/>
        </p:nvSpPr>
        <p:spPr bwMode="auto">
          <a:xfrm>
            <a:off x="537150" y="3525447"/>
            <a:ext cx="873439" cy="561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8" tIns="36008" rIns="36008" bIns="36008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ea"/>
                <a:ea typeface="+mn-ea"/>
              </a:rPr>
              <a:t>称</a:t>
            </a:r>
          </a:p>
        </p:txBody>
      </p:sp>
      <p:sp>
        <p:nvSpPr>
          <p:cNvPr id="26" name="Rectangle 7"/>
          <p:cNvSpPr>
            <a:spLocks noChangeArrowheads="1"/>
          </p:cNvSpPr>
          <p:nvPr/>
        </p:nvSpPr>
        <p:spPr bwMode="auto">
          <a:xfrm>
            <a:off x="4595996" y="3546585"/>
            <a:ext cx="6624276" cy="561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8" tIns="36008" rIns="36008" bIns="36008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ea"/>
                <a:ea typeface="+mn-ea"/>
              </a:rPr>
              <a:t>为在已知</a:t>
            </a:r>
            <a:r>
              <a:rPr lang="en-US" altLang="zh-CN" sz="2400" dirty="0">
                <a:latin typeface="+mn-ea"/>
                <a:ea typeface="+mn-ea"/>
              </a:rPr>
              <a:t>Y=</a:t>
            </a:r>
            <a:r>
              <a:rPr lang="en-US" altLang="zh-CN" sz="2400" dirty="0" err="1">
                <a:latin typeface="+mn-ea"/>
                <a:ea typeface="+mn-ea"/>
              </a:rPr>
              <a:t>y</a:t>
            </a:r>
            <a:r>
              <a:rPr lang="en-US" altLang="zh-CN" sz="2400" baseline="-25000" dirty="0" err="1">
                <a:latin typeface="+mn-ea"/>
                <a:ea typeface="+mn-ea"/>
              </a:rPr>
              <a:t>j</a:t>
            </a:r>
            <a:r>
              <a:rPr lang="zh-CN" altLang="en-US" sz="2400" dirty="0">
                <a:latin typeface="+mn-ea"/>
                <a:ea typeface="+mn-ea"/>
              </a:rPr>
              <a:t>的条件下，</a:t>
            </a:r>
            <a:r>
              <a:rPr lang="en-US" altLang="zh-CN" sz="2400" dirty="0">
                <a:latin typeface="+mn-ea"/>
                <a:ea typeface="+mn-ea"/>
              </a:rPr>
              <a:t>R.V.X</a:t>
            </a:r>
            <a:r>
              <a:rPr lang="zh-CN" altLang="en-US" sz="2400" dirty="0">
                <a:latin typeface="+mn-ea"/>
                <a:ea typeface="+mn-ea"/>
              </a:rPr>
              <a:t>的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条件分布律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3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3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73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73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3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73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3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73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373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737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737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373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737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737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73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73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763" grpId="0" build="p"/>
      <p:bldP spid="373764" grpId="0"/>
      <p:bldP spid="373765" grpId="0"/>
      <p:bldP spid="373766" grpId="0"/>
      <p:bldP spid="373767" grpId="0"/>
      <p:bldP spid="373768" grpId="0"/>
      <p:bldP spid="373769" grpId="0"/>
      <p:bldP spid="373770" grpId="0"/>
      <p:bldP spid="373771" grpId="0"/>
      <p:bldP spid="373772" grpId="0"/>
      <p:bldP spid="24" grpId="0" build="p"/>
      <p:bldP spid="25" grpId="0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>
          <a:xfrm>
            <a:off x="830778" y="283177"/>
            <a:ext cx="9961986" cy="609741"/>
          </a:xfrm>
        </p:spPr>
        <p:txBody>
          <a:bodyPr/>
          <a:lstStyle/>
          <a:p>
            <a:pPr algn="l" eaLnBrk="1" hangingPunct="1"/>
            <a:r>
              <a:rPr lang="zh-CN" altLang="en-US" dirty="0"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3891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13021" y="970186"/>
            <a:ext cx="11172554" cy="2216663"/>
          </a:xfrm>
        </p:spPr>
        <p:txBody>
          <a:bodyPr>
            <a:noAutofit/>
          </a:bodyPr>
          <a:lstStyle/>
          <a:p>
            <a:pPr marL="0" indent="0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袋中有</a:t>
            </a:r>
            <a:r>
              <a:rPr lang="en-US" altLang="zh-CN" dirty="0"/>
              <a:t>3</a:t>
            </a:r>
            <a:r>
              <a:rPr lang="zh-CN" altLang="en-US" dirty="0"/>
              <a:t>个白球和</a:t>
            </a:r>
            <a:r>
              <a:rPr lang="en-US" altLang="zh-CN" dirty="0"/>
              <a:t>2</a:t>
            </a:r>
            <a:r>
              <a:rPr lang="zh-CN" altLang="en-US" dirty="0"/>
              <a:t>个红球。分别</a:t>
            </a:r>
            <a:r>
              <a:rPr lang="en-US" altLang="zh-CN" dirty="0"/>
              <a:t>a)</a:t>
            </a:r>
            <a:r>
              <a:rPr lang="zh-CN" altLang="en-US" dirty="0"/>
              <a:t>不放回、</a:t>
            </a:r>
            <a:r>
              <a:rPr lang="en-US" altLang="zh-CN" dirty="0"/>
              <a:t>b)</a:t>
            </a:r>
            <a:r>
              <a:rPr lang="zh-CN" altLang="en-US" dirty="0"/>
              <a:t>有放回地逐一摸球，共摸两次，分别用</a:t>
            </a:r>
            <a:r>
              <a:rPr lang="en-US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表示第一次、第二次摸到的红球数。试分</a:t>
            </a:r>
            <a:r>
              <a:rPr lang="en-US" altLang="zh-CN" dirty="0"/>
              <a:t>a)</a:t>
            </a:r>
            <a:r>
              <a:rPr lang="zh-CN" altLang="en-US" dirty="0"/>
              <a:t>、</a:t>
            </a:r>
            <a:r>
              <a:rPr lang="en-US" altLang="zh-CN" dirty="0"/>
              <a:t>b)</a:t>
            </a:r>
            <a:r>
              <a:rPr lang="zh-CN" altLang="en-US" dirty="0"/>
              <a:t>两种情形，求</a:t>
            </a:r>
            <a:r>
              <a:rPr lang="en-US" altLang="zh-CN" dirty="0"/>
              <a:t>(X, Y)</a:t>
            </a:r>
            <a:r>
              <a:rPr lang="zh-CN" altLang="en-US" dirty="0"/>
              <a:t>的联合分布率、联合分布函数、边缘分布律、条件分布律，并讨论</a:t>
            </a:r>
            <a:r>
              <a:rPr lang="en-US" altLang="zh-CN" dirty="0"/>
              <a:t>X</a:t>
            </a:r>
            <a:r>
              <a:rPr lang="zh-CN" altLang="en-US" dirty="0"/>
              <a:t>与</a:t>
            </a:r>
            <a:r>
              <a:rPr lang="en-US" altLang="zh-CN" dirty="0"/>
              <a:t>Y</a:t>
            </a:r>
            <a:r>
              <a:rPr lang="zh-CN" altLang="en-US" dirty="0"/>
              <a:t>是否独立。</a:t>
            </a:r>
          </a:p>
        </p:txBody>
      </p:sp>
      <p:sp>
        <p:nvSpPr>
          <p:cNvPr id="389152" name="Text Box 32"/>
          <p:cNvSpPr txBox="1">
            <a:spLocks noChangeArrowheads="1"/>
          </p:cNvSpPr>
          <p:nvPr/>
        </p:nvSpPr>
        <p:spPr bwMode="auto">
          <a:xfrm>
            <a:off x="583866" y="3186849"/>
            <a:ext cx="3838909" cy="157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</a:rPr>
              <a:t>解</a:t>
            </a:r>
            <a:r>
              <a:rPr lang="zh-CN" altLang="en-US" sz="2400" dirty="0">
                <a:latin typeface="+mn-ea"/>
                <a:ea typeface="+mn-ea"/>
              </a:rPr>
              <a:t>： </a:t>
            </a:r>
            <a:r>
              <a:rPr lang="en-US" altLang="zh-CN" sz="2400" dirty="0">
                <a:latin typeface="+mn-ea"/>
                <a:ea typeface="+mn-ea"/>
              </a:rPr>
              <a:t>a)</a:t>
            </a:r>
            <a:r>
              <a:rPr lang="zh-CN" altLang="en-US" sz="2400" dirty="0">
                <a:latin typeface="+mn-ea"/>
                <a:ea typeface="+mn-ea"/>
              </a:rPr>
              <a:t>不放回摸球。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 </a:t>
            </a:r>
            <a:r>
              <a:rPr lang="en-US" altLang="zh-CN" sz="2400" dirty="0">
                <a:latin typeface="+mn-ea"/>
                <a:ea typeface="+mn-ea"/>
              </a:rPr>
              <a:t>(X, Y)</a:t>
            </a:r>
            <a:r>
              <a:rPr lang="zh-CN" altLang="en-US" sz="2400" dirty="0">
                <a:latin typeface="+mn-ea"/>
                <a:ea typeface="+mn-ea"/>
              </a:rPr>
              <a:t>的联合分布律、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边缘分布律</a:t>
            </a:r>
          </a:p>
        </p:txBody>
      </p:sp>
      <p:graphicFrame>
        <p:nvGraphicFramePr>
          <p:cNvPr id="389225" name="Group 10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870575" y="3283205"/>
          <a:ext cx="4538125" cy="3026474"/>
        </p:xfrm>
        <a:graphic>
          <a:graphicData uri="http://schemas.openxmlformats.org/drawingml/2006/table">
            <a:tbl>
              <a:tblPr/>
              <a:tblGrid>
                <a:gridCol w="1081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16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8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215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91461" marR="91461"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marL="91461" marR="91461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1461" marR="91461"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p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i.</a:t>
                      </a:r>
                    </a:p>
                  </a:txBody>
                  <a:tcPr marL="91461" marR="91461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1771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marL="91461" marR="91461"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91461" marR="91461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91461" marR="91461"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91461" marR="91461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244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1461" marR="91461"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91461" marR="91461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91461" marR="91461"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91461" marR="91461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244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p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.j</a:t>
                      </a:r>
                    </a:p>
                  </a:txBody>
                  <a:tcPr marL="91461" marR="91461"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91461" marR="91461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91461" marR="91461"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1461" marR="91461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" name="Group 106"/>
          <p:cNvGrpSpPr/>
          <p:nvPr/>
        </p:nvGrpSpPr>
        <p:grpSpPr bwMode="auto">
          <a:xfrm>
            <a:off x="5845168" y="3206987"/>
            <a:ext cx="1155968" cy="719303"/>
            <a:chOff x="2773" y="2157"/>
            <a:chExt cx="728" cy="453"/>
          </a:xfrm>
        </p:grpSpPr>
        <p:sp>
          <p:nvSpPr>
            <p:cNvPr id="33833" name="Text Box 56"/>
            <p:cNvSpPr txBox="1">
              <a:spLocks noChangeArrowheads="1"/>
            </p:cNvSpPr>
            <p:nvPr/>
          </p:nvSpPr>
          <p:spPr bwMode="auto">
            <a:xfrm>
              <a:off x="3077" y="2287"/>
              <a:ext cx="3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 err="1">
                  <a:latin typeface="+mn-ea"/>
                  <a:ea typeface="+mn-ea"/>
                </a:rPr>
                <a:t>P</a:t>
              </a:r>
              <a:r>
                <a:rPr lang="en-US" altLang="zh-CN" sz="2400" baseline="-25000" dirty="0" err="1">
                  <a:latin typeface="+mn-ea"/>
                  <a:ea typeface="+mn-ea"/>
                </a:rPr>
                <a:t>ij</a:t>
              </a:r>
              <a:endParaRPr lang="en-US" altLang="zh-CN" sz="2400" baseline="-25000" dirty="0">
                <a:latin typeface="+mn-ea"/>
                <a:ea typeface="+mn-ea"/>
              </a:endParaRPr>
            </a:p>
          </p:txBody>
        </p:sp>
        <p:sp>
          <p:nvSpPr>
            <p:cNvPr id="33834" name="Text Box 54"/>
            <p:cNvSpPr txBox="1">
              <a:spLocks noChangeArrowheads="1"/>
            </p:cNvSpPr>
            <p:nvPr/>
          </p:nvSpPr>
          <p:spPr bwMode="auto">
            <a:xfrm>
              <a:off x="2773" y="2354"/>
              <a:ext cx="2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latin typeface="+mn-ea"/>
                  <a:ea typeface="+mn-ea"/>
                </a:rPr>
                <a:t>X</a:t>
              </a:r>
            </a:p>
          </p:txBody>
        </p:sp>
        <p:sp>
          <p:nvSpPr>
            <p:cNvPr id="33835" name="Text Box 55"/>
            <p:cNvSpPr txBox="1">
              <a:spLocks noChangeArrowheads="1"/>
            </p:cNvSpPr>
            <p:nvPr/>
          </p:nvSpPr>
          <p:spPr bwMode="auto">
            <a:xfrm>
              <a:off x="3261" y="2157"/>
              <a:ext cx="2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+mn-ea"/>
                  <a:ea typeface="+mn-ea"/>
                </a:rPr>
                <a:t>Y</a:t>
              </a:r>
            </a:p>
          </p:txBody>
        </p:sp>
        <p:sp>
          <p:nvSpPr>
            <p:cNvPr id="33836" name="Line 57"/>
            <p:cNvSpPr>
              <a:spLocks noChangeShapeType="1"/>
            </p:cNvSpPr>
            <p:nvPr/>
          </p:nvSpPr>
          <p:spPr bwMode="auto">
            <a:xfrm>
              <a:off x="2829" y="2213"/>
              <a:ext cx="646" cy="2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 b="1">
                <a:latin typeface="+mn-ea"/>
              </a:endParaRPr>
            </a:p>
          </p:txBody>
        </p:sp>
        <p:sp>
          <p:nvSpPr>
            <p:cNvPr id="33837" name="Line 58"/>
            <p:cNvSpPr>
              <a:spLocks noChangeShapeType="1"/>
            </p:cNvSpPr>
            <p:nvPr/>
          </p:nvSpPr>
          <p:spPr bwMode="auto">
            <a:xfrm>
              <a:off x="2805" y="2197"/>
              <a:ext cx="383" cy="4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1">
                <a:latin typeface="+mn-ea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9179" name="Object 59"/>
              <p:cNvSpPr txBox="1">
                <a:spLocks noGrp="1"/>
              </p:cNvSpPr>
              <p:nvPr>
                <p:ph sz="half" idx="2"/>
              </p:nvPr>
            </p:nvSpPr>
            <p:spPr bwMode="auto">
              <a:xfrm>
                <a:off x="7239805" y="3664630"/>
                <a:ext cx="955350" cy="811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  <m:r>
                        <a:rPr lang="en-US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89179" name="Object 59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 bwMode="auto">
              <a:xfrm>
                <a:off x="7239805" y="3664630"/>
                <a:ext cx="955350" cy="811400"/>
              </a:xfrm>
              <a:prstGeom prst="rect">
                <a:avLst/>
              </a:prstGeom>
              <a:blipFill rotWithShape="1">
                <a:blip r:embed="rId3"/>
                <a:stretch>
                  <a:fillRect l="-18" t="-6" r="50" b="-1237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9183" name="Object 63"/>
              <p:cNvSpPr txBox="1"/>
              <p:nvPr/>
            </p:nvSpPr>
            <p:spPr bwMode="auto">
              <a:xfrm>
                <a:off x="8498495" y="3931054"/>
                <a:ext cx="944782" cy="811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  <m:r>
                        <a:rPr lang="en-US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US" sz="2000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89183" name="Object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98495" y="3931054"/>
                <a:ext cx="944782" cy="811400"/>
              </a:xfrm>
              <a:prstGeom prst="rect">
                <a:avLst/>
              </a:prstGeom>
              <a:blipFill rotWithShape="1">
                <a:blip r:embed="rId4"/>
                <a:stretch>
                  <a:fillRect l="-31" t="-50" r="20" b="3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9185" name="Object 65"/>
              <p:cNvSpPr txBox="1"/>
              <p:nvPr/>
            </p:nvSpPr>
            <p:spPr bwMode="auto">
              <a:xfrm>
                <a:off x="7277425" y="4704346"/>
                <a:ext cx="955350" cy="8114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  <m:r>
                        <a:rPr lang="en-US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US" sz="2000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89185" name="Object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77425" y="4704346"/>
                <a:ext cx="955350" cy="811401"/>
              </a:xfrm>
              <a:prstGeom prst="rect">
                <a:avLst/>
              </a:prstGeom>
              <a:blipFill rotWithShape="1">
                <a:blip r:embed="rId5"/>
                <a:stretch>
                  <a:fillRect l="-34" t="-33" b="1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9213" name="Object 93"/>
              <p:cNvSpPr txBox="1"/>
              <p:nvPr/>
            </p:nvSpPr>
            <p:spPr bwMode="auto">
              <a:xfrm>
                <a:off x="9773553" y="4704346"/>
                <a:ext cx="304871" cy="8114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5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US" b="1">
                  <a:latin typeface="+mn-ea"/>
                </a:endParaRPr>
              </a:p>
            </p:txBody>
          </p:sp>
        </mc:Choice>
        <mc:Fallback xmlns="">
          <p:sp>
            <p:nvSpPr>
              <p:cNvPr id="389213" name="Object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73553" y="4704346"/>
                <a:ext cx="304871" cy="81140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9214" name="Object 94"/>
              <p:cNvSpPr txBox="1"/>
              <p:nvPr/>
            </p:nvSpPr>
            <p:spPr bwMode="auto">
              <a:xfrm>
                <a:off x="9773553" y="3931054"/>
                <a:ext cx="304871" cy="811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5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US" b="1">
                  <a:latin typeface="+mn-ea"/>
                </a:endParaRPr>
              </a:p>
            </p:txBody>
          </p:sp>
        </mc:Choice>
        <mc:Fallback xmlns="">
          <p:sp>
            <p:nvSpPr>
              <p:cNvPr id="389214" name="Object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73553" y="3931054"/>
                <a:ext cx="304871" cy="8114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9216" name="Object 96"/>
              <p:cNvSpPr txBox="1"/>
              <p:nvPr/>
            </p:nvSpPr>
            <p:spPr bwMode="auto">
              <a:xfrm>
                <a:off x="7453678" y="5485577"/>
                <a:ext cx="304871" cy="8114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5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US" b="1">
                  <a:latin typeface="+mn-ea"/>
                </a:endParaRPr>
              </a:p>
            </p:txBody>
          </p:sp>
        </mc:Choice>
        <mc:Fallback xmlns="">
          <p:sp>
            <p:nvSpPr>
              <p:cNvPr id="389216" name="Object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53678" y="5485577"/>
                <a:ext cx="304871" cy="81140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9217" name="Object 97"/>
              <p:cNvSpPr txBox="1"/>
              <p:nvPr/>
            </p:nvSpPr>
            <p:spPr bwMode="auto">
              <a:xfrm>
                <a:off x="8674748" y="5485577"/>
                <a:ext cx="304871" cy="8114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5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US" b="1">
                  <a:latin typeface="+mn-ea"/>
                </a:endParaRPr>
              </a:p>
            </p:txBody>
          </p:sp>
        </mc:Choice>
        <mc:Fallback xmlns="">
          <p:sp>
            <p:nvSpPr>
              <p:cNvPr id="389217" name="Object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74748" y="5485577"/>
                <a:ext cx="304871" cy="81140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9227" name="Rectangle 107"/>
          <p:cNvSpPr>
            <a:spLocks noChangeArrowheads="1"/>
          </p:cNvSpPr>
          <p:nvPr/>
        </p:nvSpPr>
        <p:spPr bwMode="auto">
          <a:xfrm>
            <a:off x="715457" y="5370618"/>
            <a:ext cx="2808938" cy="1130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因</a:t>
            </a:r>
            <a:r>
              <a:rPr lang="en-US" altLang="zh-CN" sz="2400" dirty="0" err="1">
                <a:latin typeface="+mn-ea"/>
                <a:ea typeface="+mn-ea"/>
              </a:rPr>
              <a:t>p</a:t>
            </a:r>
            <a:r>
              <a:rPr lang="en-US" altLang="zh-CN" sz="2400" baseline="-25000" dirty="0" err="1">
                <a:latin typeface="+mn-ea"/>
                <a:ea typeface="+mn-ea"/>
              </a:rPr>
              <a:t>ij</a:t>
            </a:r>
            <a:r>
              <a:rPr lang="en-US" altLang="zh-CN" sz="2400" dirty="0">
                <a:latin typeface="+mn-ea"/>
                <a:ea typeface="+mn-ea"/>
              </a:rPr>
              <a:t> </a:t>
            </a:r>
            <a:r>
              <a:rPr lang="en-US" altLang="en-US" sz="2400" dirty="0">
                <a:latin typeface="+mn-ea"/>
                <a:ea typeface="+mn-ea"/>
              </a:rPr>
              <a:t>≠ </a:t>
            </a:r>
            <a:r>
              <a:rPr lang="en-US" altLang="zh-CN" sz="2400" dirty="0">
                <a:latin typeface="+mn-ea"/>
                <a:ea typeface="+mn-ea"/>
              </a:rPr>
              <a:t>p</a:t>
            </a:r>
            <a:r>
              <a:rPr lang="en-US" altLang="zh-CN" sz="2400" baseline="-25000" dirty="0">
                <a:latin typeface="+mn-ea"/>
                <a:ea typeface="+mn-ea"/>
              </a:rPr>
              <a:t>i.</a:t>
            </a:r>
            <a:r>
              <a:rPr lang="en-US" altLang="en-US" sz="2400" dirty="0">
                <a:latin typeface="+mn-ea"/>
                <a:ea typeface="+mn-ea"/>
              </a:rPr>
              <a:t>×</a:t>
            </a:r>
            <a:r>
              <a:rPr lang="en-US" altLang="zh-CN" sz="2400" dirty="0" err="1">
                <a:latin typeface="+mn-ea"/>
                <a:ea typeface="+mn-ea"/>
              </a:rPr>
              <a:t>p</a:t>
            </a:r>
            <a:r>
              <a:rPr lang="en-US" altLang="zh-CN" sz="2400" baseline="-25000" dirty="0" err="1">
                <a:latin typeface="+mn-ea"/>
                <a:ea typeface="+mn-ea"/>
              </a:rPr>
              <a:t>.j</a:t>
            </a:r>
            <a:r>
              <a:rPr lang="zh-CN" altLang="en-US" sz="2400" dirty="0">
                <a:latin typeface="+mn-ea"/>
                <a:ea typeface="+mn-ea"/>
              </a:rPr>
              <a:t>，</a:t>
            </a:r>
          </a:p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en-US" altLang="zh-CN" sz="2400" dirty="0">
                <a:latin typeface="+mn-ea"/>
                <a:ea typeface="+mn-ea"/>
              </a:rPr>
              <a:t>X</a:t>
            </a:r>
            <a:r>
              <a:rPr lang="zh-CN" altLang="en-US" sz="2400" dirty="0">
                <a:latin typeface="+mn-ea"/>
                <a:ea typeface="+mn-ea"/>
              </a:rPr>
              <a:t>与</a:t>
            </a:r>
            <a:r>
              <a:rPr lang="en-US" altLang="zh-CN" sz="2400" dirty="0">
                <a:latin typeface="+mn-ea"/>
                <a:ea typeface="+mn-ea"/>
              </a:rPr>
              <a:t>Y</a:t>
            </a:r>
            <a:r>
              <a:rPr lang="zh-CN" altLang="en-US" sz="2400" dirty="0">
                <a:latin typeface="+mn-ea"/>
                <a:ea typeface="+mn-ea"/>
              </a:rPr>
              <a:t>不相互独立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66"/>
              <p:cNvSpPr txBox="1"/>
              <p:nvPr/>
            </p:nvSpPr>
            <p:spPr bwMode="auto">
              <a:xfrm>
                <a:off x="8498494" y="4704346"/>
                <a:ext cx="843157" cy="8114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  <m:r>
                        <a:rPr lang="en-US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US" sz="2000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4" name="Object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98494" y="4704346"/>
                <a:ext cx="843157" cy="811401"/>
              </a:xfrm>
              <a:prstGeom prst="rect">
                <a:avLst/>
              </a:prstGeom>
              <a:blipFill rotWithShape="1">
                <a:blip r:embed="rId10"/>
                <a:stretch>
                  <a:fillRect l="-34" t="-33" r="20" b="1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9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9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9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9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891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891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3892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3892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3892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3892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38917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389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389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1000"/>
                                        <p:tgtEl>
                                          <p:spTgt spid="389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389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389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5" dur="500"/>
                                        <p:tgtEl>
                                          <p:spTgt spid="389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389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89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89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89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89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23" grpId="0" build="p"/>
      <p:bldP spid="389152" grpId="0" build="p" autoUpdateAnimBg="0"/>
      <p:bldP spid="389179" grpId="0" build="p" animBg="1"/>
      <p:bldP spid="389179" grpId="1" build="p" animBg="1"/>
      <p:bldP spid="389183" grpId="0" animBg="1"/>
      <p:bldP spid="389183" grpId="1" animBg="1"/>
      <p:bldP spid="389185" grpId="0" animBg="1"/>
      <p:bldP spid="389185" grpId="1" animBg="1"/>
      <p:bldP spid="389213" grpId="0" animBg="1"/>
      <p:bldP spid="389213" grpId="1" animBg="1"/>
      <p:bldP spid="389214" grpId="0" animBg="1"/>
      <p:bldP spid="389214" grpId="1" animBg="1"/>
      <p:bldP spid="389216" grpId="0" animBg="1"/>
      <p:bldP spid="389216" grpId="1" animBg="1"/>
      <p:bldP spid="389217" grpId="0" animBg="1"/>
      <p:bldP spid="389217" grpId="1" animBg="1"/>
      <p:bldP spid="389227" grpId="0" build="p"/>
      <p:bldP spid="4" grpId="0" bldLvl="0" animBg="1"/>
      <p:bldP spid="4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0444" name="Group 6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171148" y="4345994"/>
          <a:ext cx="2767653" cy="2162675"/>
        </p:xfrm>
        <a:graphic>
          <a:graphicData uri="http://schemas.openxmlformats.org/drawingml/2006/table">
            <a:tbl>
              <a:tblPr/>
              <a:tblGrid>
                <a:gridCol w="108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9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9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3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209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91451" marR="91451" marT="45722" marB="4572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marL="91451" marR="91451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1451" marR="91451" marT="45722" marB="45722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1716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marL="91451" marR="91451" marT="45722" marB="4572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91451" marR="91451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91451" marR="91451" marT="45722" marB="45722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750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1451" marR="91451" marT="45722" marB="4572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91451" marR="91451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91451" marR="91451"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4834" name="Rectangle 2"/>
          <p:cNvSpPr>
            <a:spLocks noGrp="1" noChangeArrowheads="1"/>
          </p:cNvSpPr>
          <p:nvPr>
            <p:ph type="title"/>
          </p:nvPr>
        </p:nvSpPr>
        <p:spPr>
          <a:xfrm>
            <a:off x="765175" y="250723"/>
            <a:ext cx="9961986" cy="609741"/>
          </a:xfrm>
        </p:spPr>
        <p:txBody>
          <a:bodyPr/>
          <a:lstStyle/>
          <a:p>
            <a:pPr algn="l" eaLnBrk="1" hangingPunct="1"/>
            <a:r>
              <a:rPr lang="zh-CN" altLang="en-US">
                <a:ea typeface="黑体" panose="02010609060101010101" pitchFamily="49" charset="-122"/>
              </a:rPr>
              <a:t>例</a:t>
            </a:r>
            <a:r>
              <a:rPr lang="en-US" altLang="zh-CN">
                <a:ea typeface="黑体" panose="02010609060101010101" pitchFamily="49" charset="-122"/>
              </a:rPr>
              <a:t>(</a:t>
            </a:r>
            <a:r>
              <a:rPr lang="zh-CN" altLang="en-US">
                <a:ea typeface="黑体" panose="02010609060101010101" pitchFamily="49" charset="-122"/>
              </a:rPr>
              <a:t>续</a:t>
            </a:r>
            <a:r>
              <a:rPr lang="en-US" altLang="zh-CN"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4003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28965" y="912864"/>
            <a:ext cx="4344177" cy="911438"/>
          </a:xfrm>
        </p:spPr>
        <p:txBody>
          <a:bodyPr>
            <a:no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(X, Y)</a:t>
            </a:r>
            <a:r>
              <a:rPr lang="zh-CN" altLang="en-US" dirty="0"/>
              <a:t>的联合分布函数，</a:t>
            </a:r>
          </a:p>
        </p:txBody>
      </p:sp>
      <p:sp>
        <p:nvSpPr>
          <p:cNvPr id="400388" name="Text Box 4"/>
          <p:cNvSpPr txBox="1">
            <a:spLocks noChangeArrowheads="1"/>
          </p:cNvSpPr>
          <p:nvPr/>
        </p:nvSpPr>
        <p:spPr bwMode="auto">
          <a:xfrm>
            <a:off x="650410" y="4275422"/>
            <a:ext cx="3240837" cy="45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条件分布律</a:t>
            </a:r>
          </a:p>
        </p:txBody>
      </p:sp>
      <p:grpSp>
        <p:nvGrpSpPr>
          <p:cNvPr id="2" name="Group 34"/>
          <p:cNvGrpSpPr/>
          <p:nvPr/>
        </p:nvGrpSpPr>
        <p:grpSpPr bwMode="auto">
          <a:xfrm>
            <a:off x="3102902" y="4269772"/>
            <a:ext cx="1198809" cy="1040051"/>
            <a:chOff x="2899" y="2157"/>
            <a:chExt cx="602" cy="655"/>
          </a:xfrm>
        </p:grpSpPr>
        <p:sp>
          <p:nvSpPr>
            <p:cNvPr id="34868" name="Text Box 35"/>
            <p:cNvSpPr txBox="1">
              <a:spLocks noChangeArrowheads="1"/>
            </p:cNvSpPr>
            <p:nvPr/>
          </p:nvSpPr>
          <p:spPr bwMode="auto">
            <a:xfrm>
              <a:off x="3077" y="2366"/>
              <a:ext cx="33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 err="1">
                  <a:latin typeface="+mn-ea"/>
                  <a:ea typeface="+mn-ea"/>
                </a:rPr>
                <a:t>Pj|i</a:t>
              </a:r>
              <a:endParaRPr lang="en-US" altLang="zh-CN" sz="2000" dirty="0">
                <a:latin typeface="+mn-ea"/>
                <a:ea typeface="+mn-ea"/>
              </a:endParaRPr>
            </a:p>
          </p:txBody>
        </p:sp>
        <p:sp>
          <p:nvSpPr>
            <p:cNvPr id="34869" name="Text Box 36"/>
            <p:cNvSpPr txBox="1">
              <a:spLocks noChangeArrowheads="1"/>
            </p:cNvSpPr>
            <p:nvPr/>
          </p:nvSpPr>
          <p:spPr bwMode="auto">
            <a:xfrm>
              <a:off x="2899" y="2372"/>
              <a:ext cx="2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latin typeface="+mn-ea"/>
                  <a:ea typeface="+mn-ea"/>
                </a:rPr>
                <a:t>Y</a:t>
              </a:r>
            </a:p>
          </p:txBody>
        </p:sp>
        <p:sp>
          <p:nvSpPr>
            <p:cNvPr id="34870" name="Text Box 37"/>
            <p:cNvSpPr txBox="1">
              <a:spLocks noChangeArrowheads="1"/>
            </p:cNvSpPr>
            <p:nvPr/>
          </p:nvSpPr>
          <p:spPr bwMode="auto">
            <a:xfrm>
              <a:off x="3261" y="2157"/>
              <a:ext cx="2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+mn-ea"/>
                  <a:ea typeface="+mn-ea"/>
                </a:rPr>
                <a:t>X</a:t>
              </a:r>
            </a:p>
          </p:txBody>
        </p:sp>
        <p:sp>
          <p:nvSpPr>
            <p:cNvPr id="34871" name="Line 38"/>
            <p:cNvSpPr>
              <a:spLocks noChangeShapeType="1"/>
            </p:cNvSpPr>
            <p:nvPr/>
          </p:nvSpPr>
          <p:spPr bwMode="auto">
            <a:xfrm>
              <a:off x="2948" y="2231"/>
              <a:ext cx="527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 b="1">
                <a:latin typeface="+mn-ea"/>
              </a:endParaRPr>
            </a:p>
          </p:txBody>
        </p:sp>
        <p:sp>
          <p:nvSpPr>
            <p:cNvPr id="34872" name="Line 39"/>
            <p:cNvSpPr>
              <a:spLocks noChangeShapeType="1"/>
            </p:cNvSpPr>
            <p:nvPr/>
          </p:nvSpPr>
          <p:spPr bwMode="auto">
            <a:xfrm>
              <a:off x="2948" y="2213"/>
              <a:ext cx="240" cy="3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 b="1">
                <a:latin typeface="+mn-ea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0429" name="Object 45"/>
              <p:cNvSpPr txBox="1"/>
              <p:nvPr/>
            </p:nvSpPr>
            <p:spPr bwMode="auto">
              <a:xfrm>
                <a:off x="5286187" y="4995432"/>
                <a:ext cx="304871" cy="8114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7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00429" name="Object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86187" y="4995432"/>
                <a:ext cx="304871" cy="8114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0430" name="Object 46"/>
              <p:cNvSpPr txBox="1"/>
              <p:nvPr/>
            </p:nvSpPr>
            <p:spPr bwMode="auto">
              <a:xfrm>
                <a:off x="4481138" y="4995432"/>
                <a:ext cx="304871" cy="8114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7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0430" name="Object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81138" y="4995432"/>
                <a:ext cx="304871" cy="8114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0433" name="Object 49"/>
              <p:cNvSpPr txBox="1">
                <a:spLocks noGrp="1"/>
              </p:cNvSpPr>
              <p:nvPr>
                <p:ph sz="quarter" idx="3"/>
              </p:nvPr>
            </p:nvSpPr>
            <p:spPr bwMode="auto">
              <a:xfrm>
                <a:off x="952217" y="376246"/>
                <a:ext cx="9753600" cy="223889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≤0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或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≤0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0&lt;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≤1,0&lt;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≤1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(0&lt;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≤1,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&gt;1)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或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&gt;1,0&lt;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≤1)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&gt;1,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0433" name="Object 49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3"/>
              </p:nvPr>
            </p:nvSpPr>
            <p:spPr bwMode="auto">
              <a:xfrm>
                <a:off x="952217" y="376246"/>
                <a:ext cx="9753600" cy="2238893"/>
              </a:xfrm>
              <a:prstGeom prst="rect">
                <a:avLst/>
              </a:prstGeom>
              <a:blipFill>
                <a:blip r:embed="rId5"/>
                <a:stretch>
                  <a:fillRect b="-5722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0440" name="Object 56"/>
              <p:cNvSpPr txBox="1"/>
              <p:nvPr/>
            </p:nvSpPr>
            <p:spPr bwMode="auto">
              <a:xfrm>
                <a:off x="4481138" y="5714736"/>
                <a:ext cx="304871" cy="811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7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00440" name="Object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81138" y="5714736"/>
                <a:ext cx="304871" cy="8114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0441" name="Object 57"/>
              <p:cNvSpPr txBox="1"/>
              <p:nvPr/>
            </p:nvSpPr>
            <p:spPr bwMode="auto">
              <a:xfrm>
                <a:off x="5286187" y="5714736"/>
                <a:ext cx="304871" cy="811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7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00441" name="Object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86187" y="5714736"/>
                <a:ext cx="304871" cy="8114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0445" name="Group 61"/>
          <p:cNvGraphicFramePr>
            <a:graphicFrameLocks noGrp="1"/>
          </p:cNvGraphicFramePr>
          <p:nvPr/>
        </p:nvGraphicFramePr>
        <p:xfrm>
          <a:off x="7420281" y="4345994"/>
          <a:ext cx="2767653" cy="2162675"/>
        </p:xfrm>
        <a:graphic>
          <a:graphicData uri="http://schemas.openxmlformats.org/drawingml/2006/table">
            <a:tbl>
              <a:tblPr/>
              <a:tblGrid>
                <a:gridCol w="108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9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9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3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209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91451" marR="91451" marT="45722" marB="4572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marL="91451" marR="91451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1451" marR="91451" marT="45722" marB="45722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1716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marL="91451" marR="91451" marT="45722" marB="4572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91451" marR="91451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91451" marR="91451" marT="45722" marB="45722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750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1451" marR="91451" marT="45722" marB="4572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91451" marR="91451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91451" marR="91451"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" name="Group 81"/>
          <p:cNvGrpSpPr/>
          <p:nvPr/>
        </p:nvGrpSpPr>
        <p:grpSpPr bwMode="auto">
          <a:xfrm>
            <a:off x="7394875" y="4269776"/>
            <a:ext cx="1155968" cy="770115"/>
            <a:chOff x="2773" y="2157"/>
            <a:chExt cx="728" cy="485"/>
          </a:xfrm>
        </p:grpSpPr>
        <p:sp>
          <p:nvSpPr>
            <p:cNvPr id="34863" name="Text Box 82"/>
            <p:cNvSpPr txBox="1">
              <a:spLocks noChangeArrowheads="1"/>
            </p:cNvSpPr>
            <p:nvPr/>
          </p:nvSpPr>
          <p:spPr bwMode="auto">
            <a:xfrm>
              <a:off x="3033" y="2366"/>
              <a:ext cx="40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 err="1">
                  <a:latin typeface="+mn-ea"/>
                  <a:ea typeface="+mn-ea"/>
                </a:rPr>
                <a:t>Pi|j</a:t>
              </a:r>
              <a:endParaRPr lang="en-US" altLang="zh-CN" sz="2000" dirty="0">
                <a:latin typeface="+mn-ea"/>
                <a:ea typeface="+mn-ea"/>
              </a:endParaRPr>
            </a:p>
          </p:txBody>
        </p:sp>
        <p:sp>
          <p:nvSpPr>
            <p:cNvPr id="34864" name="Text Box 83"/>
            <p:cNvSpPr txBox="1">
              <a:spLocks noChangeArrowheads="1"/>
            </p:cNvSpPr>
            <p:nvPr/>
          </p:nvSpPr>
          <p:spPr bwMode="auto">
            <a:xfrm>
              <a:off x="2773" y="2354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0">
                  <a:ea typeface="黑体" panose="02010609060101010101" pitchFamily="49" charset="-122"/>
                </a:rPr>
                <a:t>Y</a:t>
              </a:r>
            </a:p>
          </p:txBody>
        </p:sp>
        <p:sp>
          <p:nvSpPr>
            <p:cNvPr id="34865" name="Text Box 84"/>
            <p:cNvSpPr txBox="1">
              <a:spLocks noChangeArrowheads="1"/>
            </p:cNvSpPr>
            <p:nvPr/>
          </p:nvSpPr>
          <p:spPr bwMode="auto">
            <a:xfrm>
              <a:off x="3261" y="2157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0">
                  <a:ea typeface="黑体" panose="02010609060101010101" pitchFamily="49" charset="-122"/>
                </a:rPr>
                <a:t>X</a:t>
              </a:r>
            </a:p>
          </p:txBody>
        </p:sp>
        <p:sp>
          <p:nvSpPr>
            <p:cNvPr id="34866" name="Line 85"/>
            <p:cNvSpPr>
              <a:spLocks noChangeShapeType="1"/>
            </p:cNvSpPr>
            <p:nvPr/>
          </p:nvSpPr>
          <p:spPr bwMode="auto">
            <a:xfrm>
              <a:off x="2829" y="2213"/>
              <a:ext cx="646" cy="2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7" name="Line 86"/>
            <p:cNvSpPr>
              <a:spLocks noChangeShapeType="1"/>
            </p:cNvSpPr>
            <p:nvPr/>
          </p:nvSpPr>
          <p:spPr bwMode="auto">
            <a:xfrm>
              <a:off x="2805" y="2197"/>
              <a:ext cx="383" cy="4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0471" name="Object 87"/>
              <p:cNvSpPr txBox="1"/>
              <p:nvPr/>
            </p:nvSpPr>
            <p:spPr bwMode="auto">
              <a:xfrm>
                <a:off x="9535320" y="4995432"/>
                <a:ext cx="304871" cy="8114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7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00471" name="Object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535320" y="4995432"/>
                <a:ext cx="304871" cy="81140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0472" name="Object 88"/>
              <p:cNvSpPr txBox="1"/>
              <p:nvPr/>
            </p:nvSpPr>
            <p:spPr bwMode="auto">
              <a:xfrm>
                <a:off x="8730272" y="4995432"/>
                <a:ext cx="304871" cy="8114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7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0472" name="Object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30272" y="4995432"/>
                <a:ext cx="304871" cy="81140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0473" name="Object 89"/>
              <p:cNvSpPr txBox="1"/>
              <p:nvPr/>
            </p:nvSpPr>
            <p:spPr bwMode="auto">
              <a:xfrm>
                <a:off x="8730272" y="5714736"/>
                <a:ext cx="304871" cy="811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7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00473" name="Object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30272" y="5714736"/>
                <a:ext cx="304871" cy="8114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0474" name="Object 90"/>
              <p:cNvSpPr txBox="1"/>
              <p:nvPr/>
            </p:nvSpPr>
            <p:spPr bwMode="auto">
              <a:xfrm>
                <a:off x="9535320" y="5714736"/>
                <a:ext cx="304871" cy="811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7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00474" name="Object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535320" y="5714736"/>
                <a:ext cx="304871" cy="8114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2742" name="Object 6"/>
              <p:cNvSpPr txBox="1"/>
              <p:nvPr/>
            </p:nvSpPr>
            <p:spPr bwMode="auto">
              <a:xfrm>
                <a:off x="6394367" y="811051"/>
                <a:ext cx="5806823" cy="88836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sub>
                            <m:sup/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𝒊𝒋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72742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94367" y="811051"/>
                <a:ext cx="5806823" cy="8883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3768" name="Object 8"/>
              <p:cNvSpPr txBox="1"/>
              <p:nvPr/>
            </p:nvSpPr>
            <p:spPr bwMode="auto">
              <a:xfrm>
                <a:off x="8613596" y="1957070"/>
                <a:ext cx="3450436" cy="925726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=1,2,⋯</m:t>
                      </m:r>
                    </m:oMath>
                  </m:oMathPara>
                </a14:m>
                <a:endParaRPr lang="en-US" dirty="0">
                  <a:latin typeface="+mn-ea"/>
                </a:endParaRPr>
              </a:p>
            </p:txBody>
          </p:sp>
        </mc:Choice>
        <mc:Fallback xmlns="">
          <p:sp>
            <p:nvSpPr>
              <p:cNvPr id="37376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13596" y="1957070"/>
                <a:ext cx="3450436" cy="925726"/>
              </a:xfrm>
              <a:prstGeom prst="rect">
                <a:avLst/>
              </a:prstGeom>
              <a:blipFill rotWithShape="1">
                <a:blip r:embed="rId13"/>
                <a:stretch>
                  <a:fillRect l="-13" r="9" b="5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3770" name="Object 10"/>
              <p:cNvSpPr txBox="1"/>
              <p:nvPr/>
            </p:nvSpPr>
            <p:spPr bwMode="auto">
              <a:xfrm>
                <a:off x="8613906" y="3091186"/>
                <a:ext cx="3421855" cy="898733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=1,2,⋯</m:t>
                      </m:r>
                    </m:oMath>
                  </m:oMathPara>
                </a14:m>
                <a:endParaRPr lang="en-US" dirty="0">
                  <a:latin typeface="+mn-ea"/>
                </a:endParaRPr>
              </a:p>
            </p:txBody>
          </p:sp>
        </mc:Choice>
        <mc:Fallback xmlns="">
          <p:sp>
            <p:nvSpPr>
              <p:cNvPr id="373770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13906" y="3091186"/>
                <a:ext cx="3421855" cy="898733"/>
              </a:xfrm>
              <a:prstGeom prst="rect">
                <a:avLst/>
              </a:prstGeom>
              <a:blipFill rotWithShape="1">
                <a:blip r:embed="rId14"/>
                <a:stretch>
                  <a:fillRect l="-4" t="-1" r="18" b="2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72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004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00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73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00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00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400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400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400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373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400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400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400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400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400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88" grpId="0"/>
      <p:bldP spid="400429" grpId="0"/>
      <p:bldP spid="400430" grpId="0"/>
      <p:bldP spid="400433" grpId="0" build="p"/>
      <p:bldP spid="400440" grpId="0"/>
      <p:bldP spid="400441" grpId="0"/>
      <p:bldP spid="400471" grpId="0"/>
      <p:bldP spid="400472" grpId="0"/>
      <p:bldP spid="400473" grpId="0"/>
      <p:bldP spid="400474" grpId="0"/>
      <p:bldP spid="372742" grpId="0" animBg="1"/>
      <p:bldP spid="372742" grpId="1" animBg="1"/>
      <p:bldP spid="373768" grpId="0" animBg="1"/>
      <p:bldP spid="37377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22"/>
          <p:cNvSpPr>
            <a:spLocks noGrp="1" noChangeArrowheads="1"/>
          </p:cNvSpPr>
          <p:nvPr>
            <p:ph type="title"/>
          </p:nvPr>
        </p:nvSpPr>
        <p:spPr>
          <a:xfrm>
            <a:off x="846657" y="273849"/>
            <a:ext cx="9961986" cy="609741"/>
          </a:xfrm>
        </p:spPr>
        <p:txBody>
          <a:bodyPr/>
          <a:lstStyle/>
          <a:p>
            <a:pPr algn="l" eaLnBrk="1" hangingPunct="1"/>
            <a:r>
              <a:rPr lang="zh-CN" altLang="en-US" dirty="0">
                <a:ea typeface="黑体" panose="02010609060101010101" pitchFamily="49" charset="-122"/>
              </a:rPr>
              <a:t>例</a:t>
            </a:r>
            <a:r>
              <a:rPr lang="en-US" altLang="zh-CN" dirty="0">
                <a:ea typeface="黑体" panose="02010609060101010101" pitchFamily="49" charset="-122"/>
              </a:rPr>
              <a:t>(</a:t>
            </a:r>
            <a:r>
              <a:rPr lang="zh-CN" altLang="en-US" dirty="0">
                <a:ea typeface="黑体" panose="02010609060101010101" pitchFamily="49" charset="-122"/>
              </a:rPr>
              <a:t>续</a:t>
            </a:r>
            <a:r>
              <a:rPr lang="en-US" altLang="zh-CN" dirty="0"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402455" name="Rectangle 23"/>
          <p:cNvSpPr>
            <a:spLocks noGrp="1" noChangeArrowheads="1"/>
          </p:cNvSpPr>
          <p:nvPr>
            <p:ph type="body" sz="half" idx="1"/>
          </p:nvPr>
        </p:nvSpPr>
        <p:spPr>
          <a:xfrm>
            <a:off x="609916" y="944745"/>
            <a:ext cx="4117658" cy="1951649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b)</a:t>
            </a:r>
            <a:r>
              <a:rPr lang="zh-CN" altLang="en-US" dirty="0"/>
              <a:t>有放回摸球。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(X, Y)</a:t>
            </a:r>
            <a:r>
              <a:rPr lang="zh-CN" altLang="en-US" dirty="0"/>
              <a:t>的联合分布率、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边缘分布率</a:t>
            </a:r>
          </a:p>
        </p:txBody>
      </p:sp>
      <p:sp>
        <p:nvSpPr>
          <p:cNvPr id="402456" name="Text Box 24"/>
          <p:cNvSpPr txBox="1">
            <a:spLocks noChangeArrowheads="1"/>
          </p:cNvSpPr>
          <p:nvPr/>
        </p:nvSpPr>
        <p:spPr bwMode="auto">
          <a:xfrm>
            <a:off x="495616" y="5049272"/>
            <a:ext cx="2212659" cy="1135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>
                <a:latin typeface="+mn-ea"/>
                <a:ea typeface="+mn-ea"/>
              </a:rPr>
              <a:t>(X, Y)</a:t>
            </a:r>
            <a:r>
              <a:rPr lang="zh-CN" altLang="en-US" sz="2400">
                <a:latin typeface="+mn-ea"/>
                <a:ea typeface="+mn-ea"/>
              </a:rPr>
              <a:t>的联合分布函数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2465" name="Object 33"/>
              <p:cNvSpPr txBox="1">
                <a:spLocks noGrp="1"/>
              </p:cNvSpPr>
              <p:nvPr>
                <p:ph sz="quarter" idx="3"/>
              </p:nvPr>
            </p:nvSpPr>
            <p:spPr bwMode="auto">
              <a:xfrm>
                <a:off x="2593975" y="3304410"/>
                <a:ext cx="9203651" cy="34069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或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𝟗</m:t>
                                    </m:r>
                                  </m:num>
                                  <m:den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𝟐𝟓</m:t>
                                    </m:r>
                                  </m:den>
                                </m:f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num>
                                  <m:den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den>
                                </m:f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或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2465" name="Object 3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quarter" idx="3"/>
              </p:nvPr>
            </p:nvSpPr>
            <p:spPr bwMode="auto">
              <a:xfrm>
                <a:off x="2593975" y="3304410"/>
                <a:ext cx="9203651" cy="3406933"/>
              </a:xfrm>
              <a:prstGeom prst="rect">
                <a:avLst/>
              </a:prstGeom>
              <a:blipFill rotWithShape="1">
                <a:blip r:embed="rId3"/>
                <a:stretch>
                  <a:fillRect t="-15" r="6" b="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2498" name="Group 6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221535" y="1127489"/>
          <a:ext cx="4538125" cy="3026474"/>
        </p:xfrm>
        <a:graphic>
          <a:graphicData uri="http://schemas.openxmlformats.org/drawingml/2006/table">
            <a:tbl>
              <a:tblPr/>
              <a:tblGrid>
                <a:gridCol w="1081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16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8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215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91461" marR="91461"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marL="91461" marR="91461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1461" marR="91461"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p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i.</a:t>
                      </a:r>
                    </a:p>
                  </a:txBody>
                  <a:tcPr marL="91461" marR="91461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1771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marL="91461" marR="91461"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91461" marR="91461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91461" marR="91461"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91461" marR="91461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244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1461" marR="91461"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91461" marR="91461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91461" marR="91461"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91461" marR="91461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244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p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.j</a:t>
                      </a:r>
                    </a:p>
                  </a:txBody>
                  <a:tcPr marL="91461" marR="91461"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91461" marR="91461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91461" marR="91461"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1461" marR="91461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" name="Group 95"/>
          <p:cNvGrpSpPr/>
          <p:nvPr/>
        </p:nvGrpSpPr>
        <p:grpSpPr bwMode="auto">
          <a:xfrm>
            <a:off x="6196128" y="1051271"/>
            <a:ext cx="1155968" cy="770115"/>
            <a:chOff x="2773" y="2157"/>
            <a:chExt cx="728" cy="485"/>
          </a:xfrm>
        </p:grpSpPr>
        <p:sp>
          <p:nvSpPr>
            <p:cNvPr id="35883" name="Text Box 96"/>
            <p:cNvSpPr txBox="1">
              <a:spLocks noChangeArrowheads="1"/>
            </p:cNvSpPr>
            <p:nvPr/>
          </p:nvSpPr>
          <p:spPr bwMode="auto">
            <a:xfrm>
              <a:off x="3057" y="2354"/>
              <a:ext cx="3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 err="1">
                  <a:latin typeface="+mn-ea"/>
                  <a:ea typeface="+mn-ea"/>
                </a:rPr>
                <a:t>Pij</a:t>
              </a:r>
              <a:endParaRPr lang="en-US" altLang="zh-CN" sz="2000" dirty="0">
                <a:latin typeface="+mn-ea"/>
                <a:ea typeface="+mn-ea"/>
              </a:endParaRPr>
            </a:p>
          </p:txBody>
        </p:sp>
        <p:sp>
          <p:nvSpPr>
            <p:cNvPr id="35884" name="Text Box 97"/>
            <p:cNvSpPr txBox="1">
              <a:spLocks noChangeArrowheads="1"/>
            </p:cNvSpPr>
            <p:nvPr/>
          </p:nvSpPr>
          <p:spPr bwMode="auto">
            <a:xfrm>
              <a:off x="2773" y="2354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+mn-ea"/>
                  <a:ea typeface="+mn-ea"/>
                </a:rPr>
                <a:t>X</a:t>
              </a:r>
            </a:p>
          </p:txBody>
        </p:sp>
        <p:sp>
          <p:nvSpPr>
            <p:cNvPr id="35885" name="Text Box 98"/>
            <p:cNvSpPr txBox="1">
              <a:spLocks noChangeArrowheads="1"/>
            </p:cNvSpPr>
            <p:nvPr/>
          </p:nvSpPr>
          <p:spPr bwMode="auto">
            <a:xfrm>
              <a:off x="3261" y="2157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+mn-ea"/>
                  <a:ea typeface="+mn-ea"/>
                </a:rPr>
                <a:t>Y</a:t>
              </a:r>
            </a:p>
          </p:txBody>
        </p:sp>
        <p:sp>
          <p:nvSpPr>
            <p:cNvPr id="35886" name="Line 99"/>
            <p:cNvSpPr>
              <a:spLocks noChangeShapeType="1"/>
            </p:cNvSpPr>
            <p:nvPr/>
          </p:nvSpPr>
          <p:spPr bwMode="auto">
            <a:xfrm>
              <a:off x="2829" y="2213"/>
              <a:ext cx="646" cy="2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1">
                <a:latin typeface="+mn-ea"/>
              </a:endParaRPr>
            </a:p>
          </p:txBody>
        </p:sp>
        <p:sp>
          <p:nvSpPr>
            <p:cNvPr id="35887" name="Line 100"/>
            <p:cNvSpPr>
              <a:spLocks noChangeShapeType="1"/>
            </p:cNvSpPr>
            <p:nvPr/>
          </p:nvSpPr>
          <p:spPr bwMode="auto">
            <a:xfrm>
              <a:off x="2805" y="2197"/>
              <a:ext cx="383" cy="4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1">
                <a:latin typeface="+mn-ea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2533" name="Object 101"/>
              <p:cNvSpPr txBox="1">
                <a:spLocks noGrp="1"/>
              </p:cNvSpPr>
              <p:nvPr>
                <p:ph sz="half" idx="2"/>
              </p:nvPr>
            </p:nvSpPr>
            <p:spPr bwMode="auto">
              <a:xfrm>
                <a:off x="7585821" y="1438912"/>
                <a:ext cx="890793" cy="811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2533" name="Object 10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 bwMode="auto">
              <a:xfrm>
                <a:off x="7585821" y="1438912"/>
                <a:ext cx="890793" cy="811400"/>
              </a:xfrm>
              <a:prstGeom prst="rect">
                <a:avLst/>
              </a:prstGeom>
              <a:blipFill rotWithShape="1">
                <a:blip r:embed="rId4"/>
                <a:stretch>
                  <a:fillRect l="-12" r="71" b="-334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2534" name="Object 102"/>
              <p:cNvSpPr txBox="1"/>
              <p:nvPr/>
            </p:nvSpPr>
            <p:spPr bwMode="auto">
              <a:xfrm>
                <a:off x="8849455" y="1775338"/>
                <a:ext cx="944780" cy="811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US" b="1">
                  <a:latin typeface="+mn-ea"/>
                </a:endParaRPr>
              </a:p>
            </p:txBody>
          </p:sp>
        </mc:Choice>
        <mc:Fallback xmlns="">
          <p:sp>
            <p:nvSpPr>
              <p:cNvPr id="402534" name="Object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9455" y="1775338"/>
                <a:ext cx="944780" cy="811400"/>
              </a:xfrm>
              <a:prstGeom prst="rect">
                <a:avLst/>
              </a:prstGeom>
              <a:blipFill rotWithShape="1">
                <a:blip r:embed="rId5"/>
                <a:stretch>
                  <a:fillRect l="-10" t="-63" r="67" b="4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2535" name="Object 103"/>
              <p:cNvSpPr txBox="1"/>
              <p:nvPr/>
            </p:nvSpPr>
            <p:spPr bwMode="auto">
              <a:xfrm>
                <a:off x="7628385" y="2548629"/>
                <a:ext cx="1113766" cy="8114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402535" name="Object 1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28385" y="2548629"/>
                <a:ext cx="1113766" cy="811401"/>
              </a:xfrm>
              <a:prstGeom prst="rect">
                <a:avLst/>
              </a:prstGeom>
              <a:blipFill rotWithShape="1">
                <a:blip r:embed="rId6"/>
                <a:stretch>
                  <a:fillRect l="-12" t="-46" r="10" b="3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2536" name="Object 104"/>
              <p:cNvSpPr txBox="1"/>
              <p:nvPr/>
            </p:nvSpPr>
            <p:spPr bwMode="auto">
              <a:xfrm>
                <a:off x="8849454" y="2548629"/>
                <a:ext cx="970187" cy="8114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402536" name="Object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9454" y="2548629"/>
                <a:ext cx="970187" cy="811401"/>
              </a:xfrm>
              <a:prstGeom prst="rect">
                <a:avLst/>
              </a:prstGeom>
              <a:blipFill rotWithShape="1">
                <a:blip r:embed="rId7"/>
                <a:stretch>
                  <a:fillRect l="-10" t="-46" b="3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2537" name="Object 105"/>
              <p:cNvSpPr txBox="1"/>
              <p:nvPr/>
            </p:nvSpPr>
            <p:spPr bwMode="auto">
              <a:xfrm>
                <a:off x="10124512" y="2548629"/>
                <a:ext cx="304871" cy="8114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US" b="1">
                  <a:latin typeface="+mn-ea"/>
                </a:endParaRPr>
              </a:p>
            </p:txBody>
          </p:sp>
        </mc:Choice>
        <mc:Fallback xmlns="">
          <p:sp>
            <p:nvSpPr>
              <p:cNvPr id="402537" name="Object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124512" y="2548629"/>
                <a:ext cx="304871" cy="811401"/>
              </a:xfrm>
              <a:prstGeom prst="rect">
                <a:avLst/>
              </a:prstGeom>
              <a:blipFill rotWithShape="1">
                <a:blip r:embed="rId8"/>
                <a:stretch>
                  <a:fillRect l="-24" t="-46" r="47" b="3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2538" name="Object 106"/>
              <p:cNvSpPr txBox="1"/>
              <p:nvPr/>
            </p:nvSpPr>
            <p:spPr bwMode="auto">
              <a:xfrm>
                <a:off x="10124512" y="1775338"/>
                <a:ext cx="304871" cy="811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402538" name="Object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124512" y="1775338"/>
                <a:ext cx="304871" cy="811400"/>
              </a:xfrm>
              <a:prstGeom prst="rect">
                <a:avLst/>
              </a:prstGeom>
              <a:blipFill rotWithShape="1">
                <a:blip r:embed="rId9"/>
                <a:stretch>
                  <a:fillRect l="-24" t="-63" r="47" b="4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2539" name="Object 107"/>
              <p:cNvSpPr txBox="1"/>
              <p:nvPr/>
            </p:nvSpPr>
            <p:spPr bwMode="auto">
              <a:xfrm>
                <a:off x="7804638" y="3329860"/>
                <a:ext cx="304871" cy="8114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402539" name="Object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04638" y="3329860"/>
                <a:ext cx="304871" cy="811401"/>
              </a:xfrm>
              <a:prstGeom prst="rect">
                <a:avLst/>
              </a:prstGeom>
              <a:blipFill rotWithShape="1">
                <a:blip r:embed="rId9"/>
                <a:stretch>
                  <a:fillRect l="-160" t="-68" r="183" b="5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2540" name="Object 108"/>
              <p:cNvSpPr txBox="1"/>
              <p:nvPr/>
            </p:nvSpPr>
            <p:spPr bwMode="auto">
              <a:xfrm>
                <a:off x="9025708" y="3329860"/>
                <a:ext cx="304871" cy="8114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US" b="1">
                  <a:latin typeface="+mn-ea"/>
                </a:endParaRPr>
              </a:p>
            </p:txBody>
          </p:sp>
        </mc:Choice>
        <mc:Fallback xmlns="">
          <p:sp>
            <p:nvSpPr>
              <p:cNvPr id="402540" name="Object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25708" y="3329860"/>
                <a:ext cx="304871" cy="811401"/>
              </a:xfrm>
              <a:prstGeom prst="rect">
                <a:avLst/>
              </a:prstGeom>
              <a:blipFill rotWithShape="1">
                <a:blip r:embed="rId8"/>
                <a:stretch>
                  <a:fillRect l="-149" t="-68" r="172" b="5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2541" name="Rectangle 109"/>
          <p:cNvSpPr>
            <a:spLocks noChangeArrowheads="1"/>
          </p:cNvSpPr>
          <p:nvPr/>
        </p:nvSpPr>
        <p:spPr bwMode="auto">
          <a:xfrm>
            <a:off x="609916" y="3200287"/>
            <a:ext cx="4041459" cy="1135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因</a:t>
            </a:r>
            <a:r>
              <a:rPr lang="en-US" altLang="zh-CN" sz="2400" dirty="0" err="1">
                <a:latin typeface="+mn-ea"/>
                <a:ea typeface="+mn-ea"/>
              </a:rPr>
              <a:t>pij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pi.</a:t>
            </a:r>
            <a:r>
              <a:rPr lang="en-US" altLang="en-US" sz="2400" dirty="0">
                <a:latin typeface="+mn-ea"/>
                <a:ea typeface="+mn-ea"/>
              </a:rPr>
              <a:t>×</a:t>
            </a:r>
            <a:r>
              <a:rPr lang="en-US" altLang="zh-CN" sz="2400" dirty="0" err="1">
                <a:latin typeface="+mn-ea"/>
                <a:ea typeface="+mn-ea"/>
              </a:rPr>
              <a:t>p.j</a:t>
            </a:r>
            <a:r>
              <a:rPr lang="en-US" altLang="zh-CN" sz="2400" dirty="0">
                <a:latin typeface="+mn-ea"/>
                <a:ea typeface="+mn-ea"/>
              </a:rPr>
              <a:t>(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en-US" altLang="zh-CN" sz="2400" dirty="0">
                <a:latin typeface="+mn-ea"/>
                <a:ea typeface="+mn-ea"/>
              </a:rPr>
              <a:t>, j = 0, 1)</a:t>
            </a:r>
            <a:r>
              <a:rPr lang="zh-CN" altLang="en-US" sz="2400" dirty="0">
                <a:latin typeface="+mn-ea"/>
                <a:ea typeface="+mn-ea"/>
              </a:rPr>
              <a:t>，</a:t>
            </a:r>
          </a:p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en-US" altLang="zh-CN" sz="2400" dirty="0">
                <a:latin typeface="+mn-ea"/>
                <a:ea typeface="+mn-ea"/>
              </a:rPr>
              <a:t>X</a:t>
            </a:r>
            <a:r>
              <a:rPr lang="zh-CN" altLang="en-US" sz="2400" dirty="0">
                <a:latin typeface="+mn-ea"/>
                <a:ea typeface="+mn-ea"/>
              </a:rPr>
              <a:t>与</a:t>
            </a:r>
            <a:r>
              <a:rPr lang="en-US" altLang="zh-CN" sz="2400" dirty="0">
                <a:latin typeface="+mn-ea"/>
                <a:ea typeface="+mn-ea"/>
              </a:rPr>
              <a:t>Y</a:t>
            </a:r>
            <a:r>
              <a:rPr lang="zh-CN" altLang="en-US" sz="2400" dirty="0">
                <a:latin typeface="+mn-ea"/>
                <a:ea typeface="+mn-ea"/>
              </a:rPr>
              <a:t>相互独立</a:t>
            </a:r>
          </a:p>
        </p:txBody>
      </p:sp>
      <p:sp>
        <p:nvSpPr>
          <p:cNvPr id="25" name="椭圆形标注 24"/>
          <p:cNvSpPr>
            <a:spLocks noChangeArrowheads="1"/>
          </p:cNvSpPr>
          <p:nvPr/>
        </p:nvSpPr>
        <p:spPr bwMode="auto">
          <a:xfrm>
            <a:off x="10186113" y="4650897"/>
            <a:ext cx="2067403" cy="1297288"/>
          </a:xfrm>
          <a:prstGeom prst="wedgeEllipseCallout">
            <a:avLst>
              <a:gd name="adj1" fmla="val -224634"/>
              <a:gd name="adj2" fmla="val -90745"/>
            </a:avLst>
          </a:prstGeom>
          <a:solidFill>
            <a:schemeClr val="accent1">
              <a:alpha val="70195"/>
            </a:schemeClr>
          </a:solidFill>
          <a:ln w="9525" algn="ctr">
            <a:solidFill>
              <a:srgbClr val="0000FF"/>
            </a:solidFill>
            <a:round/>
          </a:ln>
        </p:spPr>
        <p:txBody>
          <a:bodyPr lIns="0" tIns="0" rIns="0" bIns="0" anchor="ctr"/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>
                <a:latin typeface="+mn-ea"/>
                <a:ea typeface="+mn-ea"/>
              </a:rPr>
              <a:t>条件分布律即边缘分布律</a:t>
            </a:r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24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24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85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24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24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95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024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24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4024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40249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4024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4024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0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0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40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40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40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40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40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40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02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02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5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025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025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024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024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402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2455" grpId="0" uiExpand="1" build="p"/>
      <p:bldP spid="402456" grpId="0" build="p" autoUpdateAnimBg="0"/>
      <p:bldP spid="402465" grpId="0" build="p"/>
      <p:bldP spid="402533" grpId="0" build="p"/>
      <p:bldP spid="402534" grpId="0"/>
      <p:bldP spid="402535" grpId="0"/>
      <p:bldP spid="402536" grpId="0"/>
      <p:bldP spid="402537" grpId="0"/>
      <p:bldP spid="402538" grpId="0"/>
      <p:bldP spid="402539" grpId="0"/>
      <p:bldP spid="402540" grpId="0"/>
      <p:bldP spid="402541" grpId="0" build="p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黑体" panose="02010609060101010101" pitchFamily="49" charset="-122"/>
              </a:rPr>
              <a:t>连续型二维随机变量</a:t>
            </a:r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0375" y="1219994"/>
            <a:ext cx="10896600" cy="1292524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若存在非负可积函数</a:t>
            </a:r>
            <a:r>
              <a:rPr lang="en-US" altLang="zh-CN" dirty="0"/>
              <a:t>f(x, y)</a:t>
            </a:r>
            <a:r>
              <a:rPr lang="zh-CN" altLang="en-US" dirty="0"/>
              <a:t>，使得二维</a:t>
            </a:r>
            <a:r>
              <a:rPr lang="en-US" altLang="zh-CN" dirty="0"/>
              <a:t>R.V.(X, Y)</a:t>
            </a:r>
            <a:r>
              <a:rPr lang="zh-CN" altLang="en-US" dirty="0"/>
              <a:t>的联合分布函数满足：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788" name="Object 4"/>
              <p:cNvSpPr txBox="1"/>
              <p:nvPr/>
            </p:nvSpPr>
            <p:spPr bwMode="auto">
              <a:xfrm>
                <a:off x="1374775" y="2207748"/>
                <a:ext cx="7772400" cy="175544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nary>
                            <m:nary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−∞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𝑑𝑢𝑑𝑣</m:t>
                              </m:r>
                            </m:e>
                          </m:nary>
                        </m:e>
                      </m:nary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−∞&lt;</m:t>
                                      </m:r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&lt;+∞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−∞&lt;</m:t>
                                      </m:r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&lt;+∞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en-US" dirty="0">
                  <a:latin typeface="+mn-ea"/>
                </a:endParaRPr>
              </a:p>
            </p:txBody>
          </p:sp>
        </mc:Choice>
        <mc:Fallback xmlns="">
          <p:sp>
            <p:nvSpPr>
              <p:cNvPr id="374788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74775" y="2207748"/>
                <a:ext cx="7772400" cy="1755446"/>
              </a:xfrm>
              <a:prstGeom prst="rect">
                <a:avLst/>
              </a:prstGeom>
              <a:blipFill rotWithShape="1">
                <a:blip r:embed="rId2"/>
                <a:stretch>
                  <a:fillRect t="-28" b="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4789" name="Rectangle 5"/>
          <p:cNvSpPr>
            <a:spLocks noChangeArrowheads="1"/>
          </p:cNvSpPr>
          <p:nvPr/>
        </p:nvSpPr>
        <p:spPr bwMode="auto">
          <a:xfrm>
            <a:off x="525618" y="3963194"/>
            <a:ext cx="10831357" cy="1130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ea"/>
                <a:ea typeface="+mn-ea"/>
              </a:rPr>
              <a:t>则称</a:t>
            </a:r>
            <a:r>
              <a:rPr lang="en-US" altLang="zh-CN" sz="2400" dirty="0">
                <a:latin typeface="+mn-ea"/>
                <a:ea typeface="+mn-ea"/>
              </a:rPr>
              <a:t>(X, Y)</a:t>
            </a:r>
            <a:r>
              <a:rPr lang="zh-CN" altLang="en-US" sz="2400" dirty="0">
                <a:latin typeface="+mn-ea"/>
                <a:ea typeface="+mn-ea"/>
              </a:rPr>
              <a:t>为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连续型二维随机变量</a:t>
            </a:r>
            <a:r>
              <a:rPr lang="zh-CN" altLang="en-US" sz="2400" dirty="0">
                <a:latin typeface="+mn-ea"/>
                <a:ea typeface="+mn-ea"/>
              </a:rPr>
              <a:t>，并称</a:t>
            </a:r>
            <a:r>
              <a:rPr lang="en-US" altLang="zh-CN" sz="2400" dirty="0">
                <a:latin typeface="+mn-ea"/>
                <a:ea typeface="+mn-ea"/>
              </a:rPr>
              <a:t>f(x, y)</a:t>
            </a:r>
            <a:r>
              <a:rPr lang="zh-CN" altLang="en-US" sz="2400" dirty="0">
                <a:latin typeface="+mn-ea"/>
                <a:ea typeface="+mn-ea"/>
              </a:rPr>
              <a:t>为连续型二维随机变量的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联合概率密度函数</a:t>
            </a:r>
            <a:r>
              <a:rPr lang="zh-CN" altLang="en-US" sz="2400" dirty="0">
                <a:latin typeface="+mn-ea"/>
                <a:ea typeface="+mn-ea"/>
              </a:rPr>
              <a:t>，简称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联合概率密度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4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4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74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747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47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4787" grpId="0" build="p"/>
      <p:bldP spid="374788" grpId="0"/>
      <p:bldP spid="37478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黑体" panose="02010609060101010101" pitchFamily="49" charset="-122"/>
                <a:cs typeface="Times New Roman" panose="02020603050405020304" pitchFamily="18" charset="0"/>
              </a:rPr>
              <a:t>联合概率密度的性质</a:t>
            </a:r>
          </a:p>
        </p:txBody>
      </p:sp>
      <p:sp>
        <p:nvSpPr>
          <p:cNvPr id="378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4700" y="1283831"/>
            <a:ext cx="4430150" cy="646263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FF00"/>
                </a:solidFill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FF00"/>
                </a:solidFill>
                <a:cs typeface="Times New Roman" panose="02020603050405020304" pitchFamily="18" charset="0"/>
              </a:rPr>
              <a:t>）</a:t>
            </a:r>
            <a:r>
              <a:rPr lang="en-US" altLang="zh-CN" dirty="0">
                <a:cs typeface="Times New Roman" panose="02020603050405020304" pitchFamily="18" charset="0"/>
              </a:rPr>
              <a:t>f(x, y) ≥ 0</a:t>
            </a:r>
            <a:r>
              <a:rPr lang="zh-CN" altLang="en-US" dirty="0">
                <a:cs typeface="Times New Roman" panose="02020603050405020304" pitchFamily="18" charset="0"/>
              </a:rPr>
              <a:t>；</a:t>
            </a:r>
            <a:endParaRPr lang="zh-CN" altLang="en-US" dirty="0">
              <a:solidFill>
                <a:srgbClr val="00FF00"/>
              </a:solidFill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5812" name="Object 4"/>
              <p:cNvSpPr txBox="1"/>
              <p:nvPr/>
            </p:nvSpPr>
            <p:spPr bwMode="auto">
              <a:xfrm>
                <a:off x="1374775" y="2155692"/>
                <a:ext cx="4638552" cy="108764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nary>
                            <m:nary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−∞</m:t>
                              </m:r>
                            </m:sub>
                            <m:sup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+∞</m:t>
                              </m:r>
                            </m:sup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𝒅𝒙𝒅𝒚</m:t>
                              </m:r>
                            </m:e>
                          </m:nary>
                        </m:e>
                      </m:nary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75812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74775" y="2155692"/>
                <a:ext cx="4638552" cy="1087646"/>
              </a:xfrm>
              <a:prstGeom prst="rect">
                <a:avLst/>
              </a:prstGeom>
              <a:blipFill rotWithShape="1">
                <a:blip r:embed="rId2"/>
                <a:stretch>
                  <a:fillRect t="-46" r="11" b="3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813" name="Rectangle 5"/>
          <p:cNvSpPr>
            <a:spLocks noChangeArrowheads="1"/>
          </p:cNvSpPr>
          <p:nvPr/>
        </p:nvSpPr>
        <p:spPr bwMode="auto">
          <a:xfrm>
            <a:off x="311132" y="3432880"/>
            <a:ext cx="11576086" cy="470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</a:rPr>
              <a:t>    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</a:rPr>
              <a:t>如果一个函数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</a:rPr>
              <a:t>f(x, y)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</a:rPr>
              <a:t>具有性质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</a:rPr>
              <a:t>1)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</a:rPr>
              <a:t>2)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</a:rPr>
              <a:t>，则它一定是某个二维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</a:rPr>
              <a:t>R.V.(X, Y)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</a:rPr>
              <a:t>的概率密度。</a:t>
            </a:r>
          </a:p>
        </p:txBody>
      </p:sp>
      <p:sp>
        <p:nvSpPr>
          <p:cNvPr id="375814" name="Rectangle 6"/>
          <p:cNvSpPr>
            <a:spLocks noChangeArrowheads="1"/>
          </p:cNvSpPr>
          <p:nvPr/>
        </p:nvSpPr>
        <p:spPr bwMode="auto">
          <a:xfrm>
            <a:off x="774700" y="4176926"/>
            <a:ext cx="6157750" cy="556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8" tIns="36008" rIns="36008" bIns="36008">
            <a:spAutoFit/>
          </a:bodyPr>
          <a:lstStyle>
            <a:lvl1pPr marL="533400" indent="-5334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FF00"/>
                </a:solidFill>
                <a:latin typeface="+mn-ea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2400">
                <a:solidFill>
                  <a:srgbClr val="00FF00"/>
                </a:solidFill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  <a:r>
              <a:rPr lang="zh-CN" altLang="en-US" sz="2400">
                <a:latin typeface="+mn-ea"/>
                <a:ea typeface="+mn-ea"/>
                <a:cs typeface="Times New Roman" panose="02020603050405020304" pitchFamily="18" charset="0"/>
              </a:rPr>
              <a:t>在</a:t>
            </a:r>
            <a:r>
              <a:rPr lang="en-US" altLang="zh-CN" sz="2400">
                <a:latin typeface="+mn-ea"/>
                <a:ea typeface="+mn-ea"/>
                <a:cs typeface="Times New Roman" panose="02020603050405020304" pitchFamily="18" charset="0"/>
              </a:rPr>
              <a:t>f(x, y)</a:t>
            </a:r>
            <a:r>
              <a:rPr lang="zh-CN" altLang="en-US" sz="2400">
                <a:latin typeface="+mn-ea"/>
                <a:ea typeface="+mn-ea"/>
                <a:cs typeface="Times New Roman" panose="02020603050405020304" pitchFamily="18" charset="0"/>
              </a:rPr>
              <a:t>的连续点</a:t>
            </a:r>
            <a:r>
              <a:rPr lang="en-US" altLang="zh-CN" sz="2400">
                <a:latin typeface="+mn-ea"/>
                <a:ea typeface="+mn-ea"/>
                <a:cs typeface="Times New Roman" panose="02020603050405020304" pitchFamily="18" charset="0"/>
              </a:rPr>
              <a:t>(x, y)</a:t>
            </a:r>
            <a:r>
              <a:rPr lang="zh-CN" altLang="en-US" sz="2400">
                <a:latin typeface="+mn-ea"/>
                <a:ea typeface="+mn-ea"/>
                <a:cs typeface="Times New Roman" panose="02020603050405020304" pitchFamily="18" charset="0"/>
              </a:rPr>
              <a:t>处，有</a:t>
            </a:r>
            <a:endParaRPr lang="zh-CN" altLang="en-US" sz="2400">
              <a:solidFill>
                <a:srgbClr val="00FF00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5815" name="Object 7"/>
              <p:cNvSpPr txBox="1"/>
              <p:nvPr/>
            </p:nvSpPr>
            <p:spPr bwMode="auto">
              <a:xfrm>
                <a:off x="5718175" y="4065733"/>
                <a:ext cx="3723818" cy="133565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</m:e>
                            <m:sup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den>
                      </m:f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);</m:t>
                      </m:r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75815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18175" y="4065733"/>
                <a:ext cx="3723818" cy="1335653"/>
              </a:xfrm>
              <a:prstGeom prst="rect">
                <a:avLst/>
              </a:prstGeom>
              <a:blipFill rotWithShape="1">
                <a:blip r:embed="rId3"/>
                <a:stretch>
                  <a:fillRect t="-35" r="5" b="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816" name="Rectangle 8"/>
          <p:cNvSpPr>
            <a:spLocks noChangeArrowheads="1"/>
          </p:cNvSpPr>
          <p:nvPr/>
        </p:nvSpPr>
        <p:spPr bwMode="auto">
          <a:xfrm>
            <a:off x="774700" y="5419335"/>
            <a:ext cx="755825" cy="556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8" tIns="36008" rIns="36008" bIns="36008">
            <a:spAutoFit/>
          </a:bodyPr>
          <a:lstStyle>
            <a:lvl1pPr marL="533400" indent="-5334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FF00"/>
                </a:solidFill>
                <a:latin typeface="+mn-ea"/>
                <a:ea typeface="+mn-ea"/>
                <a:cs typeface="Times New Roman" panose="02020603050405020304" pitchFamily="18" charset="0"/>
              </a:rPr>
              <a:t>4</a:t>
            </a:r>
            <a:r>
              <a:rPr lang="zh-CN" altLang="en-US" sz="2400">
                <a:solidFill>
                  <a:srgbClr val="00FF00"/>
                </a:solidFill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5817" name="Object 9"/>
              <p:cNvSpPr txBox="1"/>
              <p:nvPr/>
            </p:nvSpPr>
            <p:spPr bwMode="auto">
              <a:xfrm>
                <a:off x="1273467" y="5241927"/>
                <a:ext cx="5200533" cy="133565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{(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}=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sub>
                        <m:sup/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𝒅𝒙𝒅𝒚</m:t>
                          </m:r>
                        </m:e>
                      </m:nary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。</m:t>
                      </m:r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75817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73467" y="5241927"/>
                <a:ext cx="5200533" cy="1335653"/>
              </a:xfrm>
              <a:prstGeom prst="rect">
                <a:avLst/>
              </a:prstGeom>
              <a:blipFill rotWithShape="1">
                <a:blip r:embed="rId4"/>
                <a:stretch>
                  <a:fillRect l="-6" r="3" b="1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818" name="Rectangle 10"/>
          <p:cNvSpPr>
            <a:spLocks noChangeArrowheads="1"/>
          </p:cNvSpPr>
          <p:nvPr/>
        </p:nvSpPr>
        <p:spPr bwMode="auto">
          <a:xfrm>
            <a:off x="774700" y="2408042"/>
            <a:ext cx="68159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zh-CN" sz="2400">
                <a:solidFill>
                  <a:srgbClr val="00FF00"/>
                </a:solidFill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400">
                <a:solidFill>
                  <a:srgbClr val="00FF00"/>
                </a:solidFill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7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5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5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75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58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58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58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58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375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58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58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375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3" grpId="0" build="p"/>
      <p:bldP spid="375812" grpId="0"/>
      <p:bldP spid="375813" grpId="0" autoUpdateAnimBg="0"/>
      <p:bldP spid="375814" grpId="0" autoUpdateAnimBg="0"/>
      <p:bldP spid="375815" grpId="0"/>
      <p:bldP spid="375816" grpId="0" autoUpdateAnimBg="0"/>
      <p:bldP spid="375817" grpId="0"/>
      <p:bldP spid="375818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黑体" panose="02010609060101010101" pitchFamily="49" charset="-122"/>
              </a:rPr>
              <a:t>边缘分布函数</a:t>
            </a:r>
          </a:p>
        </p:txBody>
      </p:sp>
      <p:sp>
        <p:nvSpPr>
          <p:cNvPr id="376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0375" y="882161"/>
            <a:ext cx="11125200" cy="2564406"/>
          </a:xfrm>
        </p:spPr>
        <p:txBody>
          <a:bodyPr>
            <a:no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设二维</a:t>
            </a:r>
            <a:r>
              <a:rPr lang="en-US" altLang="zh-CN" dirty="0"/>
              <a:t>R.V.(X, Y)</a:t>
            </a:r>
            <a:r>
              <a:rPr lang="zh-CN" altLang="en-US" dirty="0"/>
              <a:t>的联合分布函数为</a:t>
            </a:r>
            <a:r>
              <a:rPr lang="en-US" altLang="zh-CN" dirty="0"/>
              <a:t>F(x, y)</a:t>
            </a:r>
            <a:r>
              <a:rPr lang="zh-CN" altLang="en-US" dirty="0"/>
              <a:t>，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F</a:t>
            </a:r>
            <a:r>
              <a:rPr lang="en-US" altLang="zh-CN" baseline="-25000" dirty="0"/>
              <a:t>X</a:t>
            </a:r>
            <a:r>
              <a:rPr lang="en-US" altLang="zh-CN" dirty="0"/>
              <a:t>(x)</a:t>
            </a:r>
            <a:r>
              <a:rPr lang="zh-CN" altLang="en-US" dirty="0"/>
              <a:t>＝</a:t>
            </a:r>
            <a:r>
              <a:rPr lang="en-US" altLang="zh-CN" dirty="0"/>
              <a:t>F(x, +∞)</a:t>
            </a:r>
            <a:r>
              <a:rPr lang="zh-CN" altLang="en-US" dirty="0"/>
              <a:t>，   </a:t>
            </a:r>
            <a:r>
              <a:rPr lang="en-US" altLang="zh-CN" dirty="0"/>
              <a:t>-∞ &lt; x &lt; +∞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称为</a:t>
            </a:r>
            <a:r>
              <a:rPr lang="en-US" altLang="zh-CN" dirty="0"/>
              <a:t>R.V.X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00FF"/>
                </a:solidFill>
              </a:rPr>
              <a:t>边缘分布函数</a:t>
            </a:r>
            <a:r>
              <a:rPr lang="zh-CN" altLang="en-US" dirty="0"/>
              <a:t>。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F</a:t>
            </a:r>
            <a:r>
              <a:rPr lang="en-US" altLang="zh-CN" baseline="-25000" dirty="0"/>
              <a:t>Y</a:t>
            </a:r>
            <a:r>
              <a:rPr lang="en-US" altLang="zh-CN" dirty="0"/>
              <a:t>(y)</a:t>
            </a:r>
            <a:r>
              <a:rPr lang="zh-CN" altLang="en-US" dirty="0"/>
              <a:t>＝</a:t>
            </a:r>
            <a:r>
              <a:rPr lang="en-US" altLang="zh-CN" dirty="0"/>
              <a:t>F(+∞, y)</a:t>
            </a:r>
            <a:r>
              <a:rPr lang="zh-CN" altLang="en-US" dirty="0"/>
              <a:t>，   </a:t>
            </a:r>
            <a:r>
              <a:rPr lang="en-US" altLang="zh-CN" dirty="0"/>
              <a:t>-∞ &lt; y &lt; +∞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称为</a:t>
            </a:r>
            <a:r>
              <a:rPr lang="en-US" altLang="zh-CN" dirty="0"/>
              <a:t>R.V.Y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00FF"/>
                </a:solidFill>
              </a:rPr>
              <a:t>边缘分布函数</a:t>
            </a:r>
            <a:r>
              <a:rPr lang="zh-CN" altLang="en-US" dirty="0"/>
              <a:t>。</a:t>
            </a:r>
          </a:p>
        </p:txBody>
      </p:sp>
      <p:sp>
        <p:nvSpPr>
          <p:cNvPr id="376836" name="Rectangle 4"/>
          <p:cNvSpPr>
            <a:spLocks noChangeArrowheads="1"/>
          </p:cNvSpPr>
          <p:nvPr/>
        </p:nvSpPr>
        <p:spPr bwMode="auto">
          <a:xfrm>
            <a:off x="612775" y="3837416"/>
            <a:ext cx="9220200" cy="3079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8" tIns="36008" rIns="36008" bIns="36008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ea"/>
                <a:ea typeface="+mn-ea"/>
              </a:rPr>
              <a:t>设二维</a:t>
            </a:r>
            <a:r>
              <a:rPr lang="en-US" altLang="zh-CN" sz="2400" dirty="0">
                <a:latin typeface="+mn-ea"/>
                <a:ea typeface="+mn-ea"/>
              </a:rPr>
              <a:t>R.V.(X, Y)</a:t>
            </a:r>
            <a:r>
              <a:rPr lang="zh-CN" altLang="en-US" sz="2400" dirty="0">
                <a:latin typeface="+mn-ea"/>
                <a:ea typeface="+mn-ea"/>
              </a:rPr>
              <a:t>的联合概率密度为</a:t>
            </a:r>
            <a:r>
              <a:rPr lang="en-US" altLang="zh-CN" sz="2400" dirty="0">
                <a:latin typeface="+mn-ea"/>
                <a:ea typeface="+mn-ea"/>
              </a:rPr>
              <a:t>f(x, y)</a:t>
            </a:r>
            <a:r>
              <a:rPr lang="zh-CN" altLang="en-US" sz="2400" dirty="0">
                <a:latin typeface="+mn-ea"/>
                <a:ea typeface="+mn-ea"/>
              </a:rPr>
              <a:t>，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ea"/>
                <a:ea typeface="+mn-ea"/>
              </a:rPr>
              <a:t>				  ，	</a:t>
            </a:r>
            <a:r>
              <a:rPr lang="en-US" altLang="zh-CN" sz="2400" dirty="0">
                <a:latin typeface="+mn-ea"/>
                <a:ea typeface="+mn-ea"/>
              </a:rPr>
              <a:t>-∞ &lt; x &lt; +∞</a:t>
            </a:r>
          </a:p>
          <a:p>
            <a:pPr eaLnBrk="1" hangingPunct="1">
              <a:spcBef>
                <a:spcPts val="300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ea"/>
                <a:ea typeface="+mn-ea"/>
              </a:rPr>
              <a:t>称为</a:t>
            </a:r>
            <a:r>
              <a:rPr lang="en-US" altLang="zh-CN" sz="2400" dirty="0">
                <a:latin typeface="+mn-ea"/>
                <a:ea typeface="+mn-ea"/>
              </a:rPr>
              <a:t>R.V.X</a:t>
            </a:r>
            <a:r>
              <a:rPr lang="zh-CN" altLang="en-US" sz="2400" dirty="0">
                <a:latin typeface="+mn-ea"/>
                <a:ea typeface="+mn-ea"/>
              </a:rPr>
              <a:t>的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边缘概率密度函数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endParaRPr lang="en-US" altLang="zh-CN" sz="2400" dirty="0">
              <a:latin typeface="+mn-ea"/>
              <a:ea typeface="+mn-ea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ea"/>
                <a:ea typeface="+mn-ea"/>
              </a:rPr>
              <a:t>				  ，	</a:t>
            </a:r>
            <a:r>
              <a:rPr lang="en-US" altLang="zh-CN" sz="2400" dirty="0">
                <a:latin typeface="+mn-ea"/>
                <a:ea typeface="+mn-ea"/>
              </a:rPr>
              <a:t>-∞ &lt; y &lt; +∞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ea"/>
                <a:ea typeface="+mn-ea"/>
              </a:rPr>
              <a:t>称为</a:t>
            </a:r>
            <a:r>
              <a:rPr lang="en-US" altLang="zh-CN" sz="2400" dirty="0">
                <a:latin typeface="+mn-ea"/>
                <a:ea typeface="+mn-ea"/>
              </a:rPr>
              <a:t>R.V.Y</a:t>
            </a:r>
            <a:r>
              <a:rPr lang="zh-CN" altLang="en-US" sz="2400" dirty="0">
                <a:latin typeface="+mn-ea"/>
                <a:ea typeface="+mn-ea"/>
              </a:rPr>
              <a:t>的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边缘概率密度函数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6837" name="Object 5"/>
              <p:cNvSpPr txBox="1"/>
              <p:nvPr/>
            </p:nvSpPr>
            <p:spPr bwMode="auto">
              <a:xfrm>
                <a:off x="1352737" y="4297336"/>
                <a:ext cx="6651437" cy="74629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e>
                      </m:nary>
                    </m:oMath>
                  </m:oMathPara>
                </a14:m>
                <a:endParaRPr lang="en-US" dirty="0">
                  <a:latin typeface="+mn-ea"/>
                </a:endParaRPr>
              </a:p>
            </p:txBody>
          </p:sp>
        </mc:Choice>
        <mc:Fallback xmlns="">
          <p:sp>
            <p:nvSpPr>
              <p:cNvPr id="376837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52737" y="4297336"/>
                <a:ext cx="6651437" cy="746298"/>
              </a:xfrm>
              <a:prstGeom prst="rect">
                <a:avLst/>
              </a:prstGeom>
              <a:blipFill rotWithShape="1">
                <a:blip r:embed="rId2"/>
                <a:stretch>
                  <a:fillRect l="-3" t="-39" r="10" b="-1321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6838" name="Object 6"/>
              <p:cNvSpPr txBox="1"/>
              <p:nvPr/>
            </p:nvSpPr>
            <p:spPr bwMode="auto">
              <a:xfrm>
                <a:off x="1222375" y="5729894"/>
                <a:ext cx="5279837" cy="74629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dirty="0">
                  <a:latin typeface="+mn-ea"/>
                </a:endParaRPr>
              </a:p>
            </p:txBody>
          </p:sp>
        </mc:Choice>
        <mc:Fallback xmlns="">
          <p:sp>
            <p:nvSpPr>
              <p:cNvPr id="376838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22375" y="5729894"/>
                <a:ext cx="5279837" cy="746298"/>
              </a:xfrm>
              <a:prstGeom prst="rect">
                <a:avLst/>
              </a:prstGeom>
              <a:blipFill rotWithShape="1">
                <a:blip r:embed="rId3"/>
                <a:stretch>
                  <a:fillRect t="-39" r="8" b="-1321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6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6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6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6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76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6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76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6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76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76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768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768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68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68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768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768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376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768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768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376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768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768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6835" grpId="0" build="p"/>
      <p:bldP spid="376836" grpId="0" uiExpand="1" build="p" autoUpdateAnimBg="0"/>
      <p:bldP spid="376837" grpId="0"/>
      <p:bldP spid="37683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黑体" panose="02010609060101010101" pitchFamily="49" charset="-122"/>
              </a:rPr>
              <a:t>条件概率密度与条件分布函数</a:t>
            </a:r>
          </a:p>
        </p:txBody>
      </p:sp>
      <p:sp>
        <p:nvSpPr>
          <p:cNvPr id="377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8600" y="909276"/>
            <a:ext cx="11409375" cy="2749118"/>
          </a:xfrm>
        </p:spPr>
        <p:txBody>
          <a:bodyPr>
            <a:normAutofit/>
          </a:bodyPr>
          <a:lstStyle/>
          <a:p>
            <a:pPr algn="ctr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 err="1"/>
              <a:t>f</a:t>
            </a:r>
            <a:r>
              <a:rPr lang="en-US" altLang="zh-CN" baseline="-25000" dirty="0" err="1"/>
              <a:t>Y|X</a:t>
            </a:r>
            <a:r>
              <a:rPr lang="en-US" altLang="zh-CN" dirty="0"/>
              <a:t>(</a:t>
            </a:r>
            <a:r>
              <a:rPr lang="en-US" altLang="zh-CN" dirty="0" err="1"/>
              <a:t>y|x</a:t>
            </a:r>
            <a:r>
              <a:rPr lang="en-US" altLang="zh-CN" dirty="0"/>
              <a:t>)</a:t>
            </a:r>
            <a:r>
              <a:rPr lang="zh-CN" altLang="en-US" dirty="0"/>
              <a:t>＝</a:t>
            </a:r>
            <a:r>
              <a:rPr lang="en-US" altLang="zh-CN" dirty="0"/>
              <a:t>f(x, y)∕</a:t>
            </a:r>
            <a:r>
              <a:rPr lang="en-US" altLang="zh-CN" dirty="0" err="1"/>
              <a:t>f</a:t>
            </a:r>
            <a:r>
              <a:rPr lang="en-US" altLang="zh-CN" baseline="-25000" dirty="0" err="1"/>
              <a:t>X</a:t>
            </a:r>
            <a:r>
              <a:rPr lang="en-US" altLang="zh-CN" dirty="0"/>
              <a:t>(x)</a:t>
            </a:r>
            <a:r>
              <a:rPr lang="zh-CN" altLang="en-US" dirty="0"/>
              <a:t>，</a:t>
            </a:r>
            <a:r>
              <a:rPr lang="en-US" altLang="zh-CN" dirty="0"/>
              <a:t>-∞ &lt; x &lt; +∞, -∞ &lt; y &lt; +∞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称为已知</a:t>
            </a:r>
            <a:r>
              <a:rPr lang="en-US" altLang="zh-CN" dirty="0"/>
              <a:t>X=x</a:t>
            </a:r>
            <a:r>
              <a:rPr lang="zh-CN" altLang="en-US" dirty="0"/>
              <a:t>的条件下，</a:t>
            </a:r>
            <a:r>
              <a:rPr lang="en-US" altLang="zh-CN" dirty="0"/>
              <a:t>R.V.Y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00FF"/>
                </a:solidFill>
              </a:rPr>
              <a:t>条件概率密度</a:t>
            </a:r>
            <a:r>
              <a:rPr lang="zh-CN" altLang="en-US" dirty="0"/>
              <a:t>。</a:t>
            </a:r>
          </a:p>
          <a:p>
            <a:pPr algn="ctr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 err="1"/>
              <a:t>f</a:t>
            </a:r>
            <a:r>
              <a:rPr lang="en-US" altLang="zh-CN" baseline="-25000" dirty="0" err="1"/>
              <a:t>X|Y</a:t>
            </a:r>
            <a:r>
              <a:rPr lang="en-US" altLang="zh-CN" dirty="0"/>
              <a:t>(</a:t>
            </a:r>
            <a:r>
              <a:rPr lang="en-US" altLang="zh-CN" dirty="0" err="1"/>
              <a:t>x|y</a:t>
            </a:r>
            <a:r>
              <a:rPr lang="en-US" altLang="zh-CN" dirty="0"/>
              <a:t>)</a:t>
            </a:r>
            <a:r>
              <a:rPr lang="zh-CN" altLang="en-US" dirty="0"/>
              <a:t>＝</a:t>
            </a:r>
            <a:r>
              <a:rPr lang="en-US" altLang="zh-CN" dirty="0"/>
              <a:t>f(x, y)∕</a:t>
            </a:r>
            <a:r>
              <a:rPr lang="en-US" altLang="zh-CN" dirty="0" err="1"/>
              <a:t>f</a:t>
            </a:r>
            <a:r>
              <a:rPr lang="en-US" altLang="zh-CN" baseline="-25000" dirty="0" err="1"/>
              <a:t>Y</a:t>
            </a:r>
            <a:r>
              <a:rPr lang="en-US" altLang="zh-CN" dirty="0"/>
              <a:t>(y)</a:t>
            </a:r>
            <a:r>
              <a:rPr lang="zh-CN" altLang="en-US" dirty="0"/>
              <a:t>，</a:t>
            </a:r>
            <a:r>
              <a:rPr lang="en-US" altLang="zh-CN" dirty="0"/>
              <a:t>-∞ &lt; x &lt; +∞, -∞ &lt; y &lt; +∞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称为已知</a:t>
            </a:r>
            <a:r>
              <a:rPr lang="en-US" altLang="zh-CN" dirty="0"/>
              <a:t>Y=y</a:t>
            </a:r>
            <a:r>
              <a:rPr lang="zh-CN" altLang="en-US" dirty="0"/>
              <a:t>的条件下，</a:t>
            </a:r>
            <a:r>
              <a:rPr lang="en-US" altLang="zh-CN" dirty="0"/>
              <a:t>R.V.X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00FF"/>
                </a:solidFill>
              </a:rPr>
              <a:t>条件概率密度</a:t>
            </a:r>
            <a:r>
              <a:rPr lang="zh-CN" altLang="en-US" dirty="0"/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7860" name="Object 4"/>
              <p:cNvSpPr txBox="1"/>
              <p:nvPr/>
            </p:nvSpPr>
            <p:spPr bwMode="auto">
              <a:xfrm>
                <a:off x="2204938" y="3593982"/>
                <a:ext cx="7656697" cy="132428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sup>
                        <m:e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𝒅𝒚</m:t>
                          </m:r>
                        </m:e>
                      </m:nary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−∞</m:t>
                              </m:r>
                            </m:sub>
                            <m:sup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sup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𝒅𝒚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−∞</m:t>
                              </m:r>
                            </m:sub>
                            <m:sup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+∞</m:t>
                              </m:r>
                            </m:sup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𝒅𝒚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77860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04938" y="3593982"/>
                <a:ext cx="7656697" cy="1324281"/>
              </a:xfrm>
              <a:prstGeom prst="rect">
                <a:avLst/>
              </a:prstGeom>
              <a:blipFill rotWithShape="1">
                <a:blip r:embed="rId2"/>
                <a:stretch>
                  <a:fillRect l="-3" t="-39" r="1" b="1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7861" name="Object 5"/>
              <p:cNvSpPr txBox="1"/>
              <p:nvPr/>
            </p:nvSpPr>
            <p:spPr bwMode="auto">
              <a:xfrm>
                <a:off x="2204938" y="5249616"/>
                <a:ext cx="7628115" cy="132428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  <m:e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𝒅𝒙</m:t>
                          </m:r>
                        </m:e>
                      </m:nary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−∞</m:t>
                              </m:r>
                            </m:sub>
                            <m:sup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p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𝒅𝒙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−∞</m:t>
                              </m:r>
                            </m:sub>
                            <m:sup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+∞</m:t>
                              </m:r>
                            </m:sup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𝒅𝒙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77861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04938" y="5249616"/>
                <a:ext cx="7628115" cy="1324281"/>
              </a:xfrm>
              <a:prstGeom prst="rect">
                <a:avLst/>
              </a:prstGeom>
              <a:blipFill rotWithShape="1">
                <a:blip r:embed="rId3"/>
                <a:stretch>
                  <a:fillRect l="-3" t="-5" r="1" b="2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7862" name="Rectangle 6"/>
          <p:cNvSpPr>
            <a:spLocks noChangeArrowheads="1"/>
          </p:cNvSpPr>
          <p:nvPr/>
        </p:nvSpPr>
        <p:spPr bwMode="auto">
          <a:xfrm>
            <a:off x="457217" y="4497371"/>
            <a:ext cx="67782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称为已知</a:t>
            </a:r>
            <a:r>
              <a:rPr lang="en-US" altLang="zh-CN" sz="2400" dirty="0">
                <a:latin typeface="+mn-ea"/>
                <a:ea typeface="+mn-ea"/>
              </a:rPr>
              <a:t>X=x</a:t>
            </a:r>
            <a:r>
              <a:rPr lang="zh-CN" altLang="en-US" sz="2400" dirty="0">
                <a:latin typeface="+mn-ea"/>
                <a:ea typeface="+mn-ea"/>
              </a:rPr>
              <a:t>的条件下，</a:t>
            </a:r>
            <a:r>
              <a:rPr lang="en-US" altLang="zh-CN" sz="2400" dirty="0">
                <a:latin typeface="+mn-ea"/>
                <a:ea typeface="+mn-ea"/>
              </a:rPr>
              <a:t>R.V.Y</a:t>
            </a:r>
            <a:r>
              <a:rPr lang="zh-CN" altLang="en-US" sz="2400" dirty="0">
                <a:latin typeface="+mn-ea"/>
                <a:ea typeface="+mn-ea"/>
              </a:rPr>
              <a:t>的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条件分布函数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</a:p>
        </p:txBody>
      </p:sp>
      <p:sp>
        <p:nvSpPr>
          <p:cNvPr id="377863" name="Rectangle 7"/>
          <p:cNvSpPr>
            <a:spLocks noChangeArrowheads="1"/>
          </p:cNvSpPr>
          <p:nvPr/>
        </p:nvSpPr>
        <p:spPr bwMode="auto">
          <a:xfrm>
            <a:off x="479447" y="6112232"/>
            <a:ext cx="67782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称为已知</a:t>
            </a:r>
            <a:r>
              <a:rPr lang="en-US" altLang="zh-CN" sz="2400" dirty="0">
                <a:latin typeface="+mn-ea"/>
                <a:ea typeface="+mn-ea"/>
              </a:rPr>
              <a:t>Y=y</a:t>
            </a:r>
            <a:r>
              <a:rPr lang="zh-CN" altLang="en-US" sz="2400" dirty="0">
                <a:latin typeface="+mn-ea"/>
                <a:ea typeface="+mn-ea"/>
              </a:rPr>
              <a:t>的条件下，</a:t>
            </a:r>
            <a:r>
              <a:rPr lang="en-US" altLang="zh-CN" sz="2400" dirty="0">
                <a:latin typeface="+mn-ea"/>
                <a:ea typeface="+mn-ea"/>
              </a:rPr>
              <a:t>R.V.X</a:t>
            </a:r>
            <a:r>
              <a:rPr lang="zh-CN" altLang="en-US" sz="2400" dirty="0">
                <a:latin typeface="+mn-ea"/>
                <a:ea typeface="+mn-ea"/>
              </a:rPr>
              <a:t>的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条件分布函数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7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7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7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7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77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7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77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7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778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778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78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778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7859" grpId="0" build="p"/>
      <p:bldP spid="377862" grpId="0" autoUpdateAnimBg="0"/>
      <p:bldP spid="377863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黑体" panose="02010609060101010101" pitchFamily="49" charset="-122"/>
              </a:rPr>
              <a:t>相互独立</a:t>
            </a:r>
          </a:p>
        </p:txBody>
      </p:sp>
      <p:sp>
        <p:nvSpPr>
          <p:cNvPr id="378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6653" y="1078406"/>
            <a:ext cx="11161780" cy="3290061"/>
          </a:xfrm>
        </p:spPr>
        <p:txBody>
          <a:bodyPr>
            <a:no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如果二维</a:t>
            </a:r>
            <a:r>
              <a:rPr lang="en-US" altLang="zh-CN" dirty="0"/>
              <a:t>R.V.(X, Y)</a:t>
            </a:r>
            <a:r>
              <a:rPr lang="zh-CN" altLang="en-US" dirty="0"/>
              <a:t>对任意的</a:t>
            </a:r>
            <a:r>
              <a:rPr lang="en-US" altLang="zh-CN" dirty="0"/>
              <a:t>x, y</a:t>
            </a:r>
            <a:r>
              <a:rPr lang="zh-CN" altLang="en-US" dirty="0"/>
              <a:t>有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P{X&lt;x, Y&lt;y}</a:t>
            </a:r>
            <a:r>
              <a:rPr lang="zh-CN" altLang="en-US" dirty="0"/>
              <a:t>＝</a:t>
            </a:r>
            <a:r>
              <a:rPr lang="en-US" altLang="zh-CN" dirty="0"/>
              <a:t>P{X&lt;x}P{Y&lt;y}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-∞ &lt; x &lt; +∞</a:t>
            </a:r>
            <a:r>
              <a:rPr lang="zh-CN" altLang="en-US" dirty="0"/>
              <a:t>，</a:t>
            </a:r>
            <a:r>
              <a:rPr lang="en-US" altLang="zh-CN" dirty="0"/>
              <a:t>-∞ &lt; y &lt; +∞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等价地有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F(x, y)</a:t>
            </a:r>
            <a:r>
              <a:rPr lang="zh-CN" altLang="en-US" dirty="0"/>
              <a:t>＝</a:t>
            </a:r>
            <a:r>
              <a:rPr lang="en-US" altLang="zh-CN" dirty="0"/>
              <a:t>F</a:t>
            </a:r>
            <a:r>
              <a:rPr lang="en-US" altLang="zh-CN" baseline="-25000" dirty="0"/>
              <a:t>X</a:t>
            </a:r>
            <a:r>
              <a:rPr lang="en-US" altLang="zh-CN" dirty="0"/>
              <a:t>(x)F</a:t>
            </a:r>
            <a:r>
              <a:rPr lang="en-US" altLang="zh-CN" baseline="-25000" dirty="0"/>
              <a:t>Y</a:t>
            </a:r>
            <a:r>
              <a:rPr lang="en-US" altLang="zh-CN" dirty="0"/>
              <a:t>(y)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-∞ &lt; x &lt; +∞</a:t>
            </a:r>
            <a:r>
              <a:rPr lang="zh-CN" altLang="en-US" dirty="0"/>
              <a:t>，</a:t>
            </a:r>
            <a:r>
              <a:rPr lang="en-US" altLang="zh-CN" dirty="0"/>
              <a:t>-∞ &lt; y &lt; +∞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则称</a:t>
            </a:r>
            <a:r>
              <a:rPr lang="en-US" altLang="zh-CN" dirty="0"/>
              <a:t>R.V.X</a:t>
            </a:r>
            <a:r>
              <a:rPr lang="zh-CN" altLang="en-US" dirty="0"/>
              <a:t>与</a:t>
            </a:r>
            <a:r>
              <a:rPr lang="en-US" altLang="zh-CN" dirty="0"/>
              <a:t>Y</a:t>
            </a:r>
            <a:r>
              <a:rPr lang="zh-CN" altLang="en-US" dirty="0">
                <a:solidFill>
                  <a:srgbClr val="0000FF"/>
                </a:solidFill>
              </a:rPr>
              <a:t>相互独立。</a:t>
            </a:r>
          </a:p>
        </p:txBody>
      </p:sp>
      <p:sp>
        <p:nvSpPr>
          <p:cNvPr id="378884" name="Rectangle 4"/>
          <p:cNvSpPr>
            <a:spLocks noChangeArrowheads="1"/>
          </p:cNvSpPr>
          <p:nvPr/>
        </p:nvSpPr>
        <p:spPr bwMode="auto">
          <a:xfrm>
            <a:off x="155575" y="5170536"/>
            <a:ext cx="11053413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en-US" altLang="zh-CN" sz="2400" dirty="0">
                <a:latin typeface="+mn-ea"/>
                <a:ea typeface="+mn-ea"/>
              </a:rPr>
              <a:t>    </a:t>
            </a:r>
            <a:r>
              <a:rPr lang="zh-CN" altLang="en-US" sz="2400" dirty="0">
                <a:latin typeface="+mn-ea"/>
                <a:ea typeface="+mn-ea"/>
              </a:rPr>
              <a:t>显然，对连续型二维</a:t>
            </a:r>
            <a:r>
              <a:rPr lang="en-US" altLang="zh-CN" sz="2400" dirty="0">
                <a:latin typeface="+mn-ea"/>
                <a:ea typeface="+mn-ea"/>
              </a:rPr>
              <a:t>R.V.(X, Y)</a:t>
            </a:r>
            <a:r>
              <a:rPr lang="zh-CN" altLang="en-US" sz="2400" dirty="0">
                <a:latin typeface="+mn-ea"/>
                <a:ea typeface="+mn-ea"/>
              </a:rPr>
              <a:t>，</a:t>
            </a:r>
            <a:r>
              <a:rPr lang="en-US" altLang="zh-CN" sz="2400" dirty="0">
                <a:latin typeface="+mn-ea"/>
                <a:ea typeface="+mn-ea"/>
              </a:rPr>
              <a:t>X</a:t>
            </a:r>
            <a:r>
              <a:rPr lang="zh-CN" altLang="en-US" sz="2400" dirty="0">
                <a:latin typeface="+mn-ea"/>
                <a:ea typeface="+mn-ea"/>
              </a:rPr>
              <a:t>与</a:t>
            </a:r>
            <a:r>
              <a:rPr lang="en-US" altLang="zh-CN" sz="2400" dirty="0">
                <a:latin typeface="+mn-ea"/>
                <a:ea typeface="+mn-ea"/>
              </a:rPr>
              <a:t>Y</a:t>
            </a:r>
            <a:r>
              <a:rPr lang="zh-CN" altLang="en-US" sz="2400" dirty="0">
                <a:latin typeface="+mn-ea"/>
                <a:ea typeface="+mn-ea"/>
              </a:rPr>
              <a:t>独立的充分必要条件是对连续点有</a:t>
            </a:r>
          </a:p>
          <a:p>
            <a:pPr algn="ctr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ea"/>
                <a:ea typeface="+mn-ea"/>
              </a:rPr>
              <a:t>f(x, y)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 err="1">
                <a:latin typeface="+mn-ea"/>
                <a:ea typeface="+mn-ea"/>
              </a:rPr>
              <a:t>f</a:t>
            </a:r>
            <a:r>
              <a:rPr lang="en-US" altLang="zh-CN" sz="2400" baseline="-25000" dirty="0" err="1">
                <a:latin typeface="+mn-ea"/>
                <a:ea typeface="+mn-ea"/>
              </a:rPr>
              <a:t>X</a:t>
            </a:r>
            <a:r>
              <a:rPr lang="en-US" altLang="zh-CN" sz="2400" dirty="0">
                <a:latin typeface="+mn-ea"/>
                <a:ea typeface="+mn-ea"/>
              </a:rPr>
              <a:t>(x)</a:t>
            </a:r>
            <a:r>
              <a:rPr lang="en-US" altLang="zh-CN" sz="2400" dirty="0" err="1">
                <a:latin typeface="+mn-ea"/>
                <a:ea typeface="+mn-ea"/>
              </a:rPr>
              <a:t>f</a:t>
            </a:r>
            <a:r>
              <a:rPr lang="en-US" altLang="zh-CN" sz="2400" baseline="-25000" dirty="0" err="1">
                <a:latin typeface="+mn-ea"/>
                <a:ea typeface="+mn-ea"/>
              </a:rPr>
              <a:t>Y</a:t>
            </a:r>
            <a:r>
              <a:rPr lang="en-US" altLang="zh-CN" sz="2400" dirty="0">
                <a:latin typeface="+mn-ea"/>
                <a:ea typeface="+mn-ea"/>
              </a:rPr>
              <a:t>(y)</a:t>
            </a:r>
          </a:p>
          <a:p>
            <a:pPr algn="ctr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ea"/>
                <a:ea typeface="+mn-ea"/>
              </a:rPr>
              <a:t>-∞ &lt; x &lt; +∞</a:t>
            </a:r>
            <a:r>
              <a:rPr lang="zh-CN" altLang="en-US" sz="2400" dirty="0">
                <a:latin typeface="+mn-ea"/>
                <a:ea typeface="+mn-ea"/>
              </a:rPr>
              <a:t>，</a:t>
            </a:r>
            <a:r>
              <a:rPr lang="en-US" altLang="zh-CN" sz="2400" dirty="0">
                <a:latin typeface="+mn-ea"/>
                <a:ea typeface="+mn-ea"/>
              </a:rPr>
              <a:t>-∞ &lt; y &lt; +∞</a:t>
            </a:r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8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8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78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8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78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8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78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78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8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78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8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8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78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78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788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788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788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788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883" grpId="0" build="p"/>
      <p:bldP spid="378884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379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1893" y="1013648"/>
            <a:ext cx="9220200" cy="840387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已知</a:t>
            </a:r>
            <a:r>
              <a:rPr lang="en-US" altLang="zh-CN" dirty="0"/>
              <a:t>R.V.(X, Y)</a:t>
            </a:r>
            <a:r>
              <a:rPr lang="zh-CN" altLang="en-US" dirty="0"/>
              <a:t>服从二维指数分布，其联合密度为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9908" name="Object 4"/>
              <p:cNvSpPr txBox="1"/>
              <p:nvPr/>
            </p:nvSpPr>
            <p:spPr bwMode="auto">
              <a:xfrm>
                <a:off x="1425799" y="1569342"/>
                <a:ext cx="5690917" cy="122900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𝜶𝜷</m:t>
                                </m:r>
                                <m:sSup>
                                  <m:sSup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−(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𝜶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，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其它。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79908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25799" y="1569342"/>
                <a:ext cx="5690917" cy="1229009"/>
              </a:xfrm>
              <a:prstGeom prst="rect">
                <a:avLst/>
              </a:prstGeom>
              <a:blipFill rotWithShape="1">
                <a:blip r:embed="rId2"/>
                <a:stretch>
                  <a:fillRect l="-4" t="-21" r="5" b="4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9909" name="Text Box 5"/>
          <p:cNvSpPr txBox="1">
            <a:spLocks noChangeArrowheads="1"/>
          </p:cNvSpPr>
          <p:nvPr/>
        </p:nvSpPr>
        <p:spPr bwMode="auto">
          <a:xfrm>
            <a:off x="460375" y="2744363"/>
            <a:ext cx="11277600" cy="1135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其中 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、是大于零的常数，求：联合分布函数、边缘分布函数、边缘概率密度、条件概率密度，并讨论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X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与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Y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的独立性。</a:t>
            </a:r>
          </a:p>
        </p:txBody>
      </p:sp>
      <p:sp>
        <p:nvSpPr>
          <p:cNvPr id="379910" name="Text Box 6"/>
          <p:cNvSpPr txBox="1">
            <a:spLocks noChangeArrowheads="1"/>
          </p:cNvSpPr>
          <p:nvPr/>
        </p:nvSpPr>
        <p:spPr bwMode="auto">
          <a:xfrm>
            <a:off x="460375" y="4116281"/>
            <a:ext cx="746932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</a:rPr>
              <a:t>解： </a:t>
            </a:r>
            <a:r>
              <a:rPr lang="en-US" altLang="zh-CN" sz="2400" dirty="0">
                <a:latin typeface="+mn-ea"/>
                <a:ea typeface="+mn-ea"/>
              </a:rPr>
              <a:t>R.V.(X, Y)</a:t>
            </a:r>
            <a:r>
              <a:rPr lang="zh-CN" altLang="en-US" sz="2400" dirty="0">
                <a:latin typeface="+mn-ea"/>
                <a:ea typeface="+mn-ea"/>
              </a:rPr>
              <a:t>的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联合分布函数为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9911" name="Object 7"/>
              <p:cNvSpPr txBox="1"/>
              <p:nvPr/>
            </p:nvSpPr>
            <p:spPr bwMode="auto">
              <a:xfrm>
                <a:off x="775469" y="5246653"/>
                <a:ext cx="4542357" cy="124343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𝐅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  <m:e>
                          <m:nary>
                            <m:nary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−∞</m:t>
                              </m:r>
                            </m:sub>
                            <m:sup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sup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𝒅𝒖𝒅𝒗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79911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5469" y="5246653"/>
                <a:ext cx="4542357" cy="1243439"/>
              </a:xfrm>
              <a:prstGeom prst="rect">
                <a:avLst/>
              </a:prstGeom>
              <a:blipFill rotWithShape="1">
                <a:blip r:embed="rId3"/>
                <a:stretch>
                  <a:fillRect l="-3" t="-23" r="7" b="3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4"/>
              <p:cNvSpPr txBox="1"/>
              <p:nvPr/>
            </p:nvSpPr>
            <p:spPr bwMode="auto">
              <a:xfrm>
                <a:off x="4956175" y="5182466"/>
                <a:ext cx="5722674" cy="122900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𝜶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p>
                                </m:sSup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)(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sup>
                                </m:sSup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),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，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其它。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12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56175" y="5182466"/>
                <a:ext cx="5722674" cy="1229009"/>
              </a:xfrm>
              <a:prstGeom prst="rect">
                <a:avLst/>
              </a:prstGeom>
              <a:blipFill rotWithShape="1">
                <a:blip r:embed="rId4"/>
                <a:stretch>
                  <a:fillRect t="-19" r="1" b="4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9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9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79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99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99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9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9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79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907" grpId="0" build="p"/>
      <p:bldP spid="379908" grpId="0"/>
      <p:bldP spid="379909" grpId="0"/>
      <p:bldP spid="379910" grpId="0" autoUpdateAnimBg="0"/>
      <p:bldP spid="379911" grpId="0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>
                <a:latin typeface="宋体" panose="02010600030101010101" pitchFamily="2" charset="-122"/>
                <a:ea typeface="黑体" panose="02010609060101010101" pitchFamily="49" charset="-122"/>
              </a:rPr>
              <a:t>例（续）</a:t>
            </a:r>
          </a:p>
        </p:txBody>
      </p:sp>
      <p:sp>
        <p:nvSpPr>
          <p:cNvPr id="380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8779" y="991049"/>
            <a:ext cx="7697982" cy="823746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ym typeface="Symbol" panose="05050102010706020507" pitchFamily="18" charset="2"/>
              </a:rPr>
              <a:t>边缘分布函数</a:t>
            </a:r>
            <a:r>
              <a:rPr lang="zh-CN" altLang="en-US" dirty="0"/>
              <a:t>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0932" name="Object 4"/>
              <p:cNvSpPr txBox="1"/>
              <p:nvPr/>
            </p:nvSpPr>
            <p:spPr bwMode="auto">
              <a:xfrm>
                <a:off x="1233650" y="1556364"/>
                <a:ext cx="5528955" cy="116390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𝐅</m:t>
                          </m:r>
                        </m:e>
                        <m:sub>
                          <m:r>
                            <a:rPr lang="en-US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</m:sub>
                      </m:sSub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𝐅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,+∞)=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𝜶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p>
                                </m:sSup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，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其它。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80932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33650" y="1556364"/>
                <a:ext cx="5528955" cy="1163907"/>
              </a:xfrm>
              <a:prstGeom prst="rect">
                <a:avLst/>
              </a:prstGeom>
              <a:blipFill rotWithShape="1">
                <a:blip r:embed="rId2"/>
                <a:stretch>
                  <a:fillRect l="-9" t="-53" r="9" b="4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0933" name="Object 5"/>
              <p:cNvSpPr txBox="1"/>
              <p:nvPr/>
            </p:nvSpPr>
            <p:spPr bwMode="auto">
              <a:xfrm>
                <a:off x="1233650" y="2671047"/>
                <a:ext cx="5562299" cy="116390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𝐅</m:t>
                          </m:r>
                        </m:e>
                        <m:sub>
                          <m:r>
                            <a:rPr lang="en-US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𝐘</m:t>
                          </m:r>
                        </m:sub>
                      </m:sSub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𝐅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(+∞,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sup>
                                </m:sSup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，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其它。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80933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33650" y="2671047"/>
                <a:ext cx="5562299" cy="1163907"/>
              </a:xfrm>
              <a:prstGeom prst="rect">
                <a:avLst/>
              </a:prstGeom>
              <a:blipFill rotWithShape="1">
                <a:blip r:embed="rId3"/>
                <a:stretch>
                  <a:fillRect l="-9" t="-20" r="3" b="1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0934" name="Rectangle 6"/>
          <p:cNvSpPr>
            <a:spLocks noChangeArrowheads="1"/>
          </p:cNvSpPr>
          <p:nvPr/>
        </p:nvSpPr>
        <p:spPr bwMode="auto">
          <a:xfrm>
            <a:off x="460357" y="3784143"/>
            <a:ext cx="7697982" cy="405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533400" indent="-5334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>
                <a:latin typeface="+mn-ea"/>
                <a:ea typeface="+mn-ea"/>
                <a:sym typeface="Symbol" panose="05050102010706020507" pitchFamily="18" charset="2"/>
              </a:rPr>
              <a:t>边缘概率密度</a:t>
            </a:r>
            <a:r>
              <a:rPr lang="zh-CN" altLang="en-US" sz="2400">
                <a:latin typeface="+mn-ea"/>
                <a:ea typeface="+mn-ea"/>
              </a:rPr>
              <a:t>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0935" name="Object 7"/>
              <p:cNvSpPr txBox="1"/>
              <p:nvPr/>
            </p:nvSpPr>
            <p:spPr bwMode="auto">
              <a:xfrm>
                <a:off x="1233649" y="4247801"/>
                <a:ext cx="9666126" cy="116390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𝒅𝒚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𝜶</m:t>
                                </m:r>
                                <m:sSup>
                                  <m:sSup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𝜶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p>
                                </m:sSup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其它。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80935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33649" y="4247801"/>
                <a:ext cx="9666126" cy="1163906"/>
              </a:xfrm>
              <a:prstGeom prst="rect">
                <a:avLst/>
              </a:prstGeom>
              <a:blipFill rotWithShape="1">
                <a:blip r:embed="rId4"/>
                <a:stretch>
                  <a:fillRect l="-5" t="-25" b="2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0936" name="Object 8"/>
              <p:cNvSpPr txBox="1"/>
              <p:nvPr/>
            </p:nvSpPr>
            <p:spPr bwMode="auto">
              <a:xfrm>
                <a:off x="1224792" y="5520170"/>
                <a:ext cx="9056526" cy="116390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𝒅𝒙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𝜷</m:t>
                                </m:r>
                                <m:sSup>
                                  <m:sSup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sup>
                                </m:sSup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其它。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80936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24792" y="5520170"/>
                <a:ext cx="9056526" cy="1163907"/>
              </a:xfrm>
              <a:prstGeom prst="rect">
                <a:avLst/>
              </a:prstGeom>
              <a:blipFill rotWithShape="1">
                <a:blip r:embed="rId5"/>
                <a:stretch>
                  <a:fillRect l="-6" t="-10" b="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0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0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80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80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809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809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80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80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931" grpId="0" build="p"/>
      <p:bldP spid="380932" grpId="0"/>
      <p:bldP spid="380933" grpId="0"/>
      <p:bldP spid="380934" grpId="0" autoUpdateAnimBg="0"/>
      <p:bldP spid="380935" grpId="0"/>
      <p:bldP spid="38093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>
                <a:ea typeface="黑体" panose="02010609060101010101" pitchFamily="49" charset="-122"/>
              </a:rPr>
              <a:t>例（续）</a:t>
            </a:r>
          </a:p>
        </p:txBody>
      </p:sp>
      <p:sp>
        <p:nvSpPr>
          <p:cNvPr id="381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6575" y="1216266"/>
            <a:ext cx="7697982" cy="192449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ym typeface="Symbol" panose="05050102010706020507" pitchFamily="18" charset="2"/>
              </a:rPr>
              <a:t>由于</a:t>
            </a:r>
          </a:p>
          <a:p>
            <a:pPr algn="ctr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f(x, y)</a:t>
            </a:r>
            <a:r>
              <a:rPr lang="zh-CN" altLang="en-US" dirty="0">
                <a:sym typeface="Symbol" panose="05050102010706020507" pitchFamily="18" charset="2"/>
              </a:rPr>
              <a:t>＝</a:t>
            </a:r>
            <a:r>
              <a:rPr lang="en-US" altLang="zh-CN" dirty="0" err="1">
                <a:sym typeface="Symbol" panose="05050102010706020507" pitchFamily="18" charset="2"/>
              </a:rPr>
              <a:t>f</a:t>
            </a:r>
            <a:r>
              <a:rPr lang="en-US" altLang="zh-CN" baseline="-25000" dirty="0" err="1">
                <a:sym typeface="Symbol" panose="05050102010706020507" pitchFamily="18" charset="2"/>
              </a:rPr>
              <a:t>X</a:t>
            </a:r>
            <a:r>
              <a:rPr lang="en-US" altLang="zh-CN" dirty="0">
                <a:sym typeface="Symbol" panose="05050102010706020507" pitchFamily="18" charset="2"/>
              </a:rPr>
              <a:t>(x)</a:t>
            </a:r>
            <a:r>
              <a:rPr lang="en-US" altLang="zh-CN" dirty="0" err="1">
                <a:sym typeface="Symbol" panose="05050102010706020507" pitchFamily="18" charset="2"/>
              </a:rPr>
              <a:t>f</a:t>
            </a:r>
            <a:r>
              <a:rPr lang="en-US" altLang="zh-CN" baseline="-25000" dirty="0" err="1">
                <a:sym typeface="Symbol" panose="05050102010706020507" pitchFamily="18" charset="2"/>
              </a:rPr>
              <a:t>Y</a:t>
            </a:r>
            <a:r>
              <a:rPr lang="en-US" altLang="zh-CN" dirty="0">
                <a:sym typeface="Symbol" panose="05050102010706020507" pitchFamily="18" charset="2"/>
              </a:rPr>
              <a:t>(y)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>
                <a:sym typeface="Symbol" panose="05050102010706020507" pitchFamily="18" charset="2"/>
              </a:rPr>
              <a:t>(x, y)R</a:t>
            </a:r>
            <a:r>
              <a:rPr lang="en-US" altLang="zh-CN" baseline="30000" dirty="0">
                <a:sym typeface="Symbol" panose="05050102010706020507" pitchFamily="18" charset="2"/>
              </a:rPr>
              <a:t>2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ym typeface="Symbol" panose="05050102010706020507" pitchFamily="18" charset="2"/>
              </a:rPr>
              <a:t>所以，</a:t>
            </a:r>
            <a:r>
              <a:rPr lang="en-US" altLang="zh-CN" dirty="0">
                <a:sym typeface="Symbol" panose="05050102010706020507" pitchFamily="18" charset="2"/>
              </a:rPr>
              <a:t>X</a:t>
            </a:r>
            <a:r>
              <a:rPr lang="zh-CN" altLang="en-US" dirty="0">
                <a:sym typeface="Symbol" panose="05050102010706020507" pitchFamily="18" charset="2"/>
              </a:rPr>
              <a:t>与</a:t>
            </a:r>
            <a:r>
              <a:rPr lang="en-US" altLang="zh-CN" dirty="0">
                <a:sym typeface="Symbol" panose="05050102010706020507" pitchFamily="18" charset="2"/>
              </a:rPr>
              <a:t>Y</a:t>
            </a:r>
            <a:r>
              <a:rPr lang="zh-CN" altLang="en-US" dirty="0">
                <a:sym typeface="Symbol" panose="05050102010706020507" pitchFamily="18" charset="2"/>
              </a:rPr>
              <a:t>相互独立。</a:t>
            </a:r>
          </a:p>
        </p:txBody>
      </p:sp>
      <p:sp>
        <p:nvSpPr>
          <p:cNvPr id="381956" name="Rectangle 4"/>
          <p:cNvSpPr>
            <a:spLocks noChangeArrowheads="1"/>
          </p:cNvSpPr>
          <p:nvPr/>
        </p:nvSpPr>
        <p:spPr bwMode="auto">
          <a:xfrm>
            <a:off x="581810" y="3302442"/>
            <a:ext cx="7697982" cy="405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533400" indent="-5334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条件概率密度</a:t>
            </a:r>
            <a:r>
              <a:rPr lang="zh-CN" altLang="en-US" sz="2400" dirty="0">
                <a:latin typeface="+mn-ea"/>
                <a:ea typeface="+mn-ea"/>
              </a:rPr>
              <a:t>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1957" name="Object 5"/>
              <p:cNvSpPr txBox="1"/>
              <p:nvPr/>
            </p:nvSpPr>
            <p:spPr bwMode="auto">
              <a:xfrm>
                <a:off x="1756057" y="3996623"/>
                <a:ext cx="5335235" cy="116390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𝜶</m:t>
                                </m:r>
                                <m:sSup>
                                  <m:sSup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𝜶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p>
                                </m:sSup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其它。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81957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56057" y="3996623"/>
                <a:ext cx="5335235" cy="1163906"/>
              </a:xfrm>
              <a:prstGeom prst="rect">
                <a:avLst/>
              </a:prstGeom>
              <a:blipFill rotWithShape="1">
                <a:blip r:embed="rId2"/>
                <a:stretch>
                  <a:fillRect l="-5" t="-49" r="5" b="4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1958" name="Object 6"/>
              <p:cNvSpPr txBox="1"/>
              <p:nvPr/>
            </p:nvSpPr>
            <p:spPr bwMode="auto">
              <a:xfrm>
                <a:off x="1756058" y="5332019"/>
                <a:ext cx="5301890" cy="116390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𝜷</m:t>
                                </m:r>
                                <m:sSup>
                                  <m:sSup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sup>
                                </m:sSup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其它。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81958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56058" y="5332019"/>
                <a:ext cx="5301890" cy="1163907"/>
              </a:xfrm>
              <a:prstGeom prst="rect">
                <a:avLst/>
              </a:prstGeom>
              <a:blipFill rotWithShape="1">
                <a:blip r:embed="rId3"/>
                <a:stretch>
                  <a:fillRect l="-5" t="-48" r="11" b="4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1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1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1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1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81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1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81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81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81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81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1955" grpId="0" build="p"/>
      <p:bldP spid="381956" grpId="0" autoUpdateAnimBg="0"/>
      <p:bldP spid="381957" grpId="0"/>
      <p:bldP spid="38195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>
                <a:ea typeface="黑体" panose="02010609060101010101" pitchFamily="49" charset="-122"/>
              </a:rPr>
              <a:t>例 二维正态分布</a:t>
            </a:r>
          </a:p>
        </p:txBody>
      </p:sp>
      <p:sp>
        <p:nvSpPr>
          <p:cNvPr id="379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7975" y="1067594"/>
            <a:ext cx="7697982" cy="906571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如果</a:t>
            </a:r>
            <a:r>
              <a:rPr lang="en-US" altLang="zh-CN" dirty="0"/>
              <a:t>R.V.(X, Y)</a:t>
            </a:r>
            <a:r>
              <a:rPr lang="zh-CN" altLang="en-US" dirty="0"/>
              <a:t>的联合密度为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9908" name="Object 4"/>
              <p:cNvSpPr txBox="1"/>
              <p:nvPr/>
            </p:nvSpPr>
            <p:spPr bwMode="auto">
              <a:xfrm>
                <a:off x="460375" y="2160906"/>
                <a:ext cx="11125200" cy="278896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ad>
                            <m:radPr>
                              <m:degHide m:val="on"/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2(1−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[(</m:t>
                          </m:r>
                          <m:f>
                            <m:f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f>
                            <m:f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+(</m:t>
                          </m:r>
                          <m:f>
                            <m:f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+mn-ea"/>
                        </a:rPr>
                        <m:t>             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(−∞</m:t>
                      </m:r>
                      <m: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+∞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+mn-ea"/>
                        </a:rPr>
                        <m:t>,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−∞</m:t>
                      </m:r>
                      <m: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+∞)</m:t>
                      </m:r>
                    </m:oMath>
                  </m:oMathPara>
                </a14:m>
                <a:endParaRPr lang="en-US" dirty="0">
                  <a:latin typeface="+mn-ea"/>
                </a:endParaRPr>
              </a:p>
            </p:txBody>
          </p:sp>
        </mc:Choice>
        <mc:Fallback xmlns="">
          <p:sp>
            <p:nvSpPr>
              <p:cNvPr id="379908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0375" y="2160906"/>
                <a:ext cx="11125200" cy="2788966"/>
              </a:xfrm>
              <a:prstGeom prst="rect">
                <a:avLst/>
              </a:prstGeom>
              <a:blipFill rotWithShape="1">
                <a:blip r:embed="rId2"/>
                <a:stretch>
                  <a:fillRect b="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9909" name="Text Box 5"/>
          <p:cNvSpPr txBox="1">
            <a:spLocks noChangeArrowheads="1"/>
          </p:cNvSpPr>
          <p:nvPr/>
        </p:nvSpPr>
        <p:spPr bwMode="auto">
          <a:xfrm>
            <a:off x="422301" y="4191794"/>
            <a:ext cx="11391874" cy="168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其中， 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</a:t>
            </a:r>
            <a:r>
              <a:rPr lang="en-US" altLang="zh-CN" sz="2400" baseline="-25000" dirty="0">
                <a:latin typeface="+mn-ea"/>
                <a:ea typeface="+mn-ea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,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 </a:t>
            </a:r>
            <a:r>
              <a:rPr lang="en-US" altLang="zh-CN" sz="2400" baseline="-25000" dirty="0">
                <a:latin typeface="+mn-ea"/>
                <a:ea typeface="+mn-ea"/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为任意常数，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</a:t>
            </a:r>
            <a:r>
              <a:rPr lang="en-US" altLang="zh-CN" sz="2400" baseline="-25000" dirty="0">
                <a:latin typeface="+mn-ea"/>
                <a:ea typeface="+mn-ea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&gt;0,</a:t>
            </a:r>
            <a:r>
              <a:rPr lang="en-US" altLang="zh-CN" sz="2400" baseline="-25000" dirty="0">
                <a:latin typeface="+mn-ea"/>
                <a:ea typeface="+mn-ea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&gt;0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为常数，则称</a:t>
            </a:r>
            <a:r>
              <a:rPr lang="en-US" altLang="zh-CN" sz="2400" dirty="0">
                <a:latin typeface="+mn-ea"/>
                <a:ea typeface="+mn-ea"/>
              </a:rPr>
              <a:t>R.V.(X, Y)</a:t>
            </a:r>
            <a:r>
              <a:rPr lang="zh-CN" altLang="en-US" sz="2400" dirty="0">
                <a:latin typeface="+mn-ea"/>
                <a:ea typeface="+mn-ea"/>
              </a:rPr>
              <a:t>服从二维正态分布，记为</a:t>
            </a:r>
            <a:endParaRPr lang="en-US" altLang="zh-CN" sz="2400" baseline="-25000" dirty="0">
              <a:latin typeface="+mn-ea"/>
              <a:ea typeface="+mn-ea"/>
            </a:endParaRPr>
          </a:p>
          <a:p>
            <a:pPr algn="ctr" eaLnBrk="1" hangingPunct="1">
              <a:lnSpc>
                <a:spcPct val="150000"/>
              </a:lnSpc>
              <a:buClrTx/>
              <a:buFontTx/>
              <a:buNone/>
            </a:pPr>
            <a:r>
              <a:rPr lang="en-US" altLang="zh-CN" sz="2400" dirty="0">
                <a:latin typeface="+mn-ea"/>
                <a:ea typeface="+mn-ea"/>
              </a:rPr>
              <a:t>(X, Y)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 ～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N(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</a:t>
            </a:r>
            <a:r>
              <a:rPr lang="en-US" altLang="zh-CN" sz="2400" baseline="-25000" dirty="0">
                <a:latin typeface="+mn-ea"/>
                <a:ea typeface="+mn-ea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, </a:t>
            </a:r>
            <a:r>
              <a:rPr lang="en-US" altLang="zh-CN" sz="2400" baseline="-25000" dirty="0">
                <a:latin typeface="+mn-ea"/>
                <a:ea typeface="+mn-ea"/>
                <a:sym typeface="Symbol" panose="05050102010706020507" pitchFamily="18" charset="2"/>
              </a:rPr>
              <a:t>1</a:t>
            </a:r>
            <a:r>
              <a:rPr lang="en-US" altLang="zh-CN" sz="2400" baseline="300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;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 </a:t>
            </a:r>
            <a:r>
              <a:rPr lang="en-US" altLang="zh-CN" sz="2400" baseline="-25000" dirty="0">
                <a:latin typeface="+mn-ea"/>
                <a:ea typeface="+mn-ea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, 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</a:t>
            </a:r>
            <a:r>
              <a:rPr lang="en-US" altLang="zh-CN" sz="2400" baseline="-25000" dirty="0">
                <a:latin typeface="+mn-ea"/>
                <a:ea typeface="+mn-ea"/>
                <a:sym typeface="Symbol" panose="05050102010706020507" pitchFamily="18" charset="2"/>
              </a:rPr>
              <a:t>2</a:t>
            </a:r>
            <a:r>
              <a:rPr lang="en-US" altLang="zh-CN" sz="2400" baseline="30000" dirty="0">
                <a:solidFill>
                  <a:srgbClr val="0000FF"/>
                </a:solidFill>
                <a:latin typeface="+mn-ea"/>
                <a:ea typeface="+mn-ea"/>
              </a:rPr>
              <a:t>2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;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 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)</a:t>
            </a:r>
            <a:r>
              <a:rPr lang="zh-CN" altLang="en-US" sz="2400" dirty="0">
                <a:latin typeface="+mn-ea"/>
                <a:ea typeface="+mn-ea"/>
              </a:rPr>
              <a:t> 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9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9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79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99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99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907" grpId="0" build="p"/>
      <p:bldP spid="379908" grpId="0"/>
      <p:bldP spid="37990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>
                <a:ea typeface="黑体" panose="02010609060101010101" pitchFamily="49" charset="-122"/>
              </a:rPr>
              <a:t>二维正态分布的边缘密度</a:t>
            </a:r>
          </a:p>
        </p:txBody>
      </p:sp>
      <p:sp>
        <p:nvSpPr>
          <p:cNvPr id="379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7975" y="1198199"/>
            <a:ext cx="7561425" cy="860488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R.V.X</a:t>
            </a:r>
            <a:r>
              <a:rPr lang="zh-CN" altLang="en-US" dirty="0"/>
              <a:t>的边缘密度为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9908" name="Object 4"/>
              <p:cNvSpPr txBox="1"/>
              <p:nvPr/>
            </p:nvSpPr>
            <p:spPr bwMode="auto">
              <a:xfrm>
                <a:off x="1174915" y="2040886"/>
                <a:ext cx="6268901" cy="125441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rad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𝝈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sSubSup>
                                <m:sSubSupPr>
                                  <m:ctrlP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bSup>
                            </m:den>
                          </m:f>
                        </m:sup>
                      </m:sSup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</m:mr>
                      </m:m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(−∞&lt;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&lt;+∞)</m:t>
                      </m:r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79908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74915" y="2040886"/>
                <a:ext cx="6268901" cy="1254415"/>
              </a:xfrm>
              <a:prstGeom prst="rect">
                <a:avLst/>
              </a:prstGeom>
              <a:blipFill rotWithShape="1">
                <a:blip r:embed="rId2"/>
                <a:stretch>
                  <a:fillRect l="-3" t="-50" r="6" b="2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9909" name="Text Box 5"/>
          <p:cNvSpPr txBox="1">
            <a:spLocks noChangeArrowheads="1"/>
          </p:cNvSpPr>
          <p:nvPr/>
        </p:nvSpPr>
        <p:spPr bwMode="auto">
          <a:xfrm>
            <a:off x="460375" y="3493785"/>
            <a:ext cx="7561425" cy="576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ea"/>
                <a:ea typeface="+mn-ea"/>
              </a:rPr>
              <a:t>R.V.X</a:t>
            </a:r>
            <a:r>
              <a:rPr lang="zh-CN" altLang="en-US" sz="2400" dirty="0">
                <a:latin typeface="+mn-ea"/>
                <a:ea typeface="+mn-ea"/>
              </a:rPr>
              <a:t>的边缘密度为</a:t>
            </a:r>
            <a:endParaRPr lang="zh-CN" altLang="en-US" sz="2400" dirty="0">
              <a:latin typeface="+mn-ea"/>
              <a:ea typeface="+mn-ea"/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4"/>
              <p:cNvSpPr txBox="1"/>
              <p:nvPr/>
            </p:nvSpPr>
            <p:spPr bwMode="auto">
              <a:xfrm>
                <a:off x="1144746" y="4349646"/>
                <a:ext cx="6329240" cy="125441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rad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𝝈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sSubSup>
                                <m:sSubSupPr>
                                  <m:ctrlP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bSup>
                            </m:den>
                          </m:f>
                        </m:sup>
                      </m:sSup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</m:mr>
                      </m:m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(−∞&lt;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&lt;+∞)</m:t>
                      </m:r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1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44746" y="4349646"/>
                <a:ext cx="6329240" cy="1254415"/>
              </a:xfrm>
              <a:prstGeom prst="rect">
                <a:avLst/>
              </a:prstGeom>
              <a:blipFill rotWithShape="1">
                <a:blip r:embed="rId3"/>
                <a:stretch>
                  <a:fillRect l="-8" t="-42" r="1" b="1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9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9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79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99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99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907" grpId="0" build="p"/>
      <p:bldP spid="379908" grpId="0"/>
      <p:bldP spid="379909" grpId="0"/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>
                <a:ea typeface="黑体" panose="02010609060101010101" pitchFamily="49" charset="-122"/>
              </a:rPr>
              <a:t>二维正态分布的独立性</a:t>
            </a:r>
          </a:p>
        </p:txBody>
      </p:sp>
      <p:sp>
        <p:nvSpPr>
          <p:cNvPr id="379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7057" y="1372394"/>
            <a:ext cx="11201376" cy="3796591"/>
          </a:xfrm>
        </p:spPr>
        <p:txBody>
          <a:bodyPr/>
          <a:lstStyle/>
          <a:p>
            <a:pPr marL="0" indent="719455">
              <a:buNone/>
            </a:pPr>
            <a:r>
              <a:rPr lang="zh-CN" altLang="en-US" dirty="0"/>
              <a:t>如果</a:t>
            </a:r>
            <a:r>
              <a:rPr lang="en-US" altLang="zh-CN" dirty="0"/>
              <a:t>R.V.(X, Y)</a:t>
            </a:r>
            <a:r>
              <a:rPr lang="zh-CN" altLang="en-US" dirty="0">
                <a:solidFill>
                  <a:srgbClr val="0000FF"/>
                </a:solidFill>
              </a:rPr>
              <a:t>～</a:t>
            </a:r>
            <a:r>
              <a:rPr lang="en-US" altLang="zh-CN" dirty="0">
                <a:solidFill>
                  <a:srgbClr val="0000FF"/>
                </a:solidFill>
              </a:rPr>
              <a:t>N(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</a:t>
            </a:r>
            <a:r>
              <a:rPr lang="en-US" altLang="zh-CN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, </a:t>
            </a:r>
            <a:r>
              <a:rPr lang="en-US" altLang="zh-CN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CN" baseline="30000" dirty="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0000FF"/>
                </a:solidFill>
              </a:rPr>
              <a:t>;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 </a:t>
            </a:r>
            <a:r>
              <a:rPr lang="en-US" altLang="zh-CN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0000FF"/>
                </a:solidFill>
              </a:rPr>
              <a:t>, 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</a:t>
            </a:r>
            <a:r>
              <a:rPr lang="en-US" altLang="zh-CN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CN" baseline="30000" dirty="0">
                <a:solidFill>
                  <a:srgbClr val="0000FF"/>
                </a:solidFill>
              </a:rPr>
              <a:t>2</a:t>
            </a:r>
            <a:r>
              <a:rPr lang="en-US" altLang="zh-CN" dirty="0">
                <a:solidFill>
                  <a:srgbClr val="0000FF"/>
                </a:solidFill>
              </a:rPr>
              <a:t>;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 </a:t>
            </a:r>
            <a:r>
              <a:rPr lang="en-US" altLang="zh-CN" dirty="0">
                <a:solidFill>
                  <a:srgbClr val="0000FF"/>
                </a:solidFill>
              </a:rPr>
              <a:t>)</a:t>
            </a:r>
            <a:r>
              <a:rPr lang="zh-CN" altLang="en-US" dirty="0"/>
              <a:t> ，则必有</a:t>
            </a:r>
            <a:r>
              <a:rPr lang="en-US" altLang="zh-CN" dirty="0"/>
              <a:t>R.V.X</a:t>
            </a:r>
            <a:r>
              <a:rPr lang="zh-CN" altLang="en-US" dirty="0">
                <a:solidFill>
                  <a:srgbClr val="0000FF"/>
                </a:solidFill>
              </a:rPr>
              <a:t>～</a:t>
            </a:r>
            <a:r>
              <a:rPr lang="en-US" altLang="zh-CN" dirty="0">
                <a:solidFill>
                  <a:srgbClr val="0000FF"/>
                </a:solidFill>
              </a:rPr>
              <a:t>N(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</a:t>
            </a:r>
            <a:r>
              <a:rPr lang="en-US" altLang="zh-CN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, </a:t>
            </a:r>
            <a:r>
              <a:rPr lang="en-US" altLang="zh-CN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CN" baseline="30000" dirty="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0000FF"/>
                </a:solidFill>
              </a:rPr>
              <a:t>)</a:t>
            </a:r>
            <a:r>
              <a:rPr lang="zh-CN" altLang="en-US" dirty="0"/>
              <a:t> ，</a:t>
            </a:r>
            <a:r>
              <a:rPr lang="en-US" altLang="zh-CN" dirty="0"/>
              <a:t>R.V.Y</a:t>
            </a:r>
            <a:r>
              <a:rPr lang="zh-CN" altLang="en-US" dirty="0">
                <a:solidFill>
                  <a:srgbClr val="0000FF"/>
                </a:solidFill>
              </a:rPr>
              <a:t>～</a:t>
            </a:r>
            <a:r>
              <a:rPr lang="en-US" altLang="zh-CN" dirty="0">
                <a:solidFill>
                  <a:srgbClr val="0000FF"/>
                </a:solidFill>
              </a:rPr>
              <a:t>N(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</a:t>
            </a:r>
            <a:r>
              <a:rPr lang="en-US" altLang="zh-CN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, </a:t>
            </a:r>
            <a:r>
              <a:rPr lang="en-US" altLang="zh-CN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CN" baseline="30000" dirty="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0000FF"/>
                </a:solidFill>
              </a:rPr>
              <a:t>)</a:t>
            </a:r>
            <a:r>
              <a:rPr lang="zh-CN" altLang="en-US" dirty="0"/>
              <a:t> ； </a:t>
            </a:r>
            <a:r>
              <a:rPr lang="zh-CN" altLang="en-US" dirty="0">
                <a:sym typeface="Symbol" panose="05050102010706020507" pitchFamily="18" charset="2"/>
              </a:rPr>
              <a:t>反过来，如果</a:t>
            </a:r>
            <a:r>
              <a:rPr lang="en-US" altLang="zh-CN" dirty="0"/>
              <a:t>R.V.X</a:t>
            </a:r>
            <a:r>
              <a:rPr lang="zh-CN" altLang="en-US" dirty="0">
                <a:solidFill>
                  <a:srgbClr val="0000FF"/>
                </a:solidFill>
              </a:rPr>
              <a:t>～</a:t>
            </a:r>
            <a:r>
              <a:rPr lang="en-US" altLang="zh-CN" dirty="0">
                <a:solidFill>
                  <a:srgbClr val="0000FF"/>
                </a:solidFill>
              </a:rPr>
              <a:t>N(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</a:t>
            </a:r>
            <a:r>
              <a:rPr lang="en-US" altLang="zh-CN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, </a:t>
            </a:r>
            <a:r>
              <a:rPr lang="en-US" altLang="zh-CN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CN" baseline="30000" dirty="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0000FF"/>
                </a:solidFill>
              </a:rPr>
              <a:t>)</a:t>
            </a:r>
            <a:r>
              <a:rPr lang="zh-CN" altLang="en-US" dirty="0"/>
              <a:t> ，</a:t>
            </a:r>
            <a:r>
              <a:rPr lang="en-US" altLang="zh-CN" dirty="0"/>
              <a:t>R.V.Y</a:t>
            </a:r>
            <a:r>
              <a:rPr lang="zh-CN" altLang="en-US" dirty="0">
                <a:solidFill>
                  <a:srgbClr val="0000FF"/>
                </a:solidFill>
              </a:rPr>
              <a:t>～</a:t>
            </a:r>
            <a:r>
              <a:rPr lang="en-US" altLang="zh-CN" dirty="0">
                <a:solidFill>
                  <a:srgbClr val="0000FF"/>
                </a:solidFill>
              </a:rPr>
              <a:t>N(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</a:t>
            </a:r>
            <a:r>
              <a:rPr lang="en-US" altLang="zh-CN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, </a:t>
            </a:r>
            <a:r>
              <a:rPr lang="en-US" altLang="zh-CN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CN" baseline="30000" dirty="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0000FF"/>
                </a:solidFill>
              </a:rPr>
              <a:t>)</a:t>
            </a:r>
            <a:r>
              <a:rPr lang="zh-CN" altLang="en-US" dirty="0"/>
              <a:t>，则</a:t>
            </a:r>
            <a:r>
              <a:rPr lang="en-US" altLang="zh-CN" dirty="0"/>
              <a:t>R.V.(X, Y)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/>
              <a:t>不一定服从二维正态分布</a:t>
            </a:r>
            <a:r>
              <a:rPr lang="zh-CN" altLang="en-US" dirty="0">
                <a:sym typeface="Symbol" panose="05050102010706020507" pitchFamily="18" charset="2"/>
              </a:rPr>
              <a:t>。</a:t>
            </a:r>
            <a:endParaRPr lang="en-US" altLang="zh-CN" dirty="0">
              <a:sym typeface="Symbol" panose="05050102010706020507" pitchFamily="18" charset="2"/>
            </a:endParaRPr>
          </a:p>
          <a:p>
            <a:pPr marL="0" indent="719455">
              <a:buNone/>
            </a:pPr>
            <a:r>
              <a:rPr lang="zh-CN" altLang="en-US" dirty="0">
                <a:sym typeface="Symbol" panose="05050102010706020507" pitchFamily="18" charset="2"/>
              </a:rPr>
              <a:t>如果</a:t>
            </a:r>
            <a:r>
              <a:rPr lang="en-US" altLang="zh-CN" dirty="0"/>
              <a:t>R.V.(X, Y)</a:t>
            </a:r>
            <a:r>
              <a:rPr lang="zh-CN" altLang="en-US" dirty="0">
                <a:solidFill>
                  <a:srgbClr val="0000FF"/>
                </a:solidFill>
              </a:rPr>
              <a:t>～</a:t>
            </a:r>
            <a:r>
              <a:rPr lang="en-US" altLang="zh-CN" dirty="0">
                <a:solidFill>
                  <a:srgbClr val="0000FF"/>
                </a:solidFill>
              </a:rPr>
              <a:t>N(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</a:t>
            </a:r>
            <a:r>
              <a:rPr lang="en-US" altLang="zh-CN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, </a:t>
            </a:r>
            <a:r>
              <a:rPr lang="en-US" altLang="zh-CN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CN" baseline="30000" dirty="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0000FF"/>
                </a:solidFill>
              </a:rPr>
              <a:t>;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 </a:t>
            </a:r>
            <a:r>
              <a:rPr lang="en-US" altLang="zh-CN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0000FF"/>
                </a:solidFill>
              </a:rPr>
              <a:t>, 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</a:t>
            </a:r>
            <a:r>
              <a:rPr lang="en-US" altLang="zh-CN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CN" baseline="30000" dirty="0">
                <a:solidFill>
                  <a:srgbClr val="0000FF"/>
                </a:solidFill>
              </a:rPr>
              <a:t>2</a:t>
            </a:r>
            <a:r>
              <a:rPr lang="en-US" altLang="zh-CN" dirty="0">
                <a:solidFill>
                  <a:srgbClr val="0000FF"/>
                </a:solidFill>
              </a:rPr>
              <a:t>;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 </a:t>
            </a:r>
            <a:r>
              <a:rPr lang="en-US" altLang="zh-CN" dirty="0">
                <a:solidFill>
                  <a:srgbClr val="0000FF"/>
                </a:solidFill>
              </a:rPr>
              <a:t>)</a:t>
            </a:r>
            <a:r>
              <a:rPr lang="zh-CN" altLang="en-US" dirty="0"/>
              <a:t> ，则</a:t>
            </a:r>
            <a:r>
              <a:rPr lang="zh-CN" altLang="en-US" dirty="0">
                <a:sym typeface="Symbol" panose="05050102010706020507" pitchFamily="18" charset="2"/>
              </a:rPr>
              <a:t>如果</a:t>
            </a:r>
            <a:r>
              <a:rPr lang="en-US" altLang="zh-CN" dirty="0"/>
              <a:t>R.V.X</a:t>
            </a:r>
            <a:r>
              <a:rPr lang="zh-CN" altLang="en-US" dirty="0"/>
              <a:t>与</a:t>
            </a:r>
            <a:r>
              <a:rPr lang="en-US" altLang="zh-CN" dirty="0"/>
              <a:t>Y</a:t>
            </a:r>
            <a:r>
              <a:rPr lang="zh-CN" altLang="en-US" dirty="0"/>
              <a:t>相互独立的充要条件是 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 </a:t>
            </a:r>
            <a:r>
              <a:rPr lang="en-US" altLang="zh-CN" dirty="0">
                <a:solidFill>
                  <a:srgbClr val="0000FF"/>
                </a:solidFill>
              </a:rPr>
              <a:t>= 0</a:t>
            </a:r>
            <a:r>
              <a:rPr lang="zh-CN" altLang="en-US" dirty="0"/>
              <a:t>。</a:t>
            </a:r>
            <a:endParaRPr lang="zh-CN" altLang="en-US" dirty="0"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4"/>
              <p:cNvSpPr txBox="1"/>
              <p:nvPr/>
            </p:nvSpPr>
            <p:spPr bwMode="auto">
              <a:xfrm>
                <a:off x="609917" y="4420394"/>
                <a:ext cx="11039033" cy="218861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𝝈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𝝈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[(</m:t>
                          </m:r>
                          <m:f>
                            <m:f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den>
                          </m:f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+(</m:t>
                          </m:r>
                          <m:f>
                            <m:f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den>
                          </m:f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(−∞</m:t>
                      </m:r>
                      <m:r>
                        <a:rPr lang="en-US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+∞</m:t>
                      </m:r>
                      <m:r>
                        <m:rPr>
                          <m:nor/>
                        </m:rPr>
                        <a:rPr lang="en-US" b="1" i="0">
                          <a:solidFill>
                            <a:srgbClr val="000000"/>
                          </a:solidFill>
                          <a:latin typeface="+mn-ea"/>
                        </a:rPr>
                        <m:t>, 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−∞</m:t>
                      </m:r>
                      <m:r>
                        <a:rPr lang="en-US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+∞)</m:t>
                      </m:r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10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917" y="4420394"/>
                <a:ext cx="11039033" cy="2188610"/>
              </a:xfrm>
              <a:prstGeom prst="rect">
                <a:avLst/>
              </a:prstGeom>
              <a:blipFill rotWithShape="1">
                <a:blip r:embed="rId2"/>
                <a:stretch>
                  <a:fillRect l="-3" t="-7" r="5" b="2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9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9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9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9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907" grpId="0" uiExpand="1" build="p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二、</a:t>
            </a:r>
            <a:r>
              <a:rPr lang="en-US" altLang="zh-CN" dirty="0">
                <a:ea typeface="黑体" panose="02010609060101010101" pitchFamily="49" charset="-122"/>
              </a:rPr>
              <a:t>n</a:t>
            </a:r>
            <a:r>
              <a:rPr lang="zh-CN" altLang="en-US" dirty="0">
                <a:ea typeface="黑体" panose="02010609060101010101" pitchFamily="49" charset="-122"/>
              </a:rPr>
              <a:t>维随机变量</a:t>
            </a:r>
          </a:p>
        </p:txBody>
      </p:sp>
      <p:sp>
        <p:nvSpPr>
          <p:cNvPr id="390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0390" y="1791661"/>
            <a:ext cx="10421227" cy="1795878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20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如果</a:t>
            </a:r>
            <a:r>
              <a:rPr lang="en-US" altLang="zh-CN" dirty="0"/>
              <a:t>X</a:t>
            </a:r>
            <a:r>
              <a:rPr lang="en-US" altLang="zh-CN" baseline="-25000" dirty="0"/>
              <a:t>1</a:t>
            </a:r>
            <a:r>
              <a:rPr lang="en-US" altLang="zh-CN" dirty="0"/>
              <a:t>, X</a:t>
            </a:r>
            <a:r>
              <a:rPr lang="en-US" altLang="zh-CN" baseline="-25000" dirty="0"/>
              <a:t>2</a:t>
            </a:r>
            <a:r>
              <a:rPr lang="en-US" altLang="zh-CN" dirty="0"/>
              <a:t>, …, 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n</a:t>
            </a:r>
            <a:r>
              <a:rPr lang="zh-CN" altLang="en-US" dirty="0"/>
              <a:t>是定义在同一概率空间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dirty="0"/>
              <a:t>Ω</a:t>
            </a:r>
            <a:r>
              <a:rPr lang="en-US" altLang="zh-CN" dirty="0">
                <a:sym typeface="Symbol" panose="05050102010706020507" pitchFamily="18" charset="2"/>
              </a:rPr>
              <a:t>, F, P)</a:t>
            </a:r>
            <a:r>
              <a:rPr lang="zh-CN" altLang="en-US" dirty="0">
                <a:sym typeface="Symbol" panose="05050102010706020507" pitchFamily="18" charset="2"/>
              </a:rPr>
              <a:t>上的</a:t>
            </a:r>
            <a:r>
              <a:rPr lang="en-US" altLang="zh-CN" dirty="0">
                <a:sym typeface="Symbol" panose="05050102010706020507" pitchFamily="18" charset="2"/>
              </a:rPr>
              <a:t>n</a:t>
            </a:r>
            <a:r>
              <a:rPr lang="zh-CN" altLang="en-US" dirty="0">
                <a:sym typeface="Symbol" panose="05050102010706020507" pitchFamily="18" charset="2"/>
              </a:rPr>
              <a:t>个随机变量，则称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dirty="0"/>
              <a:t>X</a:t>
            </a:r>
            <a:r>
              <a:rPr lang="en-US" altLang="zh-CN" baseline="-25000" dirty="0"/>
              <a:t>1</a:t>
            </a:r>
            <a:r>
              <a:rPr lang="en-US" altLang="zh-CN" dirty="0"/>
              <a:t>, X</a:t>
            </a:r>
            <a:r>
              <a:rPr lang="en-US" altLang="zh-CN" baseline="-25000" dirty="0"/>
              <a:t>2</a:t>
            </a:r>
            <a:r>
              <a:rPr lang="en-US" altLang="zh-CN" dirty="0"/>
              <a:t>, …, 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n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r>
              <a:rPr lang="zh-CN" altLang="en-US" dirty="0">
                <a:sym typeface="Symbol" panose="05050102010706020507" pitchFamily="18" charset="2"/>
              </a:rPr>
              <a:t>为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维随机变量</a:t>
            </a:r>
            <a:r>
              <a:rPr lang="zh-CN" altLang="en-US" dirty="0">
                <a:sym typeface="Symbol" panose="05050102010706020507" pitchFamily="18" charset="2"/>
              </a:rPr>
              <a:t>，记为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维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R.V.(</a:t>
            </a:r>
            <a:r>
              <a:rPr lang="en-US" altLang="zh-CN" dirty="0">
                <a:solidFill>
                  <a:srgbClr val="0000FF"/>
                </a:solidFill>
              </a:rPr>
              <a:t>X</a:t>
            </a:r>
            <a:r>
              <a:rPr lang="en-US" altLang="zh-CN" baseline="-25000" dirty="0">
                <a:solidFill>
                  <a:srgbClr val="0000FF"/>
                </a:solidFill>
              </a:rPr>
              <a:t>1</a:t>
            </a:r>
            <a:r>
              <a:rPr lang="en-US" altLang="zh-CN" dirty="0">
                <a:solidFill>
                  <a:srgbClr val="0000FF"/>
                </a:solidFill>
              </a:rPr>
              <a:t>, X</a:t>
            </a:r>
            <a:r>
              <a:rPr lang="en-US" altLang="zh-CN" baseline="-25000" dirty="0">
                <a:solidFill>
                  <a:srgbClr val="0000FF"/>
                </a:solidFill>
              </a:rPr>
              <a:t>2</a:t>
            </a:r>
            <a:r>
              <a:rPr lang="en-US" altLang="zh-CN" dirty="0">
                <a:solidFill>
                  <a:srgbClr val="0000FF"/>
                </a:solidFill>
              </a:rPr>
              <a:t>, …, </a:t>
            </a:r>
            <a:r>
              <a:rPr lang="en-US" altLang="zh-CN" dirty="0" err="1">
                <a:solidFill>
                  <a:srgbClr val="0000FF"/>
                </a:solidFill>
              </a:rPr>
              <a:t>X</a:t>
            </a:r>
            <a:r>
              <a:rPr lang="en-US" altLang="zh-CN" baseline="-25000" dirty="0" err="1">
                <a:solidFill>
                  <a:srgbClr val="0000FF"/>
                </a:solidFill>
              </a:rPr>
              <a:t>n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 )</a:t>
            </a:r>
            <a:r>
              <a:rPr lang="zh-CN" altLang="en-US" dirty="0"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390148" name="Rectangle 4"/>
          <p:cNvSpPr>
            <a:spLocks noChangeArrowheads="1"/>
          </p:cNvSpPr>
          <p:nvPr/>
        </p:nvSpPr>
        <p:spPr bwMode="auto">
          <a:xfrm>
            <a:off x="860391" y="3789199"/>
            <a:ext cx="5662335" cy="2418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00000"/>
              </a:lnSpc>
              <a:spcBef>
                <a:spcPct val="30000"/>
              </a:spcBef>
              <a:buFontTx/>
              <a:buChar char="•"/>
            </a:pP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  n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维联合分布函数</a:t>
            </a:r>
            <a:endParaRPr lang="zh-CN" altLang="en-US" sz="2400" dirty="0">
              <a:latin typeface="+mn-ea"/>
              <a:ea typeface="+mn-ea"/>
            </a:endParaRPr>
          </a:p>
          <a:p>
            <a:pPr eaLnBrk="1" hangingPunct="1">
              <a:lnSpc>
                <a:spcPct val="200000"/>
              </a:lnSpc>
              <a:spcBef>
                <a:spcPct val="30000"/>
              </a:spcBef>
              <a:buFontTx/>
              <a:buChar char="•"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  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k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维边缘分布函数</a:t>
            </a:r>
          </a:p>
          <a:p>
            <a:pPr eaLnBrk="1" hangingPunct="1">
              <a:lnSpc>
                <a:spcPct val="200000"/>
              </a:lnSpc>
              <a:spcBef>
                <a:spcPct val="30000"/>
              </a:spcBef>
              <a:buFontTx/>
              <a:buChar char="•"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  独立</a:t>
            </a:r>
          </a:p>
        </p:txBody>
      </p:sp>
      <p:sp>
        <p:nvSpPr>
          <p:cNvPr id="390149" name="Rectangle 5"/>
          <p:cNvSpPr>
            <a:spLocks noChangeArrowheads="1"/>
          </p:cNvSpPr>
          <p:nvPr/>
        </p:nvSpPr>
        <p:spPr bwMode="auto">
          <a:xfrm>
            <a:off x="572987" y="1067594"/>
            <a:ext cx="7778962" cy="627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533400" indent="-5334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just" eaLnBrk="1" hangingPunct="1">
              <a:lnSpc>
                <a:spcPct val="20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CC00CC"/>
                </a:solidFill>
                <a:latin typeface="+mn-ea"/>
                <a:ea typeface="+mn-ea"/>
              </a:rPr>
              <a:t>推广：</a:t>
            </a:r>
            <a:endParaRPr lang="zh-CN" altLang="en-US" sz="2400">
              <a:solidFill>
                <a:srgbClr val="CC00CC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0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0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0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0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0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0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0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0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90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0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0147" grpId="0" build="p"/>
      <p:bldP spid="390148" grpId="0" build="p"/>
      <p:bldP spid="390149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Rectangle 2"/>
          <p:cNvSpPr>
            <a:spLocks noGrp="1" noChangeArrowheads="1"/>
          </p:cNvSpPr>
          <p:nvPr>
            <p:ph type="title"/>
          </p:nvPr>
        </p:nvSpPr>
        <p:spPr>
          <a:xfrm>
            <a:off x="765175" y="230770"/>
            <a:ext cx="9961986" cy="609741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三、随机变量函数的分布</a:t>
            </a:r>
          </a:p>
        </p:txBody>
      </p:sp>
      <p:sp>
        <p:nvSpPr>
          <p:cNvPr id="391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-149225" y="1106820"/>
            <a:ext cx="11569303" cy="1676400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	</a:t>
            </a:r>
            <a:r>
              <a:rPr lang="zh-CN" altLang="en-US" dirty="0"/>
              <a:t>设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dirty="0"/>
              <a:t>X</a:t>
            </a:r>
            <a:r>
              <a:rPr lang="en-US" altLang="zh-CN" baseline="-25000" dirty="0"/>
              <a:t>1</a:t>
            </a:r>
            <a:r>
              <a:rPr lang="en-US" altLang="zh-CN" dirty="0"/>
              <a:t>, X</a:t>
            </a:r>
            <a:r>
              <a:rPr lang="en-US" altLang="zh-CN" baseline="-25000" dirty="0"/>
              <a:t>2</a:t>
            </a:r>
            <a:r>
              <a:rPr lang="en-US" altLang="zh-CN" dirty="0"/>
              <a:t>, …, 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n</a:t>
            </a:r>
            <a:r>
              <a:rPr lang="en-US" altLang="zh-CN" dirty="0">
                <a:sym typeface="Symbol" panose="05050102010706020507" pitchFamily="18" charset="2"/>
              </a:rPr>
              <a:t> )</a:t>
            </a:r>
            <a:r>
              <a:rPr lang="zh-CN" altLang="en-US" dirty="0">
                <a:sym typeface="Symbol" panose="05050102010706020507" pitchFamily="18" charset="2"/>
              </a:rPr>
              <a:t>为</a:t>
            </a:r>
            <a:r>
              <a:rPr lang="en-US" altLang="zh-CN" dirty="0">
                <a:sym typeface="Symbol" panose="05050102010706020507" pitchFamily="18" charset="2"/>
              </a:rPr>
              <a:t>n</a:t>
            </a:r>
            <a:r>
              <a:rPr lang="zh-CN" altLang="en-US" dirty="0">
                <a:sym typeface="Symbol" panose="05050102010706020507" pitchFamily="18" charset="2"/>
              </a:rPr>
              <a:t>维随机变量，若已知其联合分布，又设有</a:t>
            </a:r>
            <a:r>
              <a:rPr lang="en-US" altLang="zh-CN" dirty="0">
                <a:sym typeface="Symbol" panose="05050102010706020507" pitchFamily="18" charset="2"/>
              </a:rPr>
              <a:t>k</a:t>
            </a:r>
            <a:r>
              <a:rPr lang="zh-CN" altLang="en-US" dirty="0">
                <a:sym typeface="Symbol" panose="05050102010706020507" pitchFamily="18" charset="2"/>
              </a:rPr>
              <a:t>个</a:t>
            </a:r>
            <a:r>
              <a:rPr lang="en-US" altLang="zh-CN" dirty="0"/>
              <a:t>X</a:t>
            </a:r>
            <a:r>
              <a:rPr lang="en-US" altLang="zh-CN" baseline="-25000" dirty="0"/>
              <a:t>1</a:t>
            </a:r>
            <a:r>
              <a:rPr lang="en-US" altLang="zh-CN" dirty="0"/>
              <a:t>, X</a:t>
            </a:r>
            <a:r>
              <a:rPr lang="en-US" altLang="zh-CN" baseline="-25000" dirty="0"/>
              <a:t>2</a:t>
            </a:r>
            <a:r>
              <a:rPr lang="en-US" altLang="zh-CN" dirty="0"/>
              <a:t>, …, 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n</a:t>
            </a:r>
            <a:r>
              <a:rPr lang="zh-CN" altLang="en-US" dirty="0">
                <a:sym typeface="Symbol" panose="05050102010706020507" pitchFamily="18" charset="2"/>
              </a:rPr>
              <a:t>的函数</a:t>
            </a:r>
          </a:p>
        </p:txBody>
      </p:sp>
      <p:sp>
        <p:nvSpPr>
          <p:cNvPr id="391172" name="Rectangle 4"/>
          <p:cNvSpPr>
            <a:spLocks noChangeArrowheads="1"/>
          </p:cNvSpPr>
          <p:nvPr/>
        </p:nvSpPr>
        <p:spPr bwMode="auto">
          <a:xfrm>
            <a:off x="407781" y="4801394"/>
            <a:ext cx="11382788" cy="1245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30000"/>
              </a:spcBef>
              <a:buFontTx/>
              <a:buNone/>
            </a:pP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  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其中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g</a:t>
            </a:r>
            <a:r>
              <a:rPr lang="en-US" altLang="zh-CN" sz="2400" baseline="-25000" dirty="0" err="1"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(.)  (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 = 1, 2, …, k)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均为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n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元连续函数，讨论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(</a:t>
            </a:r>
            <a:r>
              <a:rPr lang="en-US" altLang="zh-CN" sz="2400" dirty="0">
                <a:latin typeface="+mn-ea"/>
                <a:ea typeface="+mn-ea"/>
              </a:rPr>
              <a:t>Y</a:t>
            </a:r>
            <a:r>
              <a:rPr lang="en-US" altLang="zh-CN" sz="2400" baseline="-25000" dirty="0">
                <a:latin typeface="+mn-ea"/>
                <a:ea typeface="+mn-ea"/>
              </a:rPr>
              <a:t>1</a:t>
            </a:r>
            <a:r>
              <a:rPr lang="en-US" altLang="zh-CN" sz="2400" dirty="0">
                <a:latin typeface="+mn-ea"/>
                <a:ea typeface="+mn-ea"/>
              </a:rPr>
              <a:t>, Y</a:t>
            </a:r>
            <a:r>
              <a:rPr lang="en-US" altLang="zh-CN" sz="2400" baseline="-25000" dirty="0">
                <a:latin typeface="+mn-ea"/>
                <a:ea typeface="+mn-ea"/>
              </a:rPr>
              <a:t>2</a:t>
            </a:r>
            <a:r>
              <a:rPr lang="en-US" altLang="zh-CN" sz="2400" dirty="0">
                <a:latin typeface="+mn-ea"/>
                <a:ea typeface="+mn-ea"/>
              </a:rPr>
              <a:t>, …, </a:t>
            </a:r>
            <a:r>
              <a:rPr lang="en-US" altLang="zh-CN" sz="2400" dirty="0" err="1">
                <a:latin typeface="+mn-ea"/>
                <a:ea typeface="+mn-ea"/>
              </a:rPr>
              <a:t>Y</a:t>
            </a:r>
            <a:r>
              <a:rPr lang="en-US" altLang="zh-CN" sz="2400" baseline="-25000" dirty="0" err="1">
                <a:latin typeface="+mn-ea"/>
                <a:ea typeface="+mn-ea"/>
              </a:rPr>
              <a:t>k</a:t>
            </a:r>
            <a:r>
              <a:rPr lang="en-US" altLang="zh-CN" sz="2400" baseline="-25000" dirty="0">
                <a:latin typeface="+mn-ea"/>
                <a:ea typeface="+mn-ea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的联合分布</a:t>
            </a:r>
          </a:p>
          <a:p>
            <a:pPr eaLnBrk="1" hangingPunct="1">
              <a:lnSpc>
                <a:spcPct val="150000"/>
              </a:lnSpc>
              <a:spcBef>
                <a:spcPct val="30000"/>
              </a:spcBef>
              <a:buFontTx/>
              <a:buNone/>
            </a:pP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一般方法：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n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重求和或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n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重积分。</a:t>
            </a:r>
            <a:endParaRPr lang="zh-CN" altLang="en-US" sz="2400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1174" name="Object 6"/>
              <p:cNvSpPr txBox="1">
                <a:spLocks noGrp="1"/>
              </p:cNvSpPr>
              <p:nvPr>
                <p:ph sz="half" idx="2"/>
              </p:nvPr>
            </p:nvSpPr>
            <p:spPr bwMode="auto">
              <a:xfrm>
                <a:off x="1527175" y="1718857"/>
                <a:ext cx="6629400" cy="33111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,⋯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,⋯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⋯⋯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,⋯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1174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 bwMode="auto">
              <a:xfrm>
                <a:off x="1527175" y="1718857"/>
                <a:ext cx="6629400" cy="3311137"/>
              </a:xfrm>
              <a:prstGeom prst="rect">
                <a:avLst/>
              </a:prstGeom>
              <a:blipFill rotWithShape="1">
                <a:blip r:embed="rId2"/>
                <a:stretch>
                  <a:fillRect t="-17" b="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1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1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91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1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1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91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91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171" grpId="0" build="p"/>
      <p:bldP spid="391172" grpId="0" uiExpand="1" build="p"/>
      <p:bldP spid="391174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>
                <a:ea typeface="黑体" panose="02010609060101010101" pitchFamily="49" charset="-122"/>
              </a:rPr>
              <a:t>定理</a:t>
            </a:r>
            <a:r>
              <a:rPr lang="en-US" altLang="zh-CN">
                <a:ea typeface="黑体" panose="02010609060101010101" pitchFamily="49" charset="-122"/>
              </a:rPr>
              <a:t>1</a:t>
            </a:r>
            <a:endParaRPr lang="zh-CN" altLang="en-US">
              <a:ea typeface="黑体" panose="02010609060101010101" pitchFamily="49" charset="-122"/>
            </a:endParaRPr>
          </a:p>
        </p:txBody>
      </p:sp>
      <p:sp>
        <p:nvSpPr>
          <p:cNvPr id="501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0375" y="1296194"/>
            <a:ext cx="11125200" cy="1538644"/>
          </a:xfrm>
        </p:spPr>
        <p:txBody>
          <a:bodyPr>
            <a:normAutofit/>
          </a:bodyPr>
          <a:lstStyle/>
          <a:p>
            <a:pPr marL="0" indent="719455">
              <a:buNone/>
            </a:pPr>
            <a:r>
              <a:rPr lang="zh-CN" altLang="en-US" dirty="0"/>
              <a:t>设连续型</a:t>
            </a:r>
            <a:r>
              <a:rPr lang="en-US" altLang="zh-CN" dirty="0"/>
              <a:t>R.V.X</a:t>
            </a:r>
            <a:r>
              <a:rPr lang="zh-CN" altLang="en-US" dirty="0"/>
              <a:t>的概率密度函数为</a:t>
            </a:r>
            <a:r>
              <a:rPr lang="en-US" altLang="zh-CN" dirty="0"/>
              <a:t>f(x)</a:t>
            </a:r>
            <a:r>
              <a:rPr lang="zh-CN" altLang="en-US" dirty="0"/>
              <a:t>，</a:t>
            </a:r>
            <a:r>
              <a:rPr lang="en-US" altLang="zh-CN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R</a:t>
            </a:r>
            <a:r>
              <a:rPr lang="zh-CN" altLang="en-US" dirty="0"/>
              <a:t>， </a:t>
            </a:r>
            <a:r>
              <a:rPr lang="en-US" altLang="zh-CN" dirty="0"/>
              <a:t>y</a:t>
            </a:r>
            <a:r>
              <a:rPr lang="zh-CN" altLang="en-US" dirty="0"/>
              <a:t>＝</a:t>
            </a:r>
            <a:r>
              <a:rPr lang="en-US" altLang="zh-CN" dirty="0"/>
              <a:t>g(x)</a:t>
            </a:r>
            <a:r>
              <a:rPr lang="zh-CN" altLang="en-US" dirty="0"/>
              <a:t>是连续函数，则     </a:t>
            </a:r>
            <a:r>
              <a:rPr lang="en-US" altLang="zh-CN" dirty="0"/>
              <a:t>Y</a:t>
            </a:r>
            <a:r>
              <a:rPr lang="zh-CN" altLang="en-US" dirty="0"/>
              <a:t>＝</a:t>
            </a:r>
            <a:r>
              <a:rPr lang="en-US" altLang="zh-CN" dirty="0"/>
              <a:t>g(X)</a:t>
            </a:r>
            <a:r>
              <a:rPr lang="zh-CN" altLang="en-US" dirty="0"/>
              <a:t>是连续型</a:t>
            </a:r>
            <a:r>
              <a:rPr lang="en-US" altLang="zh-CN" dirty="0"/>
              <a:t>R.V.</a:t>
            </a:r>
            <a:r>
              <a:rPr lang="zh-CN" altLang="en-US" dirty="0"/>
              <a:t>，其分布函数为</a:t>
            </a:r>
          </a:p>
        </p:txBody>
      </p:sp>
      <p:sp>
        <p:nvSpPr>
          <p:cNvPr id="50182" name="Rectangle 4"/>
          <p:cNvSpPr>
            <a:spLocks noChangeArrowheads="1"/>
          </p:cNvSpPr>
          <p:nvPr/>
        </p:nvSpPr>
        <p:spPr bwMode="auto">
          <a:xfrm>
            <a:off x="612775" y="4267994"/>
            <a:ext cx="7850417" cy="579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altLang="zh-CN" sz="2400" dirty="0">
                <a:latin typeface="+mn-ea"/>
                <a:ea typeface="+mn-ea"/>
              </a:rPr>
              <a:t>R.V.Y</a:t>
            </a:r>
            <a:r>
              <a:rPr lang="zh-CN" altLang="en-US" sz="2400" dirty="0">
                <a:latin typeface="+mn-ea"/>
                <a:ea typeface="+mn-ea"/>
              </a:rPr>
              <a:t>的概率密度为</a:t>
            </a:r>
            <a:r>
              <a:rPr lang="en-US" altLang="zh-CN" sz="2400" dirty="0" err="1">
                <a:latin typeface="+mn-ea"/>
                <a:ea typeface="+mn-ea"/>
              </a:rPr>
              <a:t>f</a:t>
            </a:r>
            <a:r>
              <a:rPr lang="en-US" altLang="zh-CN" sz="2400" baseline="-25000" dirty="0" err="1">
                <a:latin typeface="+mn-ea"/>
                <a:ea typeface="+mn-ea"/>
              </a:rPr>
              <a:t>Y</a:t>
            </a:r>
            <a:r>
              <a:rPr lang="en-US" altLang="zh-CN" sz="2400" dirty="0">
                <a:latin typeface="+mn-ea"/>
                <a:ea typeface="+mn-ea"/>
              </a:rPr>
              <a:t>(y)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F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</a:rPr>
              <a:t>′</a:t>
            </a:r>
            <a:r>
              <a:rPr lang="en-US" altLang="zh-CN" sz="2400" baseline="-25000" dirty="0">
                <a:latin typeface="+mn-ea"/>
                <a:ea typeface="+mn-ea"/>
              </a:rPr>
              <a:t>Y</a:t>
            </a:r>
            <a:r>
              <a:rPr lang="en-US" altLang="zh-CN" sz="2400" dirty="0">
                <a:latin typeface="+mn-ea"/>
                <a:ea typeface="+mn-ea"/>
              </a:rPr>
              <a:t>(y)</a:t>
            </a:r>
            <a:r>
              <a:rPr lang="zh-CN" altLang="en-US" sz="2400" dirty="0">
                <a:latin typeface="+mn-ea"/>
                <a:ea typeface="+mn-ea"/>
              </a:rPr>
              <a:t>，</a:t>
            </a:r>
            <a:r>
              <a:rPr lang="en-US" altLang="zh-CN" sz="2400" dirty="0" err="1">
                <a:latin typeface="+mn-ea"/>
                <a:ea typeface="+mn-ea"/>
              </a:rPr>
              <a:t>y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R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183" name="Object 5"/>
              <p:cNvSpPr txBox="1"/>
              <p:nvPr/>
            </p:nvSpPr>
            <p:spPr bwMode="auto">
              <a:xfrm>
                <a:off x="1332113" y="2896765"/>
                <a:ext cx="9110461" cy="9511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)&lt;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}=</m:t>
                      </m:r>
                      <m:nary>
                        <m:naryPr>
                          <m:limLoc m:val="undOvr"/>
                          <m:supHide m:val="on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)&lt;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/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dirty="0">
                  <a:latin typeface="+mn-ea"/>
                </a:endParaRPr>
              </a:p>
            </p:txBody>
          </p:sp>
        </mc:Choice>
        <mc:Fallback xmlns="">
          <p:sp>
            <p:nvSpPr>
              <p:cNvPr id="50183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32113" y="2896765"/>
                <a:ext cx="9110461" cy="951133"/>
              </a:xfrm>
              <a:prstGeom prst="rect">
                <a:avLst/>
              </a:prstGeom>
              <a:blipFill rotWithShape="1">
                <a:blip r:embed="rId2"/>
                <a:stretch>
                  <a:fillRect l="-6" t="-56" r="7" b="-516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>
                <a:ea typeface="黑体" panose="02010609060101010101" pitchFamily="49" charset="-122"/>
              </a:rPr>
              <a:t>定理</a:t>
            </a:r>
            <a:r>
              <a:rPr lang="en-US" altLang="zh-CN">
                <a:ea typeface="黑体" panose="02010609060101010101" pitchFamily="49" charset="-122"/>
              </a:rPr>
              <a:t>1</a:t>
            </a:r>
            <a:r>
              <a:rPr lang="zh-CN" altLang="en-US">
                <a:ea typeface="黑体" panose="02010609060101010101" pitchFamily="49" charset="-122"/>
              </a:rPr>
              <a:t>续</a:t>
            </a:r>
          </a:p>
        </p:txBody>
      </p:sp>
      <p:sp>
        <p:nvSpPr>
          <p:cNvPr id="512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7975" y="1143794"/>
            <a:ext cx="11811000" cy="9606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pc="-100" dirty="0"/>
              <a:t>如果函数 </a:t>
            </a:r>
            <a:r>
              <a:rPr lang="en-US" altLang="zh-CN" spc="-100" dirty="0"/>
              <a:t>y = g(x) </a:t>
            </a:r>
            <a:r>
              <a:rPr lang="zh-CN" altLang="en-US" spc="-100" dirty="0"/>
              <a:t>处处可导，且</a:t>
            </a:r>
            <a:r>
              <a:rPr lang="en-US" altLang="zh-CN" spc="-100" dirty="0"/>
              <a:t>g</a:t>
            </a:r>
            <a:r>
              <a:rPr lang="en-US" altLang="zh-CN" dirty="0">
                <a:cs typeface="Times New Roman" panose="02020603050405020304" pitchFamily="18" charset="0"/>
              </a:rPr>
              <a:t>′</a:t>
            </a:r>
            <a:r>
              <a:rPr lang="en-US" altLang="zh-CN" spc="-100" dirty="0"/>
              <a:t>(x) &gt; 0</a:t>
            </a:r>
            <a:r>
              <a:rPr lang="zh-CN" altLang="en-US" spc="-100" dirty="0"/>
              <a:t>（或</a:t>
            </a:r>
            <a:r>
              <a:rPr lang="en-US" altLang="zh-CN" spc="-100" dirty="0"/>
              <a:t>g</a:t>
            </a:r>
            <a:r>
              <a:rPr lang="en-US" altLang="zh-CN" dirty="0">
                <a:cs typeface="Times New Roman" panose="02020603050405020304" pitchFamily="18" charset="0"/>
              </a:rPr>
              <a:t>′</a:t>
            </a:r>
            <a:r>
              <a:rPr lang="en-US" altLang="zh-CN" spc="-100" dirty="0"/>
              <a:t>(x) &lt; 0</a:t>
            </a:r>
            <a:r>
              <a:rPr lang="zh-CN" altLang="en-US" spc="-100" dirty="0"/>
              <a:t>），则</a:t>
            </a:r>
            <a:r>
              <a:rPr lang="en-US" altLang="zh-CN" spc="-100" dirty="0"/>
              <a:t>R.V.Y = g(X)</a:t>
            </a:r>
            <a:r>
              <a:rPr lang="zh-CN" altLang="en-US" spc="-100" dirty="0"/>
              <a:t>的概率密度为</a:t>
            </a:r>
          </a:p>
        </p:txBody>
      </p:sp>
      <p:sp>
        <p:nvSpPr>
          <p:cNvPr id="51206" name="Rectangle 4"/>
          <p:cNvSpPr>
            <a:spLocks noChangeArrowheads="1"/>
          </p:cNvSpPr>
          <p:nvPr/>
        </p:nvSpPr>
        <p:spPr bwMode="auto">
          <a:xfrm>
            <a:off x="314052" y="3026246"/>
            <a:ext cx="11589296" cy="525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None/>
            </a:pP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其中</a:t>
            </a:r>
            <a:r>
              <a:rPr lang="el-GR" altLang="zh-CN" sz="2400" dirty="0">
                <a:latin typeface="+mn-ea"/>
                <a:ea typeface="+mn-ea"/>
                <a:sym typeface="Symbol" panose="05050102010706020507" pitchFamily="18" charset="2"/>
              </a:rPr>
              <a:t>α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 = min{g(-∞), g(+∞)}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，</a:t>
            </a:r>
            <a:r>
              <a:rPr lang="el-GR" altLang="zh-CN" sz="2400" dirty="0">
                <a:latin typeface="+mn-ea"/>
                <a:ea typeface="+mn-ea"/>
                <a:sym typeface="Symbol" panose="05050102010706020507" pitchFamily="18" charset="2"/>
              </a:rPr>
              <a:t>β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 = max{g(-∞), g(+∞)}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，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h(y)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是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g(x)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的反函数。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07" name="Object 5"/>
              <p:cNvSpPr txBox="1"/>
              <p:nvPr/>
            </p:nvSpPr>
            <p:spPr bwMode="auto">
              <a:xfrm>
                <a:off x="1583032" y="2009182"/>
                <a:ext cx="7177674" cy="10606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𝐟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𝐗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𝐲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𝐡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′(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𝐲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𝛂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𝐲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𝛃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其他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latin typeface="+mn-ea"/>
                </a:endParaRPr>
              </a:p>
            </p:txBody>
          </p:sp>
        </mc:Choice>
        <mc:Fallback xmlns="">
          <p:sp>
            <p:nvSpPr>
              <p:cNvPr id="51207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83032" y="2009182"/>
                <a:ext cx="7177674" cy="1060695"/>
              </a:xfrm>
              <a:prstGeom prst="rect">
                <a:avLst/>
              </a:prstGeom>
              <a:blipFill rotWithShape="1">
                <a:blip r:embed="rId2"/>
                <a:stretch>
                  <a:fillRect l="-9" t="-4" r="3" b="2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20710" y="4003544"/>
            <a:ext cx="11408738" cy="10427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50000"/>
              </a:lnSpc>
              <a:buClr>
                <a:srgbClr val="00FF00"/>
              </a:buClr>
              <a:defRPr/>
            </a:pPr>
            <a:r>
              <a:rPr lang="zh-CN" altLang="en-US" b="1" kern="0" dirty="0">
                <a:latin typeface="+mn-ea"/>
              </a:rPr>
              <a:t>如果 </a:t>
            </a:r>
            <a:r>
              <a:rPr lang="en-US" altLang="zh-CN" b="1" kern="0" dirty="0">
                <a:latin typeface="+mn-ea"/>
              </a:rPr>
              <a:t>y = g(x) </a:t>
            </a:r>
            <a:r>
              <a:rPr lang="zh-CN" altLang="en-US" b="1" kern="0" dirty="0">
                <a:latin typeface="+mn-ea"/>
              </a:rPr>
              <a:t>不是单调函数，则可分为若干单调分支，其反函数为</a:t>
            </a:r>
            <a:r>
              <a:rPr lang="en-US" altLang="zh-CN" b="1" kern="0" dirty="0">
                <a:latin typeface="+mn-ea"/>
              </a:rPr>
              <a:t>x</a:t>
            </a:r>
            <a:r>
              <a:rPr lang="en-US" altLang="zh-CN" b="1" kern="0" baseline="-25000" dirty="0">
                <a:latin typeface="+mn-ea"/>
              </a:rPr>
              <a:t>i</a:t>
            </a:r>
            <a:r>
              <a:rPr lang="en-US" altLang="zh-CN" b="1" kern="0" dirty="0">
                <a:latin typeface="+mn-ea"/>
              </a:rPr>
              <a:t> = h</a:t>
            </a:r>
            <a:r>
              <a:rPr lang="en-US" altLang="zh-CN" b="1" kern="0" baseline="-25000" dirty="0">
                <a:latin typeface="+mn-ea"/>
              </a:rPr>
              <a:t>i</a:t>
            </a:r>
            <a:r>
              <a:rPr lang="en-US" altLang="zh-CN" b="1" kern="0" dirty="0">
                <a:latin typeface="+mn-ea"/>
              </a:rPr>
              <a:t>(y)</a:t>
            </a:r>
            <a:r>
              <a:rPr lang="zh-CN" altLang="en-US" b="1" kern="0" dirty="0">
                <a:latin typeface="+mn-ea"/>
              </a:rPr>
              <a:t>，        </a:t>
            </a:r>
            <a:r>
              <a:rPr lang="en-US" altLang="zh-CN" b="1" kern="0" dirty="0" err="1">
                <a:latin typeface="+mn-ea"/>
              </a:rPr>
              <a:t>i</a:t>
            </a:r>
            <a:r>
              <a:rPr lang="en-US" altLang="zh-CN" b="1" kern="0" dirty="0">
                <a:latin typeface="+mn-ea"/>
              </a:rPr>
              <a:t> = 1, 2, …, m</a:t>
            </a:r>
            <a:r>
              <a:rPr lang="zh-CN" altLang="en-US" b="1" kern="0" dirty="0">
                <a:latin typeface="+mn-ea"/>
              </a:rPr>
              <a:t>，由上可得</a:t>
            </a:r>
            <a:r>
              <a:rPr lang="en-US" altLang="zh-CN" b="1" kern="0" dirty="0">
                <a:latin typeface="+mn-ea"/>
              </a:rPr>
              <a:t>R.V.Y = g(X)</a:t>
            </a:r>
            <a:r>
              <a:rPr lang="zh-CN" altLang="en-US" b="1" kern="0" dirty="0">
                <a:latin typeface="+mn-ea"/>
              </a:rPr>
              <a:t>的概率密度为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09" name="Object 5"/>
              <p:cNvSpPr txBox="1"/>
              <p:nvPr/>
            </p:nvSpPr>
            <p:spPr bwMode="auto">
              <a:xfrm>
                <a:off x="1679575" y="5029694"/>
                <a:ext cx="7360515" cy="1295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nary>
                                  <m:naryPr>
                                    <m:chr m:val="∑"/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𝐟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𝐗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𝐡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𝐲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))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𝐡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′(</m:t>
                                        </m:r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𝐲</m:t>
                                        </m:r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d>
                                  </m:e>
                                </m:nary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𝛂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𝐲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𝛃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其他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latin typeface="+mn-ea"/>
                </a:endParaRPr>
              </a:p>
            </p:txBody>
          </p:sp>
        </mc:Choice>
        <mc:Fallback xmlns="">
          <p:sp>
            <p:nvSpPr>
              <p:cNvPr id="51209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79575" y="5029694"/>
                <a:ext cx="7360515" cy="1295700"/>
              </a:xfrm>
              <a:prstGeom prst="rect">
                <a:avLst/>
              </a:prstGeom>
              <a:blipFill>
                <a:blip r:embed="rId3"/>
                <a:stretch>
                  <a:fillRect l="-690" t="-81553" b="-1330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1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1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5" grpId="0" build="p"/>
      <p:bldP spid="51206" grpId="0"/>
      <p:bldP spid="51207" grpId="0"/>
      <p:bldP spid="10" grpId="0"/>
      <p:bldP spid="5120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>
                <a:ea typeface="黑体" panose="02010609060101010101" pitchFamily="49" charset="-122"/>
              </a:rPr>
              <a:t>定理</a:t>
            </a:r>
            <a:r>
              <a:rPr lang="en-US" altLang="zh-CN">
                <a:ea typeface="黑体" panose="02010609060101010101" pitchFamily="49" charset="-122"/>
              </a:rPr>
              <a:t>2</a:t>
            </a:r>
            <a:endParaRPr lang="zh-CN" altLang="en-US">
              <a:ea typeface="黑体" panose="02010609060101010101" pitchFamily="49" charset="-122"/>
            </a:endParaRPr>
          </a:p>
        </p:txBody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9959" y="1143794"/>
            <a:ext cx="10423615" cy="192449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设连续型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R.V.(X, Y)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的联合概率密度函数为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f(x, y)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g(x, y)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是连续函数，则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Z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＝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g(X, Y)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是连续型一维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R.V.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Z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的分布函数为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230" name="Object 4"/>
              <p:cNvSpPr txBox="1"/>
              <p:nvPr/>
            </p:nvSpPr>
            <p:spPr bwMode="auto">
              <a:xfrm>
                <a:off x="1222375" y="2667229"/>
                <a:ext cx="8143737" cy="17707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)&lt;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}=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)&lt;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  <m:sup/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𝑑𝑥𝑑𝑦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230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22375" y="2667229"/>
                <a:ext cx="8143737" cy="1770720"/>
              </a:xfrm>
              <a:prstGeom prst="rect">
                <a:avLst/>
              </a:prstGeom>
              <a:blipFill rotWithShape="1">
                <a:blip r:embed="rId2"/>
                <a:stretch>
                  <a:fillRect t="-13" r="6" b="3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5029" name="Rectangle 5"/>
          <p:cNvSpPr>
            <a:spLocks noChangeArrowheads="1"/>
          </p:cNvSpPr>
          <p:nvPr/>
        </p:nvSpPr>
        <p:spPr bwMode="auto">
          <a:xfrm>
            <a:off x="628613" y="4036889"/>
            <a:ext cx="2916913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概率密度函数为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5030" name="Object 6"/>
              <p:cNvSpPr txBox="1"/>
              <p:nvPr/>
            </p:nvSpPr>
            <p:spPr bwMode="auto">
              <a:xfrm>
                <a:off x="4167770" y="5270927"/>
                <a:ext cx="3184051" cy="88973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5030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67770" y="5270927"/>
                <a:ext cx="3184051" cy="889734"/>
              </a:xfrm>
              <a:prstGeom prst="rect">
                <a:avLst/>
              </a:prstGeom>
              <a:blipFill rotWithShape="1">
                <a:blip r:embed="rId3"/>
                <a:stretch>
                  <a:fillRect l="-8" t="-48" r="13" b="5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4"/>
              <p:cNvSpPr txBox="1"/>
              <p:nvPr/>
            </p:nvSpPr>
            <p:spPr bwMode="auto">
              <a:xfrm>
                <a:off x="1206500" y="2667864"/>
                <a:ext cx="8143737" cy="17707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Cambria Math" panose="02040503050406030204" pitchFamily="18" charset="0"/>
                        </a:rPr>
                        <m:t>𝑧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{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Cambria Math" panose="02040503050406030204" pitchFamily="18" charset="0"/>
                        </a:rPr>
                        <m:t>𝑔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Cambria Math" panose="02040503050406030204" pitchFamily="18" charset="0"/>
                        </a:rPr>
                        <m:t>𝑋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Cambria Math" panose="02040503050406030204" pitchFamily="18" charset="0"/>
                        </a:rPr>
                        <m:t>𝑌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)&lt;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Cambria Math" panose="02040503050406030204" pitchFamily="18" charset="0"/>
                        </a:rPr>
                        <m:t>𝑧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}=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)&lt;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mbria Math" panose="02040503050406030204" pitchFamily="18" charset="0"/>
                            </a:rPr>
                            <m:t>𝑧</m:t>
                          </m:r>
                        </m:sub>
                        <m:sup/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mbria Math" panose="02040503050406030204" pitchFamily="18" charset="0"/>
                            </a:rPr>
                            <m:t>𝑑𝑥𝑑𝑦</m:t>
                          </m:r>
                        </m:e>
                      </m:nary>
                    </m:oMath>
                  </m:oMathPara>
                </a14:m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06500" y="2667864"/>
                <a:ext cx="8143737" cy="1770720"/>
              </a:xfrm>
              <a:prstGeom prst="rect">
                <a:avLst/>
              </a:prstGeom>
              <a:blipFill rotWithShape="1">
                <a:blip r:embed="rId2"/>
                <a:stretch>
                  <a:fillRect t="-13" r="6" b="3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2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85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5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85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9" grpId="0" build="p"/>
      <p:bldP spid="385029" grpId="0" autoUpdateAnimBg="0"/>
      <p:bldP spid="385030" grpId="0"/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>
                <a:ea typeface="黑体" panose="02010609060101010101" pitchFamily="49" charset="-122"/>
              </a:rPr>
              <a:t>定理</a:t>
            </a:r>
            <a:r>
              <a:rPr lang="en-US" altLang="zh-CN">
                <a:ea typeface="黑体" panose="02010609060101010101" pitchFamily="49" charset="-122"/>
              </a:rPr>
              <a:t>3</a:t>
            </a:r>
            <a:endParaRPr lang="zh-CN" altLang="en-US">
              <a:ea typeface="黑体" panose="02010609060101010101" pitchFamily="49" charset="-122"/>
            </a:endParaRPr>
          </a:p>
        </p:txBody>
      </p:sp>
      <p:sp>
        <p:nvSpPr>
          <p:cNvPr id="532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8817" y="1023911"/>
            <a:ext cx="11557758" cy="15441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设</a:t>
            </a:r>
            <a:r>
              <a:rPr lang="en-US" altLang="zh-CN" dirty="0"/>
              <a:t>R.V.(X, Y)</a:t>
            </a:r>
            <a:r>
              <a:rPr lang="zh-CN" altLang="en-US" dirty="0"/>
              <a:t>的联合概率密度函数为</a:t>
            </a:r>
            <a:r>
              <a:rPr lang="en-US" altLang="zh-CN" dirty="0" err="1"/>
              <a:t>f</a:t>
            </a:r>
            <a:r>
              <a:rPr lang="en-US" altLang="zh-CN" baseline="-25000" dirty="0" err="1"/>
              <a:t>X</a:t>
            </a:r>
            <a:r>
              <a:rPr lang="en-US" altLang="zh-CN" baseline="-25000" dirty="0"/>
              <a:t>, Y</a:t>
            </a:r>
            <a:r>
              <a:rPr lang="en-US" altLang="zh-CN" dirty="0"/>
              <a:t>(x,  y)</a:t>
            </a:r>
            <a:r>
              <a:rPr lang="zh-CN" altLang="en-US" dirty="0"/>
              <a:t>，如果</a:t>
            </a:r>
            <a:r>
              <a:rPr lang="en-US" altLang="zh-CN" dirty="0"/>
              <a:t>u</a:t>
            </a:r>
            <a:r>
              <a:rPr lang="zh-CN" altLang="en-US" dirty="0"/>
              <a:t>＝ </a:t>
            </a:r>
            <a:r>
              <a:rPr lang="en-US" altLang="zh-CN" dirty="0"/>
              <a:t>g</a:t>
            </a:r>
            <a:r>
              <a:rPr lang="en-US" altLang="zh-CN" baseline="-25000" dirty="0"/>
              <a:t>1</a:t>
            </a:r>
            <a:r>
              <a:rPr lang="en-US" altLang="zh-CN" dirty="0"/>
              <a:t>(x, y)</a:t>
            </a:r>
            <a:r>
              <a:rPr lang="zh-CN" altLang="en-US" dirty="0"/>
              <a:t>和 </a:t>
            </a:r>
            <a:r>
              <a:rPr lang="en-US" altLang="zh-CN" dirty="0"/>
              <a:t>v</a:t>
            </a:r>
            <a:r>
              <a:rPr lang="zh-CN" altLang="en-US" dirty="0"/>
              <a:t>＝ </a:t>
            </a:r>
            <a:r>
              <a:rPr lang="en-US" altLang="zh-CN" dirty="0"/>
              <a:t>g</a:t>
            </a:r>
            <a:r>
              <a:rPr lang="en-US" altLang="zh-CN" baseline="-25000" dirty="0"/>
              <a:t>2</a:t>
            </a:r>
            <a:r>
              <a:rPr lang="en-US" altLang="zh-CN" dirty="0"/>
              <a:t>(x, y)</a:t>
            </a:r>
            <a:r>
              <a:rPr lang="zh-CN" altLang="en-US" dirty="0"/>
              <a:t>是连续函数，且满足下列条件：</a:t>
            </a:r>
          </a:p>
        </p:txBody>
      </p:sp>
      <p:sp>
        <p:nvSpPr>
          <p:cNvPr id="53254" name="Rectangle 4"/>
          <p:cNvSpPr>
            <a:spLocks noChangeArrowheads="1"/>
          </p:cNvSpPr>
          <p:nvPr/>
        </p:nvSpPr>
        <p:spPr bwMode="auto">
          <a:xfrm>
            <a:off x="408817" y="2363275"/>
            <a:ext cx="3277358" cy="576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AutoNum type="arabicParenR"/>
            </a:pPr>
            <a:r>
              <a:rPr lang="zh-CN" altLang="en-US" sz="2400" dirty="0">
                <a:latin typeface="+mn-ea"/>
                <a:ea typeface="+mn-ea"/>
              </a:rPr>
              <a:t>存在唯一的反函数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255" name="Object 5"/>
              <p:cNvSpPr txBox="1"/>
              <p:nvPr/>
            </p:nvSpPr>
            <p:spPr bwMode="auto">
              <a:xfrm>
                <a:off x="3457522" y="2209253"/>
                <a:ext cx="1894326" cy="106863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>
                  <a:latin typeface="+mn-ea"/>
                </a:endParaRPr>
              </a:p>
            </p:txBody>
          </p:sp>
        </mc:Choice>
        <mc:Fallback xmlns="">
          <p:sp>
            <p:nvSpPr>
              <p:cNvPr id="5325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57522" y="2209253"/>
                <a:ext cx="1894326" cy="1068634"/>
              </a:xfrm>
              <a:prstGeom prst="rect">
                <a:avLst/>
              </a:prstGeom>
              <a:blipFill rotWithShape="1">
                <a:blip r:embed="rId2"/>
                <a:stretch>
                  <a:fillRect l="-31" t="-8" r="4" b="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256" name="Rectangle 6"/>
          <p:cNvSpPr>
            <a:spLocks noChangeArrowheads="1"/>
          </p:cNvSpPr>
          <p:nvPr/>
        </p:nvSpPr>
        <p:spPr bwMode="auto">
          <a:xfrm>
            <a:off x="400763" y="3293511"/>
            <a:ext cx="3734664" cy="576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AutoNum type="arabicParenR" startAt="2"/>
            </a:pPr>
            <a:r>
              <a:rPr lang="zh-CN" altLang="en-US" sz="2400" dirty="0">
                <a:latin typeface="+mn-ea"/>
                <a:ea typeface="+mn-ea"/>
              </a:rPr>
              <a:t>有连续的一阶偏导数；</a:t>
            </a:r>
          </a:p>
        </p:txBody>
      </p:sp>
      <p:sp>
        <p:nvSpPr>
          <p:cNvPr id="53257" name="Rectangle 7"/>
          <p:cNvSpPr>
            <a:spLocks noChangeArrowheads="1"/>
          </p:cNvSpPr>
          <p:nvPr/>
        </p:nvSpPr>
        <p:spPr bwMode="auto">
          <a:xfrm>
            <a:off x="408817" y="4192499"/>
            <a:ext cx="4649276" cy="576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AutoNum type="arabicParenR" startAt="3"/>
            </a:pPr>
            <a:r>
              <a:rPr lang="zh-CN" altLang="en-US" sz="2400" dirty="0">
                <a:latin typeface="+mn-ea"/>
                <a:ea typeface="+mn-ea"/>
              </a:rPr>
              <a:t>变换行列式（雅可比行列式）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258" name="Object 8"/>
              <p:cNvSpPr txBox="1"/>
              <p:nvPr/>
            </p:nvSpPr>
            <p:spPr bwMode="auto">
              <a:xfrm>
                <a:off x="4797682" y="3709787"/>
                <a:ext cx="2286529" cy="169901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en-US">
                  <a:latin typeface="+mn-ea"/>
                </a:endParaRPr>
              </a:p>
            </p:txBody>
          </p:sp>
        </mc:Choice>
        <mc:Fallback xmlns="">
          <p:sp>
            <p:nvSpPr>
              <p:cNvPr id="5325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97682" y="3709787"/>
                <a:ext cx="2286529" cy="1699018"/>
              </a:xfrm>
              <a:prstGeom prst="rect">
                <a:avLst/>
              </a:prstGeom>
              <a:blipFill rotWithShape="1">
                <a:blip r:embed="rId3"/>
                <a:stretch>
                  <a:fillRect l="-11" t="-381" r="7" b="3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259" name="Rectangle 9"/>
          <p:cNvSpPr>
            <a:spLocks noChangeArrowheads="1"/>
          </p:cNvSpPr>
          <p:nvPr/>
        </p:nvSpPr>
        <p:spPr bwMode="auto">
          <a:xfrm>
            <a:off x="408817" y="5259122"/>
            <a:ext cx="7697982" cy="1130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ea"/>
                <a:ea typeface="+mn-ea"/>
              </a:rPr>
              <a:t>则二维</a:t>
            </a:r>
            <a:r>
              <a:rPr lang="en-US" altLang="zh-CN" sz="2400" dirty="0">
                <a:latin typeface="+mn-ea"/>
                <a:ea typeface="+mn-ea"/>
              </a:rPr>
              <a:t>R.V.(U, V)</a:t>
            </a:r>
            <a:r>
              <a:rPr lang="zh-CN" altLang="en-US" sz="2400" dirty="0">
                <a:latin typeface="+mn-ea"/>
                <a:ea typeface="+mn-ea"/>
              </a:rPr>
              <a:t>的联合概率密度为</a:t>
            </a:r>
          </a:p>
          <a:p>
            <a:pPr algn="ctr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 err="1">
                <a:latin typeface="+mn-ea"/>
                <a:ea typeface="+mn-ea"/>
              </a:rPr>
              <a:t>f</a:t>
            </a:r>
            <a:r>
              <a:rPr lang="en-US" altLang="zh-CN" sz="2400" baseline="-25000" dirty="0" err="1">
                <a:latin typeface="+mn-ea"/>
                <a:ea typeface="+mn-ea"/>
              </a:rPr>
              <a:t>U</a:t>
            </a:r>
            <a:r>
              <a:rPr lang="en-US" altLang="zh-CN" sz="2400" baseline="-25000" dirty="0">
                <a:latin typeface="+mn-ea"/>
                <a:ea typeface="+mn-ea"/>
              </a:rPr>
              <a:t>, V</a:t>
            </a:r>
            <a:r>
              <a:rPr lang="en-US" altLang="zh-CN" sz="2400" dirty="0">
                <a:latin typeface="+mn-ea"/>
                <a:ea typeface="+mn-ea"/>
              </a:rPr>
              <a:t>(u, v)=</a:t>
            </a:r>
            <a:r>
              <a:rPr lang="en-US" altLang="zh-CN" sz="2400" dirty="0" err="1">
                <a:latin typeface="+mn-ea"/>
                <a:ea typeface="+mn-ea"/>
              </a:rPr>
              <a:t>f</a:t>
            </a:r>
            <a:r>
              <a:rPr lang="en-US" altLang="zh-CN" sz="2400" baseline="-25000" dirty="0" err="1">
                <a:latin typeface="+mn-ea"/>
                <a:ea typeface="+mn-ea"/>
              </a:rPr>
              <a:t>X</a:t>
            </a:r>
            <a:r>
              <a:rPr lang="en-US" altLang="zh-CN" sz="2400" baseline="-25000" dirty="0">
                <a:latin typeface="+mn-ea"/>
                <a:ea typeface="+mn-ea"/>
              </a:rPr>
              <a:t>, Y</a:t>
            </a:r>
            <a:r>
              <a:rPr lang="en-US" altLang="zh-CN" sz="2400" dirty="0">
                <a:latin typeface="+mn-ea"/>
                <a:ea typeface="+mn-ea"/>
              </a:rPr>
              <a:t>[h</a:t>
            </a:r>
            <a:r>
              <a:rPr lang="en-US" altLang="zh-CN" sz="2400" baseline="-25000" dirty="0">
                <a:latin typeface="+mn-ea"/>
                <a:ea typeface="+mn-ea"/>
              </a:rPr>
              <a:t>1</a:t>
            </a:r>
            <a:r>
              <a:rPr lang="en-US" altLang="zh-CN" sz="2400" dirty="0">
                <a:latin typeface="+mn-ea"/>
                <a:ea typeface="+mn-ea"/>
              </a:rPr>
              <a:t>(u, v), h</a:t>
            </a:r>
            <a:r>
              <a:rPr lang="en-US" altLang="zh-CN" sz="2400" baseline="-25000" dirty="0">
                <a:latin typeface="+mn-ea"/>
                <a:ea typeface="+mn-ea"/>
              </a:rPr>
              <a:t>2</a:t>
            </a:r>
            <a:r>
              <a:rPr lang="en-US" altLang="zh-CN" sz="2400" dirty="0">
                <a:latin typeface="+mn-ea"/>
                <a:ea typeface="+mn-ea"/>
              </a:rPr>
              <a:t>(u, v)] |J|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3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5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5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53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3" grpId="0" build="p"/>
      <p:bldP spid="53254" grpId="0"/>
      <p:bldP spid="53255" grpId="0"/>
      <p:bldP spid="53256" grpId="0"/>
      <p:bldP spid="53257" grpId="0"/>
      <p:bldP spid="53258" grpId="0"/>
      <p:bldP spid="5325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542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7975" y="1039507"/>
            <a:ext cx="7772400" cy="2564406"/>
          </a:xfrm>
        </p:spPr>
        <p:txBody>
          <a:bodyPr>
            <a:no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已知离散型</a:t>
            </a:r>
            <a:r>
              <a:rPr lang="en-US" altLang="zh-CN" dirty="0"/>
              <a:t>R.V.(X, Y)</a:t>
            </a:r>
            <a:r>
              <a:rPr lang="zh-CN" altLang="en-US" dirty="0"/>
              <a:t>的联合概率分布如右表所示，求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	</a:t>
            </a:r>
            <a:r>
              <a:rPr lang="en-US" altLang="zh-CN" dirty="0"/>
              <a:t>(1)  Z</a:t>
            </a:r>
            <a:r>
              <a:rPr lang="en-US" altLang="zh-CN" baseline="-25000" dirty="0"/>
              <a:t>1</a:t>
            </a:r>
            <a:r>
              <a:rPr lang="zh-CN" altLang="en-US" dirty="0"/>
              <a:t>＝</a:t>
            </a:r>
            <a:r>
              <a:rPr lang="en-US" altLang="zh-CN" dirty="0"/>
              <a:t>X</a:t>
            </a:r>
            <a:r>
              <a:rPr lang="zh-CN" altLang="en-US" dirty="0"/>
              <a:t>＋</a:t>
            </a:r>
            <a:r>
              <a:rPr lang="en-US" altLang="zh-CN" dirty="0"/>
              <a:t>Y</a:t>
            </a:r>
            <a:r>
              <a:rPr lang="zh-CN" altLang="en-US" dirty="0"/>
              <a:t>；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	</a:t>
            </a:r>
            <a:r>
              <a:rPr lang="en-US" altLang="zh-CN" dirty="0"/>
              <a:t>(2)  Z</a:t>
            </a:r>
            <a:r>
              <a:rPr lang="en-US" altLang="zh-CN" baseline="-25000" dirty="0"/>
              <a:t>2</a:t>
            </a:r>
            <a:r>
              <a:rPr lang="zh-CN" altLang="en-US" dirty="0"/>
              <a:t>＝</a:t>
            </a:r>
            <a:r>
              <a:rPr lang="en-US" altLang="zh-CN" dirty="0"/>
              <a:t>max(X, Y)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的分布律。</a:t>
            </a:r>
          </a:p>
        </p:txBody>
      </p:sp>
      <p:sp>
        <p:nvSpPr>
          <p:cNvPr id="382980" name="Text Box 4"/>
          <p:cNvSpPr txBox="1">
            <a:spLocks noChangeArrowheads="1"/>
          </p:cNvSpPr>
          <p:nvPr/>
        </p:nvSpPr>
        <p:spPr bwMode="auto">
          <a:xfrm>
            <a:off x="460375" y="3735211"/>
            <a:ext cx="7469329" cy="51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800" dirty="0">
                <a:solidFill>
                  <a:srgbClr val="C00000"/>
                </a:solidFill>
                <a:ea typeface="黑体" panose="02010609060101010101" pitchFamily="49" charset="-122"/>
              </a:rPr>
              <a:t>解</a:t>
            </a:r>
            <a:r>
              <a:rPr lang="zh-CN" altLang="en-US" sz="2800" dirty="0">
                <a:ea typeface="黑体" panose="02010609060101010101" pitchFamily="49" charset="-122"/>
              </a:rPr>
              <a:t>： </a:t>
            </a:r>
            <a:r>
              <a:rPr lang="en-US" altLang="zh-CN" sz="2800" dirty="0">
                <a:ea typeface="黑体" panose="02010609060101010101" pitchFamily="49" charset="-122"/>
              </a:rPr>
              <a:t>Z</a:t>
            </a:r>
            <a:r>
              <a:rPr lang="en-US" altLang="zh-CN" sz="2800" baseline="-25000" dirty="0">
                <a:ea typeface="黑体" panose="02010609060101010101" pitchFamily="49" charset="-122"/>
              </a:rPr>
              <a:t>1</a:t>
            </a:r>
            <a:r>
              <a:rPr lang="zh-CN" altLang="en-US" sz="2800" dirty="0">
                <a:ea typeface="黑体" panose="02010609060101010101" pitchFamily="49" charset="-122"/>
              </a:rPr>
              <a:t>的分布律和</a:t>
            </a:r>
            <a:r>
              <a:rPr lang="en-US" altLang="zh-CN" sz="2800" dirty="0">
                <a:ea typeface="黑体" panose="02010609060101010101" pitchFamily="49" charset="-122"/>
              </a:rPr>
              <a:t>Z</a:t>
            </a:r>
            <a:r>
              <a:rPr lang="en-US" altLang="zh-CN" sz="2800" baseline="-25000" dirty="0">
                <a:ea typeface="黑体" panose="02010609060101010101" pitchFamily="49" charset="-122"/>
              </a:rPr>
              <a:t>2</a:t>
            </a:r>
            <a:r>
              <a:rPr lang="zh-CN" altLang="en-US" sz="2800" dirty="0">
                <a:ea typeface="黑体" panose="02010609060101010101" pitchFamily="49" charset="-122"/>
              </a:rPr>
              <a:t>的分布律如下：</a:t>
            </a:r>
            <a:endParaRPr lang="zh-CN" altLang="en-US" sz="2800" dirty="0"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382981" name="Group 5"/>
          <p:cNvGraphicFramePr>
            <a:graphicFrameLocks noGrp="1"/>
          </p:cNvGraphicFramePr>
          <p:nvPr/>
        </p:nvGraphicFramePr>
        <p:xfrm>
          <a:off x="8461375" y="1296194"/>
          <a:ext cx="2438965" cy="1873684"/>
        </p:xfrm>
        <a:graphic>
          <a:graphicData uri="http://schemas.openxmlformats.org/drawingml/2006/table">
            <a:tbl>
              <a:tblPr/>
              <a:tblGrid>
                <a:gridCol w="1067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2782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91461" marR="9146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marL="91461" marR="914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1461" marR="91461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451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marL="91461" marR="9146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1/4</a:t>
                      </a:r>
                    </a:p>
                  </a:txBody>
                  <a:tcPr marL="91461" marR="914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1/4</a:t>
                      </a:r>
                    </a:p>
                  </a:txBody>
                  <a:tcPr marL="91461" marR="9146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451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1461" marR="9146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1/4</a:t>
                      </a:r>
                    </a:p>
                  </a:txBody>
                  <a:tcPr marL="91461" marR="914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1/4</a:t>
                      </a:r>
                    </a:p>
                  </a:txBody>
                  <a:tcPr marL="91461" marR="9146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4293" name="Text Box 25"/>
          <p:cNvSpPr txBox="1">
            <a:spLocks noChangeArrowheads="1"/>
          </p:cNvSpPr>
          <p:nvPr/>
        </p:nvSpPr>
        <p:spPr bwMode="auto">
          <a:xfrm>
            <a:off x="8537592" y="1677283"/>
            <a:ext cx="381088" cy="45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 b="0">
                <a:ea typeface="黑体" panose="02010609060101010101" pitchFamily="49" charset="-122"/>
              </a:rPr>
              <a:t>X</a:t>
            </a:r>
          </a:p>
        </p:txBody>
      </p:sp>
      <p:sp>
        <p:nvSpPr>
          <p:cNvPr id="54294" name="Text Box 26"/>
          <p:cNvSpPr txBox="1">
            <a:spLocks noChangeArrowheads="1"/>
          </p:cNvSpPr>
          <p:nvPr/>
        </p:nvSpPr>
        <p:spPr bwMode="auto">
          <a:xfrm>
            <a:off x="9147334" y="1296194"/>
            <a:ext cx="381088" cy="45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 b="0">
                <a:ea typeface="黑体" panose="02010609060101010101" pitchFamily="49" charset="-122"/>
              </a:rPr>
              <a:t>Y</a:t>
            </a:r>
          </a:p>
        </p:txBody>
      </p:sp>
      <p:sp>
        <p:nvSpPr>
          <p:cNvPr id="54295" name="Text Box 27"/>
          <p:cNvSpPr txBox="1">
            <a:spLocks noChangeArrowheads="1"/>
          </p:cNvSpPr>
          <p:nvPr/>
        </p:nvSpPr>
        <p:spPr bwMode="auto">
          <a:xfrm>
            <a:off x="8842463" y="1524847"/>
            <a:ext cx="533523" cy="45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 b="0">
                <a:ea typeface="黑体" panose="02010609060101010101" pitchFamily="49" charset="-122"/>
              </a:rPr>
              <a:t>Pij</a:t>
            </a:r>
          </a:p>
        </p:txBody>
      </p:sp>
      <p:sp>
        <p:nvSpPr>
          <p:cNvPr id="54296" name="Line 28"/>
          <p:cNvSpPr>
            <a:spLocks noChangeShapeType="1"/>
          </p:cNvSpPr>
          <p:nvPr/>
        </p:nvSpPr>
        <p:spPr bwMode="auto">
          <a:xfrm>
            <a:off x="8461375" y="1296194"/>
            <a:ext cx="1067047" cy="45730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97" name="Line 29"/>
          <p:cNvSpPr>
            <a:spLocks noChangeShapeType="1"/>
          </p:cNvSpPr>
          <p:nvPr/>
        </p:nvSpPr>
        <p:spPr bwMode="auto">
          <a:xfrm>
            <a:off x="8461375" y="1296194"/>
            <a:ext cx="609741" cy="8383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83006" name="Group 3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347433" y="4749611"/>
          <a:ext cx="3582230" cy="1170259"/>
        </p:xfrm>
        <a:graphic>
          <a:graphicData uri="http://schemas.openxmlformats.org/drawingml/2006/table">
            <a:tbl>
              <a:tblPr/>
              <a:tblGrid>
                <a:gridCol w="1524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9997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Z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＝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X+Y</a:t>
                      </a:r>
                    </a:p>
                  </a:txBody>
                  <a:tcPr marL="91461" marR="91461" marT="45661" marB="4566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marL="91461" marR="91461" marT="45661" marB="456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1461" marR="91461" marT="45661" marB="45661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</a:t>
                      </a:r>
                    </a:p>
                  </a:txBody>
                  <a:tcPr marL="91461" marR="91461" marT="45661" marB="45661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62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P</a:t>
                      </a:r>
                    </a:p>
                  </a:txBody>
                  <a:tcPr marL="91461" marR="91461" marT="45661" marB="4566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1/4</a:t>
                      </a:r>
                    </a:p>
                  </a:txBody>
                  <a:tcPr marL="91461" marR="91461" marT="45661" marB="456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1/2</a:t>
                      </a:r>
                    </a:p>
                  </a:txBody>
                  <a:tcPr marL="91461" marR="91461" marT="45661" marB="4566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1/4</a:t>
                      </a:r>
                    </a:p>
                  </a:txBody>
                  <a:tcPr marL="91461" marR="91461" marT="45661" marB="4566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83023" name="Group 47"/>
          <p:cNvGraphicFramePr>
            <a:graphicFrameLocks noGrp="1"/>
          </p:cNvGraphicFramePr>
          <p:nvPr/>
        </p:nvGraphicFramePr>
        <p:xfrm>
          <a:off x="6403975" y="4749611"/>
          <a:ext cx="3810882" cy="1170259"/>
        </p:xfrm>
        <a:graphic>
          <a:graphicData uri="http://schemas.openxmlformats.org/drawingml/2006/table">
            <a:tbl>
              <a:tblPr/>
              <a:tblGrid>
                <a:gridCol w="2053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8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9997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Z</a:t>
                      </a:r>
                      <a:r>
                        <a:rPr kumimoji="1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＝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max(X, Y)</a:t>
                      </a:r>
                    </a:p>
                  </a:txBody>
                  <a:tcPr marL="91461" marR="91461" marT="45661" marB="4566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marL="91461" marR="91461" marT="45661" marB="456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1461" marR="91461" marT="45661" marB="45661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62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P</a:t>
                      </a:r>
                    </a:p>
                  </a:txBody>
                  <a:tcPr marL="91461" marR="91461" marT="45661" marB="4566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1/4</a:t>
                      </a:r>
                    </a:p>
                  </a:txBody>
                  <a:tcPr marL="91461" marR="91461" marT="45661" marB="456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3/4</a:t>
                      </a:r>
                    </a:p>
                  </a:txBody>
                  <a:tcPr marL="91461" marR="91461" marT="45661" marB="4566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2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29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30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30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30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30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2980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Rectangle 2"/>
          <p:cNvSpPr>
            <a:spLocks noGrp="1" noChangeArrowheads="1"/>
          </p:cNvSpPr>
          <p:nvPr>
            <p:ph type="title"/>
          </p:nvPr>
        </p:nvSpPr>
        <p:spPr>
          <a:xfrm>
            <a:off x="841375" y="281847"/>
            <a:ext cx="9961986" cy="609741"/>
          </a:xfrm>
        </p:spPr>
        <p:txBody>
          <a:bodyPr/>
          <a:lstStyle/>
          <a:p>
            <a:pPr algn="l" eaLnBrk="1" hangingPunct="1"/>
            <a:r>
              <a:rPr lang="zh-CN" altLang="en-US" dirty="0"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3932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60375" y="1143794"/>
            <a:ext cx="7607474" cy="517645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设</a:t>
            </a:r>
            <a:r>
              <a:rPr lang="en-US" altLang="zh-CN"/>
              <a:t>X</a:t>
            </a:r>
            <a:r>
              <a:rPr lang="zh-CN" altLang="en-US"/>
              <a:t>～</a:t>
            </a:r>
            <a:r>
              <a:rPr lang="en-US" altLang="zh-CN"/>
              <a:t>N(0, 1)</a:t>
            </a:r>
            <a:r>
              <a:rPr lang="zh-CN" altLang="en-US"/>
              <a:t>，求</a:t>
            </a:r>
            <a:r>
              <a:rPr lang="en-US" altLang="zh-CN"/>
              <a:t>Y = X</a:t>
            </a:r>
            <a:r>
              <a:rPr lang="en-US" altLang="zh-CN" baseline="30000"/>
              <a:t>2</a:t>
            </a:r>
            <a:r>
              <a:rPr lang="zh-CN" altLang="en-US"/>
              <a:t>的概率密度函数</a:t>
            </a:r>
            <a:r>
              <a:rPr lang="en-US" altLang="zh-CN"/>
              <a:t>f</a:t>
            </a:r>
            <a:r>
              <a:rPr lang="en-US" altLang="zh-CN" baseline="-25000"/>
              <a:t>Y</a:t>
            </a:r>
            <a:r>
              <a:rPr lang="en-US" altLang="zh-CN"/>
              <a:t>(y)</a:t>
            </a:r>
            <a:r>
              <a:rPr lang="zh-CN" altLang="en-US"/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3278" name="Object 62"/>
              <p:cNvSpPr txBox="1">
                <a:spLocks noGrp="1"/>
              </p:cNvSpPr>
              <p:nvPr>
                <p:ph sz="half" idx="2"/>
              </p:nvPr>
            </p:nvSpPr>
            <p:spPr bwMode="auto">
              <a:xfrm>
                <a:off x="1222375" y="2058209"/>
                <a:ext cx="7848600" cy="281938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rad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num>
                                      <m:den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ad>
                                          <m:radPr>
                                            <m:degHide m:val="on"/>
                                            <m:ctrlPr>
                                              <a:rPr 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radPr>
                                          <m:deg/>
                                          <m:e>
                                            <m:r>
                                              <a:rPr 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rad>
                                      </m:den>
                                    </m:f>
                                  </m:e>
                                </m:d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rad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ad>
                                          <m:radPr>
                                            <m:degHide m:val="on"/>
                                            <m:ctrlPr>
                                              <a:rPr 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radPr>
                                          <m:deg/>
                                          <m:e>
                                            <m:r>
                                              <a:rPr 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rad>
                                      </m:den>
                                    </m:f>
                                  </m:e>
                                </m:d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其它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3278" name="Object 6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 bwMode="auto">
              <a:xfrm>
                <a:off x="1222375" y="2058209"/>
                <a:ext cx="7848600" cy="2819385"/>
              </a:xfrm>
              <a:prstGeom prst="rect">
                <a:avLst/>
              </a:prstGeom>
              <a:blipFill rotWithShape="1">
                <a:blip r:embed="rId2"/>
                <a:stretch>
                  <a:fillRect t="-6" b="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67"/>
          <p:cNvGrpSpPr/>
          <p:nvPr/>
        </p:nvGrpSpPr>
        <p:grpSpPr bwMode="auto">
          <a:xfrm>
            <a:off x="460374" y="1845631"/>
            <a:ext cx="7469329" cy="535112"/>
            <a:chOff x="720" y="1162"/>
            <a:chExt cx="4704" cy="337"/>
          </a:xfrm>
        </p:grpSpPr>
        <p:sp>
          <p:nvSpPr>
            <p:cNvPr id="55306" name="Text Box 4"/>
            <p:cNvSpPr txBox="1">
              <a:spLocks noChangeArrowheads="1"/>
            </p:cNvSpPr>
            <p:nvPr/>
          </p:nvSpPr>
          <p:spPr bwMode="auto">
            <a:xfrm>
              <a:off x="720" y="1162"/>
              <a:ext cx="470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rgbClr val="FF9900"/>
                  </a:solidFill>
                  <a:latin typeface="+mn-ea"/>
                  <a:ea typeface="+mn-ea"/>
                </a:rPr>
                <a:t>解</a:t>
              </a:r>
              <a:r>
                <a:rPr lang="zh-CN" altLang="en-US" sz="2400" dirty="0">
                  <a:latin typeface="+mn-ea"/>
                  <a:ea typeface="+mn-ea"/>
                </a:rPr>
                <a:t>： 由</a:t>
              </a:r>
              <a:r>
                <a:rPr lang="en-US" altLang="zh-CN" sz="2400" dirty="0">
                  <a:latin typeface="+mn-ea"/>
                  <a:ea typeface="+mn-ea"/>
                </a:rPr>
                <a:t>y=x</a:t>
              </a:r>
              <a:r>
                <a:rPr lang="en-US" altLang="zh-CN" sz="2400" baseline="30000" dirty="0">
                  <a:latin typeface="+mn-ea"/>
                  <a:ea typeface="+mn-ea"/>
                </a:rPr>
                <a:t>2</a:t>
              </a:r>
              <a:r>
                <a:rPr lang="zh-CN" altLang="en-US" sz="2400" dirty="0">
                  <a:latin typeface="+mn-ea"/>
                  <a:ea typeface="+mn-ea"/>
                </a:rPr>
                <a:t>，有</a:t>
              </a:r>
              <a:r>
                <a:rPr lang="en-US" altLang="zh-CN" sz="2400" dirty="0">
                  <a:latin typeface="+mn-ea"/>
                  <a:ea typeface="+mn-ea"/>
                </a:rPr>
                <a:t>x</a:t>
              </a:r>
              <a:r>
                <a:rPr lang="en-US" altLang="zh-CN" sz="2400" baseline="-25000" dirty="0">
                  <a:latin typeface="+mn-ea"/>
                  <a:ea typeface="+mn-ea"/>
                </a:rPr>
                <a:t>1</a:t>
              </a:r>
              <a:r>
                <a:rPr lang="en-US" altLang="zh-CN" sz="2400" dirty="0">
                  <a:latin typeface="+mn-ea"/>
                  <a:ea typeface="+mn-ea"/>
                </a:rPr>
                <a:t>= -    </a:t>
              </a:r>
              <a:r>
                <a:rPr lang="zh-CN" altLang="en-US" sz="2400" dirty="0">
                  <a:latin typeface="+mn-ea"/>
                  <a:ea typeface="+mn-ea"/>
                </a:rPr>
                <a:t>，</a:t>
              </a:r>
              <a:r>
                <a:rPr lang="en-US" altLang="zh-CN" sz="2400" dirty="0">
                  <a:latin typeface="+mn-ea"/>
                  <a:ea typeface="+mn-ea"/>
                </a:rPr>
                <a:t>x</a:t>
              </a:r>
              <a:r>
                <a:rPr lang="en-US" altLang="zh-CN" sz="2400" baseline="-25000" dirty="0">
                  <a:latin typeface="+mn-ea"/>
                  <a:ea typeface="+mn-ea"/>
                </a:rPr>
                <a:t>2</a:t>
              </a:r>
              <a:r>
                <a:rPr lang="en-US" altLang="zh-CN" sz="2400" dirty="0">
                  <a:latin typeface="+mn-ea"/>
                  <a:ea typeface="+mn-ea"/>
                </a:rPr>
                <a:t>=    </a:t>
              </a:r>
              <a:r>
                <a:rPr lang="zh-CN" altLang="en-US" sz="2400" dirty="0">
                  <a:latin typeface="+mn-ea"/>
                  <a:ea typeface="+mn-ea"/>
                </a:rPr>
                <a:t>，</a:t>
              </a:r>
              <a:r>
                <a:rPr lang="en-US" altLang="zh-CN" sz="2400" dirty="0">
                  <a:latin typeface="+mn-ea"/>
                  <a:ea typeface="+mn-ea"/>
                </a:rPr>
                <a:t>y&gt;0</a:t>
              </a:r>
              <a:r>
                <a:rPr lang="zh-CN" altLang="en-US" sz="2400" dirty="0">
                  <a:latin typeface="+mn-ea"/>
                  <a:ea typeface="+mn-ea"/>
                </a:rPr>
                <a:t>，故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307" name="Object 64"/>
                <p:cNvSpPr txBox="1"/>
                <p:nvPr/>
              </p:nvSpPr>
              <p:spPr bwMode="auto">
                <a:xfrm>
                  <a:off x="2688" y="1162"/>
                  <a:ext cx="304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rad>
                      </m:oMath>
                    </m:oMathPara>
                  </a14:m>
                  <a:endParaRPr lang="en-US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55307" name="Object 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688" y="1162"/>
                  <a:ext cx="304" cy="327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308" name="Object 65"/>
                <p:cNvSpPr txBox="1"/>
                <p:nvPr/>
              </p:nvSpPr>
              <p:spPr bwMode="auto">
                <a:xfrm>
                  <a:off x="3392" y="1179"/>
                  <a:ext cx="304" cy="3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rad>
                      </m:oMath>
                    </m:oMathPara>
                  </a14:m>
                  <a:endParaRPr lang="en-US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55308" name="Object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392" y="1179"/>
                  <a:ext cx="304" cy="320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3282" name="Object 66"/>
              <p:cNvSpPr txBox="1"/>
              <p:nvPr/>
            </p:nvSpPr>
            <p:spPr bwMode="auto">
              <a:xfrm>
                <a:off x="2060575" y="4953794"/>
                <a:ext cx="3396448" cy="171489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rad>
                                  </m:den>
                                </m:f>
                                <m:sSup>
                                  <m:sSup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num>
                                      <m:den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其它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latin typeface="+mn-ea"/>
                </a:endParaRPr>
              </a:p>
            </p:txBody>
          </p:sp>
        </mc:Choice>
        <mc:Fallback xmlns="">
          <p:sp>
            <p:nvSpPr>
              <p:cNvPr id="393282" name="Object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0575" y="4953794"/>
                <a:ext cx="3396448" cy="1714897"/>
              </a:xfrm>
              <a:prstGeom prst="rect">
                <a:avLst/>
              </a:prstGeom>
              <a:blipFill rotWithShape="1">
                <a:blip r:embed="rId4"/>
                <a:stretch>
                  <a:fillRect t="-9" r="14" b="3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8">
                <a:extLst>
                  <a:ext uri="{FF2B5EF4-FFF2-40B4-BE49-F238E27FC236}">
                    <a16:creationId xmlns:a16="http://schemas.microsoft.com/office/drawing/2014/main" id="{0A927319-C4D3-A978-A3B5-FA6652823C93}"/>
                  </a:ext>
                </a:extLst>
              </p:cNvPr>
              <p:cNvSpPr txBox="1"/>
              <p:nvPr/>
            </p:nvSpPr>
            <p:spPr bwMode="auto">
              <a:xfrm>
                <a:off x="8918575" y="2743994"/>
                <a:ext cx="2819400" cy="1020999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</m:mr>
                      </m:m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" name="Object 8">
                <a:extLst>
                  <a:ext uri="{FF2B5EF4-FFF2-40B4-BE49-F238E27FC236}">
                    <a16:creationId xmlns:a16="http://schemas.microsoft.com/office/drawing/2014/main" id="{0A927319-C4D3-A978-A3B5-FA6652823C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18575" y="2743994"/>
                <a:ext cx="2819400" cy="1020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3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3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93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93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3219" grpId="0" build="p"/>
      <p:bldP spid="393278" grpId="0" build="p"/>
      <p:bldP spid="393282" grpId="0"/>
      <p:bldP spid="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4" name="Rectangle 2"/>
          <p:cNvSpPr>
            <a:spLocks noGrp="1" noChangeArrowheads="1"/>
          </p:cNvSpPr>
          <p:nvPr>
            <p:ph type="title"/>
          </p:nvPr>
        </p:nvSpPr>
        <p:spPr>
          <a:xfrm>
            <a:off x="841375" y="241023"/>
            <a:ext cx="9961986" cy="609741"/>
          </a:xfrm>
        </p:spPr>
        <p:txBody>
          <a:bodyPr/>
          <a:lstStyle/>
          <a:p>
            <a:pPr algn="l" eaLnBrk="1" hangingPunct="1"/>
            <a:r>
              <a:rPr lang="zh-CN" altLang="en-US" dirty="0"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3962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10512" y="1296194"/>
            <a:ext cx="8458682" cy="3142715"/>
          </a:xfrm>
        </p:spPr>
        <p:txBody>
          <a:bodyPr>
            <a:normAutofit/>
          </a:bodyPr>
          <a:lstStyle/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设</a:t>
            </a:r>
            <a:r>
              <a:rPr lang="en-US" altLang="zh-CN" dirty="0" err="1"/>
              <a:t>r.v.</a:t>
            </a:r>
            <a:r>
              <a:rPr lang="en-US" altLang="zh-CN" dirty="0"/>
              <a:t> X</a:t>
            </a:r>
            <a:r>
              <a:rPr lang="zh-CN" altLang="en-US" dirty="0"/>
              <a:t>～</a:t>
            </a:r>
            <a:r>
              <a:rPr lang="en-US" altLang="zh-CN" dirty="0"/>
              <a:t>N(0, 1)</a:t>
            </a:r>
            <a:r>
              <a:rPr lang="zh-CN" altLang="en-US" dirty="0"/>
              <a:t>，</a:t>
            </a:r>
            <a:r>
              <a:rPr lang="en-US" altLang="zh-CN" dirty="0"/>
              <a:t>Y</a:t>
            </a:r>
            <a:r>
              <a:rPr lang="zh-CN" altLang="en-US" dirty="0"/>
              <a:t>～</a:t>
            </a:r>
            <a:r>
              <a:rPr lang="en-US" altLang="zh-CN" dirty="0"/>
              <a:t>N(0, 1)</a:t>
            </a:r>
            <a:r>
              <a:rPr lang="zh-CN" altLang="en-US" dirty="0"/>
              <a:t>且相互独立，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U</a:t>
            </a:r>
            <a:r>
              <a:rPr lang="zh-CN" altLang="en-US" dirty="0"/>
              <a:t>＝</a:t>
            </a:r>
            <a:r>
              <a:rPr lang="en-US" altLang="zh-CN" dirty="0"/>
              <a:t>X + Y</a:t>
            </a:r>
            <a:r>
              <a:rPr lang="zh-CN" altLang="en-US" dirty="0"/>
              <a:t>，</a:t>
            </a:r>
            <a:r>
              <a:rPr lang="en-US" altLang="zh-CN" dirty="0"/>
              <a:t>V</a:t>
            </a:r>
            <a:r>
              <a:rPr lang="zh-CN" altLang="en-US" dirty="0"/>
              <a:t>＝</a:t>
            </a:r>
            <a:r>
              <a:rPr lang="en-US" altLang="zh-CN" dirty="0"/>
              <a:t>X - Y</a:t>
            </a:r>
            <a:r>
              <a:rPr lang="zh-CN" altLang="en-US" dirty="0"/>
              <a:t>，求：</a:t>
            </a:r>
          </a:p>
          <a:p>
            <a:pPr eaLnBrk="1" hangingPunct="1">
              <a:lnSpc>
                <a:spcPct val="170000"/>
              </a:lnSpc>
            </a:pPr>
            <a:r>
              <a:rPr lang="en-US" altLang="zh-CN" dirty="0" err="1"/>
              <a:t>r.v.</a:t>
            </a:r>
            <a:r>
              <a:rPr lang="en-US" altLang="zh-CN" dirty="0"/>
              <a:t>(U, V)</a:t>
            </a:r>
            <a:r>
              <a:rPr lang="zh-CN" altLang="en-US" dirty="0"/>
              <a:t>的联合概率密度</a:t>
            </a:r>
            <a:r>
              <a:rPr lang="en-US" altLang="zh-CN" dirty="0" err="1"/>
              <a:t>f</a:t>
            </a:r>
            <a:r>
              <a:rPr lang="en-US" altLang="zh-CN" baseline="-25000" dirty="0" err="1"/>
              <a:t>U</a:t>
            </a:r>
            <a:r>
              <a:rPr lang="en-US" altLang="zh-CN" baseline="-25000" dirty="0"/>
              <a:t>, V</a:t>
            </a:r>
            <a:r>
              <a:rPr lang="en-US" altLang="zh-CN" dirty="0"/>
              <a:t>(u, v)</a:t>
            </a:r>
            <a:r>
              <a:rPr lang="zh-CN" altLang="en-US" dirty="0"/>
              <a:t>；</a:t>
            </a:r>
          </a:p>
          <a:p>
            <a:pPr eaLnBrk="1" hangingPunct="1">
              <a:lnSpc>
                <a:spcPct val="170000"/>
              </a:lnSpc>
            </a:pPr>
            <a:r>
              <a:rPr lang="en-US" altLang="zh-CN" dirty="0" err="1"/>
              <a:t>r.v.U</a:t>
            </a:r>
            <a:r>
              <a:rPr lang="zh-CN" altLang="en-US" dirty="0"/>
              <a:t>与</a:t>
            </a:r>
            <a:r>
              <a:rPr lang="en-US" altLang="zh-CN" dirty="0"/>
              <a:t>V</a:t>
            </a:r>
            <a:r>
              <a:rPr lang="zh-CN" altLang="en-US" dirty="0"/>
              <a:t>是否独立？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6292" name="Object 4"/>
              <p:cNvSpPr txBox="1">
                <a:spLocks noGrp="1"/>
              </p:cNvSpPr>
              <p:nvPr>
                <p:ph sz="half" idx="2"/>
              </p:nvPr>
            </p:nvSpPr>
            <p:spPr bwMode="auto">
              <a:xfrm>
                <a:off x="1604036" y="5106195"/>
                <a:ext cx="8436664" cy="1371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</m:mr>
                      </m:m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396292" name="Object 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 bwMode="auto">
              <a:xfrm>
                <a:off x="1604036" y="5106195"/>
                <a:ext cx="8436664" cy="13716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327" name="Text Box 6"/>
          <p:cNvSpPr txBox="1">
            <a:spLocks noChangeArrowheads="1"/>
          </p:cNvSpPr>
          <p:nvPr/>
        </p:nvSpPr>
        <p:spPr bwMode="auto">
          <a:xfrm>
            <a:off x="720104" y="4320118"/>
            <a:ext cx="8631159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</a:rPr>
              <a:t>解</a:t>
            </a:r>
            <a:r>
              <a:rPr lang="zh-CN" altLang="en-US" sz="2400" dirty="0">
                <a:latin typeface="+mn-ea"/>
                <a:ea typeface="+mn-ea"/>
              </a:rPr>
              <a:t>：</a:t>
            </a:r>
            <a:r>
              <a:rPr lang="en-US" altLang="zh-CN" sz="2400" dirty="0">
                <a:solidFill>
                  <a:srgbClr val="00FF00"/>
                </a:solidFill>
                <a:latin typeface="+mn-ea"/>
                <a:ea typeface="+mn-ea"/>
              </a:rPr>
              <a:t>1.</a:t>
            </a:r>
            <a:r>
              <a:rPr lang="en-US" altLang="zh-CN" sz="2400" dirty="0">
                <a:latin typeface="+mn-ea"/>
                <a:ea typeface="+mn-ea"/>
              </a:rPr>
              <a:t>  </a:t>
            </a:r>
            <a:r>
              <a:rPr lang="en-US" altLang="zh-CN" sz="2400" dirty="0" err="1">
                <a:latin typeface="+mn-ea"/>
                <a:ea typeface="+mn-ea"/>
              </a:rPr>
              <a:t>r.v.</a:t>
            </a:r>
            <a:r>
              <a:rPr lang="en-US" altLang="zh-CN" sz="2400" dirty="0">
                <a:latin typeface="+mn-ea"/>
                <a:ea typeface="+mn-ea"/>
              </a:rPr>
              <a:t>(X, Y)</a:t>
            </a:r>
            <a:r>
              <a:rPr lang="zh-CN" altLang="en-US" sz="2400" dirty="0">
                <a:latin typeface="+mn-ea"/>
                <a:ea typeface="+mn-ea"/>
              </a:rPr>
              <a:t>的联合概率密度为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4">
                <a:extLst>
                  <a:ext uri="{FF2B5EF4-FFF2-40B4-BE49-F238E27FC236}">
                    <a16:creationId xmlns:a16="http://schemas.microsoft.com/office/drawing/2014/main" id="{F078B2FE-B79F-CB06-6961-6C3D28CC3EF4}"/>
                  </a:ext>
                </a:extLst>
              </p:cNvPr>
              <p:cNvSpPr txBox="1"/>
              <p:nvPr/>
            </p:nvSpPr>
            <p:spPr bwMode="auto">
              <a:xfrm>
                <a:off x="6613046" y="1884174"/>
                <a:ext cx="5476433" cy="218861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  <a:effectLst/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𝝈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𝝈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[(</m:t>
                          </m:r>
                          <m:f>
                            <m:f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den>
                          </m:f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+(</m:t>
                          </m:r>
                          <m:f>
                            <m:f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den>
                          </m:f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US" b="1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(−∞</m:t>
                      </m:r>
                      <m:r>
                        <a:rPr lang="en-US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+∞</m:t>
                      </m:r>
                      <m:r>
                        <m:rPr>
                          <m:nor/>
                        </m:rPr>
                        <a:rPr lang="en-US" b="1" i="0">
                          <a:solidFill>
                            <a:srgbClr val="000000"/>
                          </a:solidFill>
                          <a:latin typeface="+mn-ea"/>
                        </a:rPr>
                        <m:t>, 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−∞</m:t>
                      </m:r>
                      <m:r>
                        <a:rPr lang="en-US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+∞)</m:t>
                      </m:r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2" name="Object 4">
                <a:extLst>
                  <a:ext uri="{FF2B5EF4-FFF2-40B4-BE49-F238E27FC236}">
                    <a16:creationId xmlns:a16="http://schemas.microsoft.com/office/drawing/2014/main" id="{F078B2FE-B79F-CB06-6961-6C3D28CC3E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13046" y="1884174"/>
                <a:ext cx="5476433" cy="21886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6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6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6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6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96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96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96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96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56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396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6291" grpId="0" build="p"/>
      <p:bldP spid="396292" grpId="0" build="p"/>
      <p:bldP spid="56327" grpId="0"/>
      <p:bldP spid="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8" name="Rectangle 2"/>
          <p:cNvSpPr>
            <a:spLocks noGrp="1" noChangeArrowheads="1"/>
          </p:cNvSpPr>
          <p:nvPr>
            <p:ph type="title"/>
          </p:nvPr>
        </p:nvSpPr>
        <p:spPr>
          <a:xfrm>
            <a:off x="841375" y="225819"/>
            <a:ext cx="9961986" cy="609741"/>
          </a:xfrm>
        </p:spPr>
        <p:txBody>
          <a:bodyPr/>
          <a:lstStyle/>
          <a:p>
            <a:pPr algn="l" eaLnBrk="1" hangingPunct="1"/>
            <a:r>
              <a:rPr lang="zh-CN" altLang="en-US" dirty="0">
                <a:ea typeface="黑体" panose="02010609060101010101" pitchFamily="49" charset="-122"/>
              </a:rPr>
              <a:t>例</a:t>
            </a:r>
            <a:r>
              <a:rPr lang="en-US" altLang="zh-CN" dirty="0">
                <a:ea typeface="黑体" panose="02010609060101010101" pitchFamily="49" charset="-122"/>
              </a:rPr>
              <a:t>(</a:t>
            </a:r>
            <a:r>
              <a:rPr lang="zh-CN" altLang="en-US" dirty="0">
                <a:ea typeface="黑体" panose="02010609060101010101" pitchFamily="49" charset="-122"/>
              </a:rPr>
              <a:t>续</a:t>
            </a:r>
            <a:r>
              <a:rPr lang="en-US" altLang="zh-CN" dirty="0"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397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46083" y="1341094"/>
            <a:ext cx="7320069" cy="792345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由			    解得反函数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7316" name="Object 4"/>
              <p:cNvSpPr txBox="1">
                <a:spLocks noGrp="1"/>
              </p:cNvSpPr>
              <p:nvPr>
                <p:ph sz="half" idx="2"/>
              </p:nvPr>
            </p:nvSpPr>
            <p:spPr bwMode="auto">
              <a:xfrm>
                <a:off x="5337175" y="5315571"/>
                <a:ext cx="6101602" cy="140884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𝑼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sub>
                      </m:sSub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p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p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den>
                          </m:f>
                        </m:sup>
                      </m:sSup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</m:mr>
                      </m:m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7316" name="Object 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 bwMode="auto">
              <a:xfrm>
                <a:off x="5337175" y="5315571"/>
                <a:ext cx="6101602" cy="14088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7317" name="Text Box 5"/>
          <p:cNvSpPr txBox="1">
            <a:spLocks noChangeArrowheads="1"/>
          </p:cNvSpPr>
          <p:nvPr/>
        </p:nvSpPr>
        <p:spPr bwMode="auto">
          <a:xfrm>
            <a:off x="5190377" y="4911967"/>
            <a:ext cx="58131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从而</a:t>
            </a:r>
            <a:r>
              <a:rPr lang="en-US" altLang="zh-CN" sz="2400" dirty="0" err="1">
                <a:latin typeface="+mn-ea"/>
                <a:ea typeface="+mn-ea"/>
              </a:rPr>
              <a:t>r.v.</a:t>
            </a:r>
            <a:r>
              <a:rPr lang="en-US" altLang="zh-CN" sz="2400" dirty="0">
                <a:latin typeface="+mn-ea"/>
                <a:ea typeface="+mn-ea"/>
              </a:rPr>
              <a:t>(U, V)</a:t>
            </a:r>
            <a:r>
              <a:rPr lang="zh-CN" altLang="en-US" sz="2400" dirty="0">
                <a:latin typeface="+mn-ea"/>
                <a:ea typeface="+mn-ea"/>
              </a:rPr>
              <a:t>的联合概率密度为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7318" name="Object 6"/>
              <p:cNvSpPr txBox="1"/>
              <p:nvPr/>
            </p:nvSpPr>
            <p:spPr bwMode="auto">
              <a:xfrm>
                <a:off x="1027525" y="1246768"/>
                <a:ext cx="1681552" cy="117502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𝒖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97318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27525" y="1246768"/>
                <a:ext cx="1681552" cy="1175022"/>
              </a:xfrm>
              <a:prstGeom prst="rect">
                <a:avLst/>
              </a:prstGeom>
              <a:blipFill rotWithShape="1">
                <a:blip r:embed="rId3"/>
                <a:stretch>
                  <a:fillRect l="-6" t="-22" r="10" b="4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7319" name="Object 7"/>
              <p:cNvSpPr txBox="1"/>
              <p:nvPr/>
            </p:nvSpPr>
            <p:spPr bwMode="auto">
              <a:xfrm>
                <a:off x="975207" y="2574006"/>
                <a:ext cx="1745066" cy="19689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𝒖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num>
                                  <m:den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𝒖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num>
                                  <m:den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97319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5207" y="2574006"/>
                <a:ext cx="1745066" cy="1968956"/>
              </a:xfrm>
              <a:prstGeom prst="rect">
                <a:avLst/>
              </a:prstGeom>
              <a:blipFill rotWithShape="1">
                <a:blip r:embed="rId4"/>
                <a:stretch>
                  <a:fillRect l="-28" t="-18" r="33" b="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7320" name="Object 8"/>
              <p:cNvSpPr txBox="1"/>
              <p:nvPr/>
            </p:nvSpPr>
            <p:spPr bwMode="auto">
              <a:xfrm>
                <a:off x="838688" y="5054737"/>
                <a:ext cx="2886743" cy="19689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97320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688" y="5054737"/>
                <a:ext cx="2886743" cy="19689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7321" name="Text Box 9"/>
          <p:cNvSpPr txBox="1">
            <a:spLocks noChangeArrowheads="1"/>
          </p:cNvSpPr>
          <p:nvPr/>
        </p:nvSpPr>
        <p:spPr bwMode="auto">
          <a:xfrm>
            <a:off x="536575" y="4264485"/>
            <a:ext cx="203247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变换行列式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9CC098A-2714-AFCA-AA6B-0E0B6D9FA1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0761" y="839595"/>
            <a:ext cx="6657589" cy="34248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7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7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97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97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97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97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97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97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97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97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315" grpId="0" build="p"/>
      <p:bldP spid="397316" grpId="0" build="p"/>
      <p:bldP spid="397317" grpId="0"/>
      <p:bldP spid="397318" grpId="0"/>
      <p:bldP spid="397319" grpId="0"/>
      <p:bldP spid="397320" grpId="0"/>
      <p:bldP spid="3973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2" name="Rectangle 2"/>
          <p:cNvSpPr>
            <a:spLocks noGrp="1" noChangeArrowheads="1"/>
          </p:cNvSpPr>
          <p:nvPr>
            <p:ph type="title"/>
          </p:nvPr>
        </p:nvSpPr>
        <p:spPr>
          <a:xfrm>
            <a:off x="970363" y="262639"/>
            <a:ext cx="9961986" cy="609741"/>
          </a:xfrm>
        </p:spPr>
        <p:txBody>
          <a:bodyPr/>
          <a:lstStyle/>
          <a:p>
            <a:pPr algn="l" eaLnBrk="1" hangingPunct="1"/>
            <a:r>
              <a:rPr lang="zh-CN" altLang="en-US" dirty="0">
                <a:ea typeface="黑体" panose="02010609060101010101" pitchFamily="49" charset="-122"/>
              </a:rPr>
              <a:t>例</a:t>
            </a:r>
            <a:r>
              <a:rPr lang="en-US" altLang="zh-CN" dirty="0">
                <a:ea typeface="黑体" panose="02010609060101010101" pitchFamily="49" charset="-122"/>
              </a:rPr>
              <a:t>(</a:t>
            </a:r>
            <a:r>
              <a:rPr lang="zh-CN" altLang="en-US" dirty="0">
                <a:ea typeface="黑体" panose="02010609060101010101" pitchFamily="49" charset="-122"/>
              </a:rPr>
              <a:t>续</a:t>
            </a:r>
            <a:r>
              <a:rPr lang="en-US" altLang="zh-CN" dirty="0"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3983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6575" y="1219994"/>
            <a:ext cx="7393411" cy="9906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FF00"/>
                </a:solidFill>
              </a:rPr>
              <a:t>2.</a:t>
            </a:r>
            <a:r>
              <a:rPr lang="en-US" altLang="zh-CN" dirty="0"/>
              <a:t> U, V</a:t>
            </a:r>
            <a:r>
              <a:rPr lang="zh-CN" altLang="en-US" dirty="0"/>
              <a:t>的边缘概率密度为</a:t>
            </a:r>
          </a:p>
        </p:txBody>
      </p:sp>
      <p:sp>
        <p:nvSpPr>
          <p:cNvPr id="398341" name="Text Box 5"/>
          <p:cNvSpPr txBox="1">
            <a:spLocks noChangeArrowheads="1"/>
          </p:cNvSpPr>
          <p:nvPr/>
        </p:nvSpPr>
        <p:spPr bwMode="auto">
          <a:xfrm>
            <a:off x="765175" y="4855352"/>
            <a:ext cx="7634467" cy="1319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由于	</a:t>
            </a:r>
            <a:r>
              <a:rPr lang="en-US" altLang="zh-CN" sz="2400" dirty="0" err="1">
                <a:latin typeface="+mn-ea"/>
                <a:ea typeface="+mn-ea"/>
              </a:rPr>
              <a:t>f</a:t>
            </a:r>
            <a:r>
              <a:rPr lang="en-US" altLang="zh-CN" sz="2400" baseline="-25000" dirty="0" err="1">
                <a:latin typeface="+mn-ea"/>
                <a:ea typeface="+mn-ea"/>
              </a:rPr>
              <a:t>U</a:t>
            </a:r>
            <a:r>
              <a:rPr lang="en-US" altLang="zh-CN" sz="2400" dirty="0" err="1">
                <a:latin typeface="+mn-ea"/>
                <a:ea typeface="+mn-ea"/>
              </a:rPr>
              <a:t>V</a:t>
            </a:r>
            <a:r>
              <a:rPr lang="en-US" altLang="zh-CN" sz="2400" dirty="0">
                <a:latin typeface="+mn-ea"/>
                <a:ea typeface="+mn-ea"/>
              </a:rPr>
              <a:t>(u, v)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 err="1">
                <a:latin typeface="+mn-ea"/>
                <a:ea typeface="+mn-ea"/>
              </a:rPr>
              <a:t>f</a:t>
            </a:r>
            <a:r>
              <a:rPr lang="en-US" altLang="zh-CN" sz="2400" baseline="-25000" dirty="0" err="1">
                <a:latin typeface="+mn-ea"/>
                <a:ea typeface="+mn-ea"/>
              </a:rPr>
              <a:t>U</a:t>
            </a:r>
            <a:r>
              <a:rPr lang="en-US" altLang="zh-CN" sz="2400" dirty="0">
                <a:latin typeface="+mn-ea"/>
                <a:ea typeface="+mn-ea"/>
              </a:rPr>
              <a:t>(u).</a:t>
            </a:r>
            <a:r>
              <a:rPr lang="en-US" altLang="zh-CN" sz="2400" dirty="0" err="1">
                <a:latin typeface="+mn-ea"/>
                <a:ea typeface="+mn-ea"/>
              </a:rPr>
              <a:t>f</a:t>
            </a:r>
            <a:r>
              <a:rPr lang="en-US" altLang="zh-CN" sz="2400" baseline="-25000" dirty="0" err="1">
                <a:latin typeface="+mn-ea"/>
                <a:ea typeface="+mn-ea"/>
              </a:rPr>
              <a:t>V</a:t>
            </a:r>
            <a:r>
              <a:rPr lang="en-US" altLang="zh-CN" sz="2400" dirty="0">
                <a:latin typeface="+mn-ea"/>
                <a:ea typeface="+mn-ea"/>
              </a:rPr>
              <a:t>(v)	 (u, v)∈R</a:t>
            </a:r>
            <a:r>
              <a:rPr lang="en-US" altLang="zh-CN" sz="2400" baseline="30000" dirty="0">
                <a:latin typeface="+mn-ea"/>
                <a:ea typeface="+mn-ea"/>
              </a:rPr>
              <a:t>2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故</a:t>
            </a:r>
            <a:r>
              <a:rPr lang="en-US" altLang="zh-CN" sz="2400" dirty="0">
                <a:latin typeface="+mn-ea"/>
                <a:ea typeface="+mn-ea"/>
              </a:rPr>
              <a:t>U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X + Y</a:t>
            </a:r>
            <a:r>
              <a:rPr lang="zh-CN" altLang="en-US" sz="2400" dirty="0">
                <a:latin typeface="+mn-ea"/>
                <a:ea typeface="+mn-ea"/>
              </a:rPr>
              <a:t>，</a:t>
            </a:r>
            <a:r>
              <a:rPr lang="en-US" altLang="zh-CN" sz="2400" dirty="0">
                <a:latin typeface="+mn-ea"/>
                <a:ea typeface="+mn-ea"/>
              </a:rPr>
              <a:t>V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X - Y</a:t>
            </a:r>
            <a:r>
              <a:rPr lang="zh-CN" altLang="en-US" sz="2400" dirty="0">
                <a:latin typeface="+mn-ea"/>
                <a:ea typeface="+mn-ea"/>
              </a:rPr>
              <a:t>相互独立。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8345" name="Object 9"/>
              <p:cNvSpPr txBox="1"/>
              <p:nvPr/>
            </p:nvSpPr>
            <p:spPr bwMode="auto">
              <a:xfrm>
                <a:off x="970363" y="2043619"/>
                <a:ext cx="5236787" cy="117502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𝑼</m:t>
                          </m:r>
                        </m:sub>
                      </m:sSub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rad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ad>
                            <m:radPr>
                              <m:degHide m:val="on"/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p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den>
                          </m:f>
                        </m:sup>
                      </m:sSup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</m:mr>
                      </m:m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98345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0363" y="2043619"/>
                <a:ext cx="5236787" cy="1175022"/>
              </a:xfrm>
              <a:prstGeom prst="rect">
                <a:avLst/>
              </a:prstGeom>
              <a:blipFill rotWithShape="1">
                <a:blip r:embed="rId2"/>
                <a:stretch>
                  <a:fillRect l="-2" t="-16" b="-504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8346" name="Object 10"/>
              <p:cNvSpPr txBox="1"/>
              <p:nvPr/>
            </p:nvSpPr>
            <p:spPr bwMode="auto">
              <a:xfrm>
                <a:off x="970363" y="3254744"/>
                <a:ext cx="5236787" cy="65986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sub>
                      </m:sSub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rad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ad>
                            <m:radPr>
                              <m:degHide m:val="on"/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p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den>
                          </m:f>
                        </m:sup>
                      </m:sSup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</m:mr>
                      </m:m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m:oMathPara>
                </a14:m>
                <a:endParaRPr lang="en-US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98346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0363" y="3254744"/>
                <a:ext cx="5236787" cy="659860"/>
              </a:xfrm>
              <a:prstGeom prst="rect">
                <a:avLst/>
              </a:prstGeom>
              <a:blipFill rotWithShape="1">
                <a:blip r:embed="rId3"/>
                <a:stretch>
                  <a:fillRect l="-2" t="-56" b="-8702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3431515D-04FC-C487-7646-6DF0845CDB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575" y="873175"/>
            <a:ext cx="6327775" cy="290938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8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8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98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98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98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98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98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98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8339" grpId="0" build="p"/>
      <p:bldP spid="398341" grpId="0" build="p"/>
      <p:bldP spid="398345" grpId="0"/>
      <p:bldP spid="39834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四、随机变量的数字特征</a:t>
            </a:r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1133" y="939788"/>
            <a:ext cx="7850417" cy="658966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CC00CC"/>
                </a:solidFill>
              </a:rPr>
              <a:t>（一）数学期望</a:t>
            </a:r>
          </a:p>
        </p:txBody>
      </p:sp>
      <p:sp>
        <p:nvSpPr>
          <p:cNvPr id="268292" name="Rectangle 4"/>
          <p:cNvSpPr>
            <a:spLocks noChangeArrowheads="1"/>
          </p:cNvSpPr>
          <p:nvPr/>
        </p:nvSpPr>
        <p:spPr bwMode="auto">
          <a:xfrm>
            <a:off x="460392" y="1524918"/>
            <a:ext cx="11582383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>
                <a:srgbClr val="CC00CC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ea"/>
                <a:ea typeface="+mn-ea"/>
              </a:rPr>
              <a:t>若离散型</a:t>
            </a:r>
            <a:r>
              <a:rPr lang="en-US" altLang="zh-CN" sz="2400" dirty="0">
                <a:latin typeface="+mn-ea"/>
                <a:ea typeface="+mn-ea"/>
              </a:rPr>
              <a:t>R.V.X</a:t>
            </a:r>
            <a:r>
              <a:rPr lang="zh-CN" altLang="en-US" sz="2400" dirty="0">
                <a:latin typeface="+mn-ea"/>
                <a:ea typeface="+mn-ea"/>
              </a:rPr>
              <a:t>的分布律为</a:t>
            </a:r>
            <a:r>
              <a:rPr lang="en-US" altLang="zh-CN" sz="2400" dirty="0" err="1">
                <a:latin typeface="+mn-ea"/>
                <a:ea typeface="+mn-ea"/>
              </a:rPr>
              <a:t>p</a:t>
            </a:r>
            <a:r>
              <a:rPr lang="en-US" altLang="zh-CN" sz="2400" baseline="-25000" dirty="0" err="1">
                <a:latin typeface="+mn-ea"/>
                <a:ea typeface="+mn-ea"/>
              </a:rPr>
              <a:t>k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P{X=</a:t>
            </a:r>
            <a:r>
              <a:rPr lang="en-US" altLang="zh-CN" sz="2400" dirty="0" err="1">
                <a:latin typeface="+mn-ea"/>
                <a:ea typeface="+mn-ea"/>
              </a:rPr>
              <a:t>X</a:t>
            </a:r>
            <a:r>
              <a:rPr lang="en-US" altLang="zh-CN" sz="2400" baseline="-25000" dirty="0" err="1">
                <a:latin typeface="+mn-ea"/>
                <a:ea typeface="+mn-ea"/>
              </a:rPr>
              <a:t>k</a:t>
            </a:r>
            <a:r>
              <a:rPr lang="en-US" altLang="zh-CN" sz="2400" dirty="0">
                <a:latin typeface="+mn-ea"/>
                <a:ea typeface="+mn-ea"/>
              </a:rPr>
              <a:t>}</a:t>
            </a:r>
            <a:r>
              <a:rPr lang="zh-CN" altLang="en-US" sz="2400" dirty="0">
                <a:latin typeface="+mn-ea"/>
                <a:ea typeface="+mn-ea"/>
              </a:rPr>
              <a:t>，</a:t>
            </a:r>
            <a:r>
              <a:rPr lang="en-US" altLang="zh-CN" sz="2400" dirty="0">
                <a:latin typeface="+mn-ea"/>
                <a:ea typeface="+mn-ea"/>
              </a:rPr>
              <a:t>k=1, 2, …</a:t>
            </a:r>
            <a:r>
              <a:rPr lang="zh-CN" altLang="en-US" sz="2400" dirty="0">
                <a:latin typeface="+mn-ea"/>
                <a:ea typeface="+mn-ea"/>
              </a:rPr>
              <a:t>，当                     时，称</a:t>
            </a:r>
          </a:p>
        </p:txBody>
      </p:sp>
      <p:graphicFrame>
        <p:nvGraphicFramePr>
          <p:cNvPr id="268293" name="Object 5"/>
          <p:cNvGraphicFramePr>
            <a:graphicFrameLocks noChangeAspect="1"/>
          </p:cNvGraphicFramePr>
          <p:nvPr/>
        </p:nvGraphicFramePr>
        <p:xfrm>
          <a:off x="8689975" y="1412921"/>
          <a:ext cx="1753006" cy="8050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39392" imgH="431613" progId="Equation.3">
                  <p:embed/>
                </p:oleObj>
              </mc:Choice>
              <mc:Fallback>
                <p:oleObj name="Equation" r:id="rId2" imgW="939392" imgH="431613" progId="Equation.3">
                  <p:embed/>
                  <p:pic>
                    <p:nvPicPr>
                      <p:cNvPr id="26829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9975" y="1412921"/>
                        <a:ext cx="1753006" cy="8050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294" name="Object 6"/>
          <p:cNvGraphicFramePr>
            <a:graphicFrameLocks noChangeAspect="1"/>
          </p:cNvGraphicFramePr>
          <p:nvPr/>
        </p:nvGraphicFramePr>
        <p:xfrm>
          <a:off x="4198232" y="2345794"/>
          <a:ext cx="2148385" cy="913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6000" imgH="431800" progId="Equation.3">
                  <p:embed/>
                </p:oleObj>
              </mc:Choice>
              <mc:Fallback>
                <p:oleObj name="Equation" r:id="rId4" imgW="1016000" imgH="431800" progId="Equation.3">
                  <p:embed/>
                  <p:pic>
                    <p:nvPicPr>
                      <p:cNvPr id="26829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8232" y="2345794"/>
                        <a:ext cx="2148385" cy="9130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295" name="Rectangle 7"/>
          <p:cNvSpPr>
            <a:spLocks noChangeArrowheads="1"/>
          </p:cNvSpPr>
          <p:nvPr/>
        </p:nvSpPr>
        <p:spPr bwMode="auto">
          <a:xfrm>
            <a:off x="774700" y="3258024"/>
            <a:ext cx="7240676" cy="45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>
                <a:latin typeface="+mn-ea"/>
                <a:ea typeface="+mn-ea"/>
              </a:rPr>
              <a:t>为</a:t>
            </a:r>
            <a:r>
              <a:rPr lang="en-US" altLang="zh-CN" sz="2400">
                <a:latin typeface="+mn-ea"/>
                <a:ea typeface="+mn-ea"/>
              </a:rPr>
              <a:t>R.V.X</a:t>
            </a:r>
            <a:r>
              <a:rPr lang="zh-CN" altLang="en-US" sz="2400">
                <a:latin typeface="+mn-ea"/>
                <a:ea typeface="+mn-ea"/>
              </a:rPr>
              <a:t>的</a:t>
            </a:r>
            <a:r>
              <a:rPr lang="zh-CN" altLang="en-US" sz="2400">
                <a:solidFill>
                  <a:srgbClr val="0000FF"/>
                </a:solidFill>
                <a:latin typeface="+mn-ea"/>
                <a:ea typeface="+mn-ea"/>
              </a:rPr>
              <a:t>数学期望</a:t>
            </a:r>
            <a:r>
              <a:rPr lang="en-US" altLang="zh-CN" sz="2400">
                <a:latin typeface="+mn-ea"/>
                <a:ea typeface="+mn-ea"/>
              </a:rPr>
              <a:t>(</a:t>
            </a:r>
            <a:r>
              <a:rPr lang="zh-CN" altLang="en-US" sz="2400">
                <a:solidFill>
                  <a:srgbClr val="CC00CC"/>
                </a:solidFill>
                <a:latin typeface="+mn-ea"/>
                <a:ea typeface="+mn-ea"/>
              </a:rPr>
              <a:t>均值</a:t>
            </a:r>
            <a:r>
              <a:rPr lang="en-US" altLang="zh-CN" sz="2400">
                <a:latin typeface="+mn-ea"/>
                <a:ea typeface="+mn-ea"/>
              </a:rPr>
              <a:t>)</a:t>
            </a:r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311133" y="4052803"/>
            <a:ext cx="7774199" cy="46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如果随机变量</a:t>
            </a:r>
            <a:r>
              <a:rPr lang="en-US" altLang="zh-CN" sz="2400" dirty="0">
                <a:latin typeface="+mn-ea"/>
                <a:ea typeface="+mn-ea"/>
              </a:rPr>
              <a:t>X</a:t>
            </a:r>
            <a:r>
              <a:rPr lang="zh-CN" altLang="en-US" sz="2400" dirty="0">
                <a:latin typeface="+mn-ea"/>
                <a:ea typeface="+mn-ea"/>
              </a:rPr>
              <a:t>服从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二项分布，</a:t>
            </a:r>
            <a:r>
              <a:rPr lang="zh-CN" altLang="en-US" sz="2400" dirty="0">
                <a:latin typeface="+mn-ea"/>
                <a:ea typeface="+mn-ea"/>
              </a:rPr>
              <a:t>即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X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～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B(n, p)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，</a:t>
            </a:r>
            <a:r>
              <a:rPr lang="zh-CN" altLang="en-US" sz="2400" dirty="0">
                <a:latin typeface="+mn-ea"/>
                <a:ea typeface="+mn-ea"/>
              </a:rPr>
              <a:t>试求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E(X).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16" name="Object 9"/>
          <p:cNvGraphicFramePr>
            <a:graphicFrameLocks noChangeAspect="1"/>
          </p:cNvGraphicFramePr>
          <p:nvPr/>
        </p:nvGraphicFramePr>
        <p:xfrm>
          <a:off x="1259090" y="4621259"/>
          <a:ext cx="3372631" cy="4636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63700" imgH="228600" progId="Equation.DSMT4">
                  <p:embed/>
                </p:oleObj>
              </mc:Choice>
              <mc:Fallback>
                <p:oleObj name="Equation" r:id="rId6" imgW="1663700" imgH="228600" progId="Equation.DSMT4">
                  <p:embed/>
                  <p:pic>
                    <p:nvPicPr>
                      <p:cNvPr id="16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090" y="4621259"/>
                        <a:ext cx="3372631" cy="4636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8"/>
          <p:cNvSpPr>
            <a:spLocks noChangeArrowheads="1"/>
          </p:cNvSpPr>
          <p:nvPr/>
        </p:nvSpPr>
        <p:spPr bwMode="auto">
          <a:xfrm>
            <a:off x="311133" y="4653017"/>
            <a:ext cx="1022587" cy="46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>
                <a:solidFill>
                  <a:srgbClr val="C00000"/>
                </a:solidFill>
                <a:latin typeface="+mn-ea"/>
                <a:ea typeface="+mn-ea"/>
              </a:rPr>
              <a:t>因为：</a:t>
            </a:r>
          </a:p>
        </p:txBody>
      </p:sp>
      <p:sp>
        <p:nvSpPr>
          <p:cNvPr id="20" name="Rectangle 8"/>
          <p:cNvSpPr>
            <a:spLocks noChangeArrowheads="1"/>
          </p:cNvSpPr>
          <p:nvPr/>
        </p:nvSpPr>
        <p:spPr bwMode="auto">
          <a:xfrm>
            <a:off x="319072" y="5262758"/>
            <a:ext cx="1022587" cy="46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>
                <a:solidFill>
                  <a:srgbClr val="C00000"/>
                </a:solidFill>
                <a:latin typeface="+mn-ea"/>
                <a:ea typeface="+mn-ea"/>
              </a:rPr>
              <a:t>所以：</a:t>
            </a:r>
          </a:p>
        </p:txBody>
      </p:sp>
      <p:graphicFrame>
        <p:nvGraphicFramePr>
          <p:cNvPr id="21" name="Object 6"/>
          <p:cNvGraphicFramePr>
            <a:graphicFrameLocks noChangeAspect="1"/>
          </p:cNvGraphicFramePr>
          <p:nvPr/>
        </p:nvGraphicFramePr>
        <p:xfrm>
          <a:off x="1446459" y="4991233"/>
          <a:ext cx="1772060" cy="994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38200" imgH="469900" progId="Equation.DSMT4">
                  <p:embed/>
                </p:oleObj>
              </mc:Choice>
              <mc:Fallback>
                <p:oleObj name="Equation" r:id="rId8" imgW="838200" imgH="469900" progId="Equation.DSMT4">
                  <p:embed/>
                  <p:pic>
                    <p:nvPicPr>
                      <p:cNvPr id="2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6459" y="4991233"/>
                        <a:ext cx="1772060" cy="9940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6"/>
          <p:cNvGraphicFramePr>
            <a:graphicFrameLocks noChangeAspect="1"/>
          </p:cNvGraphicFramePr>
          <p:nvPr/>
        </p:nvGraphicFramePr>
        <p:xfrm>
          <a:off x="3134361" y="4980118"/>
          <a:ext cx="1986423" cy="994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39800" imgH="469900" progId="Equation.DSMT4">
                  <p:embed/>
                </p:oleObj>
              </mc:Choice>
              <mc:Fallback>
                <p:oleObj name="Equation" r:id="rId10" imgW="939800" imgH="469900" progId="Equation.DSMT4">
                  <p:embed/>
                  <p:pic>
                    <p:nvPicPr>
                      <p:cNvPr id="2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4361" y="4980118"/>
                        <a:ext cx="1986423" cy="9940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6"/>
          <p:cNvGraphicFramePr>
            <a:graphicFrameLocks noChangeAspect="1"/>
          </p:cNvGraphicFramePr>
          <p:nvPr/>
        </p:nvGraphicFramePr>
        <p:xfrm>
          <a:off x="5017572" y="5051572"/>
          <a:ext cx="3274183" cy="994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49400" imgH="469900" progId="Equation.DSMT4">
                  <p:embed/>
                </p:oleObj>
              </mc:Choice>
              <mc:Fallback>
                <p:oleObj name="Equation" r:id="rId12" imgW="1549400" imgH="469900" progId="Equation.DSMT4">
                  <p:embed/>
                  <p:pic>
                    <p:nvPicPr>
                      <p:cNvPr id="2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7572" y="5051572"/>
                        <a:ext cx="3274183" cy="9940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6"/>
          <p:cNvGraphicFramePr>
            <a:graphicFrameLocks noChangeAspect="1"/>
          </p:cNvGraphicFramePr>
          <p:nvPr/>
        </p:nvGraphicFramePr>
        <p:xfrm>
          <a:off x="2611953" y="5958244"/>
          <a:ext cx="2254772" cy="482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66800" imgH="228600" progId="Equation.DSMT4">
                  <p:embed/>
                </p:oleObj>
              </mc:Choice>
              <mc:Fallback>
                <p:oleObj name="Equation" r:id="rId14" imgW="1066800" imgH="228600" progId="Equation.DSMT4">
                  <p:embed/>
                  <p:pic>
                    <p:nvPicPr>
                      <p:cNvPr id="2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1953" y="5958244"/>
                        <a:ext cx="2254772" cy="482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6">
            <a:extLst>
              <a:ext uri="{FF2B5EF4-FFF2-40B4-BE49-F238E27FC236}">
                <a16:creationId xmlns:a16="http://schemas.microsoft.com/office/drawing/2014/main" id="{23C8E4F2-FAD8-C381-A7EE-D267E6F5BF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40215" y="3192272"/>
          <a:ext cx="5849937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68400" imgH="380880" progId="Equation.DSMT4">
                  <p:embed/>
                </p:oleObj>
              </mc:Choice>
              <mc:Fallback>
                <p:oleObj name="Equation" r:id="rId16" imgW="2768400" imgH="380880" progId="Equation.DSMT4">
                  <p:embed/>
                  <p:pic>
                    <p:nvPicPr>
                      <p:cNvPr id="3" name="Object 6">
                        <a:extLst>
                          <a:ext uri="{FF2B5EF4-FFF2-40B4-BE49-F238E27FC236}">
                            <a16:creationId xmlns:a16="http://schemas.microsoft.com/office/drawing/2014/main" id="{23C8E4F2-FAD8-C381-A7EE-D267E6F5BF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0215" y="3192272"/>
                        <a:ext cx="5849937" cy="80803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F519E19-D0E7-7EC9-0D5F-569D5AAEE7AB}"/>
                  </a:ext>
                </a:extLst>
              </p:cNvPr>
              <p:cNvSpPr txBox="1"/>
              <p:nvPr/>
            </p:nvSpPr>
            <p:spPr>
              <a:xfrm>
                <a:off x="6923012" y="5765225"/>
                <a:ext cx="3441520" cy="10073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zh-CN" alt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zh-CN" alt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zh-CN" alt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kumimoji="1" lang="en-US" altLang="zh-CN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kumimoji="1" lang="en-US" altLang="zh-CN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e>
                        <m:sup>
                          <m:r>
                            <a:rPr kumimoji="1" lang="en-US" altLang="zh-CN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kumimoji="1" lang="en-US" altLang="zh-CN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zh-CN" alt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zh-CN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kumimoji="1" lang="zh-CN" alt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Sup>
                            <m:sSubSupPr>
                              <m:ctrlPr>
                                <a:rPr kumimoji="1" lang="zh-CN" alt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kumimoji="1" lang="en-US" altLang="zh-CN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  <m:sSup>
                            <m:sSupPr>
                              <m:ctrlPr>
                                <a:rPr kumimoji="1" lang="zh-CN" alt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kumimoji="1" lang="en-US" altLang="zh-CN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zh-CN" alt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kumimoji="1" lang="en-US" altLang="zh-CN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zh-CN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zh-CN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F519E19-D0E7-7EC9-0D5F-569D5AAEE7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3012" y="5765225"/>
                <a:ext cx="3441520" cy="1007327"/>
              </a:xfrm>
              <a:prstGeom prst="rect">
                <a:avLst/>
              </a:prstGeom>
              <a:blipFill>
                <a:blip r:embed="rId18"/>
                <a:stretch>
                  <a:fillRect t="-122500" b="-18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0575096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8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8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8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8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8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8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8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8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291" grpId="0" build="p"/>
      <p:bldP spid="268292" grpId="0"/>
      <p:bldP spid="268295" grpId="0"/>
      <p:bldP spid="15" grpId="0" autoUpdateAnimBg="0"/>
      <p:bldP spid="18" grpId="0" autoUpdateAnimBg="0"/>
      <p:bldP spid="20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（一）数学期望</a:t>
            </a:r>
          </a:p>
        </p:txBody>
      </p:sp>
      <p:sp>
        <p:nvSpPr>
          <p:cNvPr id="268296" name="Rectangle 8"/>
          <p:cNvSpPr>
            <a:spLocks noChangeArrowheads="1"/>
          </p:cNvSpPr>
          <p:nvPr/>
        </p:nvSpPr>
        <p:spPr bwMode="auto">
          <a:xfrm>
            <a:off x="280670" y="1095492"/>
            <a:ext cx="10771505" cy="576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>
                <a:srgbClr val="CC00CC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若连续型</a:t>
            </a:r>
            <a:r>
              <a:rPr lang="en-US" altLang="zh-CN" sz="2400" dirty="0"/>
              <a:t>R.V.X</a:t>
            </a:r>
            <a:r>
              <a:rPr lang="zh-CN" altLang="en-US" sz="2400" dirty="0"/>
              <a:t>的概率密度函数为</a:t>
            </a:r>
            <a:r>
              <a:rPr lang="en-US" altLang="zh-CN" sz="2400" dirty="0"/>
              <a:t>f(x), x</a:t>
            </a:r>
            <a:r>
              <a:rPr lang="en-US" altLang="zh-CN" sz="2400" dirty="0">
                <a:sym typeface="Symbol" panose="05050102010706020507" pitchFamily="18" charset="2"/>
              </a:rPr>
              <a:t>(-</a:t>
            </a:r>
            <a:r>
              <a:rPr lang="en-US" altLang="zh-CN" sz="2400" dirty="0"/>
              <a:t>∞, +∞)</a:t>
            </a:r>
            <a:r>
              <a:rPr lang="zh-CN" altLang="en-US" sz="2400" dirty="0"/>
              <a:t>，当	              时，称</a:t>
            </a:r>
          </a:p>
        </p:txBody>
      </p:sp>
      <p:graphicFrame>
        <p:nvGraphicFramePr>
          <p:cNvPr id="268297" name="Object 9"/>
          <p:cNvGraphicFramePr>
            <a:graphicFrameLocks noChangeAspect="1"/>
          </p:cNvGraphicFramePr>
          <p:nvPr/>
        </p:nvGraphicFramePr>
        <p:xfrm>
          <a:off x="7775575" y="1107694"/>
          <a:ext cx="2210312" cy="638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3000" imgH="330200" progId="Equation.3">
                  <p:embed/>
                </p:oleObj>
              </mc:Choice>
              <mc:Fallback>
                <p:oleObj name="Equation" r:id="rId2" imgW="1143000" imgH="330200" progId="Equation.3">
                  <p:embed/>
                  <p:pic>
                    <p:nvPicPr>
                      <p:cNvPr id="26829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5575" y="1107694"/>
                        <a:ext cx="2210312" cy="6383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298" name="Object 10"/>
          <p:cNvGraphicFramePr>
            <a:graphicFrameLocks noChangeAspect="1"/>
          </p:cNvGraphicFramePr>
          <p:nvPr/>
        </p:nvGraphicFramePr>
        <p:xfrm>
          <a:off x="3965575" y="1799545"/>
          <a:ext cx="2677145" cy="732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06500" imgH="330200" progId="Equation.DSMT4">
                  <p:embed/>
                </p:oleObj>
              </mc:Choice>
              <mc:Fallback>
                <p:oleObj name="Equation" r:id="rId4" imgW="1206500" imgH="330200" progId="Equation.DSMT4">
                  <p:embed/>
                  <p:pic>
                    <p:nvPicPr>
                      <p:cNvPr id="26829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5575" y="1799545"/>
                        <a:ext cx="2677145" cy="7320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299" name="Rectangle 11"/>
          <p:cNvSpPr>
            <a:spLocks noChangeArrowheads="1"/>
          </p:cNvSpPr>
          <p:nvPr/>
        </p:nvSpPr>
        <p:spPr bwMode="auto">
          <a:xfrm>
            <a:off x="503527" y="2553782"/>
            <a:ext cx="7469329" cy="45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/>
              <a:t>为</a:t>
            </a:r>
            <a:r>
              <a:rPr lang="en-US" altLang="zh-CN" sz="2400" dirty="0"/>
              <a:t>R.V.X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rgbClr val="0000FF"/>
                </a:solidFill>
              </a:rPr>
              <a:t>数学期望</a:t>
            </a:r>
            <a:r>
              <a:rPr lang="en-US" altLang="zh-CN" sz="2400" dirty="0"/>
              <a:t>(</a:t>
            </a:r>
            <a:r>
              <a:rPr lang="zh-CN" altLang="en-US" sz="2400" dirty="0">
                <a:solidFill>
                  <a:srgbClr val="CC00CC"/>
                </a:solidFill>
              </a:rPr>
              <a:t>均值</a:t>
            </a:r>
            <a:r>
              <a:rPr lang="en-US" altLang="zh-CN" sz="2400" dirty="0"/>
              <a:t>)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48488BCB-3C5B-4918-83C5-45CFC697F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" y="3328474"/>
            <a:ext cx="7774199" cy="46048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  <a:defRPr/>
            </a:pPr>
            <a:r>
              <a:rPr lang="zh-CN" altLang="en-US" sz="2400" dirty="0">
                <a:ea typeface="黑体" panose="02010609060101010101" pitchFamily="49" charset="-122"/>
              </a:rPr>
              <a:t>如果随机变量</a:t>
            </a:r>
            <a:r>
              <a:rPr lang="en-US" altLang="zh-CN" sz="2400" dirty="0">
                <a:ea typeface="黑体" panose="02010609060101010101" pitchFamily="49" charset="-122"/>
              </a:rPr>
              <a:t>X</a:t>
            </a:r>
            <a:r>
              <a:rPr lang="zh-CN" altLang="en-US" sz="2400" dirty="0">
                <a:ea typeface="黑体" panose="02010609060101010101" pitchFamily="49" charset="-122"/>
              </a:rPr>
              <a:t>服从参数为</a:t>
            </a:r>
            <a:r>
              <a:rPr lang="zh-CN" altLang="en-US" sz="2400" dirty="0"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lang="zh-CN" altLang="en-US" sz="2400" dirty="0">
                <a:ea typeface="黑体" panose="02010609060101010101" pitchFamily="49" charset="-122"/>
              </a:rPr>
              <a:t>的</a:t>
            </a:r>
            <a:r>
              <a:rPr lang="zh-CN" altLang="en-US" sz="2400" dirty="0">
                <a:solidFill>
                  <a:srgbClr val="0000FF"/>
                </a:solidFill>
                <a:ea typeface="黑体" panose="02010609060101010101" pitchFamily="49" charset="-122"/>
              </a:rPr>
              <a:t>指数分布，</a:t>
            </a:r>
            <a:r>
              <a:rPr lang="zh-CN" altLang="en-US" sz="2400" dirty="0">
                <a:ea typeface="黑体" panose="02010609060101010101" pitchFamily="49" charset="-122"/>
              </a:rPr>
              <a:t>试求</a:t>
            </a:r>
            <a:r>
              <a:rPr lang="en-US" altLang="zh-CN" sz="2400" dirty="0">
                <a:solidFill>
                  <a:srgbClr val="0000FF"/>
                </a:solidFill>
                <a:ea typeface="黑体" panose="02010609060101010101" pitchFamily="49" charset="-122"/>
              </a:rPr>
              <a:t>E(X).</a:t>
            </a:r>
            <a:endParaRPr lang="zh-CN" altLang="en-US" sz="2400" dirty="0">
              <a:ea typeface="黑体" panose="02010609060101010101" pitchFamily="49" charset="-122"/>
            </a:endParaRPr>
          </a:p>
        </p:txBody>
      </p:sp>
      <p:sp>
        <p:nvSpPr>
          <p:cNvPr id="20" name="Rectangle 8"/>
          <p:cNvSpPr>
            <a:spLocks noChangeArrowheads="1"/>
          </p:cNvSpPr>
          <p:nvPr/>
        </p:nvSpPr>
        <p:spPr bwMode="auto">
          <a:xfrm>
            <a:off x="619362" y="4301191"/>
            <a:ext cx="1022587" cy="46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C00000"/>
                </a:solidFill>
              </a:rPr>
              <a:t>因为：</a:t>
            </a:r>
          </a:p>
        </p:txBody>
      </p:sp>
      <p:sp>
        <p:nvSpPr>
          <p:cNvPr id="21" name="Rectangle 8"/>
          <p:cNvSpPr>
            <a:spLocks noChangeArrowheads="1"/>
          </p:cNvSpPr>
          <p:nvPr/>
        </p:nvSpPr>
        <p:spPr bwMode="auto">
          <a:xfrm>
            <a:off x="632065" y="5482564"/>
            <a:ext cx="1024175" cy="46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>
                <a:solidFill>
                  <a:srgbClr val="C00000"/>
                </a:solidFill>
              </a:rPr>
              <a:t>所以：</a:t>
            </a:r>
          </a:p>
        </p:txBody>
      </p:sp>
      <p:graphicFrame>
        <p:nvGraphicFramePr>
          <p:cNvPr id="26" name="Object 4"/>
          <p:cNvGraphicFramePr>
            <a:graphicFrameLocks noChangeAspect="1"/>
          </p:cNvGraphicFramePr>
          <p:nvPr/>
        </p:nvGraphicFramePr>
        <p:xfrm>
          <a:off x="1512364" y="3985528"/>
          <a:ext cx="4396806" cy="11670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75673" imgH="444307" progId="Equation.DSMT4">
                  <p:embed/>
                </p:oleObj>
              </mc:Choice>
              <mc:Fallback>
                <p:oleObj name="Equation" r:id="rId6" imgW="1675673" imgH="444307" progId="Equation.DSMT4">
                  <p:embed/>
                  <p:pic>
                    <p:nvPicPr>
                      <p:cNvPr id="2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2364" y="3985528"/>
                        <a:ext cx="4396806" cy="11670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0"/>
          <p:cNvGraphicFramePr>
            <a:graphicFrameLocks noChangeAspect="1"/>
          </p:cNvGraphicFramePr>
          <p:nvPr/>
        </p:nvGraphicFramePr>
        <p:xfrm>
          <a:off x="1530798" y="5326953"/>
          <a:ext cx="2648563" cy="760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93800" imgH="342900" progId="Equation.DSMT4">
                  <p:embed/>
                </p:oleObj>
              </mc:Choice>
              <mc:Fallback>
                <p:oleObj name="Equation" r:id="rId8" imgW="1193800" imgH="342900" progId="Equation.DSMT4">
                  <p:embed/>
                  <p:pic>
                    <p:nvPicPr>
                      <p:cNvPr id="27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0798" y="5326953"/>
                        <a:ext cx="2648563" cy="7605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0"/>
          <p:cNvGraphicFramePr>
            <a:graphicFrameLocks noChangeAspect="1"/>
          </p:cNvGraphicFramePr>
          <p:nvPr/>
        </p:nvGraphicFramePr>
        <p:xfrm>
          <a:off x="4160307" y="5349183"/>
          <a:ext cx="1832399" cy="760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25500" imgH="342900" progId="Equation.DSMT4">
                  <p:embed/>
                </p:oleObj>
              </mc:Choice>
              <mc:Fallback>
                <p:oleObj name="Equation" r:id="rId10" imgW="825500" imgH="342900" progId="Equation.DSMT4">
                  <p:embed/>
                  <p:pic>
                    <p:nvPicPr>
                      <p:cNvPr id="2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0307" y="5349183"/>
                        <a:ext cx="1832399" cy="7605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0"/>
          <p:cNvGraphicFramePr>
            <a:graphicFrameLocks noChangeAspect="1"/>
          </p:cNvGraphicFramePr>
          <p:nvPr/>
        </p:nvGraphicFramePr>
        <p:xfrm>
          <a:off x="5892671" y="5371413"/>
          <a:ext cx="1832399" cy="760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25500" imgH="342900" progId="Equation.DSMT4">
                  <p:embed/>
                </p:oleObj>
              </mc:Choice>
              <mc:Fallback>
                <p:oleObj name="Equation" r:id="rId12" imgW="825500" imgH="342900" progId="Equation.DSMT4">
                  <p:embed/>
                  <p:pic>
                    <p:nvPicPr>
                      <p:cNvPr id="29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2671" y="5371413"/>
                        <a:ext cx="1832399" cy="7605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0"/>
          <p:cNvGraphicFramePr>
            <a:graphicFrameLocks noChangeAspect="1"/>
          </p:cNvGraphicFramePr>
          <p:nvPr/>
        </p:nvGraphicFramePr>
        <p:xfrm>
          <a:off x="7679021" y="5371413"/>
          <a:ext cx="563693" cy="7875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53780" imgH="355292" progId="Equation.DSMT4">
                  <p:embed/>
                </p:oleObj>
              </mc:Choice>
              <mc:Fallback>
                <p:oleObj name="Equation" r:id="rId14" imgW="253780" imgH="355292" progId="Equation.DSMT4">
                  <p:embed/>
                  <p:pic>
                    <p:nvPicPr>
                      <p:cNvPr id="3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9021" y="5371413"/>
                        <a:ext cx="563693" cy="7875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8434048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8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8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8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8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8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8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8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8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296" grpId="0" autoUpdateAnimBg="0"/>
      <p:bldP spid="268299" grpId="0" autoUpdateAnimBg="0"/>
      <p:bldP spid="17" grpId="0" animBg="1" autoUpdateAnimBg="0"/>
      <p:bldP spid="20" grpId="0" autoUpdateAnimBg="0"/>
      <p:bldP spid="21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8986F-19DD-8698-4F01-A26BB563F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>
            <a:extLst>
              <a:ext uri="{FF2B5EF4-FFF2-40B4-BE49-F238E27FC236}">
                <a16:creationId xmlns:a16="http://schemas.microsoft.com/office/drawing/2014/main" id="{3D1F6A3A-0689-B45F-13BE-3BE3F72E6E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随机变量函数的数学期望</a:t>
            </a:r>
          </a:p>
        </p:txBody>
      </p:sp>
      <p:sp>
        <p:nvSpPr>
          <p:cNvPr id="268296" name="Rectangle 8">
            <a:extLst>
              <a:ext uri="{FF2B5EF4-FFF2-40B4-BE49-F238E27FC236}">
                <a16:creationId xmlns:a16="http://schemas.microsoft.com/office/drawing/2014/main" id="{2E13E9D7-9E77-F684-9D0D-42F4F745D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45" y="1093205"/>
            <a:ext cx="11182110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Clr>
                <a:srgbClr val="CC00CC"/>
              </a:buClr>
              <a:buNone/>
            </a:pPr>
            <a:r>
              <a:rPr lang="zh-CN" altLang="en-US" sz="2400" dirty="0">
                <a:solidFill>
                  <a:srgbClr val="7030A0"/>
                </a:solidFill>
                <a:latin typeface="+mn-ea"/>
                <a:ea typeface="+mn-ea"/>
              </a:rPr>
              <a:t>例</a:t>
            </a:r>
            <a:r>
              <a:rPr lang="en-US" altLang="zh-CN" sz="2400" dirty="0">
                <a:solidFill>
                  <a:srgbClr val="7030A0"/>
                </a:solidFill>
                <a:latin typeface="+mn-ea"/>
                <a:ea typeface="+mn-ea"/>
              </a:rPr>
              <a:t>1</a:t>
            </a:r>
            <a:r>
              <a:rPr lang="en-US" altLang="zh-CN" sz="2400" dirty="0">
                <a:latin typeface="+mn-ea"/>
                <a:ea typeface="+mn-ea"/>
              </a:rPr>
              <a:t>  </a:t>
            </a:r>
            <a:r>
              <a:rPr lang="zh-CN" altLang="en-US" sz="2400" dirty="0">
                <a:latin typeface="+mn-ea"/>
                <a:ea typeface="+mn-ea"/>
              </a:rPr>
              <a:t>假定</a:t>
            </a:r>
            <a:r>
              <a:rPr lang="en-US" sz="2400" dirty="0">
                <a:latin typeface="+mn-ea"/>
                <a:ea typeface="+mn-ea"/>
              </a:rPr>
              <a:t>X</a:t>
            </a:r>
            <a:r>
              <a:rPr lang="zh-CN" altLang="en-US" sz="2400" dirty="0">
                <a:latin typeface="+mn-ea"/>
                <a:ea typeface="+mn-ea"/>
              </a:rPr>
              <a:t>的概率质量函数为：</a:t>
            </a:r>
            <a:r>
              <a:rPr lang="en-US" sz="2400" dirty="0">
                <a:latin typeface="+mn-ea"/>
                <a:ea typeface="+mn-ea"/>
              </a:rPr>
              <a:t>p(0) = 0.2</a:t>
            </a:r>
            <a:r>
              <a:rPr lang="zh-CN" altLang="en-US" sz="2400" dirty="0">
                <a:latin typeface="+mn-ea"/>
                <a:ea typeface="+mn-ea"/>
              </a:rPr>
              <a:t>，</a:t>
            </a:r>
            <a:r>
              <a:rPr lang="en-US" sz="2400" dirty="0">
                <a:latin typeface="+mn-ea"/>
                <a:ea typeface="+mn-ea"/>
              </a:rPr>
              <a:t>p(1)=0.5</a:t>
            </a:r>
            <a:r>
              <a:rPr lang="zh-CN" altLang="en-US" sz="2400" dirty="0">
                <a:latin typeface="+mn-ea"/>
                <a:ea typeface="+mn-ea"/>
              </a:rPr>
              <a:t>，</a:t>
            </a:r>
            <a:r>
              <a:rPr lang="en-US" sz="2400" dirty="0">
                <a:latin typeface="+mn-ea"/>
                <a:ea typeface="+mn-ea"/>
              </a:rPr>
              <a:t>p(2)=0.3,</a:t>
            </a:r>
            <a:r>
              <a:rPr lang="zh-CN" altLang="en-US" sz="2400" dirty="0">
                <a:latin typeface="+mn-ea"/>
                <a:ea typeface="+mn-ea"/>
              </a:rPr>
              <a:t>计算</a:t>
            </a:r>
            <a:r>
              <a:rPr lang="en-US" sz="2400" dirty="0">
                <a:latin typeface="+mn-ea"/>
                <a:ea typeface="+mn-ea"/>
              </a:rPr>
              <a:t>E[x</a:t>
            </a:r>
            <a:r>
              <a:rPr lang="en-US" sz="2400" baseline="30000" dirty="0">
                <a:latin typeface="+mn-ea"/>
                <a:ea typeface="+mn-ea"/>
              </a:rPr>
              <a:t>2</a:t>
            </a:r>
            <a:r>
              <a:rPr lang="en-US" altLang="zh-CN" sz="2400" dirty="0">
                <a:latin typeface="+mn-ea"/>
              </a:rPr>
              <a:t>].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6E30D904-419D-50D2-2DAF-5957786C7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75" y="1829594"/>
            <a:ext cx="11182110" cy="36702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200000"/>
              </a:lnSpc>
              <a:buClr>
                <a:srgbClr val="CC00CC"/>
              </a:buClr>
              <a:buNone/>
            </a:pP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</a:rPr>
              <a:t>解 </a:t>
            </a:r>
            <a:r>
              <a:rPr lang="zh-CN" altLang="en-US" sz="2400" dirty="0">
                <a:latin typeface="+mn-ea"/>
                <a:ea typeface="+mn-ea"/>
              </a:rPr>
              <a:t>令</a:t>
            </a:r>
            <a:r>
              <a:rPr lang="en-US" sz="2400" dirty="0">
                <a:latin typeface="+mn-ea"/>
                <a:ea typeface="+mn-ea"/>
              </a:rPr>
              <a:t>Y=X²，Y</a:t>
            </a:r>
            <a:r>
              <a:rPr lang="zh-CN" altLang="en-US" sz="2400" dirty="0">
                <a:latin typeface="+mn-ea"/>
                <a:ea typeface="+mn-ea"/>
              </a:rPr>
              <a:t>是随机变量，则有</a:t>
            </a:r>
            <a:endParaRPr lang="en-US" altLang="zh-CN" sz="2400" dirty="0">
              <a:latin typeface="+mn-ea"/>
              <a:ea typeface="+mn-ea"/>
            </a:endParaRPr>
          </a:p>
          <a:p>
            <a:pPr>
              <a:lnSpc>
                <a:spcPct val="200000"/>
              </a:lnSpc>
              <a:buClr>
                <a:srgbClr val="CC00CC"/>
              </a:buClr>
              <a:buNone/>
            </a:pPr>
            <a:r>
              <a:rPr lang="en-US" sz="2400" dirty="0">
                <a:latin typeface="+mn-ea"/>
                <a:ea typeface="+mn-ea"/>
              </a:rPr>
              <a:t>     </a:t>
            </a:r>
            <a:r>
              <a:rPr lang="en-US" sz="2400" dirty="0" err="1">
                <a:latin typeface="+mn-ea"/>
                <a:ea typeface="+mn-ea"/>
              </a:rPr>
              <a:t>p</a:t>
            </a:r>
            <a:r>
              <a:rPr lang="en-US" sz="2400" baseline="-25000" dirty="0" err="1">
                <a:latin typeface="+mn-ea"/>
              </a:rPr>
              <a:t>Y</a:t>
            </a:r>
            <a:r>
              <a:rPr lang="en-US" sz="2400" dirty="0">
                <a:latin typeface="+mn-ea"/>
                <a:ea typeface="+mn-ea"/>
              </a:rPr>
              <a:t>(0)=P{Y=0²} = 0.2     </a:t>
            </a:r>
          </a:p>
          <a:p>
            <a:pPr>
              <a:lnSpc>
                <a:spcPct val="200000"/>
              </a:lnSpc>
              <a:buClr>
                <a:srgbClr val="CC00CC"/>
              </a:buClr>
              <a:buNone/>
            </a:pPr>
            <a:r>
              <a:rPr lang="en-US" sz="2400" dirty="0">
                <a:latin typeface="+mn-ea"/>
                <a:ea typeface="+mn-ea"/>
              </a:rPr>
              <a:t>     </a:t>
            </a:r>
            <a:r>
              <a:rPr lang="en-US" sz="2400" dirty="0" err="1">
                <a:latin typeface="+mn-ea"/>
                <a:ea typeface="+mn-ea"/>
              </a:rPr>
              <a:t>p</a:t>
            </a:r>
            <a:r>
              <a:rPr lang="en-US" sz="2400" baseline="-25000" dirty="0" err="1">
                <a:latin typeface="+mn-ea"/>
              </a:rPr>
              <a:t>Y</a:t>
            </a:r>
            <a:r>
              <a:rPr lang="en-US" sz="2400" dirty="0">
                <a:latin typeface="+mn-ea"/>
                <a:ea typeface="+mn-ea"/>
              </a:rPr>
              <a:t>(1)=P{Y=1²}=0.5    </a:t>
            </a:r>
          </a:p>
          <a:p>
            <a:pPr>
              <a:lnSpc>
                <a:spcPct val="200000"/>
              </a:lnSpc>
              <a:buClr>
                <a:srgbClr val="CC00CC"/>
              </a:buClr>
              <a:buNone/>
            </a:pPr>
            <a:r>
              <a:rPr lang="en-US" sz="2400" dirty="0">
                <a:latin typeface="+mn-ea"/>
                <a:ea typeface="+mn-ea"/>
              </a:rPr>
              <a:t>     </a:t>
            </a:r>
            <a:r>
              <a:rPr lang="en-US" sz="2400" dirty="0" err="1">
                <a:latin typeface="+mn-ea"/>
                <a:ea typeface="+mn-ea"/>
              </a:rPr>
              <a:t>p</a:t>
            </a:r>
            <a:r>
              <a:rPr lang="en-US" sz="2400" baseline="-25000" dirty="0" err="1">
                <a:latin typeface="+mn-ea"/>
              </a:rPr>
              <a:t>Y</a:t>
            </a:r>
            <a:r>
              <a:rPr lang="en-US" sz="2400" dirty="0">
                <a:latin typeface="+mn-ea"/>
                <a:ea typeface="+mn-ea"/>
              </a:rPr>
              <a:t>(4)=P{Y=2²} =0.3</a:t>
            </a:r>
          </a:p>
          <a:p>
            <a:pPr>
              <a:lnSpc>
                <a:spcPct val="200000"/>
              </a:lnSpc>
              <a:buClr>
                <a:srgbClr val="CC00CC"/>
              </a:buClr>
              <a:buNone/>
            </a:pPr>
            <a:r>
              <a:rPr lang="zh-CN" altLang="en-US" sz="2400" dirty="0">
                <a:latin typeface="+mn-ea"/>
                <a:ea typeface="+mn-ea"/>
              </a:rPr>
              <a:t>于是有  </a:t>
            </a:r>
            <a:r>
              <a:rPr lang="en-US" sz="2400" dirty="0">
                <a:latin typeface="+mn-ea"/>
                <a:ea typeface="+mn-ea"/>
              </a:rPr>
              <a:t>E[X²]=E[Y]=0</a:t>
            </a:r>
            <a:r>
              <a:rPr lang="en-US" altLang="zh-CN" sz="2400" dirty="0">
                <a:latin typeface="+mn-ea"/>
                <a:ea typeface="+mn-ea"/>
              </a:rPr>
              <a:t>×</a:t>
            </a:r>
            <a:r>
              <a:rPr lang="en-US" sz="2400" dirty="0">
                <a:latin typeface="+mn-ea"/>
                <a:ea typeface="+mn-ea"/>
              </a:rPr>
              <a:t>0.2+1</a:t>
            </a:r>
            <a:r>
              <a:rPr lang="en-US" altLang="zh-CN" sz="2400" dirty="0">
                <a:latin typeface="+mn-ea"/>
              </a:rPr>
              <a:t>×</a:t>
            </a:r>
            <a:r>
              <a:rPr lang="en-US" sz="2400" dirty="0">
                <a:latin typeface="+mn-ea"/>
                <a:ea typeface="+mn-ea"/>
              </a:rPr>
              <a:t>0.5+4</a:t>
            </a:r>
            <a:r>
              <a:rPr lang="en-US" altLang="zh-CN" sz="2400" dirty="0">
                <a:latin typeface="+mn-ea"/>
              </a:rPr>
              <a:t>×</a:t>
            </a:r>
            <a:r>
              <a:rPr lang="en-US" sz="2400" dirty="0">
                <a:latin typeface="+mn-ea"/>
                <a:ea typeface="+mn-ea"/>
              </a:rPr>
              <a:t>0.3=1.7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341959A3-A9C4-BE3E-BE4F-B2702124D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75" y="5766383"/>
            <a:ext cx="11182110" cy="58105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Clr>
                <a:srgbClr val="CC00CC"/>
              </a:buClr>
              <a:buNone/>
            </a:pPr>
            <a:r>
              <a:rPr lang="zh-CN" altLang="en-US" sz="2400" dirty="0">
                <a:solidFill>
                  <a:srgbClr val="0000CC"/>
                </a:solidFill>
                <a:latin typeface="+mn-ea"/>
                <a:ea typeface="+mn-ea"/>
              </a:rPr>
              <a:t>注意 </a:t>
            </a: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zh-CN" sz="2400" dirty="0">
                <a:latin typeface="+mn-ea"/>
                <a:ea typeface="+mn-ea"/>
              </a:rPr>
              <a:t>1.7 =</a:t>
            </a:r>
            <a:r>
              <a:rPr lang="en-US" sz="2400" dirty="0">
                <a:latin typeface="+mn-ea"/>
                <a:ea typeface="+mn-ea"/>
              </a:rPr>
              <a:t>E[x²] ≠(E[x])²=1.21</a:t>
            </a:r>
            <a:endParaRPr lang="zh-CN" altLang="en-US" sz="24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01612117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8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8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296" grpId="0" autoUpdateAnimBg="0"/>
      <p:bldP spid="2" grpId="0" autoUpdateAnimBg="0"/>
      <p:bldP spid="3" grpId="0" animBg="1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8E32B-D157-BAA1-103B-65060A82B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>
            <a:extLst>
              <a:ext uri="{FF2B5EF4-FFF2-40B4-BE49-F238E27FC236}">
                <a16:creationId xmlns:a16="http://schemas.microsoft.com/office/drawing/2014/main" id="{A92CDDBE-DC36-3A9E-BBC0-1C4AB44F98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随机变量函数的数学期望</a:t>
            </a:r>
          </a:p>
        </p:txBody>
      </p:sp>
      <p:sp>
        <p:nvSpPr>
          <p:cNvPr id="268296" name="Rectangle 8">
            <a:extLst>
              <a:ext uri="{FF2B5EF4-FFF2-40B4-BE49-F238E27FC236}">
                <a16:creationId xmlns:a16="http://schemas.microsoft.com/office/drawing/2014/main" id="{506EFABB-DBA9-0524-0BB1-587B84477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45" y="1093205"/>
            <a:ext cx="11182110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Clr>
                <a:srgbClr val="CC00CC"/>
              </a:buClr>
              <a:buNone/>
            </a:pPr>
            <a:r>
              <a:rPr lang="zh-CN" altLang="en-US" sz="2400" dirty="0">
                <a:solidFill>
                  <a:srgbClr val="7030A0"/>
                </a:solidFill>
                <a:latin typeface="+mn-ea"/>
                <a:ea typeface="+mn-ea"/>
              </a:rPr>
              <a:t>例</a:t>
            </a:r>
            <a:r>
              <a:rPr lang="en-US" altLang="zh-CN" sz="2400" dirty="0">
                <a:solidFill>
                  <a:srgbClr val="7030A0"/>
                </a:solidFill>
                <a:latin typeface="+mn-ea"/>
                <a:ea typeface="+mn-ea"/>
              </a:rPr>
              <a:t>2</a:t>
            </a:r>
            <a:r>
              <a:rPr lang="en-US" altLang="zh-CN" sz="2400" dirty="0">
                <a:latin typeface="+mn-ea"/>
                <a:ea typeface="+mn-ea"/>
              </a:rPr>
              <a:t>  </a:t>
            </a:r>
            <a:r>
              <a:rPr lang="zh-CN" altLang="en-US" sz="2400" dirty="0">
                <a:latin typeface="+mn-ea"/>
                <a:ea typeface="+mn-ea"/>
              </a:rPr>
              <a:t>假定</a:t>
            </a:r>
            <a:r>
              <a:rPr lang="en-US" altLang="zh-CN" sz="2400" dirty="0">
                <a:latin typeface="+mn-ea"/>
                <a:ea typeface="+mn-ea"/>
              </a:rPr>
              <a:t>X</a:t>
            </a:r>
            <a:r>
              <a:rPr lang="zh-CN" altLang="en-US" sz="2400" dirty="0">
                <a:latin typeface="+mn-ea"/>
                <a:ea typeface="+mn-ea"/>
              </a:rPr>
              <a:t>在（</a:t>
            </a:r>
            <a:r>
              <a:rPr lang="en-US" altLang="zh-CN" sz="2400" dirty="0">
                <a:latin typeface="+mn-ea"/>
                <a:ea typeface="+mn-ea"/>
              </a:rPr>
              <a:t>0,1</a:t>
            </a:r>
            <a:r>
              <a:rPr lang="zh-CN" altLang="en-US" sz="2400" dirty="0">
                <a:latin typeface="+mn-ea"/>
                <a:ea typeface="+mn-ea"/>
              </a:rPr>
              <a:t>）上均匀分布</a:t>
            </a:r>
            <a:r>
              <a:rPr lang="en-US" altLang="zh-CN" sz="2400" dirty="0">
                <a:latin typeface="+mn-ea"/>
                <a:ea typeface="+mn-ea"/>
              </a:rPr>
              <a:t>.</a:t>
            </a:r>
            <a:r>
              <a:rPr lang="zh-CN" altLang="en-US" sz="2400" dirty="0">
                <a:latin typeface="+mn-ea"/>
                <a:ea typeface="+mn-ea"/>
              </a:rPr>
              <a:t>计算</a:t>
            </a:r>
            <a:r>
              <a:rPr lang="en-US" altLang="zh-CN" sz="2400" dirty="0">
                <a:latin typeface="+mn-ea"/>
                <a:ea typeface="+mn-ea"/>
              </a:rPr>
              <a:t>E[X</a:t>
            </a:r>
            <a:r>
              <a:rPr lang="en-US" altLang="zh-CN" sz="2400" baseline="30000" dirty="0">
                <a:latin typeface="+mn-ea"/>
                <a:ea typeface="+mn-ea"/>
              </a:rPr>
              <a:t>3</a:t>
            </a:r>
            <a:r>
              <a:rPr lang="en-US" altLang="zh-CN" sz="2400" dirty="0">
                <a:latin typeface="+mn-ea"/>
                <a:ea typeface="+mn-ea"/>
              </a:rPr>
              <a:t>].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2C5378C7-0160-52B0-25D3-B3DD458E7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75" y="1829594"/>
            <a:ext cx="7848600" cy="1308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</a:rPr>
              <a:t>解 </a:t>
            </a:r>
            <a:r>
              <a:rPr lang="zh-CN" altLang="en-US" b="0" dirty="0"/>
              <a:t>令 </a:t>
            </a:r>
            <a:r>
              <a:rPr lang="en-US" b="0" i="1" dirty="0"/>
              <a:t>Y</a:t>
            </a:r>
            <a:r>
              <a:rPr lang="en-US" b="0" dirty="0"/>
              <a:t>=</a:t>
            </a:r>
            <a:r>
              <a:rPr lang="en-US" b="0" i="1" dirty="0"/>
              <a:t>X</a:t>
            </a:r>
            <a:r>
              <a:rPr lang="en-US" b="0" baseline="30000" dirty="0"/>
              <a:t>3</a:t>
            </a:r>
            <a:r>
              <a:rPr lang="en-US" b="0" dirty="0"/>
              <a:t>，</a:t>
            </a:r>
            <a:r>
              <a:rPr lang="en-US" altLang="zh-CN" b="0" dirty="0"/>
              <a:t> 0≤</a:t>
            </a:r>
            <a:r>
              <a:rPr lang="en-US" b="0" i="1" dirty="0"/>
              <a:t>a</a:t>
            </a:r>
            <a:r>
              <a:rPr lang="en-US" b="0" dirty="0"/>
              <a:t>≤1</a:t>
            </a:r>
            <a:r>
              <a:rPr lang="zh-CN" altLang="en-US" b="0" dirty="0"/>
              <a:t>，则 </a:t>
            </a:r>
            <a:r>
              <a:rPr lang="en-US" b="0" i="1" dirty="0"/>
              <a:t>Y</a:t>
            </a:r>
            <a:r>
              <a:rPr lang="en-US" b="0" dirty="0"/>
              <a:t> </a:t>
            </a:r>
            <a:r>
              <a:rPr lang="zh-CN" altLang="en-US" b="0" dirty="0"/>
              <a:t>的分布计算如下：</a:t>
            </a:r>
            <a:endParaRPr lang="en-US" altLang="zh-CN" b="0" dirty="0"/>
          </a:p>
          <a:p>
            <a:pPr>
              <a:lnSpc>
                <a:spcPct val="150000"/>
              </a:lnSpc>
              <a:buNone/>
            </a:pPr>
            <a:r>
              <a:rPr lang="en-US" b="0" i="1" dirty="0"/>
              <a:t>     F</a:t>
            </a:r>
            <a:r>
              <a:rPr lang="en-US" b="0" i="1" baseline="-25000" dirty="0"/>
              <a:t>Y</a:t>
            </a:r>
            <a:r>
              <a:rPr lang="en-US" b="0" dirty="0"/>
              <a:t>​(</a:t>
            </a:r>
            <a:r>
              <a:rPr lang="en-US" b="0" i="1" dirty="0"/>
              <a:t>a</a:t>
            </a:r>
            <a:r>
              <a:rPr lang="en-US" b="0" dirty="0"/>
              <a:t>)=</a:t>
            </a:r>
            <a:r>
              <a:rPr lang="en-US" b="0" i="1" dirty="0"/>
              <a:t>P</a:t>
            </a:r>
            <a:r>
              <a:rPr lang="en-US" b="0" dirty="0"/>
              <a:t>{</a:t>
            </a:r>
            <a:r>
              <a:rPr lang="en-US" b="0" i="1" dirty="0" err="1"/>
              <a:t>Y</a:t>
            </a:r>
            <a:r>
              <a:rPr lang="en-US" b="0" dirty="0" err="1"/>
              <a:t>≤</a:t>
            </a:r>
            <a:r>
              <a:rPr lang="en-US" b="0" i="1" dirty="0" err="1"/>
              <a:t>a</a:t>
            </a:r>
            <a:r>
              <a:rPr lang="en-US" b="0" dirty="0"/>
              <a:t>}=</a:t>
            </a:r>
            <a:r>
              <a:rPr lang="en-US" b="0" i="1" dirty="0"/>
              <a:t>P</a:t>
            </a:r>
            <a:r>
              <a:rPr lang="en-US" b="0" dirty="0"/>
              <a:t>{</a:t>
            </a:r>
            <a:r>
              <a:rPr lang="en-US" b="0" i="1" dirty="0"/>
              <a:t>X </a:t>
            </a:r>
            <a:r>
              <a:rPr lang="en-US" b="0" baseline="30000" dirty="0"/>
              <a:t>3</a:t>
            </a:r>
            <a:r>
              <a:rPr lang="en-US" b="0" dirty="0"/>
              <a:t>≤</a:t>
            </a:r>
            <a:r>
              <a:rPr lang="en-US" b="0" i="1" dirty="0"/>
              <a:t>a</a:t>
            </a:r>
            <a:r>
              <a:rPr lang="en-US" b="0" dirty="0"/>
              <a:t>}=</a:t>
            </a:r>
            <a:r>
              <a:rPr lang="en-US" b="0" i="1" dirty="0"/>
              <a:t>P</a:t>
            </a:r>
            <a:r>
              <a:rPr lang="en-US" b="0" dirty="0"/>
              <a:t>{</a:t>
            </a:r>
            <a:r>
              <a:rPr lang="en-US" b="0" i="1" dirty="0"/>
              <a:t>X</a:t>
            </a:r>
            <a:r>
              <a:rPr lang="en-US" b="0" dirty="0"/>
              <a:t>≤</a:t>
            </a:r>
            <a:r>
              <a:rPr lang="en-US" b="0" i="1" dirty="0"/>
              <a:t>a</a:t>
            </a:r>
            <a:r>
              <a:rPr lang="en-US" b="0" baseline="30000" dirty="0"/>
              <a:t>1/3</a:t>
            </a:r>
            <a:r>
              <a:rPr lang="en-US" b="0" dirty="0"/>
              <a:t>}=</a:t>
            </a:r>
            <a:r>
              <a:rPr lang="en-US" b="0" i="1" dirty="0"/>
              <a:t>a</a:t>
            </a:r>
            <a:r>
              <a:rPr lang="en-US" b="0" baseline="30000" dirty="0"/>
              <a:t>1/3</a:t>
            </a:r>
            <a:endParaRPr lang="en-US" sz="2400" dirty="0">
              <a:latin typeface="+mn-ea"/>
              <a:ea typeface="+mn-ea"/>
            </a:endParaRP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743FF772-7098-EA4D-43D8-EC81B8723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027" y="3430934"/>
            <a:ext cx="5934075" cy="58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Clr>
                <a:srgbClr val="CC00CC"/>
              </a:buClr>
              <a:buNone/>
            </a:pPr>
            <a:r>
              <a:rPr lang="zh-CN" altLang="en-US" sz="2400" dirty="0">
                <a:solidFill>
                  <a:srgbClr val="0000CC"/>
                </a:solidFill>
                <a:latin typeface="+mn-ea"/>
                <a:ea typeface="+mn-ea"/>
              </a:rPr>
              <a:t>于是有 </a:t>
            </a:r>
            <a:r>
              <a:rPr lang="en-US" sz="2400" b="0" i="1" dirty="0"/>
              <a:t> </a:t>
            </a:r>
            <a:r>
              <a:rPr lang="en-US" sz="2400" b="0" i="1" dirty="0" err="1"/>
              <a:t>f</a:t>
            </a:r>
            <a:r>
              <a:rPr lang="en-US" sz="2400" b="0" i="1" baseline="-25000" dirty="0" err="1"/>
              <a:t>Y</a:t>
            </a:r>
            <a:r>
              <a:rPr lang="en-US" sz="2400" b="0" dirty="0"/>
              <a:t>​(</a:t>
            </a:r>
            <a:r>
              <a:rPr lang="en-US" sz="2400" b="0" i="1" dirty="0"/>
              <a:t>a</a:t>
            </a:r>
            <a:r>
              <a:rPr lang="en-US" sz="2400" b="0" dirty="0"/>
              <a:t>)=</a:t>
            </a:r>
            <a:r>
              <a:rPr lang="en-US" altLang="zh-CN" sz="2400" dirty="0">
                <a:solidFill>
                  <a:srgbClr val="0000CC"/>
                </a:solidFill>
                <a:latin typeface="+mn-ea"/>
                <a:ea typeface="+mn-ea"/>
              </a:rPr>
              <a:t>(</a:t>
            </a:r>
            <a:r>
              <a:rPr lang="en-US" sz="2400" b="0" i="1" dirty="0"/>
              <a:t>F</a:t>
            </a:r>
            <a:r>
              <a:rPr lang="en-US" sz="2400" b="0" i="1" baseline="-25000" dirty="0"/>
              <a:t>Y</a:t>
            </a:r>
            <a:r>
              <a:rPr lang="en-US" sz="2400" b="0" dirty="0"/>
              <a:t>​(</a:t>
            </a:r>
            <a:r>
              <a:rPr lang="en-US" sz="2400" b="0" i="1" dirty="0"/>
              <a:t>a</a:t>
            </a:r>
            <a:r>
              <a:rPr lang="en-US" sz="2400" b="0" dirty="0"/>
              <a:t>))’=1/3</a:t>
            </a:r>
            <a:r>
              <a:rPr lang="en-US" sz="2400" b="0" i="1" dirty="0"/>
              <a:t>a </a:t>
            </a:r>
            <a:r>
              <a:rPr lang="en-US" sz="2400" b="0" baseline="30000" dirty="0"/>
              <a:t>-2/3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3D36608-C373-096F-81C6-F49EF41A9A58}"/>
              </a:ext>
            </a:extLst>
          </p:cNvPr>
          <p:cNvSpPr txBox="1"/>
          <p:nvPr/>
        </p:nvSpPr>
        <p:spPr>
          <a:xfrm>
            <a:off x="7843826" y="2005207"/>
            <a:ext cx="3884156" cy="461665"/>
          </a:xfrm>
          <a:prstGeom prst="rect">
            <a:avLst/>
          </a:prstGeom>
          <a:solidFill>
            <a:schemeClr val="accent3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i="1" dirty="0"/>
              <a:t>X</a:t>
            </a:r>
            <a:r>
              <a:rPr lang="en-US" b="0" dirty="0"/>
              <a:t> </a:t>
            </a:r>
            <a:r>
              <a:rPr lang="zh-CN" altLang="en-US" b="0" dirty="0"/>
              <a:t>在 </a:t>
            </a:r>
            <a:r>
              <a:rPr lang="en-US" altLang="zh-CN" b="0" dirty="0"/>
              <a:t>(0,1)</a:t>
            </a:r>
            <a:r>
              <a:rPr lang="zh-CN" altLang="en-US" b="0" dirty="0"/>
              <a:t> 上是均匀分布的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4B03E2D1-6C88-EB16-8EC6-89305E315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2231" y="3478241"/>
            <a:ext cx="4030663" cy="58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Clr>
                <a:srgbClr val="CC00CC"/>
              </a:buClr>
              <a:buNone/>
            </a:pPr>
            <a:r>
              <a:rPr lang="zh-CN" altLang="en-US" sz="2400" dirty="0">
                <a:solidFill>
                  <a:srgbClr val="0000CC"/>
                </a:solidFill>
                <a:latin typeface="+mn-ea"/>
                <a:ea typeface="+mn-ea"/>
              </a:rPr>
              <a:t>从而 </a:t>
            </a:r>
            <a:r>
              <a:rPr lang="en-US" sz="2400" b="0" i="1" dirty="0"/>
              <a:t> </a:t>
            </a:r>
            <a:r>
              <a:rPr lang="en-US" sz="2400" b="0" i="1" dirty="0" err="1"/>
              <a:t>f</a:t>
            </a:r>
            <a:r>
              <a:rPr lang="en-US" sz="2400" b="0" i="1" baseline="-25000" dirty="0" err="1"/>
              <a:t>Y</a:t>
            </a:r>
            <a:r>
              <a:rPr lang="en-US" sz="2400" b="0" dirty="0"/>
              <a:t>​(</a:t>
            </a:r>
            <a:r>
              <a:rPr lang="en-US" sz="2400" b="0" i="1" dirty="0"/>
              <a:t>a</a:t>
            </a:r>
            <a:r>
              <a:rPr lang="en-US" sz="2400" b="0" dirty="0"/>
              <a:t>)=</a:t>
            </a:r>
            <a:r>
              <a:rPr lang="en-US" altLang="zh-CN" sz="2400" dirty="0">
                <a:solidFill>
                  <a:srgbClr val="0000CC"/>
                </a:solidFill>
                <a:latin typeface="+mn-ea"/>
                <a:ea typeface="+mn-ea"/>
              </a:rPr>
              <a:t>(</a:t>
            </a:r>
            <a:r>
              <a:rPr lang="en-US" sz="2400" b="0" i="1" dirty="0"/>
              <a:t>F</a:t>
            </a:r>
            <a:r>
              <a:rPr lang="en-US" sz="2400" b="0" i="1" baseline="-25000" dirty="0"/>
              <a:t>Y</a:t>
            </a:r>
            <a:r>
              <a:rPr lang="en-US" sz="2400" b="0" dirty="0"/>
              <a:t>​(</a:t>
            </a:r>
            <a:r>
              <a:rPr lang="en-US" sz="2400" b="0" i="1" dirty="0"/>
              <a:t>a</a:t>
            </a:r>
            <a:r>
              <a:rPr lang="en-US" sz="2400" b="0" dirty="0"/>
              <a:t>))’=1/3</a:t>
            </a:r>
            <a:r>
              <a:rPr lang="en-US" sz="2400" b="0" i="1" dirty="0"/>
              <a:t>a </a:t>
            </a:r>
            <a:r>
              <a:rPr lang="en-US" sz="2400" b="0" baseline="30000" dirty="0"/>
              <a:t>-2/3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7" name="Object 9">
            <a:extLst>
              <a:ext uri="{FF2B5EF4-FFF2-40B4-BE49-F238E27FC236}">
                <a16:creationId xmlns:a16="http://schemas.microsoft.com/office/drawing/2014/main" id="{A2FB6122-4577-EA69-D661-C41AFD470E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5132" y="4430037"/>
          <a:ext cx="4030663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15840" imgH="330120" progId="Equation.DSMT4">
                  <p:embed/>
                </p:oleObj>
              </mc:Choice>
              <mc:Fallback>
                <p:oleObj name="Equation" r:id="rId2" imgW="1815840" imgH="330120" progId="Equation.DSMT4">
                  <p:embed/>
                  <p:pic>
                    <p:nvPicPr>
                      <p:cNvPr id="7" name="Object 9">
                        <a:extLst>
                          <a:ext uri="{FF2B5EF4-FFF2-40B4-BE49-F238E27FC236}">
                            <a16:creationId xmlns:a16="http://schemas.microsoft.com/office/drawing/2014/main" id="{A2FB6122-4577-EA69-D661-C41AFD470E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132" y="4430037"/>
                        <a:ext cx="4030663" cy="73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>
            <a:extLst>
              <a:ext uri="{FF2B5EF4-FFF2-40B4-BE49-F238E27FC236}">
                <a16:creationId xmlns:a16="http://schemas.microsoft.com/office/drawing/2014/main" id="{A6F4D3A0-81A7-3EA0-759E-F24A63DD7A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18970" y="4320250"/>
          <a:ext cx="2058987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27000" imgH="419040" progId="Equation.DSMT4">
                  <p:embed/>
                </p:oleObj>
              </mc:Choice>
              <mc:Fallback>
                <p:oleObj name="Equation" r:id="rId4" imgW="927000" imgH="419040" progId="Equation.DSMT4">
                  <p:embed/>
                  <p:pic>
                    <p:nvPicPr>
                      <p:cNvPr id="8" name="Object 9">
                        <a:extLst>
                          <a:ext uri="{FF2B5EF4-FFF2-40B4-BE49-F238E27FC236}">
                            <a16:creationId xmlns:a16="http://schemas.microsoft.com/office/drawing/2014/main" id="{A6F4D3A0-81A7-3EA0-759E-F24A63DD7A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8970" y="4320250"/>
                        <a:ext cx="2058987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>
            <a:extLst>
              <a:ext uri="{FF2B5EF4-FFF2-40B4-BE49-F238E27FC236}">
                <a16:creationId xmlns:a16="http://schemas.microsoft.com/office/drawing/2014/main" id="{064F4D24-A177-BBC7-C935-4B072C0F60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77957" y="4316985"/>
          <a:ext cx="1579562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11000" imgH="419040" progId="Equation.DSMT4">
                  <p:embed/>
                </p:oleObj>
              </mc:Choice>
              <mc:Fallback>
                <p:oleObj name="Equation" r:id="rId6" imgW="711000" imgH="419040" progId="Equation.DSMT4">
                  <p:embed/>
                  <p:pic>
                    <p:nvPicPr>
                      <p:cNvPr id="9" name="Object 9">
                        <a:extLst>
                          <a:ext uri="{FF2B5EF4-FFF2-40B4-BE49-F238E27FC236}">
                            <a16:creationId xmlns:a16="http://schemas.microsoft.com/office/drawing/2014/main" id="{064F4D24-A177-BBC7-C935-4B072C0F60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7957" y="4316985"/>
                        <a:ext cx="1579562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1EB875D7-FF5D-6919-F7FD-1CDEC21B66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5775" y="5277891"/>
          <a:ext cx="1606550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23600" imgH="457200" progId="Equation.DSMT4">
                  <p:embed/>
                </p:oleObj>
              </mc:Choice>
              <mc:Fallback>
                <p:oleObj name="Equation" r:id="rId8" imgW="723600" imgH="45720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1EB875D7-FF5D-6919-F7FD-1CDEC21B66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5775" y="5277891"/>
                        <a:ext cx="1606550" cy="101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9">
            <a:extLst>
              <a:ext uri="{FF2B5EF4-FFF2-40B4-BE49-F238E27FC236}">
                <a16:creationId xmlns:a16="http://schemas.microsoft.com/office/drawing/2014/main" id="{085F2FD0-EB73-56A7-8A49-13DB8E7ACE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41700" y="5329820"/>
          <a:ext cx="592137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400" imgH="393480" progId="Equation.DSMT4">
                  <p:embed/>
                </p:oleObj>
              </mc:Choice>
              <mc:Fallback>
                <p:oleObj name="Equation" r:id="rId10" imgW="266400" imgH="393480" progId="Equation.DSMT4">
                  <p:embed/>
                  <p:pic>
                    <p:nvPicPr>
                      <p:cNvPr id="11" name="Object 9">
                        <a:extLst>
                          <a:ext uri="{FF2B5EF4-FFF2-40B4-BE49-F238E27FC236}">
                            <a16:creationId xmlns:a16="http://schemas.microsoft.com/office/drawing/2014/main" id="{085F2FD0-EB73-56A7-8A49-13DB8E7ACE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1700" y="5329820"/>
                        <a:ext cx="592137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89375263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8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8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296" grpId="0" autoUpdateAnimBg="0"/>
      <p:bldP spid="2" grpId="0" autoUpdateAnimBg="0"/>
      <p:bldP spid="3" grpId="0" autoUpdateAnimBg="0"/>
      <p:bldP spid="6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dirty="0"/>
              <a:t>定理</a:t>
            </a:r>
          </a:p>
        </p:txBody>
      </p:sp>
      <p:sp>
        <p:nvSpPr>
          <p:cNvPr id="328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2561" y="991441"/>
            <a:ext cx="7850417" cy="685859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设</a:t>
            </a:r>
            <a:r>
              <a:rPr lang="en-US" altLang="zh-CN" dirty="0"/>
              <a:t>Y</a:t>
            </a:r>
            <a:r>
              <a:rPr lang="zh-CN" altLang="en-US" dirty="0"/>
              <a:t>＝</a:t>
            </a:r>
            <a:r>
              <a:rPr lang="en-US" altLang="zh-CN" dirty="0"/>
              <a:t>g(X)</a:t>
            </a:r>
            <a:r>
              <a:rPr lang="zh-CN" altLang="en-US" dirty="0"/>
              <a:t>，</a:t>
            </a:r>
            <a:r>
              <a:rPr lang="en-US" altLang="zh-CN" dirty="0"/>
              <a:t>g(x)</a:t>
            </a:r>
            <a:r>
              <a:rPr lang="zh-CN" altLang="en-US" dirty="0"/>
              <a:t>是连续函数</a:t>
            </a:r>
          </a:p>
        </p:txBody>
      </p:sp>
      <p:sp>
        <p:nvSpPr>
          <p:cNvPr id="328708" name="Rectangle 4"/>
          <p:cNvSpPr>
            <a:spLocks noChangeArrowheads="1"/>
          </p:cNvSpPr>
          <p:nvPr/>
        </p:nvSpPr>
        <p:spPr bwMode="auto">
          <a:xfrm>
            <a:off x="242561" y="1719604"/>
            <a:ext cx="1173481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AutoNum type="arabicParenR"/>
            </a:pPr>
            <a:r>
              <a:rPr lang="zh-CN" altLang="en-US" sz="2400" dirty="0">
                <a:latin typeface="+mn-ea"/>
                <a:ea typeface="+mn-ea"/>
              </a:rPr>
              <a:t>若</a:t>
            </a:r>
            <a:r>
              <a:rPr lang="en-US" altLang="zh-CN" sz="2400" dirty="0">
                <a:latin typeface="+mn-ea"/>
                <a:ea typeface="+mn-ea"/>
              </a:rPr>
              <a:t>X</a:t>
            </a:r>
            <a:r>
              <a:rPr lang="zh-CN" altLang="en-US" sz="2400" dirty="0">
                <a:latin typeface="+mn-ea"/>
                <a:ea typeface="+mn-ea"/>
              </a:rPr>
              <a:t>是离散型</a:t>
            </a:r>
            <a:r>
              <a:rPr lang="en-US" altLang="zh-CN" sz="2400" dirty="0">
                <a:latin typeface="+mn-ea"/>
                <a:ea typeface="+mn-ea"/>
              </a:rPr>
              <a:t>R.V.</a:t>
            </a:r>
            <a:r>
              <a:rPr lang="zh-CN" altLang="en-US" sz="2400" dirty="0">
                <a:latin typeface="+mn-ea"/>
                <a:ea typeface="+mn-ea"/>
              </a:rPr>
              <a:t>，分布律为</a:t>
            </a:r>
            <a:r>
              <a:rPr lang="en-US" altLang="zh-CN" sz="2400" dirty="0" err="1">
                <a:latin typeface="+mn-ea"/>
                <a:ea typeface="+mn-ea"/>
              </a:rPr>
              <a:t>p</a:t>
            </a:r>
            <a:r>
              <a:rPr lang="en-US" altLang="zh-CN" sz="2400" baseline="-25000" dirty="0" err="1">
                <a:latin typeface="+mn-ea"/>
                <a:ea typeface="+mn-ea"/>
              </a:rPr>
              <a:t>k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P{X=</a:t>
            </a:r>
            <a:r>
              <a:rPr lang="en-US" altLang="zh-CN" sz="2400" dirty="0" err="1">
                <a:latin typeface="+mn-ea"/>
                <a:ea typeface="+mn-ea"/>
              </a:rPr>
              <a:t>X</a:t>
            </a:r>
            <a:r>
              <a:rPr lang="en-US" altLang="zh-CN" sz="2400" baseline="-25000" dirty="0" err="1">
                <a:latin typeface="+mn-ea"/>
                <a:ea typeface="+mn-ea"/>
              </a:rPr>
              <a:t>k</a:t>
            </a:r>
            <a:r>
              <a:rPr lang="en-US" altLang="zh-CN" sz="2400" dirty="0">
                <a:latin typeface="+mn-ea"/>
                <a:ea typeface="+mn-ea"/>
              </a:rPr>
              <a:t>}</a:t>
            </a:r>
            <a:r>
              <a:rPr lang="zh-CN" altLang="en-US" sz="2400" dirty="0">
                <a:latin typeface="+mn-ea"/>
                <a:ea typeface="+mn-ea"/>
              </a:rPr>
              <a:t>，</a:t>
            </a:r>
            <a:r>
              <a:rPr lang="en-US" altLang="zh-CN" sz="2400" dirty="0">
                <a:latin typeface="+mn-ea"/>
                <a:ea typeface="+mn-ea"/>
              </a:rPr>
              <a:t>k=1, 2, …</a:t>
            </a:r>
            <a:r>
              <a:rPr lang="zh-CN" altLang="en-US" sz="2400" dirty="0">
                <a:latin typeface="+mn-ea"/>
                <a:ea typeface="+mn-ea"/>
              </a:rPr>
              <a:t>，当                             时，则有</a:t>
            </a:r>
          </a:p>
        </p:txBody>
      </p:sp>
      <p:graphicFrame>
        <p:nvGraphicFramePr>
          <p:cNvPr id="328709" name="Object 5"/>
          <p:cNvGraphicFramePr>
            <a:graphicFrameLocks noChangeAspect="1"/>
          </p:cNvGraphicFramePr>
          <p:nvPr/>
        </p:nvGraphicFramePr>
        <p:xfrm>
          <a:off x="8907701" y="1598585"/>
          <a:ext cx="2515182" cy="97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17600" imgH="431800" progId="Equation.3">
                  <p:embed/>
                </p:oleObj>
              </mc:Choice>
              <mc:Fallback>
                <p:oleObj name="Equation" r:id="rId2" imgW="1117600" imgH="431800" progId="Equation.3">
                  <p:embed/>
                  <p:pic>
                    <p:nvPicPr>
                      <p:cNvPr id="3287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7701" y="1598585"/>
                        <a:ext cx="2515182" cy="97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0" name="Object 6"/>
          <p:cNvGraphicFramePr>
            <a:graphicFrameLocks noChangeAspect="1"/>
          </p:cNvGraphicFramePr>
          <p:nvPr/>
        </p:nvGraphicFramePr>
        <p:xfrm>
          <a:off x="2140062" y="2779433"/>
          <a:ext cx="4315824" cy="1005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54200" imgH="431800" progId="Equation.3">
                  <p:embed/>
                </p:oleObj>
              </mc:Choice>
              <mc:Fallback>
                <p:oleObj name="Equation" r:id="rId4" imgW="1854200" imgH="431800" progId="Equation.3">
                  <p:embed/>
                  <p:pic>
                    <p:nvPicPr>
                      <p:cNvPr id="32871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0062" y="2779433"/>
                        <a:ext cx="4315824" cy="1005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8711" name="Rectangle 7"/>
          <p:cNvSpPr>
            <a:spLocks noChangeArrowheads="1"/>
          </p:cNvSpPr>
          <p:nvPr/>
        </p:nvSpPr>
        <p:spPr bwMode="auto">
          <a:xfrm>
            <a:off x="242561" y="4060688"/>
            <a:ext cx="11277600" cy="1135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AutoNum type="arabicParenR" startAt="2"/>
            </a:pPr>
            <a:r>
              <a:rPr lang="zh-CN" altLang="en-US" sz="2400" dirty="0">
                <a:latin typeface="+mn-ea"/>
                <a:ea typeface="+mn-ea"/>
              </a:rPr>
              <a:t>若</a:t>
            </a:r>
            <a:r>
              <a:rPr lang="en-US" altLang="zh-CN" sz="2400" dirty="0">
                <a:latin typeface="+mn-ea"/>
                <a:ea typeface="+mn-ea"/>
              </a:rPr>
              <a:t>X</a:t>
            </a:r>
            <a:r>
              <a:rPr lang="zh-CN" altLang="en-US" sz="2400" dirty="0">
                <a:latin typeface="+mn-ea"/>
                <a:ea typeface="+mn-ea"/>
              </a:rPr>
              <a:t>是连续型</a:t>
            </a:r>
            <a:r>
              <a:rPr lang="en-US" altLang="zh-CN" sz="2400" dirty="0">
                <a:latin typeface="+mn-ea"/>
                <a:ea typeface="+mn-ea"/>
              </a:rPr>
              <a:t>R.V.</a:t>
            </a:r>
            <a:r>
              <a:rPr lang="zh-CN" altLang="en-US" sz="2400" dirty="0">
                <a:latin typeface="+mn-ea"/>
                <a:ea typeface="+mn-ea"/>
              </a:rPr>
              <a:t>，概率密度函数为</a:t>
            </a:r>
            <a:r>
              <a:rPr lang="en-US" altLang="zh-CN" sz="2400" dirty="0">
                <a:latin typeface="+mn-ea"/>
                <a:ea typeface="+mn-ea"/>
              </a:rPr>
              <a:t>f(x)</a:t>
            </a:r>
            <a:r>
              <a:rPr lang="zh-CN" altLang="en-US" sz="2400" dirty="0">
                <a:latin typeface="+mn-ea"/>
                <a:ea typeface="+mn-ea"/>
              </a:rPr>
              <a:t>，</a:t>
            </a:r>
            <a:r>
              <a:rPr lang="en-US" altLang="zh-CN" sz="2400" dirty="0">
                <a:latin typeface="+mn-ea"/>
                <a:ea typeface="+mn-ea"/>
              </a:rPr>
              <a:t>x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(-</a:t>
            </a:r>
            <a:r>
              <a:rPr lang="en-US" altLang="zh-CN" sz="2400" dirty="0">
                <a:latin typeface="+mn-ea"/>
                <a:ea typeface="+mn-ea"/>
              </a:rPr>
              <a:t>∞, +∞)</a:t>
            </a:r>
            <a:r>
              <a:rPr lang="zh-CN" altLang="en-US" sz="2400" dirty="0">
                <a:latin typeface="+mn-ea"/>
                <a:ea typeface="+mn-ea"/>
              </a:rPr>
              <a:t>，当                                    时，则有</a:t>
            </a:r>
          </a:p>
        </p:txBody>
      </p:sp>
      <p:graphicFrame>
        <p:nvGraphicFramePr>
          <p:cNvPr id="328712" name="Object 8"/>
          <p:cNvGraphicFramePr>
            <a:graphicFrameLocks noChangeAspect="1"/>
          </p:cNvGraphicFramePr>
          <p:nvPr/>
        </p:nvGraphicFramePr>
        <p:xfrm>
          <a:off x="8787538" y="4060688"/>
          <a:ext cx="2972488" cy="743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20227" imgH="330057" progId="Equation.3">
                  <p:embed/>
                </p:oleObj>
              </mc:Choice>
              <mc:Fallback>
                <p:oleObj name="Equation" r:id="rId6" imgW="1320227" imgH="330057" progId="Equation.3">
                  <p:embed/>
                  <p:pic>
                    <p:nvPicPr>
                      <p:cNvPr id="32871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87538" y="4060688"/>
                        <a:ext cx="2972488" cy="7431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3" name="Object 9"/>
          <p:cNvGraphicFramePr>
            <a:graphicFrameLocks noChangeAspect="1"/>
          </p:cNvGraphicFramePr>
          <p:nvPr/>
        </p:nvGraphicFramePr>
        <p:xfrm>
          <a:off x="2015415" y="5334794"/>
          <a:ext cx="4565118" cy="732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57400" imgH="330200" progId="Equation.3">
                  <p:embed/>
                </p:oleObj>
              </mc:Choice>
              <mc:Fallback>
                <p:oleObj name="Equation" r:id="rId8" imgW="2057400" imgH="330200" progId="Equation.3">
                  <p:embed/>
                  <p:pic>
                    <p:nvPicPr>
                      <p:cNvPr id="32871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5415" y="5334794"/>
                        <a:ext cx="4565118" cy="7320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28091780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8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8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8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8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28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28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28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87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287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28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707" grpId="0" build="p"/>
      <p:bldP spid="328708" grpId="0"/>
      <p:bldP spid="328711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BA96E-831C-8C71-FFF5-FD8E96567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>
            <a:extLst>
              <a:ext uri="{FF2B5EF4-FFF2-40B4-BE49-F238E27FC236}">
                <a16:creationId xmlns:a16="http://schemas.microsoft.com/office/drawing/2014/main" id="{E7A96994-99EC-3E3C-C4EE-8362BAC2AC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随机变量函数的数学期望</a:t>
            </a:r>
          </a:p>
        </p:txBody>
      </p:sp>
      <p:sp>
        <p:nvSpPr>
          <p:cNvPr id="268296" name="Rectangle 8">
            <a:extLst>
              <a:ext uri="{FF2B5EF4-FFF2-40B4-BE49-F238E27FC236}">
                <a16:creationId xmlns:a16="http://schemas.microsoft.com/office/drawing/2014/main" id="{5EFCF7BE-089D-E44F-15A7-1D6550474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45" y="1093205"/>
            <a:ext cx="11448930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Clr>
                <a:srgbClr val="CC00CC"/>
              </a:buClr>
              <a:buNone/>
            </a:pPr>
            <a:r>
              <a:rPr lang="zh-CN" altLang="en-US" sz="2400" dirty="0">
                <a:solidFill>
                  <a:srgbClr val="7030A0"/>
                </a:solidFill>
                <a:latin typeface="+mn-ea"/>
                <a:ea typeface="+mn-ea"/>
              </a:rPr>
              <a:t>例</a:t>
            </a:r>
            <a:r>
              <a:rPr lang="en-US" altLang="zh-CN" sz="2400" dirty="0">
                <a:solidFill>
                  <a:srgbClr val="7030A0"/>
                </a:solidFill>
                <a:latin typeface="+mn-ea"/>
                <a:ea typeface="+mn-ea"/>
              </a:rPr>
              <a:t>1 (</a:t>
            </a:r>
            <a:r>
              <a:rPr lang="zh-CN" altLang="en-US" sz="2400" dirty="0">
                <a:solidFill>
                  <a:srgbClr val="7030A0"/>
                </a:solidFill>
                <a:latin typeface="+mn-ea"/>
                <a:ea typeface="+mn-ea"/>
              </a:rPr>
              <a:t>续</a:t>
            </a:r>
            <a:r>
              <a:rPr lang="en-US" altLang="zh-CN" sz="2400" dirty="0">
                <a:solidFill>
                  <a:srgbClr val="7030A0"/>
                </a:solidFill>
                <a:latin typeface="+mn-ea"/>
                <a:ea typeface="+mn-ea"/>
              </a:rPr>
              <a:t>) </a:t>
            </a:r>
            <a:r>
              <a:rPr lang="zh-CN" altLang="en-US" sz="2400" dirty="0">
                <a:latin typeface="+mn-ea"/>
                <a:ea typeface="+mn-ea"/>
              </a:rPr>
              <a:t>假定</a:t>
            </a:r>
            <a:r>
              <a:rPr lang="en-US" sz="2400" dirty="0">
                <a:latin typeface="+mn-ea"/>
                <a:ea typeface="+mn-ea"/>
              </a:rPr>
              <a:t>X</a:t>
            </a:r>
            <a:r>
              <a:rPr lang="zh-CN" altLang="en-US" sz="2400" dirty="0">
                <a:latin typeface="+mn-ea"/>
                <a:ea typeface="+mn-ea"/>
              </a:rPr>
              <a:t>的概率质量函数为：</a:t>
            </a:r>
            <a:r>
              <a:rPr lang="en-US" sz="2400" dirty="0">
                <a:latin typeface="+mn-ea"/>
                <a:ea typeface="+mn-ea"/>
              </a:rPr>
              <a:t>p(0) = 0.2</a:t>
            </a:r>
            <a:r>
              <a:rPr lang="zh-CN" altLang="en-US" sz="2400" dirty="0">
                <a:latin typeface="+mn-ea"/>
                <a:ea typeface="+mn-ea"/>
              </a:rPr>
              <a:t>，</a:t>
            </a:r>
            <a:r>
              <a:rPr lang="en-US" sz="2400" dirty="0">
                <a:latin typeface="+mn-ea"/>
                <a:ea typeface="+mn-ea"/>
              </a:rPr>
              <a:t>p(1)=0.5</a:t>
            </a:r>
            <a:r>
              <a:rPr lang="zh-CN" altLang="en-US" sz="2400" dirty="0">
                <a:latin typeface="+mn-ea"/>
                <a:ea typeface="+mn-ea"/>
              </a:rPr>
              <a:t>，</a:t>
            </a:r>
            <a:r>
              <a:rPr lang="en-US" sz="2400" dirty="0">
                <a:latin typeface="+mn-ea"/>
                <a:ea typeface="+mn-ea"/>
              </a:rPr>
              <a:t>p(2)=0.3,</a:t>
            </a:r>
            <a:r>
              <a:rPr lang="zh-CN" altLang="en-US" sz="2400" dirty="0">
                <a:latin typeface="+mn-ea"/>
                <a:ea typeface="+mn-ea"/>
              </a:rPr>
              <a:t>计算</a:t>
            </a:r>
            <a:r>
              <a:rPr lang="en-US" sz="2400" dirty="0">
                <a:latin typeface="+mn-ea"/>
                <a:ea typeface="+mn-ea"/>
              </a:rPr>
              <a:t>E[x</a:t>
            </a:r>
            <a:r>
              <a:rPr lang="en-US" sz="2400" baseline="30000" dirty="0">
                <a:latin typeface="+mn-ea"/>
                <a:ea typeface="+mn-ea"/>
              </a:rPr>
              <a:t>2</a:t>
            </a:r>
            <a:r>
              <a:rPr lang="en-US" altLang="zh-CN" sz="2400" dirty="0">
                <a:latin typeface="+mn-ea"/>
              </a:rPr>
              <a:t>].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90E095B8-F9B9-E05D-C4C3-727849962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75" y="1829594"/>
            <a:ext cx="685800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Clr>
                <a:srgbClr val="CC00CC"/>
              </a:buClr>
              <a:buNone/>
            </a:pP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</a:rPr>
              <a:t>解</a:t>
            </a:r>
            <a:endParaRPr lang="en-US" sz="2400" dirty="0">
              <a:latin typeface="+mn-ea"/>
              <a:ea typeface="+mn-ea"/>
            </a:endParaRPr>
          </a:p>
        </p:txBody>
      </p:sp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3222C1D7-C940-03E9-33FB-A45CD5041A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06538" y="1684338"/>
          <a:ext cx="3871912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560" imgH="431640" progId="Equation.DSMT4">
                  <p:embed/>
                </p:oleObj>
              </mc:Choice>
              <mc:Fallback>
                <p:oleObj name="Equation" r:id="rId2" imgW="1663560" imgH="43164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3222C1D7-C940-03E9-33FB-A45CD5041A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6538" y="1684338"/>
                        <a:ext cx="3871912" cy="1004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16065145-E3F5-C177-3274-738A5EE61F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78450" y="1937576"/>
          <a:ext cx="481806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70000" imgH="203040" progId="Equation.DSMT4">
                  <p:embed/>
                </p:oleObj>
              </mc:Choice>
              <mc:Fallback>
                <p:oleObj name="Equation" r:id="rId4" imgW="2070000" imgH="203040" progId="Equation.DSMT4">
                  <p:embed/>
                  <p:pic>
                    <p:nvPicPr>
                      <p:cNvPr id="5" name="Object 6">
                        <a:extLst>
                          <a:ext uri="{FF2B5EF4-FFF2-40B4-BE49-F238E27FC236}">
                            <a16:creationId xmlns:a16="http://schemas.microsoft.com/office/drawing/2014/main" id="{16065145-E3F5-C177-3274-738A5EE61F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8450" y="1937576"/>
                        <a:ext cx="4818063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8">
            <a:extLst>
              <a:ext uri="{FF2B5EF4-FFF2-40B4-BE49-F238E27FC236}">
                <a16:creationId xmlns:a16="http://schemas.microsoft.com/office/drawing/2014/main" id="{0E7C4561-3108-57AB-878F-C57577A8A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45" y="2924304"/>
            <a:ext cx="11448930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Clr>
                <a:srgbClr val="CC00CC"/>
              </a:buClr>
              <a:buNone/>
            </a:pPr>
            <a:r>
              <a:rPr lang="zh-CN" altLang="en-US" sz="2400" dirty="0">
                <a:solidFill>
                  <a:srgbClr val="7030A0"/>
                </a:solidFill>
                <a:latin typeface="+mn-ea"/>
                <a:ea typeface="+mn-ea"/>
              </a:rPr>
              <a:t>例</a:t>
            </a:r>
            <a:r>
              <a:rPr lang="en-US" altLang="zh-CN" sz="2400" dirty="0">
                <a:solidFill>
                  <a:srgbClr val="7030A0"/>
                </a:solidFill>
                <a:latin typeface="+mn-ea"/>
                <a:ea typeface="+mn-ea"/>
              </a:rPr>
              <a:t>2 (</a:t>
            </a:r>
            <a:r>
              <a:rPr lang="zh-CN" altLang="en-US" sz="2400" dirty="0">
                <a:solidFill>
                  <a:srgbClr val="7030A0"/>
                </a:solidFill>
                <a:latin typeface="+mn-ea"/>
                <a:ea typeface="+mn-ea"/>
              </a:rPr>
              <a:t>续</a:t>
            </a:r>
            <a:r>
              <a:rPr lang="en-US" altLang="zh-CN" sz="2400" dirty="0">
                <a:solidFill>
                  <a:srgbClr val="7030A0"/>
                </a:solidFill>
                <a:latin typeface="+mn-ea"/>
                <a:ea typeface="+mn-ea"/>
              </a:rPr>
              <a:t>) </a:t>
            </a:r>
            <a:r>
              <a:rPr lang="zh-CN" altLang="en-US" sz="2400" dirty="0">
                <a:latin typeface="+mn-ea"/>
                <a:ea typeface="+mn-ea"/>
              </a:rPr>
              <a:t>假定</a:t>
            </a:r>
            <a:r>
              <a:rPr lang="en-US" altLang="zh-CN" sz="2400" dirty="0">
                <a:latin typeface="+mn-ea"/>
                <a:ea typeface="+mn-ea"/>
              </a:rPr>
              <a:t>X</a:t>
            </a:r>
            <a:r>
              <a:rPr lang="zh-CN" altLang="en-US" sz="2400" dirty="0">
                <a:latin typeface="+mn-ea"/>
                <a:ea typeface="+mn-ea"/>
              </a:rPr>
              <a:t>在（</a:t>
            </a:r>
            <a:r>
              <a:rPr lang="en-US" altLang="zh-CN" sz="2400" dirty="0">
                <a:latin typeface="+mn-ea"/>
                <a:ea typeface="+mn-ea"/>
              </a:rPr>
              <a:t>0,1</a:t>
            </a:r>
            <a:r>
              <a:rPr lang="zh-CN" altLang="en-US" sz="2400" dirty="0">
                <a:latin typeface="+mn-ea"/>
                <a:ea typeface="+mn-ea"/>
              </a:rPr>
              <a:t>）上均匀分布</a:t>
            </a:r>
            <a:r>
              <a:rPr lang="en-US" altLang="zh-CN" sz="2400" dirty="0">
                <a:latin typeface="+mn-ea"/>
                <a:ea typeface="+mn-ea"/>
              </a:rPr>
              <a:t>.</a:t>
            </a:r>
            <a:r>
              <a:rPr lang="zh-CN" altLang="en-US" sz="2400" dirty="0">
                <a:latin typeface="+mn-ea"/>
                <a:ea typeface="+mn-ea"/>
              </a:rPr>
              <a:t>计算</a:t>
            </a:r>
            <a:r>
              <a:rPr lang="en-US" altLang="zh-CN" sz="2400" dirty="0">
                <a:latin typeface="+mn-ea"/>
                <a:ea typeface="+mn-ea"/>
              </a:rPr>
              <a:t>E[X</a:t>
            </a:r>
            <a:r>
              <a:rPr lang="en-US" altLang="zh-CN" sz="2400" baseline="30000" dirty="0">
                <a:latin typeface="+mn-ea"/>
                <a:ea typeface="+mn-ea"/>
              </a:rPr>
              <a:t>3</a:t>
            </a:r>
            <a:r>
              <a:rPr lang="en-US" altLang="zh-CN" sz="2400" dirty="0">
                <a:latin typeface="+mn-ea"/>
                <a:ea typeface="+mn-ea"/>
              </a:rPr>
              <a:t>].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7459CF32-2E6A-7A69-C2BD-5A7A0DBFB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75" y="3660693"/>
            <a:ext cx="685800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Clr>
                <a:srgbClr val="CC00CC"/>
              </a:buClr>
              <a:buNone/>
            </a:pP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</a:rPr>
              <a:t>解</a:t>
            </a:r>
            <a:endParaRPr lang="en-US" sz="2400" dirty="0">
              <a:latin typeface="+mn-ea"/>
              <a:ea typeface="+mn-ea"/>
            </a:endParaRPr>
          </a:p>
        </p:txBody>
      </p:sp>
      <p:graphicFrame>
        <p:nvGraphicFramePr>
          <p:cNvPr id="13" name="Object 9">
            <a:extLst>
              <a:ext uri="{FF2B5EF4-FFF2-40B4-BE49-F238E27FC236}">
                <a16:creationId xmlns:a16="http://schemas.microsoft.com/office/drawing/2014/main" id="{74CA3808-2195-7F44-25D9-A87A8E2170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4575" y="4493954"/>
          <a:ext cx="1212850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45760" imgH="457200" progId="Equation.DSMT4">
                  <p:embed/>
                </p:oleObj>
              </mc:Choice>
              <mc:Fallback>
                <p:oleObj name="Equation" r:id="rId6" imgW="545760" imgH="457200" progId="Equation.DSMT4">
                  <p:embed/>
                  <p:pic>
                    <p:nvPicPr>
                      <p:cNvPr id="13" name="Object 9">
                        <a:extLst>
                          <a:ext uri="{FF2B5EF4-FFF2-40B4-BE49-F238E27FC236}">
                            <a16:creationId xmlns:a16="http://schemas.microsoft.com/office/drawing/2014/main" id="{74CA3808-2195-7F44-25D9-A87A8E2170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4575" y="4493954"/>
                        <a:ext cx="1212850" cy="101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9">
            <a:extLst>
              <a:ext uri="{FF2B5EF4-FFF2-40B4-BE49-F238E27FC236}">
                <a16:creationId xmlns:a16="http://schemas.microsoft.com/office/drawing/2014/main" id="{8B8F6A02-3490-75A2-3636-BA363244DB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29629" y="4564597"/>
          <a:ext cx="592137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400" imgH="393480" progId="Equation.DSMT4">
                  <p:embed/>
                </p:oleObj>
              </mc:Choice>
              <mc:Fallback>
                <p:oleObj name="Equation" r:id="rId8" imgW="266400" imgH="393480" progId="Equation.DSMT4">
                  <p:embed/>
                  <p:pic>
                    <p:nvPicPr>
                      <p:cNvPr id="14" name="Object 9">
                        <a:extLst>
                          <a:ext uri="{FF2B5EF4-FFF2-40B4-BE49-F238E27FC236}">
                            <a16:creationId xmlns:a16="http://schemas.microsoft.com/office/drawing/2014/main" id="{8B8F6A02-3490-75A2-3636-BA363244DB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9629" y="4564597"/>
                        <a:ext cx="592137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9">
            <a:extLst>
              <a:ext uri="{FF2B5EF4-FFF2-40B4-BE49-F238E27FC236}">
                <a16:creationId xmlns:a16="http://schemas.microsoft.com/office/drawing/2014/main" id="{28724BE5-9BAA-7B40-9E45-E100FB3DDE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01034" y="3633654"/>
          <a:ext cx="4565118" cy="732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57400" imgH="330200" progId="Equation.3">
                  <p:embed/>
                </p:oleObj>
              </mc:Choice>
              <mc:Fallback>
                <p:oleObj name="Equation" r:id="rId10" imgW="2057400" imgH="330200" progId="Equation.3">
                  <p:embed/>
                  <p:pic>
                    <p:nvPicPr>
                      <p:cNvPr id="15" name="Object 9">
                        <a:extLst>
                          <a:ext uri="{FF2B5EF4-FFF2-40B4-BE49-F238E27FC236}">
                            <a16:creationId xmlns:a16="http://schemas.microsoft.com/office/drawing/2014/main" id="{28724BE5-9BAA-7B40-9E45-E100FB3DDE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1034" y="3633654"/>
                        <a:ext cx="4565118" cy="7320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9">
            <a:extLst>
              <a:ext uri="{FF2B5EF4-FFF2-40B4-BE49-F238E27FC236}">
                <a16:creationId xmlns:a16="http://schemas.microsoft.com/office/drawing/2014/main" id="{E2C9D663-A948-EE60-05C0-17238EF9E6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05488" y="3560763"/>
          <a:ext cx="2114550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52200" imgH="393480" progId="Equation.DSMT4">
                  <p:embed/>
                </p:oleObj>
              </mc:Choice>
              <mc:Fallback>
                <p:oleObj name="Equation" r:id="rId12" imgW="952200" imgH="393480" progId="Equation.DSMT4">
                  <p:embed/>
                  <p:pic>
                    <p:nvPicPr>
                      <p:cNvPr id="16" name="Object 9">
                        <a:extLst>
                          <a:ext uri="{FF2B5EF4-FFF2-40B4-BE49-F238E27FC236}">
                            <a16:creationId xmlns:a16="http://schemas.microsoft.com/office/drawing/2014/main" id="{E2C9D663-A948-EE60-05C0-17238EF9E6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5488" y="3560763"/>
                        <a:ext cx="2114550" cy="87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18473800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8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8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296" grpId="0" autoUpdateAnimBg="0"/>
      <p:bldP spid="2" grpId="0" autoUpdateAnimBg="0"/>
      <p:bldP spid="6" grpId="0" autoUpdateAnimBg="0"/>
      <p:bldP spid="7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定理</a:t>
            </a:r>
          </a:p>
        </p:txBody>
      </p:sp>
      <p:sp>
        <p:nvSpPr>
          <p:cNvPr id="398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6575" y="1143794"/>
            <a:ext cx="7850417" cy="900216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设</a:t>
            </a:r>
            <a:r>
              <a:rPr lang="en-US" altLang="zh-CN" dirty="0"/>
              <a:t>Z</a:t>
            </a:r>
            <a:r>
              <a:rPr lang="zh-CN" altLang="en-US" dirty="0"/>
              <a:t>＝</a:t>
            </a:r>
            <a:r>
              <a:rPr lang="en-US" altLang="zh-CN" dirty="0"/>
              <a:t>g(X, Y)</a:t>
            </a:r>
            <a:r>
              <a:rPr lang="zh-CN" altLang="en-US" dirty="0"/>
              <a:t>，</a:t>
            </a:r>
            <a:r>
              <a:rPr lang="en-US" altLang="zh-CN" dirty="0"/>
              <a:t>g(x, y)</a:t>
            </a:r>
            <a:r>
              <a:rPr lang="zh-CN" altLang="en-US" dirty="0"/>
              <a:t>是连续函数</a:t>
            </a:r>
          </a:p>
        </p:txBody>
      </p:sp>
      <p:sp>
        <p:nvSpPr>
          <p:cNvPr id="398340" name="Rectangle 4"/>
          <p:cNvSpPr>
            <a:spLocks noChangeArrowheads="1"/>
          </p:cNvSpPr>
          <p:nvPr/>
        </p:nvSpPr>
        <p:spPr bwMode="auto">
          <a:xfrm>
            <a:off x="369849" y="1905865"/>
            <a:ext cx="11444326" cy="1328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80000"/>
              </a:lnSpc>
              <a:buFontTx/>
              <a:buAutoNum type="arabicParenR"/>
            </a:pPr>
            <a:r>
              <a:rPr lang="zh-CN" altLang="en-US" sz="2400" dirty="0">
                <a:latin typeface="+mn-ea"/>
                <a:ea typeface="+mn-ea"/>
              </a:rPr>
              <a:t>当</a:t>
            </a:r>
            <a:r>
              <a:rPr lang="en-US" altLang="zh-CN" sz="2400" dirty="0">
                <a:latin typeface="+mn-ea"/>
                <a:ea typeface="+mn-ea"/>
              </a:rPr>
              <a:t>(X, Y)</a:t>
            </a:r>
            <a:r>
              <a:rPr lang="zh-CN" altLang="en-US" sz="2400" dirty="0">
                <a:latin typeface="+mn-ea"/>
                <a:ea typeface="+mn-ea"/>
              </a:rPr>
              <a:t>是离散型</a:t>
            </a:r>
            <a:r>
              <a:rPr lang="en-US" altLang="zh-CN" sz="2400" dirty="0">
                <a:latin typeface="+mn-ea"/>
                <a:ea typeface="+mn-ea"/>
              </a:rPr>
              <a:t>R.V.</a:t>
            </a:r>
            <a:r>
              <a:rPr lang="zh-CN" altLang="en-US" sz="2400" dirty="0">
                <a:latin typeface="+mn-ea"/>
                <a:ea typeface="+mn-ea"/>
              </a:rPr>
              <a:t>，联合分布律为</a:t>
            </a:r>
            <a:r>
              <a:rPr lang="en-US" altLang="zh-CN" sz="2400" dirty="0" err="1">
                <a:latin typeface="+mn-ea"/>
                <a:ea typeface="+mn-ea"/>
              </a:rPr>
              <a:t>p</a:t>
            </a:r>
            <a:r>
              <a:rPr lang="en-US" altLang="zh-CN" sz="2400" baseline="-25000" dirty="0" err="1">
                <a:latin typeface="+mn-ea"/>
                <a:ea typeface="+mn-ea"/>
              </a:rPr>
              <a:t>ij</a:t>
            </a:r>
            <a:r>
              <a:rPr lang="en-US" altLang="zh-CN" sz="2400" dirty="0">
                <a:latin typeface="+mn-ea"/>
                <a:ea typeface="+mn-ea"/>
              </a:rPr>
              <a:t>=P{X=X</a:t>
            </a:r>
            <a:r>
              <a:rPr lang="en-US" altLang="zh-CN" sz="2400" baseline="-25000" dirty="0">
                <a:latin typeface="+mn-ea"/>
                <a:ea typeface="+mn-ea"/>
              </a:rPr>
              <a:t>i</a:t>
            </a:r>
            <a:r>
              <a:rPr lang="en-US" altLang="zh-CN" sz="2400" dirty="0">
                <a:latin typeface="+mn-ea"/>
                <a:ea typeface="+mn-ea"/>
              </a:rPr>
              <a:t>, Y=</a:t>
            </a:r>
            <a:r>
              <a:rPr lang="en-US" altLang="zh-CN" sz="2400" dirty="0" err="1">
                <a:latin typeface="+mn-ea"/>
                <a:ea typeface="+mn-ea"/>
              </a:rPr>
              <a:t>Y</a:t>
            </a:r>
            <a:r>
              <a:rPr lang="en-US" altLang="zh-CN" sz="2400" baseline="-25000" dirty="0" err="1">
                <a:latin typeface="+mn-ea"/>
                <a:ea typeface="+mn-ea"/>
              </a:rPr>
              <a:t>j</a:t>
            </a:r>
            <a:r>
              <a:rPr lang="en-US" altLang="zh-CN" sz="2400" dirty="0">
                <a:latin typeface="+mn-ea"/>
                <a:ea typeface="+mn-ea"/>
              </a:rPr>
              <a:t>}</a:t>
            </a:r>
            <a:r>
              <a:rPr lang="zh-CN" altLang="en-US" sz="2400" dirty="0">
                <a:latin typeface="+mn-ea"/>
                <a:ea typeface="+mn-ea"/>
              </a:rPr>
              <a:t>，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en-US" altLang="zh-CN" sz="2400" dirty="0">
                <a:latin typeface="+mn-ea"/>
                <a:ea typeface="+mn-ea"/>
              </a:rPr>
              <a:t>, j=1, 2, …</a:t>
            </a:r>
            <a:r>
              <a:rPr lang="zh-CN" altLang="en-US" sz="2400" dirty="0">
                <a:latin typeface="+mn-ea"/>
                <a:ea typeface="+mn-ea"/>
              </a:rPr>
              <a:t>，若</a:t>
            </a:r>
          </a:p>
          <a:p>
            <a:pPr eaLnBrk="1" hangingPunct="1">
              <a:lnSpc>
                <a:spcPct val="180000"/>
              </a:lnSpc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                                    ，则有</a:t>
            </a:r>
          </a:p>
        </p:txBody>
      </p:sp>
      <p:graphicFrame>
        <p:nvGraphicFramePr>
          <p:cNvPr id="398341" name="Object 5"/>
          <p:cNvGraphicFramePr>
            <a:graphicFrameLocks noChangeAspect="1"/>
          </p:cNvGraphicFramePr>
          <p:nvPr/>
        </p:nvGraphicFramePr>
        <p:xfrm>
          <a:off x="917575" y="2639454"/>
          <a:ext cx="2659679" cy="801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73200" imgH="444500" progId="Equation.3">
                  <p:embed/>
                </p:oleObj>
              </mc:Choice>
              <mc:Fallback>
                <p:oleObj name="Equation" r:id="rId2" imgW="1473200" imgH="444500" progId="Equation.3">
                  <p:embed/>
                  <p:pic>
                    <p:nvPicPr>
                      <p:cNvPr id="39834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7575" y="2639454"/>
                        <a:ext cx="2659679" cy="8018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8342" name="Object 6"/>
          <p:cNvGraphicFramePr>
            <a:graphicFrameLocks noChangeAspect="1"/>
          </p:cNvGraphicFramePr>
          <p:nvPr/>
        </p:nvGraphicFramePr>
        <p:xfrm>
          <a:off x="1952960" y="3379064"/>
          <a:ext cx="4747724" cy="8892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74900" imgH="444500" progId="Equation.3">
                  <p:embed/>
                </p:oleObj>
              </mc:Choice>
              <mc:Fallback>
                <p:oleObj name="Equation" r:id="rId4" imgW="2374900" imgH="444500" progId="Equation.3">
                  <p:embed/>
                  <p:pic>
                    <p:nvPicPr>
                      <p:cNvPr id="39834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2960" y="3379064"/>
                        <a:ext cx="4747724" cy="8892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8343" name="Rectangle 7"/>
          <p:cNvSpPr>
            <a:spLocks noChangeArrowheads="1"/>
          </p:cNvSpPr>
          <p:nvPr/>
        </p:nvSpPr>
        <p:spPr bwMode="auto">
          <a:xfrm>
            <a:off x="369849" y="4497264"/>
            <a:ext cx="1144432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AutoNum type="arabicParenR" startAt="2"/>
            </a:pPr>
            <a:r>
              <a:rPr lang="zh-CN" altLang="en-US" sz="2400" dirty="0">
                <a:latin typeface="+mn-ea"/>
                <a:ea typeface="+mn-ea"/>
              </a:rPr>
              <a:t>若</a:t>
            </a:r>
            <a:r>
              <a:rPr lang="en-US" altLang="zh-CN" sz="2400" dirty="0">
                <a:latin typeface="+mn-ea"/>
                <a:ea typeface="+mn-ea"/>
              </a:rPr>
              <a:t>(X, Y)</a:t>
            </a:r>
            <a:r>
              <a:rPr lang="zh-CN" altLang="en-US" sz="2400" dirty="0">
                <a:latin typeface="+mn-ea"/>
                <a:ea typeface="+mn-ea"/>
              </a:rPr>
              <a:t>是连续型</a:t>
            </a:r>
            <a:r>
              <a:rPr lang="en-US" altLang="zh-CN" sz="2400" dirty="0">
                <a:latin typeface="+mn-ea"/>
                <a:ea typeface="+mn-ea"/>
              </a:rPr>
              <a:t>R.V.</a:t>
            </a:r>
            <a:r>
              <a:rPr lang="zh-CN" altLang="en-US" sz="2400" dirty="0">
                <a:latin typeface="+mn-ea"/>
                <a:ea typeface="+mn-ea"/>
              </a:rPr>
              <a:t>，概率密度函数为</a:t>
            </a:r>
            <a:r>
              <a:rPr lang="en-US" altLang="zh-CN" sz="2400" dirty="0">
                <a:latin typeface="+mn-ea"/>
                <a:ea typeface="+mn-ea"/>
              </a:rPr>
              <a:t>f(x, y)</a:t>
            </a:r>
            <a:r>
              <a:rPr lang="zh-CN" altLang="en-US" sz="2400" dirty="0">
                <a:latin typeface="+mn-ea"/>
                <a:ea typeface="+mn-ea"/>
              </a:rPr>
              <a:t>，</a:t>
            </a:r>
            <a:r>
              <a:rPr lang="en-US" altLang="zh-CN" sz="2400" dirty="0">
                <a:latin typeface="+mn-ea"/>
                <a:ea typeface="+mn-ea"/>
              </a:rPr>
              <a:t>x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(-</a:t>
            </a:r>
            <a:r>
              <a:rPr lang="en-US" altLang="zh-CN" sz="2400" dirty="0">
                <a:latin typeface="+mn-ea"/>
                <a:ea typeface="+mn-ea"/>
              </a:rPr>
              <a:t>∞, +∞)</a:t>
            </a:r>
            <a:r>
              <a:rPr lang="zh-CN" altLang="en-US" sz="2400" dirty="0">
                <a:latin typeface="+mn-ea"/>
                <a:ea typeface="+mn-ea"/>
              </a:rPr>
              <a:t>，当			                                     时，则有</a:t>
            </a:r>
          </a:p>
        </p:txBody>
      </p:sp>
      <p:graphicFrame>
        <p:nvGraphicFramePr>
          <p:cNvPr id="398344" name="Object 8"/>
          <p:cNvGraphicFramePr>
            <a:graphicFrameLocks noChangeAspect="1"/>
          </p:cNvGraphicFramePr>
          <p:nvPr/>
        </p:nvGraphicFramePr>
        <p:xfrm>
          <a:off x="859454" y="5097428"/>
          <a:ext cx="3926797" cy="6589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68500" imgH="330200" progId="Equation.3">
                  <p:embed/>
                </p:oleObj>
              </mc:Choice>
              <mc:Fallback>
                <p:oleObj name="Equation" r:id="rId6" imgW="1968500" imgH="330200" progId="Equation.3">
                  <p:embed/>
                  <p:pic>
                    <p:nvPicPr>
                      <p:cNvPr id="39834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9454" y="5097428"/>
                        <a:ext cx="3926797" cy="6589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8345" name="Object 9"/>
          <p:cNvGraphicFramePr>
            <a:graphicFrameLocks noChangeAspect="1"/>
          </p:cNvGraphicFramePr>
          <p:nvPr/>
        </p:nvGraphicFramePr>
        <p:xfrm>
          <a:off x="1755775" y="5968274"/>
          <a:ext cx="5679802" cy="6589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844800" imgH="330200" progId="Equation.3">
                  <p:embed/>
                </p:oleObj>
              </mc:Choice>
              <mc:Fallback>
                <p:oleObj name="Equation" r:id="rId8" imgW="2844800" imgH="330200" progId="Equation.3">
                  <p:embed/>
                  <p:pic>
                    <p:nvPicPr>
                      <p:cNvPr id="39834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5775" y="5968274"/>
                        <a:ext cx="5679802" cy="6589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89110054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8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8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8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8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98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98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98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98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98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98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8339" grpId="0" build="p"/>
      <p:bldP spid="398340" grpId="0"/>
      <p:bldP spid="39834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（二）方差</a:t>
            </a:r>
          </a:p>
        </p:txBody>
      </p:sp>
      <p:sp>
        <p:nvSpPr>
          <p:cNvPr id="271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4700" y="1118477"/>
            <a:ext cx="11039475" cy="2921676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设</a:t>
            </a:r>
            <a:r>
              <a:rPr lang="en-US" altLang="zh-CN" dirty="0"/>
              <a:t>X</a:t>
            </a:r>
            <a:r>
              <a:rPr lang="zh-CN" altLang="en-US" dirty="0"/>
              <a:t>是随机变量，若</a:t>
            </a:r>
            <a:r>
              <a:rPr lang="en-US" altLang="zh-CN" dirty="0"/>
              <a:t>E[X-E(X)]</a:t>
            </a:r>
            <a:r>
              <a:rPr lang="en-US" altLang="zh-CN" baseline="30000" dirty="0"/>
              <a:t>2</a:t>
            </a:r>
            <a:r>
              <a:rPr lang="zh-CN" altLang="en-US" dirty="0"/>
              <a:t>存在，称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D(X)</a:t>
            </a:r>
            <a:r>
              <a:rPr lang="zh-CN" altLang="en-US" dirty="0"/>
              <a:t>＝</a:t>
            </a:r>
            <a:r>
              <a:rPr lang="en-US" altLang="zh-CN" dirty="0"/>
              <a:t>E[X-E(X)]</a:t>
            </a:r>
            <a:r>
              <a:rPr lang="en-US" altLang="zh-CN" baseline="30000" dirty="0"/>
              <a:t>2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为</a:t>
            </a:r>
            <a:r>
              <a:rPr lang="en-US" altLang="zh-CN" dirty="0"/>
              <a:t>R.V.X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00FF"/>
                </a:solidFill>
              </a:rPr>
              <a:t>方差</a:t>
            </a:r>
            <a:r>
              <a:rPr lang="en-US" altLang="zh-CN" dirty="0"/>
              <a:t>(</a:t>
            </a:r>
            <a:r>
              <a:rPr lang="zh-CN" altLang="en-US" dirty="0"/>
              <a:t>或记为</a:t>
            </a:r>
            <a:r>
              <a:rPr lang="en-US" altLang="zh-CN" dirty="0" err="1"/>
              <a:t>Var</a:t>
            </a:r>
            <a:r>
              <a:rPr lang="en-US" altLang="zh-CN" dirty="0"/>
              <a:t>(X))</a:t>
            </a:r>
            <a:r>
              <a:rPr lang="zh-CN" altLang="en-US" dirty="0"/>
              <a:t>，称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为</a:t>
            </a:r>
            <a:r>
              <a:rPr lang="en-US" altLang="zh-CN" dirty="0"/>
              <a:t>R.V.X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00FF"/>
                </a:solidFill>
              </a:rPr>
              <a:t>均方差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0000FF"/>
                </a:solidFill>
              </a:rPr>
              <a:t>标准差</a:t>
            </a:r>
            <a:r>
              <a:rPr lang="zh-CN" altLang="en-US" dirty="0"/>
              <a:t>。</a:t>
            </a:r>
          </a:p>
        </p:txBody>
      </p:sp>
      <p:graphicFrame>
        <p:nvGraphicFramePr>
          <p:cNvPr id="271364" name="Object 4"/>
          <p:cNvGraphicFramePr>
            <a:graphicFrameLocks noChangeAspect="1"/>
          </p:cNvGraphicFramePr>
          <p:nvPr/>
        </p:nvGraphicFramePr>
        <p:xfrm>
          <a:off x="3035824" y="2804793"/>
          <a:ext cx="2378625" cy="7208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7836" imgH="253890" progId="Equation.3">
                  <p:embed/>
                </p:oleObj>
              </mc:Choice>
              <mc:Fallback>
                <p:oleObj name="Equation" r:id="rId2" imgW="837836" imgH="253890" progId="Equation.3">
                  <p:embed/>
                  <p:pic>
                    <p:nvPicPr>
                      <p:cNvPr id="2713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5824" y="2804793"/>
                        <a:ext cx="2378625" cy="7208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1365" name="Rectangle 5"/>
          <p:cNvSpPr>
            <a:spLocks noChangeArrowheads="1"/>
          </p:cNvSpPr>
          <p:nvPr/>
        </p:nvSpPr>
        <p:spPr bwMode="auto">
          <a:xfrm>
            <a:off x="774699" y="4143365"/>
            <a:ext cx="9515475" cy="22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>
                <a:srgbClr val="CC00CC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ea"/>
                <a:ea typeface="+mn-ea"/>
              </a:rPr>
              <a:t>事实上有：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	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D(X)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＝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E[X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－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E(X)]</a:t>
            </a:r>
            <a:r>
              <a:rPr lang="en-US" altLang="zh-CN" sz="2400" baseline="30000" dirty="0">
                <a:solidFill>
                  <a:srgbClr val="0000FF"/>
                </a:solidFill>
                <a:latin typeface="+mn-ea"/>
                <a:ea typeface="+mn-ea"/>
              </a:rPr>
              <a:t>2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		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＝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E(X</a:t>
            </a:r>
            <a:r>
              <a:rPr lang="en-US" altLang="zh-CN" sz="2400" baseline="30000" dirty="0">
                <a:solidFill>
                  <a:srgbClr val="0000FF"/>
                </a:solidFill>
                <a:latin typeface="+mn-ea"/>
                <a:ea typeface="+mn-ea"/>
              </a:rPr>
              <a:t>2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－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2X·E(X)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＋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E</a:t>
            </a:r>
            <a:r>
              <a:rPr lang="en-US" altLang="zh-CN" sz="2400" baseline="30000" dirty="0">
                <a:solidFill>
                  <a:srgbClr val="0000FF"/>
                </a:solidFill>
                <a:latin typeface="+mn-ea"/>
                <a:ea typeface="+mn-ea"/>
              </a:rPr>
              <a:t>2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(X))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		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＝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E(X</a:t>
            </a:r>
            <a:r>
              <a:rPr lang="en-US" altLang="zh-CN" sz="2400" baseline="30000" dirty="0">
                <a:solidFill>
                  <a:srgbClr val="0000FF"/>
                </a:solidFill>
                <a:latin typeface="+mn-ea"/>
                <a:ea typeface="+mn-ea"/>
              </a:rPr>
              <a:t>2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)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－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E</a:t>
            </a:r>
            <a:r>
              <a:rPr lang="en-US" altLang="zh-CN" sz="2400" baseline="30000" dirty="0">
                <a:solidFill>
                  <a:srgbClr val="0000FF"/>
                </a:solidFill>
                <a:latin typeface="+mn-ea"/>
                <a:ea typeface="+mn-ea"/>
              </a:rPr>
              <a:t>2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(X)</a:t>
            </a: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2245E47D-4A15-4384-09AF-00E7975EF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5573" y="2320713"/>
            <a:ext cx="3843338" cy="113505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>
                <a:srgbClr val="CC00CC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ea"/>
                <a:ea typeface="+mn-ea"/>
              </a:rPr>
              <a:t>X</a:t>
            </a:r>
            <a:r>
              <a:rPr lang="zh-CN" altLang="en-US" sz="2400" dirty="0">
                <a:latin typeface="+mn-ea"/>
                <a:ea typeface="+mn-ea"/>
              </a:rPr>
              <a:t>的方差度量了</a:t>
            </a:r>
            <a:r>
              <a:rPr lang="en-US" altLang="zh-CN" sz="2400" dirty="0">
                <a:latin typeface="+mn-ea"/>
                <a:ea typeface="+mn-ea"/>
              </a:rPr>
              <a:t>X</a:t>
            </a:r>
            <a:r>
              <a:rPr lang="zh-CN" altLang="en-US" sz="2400" dirty="0">
                <a:latin typeface="+mn-ea"/>
                <a:ea typeface="+mn-ea"/>
              </a:rPr>
              <a:t>与其期望的差的平方的期望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	</a:t>
            </a:r>
            <a:endParaRPr lang="en-US" altLang="zh-CN" sz="2400" dirty="0">
              <a:solidFill>
                <a:srgbClr val="0000FF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1357251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1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1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1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1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1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1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1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1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1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1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1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1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1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1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1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71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713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713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63" grpId="0" build="p"/>
      <p:bldP spid="271365" grpId="0" build="p"/>
      <p:bldP spid="2" grpId="0" build="p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1. </a:t>
            </a:r>
            <a:r>
              <a:rPr lang="zh-CN" altLang="en-US" dirty="0"/>
              <a:t>离散型随机变量的方差</a:t>
            </a:r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48488BCB-3C5B-4918-83C5-45CFC697F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605" y="1118744"/>
            <a:ext cx="9525000" cy="46166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  <a:defRPr/>
            </a:pPr>
            <a:r>
              <a:rPr lang="zh-CN" altLang="en-US" sz="2400" dirty="0">
                <a:ea typeface="黑体" panose="02010609060101010101" pitchFamily="49" charset="-122"/>
              </a:rPr>
              <a:t>例</a:t>
            </a:r>
            <a:r>
              <a:rPr lang="en-US" altLang="zh-CN" sz="2400" dirty="0">
                <a:ea typeface="黑体" panose="02010609060101010101" pitchFamily="49" charset="-122"/>
              </a:rPr>
              <a:t>3 </a:t>
            </a:r>
            <a:r>
              <a:rPr lang="zh-CN" altLang="en-US" sz="2400" dirty="0">
                <a:ea typeface="黑体" panose="02010609060101010101" pitchFamily="49" charset="-122"/>
              </a:rPr>
              <a:t>如果随机变量</a:t>
            </a:r>
            <a:r>
              <a:rPr lang="en-US" altLang="zh-CN" sz="2400" dirty="0">
                <a:ea typeface="黑体" panose="02010609060101010101" pitchFamily="49" charset="-122"/>
              </a:rPr>
              <a:t>X</a:t>
            </a:r>
            <a:r>
              <a:rPr lang="zh-CN" altLang="en-US" sz="2400" dirty="0">
                <a:ea typeface="黑体" panose="02010609060101010101" pitchFamily="49" charset="-122"/>
              </a:rPr>
              <a:t>服从参数为</a:t>
            </a:r>
            <a:r>
              <a:rPr lang="zh-CN" altLang="en-US" sz="2400" dirty="0"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lang="zh-CN" altLang="en-US" sz="2400" dirty="0">
                <a:ea typeface="黑体" panose="02010609060101010101" pitchFamily="49" charset="-122"/>
              </a:rPr>
              <a:t>的</a:t>
            </a:r>
            <a:r>
              <a:rPr lang="zh-CN" altLang="en-US" sz="2400" dirty="0">
                <a:solidFill>
                  <a:srgbClr val="CC00CC"/>
                </a:solidFill>
                <a:ea typeface="黑体" panose="02010609060101010101" pitchFamily="49" charset="-122"/>
              </a:rPr>
              <a:t>泊松分布</a:t>
            </a:r>
            <a:r>
              <a:rPr lang="zh-CN" altLang="en-US" sz="2400" dirty="0">
                <a:ea typeface="黑体" panose="02010609060101010101" pitchFamily="49" charset="-122"/>
              </a:rPr>
              <a:t>，试求</a:t>
            </a:r>
            <a:r>
              <a:rPr lang="en-US" altLang="zh-CN" sz="2400" dirty="0">
                <a:solidFill>
                  <a:srgbClr val="0000FF"/>
                </a:solidFill>
                <a:ea typeface="黑体" panose="02010609060101010101" pitchFamily="49" charset="-122"/>
              </a:rPr>
              <a:t>D(X).</a:t>
            </a:r>
            <a:endParaRPr lang="zh-CN" altLang="en-US" sz="2400" dirty="0">
              <a:ea typeface="黑体" panose="02010609060101010101" pitchFamily="49" charset="-122"/>
            </a:endParaRPr>
          </a:p>
        </p:txBody>
      </p:sp>
      <p:sp>
        <p:nvSpPr>
          <p:cNvPr id="20" name="Rectangle 8"/>
          <p:cNvSpPr>
            <a:spLocks noChangeArrowheads="1"/>
          </p:cNvSpPr>
          <p:nvPr/>
        </p:nvSpPr>
        <p:spPr bwMode="auto">
          <a:xfrm>
            <a:off x="975999" y="1992038"/>
            <a:ext cx="1022587" cy="462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C00000"/>
                </a:solidFill>
              </a:rPr>
              <a:t>因为</a:t>
            </a:r>
          </a:p>
        </p:txBody>
      </p:sp>
      <p:sp>
        <p:nvSpPr>
          <p:cNvPr id="21" name="Rectangle 8"/>
          <p:cNvSpPr>
            <a:spLocks noChangeArrowheads="1"/>
          </p:cNvSpPr>
          <p:nvPr/>
        </p:nvSpPr>
        <p:spPr bwMode="auto">
          <a:xfrm>
            <a:off x="9301004" y="1911712"/>
            <a:ext cx="1413202" cy="462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C00000"/>
                </a:solidFill>
              </a:rPr>
              <a:t>且</a:t>
            </a: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9756775" y="1844856"/>
            <a:ext cx="1586279" cy="609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1" dirty="0">
                <a:solidFill>
                  <a:srgbClr val="0000FF"/>
                </a:solidFill>
              </a:rPr>
              <a:t>E(X) </a:t>
            </a:r>
            <a:r>
              <a:rPr lang="zh-CN" altLang="en-US" sz="2801" dirty="0"/>
              <a:t>＝</a:t>
            </a:r>
            <a:r>
              <a:rPr lang="zh-CN" altLang="en-US" sz="2801" dirty="0">
                <a:sym typeface="Symbol" panose="05050102010706020507" pitchFamily="18" charset="2"/>
              </a:rPr>
              <a:t></a:t>
            </a:r>
            <a:endParaRPr lang="en-US" altLang="zh-CN" sz="2801" dirty="0">
              <a:solidFill>
                <a:srgbClr val="0000FF"/>
              </a:solidFill>
            </a:endParaRPr>
          </a:p>
        </p:txBody>
      </p:sp>
      <p:sp>
        <p:nvSpPr>
          <p:cNvPr id="22" name="Rectangle 8"/>
          <p:cNvSpPr>
            <a:spLocks noChangeArrowheads="1"/>
          </p:cNvSpPr>
          <p:nvPr/>
        </p:nvSpPr>
        <p:spPr bwMode="auto">
          <a:xfrm>
            <a:off x="499141" y="2903472"/>
            <a:ext cx="3218607" cy="460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C00000"/>
                </a:solidFill>
              </a:rPr>
              <a:t>所以</a:t>
            </a:r>
            <a:r>
              <a:rPr lang="en-US" altLang="zh-CN" sz="2400" dirty="0">
                <a:solidFill>
                  <a:srgbClr val="0000FF"/>
                </a:solidFill>
                <a:ea typeface="宋体" panose="02010600030101010101" pitchFamily="2" charset="-122"/>
              </a:rPr>
              <a:t>    E(X</a:t>
            </a:r>
            <a:r>
              <a:rPr lang="en-US" altLang="zh-CN" sz="2400" baseline="30000" dirty="0">
                <a:solidFill>
                  <a:srgbClr val="0000FF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400" dirty="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515812" y="5742947"/>
            <a:ext cx="1049580" cy="462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C00000"/>
                </a:solidFill>
              </a:rPr>
              <a:t>从而</a:t>
            </a:r>
          </a:p>
        </p:txBody>
      </p:sp>
      <p:sp>
        <p:nvSpPr>
          <p:cNvPr id="24" name="Rectangle 5"/>
          <p:cNvSpPr>
            <a:spLocks noChangeArrowheads="1"/>
          </p:cNvSpPr>
          <p:nvPr/>
        </p:nvSpPr>
        <p:spPr bwMode="auto">
          <a:xfrm>
            <a:off x="1578096" y="5685784"/>
            <a:ext cx="4279303" cy="609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1" dirty="0">
                <a:solidFill>
                  <a:srgbClr val="0000FF"/>
                </a:solidFill>
              </a:rPr>
              <a:t>D(X)</a:t>
            </a:r>
            <a:r>
              <a:rPr lang="zh-CN" altLang="en-US" sz="2801" dirty="0">
                <a:solidFill>
                  <a:srgbClr val="0000FF"/>
                </a:solidFill>
              </a:rPr>
              <a:t>＝</a:t>
            </a:r>
            <a:r>
              <a:rPr lang="en-US" altLang="zh-CN" sz="2801" dirty="0">
                <a:solidFill>
                  <a:srgbClr val="0000FF"/>
                </a:solidFill>
              </a:rPr>
              <a:t>E(X</a:t>
            </a:r>
            <a:r>
              <a:rPr lang="en-US" altLang="zh-CN" sz="2801" baseline="30000" dirty="0">
                <a:solidFill>
                  <a:srgbClr val="0000FF"/>
                </a:solidFill>
              </a:rPr>
              <a:t>2</a:t>
            </a:r>
            <a:r>
              <a:rPr lang="en-US" altLang="zh-CN" sz="2801" dirty="0">
                <a:solidFill>
                  <a:srgbClr val="0000FF"/>
                </a:solidFill>
              </a:rPr>
              <a:t>)</a:t>
            </a:r>
            <a:r>
              <a:rPr lang="zh-CN" altLang="en-US" sz="2801" dirty="0">
                <a:solidFill>
                  <a:srgbClr val="0000FF"/>
                </a:solidFill>
              </a:rPr>
              <a:t>－</a:t>
            </a:r>
            <a:r>
              <a:rPr lang="en-US" altLang="zh-CN" sz="2801" dirty="0">
                <a:solidFill>
                  <a:srgbClr val="0000FF"/>
                </a:solidFill>
              </a:rPr>
              <a:t>E</a:t>
            </a:r>
            <a:r>
              <a:rPr lang="en-US" altLang="zh-CN" sz="2801" baseline="30000" dirty="0">
                <a:solidFill>
                  <a:srgbClr val="0000FF"/>
                </a:solidFill>
              </a:rPr>
              <a:t>2</a:t>
            </a:r>
            <a:r>
              <a:rPr lang="en-US" altLang="zh-CN" sz="2801" dirty="0">
                <a:solidFill>
                  <a:srgbClr val="0000FF"/>
                </a:solidFill>
              </a:rPr>
              <a:t>(X)=</a:t>
            </a:r>
            <a:r>
              <a:rPr lang="el-GR" altLang="zh-CN" sz="2801" dirty="0">
                <a:solidFill>
                  <a:srgbClr val="0000FF"/>
                </a:solidFill>
              </a:rPr>
              <a:t>λ</a:t>
            </a:r>
            <a:endParaRPr lang="en-US" altLang="zh-CN" sz="2801" dirty="0">
              <a:solidFill>
                <a:srgbClr val="0000FF"/>
              </a:solidFill>
            </a:endParaRPr>
          </a:p>
        </p:txBody>
      </p:sp>
      <p:graphicFrame>
        <p:nvGraphicFramePr>
          <p:cNvPr id="34" name="Object 4"/>
          <p:cNvGraphicFramePr>
            <a:graphicFrameLocks noChangeAspect="1"/>
          </p:cNvGraphicFramePr>
          <p:nvPr/>
        </p:nvGraphicFramePr>
        <p:xfrm>
          <a:off x="2329952" y="2646237"/>
          <a:ext cx="1724424" cy="103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87400" imgH="469900" progId="Equation.DSMT4">
                  <p:embed/>
                </p:oleObj>
              </mc:Choice>
              <mc:Fallback>
                <p:oleObj name="Equation" r:id="rId2" imgW="787400" imgH="469900" progId="Equation.DSMT4">
                  <p:embed/>
                  <p:pic>
                    <p:nvPicPr>
                      <p:cNvPr id="3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9952" y="2646237"/>
                        <a:ext cx="1724424" cy="103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4"/>
          <p:cNvGraphicFramePr>
            <a:graphicFrameLocks noChangeAspect="1"/>
          </p:cNvGraphicFramePr>
          <p:nvPr/>
        </p:nvGraphicFramePr>
        <p:xfrm>
          <a:off x="1860442" y="1709397"/>
          <a:ext cx="6367349" cy="919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08300" imgH="419100" progId="Equation.3">
                  <p:embed/>
                </p:oleObj>
              </mc:Choice>
              <mc:Fallback>
                <p:oleObj name="Equation" r:id="rId4" imgW="2908300" imgH="419100" progId="Equation.3">
                  <p:embed/>
                  <p:pic>
                    <p:nvPicPr>
                      <p:cNvPr id="3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0442" y="1709397"/>
                        <a:ext cx="6367349" cy="919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4"/>
          <p:cNvGraphicFramePr>
            <a:graphicFrameLocks noChangeAspect="1"/>
          </p:cNvGraphicFramePr>
          <p:nvPr/>
        </p:nvGraphicFramePr>
        <p:xfrm>
          <a:off x="4054376" y="2681168"/>
          <a:ext cx="2196021" cy="10305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02865" imgH="469696" progId="Equation.DSMT4">
                  <p:embed/>
                </p:oleObj>
              </mc:Choice>
              <mc:Fallback>
                <p:oleObj name="Equation" r:id="rId6" imgW="1002865" imgH="469696" progId="Equation.DSMT4">
                  <p:embed/>
                  <p:pic>
                    <p:nvPicPr>
                      <p:cNvPr id="3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4376" y="2681168"/>
                        <a:ext cx="2196021" cy="10305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4"/>
          <p:cNvGraphicFramePr>
            <a:graphicFrameLocks noChangeAspect="1"/>
          </p:cNvGraphicFramePr>
          <p:nvPr/>
        </p:nvGraphicFramePr>
        <p:xfrm>
          <a:off x="2304533" y="3767609"/>
          <a:ext cx="4585761" cy="102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95500" imgH="469900" progId="Equation.DSMT4">
                  <p:embed/>
                </p:oleObj>
              </mc:Choice>
              <mc:Fallback>
                <p:oleObj name="Equation" r:id="rId8" imgW="2095500" imgH="469900" progId="Equation.DSMT4">
                  <p:embed/>
                  <p:pic>
                    <p:nvPicPr>
                      <p:cNvPr id="3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4533" y="3767609"/>
                        <a:ext cx="4585761" cy="102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4"/>
          <p:cNvGraphicFramePr>
            <a:graphicFrameLocks noChangeAspect="1"/>
          </p:cNvGraphicFramePr>
          <p:nvPr/>
        </p:nvGraphicFramePr>
        <p:xfrm>
          <a:off x="7040428" y="3961329"/>
          <a:ext cx="2196021" cy="6414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02865" imgH="291973" progId="Equation.DSMT4">
                  <p:embed/>
                </p:oleObj>
              </mc:Choice>
              <mc:Fallback>
                <p:oleObj name="Equation" r:id="rId10" imgW="1002865" imgH="291973" progId="Equation.DSMT4">
                  <p:embed/>
                  <p:pic>
                    <p:nvPicPr>
                      <p:cNvPr id="3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0428" y="3961329"/>
                        <a:ext cx="2196021" cy="6414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4"/>
          <p:cNvGraphicFramePr>
            <a:graphicFrameLocks noChangeAspect="1"/>
          </p:cNvGraphicFramePr>
          <p:nvPr/>
        </p:nvGraphicFramePr>
        <p:xfrm>
          <a:off x="2296593" y="4911573"/>
          <a:ext cx="1251240" cy="473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71252" imgH="215806" progId="Equation.DSMT4">
                  <p:embed/>
                </p:oleObj>
              </mc:Choice>
              <mc:Fallback>
                <p:oleObj name="Equation" r:id="rId12" imgW="571252" imgH="215806" progId="Equation.DSMT4">
                  <p:embed/>
                  <p:pic>
                    <p:nvPicPr>
                      <p:cNvPr id="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6593" y="4911573"/>
                        <a:ext cx="1251240" cy="4731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8">
            <a:extLst>
              <a:ext uri="{FF2B5EF4-FFF2-40B4-BE49-F238E27FC236}">
                <a16:creationId xmlns:a16="http://schemas.microsoft.com/office/drawing/2014/main" id="{AE826F45-C7FC-0EA2-A5DD-236C7DA2B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499" y="1928491"/>
            <a:ext cx="1022587" cy="462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C00000"/>
                </a:solidFill>
              </a:rPr>
              <a:t>解</a:t>
            </a:r>
          </a:p>
        </p:txBody>
      </p:sp>
    </p:spTree>
    <p:extLst>
      <p:ext uri="{BB962C8B-B14F-4D97-AF65-F5344CB8AC3E}">
        <p14:creationId xmlns:p14="http://schemas.microsoft.com/office/powerpoint/2010/main" val="4087725291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 autoUpdateAnimBg="0"/>
      <p:bldP spid="20" grpId="0" autoUpdateAnimBg="0"/>
      <p:bldP spid="21" grpId="0" autoUpdateAnimBg="0"/>
      <p:bldP spid="18" grpId="0" build="p"/>
      <p:bldP spid="22" grpId="0" autoUpdateAnimBg="0"/>
      <p:bldP spid="23" grpId="0" autoUpdateAnimBg="0"/>
      <p:bldP spid="24" grpId="0" build="p"/>
      <p:bldP spid="2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离散型随机变量的方差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384175" y="1017642"/>
            <a:ext cx="8001000" cy="562815"/>
          </a:xfrm>
          <a:prstGeom prst="rect">
            <a:avLst/>
          </a:prstGeom>
        </p:spPr>
        <p:txBody>
          <a:bodyPr vert="horz" lIns="121917" tIns="60958" rIns="121917" bIns="60958" rtlCol="0">
            <a:noAutofit/>
          </a:bodyPr>
          <a:lstStyle>
            <a:lvl1pPr marL="457200" indent="-4572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l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»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>
                <a:ea typeface="黑体" panose="02010609060101010101" pitchFamily="49" charset="-122"/>
              </a:rPr>
              <a:t>例</a:t>
            </a:r>
            <a:r>
              <a:rPr lang="en-US" altLang="zh-CN" dirty="0">
                <a:ea typeface="黑体" panose="02010609060101010101" pitchFamily="49" charset="-122"/>
              </a:rPr>
              <a:t>4  </a:t>
            </a:r>
            <a:r>
              <a:rPr lang="zh-CN" altLang="en-US" dirty="0">
                <a:ea typeface="黑体" panose="02010609060101010101" pitchFamily="49" charset="-122"/>
              </a:rPr>
              <a:t>证明</a:t>
            </a:r>
            <a:r>
              <a:rPr lang="zh-CN" altLang="en-US" dirty="0"/>
              <a:t>指数分布的</a:t>
            </a:r>
            <a:r>
              <a:rPr lang="en-US" altLang="zh-CN" dirty="0"/>
              <a:t>E(X)</a:t>
            </a:r>
            <a:r>
              <a:rPr lang="zh-CN" altLang="en-US" dirty="0"/>
              <a:t>＝</a:t>
            </a:r>
            <a:r>
              <a:rPr lang="en-US" altLang="zh-CN" dirty="0"/>
              <a:t>1/</a:t>
            </a:r>
            <a:r>
              <a:rPr lang="en-US" altLang="zh-CN" dirty="0">
                <a:sym typeface="Symbol" panose="05050102010706020507" pitchFamily="18" charset="2"/>
              </a:rPr>
              <a:t></a:t>
            </a:r>
            <a:r>
              <a:rPr lang="zh-CN" altLang="en-US" dirty="0"/>
              <a:t>，</a:t>
            </a:r>
            <a:r>
              <a:rPr lang="en-US" altLang="zh-CN" dirty="0"/>
              <a:t>D(X)</a:t>
            </a:r>
            <a:r>
              <a:rPr lang="zh-CN" altLang="en-US" dirty="0"/>
              <a:t>＝</a:t>
            </a:r>
            <a:r>
              <a:rPr lang="en-US" altLang="zh-CN" dirty="0"/>
              <a:t>1/</a:t>
            </a:r>
            <a:r>
              <a:rPr lang="en-US" altLang="zh-CN" dirty="0">
                <a:sym typeface="Symbol" panose="05050102010706020507" pitchFamily="18" charset="2"/>
              </a:rPr>
              <a:t></a:t>
            </a:r>
            <a:r>
              <a:rPr lang="en-US" altLang="zh-CN" baseline="30000" dirty="0"/>
              <a:t>2</a:t>
            </a:r>
            <a:r>
              <a:rPr lang="zh-CN" altLang="en-US" dirty="0"/>
              <a:t>。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851008" y="1801171"/>
          <a:ext cx="5648045" cy="630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959100" imgH="330200" progId="Equation.3">
                  <p:embed/>
                </p:oleObj>
              </mc:Choice>
              <mc:Fallback>
                <p:oleObj name="公式" r:id="rId2" imgW="2959100" imgH="330200" progId="Equation.3">
                  <p:embed/>
                  <p:pic>
                    <p:nvPicPr>
                      <p:cNvPr id="5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1008" y="1801171"/>
                        <a:ext cx="5648045" cy="630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"/>
          <p:cNvGraphicFramePr>
            <a:graphicFrameLocks noChangeAspect="1"/>
          </p:cNvGraphicFramePr>
          <p:nvPr/>
        </p:nvGraphicFramePr>
        <p:xfrm>
          <a:off x="1529028" y="2652268"/>
          <a:ext cx="3480606" cy="789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739900" imgH="393700" progId="Equation.3">
                  <p:embed/>
                </p:oleObj>
              </mc:Choice>
              <mc:Fallback>
                <p:oleObj name="公式" r:id="rId4" imgW="1739900" imgH="393700" progId="Equation.3">
                  <p:embed/>
                  <p:pic>
                    <p:nvPicPr>
                      <p:cNvPr id="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9028" y="2652268"/>
                        <a:ext cx="3480606" cy="7891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1"/>
          <p:cNvGraphicFramePr>
            <a:graphicFrameLocks noChangeAspect="1"/>
          </p:cNvGraphicFramePr>
          <p:nvPr/>
        </p:nvGraphicFramePr>
        <p:xfrm>
          <a:off x="851009" y="3660565"/>
          <a:ext cx="6132344" cy="6303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213100" imgH="330200" progId="Equation.3">
                  <p:embed/>
                </p:oleObj>
              </mc:Choice>
              <mc:Fallback>
                <p:oleObj name="公式" r:id="rId6" imgW="3213100" imgH="330200" progId="Equation.3">
                  <p:embed/>
                  <p:pic>
                    <p:nvPicPr>
                      <p:cNvPr id="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1009" y="3660565"/>
                        <a:ext cx="6132344" cy="6303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2"/>
          <p:cNvGraphicFramePr>
            <a:graphicFrameLocks noChangeAspect="1"/>
          </p:cNvGraphicFramePr>
          <p:nvPr/>
        </p:nvGraphicFramePr>
        <p:xfrm>
          <a:off x="1529028" y="4511662"/>
          <a:ext cx="4014129" cy="789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005729" imgH="393529" progId="Equation.3">
                  <p:embed/>
                </p:oleObj>
              </mc:Choice>
              <mc:Fallback>
                <p:oleObj name="公式" r:id="rId8" imgW="2005729" imgH="393529" progId="Equation.3">
                  <p:embed/>
                  <p:pic>
                    <p:nvPicPr>
                      <p:cNvPr id="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9028" y="4511662"/>
                        <a:ext cx="4014129" cy="7891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3"/>
          <p:cNvGraphicFramePr>
            <a:graphicFrameLocks noChangeAspect="1"/>
          </p:cNvGraphicFramePr>
          <p:nvPr/>
        </p:nvGraphicFramePr>
        <p:xfrm>
          <a:off x="851009" y="5521545"/>
          <a:ext cx="4750899" cy="789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374900" imgH="393700" progId="Equation.3">
                  <p:embed/>
                </p:oleObj>
              </mc:Choice>
              <mc:Fallback>
                <p:oleObj name="公式" r:id="rId10" imgW="2374900" imgH="393700" progId="Equation.3">
                  <p:embed/>
                  <p:pic>
                    <p:nvPicPr>
                      <p:cNvPr id="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1009" y="5521545"/>
                        <a:ext cx="4750899" cy="7891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9052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常见随机变量的数学期望和方差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C68EBA4-8F79-49A4-AA49-7F3BBFCCF1C6}"/>
              </a:ext>
            </a:extLst>
          </p:cNvPr>
          <p:cNvGraphicFramePr>
            <a:graphicFrameLocks noGrp="1"/>
          </p:cNvGraphicFramePr>
          <p:nvPr/>
        </p:nvGraphicFramePr>
        <p:xfrm>
          <a:off x="384175" y="1067594"/>
          <a:ext cx="10744200" cy="5714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8552">
                  <a:extLst>
                    <a:ext uri="{9D8B030D-6E8A-4147-A177-3AD203B41FA5}">
                      <a16:colId xmlns:a16="http://schemas.microsoft.com/office/drawing/2014/main" val="1894782573"/>
                    </a:ext>
                  </a:extLst>
                </a:gridCol>
                <a:gridCol w="2194248">
                  <a:extLst>
                    <a:ext uri="{9D8B030D-6E8A-4147-A177-3AD203B41FA5}">
                      <a16:colId xmlns:a16="http://schemas.microsoft.com/office/drawing/2014/main" val="1835528463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757086286"/>
                    </a:ext>
                  </a:extLst>
                </a:gridCol>
              </a:tblGrid>
              <a:tr h="57464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分布</a:t>
                      </a:r>
                    </a:p>
                  </a:txBody>
                  <a:tcPr marL="91461" marR="91461" marT="45735" marB="45735"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E(X)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61" marR="91461" marT="45735" marB="45735"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D(X)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61" marR="91461" marT="45735" marB="45735"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822984"/>
                  </a:ext>
                </a:extLst>
              </a:tr>
              <a:tr h="5746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&lt;0-1&gt;</a:t>
                      </a:r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分布</a:t>
                      </a:r>
                    </a:p>
                  </a:txBody>
                  <a:tcPr marL="91461" marR="91461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61" marR="91461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pq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61" marR="91461" marT="45735" marB="45735"/>
                </a:tc>
                <a:extLst>
                  <a:ext uri="{0D108BD9-81ED-4DB2-BD59-A6C34878D82A}">
                    <a16:rowId xmlns:a16="http://schemas.microsoft.com/office/drawing/2014/main" val="343207823"/>
                  </a:ext>
                </a:extLst>
              </a:tr>
              <a:tr h="57464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二项分布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～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B(n, p)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61" marR="91461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np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61" marR="91461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npq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61" marR="91461" marT="45735" marB="45735"/>
                </a:tc>
                <a:extLst>
                  <a:ext uri="{0D108BD9-81ED-4DB2-BD59-A6C34878D82A}">
                    <a16:rowId xmlns:a16="http://schemas.microsoft.com/office/drawing/2014/main" val="746162877"/>
                  </a:ext>
                </a:extLst>
              </a:tr>
              <a:tr h="57464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泊松分布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～</a:t>
                      </a:r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anose="05050102010706020507" pitchFamily="18" charset="2"/>
                        </a:rPr>
                        <a:t>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anose="05050102010706020507" pitchFamily="18" charset="2"/>
                        </a:rPr>
                        <a:t>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61" marR="91461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anose="05050102010706020507" pitchFamily="18" charset="2"/>
                        </a:rPr>
                        <a:t>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61" marR="91461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anose="05050102010706020507" pitchFamily="18" charset="2"/>
                        </a:rPr>
                        <a:t>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61" marR="91461" marT="45735" marB="45735"/>
                </a:tc>
                <a:extLst>
                  <a:ext uri="{0D108BD9-81ED-4DB2-BD59-A6C34878D82A}">
                    <a16:rowId xmlns:a16="http://schemas.microsoft.com/office/drawing/2014/main" val="851829508"/>
                  </a:ext>
                </a:extLst>
              </a:tr>
              <a:tr h="57464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均匀分布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～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U(a, b)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61" marR="91461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2400" b="1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a+b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)/2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61" marR="91461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(b-a)</a:t>
                      </a:r>
                      <a:r>
                        <a:rPr lang="en-US" altLang="zh-CN" sz="2400" b="1" baseline="30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/12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61" marR="91461" marT="45735" marB="45735"/>
                </a:tc>
                <a:extLst>
                  <a:ext uri="{0D108BD9-81ED-4DB2-BD59-A6C34878D82A}">
                    <a16:rowId xmlns:a16="http://schemas.microsoft.com/office/drawing/2014/main" val="2913454963"/>
                  </a:ext>
                </a:extLst>
              </a:tr>
              <a:tr h="57464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指数分布</a:t>
                      </a:r>
                    </a:p>
                  </a:txBody>
                  <a:tcPr marL="91461" marR="91461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1/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anose="05050102010706020507" pitchFamily="18" charset="2"/>
                        </a:rPr>
                        <a:t>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61" marR="91461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1/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anose="05050102010706020507" pitchFamily="18" charset="2"/>
                        </a:rPr>
                        <a:t></a:t>
                      </a:r>
                      <a:r>
                        <a:rPr lang="en-US" altLang="zh-CN" sz="2400" b="1" baseline="30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61" marR="91461" marT="45735" marB="45735"/>
                </a:tc>
                <a:extLst>
                  <a:ext uri="{0D108BD9-81ED-4DB2-BD59-A6C34878D82A}">
                    <a16:rowId xmlns:a16="http://schemas.microsoft.com/office/drawing/2014/main" val="495443104"/>
                  </a:ext>
                </a:extLst>
              </a:tr>
              <a:tr h="56677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正态分布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～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N(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anose="05050102010706020507" pitchFamily="18" charset="2"/>
                        </a:rPr>
                        <a:t>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anose="05050102010706020507" pitchFamily="18" charset="2"/>
                        </a:rPr>
                        <a:t></a:t>
                      </a:r>
                      <a:r>
                        <a:rPr lang="en-US" altLang="zh-CN" sz="2400" b="1" baseline="30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61" marR="91461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anose="05050102010706020507" pitchFamily="18" charset="2"/>
                        </a:rPr>
                        <a:t>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61" marR="91461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anose="05050102010706020507" pitchFamily="18" charset="2"/>
                        </a:rPr>
                        <a:t></a:t>
                      </a:r>
                      <a:r>
                        <a:rPr lang="en-US" altLang="zh-CN" sz="2400" b="1" baseline="30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61" marR="91461" marT="45735" marB="45735"/>
                </a:tc>
                <a:extLst>
                  <a:ext uri="{0D108BD9-81ED-4DB2-BD59-A6C34878D82A}">
                    <a16:rowId xmlns:a16="http://schemas.microsoft.com/office/drawing/2014/main" val="2566346483"/>
                  </a:ext>
                </a:extLst>
              </a:tr>
              <a:tr h="56677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anose="05050102010706020507" pitchFamily="18" charset="2"/>
                        </a:rPr>
                        <a:t>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分布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～</a:t>
                      </a:r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anose="05050102010706020507" pitchFamily="18" charset="2"/>
                        </a:rPr>
                        <a:t>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anose="05050102010706020507" pitchFamily="18" charset="2"/>
                        </a:rPr>
                        <a:t>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anose="05050102010706020507" pitchFamily="18" charset="2"/>
                        </a:rPr>
                        <a:t>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61" marR="91461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anose="05050102010706020507" pitchFamily="18" charset="2"/>
                        </a:rPr>
                        <a:t>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anose="05050102010706020507" pitchFamily="18" charset="2"/>
                        </a:rPr>
                        <a:t>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61" marR="91461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anose="05050102010706020507" pitchFamily="18" charset="2"/>
                        </a:rPr>
                        <a:t>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anose="05050102010706020507" pitchFamily="18" charset="2"/>
                        </a:rPr>
                        <a:t></a:t>
                      </a:r>
                      <a:r>
                        <a:rPr lang="en-US" altLang="zh-CN" sz="2400" b="1" baseline="30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61" marR="91461" marT="45735" marB="45735"/>
                </a:tc>
                <a:extLst>
                  <a:ext uri="{0D108BD9-81ED-4DB2-BD59-A6C34878D82A}">
                    <a16:rowId xmlns:a16="http://schemas.microsoft.com/office/drawing/2014/main" val="1293457362"/>
                  </a:ext>
                </a:extLst>
              </a:tr>
              <a:tr h="56677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anose="05050102010706020507" pitchFamily="18" charset="2"/>
                        </a:rPr>
                        <a:t></a:t>
                      </a:r>
                      <a:r>
                        <a:rPr lang="en-US" altLang="zh-CN" sz="2400" b="1" baseline="30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分布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～</a:t>
                      </a:r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anose="05050102010706020507" pitchFamily="18" charset="2"/>
                        </a:rPr>
                        <a:t></a:t>
                      </a:r>
                      <a:r>
                        <a:rPr lang="en-US" altLang="zh-CN" sz="2400" b="1" baseline="30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(n)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61" marR="91461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61" marR="91461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2n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61" marR="91461" marT="45735" marB="45735"/>
                </a:tc>
                <a:extLst>
                  <a:ext uri="{0D108BD9-81ED-4DB2-BD59-A6C34878D82A}">
                    <a16:rowId xmlns:a16="http://schemas.microsoft.com/office/drawing/2014/main" val="2087509772"/>
                  </a:ext>
                </a:extLst>
              </a:tr>
              <a:tr h="56677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爱尔朗分布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～</a:t>
                      </a:r>
                      <a:r>
                        <a:rPr lang="en-US" altLang="zh-CN" sz="2400" b="1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</a:t>
                      </a:r>
                      <a:r>
                        <a:rPr lang="en-US" altLang="zh-CN" sz="2400" b="1" baseline="-25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61" marR="91461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k/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anose="05050102010706020507" pitchFamily="18" charset="2"/>
                        </a:rPr>
                        <a:t>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61" marR="91461" marT="45735" marB="4573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k/</a:t>
                      </a: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anose="05050102010706020507" pitchFamily="18" charset="2"/>
                        </a:rPr>
                        <a:t></a:t>
                      </a:r>
                      <a:r>
                        <a:rPr lang="en-US" altLang="zh-CN" sz="2400" b="1" baseline="30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61" marR="91461" marT="45735" marB="45735"/>
                </a:tc>
                <a:extLst>
                  <a:ext uri="{0D108BD9-81ED-4DB2-BD59-A6C34878D82A}">
                    <a16:rowId xmlns:a16="http://schemas.microsoft.com/office/drawing/2014/main" val="1483841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7419037"/>
      </p:ext>
    </p:extLst>
  </p:cSld>
  <p:clrMapOvr>
    <a:masterClrMapping/>
  </p:clrMapOvr>
  <p:transition>
    <p:strips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（三）</a:t>
            </a:r>
            <a:r>
              <a:rPr lang="en-US" altLang="zh-CN" dirty="0"/>
              <a:t> k</a:t>
            </a:r>
            <a:r>
              <a:rPr lang="zh-CN" altLang="en-US" dirty="0"/>
              <a:t>阶矩</a:t>
            </a:r>
          </a:p>
        </p:txBody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391" y="1296194"/>
            <a:ext cx="10146984" cy="43434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设</a:t>
            </a:r>
            <a:r>
              <a:rPr lang="en-US" altLang="zh-CN" dirty="0"/>
              <a:t>R.V.X</a:t>
            </a:r>
            <a:r>
              <a:rPr lang="zh-CN" altLang="en-US" dirty="0"/>
              <a:t>有</a:t>
            </a:r>
            <a:r>
              <a:rPr lang="en-US" altLang="zh-CN" dirty="0"/>
              <a:t>E(|</a:t>
            </a:r>
            <a:r>
              <a:rPr lang="en-US" altLang="zh-CN" dirty="0" err="1"/>
              <a:t>X|</a:t>
            </a:r>
            <a:r>
              <a:rPr lang="en-US" altLang="zh-CN" baseline="30000" dirty="0" err="1"/>
              <a:t>k</a:t>
            </a:r>
            <a:r>
              <a:rPr lang="en-US" altLang="zh-CN" dirty="0"/>
              <a:t>)&lt;+</a:t>
            </a:r>
            <a:r>
              <a:rPr lang="en-US" altLang="zh-CN" dirty="0">
                <a:sym typeface="Symbol" panose="05050102010706020507" pitchFamily="18" charset="2"/>
              </a:rPr>
              <a:t>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/>
              <a:t>E[|X-E(X)|</a:t>
            </a:r>
            <a:r>
              <a:rPr lang="en-US" altLang="zh-CN" baseline="30000" dirty="0"/>
              <a:t>k</a:t>
            </a:r>
            <a:r>
              <a:rPr lang="en-US" altLang="zh-CN" dirty="0"/>
              <a:t>]&lt;+</a:t>
            </a:r>
            <a:r>
              <a:rPr lang="en-US" altLang="zh-CN" dirty="0">
                <a:sym typeface="Symbol" panose="05050102010706020507" pitchFamily="18" charset="2"/>
              </a:rPr>
              <a:t></a:t>
            </a:r>
            <a:r>
              <a:rPr lang="zh-CN" altLang="en-US" dirty="0">
                <a:sym typeface="Symbol" panose="05050102010706020507" pitchFamily="18" charset="2"/>
              </a:rPr>
              <a:t>，则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zh-CN" altLang="en-US" dirty="0"/>
              <a:t>称</a:t>
            </a:r>
            <a:r>
              <a:rPr lang="zh-CN" altLang="en-US" dirty="0">
                <a:sym typeface="Symbol" panose="05050102010706020507" pitchFamily="18" charset="2"/>
              </a:rPr>
              <a:t></a:t>
            </a:r>
            <a:r>
              <a:rPr lang="en-US" altLang="zh-CN" baseline="-25000" dirty="0">
                <a:sym typeface="Symbol" panose="05050102010706020507" pitchFamily="18" charset="2"/>
              </a:rPr>
              <a:t>k</a:t>
            </a:r>
            <a:r>
              <a:rPr lang="zh-CN" altLang="en-US" dirty="0">
                <a:sym typeface="Symbol" panose="05050102010706020507" pitchFamily="18" charset="2"/>
              </a:rPr>
              <a:t>＝</a:t>
            </a:r>
            <a:r>
              <a:rPr lang="en-US" altLang="zh-CN" dirty="0"/>
              <a:t>E(</a:t>
            </a:r>
            <a:r>
              <a:rPr lang="en-US" altLang="zh-CN" dirty="0" err="1"/>
              <a:t>X</a:t>
            </a:r>
            <a:r>
              <a:rPr lang="en-US" altLang="zh-CN" baseline="30000" dirty="0" err="1"/>
              <a:t>k</a:t>
            </a:r>
            <a:r>
              <a:rPr lang="en-US" altLang="zh-CN" dirty="0"/>
              <a:t>)</a:t>
            </a:r>
            <a:r>
              <a:rPr lang="zh-CN" altLang="en-US" dirty="0"/>
              <a:t>为</a:t>
            </a:r>
            <a:r>
              <a:rPr lang="en-US" altLang="zh-CN" dirty="0"/>
              <a:t>X</a:t>
            </a:r>
            <a:r>
              <a:rPr lang="zh-CN" altLang="en-US" dirty="0"/>
              <a:t>的</a:t>
            </a:r>
            <a:r>
              <a:rPr lang="en-US" altLang="zh-CN" dirty="0">
                <a:solidFill>
                  <a:srgbClr val="0000FF"/>
                </a:solidFill>
              </a:rPr>
              <a:t>k</a:t>
            </a:r>
            <a:r>
              <a:rPr lang="zh-CN" altLang="en-US" dirty="0">
                <a:solidFill>
                  <a:srgbClr val="0000FF"/>
                </a:solidFill>
              </a:rPr>
              <a:t>阶原点矩</a:t>
            </a:r>
            <a:r>
              <a:rPr lang="zh-CN" altLang="en-US" dirty="0"/>
              <a:t>；</a:t>
            </a:r>
            <a:endParaRPr lang="zh-CN" altLang="en-US" dirty="0">
              <a:sym typeface="Symbol" panose="05050102010706020507" pitchFamily="18" charset="2"/>
            </a:endParaRP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zh-CN" altLang="en-US" dirty="0"/>
              <a:t>称</a:t>
            </a:r>
            <a:r>
              <a:rPr lang="zh-CN" altLang="en-US" dirty="0"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sym typeface="Symbol" panose="05050102010706020507" pitchFamily="18" charset="2"/>
              </a:rPr>
              <a:t>k</a:t>
            </a:r>
            <a:r>
              <a:rPr lang="zh-CN" altLang="en-US" dirty="0">
                <a:sym typeface="Symbol" panose="05050102010706020507" pitchFamily="18" charset="2"/>
              </a:rPr>
              <a:t>＝</a:t>
            </a:r>
            <a:r>
              <a:rPr lang="en-US" altLang="zh-CN" dirty="0"/>
              <a:t>E(|</a:t>
            </a:r>
            <a:r>
              <a:rPr lang="en-US" altLang="zh-CN" dirty="0" err="1"/>
              <a:t>X|</a:t>
            </a:r>
            <a:r>
              <a:rPr lang="en-US" altLang="zh-CN" baseline="30000" dirty="0" err="1"/>
              <a:t>k</a:t>
            </a:r>
            <a:r>
              <a:rPr lang="en-US" altLang="zh-CN" dirty="0"/>
              <a:t>)</a:t>
            </a:r>
            <a:r>
              <a:rPr lang="zh-CN" altLang="en-US" dirty="0"/>
              <a:t>为</a:t>
            </a:r>
            <a:r>
              <a:rPr lang="en-US" altLang="zh-CN" dirty="0"/>
              <a:t>X</a:t>
            </a:r>
            <a:r>
              <a:rPr lang="zh-CN" altLang="en-US" dirty="0"/>
              <a:t>的</a:t>
            </a:r>
            <a:r>
              <a:rPr lang="en-US" altLang="zh-CN" dirty="0">
                <a:solidFill>
                  <a:srgbClr val="0000FF"/>
                </a:solidFill>
              </a:rPr>
              <a:t>k</a:t>
            </a:r>
            <a:r>
              <a:rPr lang="zh-CN" altLang="en-US" dirty="0">
                <a:solidFill>
                  <a:srgbClr val="0000FF"/>
                </a:solidFill>
              </a:rPr>
              <a:t>阶绝对矩</a:t>
            </a:r>
            <a:r>
              <a:rPr lang="zh-CN" altLang="en-US" dirty="0"/>
              <a:t>；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zh-CN" altLang="en-US" dirty="0"/>
              <a:t>称</a:t>
            </a:r>
            <a:r>
              <a:rPr lang="zh-CN" altLang="en-US" dirty="0">
                <a:sym typeface="Symbol" panose="05050102010706020507" pitchFamily="18" charset="2"/>
              </a:rPr>
              <a:t></a:t>
            </a:r>
            <a:r>
              <a:rPr lang="en-US" altLang="zh-CN" baseline="-25000" dirty="0">
                <a:sym typeface="Symbol" panose="05050102010706020507" pitchFamily="18" charset="2"/>
              </a:rPr>
              <a:t>k</a:t>
            </a:r>
            <a:r>
              <a:rPr lang="zh-CN" altLang="en-US" dirty="0">
                <a:sym typeface="Symbol" panose="05050102010706020507" pitchFamily="18" charset="2"/>
              </a:rPr>
              <a:t>＝</a:t>
            </a:r>
            <a:r>
              <a:rPr lang="en-US" altLang="zh-CN" dirty="0"/>
              <a:t>E[X-E(X)]</a:t>
            </a:r>
            <a:r>
              <a:rPr lang="en-US" altLang="zh-CN" baseline="30000" dirty="0"/>
              <a:t>k</a:t>
            </a:r>
            <a:r>
              <a:rPr lang="zh-CN" altLang="en-US" dirty="0"/>
              <a:t>为</a:t>
            </a:r>
            <a:r>
              <a:rPr lang="en-US" altLang="zh-CN" dirty="0"/>
              <a:t>X</a:t>
            </a:r>
            <a:r>
              <a:rPr lang="zh-CN" altLang="en-US" dirty="0"/>
              <a:t>的</a:t>
            </a:r>
            <a:r>
              <a:rPr lang="en-US" altLang="zh-CN" dirty="0">
                <a:solidFill>
                  <a:srgbClr val="0000FF"/>
                </a:solidFill>
              </a:rPr>
              <a:t>k</a:t>
            </a:r>
            <a:r>
              <a:rPr lang="zh-CN" altLang="en-US" dirty="0">
                <a:solidFill>
                  <a:srgbClr val="0000FF"/>
                </a:solidFill>
              </a:rPr>
              <a:t>阶中心矩</a:t>
            </a:r>
            <a:r>
              <a:rPr lang="zh-CN" altLang="en-US" dirty="0"/>
              <a:t>；</a:t>
            </a:r>
            <a:endParaRPr lang="zh-CN" altLang="en-US" dirty="0">
              <a:sym typeface="Symbol" panose="05050102010706020507" pitchFamily="18" charset="2"/>
            </a:endParaRP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zh-CN" altLang="en-US" dirty="0"/>
              <a:t>称</a:t>
            </a:r>
            <a:r>
              <a:rPr lang="zh-CN" altLang="en-US" dirty="0"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sym typeface="Symbol" panose="05050102010706020507" pitchFamily="18" charset="2"/>
              </a:rPr>
              <a:t>k</a:t>
            </a:r>
            <a:r>
              <a:rPr lang="zh-CN" altLang="en-US" dirty="0">
                <a:sym typeface="Symbol" panose="05050102010706020507" pitchFamily="18" charset="2"/>
              </a:rPr>
              <a:t>＝</a:t>
            </a:r>
            <a:r>
              <a:rPr lang="en-US" altLang="zh-CN" dirty="0"/>
              <a:t>E[|X-E(X)|</a:t>
            </a:r>
            <a:r>
              <a:rPr lang="en-US" altLang="zh-CN" baseline="30000" dirty="0"/>
              <a:t>k</a:t>
            </a:r>
            <a:r>
              <a:rPr lang="en-US" altLang="zh-CN" dirty="0"/>
              <a:t>]</a:t>
            </a:r>
            <a:r>
              <a:rPr lang="zh-CN" altLang="en-US" dirty="0"/>
              <a:t>为</a:t>
            </a:r>
            <a:r>
              <a:rPr lang="en-US" altLang="zh-CN" dirty="0"/>
              <a:t>X</a:t>
            </a:r>
            <a:r>
              <a:rPr lang="zh-CN" altLang="en-US" dirty="0"/>
              <a:t>的</a:t>
            </a:r>
            <a:r>
              <a:rPr lang="en-US" altLang="zh-CN" dirty="0">
                <a:solidFill>
                  <a:srgbClr val="0000FF"/>
                </a:solidFill>
              </a:rPr>
              <a:t>k</a:t>
            </a:r>
            <a:r>
              <a:rPr lang="zh-CN" altLang="en-US" dirty="0">
                <a:solidFill>
                  <a:srgbClr val="0000FF"/>
                </a:solidFill>
              </a:rPr>
              <a:t>阶绝对中心矩</a:t>
            </a:r>
            <a:r>
              <a:rPr lang="zh-CN" altLang="en-US" dirty="0"/>
              <a:t>。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F3ADA96-EEF7-4AFC-AECF-8D3A2D681231}"/>
              </a:ext>
            </a:extLst>
          </p:cNvPr>
          <p:cNvSpPr txBox="1">
            <a:spLocks noChangeArrowheads="1"/>
          </p:cNvSpPr>
          <p:nvPr/>
        </p:nvSpPr>
        <p:spPr>
          <a:xfrm>
            <a:off x="360587" y="4835129"/>
            <a:ext cx="11221693" cy="1456530"/>
          </a:xfrm>
          <a:prstGeom prst="rect">
            <a:avLst/>
          </a:prstGeom>
        </p:spPr>
        <p:txBody>
          <a:bodyPr vert="horz" lIns="121917" tIns="60958" rIns="121917" bIns="60958" rtlCol="0">
            <a:normAutofit fontScale="92500"/>
          </a:bodyPr>
          <a:lstStyle>
            <a:lvl1pPr marL="457200" indent="-4572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l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»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C00000"/>
                </a:solidFill>
              </a:rPr>
              <a:t>注：</a:t>
            </a:r>
            <a:r>
              <a:rPr lang="en-US" altLang="zh-CN" dirty="0"/>
              <a:t>K </a:t>
            </a:r>
            <a:r>
              <a:rPr lang="zh-CN" altLang="en-US" dirty="0"/>
              <a:t>阶矩表示的是整个随机变量分布</a:t>
            </a:r>
            <a:r>
              <a:rPr lang="en-US" altLang="zh-CN" dirty="0"/>
              <a:t>k</a:t>
            </a:r>
            <a:r>
              <a:rPr lang="zh-CN" altLang="en-US" dirty="0"/>
              <a:t>次幂的期望。一般地，</a:t>
            </a:r>
            <a:r>
              <a:rPr lang="en-US" altLang="zh-CN" dirty="0"/>
              <a:t>K</a:t>
            </a:r>
            <a:r>
              <a:rPr lang="zh-CN" altLang="en-US" dirty="0"/>
              <a:t>阶矩越高，代表随机</a:t>
            </a:r>
            <a:endParaRPr lang="en-US" altLang="zh-CN" dirty="0"/>
          </a:p>
          <a:p>
            <a:pPr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变量分布的尾部越重，也就是随机变量的极端值出现的概率越大。</a:t>
            </a:r>
          </a:p>
        </p:txBody>
      </p:sp>
    </p:spTree>
    <p:extLst>
      <p:ext uri="{BB962C8B-B14F-4D97-AF65-F5344CB8AC3E}">
        <p14:creationId xmlns:p14="http://schemas.microsoft.com/office/powerpoint/2010/main" val="2120937792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3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3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3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3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3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3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3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3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3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3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11" grpId="0" build="p"/>
      <p:bldP spid="5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（四）协方差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3775" y="1219994"/>
            <a:ext cx="7013611" cy="2394504"/>
          </a:xfrm>
        </p:spPr>
        <p:txBody>
          <a:bodyPr/>
          <a:lstStyle/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若</a:t>
            </a:r>
            <a:r>
              <a:rPr lang="en-US" altLang="zh-CN" dirty="0"/>
              <a:t>E{[X-E(X)][Y-E(Y)]}</a:t>
            </a:r>
            <a:r>
              <a:rPr lang="zh-CN" altLang="en-US" dirty="0"/>
              <a:t>，称</a:t>
            </a:r>
          </a:p>
          <a:p>
            <a:pPr algn="ctr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dirty="0" err="1"/>
              <a:t>cov</a:t>
            </a:r>
            <a:r>
              <a:rPr lang="en-US" altLang="zh-CN" dirty="0"/>
              <a:t>(X, Y)</a:t>
            </a:r>
            <a:r>
              <a:rPr lang="zh-CN" altLang="en-US" dirty="0"/>
              <a:t>＝</a:t>
            </a:r>
            <a:r>
              <a:rPr lang="en-US" altLang="zh-CN" dirty="0"/>
              <a:t>E{[X-E(X)][Y-E(Y)]}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				</a:t>
            </a:r>
            <a:r>
              <a:rPr lang="zh-CN" altLang="en-US" dirty="0"/>
              <a:t>＝</a:t>
            </a:r>
            <a:r>
              <a:rPr lang="en-US" altLang="zh-CN" dirty="0"/>
              <a:t>E(XY)-E(X)E(Y)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为随机变量</a:t>
            </a:r>
            <a:r>
              <a:rPr lang="en-US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00FF"/>
                </a:solidFill>
              </a:rPr>
              <a:t>协方差</a:t>
            </a:r>
            <a:r>
              <a:rPr lang="zh-CN" altLang="en-US" dirty="0"/>
              <a:t>，称</a:t>
            </a:r>
          </a:p>
        </p:txBody>
      </p:sp>
      <p:graphicFrame>
        <p:nvGraphicFramePr>
          <p:cNvPr id="20485" name="Object 4"/>
          <p:cNvGraphicFramePr>
            <a:graphicFrameLocks noChangeAspect="1"/>
          </p:cNvGraphicFramePr>
          <p:nvPr/>
        </p:nvGraphicFramePr>
        <p:xfrm>
          <a:off x="2670563" y="3698655"/>
          <a:ext cx="2743835" cy="9225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58900" imgH="457200" progId="Equation.3">
                  <p:embed/>
                </p:oleObj>
              </mc:Choice>
              <mc:Fallback>
                <p:oleObj name="Equation" r:id="rId2" imgW="1358900" imgH="457200" progId="Equation.3">
                  <p:embed/>
                  <p:pic>
                    <p:nvPicPr>
                      <p:cNvPr id="2048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0563" y="3698655"/>
                        <a:ext cx="2743835" cy="9225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6" name="Rectangle 5"/>
          <p:cNvSpPr>
            <a:spLocks noChangeArrowheads="1"/>
          </p:cNvSpPr>
          <p:nvPr/>
        </p:nvSpPr>
        <p:spPr bwMode="auto">
          <a:xfrm>
            <a:off x="993775" y="4619618"/>
            <a:ext cx="7164458" cy="1582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buClrTx/>
              <a:buFontTx/>
              <a:buNone/>
            </a:pPr>
            <a:r>
              <a:rPr lang="zh-CN" altLang="en-US" sz="2400" dirty="0">
                <a:latin typeface="+mj-ea"/>
                <a:ea typeface="+mj-ea"/>
              </a:rPr>
              <a:t>为随机变量</a:t>
            </a:r>
            <a:r>
              <a:rPr lang="en-US" altLang="zh-CN" sz="2400" dirty="0">
                <a:latin typeface="+mj-ea"/>
                <a:ea typeface="+mj-ea"/>
              </a:rPr>
              <a:t>X</a:t>
            </a:r>
            <a:r>
              <a:rPr lang="zh-CN" altLang="en-US" sz="2400" dirty="0">
                <a:latin typeface="+mj-ea"/>
                <a:ea typeface="+mj-ea"/>
              </a:rPr>
              <a:t>和</a:t>
            </a:r>
            <a:r>
              <a:rPr lang="en-US" altLang="zh-CN" sz="2400" dirty="0">
                <a:latin typeface="+mj-ea"/>
                <a:ea typeface="+mj-ea"/>
              </a:rPr>
              <a:t>Y</a:t>
            </a:r>
            <a:r>
              <a:rPr lang="zh-CN" altLang="en-US" sz="2400" dirty="0">
                <a:latin typeface="+mj-ea"/>
                <a:ea typeface="+mj-ea"/>
              </a:rPr>
              <a:t>的</a:t>
            </a:r>
            <a:r>
              <a:rPr lang="zh-CN" altLang="en-US" sz="2400" dirty="0">
                <a:solidFill>
                  <a:srgbClr val="0000FF"/>
                </a:solidFill>
                <a:latin typeface="+mj-ea"/>
                <a:ea typeface="+mj-ea"/>
              </a:rPr>
              <a:t>相关系数</a:t>
            </a:r>
            <a:r>
              <a:rPr lang="zh-CN" altLang="en-US" sz="2400" dirty="0">
                <a:latin typeface="+mj-ea"/>
                <a:ea typeface="+mj-ea"/>
              </a:rPr>
              <a:t>，称</a:t>
            </a:r>
          </a:p>
          <a:p>
            <a:pPr algn="ctr" eaLnBrk="1" hangingPunct="1">
              <a:lnSpc>
                <a:spcPct val="140000"/>
              </a:lnSpc>
              <a:buClrTx/>
              <a:buFontTx/>
              <a:buNone/>
            </a:pPr>
            <a:r>
              <a:rPr lang="zh-CN" altLang="en-US" sz="2400" dirty="0">
                <a:latin typeface="+mj-ea"/>
                <a:ea typeface="+mj-ea"/>
                <a:sym typeface="Symbol" panose="05050102010706020507" pitchFamily="18" charset="2"/>
              </a:rPr>
              <a:t></a:t>
            </a:r>
            <a:r>
              <a:rPr lang="en-US" altLang="zh-CN" sz="2400" baseline="-25000" dirty="0">
                <a:latin typeface="+mj-ea"/>
                <a:ea typeface="+mj-ea"/>
              </a:rPr>
              <a:t>XY</a:t>
            </a:r>
            <a:r>
              <a:rPr lang="zh-CN" altLang="en-US" sz="2400" dirty="0">
                <a:latin typeface="+mj-ea"/>
                <a:ea typeface="+mj-ea"/>
              </a:rPr>
              <a:t>＝</a:t>
            </a:r>
            <a:r>
              <a:rPr lang="en-US" altLang="zh-CN" sz="2400" dirty="0">
                <a:latin typeface="+mj-ea"/>
                <a:ea typeface="+mj-ea"/>
              </a:rPr>
              <a:t>0</a:t>
            </a:r>
          </a:p>
          <a:p>
            <a:pPr eaLnBrk="1" hangingPunct="1">
              <a:lnSpc>
                <a:spcPct val="140000"/>
              </a:lnSpc>
              <a:buClrTx/>
              <a:buFontTx/>
              <a:buNone/>
            </a:pPr>
            <a:r>
              <a:rPr lang="zh-CN" altLang="en-US" sz="2400" dirty="0">
                <a:latin typeface="+mj-ea"/>
                <a:ea typeface="+mj-ea"/>
              </a:rPr>
              <a:t>为随机变量</a:t>
            </a:r>
            <a:r>
              <a:rPr lang="en-US" altLang="zh-CN" sz="2400" dirty="0">
                <a:latin typeface="+mj-ea"/>
                <a:ea typeface="+mj-ea"/>
              </a:rPr>
              <a:t>X</a:t>
            </a:r>
            <a:r>
              <a:rPr lang="zh-CN" altLang="en-US" sz="2400" dirty="0">
                <a:latin typeface="+mj-ea"/>
                <a:ea typeface="+mj-ea"/>
              </a:rPr>
              <a:t>和</a:t>
            </a:r>
            <a:r>
              <a:rPr lang="en-US" altLang="zh-CN" sz="2400" dirty="0">
                <a:latin typeface="+mj-ea"/>
                <a:ea typeface="+mj-ea"/>
              </a:rPr>
              <a:t>Y</a:t>
            </a:r>
            <a:r>
              <a:rPr lang="zh-CN" altLang="en-US" sz="2400" dirty="0">
                <a:solidFill>
                  <a:srgbClr val="0000FF"/>
                </a:solidFill>
                <a:latin typeface="+mj-ea"/>
                <a:ea typeface="+mj-ea"/>
              </a:rPr>
              <a:t>不相关</a:t>
            </a:r>
            <a:r>
              <a:rPr lang="zh-CN" altLang="en-US" sz="2400" dirty="0">
                <a:latin typeface="+mj-ea"/>
                <a:ea typeface="+mj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156683916"/>
      </p:ext>
    </p:extLst>
  </p:cSld>
  <p:clrMapOvr>
    <a:masterClrMapping/>
  </p:clrMapOvr>
  <p:transition>
    <p:strips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协方差矩阵</a:t>
            </a:r>
          </a:p>
        </p:txBody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4700" y="1161567"/>
            <a:ext cx="7469329" cy="192449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设</a:t>
            </a:r>
            <a:r>
              <a:rPr lang="en-US" altLang="zh-CN" dirty="0"/>
              <a:t>n</a:t>
            </a:r>
            <a:r>
              <a:rPr lang="zh-CN" altLang="en-US" dirty="0"/>
              <a:t>维</a:t>
            </a:r>
            <a:r>
              <a:rPr lang="en-US" altLang="zh-CN" dirty="0"/>
              <a:t>R.V.(X</a:t>
            </a:r>
            <a:r>
              <a:rPr lang="en-US" altLang="zh-CN" baseline="-25000" dirty="0"/>
              <a:t>1</a:t>
            </a:r>
            <a:r>
              <a:rPr lang="en-US" altLang="zh-CN" dirty="0"/>
              <a:t>, X</a:t>
            </a:r>
            <a:r>
              <a:rPr lang="en-US" altLang="zh-CN" baseline="-25000" dirty="0"/>
              <a:t>2</a:t>
            </a:r>
            <a:r>
              <a:rPr lang="en-US" altLang="zh-CN" dirty="0"/>
              <a:t>, …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n</a:t>
            </a:r>
            <a:r>
              <a:rPr lang="en-US" altLang="zh-CN" dirty="0"/>
              <a:t>)</a:t>
            </a:r>
            <a:r>
              <a:rPr lang="zh-CN" altLang="en-US" dirty="0"/>
              <a:t>，若</a:t>
            </a:r>
          </a:p>
          <a:p>
            <a:pPr algn="ctr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 err="1"/>
              <a:t>c</a:t>
            </a:r>
            <a:r>
              <a:rPr lang="en-US" altLang="zh-CN" baseline="-25000" dirty="0" err="1"/>
              <a:t>ij</a:t>
            </a:r>
            <a:r>
              <a:rPr lang="zh-CN" altLang="en-US" dirty="0"/>
              <a:t>＝</a:t>
            </a:r>
            <a:r>
              <a:rPr lang="en-US" altLang="zh-CN" dirty="0" err="1"/>
              <a:t>cov</a:t>
            </a:r>
            <a:r>
              <a:rPr lang="en-US" altLang="zh-CN" dirty="0"/>
              <a:t>(X</a:t>
            </a:r>
            <a:r>
              <a:rPr lang="en-US" altLang="zh-CN" baseline="-25000" dirty="0"/>
              <a:t>i</a:t>
            </a:r>
            <a:r>
              <a:rPr lang="en-US" altLang="zh-CN" dirty="0"/>
              <a:t>, 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j</a:t>
            </a:r>
            <a:r>
              <a:rPr lang="en-US" altLang="zh-CN" dirty="0"/>
              <a:t>)</a:t>
            </a:r>
            <a:r>
              <a:rPr lang="zh-CN" altLang="en-US" dirty="0"/>
              <a:t>＝</a:t>
            </a:r>
            <a:r>
              <a:rPr lang="en-US" altLang="zh-CN" dirty="0"/>
              <a:t>E{[X</a:t>
            </a:r>
            <a:r>
              <a:rPr lang="en-US" altLang="zh-CN" baseline="-25000" dirty="0"/>
              <a:t>i</a:t>
            </a:r>
            <a:r>
              <a:rPr lang="en-US" altLang="zh-CN" dirty="0"/>
              <a:t>-E(X</a:t>
            </a:r>
            <a:r>
              <a:rPr lang="en-US" altLang="zh-CN" baseline="-25000" dirty="0"/>
              <a:t>i</a:t>
            </a:r>
            <a:r>
              <a:rPr lang="en-US" altLang="zh-CN" dirty="0"/>
              <a:t>)][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j</a:t>
            </a:r>
            <a:r>
              <a:rPr lang="en-US" altLang="zh-CN" dirty="0"/>
              <a:t>-E(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j</a:t>
            </a:r>
            <a:r>
              <a:rPr lang="en-US" altLang="zh-CN" dirty="0"/>
              <a:t>)]}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 err="1"/>
              <a:t>i</a:t>
            </a:r>
            <a:r>
              <a:rPr lang="en-US" altLang="zh-CN" dirty="0"/>
              <a:t>, j</a:t>
            </a:r>
            <a:r>
              <a:rPr lang="zh-CN" altLang="en-US" dirty="0"/>
              <a:t>＝</a:t>
            </a:r>
            <a:r>
              <a:rPr lang="en-US" altLang="zh-CN" dirty="0"/>
              <a:t>1, 2, …, n</a:t>
            </a:r>
            <a:r>
              <a:rPr lang="zh-CN" altLang="en-US" dirty="0"/>
              <a:t>存在，则称</a:t>
            </a:r>
          </a:p>
        </p:txBody>
      </p:sp>
      <p:sp>
        <p:nvSpPr>
          <p:cNvPr id="399364" name="Rectangle 4"/>
          <p:cNvSpPr>
            <a:spLocks noChangeArrowheads="1"/>
          </p:cNvSpPr>
          <p:nvPr/>
        </p:nvSpPr>
        <p:spPr bwMode="auto">
          <a:xfrm>
            <a:off x="927135" y="5563135"/>
            <a:ext cx="7164458" cy="56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zh-CN" altLang="en-US" sz="2801" dirty="0"/>
              <a:t>为</a:t>
            </a:r>
            <a:r>
              <a:rPr lang="en-US" altLang="zh-CN" sz="2801" dirty="0"/>
              <a:t>n</a:t>
            </a:r>
            <a:r>
              <a:rPr lang="zh-CN" altLang="en-US" sz="2801" dirty="0"/>
              <a:t>维随机变量</a:t>
            </a:r>
            <a:r>
              <a:rPr lang="en-US" altLang="zh-CN" sz="2801" dirty="0"/>
              <a:t>(X</a:t>
            </a:r>
            <a:r>
              <a:rPr lang="en-US" altLang="zh-CN" sz="2801" baseline="-25000" dirty="0"/>
              <a:t>1</a:t>
            </a:r>
            <a:r>
              <a:rPr lang="en-US" altLang="zh-CN" sz="2801" dirty="0"/>
              <a:t>, X</a:t>
            </a:r>
            <a:r>
              <a:rPr lang="en-US" altLang="zh-CN" sz="2801" baseline="-25000" dirty="0"/>
              <a:t>2</a:t>
            </a:r>
            <a:r>
              <a:rPr lang="en-US" altLang="zh-CN" sz="2801" dirty="0"/>
              <a:t>, …, </a:t>
            </a:r>
            <a:r>
              <a:rPr lang="en-US" altLang="zh-CN" sz="2801" dirty="0" err="1"/>
              <a:t>X</a:t>
            </a:r>
            <a:r>
              <a:rPr lang="en-US" altLang="zh-CN" sz="2801" baseline="-25000" dirty="0" err="1"/>
              <a:t>n</a:t>
            </a:r>
            <a:r>
              <a:rPr lang="en-US" altLang="zh-CN" sz="2801" dirty="0"/>
              <a:t>)</a:t>
            </a:r>
            <a:r>
              <a:rPr lang="zh-CN" altLang="en-US" sz="2801" dirty="0"/>
              <a:t>的</a:t>
            </a:r>
            <a:r>
              <a:rPr lang="zh-CN" altLang="en-US" sz="2801" dirty="0">
                <a:solidFill>
                  <a:srgbClr val="0000FF"/>
                </a:solidFill>
              </a:rPr>
              <a:t>协方差矩阵</a:t>
            </a:r>
            <a:r>
              <a:rPr lang="zh-CN" altLang="en-US" sz="2801" dirty="0"/>
              <a:t>。</a:t>
            </a:r>
          </a:p>
        </p:txBody>
      </p:sp>
      <p:graphicFrame>
        <p:nvGraphicFramePr>
          <p:cNvPr id="399365" name="Object 5"/>
          <p:cNvGraphicFramePr>
            <a:graphicFrameLocks noChangeAspect="1"/>
          </p:cNvGraphicFramePr>
          <p:nvPr/>
        </p:nvGraphicFramePr>
        <p:xfrm>
          <a:off x="1765530" y="3224206"/>
          <a:ext cx="4698500" cy="2029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46300" imgH="927100" progId="Equation.3">
                  <p:embed/>
                </p:oleObj>
              </mc:Choice>
              <mc:Fallback>
                <p:oleObj name="Equation" r:id="rId2" imgW="2146300" imgH="927100" progId="Equation.3">
                  <p:embed/>
                  <p:pic>
                    <p:nvPicPr>
                      <p:cNvPr id="39936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5530" y="3224206"/>
                        <a:ext cx="4698500" cy="20292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2441962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9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9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99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99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99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99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99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99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63" grpId="0" build="p"/>
      <p:bldP spid="39936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协方差矩阵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917" y="989208"/>
            <a:ext cx="7013611" cy="743668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0000FF"/>
                </a:solidFill>
              </a:rPr>
              <a:t>协方差矩阵中元素满足：</a:t>
            </a:r>
            <a:endParaRPr lang="zh-CN" altLang="en-US"/>
          </a:p>
        </p:txBody>
      </p:sp>
      <p:sp>
        <p:nvSpPr>
          <p:cNvPr id="22533" name="Rectangle 4"/>
          <p:cNvSpPr>
            <a:spLocks noChangeArrowheads="1"/>
          </p:cNvSpPr>
          <p:nvPr/>
        </p:nvSpPr>
        <p:spPr bwMode="auto">
          <a:xfrm>
            <a:off x="1524528" y="1872607"/>
            <a:ext cx="5182799" cy="1329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80000"/>
              </a:lnSpc>
              <a:buClr>
                <a:srgbClr val="CC00CC"/>
              </a:buClr>
              <a:buFontTx/>
              <a:buAutoNum type="arabicParenR"/>
            </a:pPr>
            <a:r>
              <a:rPr lang="en-US" altLang="zh-CN" sz="2400" dirty="0">
                <a:sym typeface="Wingdings" panose="05000000000000000000" pitchFamily="2" charset="2"/>
              </a:rPr>
              <a:t>c</a:t>
            </a:r>
            <a:r>
              <a:rPr lang="en-US" altLang="zh-CN" sz="2400" baseline="-25000" dirty="0">
                <a:sym typeface="Wingdings" panose="05000000000000000000" pitchFamily="2" charset="2"/>
              </a:rPr>
              <a:t>ii</a:t>
            </a:r>
            <a:r>
              <a:rPr lang="zh-CN" altLang="en-US" sz="2400" dirty="0">
                <a:sym typeface="Wingdings" panose="05000000000000000000" pitchFamily="2" charset="2"/>
              </a:rPr>
              <a:t>＝</a:t>
            </a:r>
            <a:r>
              <a:rPr lang="en-US" altLang="zh-CN" sz="2400" dirty="0">
                <a:sym typeface="Wingdings" panose="05000000000000000000" pitchFamily="2" charset="2"/>
              </a:rPr>
              <a:t>D(X</a:t>
            </a:r>
            <a:r>
              <a:rPr lang="en-US" altLang="zh-CN" sz="2400" baseline="-25000" dirty="0">
                <a:sym typeface="Wingdings" panose="05000000000000000000" pitchFamily="2" charset="2"/>
              </a:rPr>
              <a:t>i</a:t>
            </a:r>
            <a:r>
              <a:rPr lang="en-US" altLang="zh-CN" sz="2400" dirty="0">
                <a:sym typeface="Wingdings" panose="05000000000000000000" pitchFamily="2" charset="2"/>
              </a:rPr>
              <a:t>)</a:t>
            </a:r>
            <a:r>
              <a:rPr lang="zh-CN" altLang="en-US" sz="2400" dirty="0">
                <a:sym typeface="Wingdings" panose="05000000000000000000" pitchFamily="2" charset="2"/>
              </a:rPr>
              <a:t>，</a:t>
            </a:r>
            <a:r>
              <a:rPr lang="en-US" altLang="zh-CN" sz="2400" dirty="0" err="1">
                <a:sym typeface="Wingdings" panose="05000000000000000000" pitchFamily="2" charset="2"/>
              </a:rPr>
              <a:t>i</a:t>
            </a:r>
            <a:r>
              <a:rPr lang="en-US" altLang="zh-CN" sz="2400" dirty="0">
                <a:sym typeface="Wingdings" panose="05000000000000000000" pitchFamily="2" charset="2"/>
              </a:rPr>
              <a:t>=1, 2, …, n</a:t>
            </a:r>
            <a:r>
              <a:rPr lang="zh-CN" altLang="en-US" sz="2400" dirty="0">
                <a:sym typeface="Wingdings" panose="05000000000000000000" pitchFamily="2" charset="2"/>
              </a:rPr>
              <a:t>；</a:t>
            </a:r>
          </a:p>
          <a:p>
            <a:pPr eaLnBrk="1" hangingPunct="1">
              <a:lnSpc>
                <a:spcPct val="180000"/>
              </a:lnSpc>
              <a:buClr>
                <a:srgbClr val="CC00CC"/>
              </a:buClr>
              <a:buFontTx/>
              <a:buAutoNum type="arabicParenR"/>
            </a:pPr>
            <a:r>
              <a:rPr lang="en-US" altLang="zh-CN" sz="2400" dirty="0" err="1">
                <a:sym typeface="Wingdings" panose="05000000000000000000" pitchFamily="2" charset="2"/>
              </a:rPr>
              <a:t>c</a:t>
            </a:r>
            <a:r>
              <a:rPr lang="en-US" altLang="zh-CN" sz="2400" baseline="-25000" dirty="0" err="1">
                <a:sym typeface="Wingdings" panose="05000000000000000000" pitchFamily="2" charset="2"/>
              </a:rPr>
              <a:t>ij</a:t>
            </a:r>
            <a:r>
              <a:rPr lang="zh-CN" altLang="en-US" sz="2400" dirty="0">
                <a:sym typeface="Wingdings" panose="05000000000000000000" pitchFamily="2" charset="2"/>
              </a:rPr>
              <a:t>＝</a:t>
            </a:r>
            <a:r>
              <a:rPr lang="en-US" altLang="zh-CN" sz="2400" dirty="0" err="1">
                <a:sym typeface="Wingdings" panose="05000000000000000000" pitchFamily="2" charset="2"/>
              </a:rPr>
              <a:t>c</a:t>
            </a:r>
            <a:r>
              <a:rPr lang="en-US" altLang="zh-CN" sz="2400" baseline="-25000" dirty="0" err="1">
                <a:sym typeface="Wingdings" panose="05000000000000000000" pitchFamily="2" charset="2"/>
              </a:rPr>
              <a:t>ji</a:t>
            </a:r>
            <a:r>
              <a:rPr lang="zh-CN" altLang="en-US" sz="2400" dirty="0">
                <a:sym typeface="Wingdings" panose="05000000000000000000" pitchFamily="2" charset="2"/>
              </a:rPr>
              <a:t>，</a:t>
            </a:r>
            <a:r>
              <a:rPr lang="en-US" altLang="zh-CN" sz="2400" dirty="0" err="1">
                <a:sym typeface="Wingdings" panose="05000000000000000000" pitchFamily="2" charset="2"/>
              </a:rPr>
              <a:t>i</a:t>
            </a:r>
            <a:r>
              <a:rPr lang="en-US" altLang="zh-CN" sz="2400" dirty="0">
                <a:sym typeface="Wingdings" panose="05000000000000000000" pitchFamily="2" charset="2"/>
              </a:rPr>
              <a:t>, j=1, 2, …, n</a:t>
            </a:r>
            <a:r>
              <a:rPr lang="zh-CN" altLang="en-US" sz="2400" dirty="0"/>
              <a:t>。</a:t>
            </a:r>
          </a:p>
        </p:txBody>
      </p:sp>
      <p:sp>
        <p:nvSpPr>
          <p:cNvPr id="22534" name="Rectangle 5"/>
          <p:cNvSpPr>
            <a:spLocks noChangeArrowheads="1"/>
          </p:cNvSpPr>
          <p:nvPr/>
        </p:nvSpPr>
        <p:spPr bwMode="auto">
          <a:xfrm>
            <a:off x="686134" y="3463651"/>
            <a:ext cx="64022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故协方差矩阵是对称矩阵。</a:t>
            </a:r>
          </a:p>
        </p:txBody>
      </p:sp>
      <p:graphicFrame>
        <p:nvGraphicFramePr>
          <p:cNvPr id="400390" name="Object 6"/>
          <p:cNvGraphicFramePr>
            <a:graphicFrameLocks noChangeAspect="1"/>
          </p:cNvGraphicFramePr>
          <p:nvPr/>
        </p:nvGraphicFramePr>
        <p:xfrm>
          <a:off x="2220014" y="4945132"/>
          <a:ext cx="4115753" cy="1057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28800" imgH="469900" progId="Equation.3">
                  <p:embed/>
                </p:oleObj>
              </mc:Choice>
              <mc:Fallback>
                <p:oleObj name="Equation" r:id="rId2" imgW="1828800" imgH="469900" progId="Equation.3">
                  <p:embed/>
                  <p:pic>
                    <p:nvPicPr>
                      <p:cNvPr id="40039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0014" y="4945132"/>
                        <a:ext cx="4115753" cy="10575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0391" name="Rectangle 7"/>
          <p:cNvSpPr>
            <a:spLocks noChangeArrowheads="1"/>
          </p:cNvSpPr>
          <p:nvPr/>
        </p:nvSpPr>
        <p:spPr bwMode="auto">
          <a:xfrm>
            <a:off x="686134" y="4140083"/>
            <a:ext cx="65467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特别地，二维随机变量</a:t>
            </a:r>
            <a:r>
              <a:rPr lang="en-US" altLang="zh-CN" sz="2400" dirty="0">
                <a:latin typeface="+mn-ea"/>
                <a:ea typeface="+mn-ea"/>
              </a:rPr>
              <a:t>(X, Y)</a:t>
            </a:r>
            <a:r>
              <a:rPr lang="zh-CN" altLang="en-US" sz="2400" dirty="0">
                <a:latin typeface="+mn-ea"/>
                <a:ea typeface="+mn-ea"/>
              </a:rPr>
              <a:t>的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协方差矩阵</a:t>
            </a:r>
            <a:r>
              <a:rPr lang="zh-CN" altLang="en-US" sz="2400" dirty="0">
                <a:latin typeface="+mn-ea"/>
                <a:ea typeface="+mn-ea"/>
              </a:rPr>
              <a:t>为：</a:t>
            </a:r>
          </a:p>
        </p:txBody>
      </p:sp>
    </p:spTree>
    <p:extLst>
      <p:ext uri="{BB962C8B-B14F-4D97-AF65-F5344CB8AC3E}">
        <p14:creationId xmlns:p14="http://schemas.microsoft.com/office/powerpoint/2010/main" val="1855066768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0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0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0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0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91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（五）随机变量数字特征的性质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9775" y="1055358"/>
            <a:ext cx="10506075" cy="1348099"/>
          </a:xfrm>
        </p:spPr>
        <p:txBody>
          <a:bodyPr>
            <a:normAutofit/>
          </a:bodyPr>
          <a:lstStyle/>
          <a:p>
            <a:pPr eaLnBrk="1" hangingPunct="1">
              <a:buClr>
                <a:srgbClr val="00B050"/>
              </a:buClr>
              <a:buFont typeface="+mj-lt"/>
              <a:buAutoNum type="arabicPeriod"/>
            </a:pPr>
            <a:r>
              <a:rPr lang="en-US" altLang="zh-CN" dirty="0"/>
              <a:t>E(</a:t>
            </a:r>
            <a:r>
              <a:rPr lang="en-US" altLang="zh-CN" dirty="0" err="1"/>
              <a:t>aX+b</a:t>
            </a:r>
            <a:r>
              <a:rPr lang="en-US" altLang="zh-CN" dirty="0"/>
              <a:t>)</a:t>
            </a:r>
            <a:r>
              <a:rPr lang="zh-CN" altLang="en-US" dirty="0"/>
              <a:t>＝</a:t>
            </a:r>
            <a:r>
              <a:rPr lang="en-US" altLang="zh-CN" dirty="0" err="1"/>
              <a:t>aE</a:t>
            </a:r>
            <a:r>
              <a:rPr lang="en-US" altLang="zh-CN" dirty="0"/>
              <a:t>(X)+b</a:t>
            </a:r>
            <a:r>
              <a:rPr lang="zh-CN" altLang="en-US" dirty="0"/>
              <a:t>，</a:t>
            </a:r>
            <a:r>
              <a:rPr lang="en-US" altLang="zh-CN" dirty="0"/>
              <a:t>D(</a:t>
            </a:r>
            <a:r>
              <a:rPr lang="en-US" altLang="zh-CN" dirty="0" err="1"/>
              <a:t>aX+b</a:t>
            </a:r>
            <a:r>
              <a:rPr lang="en-US" altLang="zh-CN" dirty="0"/>
              <a:t>)</a:t>
            </a:r>
            <a:r>
              <a:rPr lang="zh-CN" altLang="en-US" dirty="0"/>
              <a:t>＝</a:t>
            </a:r>
            <a:r>
              <a:rPr lang="en-US" altLang="zh-CN" dirty="0"/>
              <a:t>a</a:t>
            </a:r>
            <a:r>
              <a:rPr lang="en-US" altLang="zh-CN" baseline="30000" dirty="0"/>
              <a:t>2</a:t>
            </a:r>
            <a:r>
              <a:rPr lang="en-US" altLang="zh-CN" dirty="0"/>
              <a:t>D(X)</a:t>
            </a:r>
            <a:r>
              <a:rPr lang="zh-CN" altLang="en-US" dirty="0"/>
              <a:t>，</a:t>
            </a:r>
            <a:r>
              <a:rPr lang="en-US" altLang="zh-CN" dirty="0"/>
              <a:t>a, b</a:t>
            </a:r>
            <a:r>
              <a:rPr lang="zh-CN" altLang="en-US" dirty="0"/>
              <a:t>为任意常数；</a:t>
            </a:r>
          </a:p>
        </p:txBody>
      </p:sp>
      <p:graphicFrame>
        <p:nvGraphicFramePr>
          <p:cNvPr id="276484" name="Object 4"/>
          <p:cNvGraphicFramePr>
            <a:graphicFrameLocks noChangeAspect="1"/>
          </p:cNvGraphicFramePr>
          <p:nvPr/>
        </p:nvGraphicFramePr>
        <p:xfrm>
          <a:off x="6305982" y="1836822"/>
          <a:ext cx="4638269" cy="18339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86000" imgH="901700" progId="Equation.3">
                  <p:embed/>
                </p:oleObj>
              </mc:Choice>
              <mc:Fallback>
                <p:oleObj name="Equation" r:id="rId2" imgW="2286000" imgH="901700" progId="Equation.3">
                  <p:embed/>
                  <p:pic>
                    <p:nvPicPr>
                      <p:cNvPr id="2764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5982" y="1836822"/>
                        <a:ext cx="4638269" cy="18339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485" name="Rectangle 5"/>
          <p:cNvSpPr>
            <a:spLocks noChangeArrowheads="1"/>
          </p:cNvSpPr>
          <p:nvPr/>
        </p:nvSpPr>
        <p:spPr bwMode="auto">
          <a:xfrm>
            <a:off x="774700" y="1904400"/>
            <a:ext cx="7850417" cy="478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8" tIns="36008" rIns="36008" bIns="36008">
            <a:spAutoFit/>
          </a:bodyPr>
          <a:lstStyle>
            <a:lvl1pPr marL="533400" indent="-5334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AutoNum type="arabicPeriod" startAt="2"/>
            </a:pPr>
            <a:r>
              <a:rPr lang="zh-CN" altLang="en-US" sz="2400" dirty="0">
                <a:latin typeface="+mn-ea"/>
                <a:ea typeface="+mn-ea"/>
              </a:rPr>
              <a:t>对任意常数</a:t>
            </a:r>
            <a:r>
              <a:rPr lang="en-US" altLang="zh-CN" sz="2400" dirty="0" err="1">
                <a:latin typeface="+mn-ea"/>
                <a:ea typeface="+mn-ea"/>
              </a:rPr>
              <a:t>a</a:t>
            </a:r>
            <a:r>
              <a:rPr lang="en-US" altLang="zh-CN" sz="2400" baseline="-25000" dirty="0" err="1">
                <a:latin typeface="+mn-ea"/>
                <a:ea typeface="+mn-ea"/>
              </a:rPr>
              <a:t>k</a:t>
            </a:r>
            <a:r>
              <a:rPr lang="zh-CN" altLang="en-US" sz="2400" dirty="0">
                <a:latin typeface="+mn-ea"/>
                <a:ea typeface="+mn-ea"/>
              </a:rPr>
              <a:t>，</a:t>
            </a:r>
            <a:r>
              <a:rPr lang="en-US" altLang="zh-CN" sz="2400" dirty="0">
                <a:latin typeface="+mn-ea"/>
                <a:ea typeface="+mn-ea"/>
              </a:rPr>
              <a:t>k=1, 2, …, n</a:t>
            </a:r>
            <a:r>
              <a:rPr lang="zh-CN" altLang="en-US" sz="2400" dirty="0">
                <a:latin typeface="+mn-ea"/>
                <a:ea typeface="+mn-ea"/>
              </a:rPr>
              <a:t>，有</a:t>
            </a:r>
          </a:p>
        </p:txBody>
      </p:sp>
      <p:sp>
        <p:nvSpPr>
          <p:cNvPr id="276486" name="Rectangle 6"/>
          <p:cNvSpPr>
            <a:spLocks noChangeArrowheads="1"/>
          </p:cNvSpPr>
          <p:nvPr/>
        </p:nvSpPr>
        <p:spPr bwMode="auto">
          <a:xfrm>
            <a:off x="774700" y="3577277"/>
            <a:ext cx="7850417" cy="1115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8" tIns="36008" rIns="36008" bIns="36008">
            <a:spAutoFit/>
          </a:bodyPr>
          <a:lstStyle>
            <a:lvl1pPr marL="533400" indent="-5334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AutoNum type="arabicPeriod" startAt="3"/>
            </a:pPr>
            <a:r>
              <a:rPr lang="en-US" altLang="zh-CN" sz="2400" dirty="0">
                <a:latin typeface="+mn-ea"/>
                <a:ea typeface="+mn-ea"/>
              </a:rPr>
              <a:t>|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</a:t>
            </a:r>
            <a:r>
              <a:rPr lang="en-US" altLang="zh-CN" sz="2400" baseline="-25000" dirty="0">
                <a:latin typeface="+mn-ea"/>
                <a:ea typeface="+mn-ea"/>
              </a:rPr>
              <a:t>XY</a:t>
            </a:r>
            <a:r>
              <a:rPr lang="en-US" altLang="zh-CN" sz="2400" dirty="0">
                <a:latin typeface="+mn-ea"/>
                <a:ea typeface="+mn-ea"/>
              </a:rPr>
              <a:t>|≤1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AutoNum type="arabicPeriod" startAt="3"/>
            </a:pPr>
            <a:r>
              <a:rPr lang="zh-CN" altLang="en-US" sz="2400" dirty="0">
                <a:latin typeface="+mn-ea"/>
                <a:ea typeface="+mn-ea"/>
              </a:rPr>
              <a:t>许瓦兹不等式成立：</a:t>
            </a:r>
          </a:p>
        </p:txBody>
      </p:sp>
      <p:graphicFrame>
        <p:nvGraphicFramePr>
          <p:cNvPr id="276487" name="Object 7"/>
          <p:cNvGraphicFramePr>
            <a:graphicFrameLocks noChangeAspect="1"/>
          </p:cNvGraphicFramePr>
          <p:nvPr/>
        </p:nvGraphicFramePr>
        <p:xfrm>
          <a:off x="4117975" y="4193449"/>
          <a:ext cx="2820053" cy="517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4000" imgH="279400" progId="Equation.3">
                  <p:embed/>
                </p:oleObj>
              </mc:Choice>
              <mc:Fallback>
                <p:oleObj name="Equation" r:id="rId4" imgW="1524000" imgH="279400" progId="Equation.3">
                  <p:embed/>
                  <p:pic>
                    <p:nvPicPr>
                      <p:cNvPr id="27648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7975" y="4193449"/>
                        <a:ext cx="2820053" cy="5176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488" name="Rectangle 8"/>
          <p:cNvSpPr>
            <a:spLocks noChangeArrowheads="1"/>
          </p:cNvSpPr>
          <p:nvPr/>
        </p:nvSpPr>
        <p:spPr bwMode="auto">
          <a:xfrm>
            <a:off x="774700" y="4930875"/>
            <a:ext cx="10471150" cy="173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8" tIns="36008" rIns="36008" bIns="36008">
            <a:spAutoFit/>
          </a:bodyPr>
          <a:lstStyle>
            <a:lvl1pPr marL="533400" indent="-5334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827088" indent="-53340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AutoNum type="arabicPeriod" startAt="5"/>
            </a:pPr>
            <a:r>
              <a:rPr lang="zh-CN" altLang="en-US" sz="2400" dirty="0">
                <a:latin typeface="+mn-ea"/>
                <a:ea typeface="+mn-ea"/>
              </a:rPr>
              <a:t>协方差的性质：</a:t>
            </a:r>
            <a:r>
              <a:rPr lang="en-US" altLang="zh-CN" sz="2400" dirty="0">
                <a:solidFill>
                  <a:srgbClr val="6600CC"/>
                </a:solidFill>
                <a:latin typeface="+mn-ea"/>
                <a:ea typeface="+mn-ea"/>
              </a:rPr>
              <a:t>(1) </a:t>
            </a:r>
            <a:r>
              <a:rPr lang="en-US" altLang="zh-CN" sz="2400" dirty="0" err="1">
                <a:latin typeface="+mn-ea"/>
                <a:ea typeface="+mn-ea"/>
              </a:rPr>
              <a:t>cov</a:t>
            </a:r>
            <a:r>
              <a:rPr lang="en-US" altLang="zh-CN" sz="2400" dirty="0">
                <a:latin typeface="+mn-ea"/>
                <a:ea typeface="+mn-ea"/>
              </a:rPr>
              <a:t>(X, Y)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 err="1">
                <a:latin typeface="+mn-ea"/>
                <a:ea typeface="+mn-ea"/>
              </a:rPr>
              <a:t>cov</a:t>
            </a:r>
            <a:r>
              <a:rPr lang="en-US" altLang="zh-CN" sz="2400" dirty="0">
                <a:latin typeface="+mn-ea"/>
                <a:ea typeface="+mn-ea"/>
              </a:rPr>
              <a:t>(Y, X)</a:t>
            </a:r>
          </a:p>
          <a:p>
            <a:pPr lvl="1"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6600CC"/>
                </a:solidFill>
                <a:latin typeface="+mn-ea"/>
                <a:ea typeface="+mn-ea"/>
              </a:rPr>
              <a:t>(2) </a:t>
            </a:r>
            <a:r>
              <a:rPr lang="en-US" altLang="zh-CN" sz="2400" dirty="0" err="1">
                <a:latin typeface="+mn-ea"/>
                <a:ea typeface="+mn-ea"/>
              </a:rPr>
              <a:t>cov</a:t>
            </a:r>
            <a:r>
              <a:rPr lang="en-US" altLang="zh-CN" sz="2400" dirty="0">
                <a:latin typeface="+mn-ea"/>
                <a:ea typeface="+mn-ea"/>
              </a:rPr>
              <a:t>(X</a:t>
            </a:r>
            <a:r>
              <a:rPr lang="en-US" altLang="zh-CN" sz="2400" baseline="-25000" dirty="0">
                <a:latin typeface="+mn-ea"/>
                <a:ea typeface="+mn-ea"/>
              </a:rPr>
              <a:t>1</a:t>
            </a:r>
            <a:r>
              <a:rPr lang="en-US" altLang="zh-CN" sz="2400" dirty="0">
                <a:latin typeface="+mn-ea"/>
                <a:ea typeface="+mn-ea"/>
              </a:rPr>
              <a:t>+X</a:t>
            </a:r>
            <a:r>
              <a:rPr lang="en-US" altLang="zh-CN" sz="2400" baseline="-25000" dirty="0">
                <a:latin typeface="+mn-ea"/>
                <a:ea typeface="+mn-ea"/>
              </a:rPr>
              <a:t>2</a:t>
            </a:r>
            <a:r>
              <a:rPr lang="en-US" altLang="zh-CN" sz="2400" dirty="0">
                <a:latin typeface="+mn-ea"/>
                <a:ea typeface="+mn-ea"/>
              </a:rPr>
              <a:t>, Y)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 err="1">
                <a:latin typeface="+mn-ea"/>
                <a:ea typeface="+mn-ea"/>
              </a:rPr>
              <a:t>cov</a:t>
            </a:r>
            <a:r>
              <a:rPr lang="en-US" altLang="zh-CN" sz="2400" dirty="0">
                <a:latin typeface="+mn-ea"/>
                <a:ea typeface="+mn-ea"/>
              </a:rPr>
              <a:t>(X</a:t>
            </a:r>
            <a:r>
              <a:rPr lang="en-US" altLang="zh-CN" sz="2400" baseline="-25000" dirty="0">
                <a:latin typeface="+mn-ea"/>
                <a:ea typeface="+mn-ea"/>
              </a:rPr>
              <a:t>1</a:t>
            </a:r>
            <a:r>
              <a:rPr lang="en-US" altLang="zh-CN" sz="2400" dirty="0">
                <a:latin typeface="+mn-ea"/>
                <a:ea typeface="+mn-ea"/>
              </a:rPr>
              <a:t>, Y)+</a:t>
            </a:r>
            <a:r>
              <a:rPr lang="en-US" altLang="zh-CN" sz="2400" dirty="0" err="1">
                <a:latin typeface="+mn-ea"/>
                <a:ea typeface="+mn-ea"/>
              </a:rPr>
              <a:t>cov</a:t>
            </a:r>
            <a:r>
              <a:rPr lang="en-US" altLang="zh-CN" sz="2400" dirty="0">
                <a:latin typeface="+mn-ea"/>
                <a:ea typeface="+mn-ea"/>
              </a:rPr>
              <a:t>(X</a:t>
            </a:r>
            <a:r>
              <a:rPr lang="en-US" altLang="zh-CN" sz="2400" baseline="-25000" dirty="0">
                <a:latin typeface="+mn-ea"/>
                <a:ea typeface="+mn-ea"/>
              </a:rPr>
              <a:t>2</a:t>
            </a:r>
            <a:r>
              <a:rPr lang="en-US" altLang="zh-CN" sz="2400" dirty="0">
                <a:latin typeface="+mn-ea"/>
                <a:ea typeface="+mn-ea"/>
              </a:rPr>
              <a:t>, Y)</a:t>
            </a:r>
          </a:p>
          <a:p>
            <a:pPr lvl="1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6600CC"/>
                </a:solidFill>
                <a:latin typeface="+mn-ea"/>
                <a:ea typeface="+mn-ea"/>
              </a:rPr>
              <a:t>(3)</a:t>
            </a:r>
            <a:r>
              <a:rPr lang="en-US" altLang="zh-CN" sz="2400" dirty="0">
                <a:solidFill>
                  <a:srgbClr val="00FF00"/>
                </a:solidFill>
                <a:latin typeface="+mn-ea"/>
                <a:ea typeface="+mn-ea"/>
              </a:rPr>
              <a:t> </a:t>
            </a:r>
            <a:r>
              <a:rPr lang="en-US" altLang="zh-CN" sz="2400" dirty="0" err="1">
                <a:latin typeface="+mn-ea"/>
                <a:ea typeface="+mn-ea"/>
              </a:rPr>
              <a:t>cov</a:t>
            </a:r>
            <a:r>
              <a:rPr lang="en-US" altLang="zh-CN" sz="2400" dirty="0">
                <a:latin typeface="+mn-ea"/>
                <a:ea typeface="+mn-ea"/>
              </a:rPr>
              <a:t>(</a:t>
            </a:r>
            <a:r>
              <a:rPr lang="en-US" altLang="zh-CN" sz="2400" dirty="0" err="1">
                <a:latin typeface="+mn-ea"/>
                <a:ea typeface="+mn-ea"/>
              </a:rPr>
              <a:t>aX+bY</a:t>
            </a:r>
            <a:r>
              <a:rPr lang="en-US" altLang="zh-CN" sz="2400" dirty="0">
                <a:latin typeface="+mn-ea"/>
                <a:ea typeface="+mn-ea"/>
              </a:rPr>
              <a:t>, </a:t>
            </a:r>
            <a:r>
              <a:rPr lang="en-US" altLang="zh-CN" sz="2400" dirty="0" err="1">
                <a:latin typeface="+mn-ea"/>
                <a:ea typeface="+mn-ea"/>
              </a:rPr>
              <a:t>cX+dY</a:t>
            </a:r>
            <a:r>
              <a:rPr lang="en-US" altLang="zh-CN" sz="2400" dirty="0">
                <a:latin typeface="+mn-ea"/>
                <a:ea typeface="+mn-ea"/>
              </a:rPr>
              <a:t>)=</a:t>
            </a:r>
            <a:r>
              <a:rPr lang="en-US" altLang="zh-CN" sz="2400" dirty="0" err="1">
                <a:latin typeface="+mn-ea"/>
                <a:ea typeface="+mn-ea"/>
              </a:rPr>
              <a:t>acD</a:t>
            </a:r>
            <a:r>
              <a:rPr lang="en-US" altLang="zh-CN" sz="2400" dirty="0">
                <a:latin typeface="+mn-ea"/>
                <a:ea typeface="+mn-ea"/>
              </a:rPr>
              <a:t>(X)+</a:t>
            </a:r>
            <a:r>
              <a:rPr lang="en-US" altLang="zh-CN" sz="2400" dirty="0" err="1">
                <a:latin typeface="+mn-ea"/>
                <a:ea typeface="+mn-ea"/>
              </a:rPr>
              <a:t>bdD</a:t>
            </a:r>
            <a:r>
              <a:rPr lang="en-US" altLang="zh-CN" sz="2400" dirty="0">
                <a:latin typeface="+mn-ea"/>
                <a:ea typeface="+mn-ea"/>
              </a:rPr>
              <a:t>(Y)+(</a:t>
            </a:r>
            <a:r>
              <a:rPr lang="en-US" altLang="zh-CN" sz="2400" dirty="0" err="1">
                <a:latin typeface="+mn-ea"/>
                <a:ea typeface="+mn-ea"/>
              </a:rPr>
              <a:t>ad+bc</a:t>
            </a:r>
            <a:r>
              <a:rPr lang="en-US" altLang="zh-CN" sz="2400" dirty="0">
                <a:latin typeface="+mn-ea"/>
                <a:ea typeface="+mn-ea"/>
              </a:rPr>
              <a:t>)</a:t>
            </a:r>
            <a:r>
              <a:rPr lang="en-US" altLang="zh-CN" sz="2400" dirty="0" err="1">
                <a:latin typeface="+mn-ea"/>
                <a:ea typeface="+mn-ea"/>
              </a:rPr>
              <a:t>cov</a:t>
            </a:r>
            <a:r>
              <a:rPr lang="en-US" altLang="zh-CN" sz="2400" dirty="0">
                <a:latin typeface="+mn-ea"/>
                <a:ea typeface="+mn-ea"/>
              </a:rPr>
              <a:t>(X, Y)</a:t>
            </a:r>
          </a:p>
        </p:txBody>
      </p:sp>
    </p:spTree>
    <p:extLst>
      <p:ext uri="{BB962C8B-B14F-4D97-AF65-F5344CB8AC3E}">
        <p14:creationId xmlns:p14="http://schemas.microsoft.com/office/powerpoint/2010/main" val="905237299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6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6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64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64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64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64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6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6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6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76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764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764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764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764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5" grpId="0" autoUpdateAnimBg="0"/>
      <p:bldP spid="276486" grpId="0" build="p" autoUpdateAnimBg="0"/>
      <p:bldP spid="276488" grpId="0" build="p" bldLvl="2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（五）随机变量数字特征的性质</a:t>
            </a:r>
          </a:p>
        </p:txBody>
      </p:sp>
      <p:sp>
        <p:nvSpPr>
          <p:cNvPr id="404483" name="Rectangle 3">
            <a:extLst>
              <a:ext uri="{FF2B5EF4-FFF2-40B4-BE49-F238E27FC236}">
                <a16:creationId xmlns:a16="http://schemas.microsoft.com/office/drawing/2014/main" id="{86541827-F399-4BC7-A6E1-4F862DD611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6575" y="1143794"/>
            <a:ext cx="10820400" cy="2616806"/>
          </a:xfrm>
        </p:spPr>
        <p:txBody>
          <a:bodyPr>
            <a:noAutofit/>
          </a:bodyPr>
          <a:lstStyle/>
          <a:p>
            <a:pPr eaLnBrk="1" hangingPunct="1">
              <a:buFont typeface="Wingdings" panose="05000000000000000000" pitchFamily="2" charset="2"/>
              <a:buAutoNum type="arabicPeriod" startAt="6"/>
              <a:defRPr/>
            </a:pPr>
            <a:r>
              <a:rPr lang="zh-CN" altLang="en-US" dirty="0"/>
              <a:t>方差的计算公式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/>
              <a:t>			</a:t>
            </a:r>
            <a:r>
              <a:rPr lang="en-US" altLang="zh-CN" dirty="0"/>
              <a:t>D(X)</a:t>
            </a:r>
            <a:r>
              <a:rPr lang="zh-CN" altLang="en-US" dirty="0"/>
              <a:t>＝</a:t>
            </a:r>
            <a:r>
              <a:rPr lang="en-US" altLang="zh-CN" dirty="0"/>
              <a:t>E(X</a:t>
            </a:r>
            <a:r>
              <a:rPr lang="en-US" altLang="zh-CN" baseline="30000" dirty="0"/>
              <a:t>2</a:t>
            </a:r>
            <a:r>
              <a:rPr lang="en-US" altLang="zh-CN" dirty="0"/>
              <a:t>)-E</a:t>
            </a:r>
            <a:r>
              <a:rPr lang="en-US" altLang="zh-CN" baseline="30000" dirty="0"/>
              <a:t>2</a:t>
            </a:r>
            <a:r>
              <a:rPr lang="en-US" altLang="zh-CN" dirty="0"/>
              <a:t>(X) ≥0</a:t>
            </a:r>
          </a:p>
          <a:p>
            <a:pPr marL="0" indent="0" algn="just">
              <a:buNone/>
              <a:defRPr/>
            </a:pPr>
            <a:r>
              <a:rPr lang="en-US" altLang="zh-CN" dirty="0"/>
              <a:t>       </a:t>
            </a:r>
            <a:r>
              <a:rPr lang="zh-CN" altLang="en-US" dirty="0"/>
              <a:t>特别，当</a:t>
            </a:r>
            <a:r>
              <a:rPr lang="en-US" altLang="zh-CN" dirty="0"/>
              <a:t>D(X)</a:t>
            </a:r>
            <a:r>
              <a:rPr lang="zh-CN" altLang="en-US" dirty="0"/>
              <a:t>＝</a:t>
            </a:r>
            <a:r>
              <a:rPr lang="en-US" altLang="zh-CN" dirty="0"/>
              <a:t>0</a:t>
            </a:r>
            <a:r>
              <a:rPr lang="zh-CN" altLang="en-US" dirty="0"/>
              <a:t>的充分必要条件是</a:t>
            </a:r>
            <a:r>
              <a:rPr lang="en-US" altLang="zh-CN" dirty="0"/>
              <a:t>P{X=E(X)}</a:t>
            </a:r>
            <a:r>
              <a:rPr lang="zh-CN" altLang="en-US" dirty="0"/>
              <a:t>＝</a:t>
            </a:r>
            <a:r>
              <a:rPr lang="en-US" altLang="zh-CN" dirty="0"/>
              <a:t>1</a:t>
            </a:r>
            <a:r>
              <a:rPr lang="zh-CN" altLang="en-US" dirty="0"/>
              <a:t>。</a:t>
            </a:r>
            <a:endParaRPr lang="en-US" altLang="zh-CN" dirty="0"/>
          </a:p>
          <a:p>
            <a:pPr algn="just" eaLnBrk="1" hangingPunct="1">
              <a:buFont typeface="Wingdings" panose="05000000000000000000" pitchFamily="2" charset="2"/>
              <a:buAutoNum type="arabicPeriod" startAt="7"/>
              <a:defRPr/>
            </a:pPr>
            <a:r>
              <a:rPr lang="en-US" altLang="zh-CN" dirty="0" err="1"/>
              <a:t>cov</a:t>
            </a:r>
            <a:r>
              <a:rPr lang="en-US" altLang="zh-CN" dirty="0"/>
              <a:t>(X, Y)</a:t>
            </a:r>
            <a:r>
              <a:rPr lang="zh-CN" altLang="en-US" dirty="0"/>
              <a:t>＝</a:t>
            </a:r>
            <a:r>
              <a:rPr lang="en-US" altLang="zh-CN" dirty="0"/>
              <a:t>E(XY)-E(X)E(Y)</a:t>
            </a:r>
          </a:p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	</a:t>
            </a:r>
            <a:r>
              <a:rPr lang="zh-CN" altLang="en-US" dirty="0"/>
              <a:t>特别， </a:t>
            </a:r>
            <a:r>
              <a:rPr lang="en-US" altLang="zh-CN" dirty="0" err="1"/>
              <a:t>cov</a:t>
            </a:r>
            <a:r>
              <a:rPr lang="en-US" altLang="zh-CN" dirty="0"/>
              <a:t>(X, X)</a:t>
            </a:r>
            <a:r>
              <a:rPr lang="zh-CN" altLang="en-US" dirty="0"/>
              <a:t>＝</a:t>
            </a:r>
            <a:r>
              <a:rPr lang="en-US" altLang="zh-CN" dirty="0"/>
              <a:t>D(X)</a:t>
            </a:r>
          </a:p>
          <a:p>
            <a:pPr eaLnBrk="1" hangingPunct="1">
              <a:buFont typeface="+mj-lt"/>
              <a:buAutoNum type="arabicPeriod" startAt="8"/>
              <a:defRPr/>
            </a:pPr>
            <a:r>
              <a:rPr lang="zh-CN" altLang="en-US" dirty="0"/>
              <a:t>若</a:t>
            </a:r>
            <a:r>
              <a:rPr lang="en-US" altLang="zh-CN" dirty="0"/>
              <a:t>X</a:t>
            </a:r>
            <a:r>
              <a:rPr lang="zh-CN" altLang="en-US" dirty="0"/>
              <a:t>与</a:t>
            </a:r>
            <a:r>
              <a:rPr lang="en-US" altLang="zh-CN" dirty="0"/>
              <a:t>Y</a:t>
            </a:r>
            <a:r>
              <a:rPr lang="zh-CN" altLang="en-US" dirty="0"/>
              <a:t>相互独立，则   </a:t>
            </a:r>
            <a:r>
              <a:rPr lang="en-US" altLang="zh-CN" dirty="0"/>
              <a:t>E(XY)</a:t>
            </a:r>
            <a:r>
              <a:rPr lang="zh-CN" altLang="en-US" dirty="0"/>
              <a:t> ＝ </a:t>
            </a:r>
            <a:r>
              <a:rPr lang="en-US" altLang="zh-CN" dirty="0"/>
              <a:t>E(X)</a:t>
            </a:r>
            <a:r>
              <a:rPr lang="en-US" altLang="zh-CN" dirty="0">
                <a:sym typeface="Symbol" panose="05050102010706020507" pitchFamily="18" charset="2"/>
              </a:rPr>
              <a:t></a:t>
            </a:r>
            <a:r>
              <a:rPr lang="en-US" altLang="zh-CN" dirty="0"/>
              <a:t>E(Y)</a:t>
            </a:r>
            <a:endParaRPr lang="zh-CN" altLang="en-US" dirty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146175" y="4725194"/>
          <a:ext cx="7086653" cy="18038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43300" imgH="901700" progId="Equation.DSMT4">
                  <p:embed/>
                </p:oleObj>
              </mc:Choice>
              <mc:Fallback>
                <p:oleObj name="Equation" r:id="rId2" imgW="3543300" imgH="901700" progId="Equation.DSMT4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6175" y="4725194"/>
                        <a:ext cx="7086653" cy="18038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87248587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4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4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4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4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4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4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4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4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4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4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4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4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4483" grpId="0" uiExpand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dirty="0"/>
              <a:t>例</a:t>
            </a:r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401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5175" y="1066079"/>
            <a:ext cx="7976976" cy="806732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设二维</a:t>
            </a:r>
            <a:r>
              <a:rPr lang="en-US" altLang="zh-CN" dirty="0"/>
              <a:t>R.V.(X, Y)</a:t>
            </a:r>
            <a:r>
              <a:rPr lang="zh-CN" altLang="en-US" dirty="0"/>
              <a:t>的联合概率密度为</a:t>
            </a:r>
          </a:p>
        </p:txBody>
      </p:sp>
      <p:graphicFrame>
        <p:nvGraphicFramePr>
          <p:cNvPr id="401412" name="Object 4"/>
          <p:cNvGraphicFramePr>
            <a:graphicFrameLocks noChangeAspect="1"/>
          </p:cNvGraphicFramePr>
          <p:nvPr/>
        </p:nvGraphicFramePr>
        <p:xfrm>
          <a:off x="1138814" y="1760018"/>
          <a:ext cx="4954147" cy="11226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05000" imgH="431800" progId="Equation.3">
                  <p:embed/>
                </p:oleObj>
              </mc:Choice>
              <mc:Fallback>
                <p:oleObj name="Equation" r:id="rId2" imgW="1905000" imgH="431800" progId="Equation.3">
                  <p:embed/>
                  <p:pic>
                    <p:nvPicPr>
                      <p:cNvPr id="4014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8814" y="1760018"/>
                        <a:ext cx="4954147" cy="11226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1413" name="Text Box 5"/>
          <p:cNvSpPr txBox="1">
            <a:spLocks noChangeArrowheads="1"/>
          </p:cNvSpPr>
          <p:nvPr/>
        </p:nvSpPr>
        <p:spPr bwMode="auto">
          <a:xfrm>
            <a:off x="841393" y="3225273"/>
            <a:ext cx="7545546" cy="1042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求：</a:t>
            </a:r>
            <a:r>
              <a:rPr lang="en-US" altLang="zh-CN" sz="2400" dirty="0">
                <a:latin typeface="+mn-ea"/>
                <a:ea typeface="+mn-ea"/>
              </a:rPr>
              <a:t>(1). </a:t>
            </a:r>
            <a:r>
              <a:rPr lang="en-US" altLang="zh-CN" sz="2400" dirty="0" err="1">
                <a:latin typeface="+mn-ea"/>
                <a:ea typeface="+mn-ea"/>
              </a:rPr>
              <a:t>cov</a:t>
            </a:r>
            <a:r>
              <a:rPr lang="en-US" altLang="zh-CN" sz="2400" dirty="0">
                <a:latin typeface="+mn-ea"/>
                <a:ea typeface="+mn-ea"/>
              </a:rPr>
              <a:t>(X, Y)</a:t>
            </a:r>
            <a:r>
              <a:rPr lang="zh-CN" altLang="en-US" sz="2400" dirty="0">
                <a:latin typeface="+mn-ea"/>
                <a:ea typeface="+mn-ea"/>
              </a:rPr>
              <a:t>，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</a:t>
            </a:r>
            <a:r>
              <a:rPr lang="en-US" altLang="zh-CN" sz="2400" baseline="-25000" dirty="0">
                <a:latin typeface="+mn-ea"/>
                <a:ea typeface="+mn-ea"/>
                <a:sym typeface="Symbol" panose="05050102010706020507" pitchFamily="18" charset="2"/>
              </a:rPr>
              <a:t>XY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和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C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；</a:t>
            </a:r>
            <a:endParaRPr lang="en-US" altLang="zh-CN" sz="2400" dirty="0">
              <a:latin typeface="+mn-ea"/>
              <a:ea typeface="+mn-ea"/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      (2). 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讨论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X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与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Y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的独立性。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401414" name="Text Box 6"/>
          <p:cNvSpPr txBox="1">
            <a:spLocks noChangeArrowheads="1"/>
          </p:cNvSpPr>
          <p:nvPr/>
        </p:nvSpPr>
        <p:spPr bwMode="auto">
          <a:xfrm>
            <a:off x="222734" y="4810602"/>
            <a:ext cx="1084881" cy="405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</a:rPr>
              <a:t>解</a:t>
            </a:r>
            <a:r>
              <a:rPr lang="zh-CN" altLang="en-US" sz="2400" dirty="0">
                <a:latin typeface="+mn-ea"/>
                <a:ea typeface="+mn-ea"/>
              </a:rPr>
              <a:t>：</a:t>
            </a:r>
            <a:r>
              <a:rPr lang="en-US" altLang="zh-CN" sz="2400" dirty="0">
                <a:latin typeface="+mn-ea"/>
                <a:ea typeface="+mn-ea"/>
              </a:rPr>
              <a:t>(1).</a:t>
            </a:r>
          </a:p>
        </p:txBody>
      </p:sp>
      <p:graphicFrame>
        <p:nvGraphicFramePr>
          <p:cNvPr id="4014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5640225"/>
              </p:ext>
            </p:extLst>
          </p:nvPr>
        </p:nvGraphicFramePr>
        <p:xfrm>
          <a:off x="1465424" y="4473539"/>
          <a:ext cx="6921515" cy="107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09900" imgH="469900" progId="Equation.DSMT4">
                  <p:embed/>
                </p:oleObj>
              </mc:Choice>
              <mc:Fallback>
                <p:oleObj name="Equation" r:id="rId4" imgW="3009900" imgH="469900" progId="Equation.DSMT4">
                  <p:embed/>
                  <p:pic>
                    <p:nvPicPr>
                      <p:cNvPr id="40141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5424" y="4473539"/>
                        <a:ext cx="6921515" cy="107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1416" name="Object 8"/>
          <p:cNvGraphicFramePr>
            <a:graphicFrameLocks noChangeAspect="1"/>
          </p:cNvGraphicFramePr>
          <p:nvPr/>
        </p:nvGraphicFramePr>
        <p:xfrm>
          <a:off x="923963" y="5658286"/>
          <a:ext cx="7593182" cy="107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02000" imgH="469900" progId="Equation.DSMT4">
                  <p:embed/>
                </p:oleObj>
              </mc:Choice>
              <mc:Fallback>
                <p:oleObj name="Equation" r:id="rId6" imgW="3302000" imgH="469900" progId="Equation.DSMT4">
                  <p:embed/>
                  <p:pic>
                    <p:nvPicPr>
                      <p:cNvPr id="40141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3963" y="5658286"/>
                        <a:ext cx="7593182" cy="107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59"/>
          <p:cNvGrpSpPr>
            <a:grpSpLocks/>
          </p:cNvGrpSpPr>
          <p:nvPr/>
        </p:nvGrpSpPr>
        <p:grpSpPr bwMode="auto">
          <a:xfrm>
            <a:off x="7242175" y="819587"/>
            <a:ext cx="2175378" cy="3310328"/>
            <a:chOff x="6732240" y="128052"/>
            <a:chExt cx="2175976" cy="3309799"/>
          </a:xfrm>
        </p:grpSpPr>
        <p:cxnSp>
          <p:nvCxnSpPr>
            <p:cNvPr id="25624" name="直接箭头连接符 38"/>
            <p:cNvCxnSpPr>
              <a:cxnSpLocks noChangeShapeType="1"/>
            </p:cNvCxnSpPr>
            <p:nvPr/>
          </p:nvCxnSpPr>
          <p:spPr bwMode="auto">
            <a:xfrm>
              <a:off x="6805042" y="1999466"/>
              <a:ext cx="1944216" cy="1588"/>
            </a:xfrm>
            <a:prstGeom prst="straightConnector1">
              <a:avLst/>
            </a:prstGeom>
            <a:noFill/>
            <a:ln w="9525" algn="ctr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25" name="直接箭头连接符 39"/>
            <p:cNvCxnSpPr>
              <a:cxnSpLocks noChangeShapeType="1"/>
            </p:cNvCxnSpPr>
            <p:nvPr/>
          </p:nvCxnSpPr>
          <p:spPr bwMode="auto">
            <a:xfrm rot="5400000" flipH="1" flipV="1">
              <a:off x="6171038" y="1351394"/>
              <a:ext cx="1728192" cy="1588"/>
            </a:xfrm>
            <a:prstGeom prst="straightConnector1">
              <a:avLst/>
            </a:prstGeom>
            <a:noFill/>
            <a:ln w="9525" algn="ctr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626" name="TextBox 40"/>
            <p:cNvSpPr txBox="1">
              <a:spLocks noChangeArrowheads="1"/>
            </p:cNvSpPr>
            <p:nvPr/>
          </p:nvSpPr>
          <p:spPr bwMode="auto">
            <a:xfrm>
              <a:off x="6804248" y="2000260"/>
              <a:ext cx="216024" cy="4310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801">
                  <a:solidFill>
                    <a:srgbClr val="0000FF"/>
                  </a:solidFill>
                  <a:ea typeface="宋体" panose="02010600030101010101" pitchFamily="2" charset="-122"/>
                </a:rPr>
                <a:t>0</a:t>
              </a:r>
              <a:endParaRPr lang="zh-CN" altLang="en-US" sz="2801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5627" name="TextBox 41"/>
            <p:cNvSpPr txBox="1">
              <a:spLocks noChangeArrowheads="1"/>
            </p:cNvSpPr>
            <p:nvPr/>
          </p:nvSpPr>
          <p:spPr bwMode="auto">
            <a:xfrm>
              <a:off x="8025048" y="1928252"/>
              <a:ext cx="216024" cy="4310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801">
                  <a:solidFill>
                    <a:srgbClr val="0000FF"/>
                  </a:solidFill>
                  <a:ea typeface="宋体" panose="02010600030101010101" pitchFamily="2" charset="-122"/>
                </a:rPr>
                <a:t>1</a:t>
              </a:r>
              <a:endParaRPr lang="zh-CN" altLang="en-US" sz="2801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cxnSp>
          <p:nvCxnSpPr>
            <p:cNvPr id="25628" name="直接连接符 42"/>
            <p:cNvCxnSpPr>
              <a:cxnSpLocks noChangeShapeType="1"/>
            </p:cNvCxnSpPr>
            <p:nvPr/>
          </p:nvCxnSpPr>
          <p:spPr bwMode="auto">
            <a:xfrm>
              <a:off x="7034340" y="920140"/>
              <a:ext cx="108000" cy="1588"/>
            </a:xfrm>
            <a:prstGeom prst="line">
              <a:avLst/>
            </a:prstGeom>
            <a:noFill/>
            <a:ln w="9525" algn="ctr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629" name="TextBox 43"/>
            <p:cNvSpPr txBox="1">
              <a:spLocks noChangeArrowheads="1"/>
            </p:cNvSpPr>
            <p:nvPr/>
          </p:nvSpPr>
          <p:spPr bwMode="auto">
            <a:xfrm>
              <a:off x="6732240" y="704116"/>
              <a:ext cx="216024" cy="4310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801">
                  <a:solidFill>
                    <a:srgbClr val="0000FF"/>
                  </a:solidFill>
                  <a:ea typeface="宋体" panose="02010600030101010101" pitchFamily="2" charset="-122"/>
                </a:rPr>
                <a:t>1</a:t>
              </a:r>
              <a:endParaRPr lang="zh-CN" altLang="en-US" sz="2801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5630" name="TextBox 44"/>
            <p:cNvSpPr txBox="1">
              <a:spLocks noChangeArrowheads="1"/>
            </p:cNvSpPr>
            <p:nvPr/>
          </p:nvSpPr>
          <p:spPr bwMode="auto">
            <a:xfrm>
              <a:off x="6932528" y="128052"/>
              <a:ext cx="159752" cy="4310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801">
                  <a:solidFill>
                    <a:srgbClr val="0000FF"/>
                  </a:solidFill>
                  <a:ea typeface="宋体" panose="02010600030101010101" pitchFamily="2" charset="-122"/>
                </a:rPr>
                <a:t>y</a:t>
              </a:r>
              <a:endParaRPr lang="zh-CN" altLang="en-US" sz="2801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5631" name="TextBox 45"/>
            <p:cNvSpPr txBox="1">
              <a:spLocks noChangeArrowheads="1"/>
            </p:cNvSpPr>
            <p:nvPr/>
          </p:nvSpPr>
          <p:spPr bwMode="auto">
            <a:xfrm>
              <a:off x="8748464" y="1856244"/>
              <a:ext cx="159752" cy="4310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801">
                  <a:solidFill>
                    <a:srgbClr val="0000FF"/>
                  </a:solidFill>
                  <a:ea typeface="宋体" panose="02010600030101010101" pitchFamily="2" charset="-122"/>
                </a:rPr>
                <a:t>x</a:t>
              </a:r>
              <a:endParaRPr lang="zh-CN" altLang="en-US" sz="2801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5632" name="直角三角形 46"/>
            <p:cNvSpPr>
              <a:spLocks noChangeArrowheads="1"/>
            </p:cNvSpPr>
            <p:nvPr/>
          </p:nvSpPr>
          <p:spPr bwMode="auto">
            <a:xfrm flipH="1">
              <a:off x="7034340" y="920140"/>
              <a:ext cx="1080000" cy="1080000"/>
            </a:xfrm>
            <a:prstGeom prst="rtTriangle">
              <a:avLst/>
            </a:prstGeom>
            <a:solidFill>
              <a:schemeClr val="accent1"/>
            </a:solidFill>
            <a:ln w="9525" algn="ctr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5633" name="TextBox 47"/>
            <p:cNvSpPr txBox="1">
              <a:spLocks noChangeArrowheads="1"/>
            </p:cNvSpPr>
            <p:nvPr/>
          </p:nvSpPr>
          <p:spPr bwMode="auto">
            <a:xfrm>
              <a:off x="6876256" y="2360300"/>
              <a:ext cx="1728192" cy="1077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3201">
                  <a:solidFill>
                    <a:srgbClr val="0000FF"/>
                  </a:solidFill>
                  <a:ea typeface="宋体" panose="02010600030101010101" pitchFamily="2" charset="-122"/>
                </a:rPr>
                <a:t>0≤x≤1, 0≤y≤x </a:t>
              </a:r>
              <a:endParaRPr lang="zh-CN" altLang="en-US" sz="3201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3" name="组合 48"/>
          <p:cNvGrpSpPr>
            <a:grpSpLocks/>
          </p:cNvGrpSpPr>
          <p:nvPr/>
        </p:nvGrpSpPr>
        <p:grpSpPr bwMode="auto">
          <a:xfrm>
            <a:off x="9572298" y="816816"/>
            <a:ext cx="2175378" cy="3238860"/>
            <a:chOff x="5508104" y="2708920"/>
            <a:chExt cx="2175976" cy="3237517"/>
          </a:xfrm>
        </p:grpSpPr>
        <p:sp>
          <p:nvSpPr>
            <p:cNvPr id="25614" name="TextBox 49"/>
            <p:cNvSpPr txBox="1">
              <a:spLocks noChangeArrowheads="1"/>
            </p:cNvSpPr>
            <p:nvPr/>
          </p:nvSpPr>
          <p:spPr bwMode="auto">
            <a:xfrm>
              <a:off x="5652120" y="4869160"/>
              <a:ext cx="1728192" cy="1077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3201">
                  <a:solidFill>
                    <a:srgbClr val="0000FF"/>
                  </a:solidFill>
                  <a:ea typeface="宋体" panose="02010600030101010101" pitchFamily="2" charset="-122"/>
                </a:rPr>
                <a:t>0≤y≤1, y≤x≤1 </a:t>
              </a:r>
              <a:endParaRPr lang="zh-CN" altLang="en-US" sz="3201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cxnSp>
          <p:nvCxnSpPr>
            <p:cNvPr id="25615" name="直接箭头连接符 50"/>
            <p:cNvCxnSpPr>
              <a:cxnSpLocks noChangeShapeType="1"/>
            </p:cNvCxnSpPr>
            <p:nvPr/>
          </p:nvCxnSpPr>
          <p:spPr bwMode="auto">
            <a:xfrm>
              <a:off x="5580906" y="4580334"/>
              <a:ext cx="1944216" cy="1588"/>
            </a:xfrm>
            <a:prstGeom prst="straightConnector1">
              <a:avLst/>
            </a:prstGeom>
            <a:noFill/>
            <a:ln w="9525" algn="ctr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16" name="直接箭头连接符 51"/>
            <p:cNvCxnSpPr>
              <a:cxnSpLocks noChangeShapeType="1"/>
            </p:cNvCxnSpPr>
            <p:nvPr/>
          </p:nvCxnSpPr>
          <p:spPr bwMode="auto">
            <a:xfrm rot="5400000" flipH="1" flipV="1">
              <a:off x="4946902" y="3932262"/>
              <a:ext cx="1728192" cy="1588"/>
            </a:xfrm>
            <a:prstGeom prst="straightConnector1">
              <a:avLst/>
            </a:prstGeom>
            <a:noFill/>
            <a:ln w="9525" algn="ctr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617" name="TextBox 52"/>
            <p:cNvSpPr txBox="1">
              <a:spLocks noChangeArrowheads="1"/>
            </p:cNvSpPr>
            <p:nvPr/>
          </p:nvSpPr>
          <p:spPr bwMode="auto">
            <a:xfrm>
              <a:off x="5580112" y="4581128"/>
              <a:ext cx="216024" cy="4309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801">
                  <a:solidFill>
                    <a:srgbClr val="0000FF"/>
                  </a:solidFill>
                  <a:ea typeface="宋体" panose="02010600030101010101" pitchFamily="2" charset="-122"/>
                </a:rPr>
                <a:t>0</a:t>
              </a:r>
              <a:endParaRPr lang="zh-CN" altLang="en-US" sz="2801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5618" name="TextBox 53"/>
            <p:cNvSpPr txBox="1">
              <a:spLocks noChangeArrowheads="1"/>
            </p:cNvSpPr>
            <p:nvPr/>
          </p:nvSpPr>
          <p:spPr bwMode="auto">
            <a:xfrm>
              <a:off x="6800912" y="4509120"/>
              <a:ext cx="216024" cy="4309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801">
                  <a:solidFill>
                    <a:srgbClr val="0000FF"/>
                  </a:solidFill>
                  <a:ea typeface="宋体" panose="02010600030101010101" pitchFamily="2" charset="-122"/>
                </a:rPr>
                <a:t>1</a:t>
              </a:r>
              <a:endParaRPr lang="zh-CN" altLang="en-US" sz="2801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cxnSp>
          <p:nvCxnSpPr>
            <p:cNvPr id="25619" name="直接连接符 54"/>
            <p:cNvCxnSpPr>
              <a:cxnSpLocks noChangeShapeType="1"/>
            </p:cNvCxnSpPr>
            <p:nvPr/>
          </p:nvCxnSpPr>
          <p:spPr bwMode="auto">
            <a:xfrm>
              <a:off x="6890204" y="4473008"/>
              <a:ext cx="0" cy="108000"/>
            </a:xfrm>
            <a:prstGeom prst="line">
              <a:avLst/>
            </a:prstGeom>
            <a:noFill/>
            <a:ln w="9525" algn="ctr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620" name="TextBox 55"/>
            <p:cNvSpPr txBox="1">
              <a:spLocks noChangeArrowheads="1"/>
            </p:cNvSpPr>
            <p:nvPr/>
          </p:nvSpPr>
          <p:spPr bwMode="auto">
            <a:xfrm>
              <a:off x="5508104" y="3284984"/>
              <a:ext cx="216024" cy="4309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801">
                  <a:solidFill>
                    <a:srgbClr val="0000FF"/>
                  </a:solidFill>
                  <a:ea typeface="宋体" panose="02010600030101010101" pitchFamily="2" charset="-122"/>
                </a:rPr>
                <a:t>1</a:t>
              </a:r>
              <a:endParaRPr lang="zh-CN" altLang="en-US" sz="2801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5621" name="TextBox 56"/>
            <p:cNvSpPr txBox="1">
              <a:spLocks noChangeArrowheads="1"/>
            </p:cNvSpPr>
            <p:nvPr/>
          </p:nvSpPr>
          <p:spPr bwMode="auto">
            <a:xfrm>
              <a:off x="5708392" y="2708920"/>
              <a:ext cx="159752" cy="4309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801">
                  <a:solidFill>
                    <a:srgbClr val="0000FF"/>
                  </a:solidFill>
                  <a:ea typeface="宋体" panose="02010600030101010101" pitchFamily="2" charset="-122"/>
                </a:rPr>
                <a:t>x</a:t>
              </a:r>
              <a:endParaRPr lang="zh-CN" altLang="en-US" sz="2801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5622" name="TextBox 57"/>
            <p:cNvSpPr txBox="1">
              <a:spLocks noChangeArrowheads="1"/>
            </p:cNvSpPr>
            <p:nvPr/>
          </p:nvSpPr>
          <p:spPr bwMode="auto">
            <a:xfrm>
              <a:off x="7524328" y="4437112"/>
              <a:ext cx="159752" cy="4309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801">
                  <a:solidFill>
                    <a:srgbClr val="0000FF"/>
                  </a:solidFill>
                  <a:ea typeface="宋体" panose="02010600030101010101" pitchFamily="2" charset="-122"/>
                </a:rPr>
                <a:t>y</a:t>
              </a:r>
              <a:endParaRPr lang="zh-CN" altLang="en-US" sz="2801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5623" name="直角三角形 58"/>
            <p:cNvSpPr>
              <a:spLocks noChangeArrowheads="1"/>
            </p:cNvSpPr>
            <p:nvPr/>
          </p:nvSpPr>
          <p:spPr bwMode="auto">
            <a:xfrm flipV="1">
              <a:off x="5810204" y="3501008"/>
              <a:ext cx="1080000" cy="1080000"/>
            </a:xfrm>
            <a:prstGeom prst="rtTriangle">
              <a:avLst/>
            </a:prstGeom>
            <a:solidFill>
              <a:schemeClr val="accent1"/>
            </a:solidFill>
            <a:ln w="9525" algn="ctr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D2622A0E-BB7B-5C5B-027D-CCF8F826F933}"/>
              </a:ext>
            </a:extLst>
          </p:cNvPr>
          <p:cNvSpPr txBox="1">
            <a:spLocks noChangeArrowheads="1"/>
          </p:cNvSpPr>
          <p:nvPr/>
        </p:nvSpPr>
        <p:spPr>
          <a:xfrm>
            <a:off x="980628" y="4610626"/>
            <a:ext cx="5270517" cy="1121424"/>
          </a:xfrm>
          <a:prstGeom prst="rect">
            <a:avLst/>
          </a:prstGeom>
          <a:solidFill>
            <a:schemeClr val="accent3"/>
          </a:solidFill>
        </p:spPr>
        <p:txBody>
          <a:bodyPr vert="horz" lIns="121917" tIns="60958" rIns="121917" bIns="60958" rtlCol="0">
            <a:normAutofit/>
          </a:bodyPr>
          <a:lstStyle>
            <a:lvl1pPr marL="457200" indent="-4572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l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»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dirty="0" err="1"/>
              <a:t>cov</a:t>
            </a:r>
            <a:r>
              <a:rPr lang="en-US" altLang="zh-CN" dirty="0"/>
              <a:t>(X, Y)</a:t>
            </a:r>
            <a:r>
              <a:rPr lang="zh-CN" altLang="en-US" dirty="0"/>
              <a:t>＝</a:t>
            </a:r>
            <a:r>
              <a:rPr lang="en-US" altLang="zh-CN" dirty="0"/>
              <a:t>E{[X-E(X)][Y-E(Y)]}</a:t>
            </a:r>
          </a:p>
          <a:p>
            <a:pPr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			</a:t>
            </a:r>
            <a:r>
              <a:rPr lang="zh-CN" altLang="en-US" dirty="0"/>
              <a:t>＝</a:t>
            </a:r>
            <a:r>
              <a:rPr lang="en-US" altLang="zh-CN" dirty="0"/>
              <a:t>E(XY)-E(X)E(Y)</a:t>
            </a: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BB6DA5DF-3DFA-977D-60CE-D314884E63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70975" y="5342683"/>
          <a:ext cx="2895600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82700" imgH="330200" progId="Equation.3">
                  <p:embed/>
                </p:oleObj>
              </mc:Choice>
              <mc:Fallback>
                <p:oleObj name="Equation" r:id="rId8" imgW="1282700" imgH="330200" progId="Equation.3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BB6DA5DF-3DFA-977D-60CE-D314884E63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70975" y="5342683"/>
                        <a:ext cx="2895600" cy="746125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B63C6B80-3B61-F9E9-C531-DE99609909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70975" y="6051806"/>
          <a:ext cx="2895600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82700" imgH="330200" progId="Equation.3">
                  <p:embed/>
                </p:oleObj>
              </mc:Choice>
              <mc:Fallback>
                <p:oleObj name="Equation" r:id="rId10" imgW="1282700" imgH="330200" progId="Equation.3">
                  <p:embed/>
                  <p:pic>
                    <p:nvPicPr>
                      <p:cNvPr id="6" name="Object 6">
                        <a:extLst>
                          <a:ext uri="{FF2B5EF4-FFF2-40B4-BE49-F238E27FC236}">
                            <a16:creationId xmlns:a16="http://schemas.microsoft.com/office/drawing/2014/main" id="{B63C6B80-3B61-F9E9-C531-DE99609909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70975" y="6051806"/>
                        <a:ext cx="2895600" cy="746125"/>
                      </a:xfrm>
                      <a:prstGeom prst="rect">
                        <a:avLst/>
                      </a:prstGeom>
                      <a:solidFill>
                        <a:schemeClr val="accent3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F63A25E4-6ACE-0669-EAD0-DE915D5ED71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66127" y="2347126"/>
            <a:ext cx="1280447" cy="54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76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01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01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01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01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01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01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.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/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1414" grpId="0" autoUpdateAnimBg="0"/>
      <p:bldP spid="4" grpId="0" animBg="1"/>
      <p:bldP spid="4" grpId="1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dirty="0">
                <a:latin typeface="宋体" panose="02010600030101010101" pitchFamily="2" charset="-122"/>
              </a:rPr>
              <a:t>例</a:t>
            </a:r>
            <a:r>
              <a:rPr lang="en-US" altLang="zh-CN" dirty="0">
                <a:latin typeface="宋体" panose="02010600030101010101" pitchFamily="2" charset="-122"/>
              </a:rPr>
              <a:t>5</a:t>
            </a:r>
            <a:r>
              <a:rPr lang="zh-CN" altLang="en-US" dirty="0">
                <a:latin typeface="宋体" panose="02010600030101010101" pitchFamily="2" charset="-122"/>
              </a:rPr>
              <a:t>（续）</a:t>
            </a:r>
          </a:p>
        </p:txBody>
      </p:sp>
      <p:graphicFrame>
        <p:nvGraphicFramePr>
          <p:cNvPr id="402435" name="Object 3"/>
          <p:cNvGraphicFramePr>
            <a:graphicFrameLocks noChangeAspect="1"/>
          </p:cNvGraphicFramePr>
          <p:nvPr/>
        </p:nvGraphicFramePr>
        <p:xfrm>
          <a:off x="560691" y="991394"/>
          <a:ext cx="5548009" cy="957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33600" imgH="368300" progId="Equation.3">
                  <p:embed/>
                </p:oleObj>
              </mc:Choice>
              <mc:Fallback>
                <p:oleObj name="Equation" r:id="rId2" imgW="2133600" imgH="368300" progId="Equation.3">
                  <p:embed/>
                  <p:pic>
                    <p:nvPicPr>
                      <p:cNvPr id="40243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691" y="991394"/>
                        <a:ext cx="5548009" cy="9574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2436" name="Object 4"/>
          <p:cNvGraphicFramePr>
            <a:graphicFrameLocks noChangeAspect="1"/>
          </p:cNvGraphicFramePr>
          <p:nvPr/>
        </p:nvGraphicFramePr>
        <p:xfrm>
          <a:off x="560691" y="1875836"/>
          <a:ext cx="6075181" cy="957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36800" imgH="368300" progId="Equation.3">
                  <p:embed/>
                </p:oleObj>
              </mc:Choice>
              <mc:Fallback>
                <p:oleObj name="Equation" r:id="rId4" imgW="2336800" imgH="368300" progId="Equation.3">
                  <p:embed/>
                  <p:pic>
                    <p:nvPicPr>
                      <p:cNvPr id="40243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691" y="1875836"/>
                        <a:ext cx="6075181" cy="9574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2437" name="Object 5"/>
          <p:cNvGraphicFramePr>
            <a:graphicFrameLocks noChangeAspect="1"/>
          </p:cNvGraphicFramePr>
          <p:nvPr/>
        </p:nvGraphicFramePr>
        <p:xfrm>
          <a:off x="560691" y="2760278"/>
          <a:ext cx="5910043" cy="957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73300" imgH="368300" progId="Equation.3">
                  <p:embed/>
                </p:oleObj>
              </mc:Choice>
              <mc:Fallback>
                <p:oleObj name="Equation" r:id="rId6" imgW="2273300" imgH="368300" progId="Equation.3">
                  <p:embed/>
                  <p:pic>
                    <p:nvPicPr>
                      <p:cNvPr id="40243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691" y="2760278"/>
                        <a:ext cx="5910043" cy="9574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2438" name="Object 6"/>
          <p:cNvGraphicFramePr>
            <a:graphicFrameLocks noChangeAspect="1"/>
          </p:cNvGraphicFramePr>
          <p:nvPr/>
        </p:nvGraphicFramePr>
        <p:xfrm>
          <a:off x="560691" y="3644721"/>
          <a:ext cx="6175216" cy="957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74900" imgH="368300" progId="Equation.3">
                  <p:embed/>
                </p:oleObj>
              </mc:Choice>
              <mc:Fallback>
                <p:oleObj name="Equation" r:id="rId8" imgW="2374900" imgH="368300" progId="Equation.3">
                  <p:embed/>
                  <p:pic>
                    <p:nvPicPr>
                      <p:cNvPr id="40243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691" y="3644721"/>
                        <a:ext cx="6175216" cy="9574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2439" name="Object 7"/>
          <p:cNvGraphicFramePr>
            <a:graphicFrameLocks noChangeAspect="1"/>
          </p:cNvGraphicFramePr>
          <p:nvPr/>
        </p:nvGraphicFramePr>
        <p:xfrm>
          <a:off x="560691" y="4529163"/>
          <a:ext cx="6834182" cy="957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28900" imgH="368300" progId="Equation.3">
                  <p:embed/>
                </p:oleObj>
              </mc:Choice>
              <mc:Fallback>
                <p:oleObj name="Equation" r:id="rId10" imgW="2628900" imgH="368300" progId="Equation.3">
                  <p:embed/>
                  <p:pic>
                    <p:nvPicPr>
                      <p:cNvPr id="40243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691" y="4529163"/>
                        <a:ext cx="6834182" cy="9574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2440" name="Object 8"/>
          <p:cNvGraphicFramePr>
            <a:graphicFrameLocks noChangeAspect="1"/>
          </p:cNvGraphicFramePr>
          <p:nvPr/>
        </p:nvGraphicFramePr>
        <p:xfrm>
          <a:off x="560691" y="5412017"/>
          <a:ext cx="5910043" cy="957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273300" imgH="368300" progId="Equation.3">
                  <p:embed/>
                </p:oleObj>
              </mc:Choice>
              <mc:Fallback>
                <p:oleObj name="Equation" r:id="rId12" imgW="2273300" imgH="368300" progId="Equation.3">
                  <p:embed/>
                  <p:pic>
                    <p:nvPicPr>
                      <p:cNvPr id="40244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691" y="5412017"/>
                        <a:ext cx="5910043" cy="9574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99079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2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02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02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02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02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02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dirty="0">
                <a:latin typeface="宋体" panose="02010600030101010101" pitchFamily="2" charset="-122"/>
              </a:rPr>
              <a:t>例</a:t>
            </a:r>
            <a:r>
              <a:rPr lang="en-US" altLang="zh-CN" dirty="0">
                <a:latin typeface="宋体" panose="02010600030101010101" pitchFamily="2" charset="-122"/>
              </a:rPr>
              <a:t>5</a:t>
            </a:r>
            <a:r>
              <a:rPr lang="zh-CN" altLang="en-US" dirty="0">
                <a:latin typeface="宋体" panose="02010600030101010101" pitchFamily="2" charset="-122"/>
              </a:rPr>
              <a:t>（续）</a:t>
            </a:r>
          </a:p>
        </p:txBody>
      </p:sp>
      <p:graphicFrame>
        <p:nvGraphicFramePr>
          <p:cNvPr id="403459" name="Object 3"/>
          <p:cNvGraphicFramePr>
            <a:graphicFrameLocks noChangeAspect="1"/>
          </p:cNvGraphicFramePr>
          <p:nvPr/>
        </p:nvGraphicFramePr>
        <p:xfrm>
          <a:off x="460375" y="915194"/>
          <a:ext cx="8109240" cy="9447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78200" imgH="393700" progId="Equation.DSMT4">
                  <p:embed/>
                </p:oleObj>
              </mc:Choice>
              <mc:Fallback>
                <p:oleObj name="Equation" r:id="rId2" imgW="3378200" imgH="393700" progId="Equation.DSMT4">
                  <p:embed/>
                  <p:pic>
                    <p:nvPicPr>
                      <p:cNvPr id="40345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375" y="915194"/>
                        <a:ext cx="8109240" cy="9447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3460" name="Object 4"/>
          <p:cNvGraphicFramePr>
            <a:graphicFrameLocks noChangeAspect="1"/>
          </p:cNvGraphicFramePr>
          <p:nvPr/>
        </p:nvGraphicFramePr>
        <p:xfrm>
          <a:off x="679501" y="1867914"/>
          <a:ext cx="5644869" cy="957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71700" imgH="368300" progId="Equation.3">
                  <p:embed/>
                </p:oleObj>
              </mc:Choice>
              <mc:Fallback>
                <p:oleObj name="Equation" r:id="rId4" imgW="2171700" imgH="368300" progId="Equation.3">
                  <p:embed/>
                  <p:pic>
                    <p:nvPicPr>
                      <p:cNvPr id="4034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501" y="1867914"/>
                        <a:ext cx="5644869" cy="9574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3461" name="Object 5"/>
          <p:cNvGraphicFramePr>
            <a:graphicFrameLocks noChangeAspect="1"/>
          </p:cNvGraphicFramePr>
          <p:nvPr/>
        </p:nvGraphicFramePr>
        <p:xfrm>
          <a:off x="679500" y="2787290"/>
          <a:ext cx="3928384" cy="1122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11300" imgH="431800" progId="Equation.3">
                  <p:embed/>
                </p:oleObj>
              </mc:Choice>
              <mc:Fallback>
                <p:oleObj name="Equation" r:id="rId6" imgW="1511300" imgH="431800" progId="Equation.3">
                  <p:embed/>
                  <p:pic>
                    <p:nvPicPr>
                      <p:cNvPr id="40346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500" y="2787290"/>
                        <a:ext cx="3928384" cy="11226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3462" name="Object 6"/>
          <p:cNvGraphicFramePr>
            <a:graphicFrameLocks noChangeAspect="1"/>
          </p:cNvGraphicFramePr>
          <p:nvPr/>
        </p:nvGraphicFramePr>
        <p:xfrm>
          <a:off x="679500" y="3809877"/>
          <a:ext cx="6275252" cy="19149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13000" imgH="736600" progId="Equation.3">
                  <p:embed/>
                </p:oleObj>
              </mc:Choice>
              <mc:Fallback>
                <p:oleObj name="Equation" r:id="rId8" imgW="2413000" imgH="736600" progId="Equation.3">
                  <p:embed/>
                  <p:pic>
                    <p:nvPicPr>
                      <p:cNvPr id="40346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500" y="3809877"/>
                        <a:ext cx="6275252" cy="19149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346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88950" y="5967206"/>
            <a:ext cx="7873865" cy="892382"/>
          </a:xfrm>
        </p:spPr>
        <p:txBody>
          <a:bodyPr>
            <a:no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cs typeface="Times New Roman" panose="02020603050405020304" pitchFamily="18" charset="0"/>
              </a:rPr>
              <a:t>由于</a:t>
            </a:r>
            <a:r>
              <a:rPr lang="en-US" altLang="zh-CN" dirty="0">
                <a:cs typeface="Times New Roman" panose="02020603050405020304" pitchFamily="18" charset="0"/>
              </a:rPr>
              <a:t>f(x, y)≠</a:t>
            </a:r>
            <a:r>
              <a:rPr lang="en-US" altLang="zh-CN" dirty="0" err="1">
                <a:cs typeface="Times New Roman" panose="02020603050405020304" pitchFamily="18" charset="0"/>
              </a:rPr>
              <a:t>f</a:t>
            </a:r>
            <a:r>
              <a:rPr lang="en-US" altLang="zh-CN" baseline="-25000" dirty="0" err="1">
                <a:cs typeface="Times New Roman" panose="02020603050405020304" pitchFamily="18" charset="0"/>
              </a:rPr>
              <a:t>X</a:t>
            </a:r>
            <a:r>
              <a:rPr lang="en-US" altLang="zh-CN" dirty="0">
                <a:cs typeface="Times New Roman" panose="02020603050405020304" pitchFamily="18" charset="0"/>
              </a:rPr>
              <a:t>(x)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dirty="0" err="1">
                <a:cs typeface="Times New Roman" panose="02020603050405020304" pitchFamily="18" charset="0"/>
              </a:rPr>
              <a:t>f</a:t>
            </a:r>
            <a:r>
              <a:rPr lang="en-US" altLang="zh-CN" baseline="-25000" dirty="0" err="1">
                <a:cs typeface="Times New Roman" panose="02020603050405020304" pitchFamily="18" charset="0"/>
              </a:rPr>
              <a:t>Y</a:t>
            </a:r>
            <a:r>
              <a:rPr lang="en-US" altLang="zh-CN" dirty="0">
                <a:cs typeface="Times New Roman" panose="02020603050405020304" pitchFamily="18" charset="0"/>
              </a:rPr>
              <a:t>(y)</a:t>
            </a:r>
            <a:r>
              <a:rPr lang="zh-CN" altLang="en-US" dirty="0">
                <a:cs typeface="Times New Roman" panose="02020603050405020304" pitchFamily="18" charset="0"/>
              </a:rPr>
              <a:t>，故</a:t>
            </a:r>
            <a:r>
              <a:rPr lang="en-US" altLang="zh-CN" dirty="0">
                <a:cs typeface="Times New Roman" panose="02020603050405020304" pitchFamily="18" charset="0"/>
              </a:rPr>
              <a:t>X</a:t>
            </a:r>
            <a:r>
              <a:rPr lang="zh-CN" altLang="en-US" dirty="0"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cs typeface="Times New Roman" panose="02020603050405020304" pitchFamily="18" charset="0"/>
              </a:rPr>
              <a:t>Y</a:t>
            </a:r>
            <a:r>
              <a:rPr lang="zh-CN" altLang="en-US" dirty="0">
                <a:cs typeface="Times New Roman" panose="02020603050405020304" pitchFamily="18" charset="0"/>
              </a:rPr>
              <a:t>不独立。</a:t>
            </a:r>
          </a:p>
        </p:txBody>
      </p:sp>
    </p:spTree>
    <p:extLst>
      <p:ext uri="{BB962C8B-B14F-4D97-AF65-F5344CB8AC3E}">
        <p14:creationId xmlns:p14="http://schemas.microsoft.com/office/powerpoint/2010/main" val="4266205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3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3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3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3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3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3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3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3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3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3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46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三、条件数学期望</a:t>
            </a:r>
          </a:p>
        </p:txBody>
      </p:sp>
      <p:sp>
        <p:nvSpPr>
          <p:cNvPr id="277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-176227" y="1162832"/>
            <a:ext cx="11100611" cy="1119446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	</a:t>
            </a:r>
            <a:r>
              <a:rPr lang="zh-CN" altLang="en-US" dirty="0"/>
              <a:t>设</a:t>
            </a:r>
            <a:r>
              <a:rPr lang="en-US" altLang="zh-CN" dirty="0"/>
              <a:t>(X, Y)</a:t>
            </a:r>
            <a:r>
              <a:rPr lang="zh-CN" altLang="en-US" dirty="0"/>
              <a:t>为离散型二维随机变量，其</a:t>
            </a:r>
            <a:r>
              <a:rPr lang="zh-CN" altLang="en-US" dirty="0">
                <a:solidFill>
                  <a:srgbClr val="CC00CC"/>
                </a:solidFill>
              </a:rPr>
              <a:t>联合分布律</a:t>
            </a:r>
            <a:r>
              <a:rPr lang="zh-CN" altLang="en-US" dirty="0"/>
              <a:t>为</a:t>
            </a:r>
            <a:r>
              <a:rPr lang="en-US" altLang="zh-CN" dirty="0" err="1"/>
              <a:t>p</a:t>
            </a:r>
            <a:r>
              <a:rPr lang="en-US" altLang="zh-CN" baseline="-25000" dirty="0" err="1"/>
              <a:t>ij</a:t>
            </a:r>
            <a:r>
              <a:rPr lang="zh-CN" altLang="en-US" dirty="0"/>
              <a:t>，</a:t>
            </a:r>
            <a:r>
              <a:rPr lang="en-US" altLang="zh-CN" dirty="0" err="1"/>
              <a:t>i</a:t>
            </a:r>
            <a:r>
              <a:rPr lang="en-US" altLang="zh-CN" dirty="0"/>
              <a:t>, j=1, 2, …</a:t>
            </a:r>
            <a:r>
              <a:rPr lang="zh-CN" altLang="en-US" dirty="0"/>
              <a:t>，若</a:t>
            </a:r>
          </a:p>
        </p:txBody>
      </p:sp>
      <p:sp>
        <p:nvSpPr>
          <p:cNvPr id="277508" name="Rectangle 4"/>
          <p:cNvSpPr>
            <a:spLocks noChangeArrowheads="1"/>
          </p:cNvSpPr>
          <p:nvPr/>
        </p:nvSpPr>
        <p:spPr bwMode="auto">
          <a:xfrm>
            <a:off x="561253" y="3268343"/>
            <a:ext cx="8034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>
                <a:latin typeface="+mn-ea"/>
                <a:ea typeface="+mn-ea"/>
              </a:rPr>
              <a:t>则称</a:t>
            </a:r>
          </a:p>
        </p:txBody>
      </p:sp>
      <p:graphicFrame>
        <p:nvGraphicFramePr>
          <p:cNvPr id="277510" name="Object 6"/>
          <p:cNvGraphicFramePr>
            <a:graphicFrameLocks noChangeAspect="1"/>
          </p:cNvGraphicFramePr>
          <p:nvPr/>
        </p:nvGraphicFramePr>
        <p:xfrm>
          <a:off x="1494127" y="3039488"/>
          <a:ext cx="3302764" cy="943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11300" imgH="431800" progId="Equation.3">
                  <p:embed/>
                </p:oleObj>
              </mc:Choice>
              <mc:Fallback>
                <p:oleObj name="Equation" r:id="rId2" imgW="1511300" imgH="431800" progId="Equation.3">
                  <p:embed/>
                  <p:pic>
                    <p:nvPicPr>
                      <p:cNvPr id="27751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4127" y="3039488"/>
                        <a:ext cx="3302764" cy="9431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511" name="Rectangle 7"/>
          <p:cNvSpPr>
            <a:spLocks noChangeArrowheads="1"/>
          </p:cNvSpPr>
          <p:nvPr/>
        </p:nvSpPr>
        <p:spPr bwMode="auto">
          <a:xfrm>
            <a:off x="256382" y="4411608"/>
            <a:ext cx="80028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为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已知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Y=</a:t>
            </a:r>
            <a:r>
              <a:rPr lang="en-US" altLang="zh-CN" sz="2400" dirty="0" err="1">
                <a:solidFill>
                  <a:srgbClr val="0000FF"/>
                </a:solidFill>
                <a:latin typeface="+mn-ea"/>
                <a:ea typeface="+mn-ea"/>
              </a:rPr>
              <a:t>y</a:t>
            </a:r>
            <a:r>
              <a:rPr lang="en-US" altLang="zh-CN" sz="2400" baseline="-25000" dirty="0" err="1">
                <a:solidFill>
                  <a:srgbClr val="0000FF"/>
                </a:solidFill>
                <a:latin typeface="+mn-ea"/>
                <a:ea typeface="+mn-ea"/>
              </a:rPr>
              <a:t>j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的条件下，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R.V.X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的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条件数学期望</a:t>
            </a:r>
            <a:r>
              <a:rPr lang="zh-CN" altLang="en-US" sz="2400" dirty="0">
                <a:latin typeface="+mn-ea"/>
                <a:ea typeface="+mn-ea"/>
              </a:rPr>
              <a:t>，称</a:t>
            </a:r>
          </a:p>
        </p:txBody>
      </p:sp>
      <p:graphicFrame>
        <p:nvGraphicFramePr>
          <p:cNvPr id="277512" name="Object 8"/>
          <p:cNvGraphicFramePr>
            <a:graphicFrameLocks noChangeAspect="1"/>
          </p:cNvGraphicFramePr>
          <p:nvPr/>
        </p:nvGraphicFramePr>
        <p:xfrm>
          <a:off x="2225338" y="4902258"/>
          <a:ext cx="3301177" cy="97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11300" imgH="444500" progId="Equation.3">
                  <p:embed/>
                </p:oleObj>
              </mc:Choice>
              <mc:Fallback>
                <p:oleObj name="Equation" r:id="rId4" imgW="1511300" imgH="444500" progId="Equation.3">
                  <p:embed/>
                  <p:pic>
                    <p:nvPicPr>
                      <p:cNvPr id="27751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5338" y="4902258"/>
                        <a:ext cx="3301177" cy="97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513" name="Rectangle 9"/>
          <p:cNvSpPr>
            <a:spLocks noChangeArrowheads="1"/>
          </p:cNvSpPr>
          <p:nvPr/>
        </p:nvSpPr>
        <p:spPr bwMode="auto">
          <a:xfrm>
            <a:off x="256382" y="6089892"/>
            <a:ext cx="80028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为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已知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X=x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</a:rPr>
              <a:t>i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的条件下，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R.V.Y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的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条件数学期望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651A958-0574-8931-7EEC-9AEBFD33D1F9}"/>
              </a:ext>
            </a:extLst>
          </p:cNvPr>
          <p:cNvGrpSpPr/>
          <p:nvPr/>
        </p:nvGrpSpPr>
        <p:grpSpPr>
          <a:xfrm>
            <a:off x="2215812" y="1901688"/>
            <a:ext cx="5162157" cy="1019411"/>
            <a:chOff x="2215812" y="1901688"/>
            <a:chExt cx="5162157" cy="1019411"/>
          </a:xfrm>
        </p:grpSpPr>
        <p:graphicFrame>
          <p:nvGraphicFramePr>
            <p:cNvPr id="277509" name="Object 5"/>
            <p:cNvGraphicFramePr>
              <a:graphicFrameLocks noChangeAspect="1"/>
            </p:cNvGraphicFramePr>
            <p:nvPr/>
          </p:nvGraphicFramePr>
          <p:xfrm>
            <a:off x="2215812" y="1901688"/>
            <a:ext cx="5162157" cy="10194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247900" imgH="444500" progId="Equation.3">
                    <p:embed/>
                  </p:oleObj>
                </mc:Choice>
                <mc:Fallback>
                  <p:oleObj name="Equation" r:id="rId6" imgW="2247900" imgH="444500" progId="Equation.3">
                    <p:embed/>
                    <p:pic>
                      <p:nvPicPr>
                        <p:cNvPr id="277509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15812" y="1901688"/>
                          <a:ext cx="5162157" cy="10194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6FA08E75-5962-ED65-41F8-3585D1BD6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776818" y="2014947"/>
              <a:ext cx="2463800" cy="8713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61563556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7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7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7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7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7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7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7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7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7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7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07" grpId="0" build="p"/>
      <p:bldP spid="277508" grpId="0"/>
      <p:bldP spid="277511" grpId="0"/>
      <p:bldP spid="27751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三、</a:t>
            </a:r>
            <a:r>
              <a:rPr lang="zh-CN" altLang="en-US" dirty="0">
                <a:latin typeface="宋体" panose="02010600030101010101" pitchFamily="2" charset="-122"/>
              </a:rPr>
              <a:t>条件数学期望</a:t>
            </a:r>
          </a:p>
        </p:txBody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-23178" y="1058154"/>
            <a:ext cx="10213658" cy="1025762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	</a:t>
            </a:r>
            <a:r>
              <a:rPr lang="zh-CN" altLang="en-US" dirty="0"/>
              <a:t>设</a:t>
            </a:r>
            <a:r>
              <a:rPr lang="en-US" altLang="zh-CN" dirty="0"/>
              <a:t>(X, Y)</a:t>
            </a:r>
            <a:r>
              <a:rPr lang="zh-CN" altLang="en-US" dirty="0"/>
              <a:t>为连续型二维随机变量，其</a:t>
            </a:r>
            <a:r>
              <a:rPr lang="zh-CN" altLang="en-US" dirty="0">
                <a:solidFill>
                  <a:srgbClr val="CC00CC"/>
                </a:solidFill>
              </a:rPr>
              <a:t>联合概率密度</a:t>
            </a:r>
            <a:r>
              <a:rPr lang="zh-CN" altLang="en-US" dirty="0"/>
              <a:t>为</a:t>
            </a:r>
            <a:r>
              <a:rPr lang="en-US" altLang="zh-CN" dirty="0"/>
              <a:t>f(x, y)</a:t>
            </a:r>
            <a:r>
              <a:rPr lang="zh-CN" altLang="en-US" dirty="0"/>
              <a:t>，若</a:t>
            </a:r>
          </a:p>
        </p:txBody>
      </p:sp>
      <p:sp>
        <p:nvSpPr>
          <p:cNvPr id="278532" name="Rectangle 4"/>
          <p:cNvSpPr>
            <a:spLocks noChangeArrowheads="1"/>
          </p:cNvSpPr>
          <p:nvPr/>
        </p:nvSpPr>
        <p:spPr bwMode="auto">
          <a:xfrm>
            <a:off x="991006" y="2951093"/>
            <a:ext cx="8034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>
                <a:latin typeface="+mn-ea"/>
                <a:ea typeface="+mn-ea"/>
              </a:rPr>
              <a:t>则称</a:t>
            </a:r>
          </a:p>
        </p:txBody>
      </p:sp>
      <p:graphicFrame>
        <p:nvGraphicFramePr>
          <p:cNvPr id="278533" name="Object 5"/>
          <p:cNvGraphicFramePr>
            <a:graphicFrameLocks noChangeAspect="1"/>
          </p:cNvGraphicFramePr>
          <p:nvPr/>
        </p:nvGraphicFramePr>
        <p:xfrm>
          <a:off x="1395893" y="1912527"/>
          <a:ext cx="7494734" cy="75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63900" imgH="330200" progId="Equation.3">
                  <p:embed/>
                </p:oleObj>
              </mc:Choice>
              <mc:Fallback>
                <p:oleObj name="Equation" r:id="rId2" imgW="3263900" imgH="330200" progId="Equation.3">
                  <p:embed/>
                  <p:pic>
                    <p:nvPicPr>
                      <p:cNvPr id="27853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5893" y="1912527"/>
                        <a:ext cx="7494734" cy="75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34" name="Rectangle 6"/>
          <p:cNvSpPr>
            <a:spLocks noChangeArrowheads="1"/>
          </p:cNvSpPr>
          <p:nvPr/>
        </p:nvSpPr>
        <p:spPr bwMode="auto">
          <a:xfrm>
            <a:off x="686135" y="4261084"/>
            <a:ext cx="80028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>
                <a:latin typeface="+mn-ea"/>
                <a:ea typeface="+mn-ea"/>
              </a:rPr>
              <a:t>为</a:t>
            </a:r>
            <a:r>
              <a:rPr lang="zh-CN" altLang="en-US" sz="2400">
                <a:solidFill>
                  <a:srgbClr val="0000FF"/>
                </a:solidFill>
                <a:latin typeface="+mn-ea"/>
                <a:ea typeface="+mn-ea"/>
              </a:rPr>
              <a:t>已知</a:t>
            </a:r>
            <a:r>
              <a:rPr lang="en-US" altLang="zh-CN" sz="2400">
                <a:solidFill>
                  <a:srgbClr val="0000FF"/>
                </a:solidFill>
                <a:latin typeface="+mn-ea"/>
                <a:ea typeface="+mn-ea"/>
              </a:rPr>
              <a:t>Y=y</a:t>
            </a:r>
            <a:r>
              <a:rPr lang="zh-CN" altLang="en-US" sz="2400">
                <a:solidFill>
                  <a:srgbClr val="0000FF"/>
                </a:solidFill>
                <a:latin typeface="+mn-ea"/>
                <a:ea typeface="+mn-ea"/>
              </a:rPr>
              <a:t>的条件下，</a:t>
            </a:r>
            <a:r>
              <a:rPr lang="en-US" altLang="zh-CN" sz="2400">
                <a:solidFill>
                  <a:srgbClr val="0000FF"/>
                </a:solidFill>
                <a:latin typeface="+mn-ea"/>
                <a:ea typeface="+mn-ea"/>
              </a:rPr>
              <a:t>R.V.X</a:t>
            </a:r>
            <a:r>
              <a:rPr lang="zh-CN" altLang="en-US" sz="2400">
                <a:solidFill>
                  <a:srgbClr val="0000FF"/>
                </a:solidFill>
                <a:latin typeface="+mn-ea"/>
                <a:ea typeface="+mn-ea"/>
              </a:rPr>
              <a:t>的</a:t>
            </a:r>
            <a:r>
              <a:rPr lang="zh-CN" altLang="en-US" sz="2400">
                <a:solidFill>
                  <a:srgbClr val="CC00CC"/>
                </a:solidFill>
                <a:latin typeface="+mn-ea"/>
                <a:ea typeface="+mn-ea"/>
              </a:rPr>
              <a:t>条件数学期望</a:t>
            </a:r>
            <a:r>
              <a:rPr lang="zh-CN" altLang="en-US" sz="2400">
                <a:latin typeface="+mn-ea"/>
                <a:ea typeface="+mn-ea"/>
              </a:rPr>
              <a:t>，称</a:t>
            </a:r>
          </a:p>
        </p:txBody>
      </p:sp>
      <p:sp>
        <p:nvSpPr>
          <p:cNvPr id="278535" name="Rectangle 7"/>
          <p:cNvSpPr>
            <a:spLocks noChangeArrowheads="1"/>
          </p:cNvSpPr>
          <p:nvPr/>
        </p:nvSpPr>
        <p:spPr bwMode="auto">
          <a:xfrm>
            <a:off x="838570" y="5618711"/>
            <a:ext cx="80028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>
                <a:latin typeface="+mn-ea"/>
                <a:ea typeface="+mn-ea"/>
              </a:rPr>
              <a:t>为</a:t>
            </a:r>
            <a:r>
              <a:rPr lang="zh-CN" altLang="en-US" sz="2400">
                <a:solidFill>
                  <a:srgbClr val="0000FF"/>
                </a:solidFill>
                <a:latin typeface="+mn-ea"/>
                <a:ea typeface="+mn-ea"/>
              </a:rPr>
              <a:t>已知</a:t>
            </a:r>
            <a:r>
              <a:rPr lang="en-US" altLang="zh-CN" sz="2400">
                <a:solidFill>
                  <a:srgbClr val="0000FF"/>
                </a:solidFill>
                <a:latin typeface="+mn-ea"/>
                <a:ea typeface="+mn-ea"/>
              </a:rPr>
              <a:t>X=x</a:t>
            </a:r>
            <a:r>
              <a:rPr lang="zh-CN" altLang="en-US" sz="2400">
                <a:solidFill>
                  <a:srgbClr val="0000FF"/>
                </a:solidFill>
                <a:latin typeface="+mn-ea"/>
                <a:ea typeface="+mn-ea"/>
              </a:rPr>
              <a:t>的条件下，</a:t>
            </a:r>
            <a:r>
              <a:rPr lang="en-US" altLang="zh-CN" sz="2400">
                <a:solidFill>
                  <a:srgbClr val="0000FF"/>
                </a:solidFill>
                <a:latin typeface="+mn-ea"/>
                <a:ea typeface="+mn-ea"/>
              </a:rPr>
              <a:t>R.V.Y</a:t>
            </a:r>
            <a:r>
              <a:rPr lang="zh-CN" altLang="en-US" sz="2400">
                <a:solidFill>
                  <a:srgbClr val="0000FF"/>
                </a:solidFill>
                <a:latin typeface="+mn-ea"/>
                <a:ea typeface="+mn-ea"/>
              </a:rPr>
              <a:t>的</a:t>
            </a:r>
            <a:r>
              <a:rPr lang="zh-CN" altLang="en-US" sz="2400">
                <a:solidFill>
                  <a:srgbClr val="CC00CC"/>
                </a:solidFill>
                <a:latin typeface="+mn-ea"/>
                <a:ea typeface="+mn-ea"/>
              </a:rPr>
              <a:t>条件数学期望</a:t>
            </a:r>
            <a:r>
              <a:rPr lang="zh-CN" altLang="en-US" sz="2400">
                <a:latin typeface="+mn-ea"/>
                <a:ea typeface="+mn-ea"/>
              </a:rPr>
              <a:t>。</a:t>
            </a:r>
          </a:p>
        </p:txBody>
      </p:sp>
      <p:graphicFrame>
        <p:nvGraphicFramePr>
          <p:cNvPr id="278536" name="Object 8"/>
          <p:cNvGraphicFramePr>
            <a:graphicFrameLocks noChangeAspect="1"/>
          </p:cNvGraphicFramePr>
          <p:nvPr/>
        </p:nvGraphicFramePr>
        <p:xfrm>
          <a:off x="2251773" y="3403636"/>
          <a:ext cx="4520659" cy="75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68500" imgH="330200" progId="Equation.3">
                  <p:embed/>
                </p:oleObj>
              </mc:Choice>
              <mc:Fallback>
                <p:oleObj name="Equation" r:id="rId4" imgW="1968500" imgH="330200" progId="Equation.3">
                  <p:embed/>
                  <p:pic>
                    <p:nvPicPr>
                      <p:cNvPr id="27853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1773" y="3403636"/>
                        <a:ext cx="4520659" cy="75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37" name="Object 9"/>
          <p:cNvGraphicFramePr>
            <a:graphicFrameLocks noChangeAspect="1"/>
          </p:cNvGraphicFramePr>
          <p:nvPr/>
        </p:nvGraphicFramePr>
        <p:xfrm>
          <a:off x="2286705" y="4780316"/>
          <a:ext cx="4549241" cy="75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81200" imgH="330200" progId="Equation.3">
                  <p:embed/>
                </p:oleObj>
              </mc:Choice>
              <mc:Fallback>
                <p:oleObj name="Equation" r:id="rId6" imgW="1981200" imgH="330200" progId="Equation.3">
                  <p:embed/>
                  <p:pic>
                    <p:nvPicPr>
                      <p:cNvPr id="27853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705" y="4780316"/>
                        <a:ext cx="4549241" cy="75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05117075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8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8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8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8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8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8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8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8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8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8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8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8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8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8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31" grpId="0" build="p"/>
      <p:bldP spid="278532" grpId="0"/>
      <p:bldP spid="278534" grpId="0"/>
      <p:bldP spid="27853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定理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2561" y="867587"/>
            <a:ext cx="10200014" cy="1025762"/>
          </a:xfrm>
        </p:spPr>
        <p:txBody>
          <a:bodyPr>
            <a:noAutofit/>
          </a:bodyPr>
          <a:lstStyle/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	</a:t>
            </a:r>
            <a:r>
              <a:rPr lang="zh-CN" altLang="en-US" dirty="0"/>
              <a:t>设</a:t>
            </a:r>
            <a:r>
              <a:rPr lang="en-US" altLang="zh-CN" dirty="0"/>
              <a:t>g(x)</a:t>
            </a:r>
            <a:r>
              <a:rPr lang="zh-CN" altLang="en-US" dirty="0"/>
              <a:t>为连续函数，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	</a:t>
            </a:r>
            <a:r>
              <a:rPr lang="en-US" altLang="zh-CN" dirty="0">
                <a:solidFill>
                  <a:srgbClr val="00FF00"/>
                </a:solidFill>
              </a:rPr>
              <a:t>(1)</a:t>
            </a:r>
            <a:r>
              <a:rPr lang="zh-CN" altLang="en-US" dirty="0"/>
              <a:t>若</a:t>
            </a:r>
          </a:p>
        </p:txBody>
      </p:sp>
      <p:sp>
        <p:nvSpPr>
          <p:cNvPr id="30725" name="Rectangle 4"/>
          <p:cNvSpPr>
            <a:spLocks noChangeArrowheads="1"/>
          </p:cNvSpPr>
          <p:nvPr/>
        </p:nvSpPr>
        <p:spPr bwMode="auto">
          <a:xfrm>
            <a:off x="892793" y="2801440"/>
            <a:ext cx="4940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/>
              <a:t>则</a:t>
            </a:r>
          </a:p>
        </p:txBody>
      </p:sp>
      <p:graphicFrame>
        <p:nvGraphicFramePr>
          <p:cNvPr id="30726" name="Object 5"/>
          <p:cNvGraphicFramePr>
            <a:graphicFrameLocks noChangeAspect="1"/>
          </p:cNvGraphicFramePr>
          <p:nvPr/>
        </p:nvGraphicFramePr>
        <p:xfrm>
          <a:off x="1679575" y="1677194"/>
          <a:ext cx="4110989" cy="75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90700" imgH="330200" progId="Equation.3">
                  <p:embed/>
                </p:oleObj>
              </mc:Choice>
              <mc:Fallback>
                <p:oleObj name="Equation" r:id="rId2" imgW="1790700" imgH="330200" progId="Equation.3">
                  <p:embed/>
                  <p:pic>
                    <p:nvPicPr>
                      <p:cNvPr id="3072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9575" y="1677194"/>
                        <a:ext cx="4110989" cy="75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7" name="Object 6"/>
          <p:cNvGraphicFramePr>
            <a:graphicFrameLocks noChangeAspect="1"/>
          </p:cNvGraphicFramePr>
          <p:nvPr/>
        </p:nvGraphicFramePr>
        <p:xfrm>
          <a:off x="1425523" y="2653565"/>
          <a:ext cx="5484494" cy="75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87600" imgH="330200" progId="Equation.3">
                  <p:embed/>
                </p:oleObj>
              </mc:Choice>
              <mc:Fallback>
                <p:oleObj name="Equation" r:id="rId4" imgW="2387600" imgH="330200" progId="Equation.3">
                  <p:embed/>
                  <p:pic>
                    <p:nvPicPr>
                      <p:cNvPr id="3072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5523" y="2653565"/>
                        <a:ext cx="5484494" cy="75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8" name="Object 7"/>
          <p:cNvGraphicFramePr>
            <a:graphicFrameLocks noChangeAspect="1"/>
          </p:cNvGraphicFramePr>
          <p:nvPr/>
        </p:nvGraphicFramePr>
        <p:xfrm>
          <a:off x="1440033" y="4416382"/>
          <a:ext cx="5538482" cy="75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13000" imgH="330200" progId="Equation.3">
                  <p:embed/>
                </p:oleObj>
              </mc:Choice>
              <mc:Fallback>
                <p:oleObj name="Equation" r:id="rId6" imgW="2413000" imgH="330200" progId="Equation.3">
                  <p:embed/>
                  <p:pic>
                    <p:nvPicPr>
                      <p:cNvPr id="3072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0033" y="4416382"/>
                        <a:ext cx="5538482" cy="75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9" name="Object 8"/>
          <p:cNvGraphicFramePr>
            <a:graphicFrameLocks noChangeAspect="1"/>
          </p:cNvGraphicFramePr>
          <p:nvPr/>
        </p:nvGraphicFramePr>
        <p:xfrm>
          <a:off x="1739562" y="3549903"/>
          <a:ext cx="4110989" cy="75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90700" imgH="330200" progId="Equation.3">
                  <p:embed/>
                </p:oleObj>
              </mc:Choice>
              <mc:Fallback>
                <p:oleObj name="Equation" r:id="rId8" imgW="1790700" imgH="330200" progId="Equation.3">
                  <p:embed/>
                  <p:pic>
                    <p:nvPicPr>
                      <p:cNvPr id="3072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9562" y="3549903"/>
                        <a:ext cx="4110989" cy="75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0" name="Rectangle 9"/>
          <p:cNvSpPr>
            <a:spLocks noChangeArrowheads="1"/>
          </p:cNvSpPr>
          <p:nvPr/>
        </p:nvSpPr>
        <p:spPr bwMode="auto">
          <a:xfrm>
            <a:off x="883268" y="3732386"/>
            <a:ext cx="8531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zh-CN" sz="2400" dirty="0">
                <a:solidFill>
                  <a:srgbClr val="00FF00"/>
                </a:solidFill>
              </a:rPr>
              <a:t>(2)</a:t>
            </a:r>
            <a:r>
              <a:rPr lang="zh-CN" altLang="en-US" sz="2400" dirty="0"/>
              <a:t>若</a:t>
            </a:r>
          </a:p>
        </p:txBody>
      </p:sp>
      <p:sp>
        <p:nvSpPr>
          <p:cNvPr id="30731" name="Rectangle 10"/>
          <p:cNvSpPr>
            <a:spLocks noChangeArrowheads="1"/>
          </p:cNvSpPr>
          <p:nvPr/>
        </p:nvSpPr>
        <p:spPr bwMode="auto">
          <a:xfrm>
            <a:off x="945987" y="4575543"/>
            <a:ext cx="4940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/>
              <a:t>则</a:t>
            </a:r>
          </a:p>
        </p:txBody>
      </p:sp>
    </p:spTree>
    <p:extLst>
      <p:ext uri="{BB962C8B-B14F-4D97-AF65-F5344CB8AC3E}">
        <p14:creationId xmlns:p14="http://schemas.microsoft.com/office/powerpoint/2010/main" val="2014487732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554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宋体" panose="02010600030101010101" pitchFamily="2" charset="-122"/>
              </a:rPr>
              <a:t>四、条件方差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75" y="1524794"/>
            <a:ext cx="11128058" cy="1211543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	</a:t>
            </a:r>
            <a:r>
              <a:rPr lang="zh-CN" altLang="en-US" dirty="0"/>
              <a:t>称</a:t>
            </a:r>
            <a:r>
              <a:rPr lang="en-US" altLang="zh-CN" dirty="0"/>
              <a:t>D(X|Y=y)</a:t>
            </a:r>
            <a:r>
              <a:rPr lang="zh-CN" altLang="en-US" dirty="0"/>
              <a:t>＝</a:t>
            </a:r>
            <a:r>
              <a:rPr lang="en-US" altLang="zh-CN" dirty="0"/>
              <a:t>E[X</a:t>
            </a:r>
            <a:r>
              <a:rPr lang="en-US" altLang="zh-CN" dirty="0">
                <a:latin typeface="黑体" panose="02010609060101010101" pitchFamily="49" charset="-122"/>
              </a:rPr>
              <a:t>-</a:t>
            </a:r>
            <a:r>
              <a:rPr lang="en-US" altLang="zh-CN" dirty="0"/>
              <a:t>E(X|Y=y)]</a:t>
            </a:r>
            <a:r>
              <a:rPr lang="en-US" altLang="zh-CN" baseline="30000" dirty="0"/>
              <a:t>2</a:t>
            </a:r>
            <a:r>
              <a:rPr lang="zh-CN" altLang="en-US" dirty="0"/>
              <a:t>为</a:t>
            </a:r>
            <a:r>
              <a:rPr lang="en-US" altLang="zh-CN" dirty="0">
                <a:solidFill>
                  <a:srgbClr val="0000FF"/>
                </a:solidFill>
              </a:rPr>
              <a:t>Y=y</a:t>
            </a:r>
            <a:r>
              <a:rPr lang="zh-CN" altLang="en-US" dirty="0">
                <a:solidFill>
                  <a:srgbClr val="0000FF"/>
                </a:solidFill>
              </a:rPr>
              <a:t>条件下，随机变量</a:t>
            </a:r>
            <a:r>
              <a:rPr lang="en-US" altLang="zh-CN" dirty="0">
                <a:solidFill>
                  <a:srgbClr val="0000FF"/>
                </a:solidFill>
              </a:rPr>
              <a:t>X</a:t>
            </a:r>
            <a:r>
              <a:rPr lang="zh-CN" altLang="en-US" dirty="0">
                <a:solidFill>
                  <a:srgbClr val="0000FF"/>
                </a:solidFill>
              </a:rPr>
              <a:t>的</a:t>
            </a:r>
            <a:r>
              <a:rPr lang="zh-CN" altLang="en-US" dirty="0">
                <a:solidFill>
                  <a:srgbClr val="CC00CC"/>
                </a:solidFill>
              </a:rPr>
              <a:t>条件方差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376291493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674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条件数学期望的性质</a:t>
            </a:r>
          </a:p>
        </p:txBody>
      </p:sp>
      <p:sp>
        <p:nvSpPr>
          <p:cNvPr id="280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0375" y="1604852"/>
            <a:ext cx="11353800" cy="4796742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CN" dirty="0"/>
              <a:t>E(C|Y)</a:t>
            </a:r>
            <a:r>
              <a:rPr lang="zh-CN" altLang="en-US" dirty="0"/>
              <a:t>＝</a:t>
            </a:r>
            <a:r>
              <a:rPr lang="en-US" altLang="zh-CN" dirty="0"/>
              <a:t>C</a:t>
            </a:r>
            <a:r>
              <a:rPr lang="zh-CN" altLang="en-US" dirty="0"/>
              <a:t>，</a:t>
            </a:r>
            <a:r>
              <a:rPr lang="en-US" altLang="zh-CN" dirty="0"/>
              <a:t>C</a:t>
            </a:r>
            <a:r>
              <a:rPr lang="zh-CN" altLang="en-US" dirty="0"/>
              <a:t>为常数；</a:t>
            </a:r>
          </a:p>
          <a:p>
            <a:pPr eaLnBrk="1" hangingPunct="1"/>
            <a:r>
              <a:rPr lang="en-US" altLang="zh-CN" dirty="0"/>
              <a:t>E(</a:t>
            </a:r>
            <a:r>
              <a:rPr lang="en-US" altLang="zh-CN" dirty="0" err="1"/>
              <a:t>aX+bY|Z</a:t>
            </a:r>
            <a:r>
              <a:rPr lang="en-US" altLang="zh-CN" dirty="0"/>
              <a:t>)</a:t>
            </a:r>
            <a:r>
              <a:rPr lang="zh-CN" altLang="en-US" dirty="0"/>
              <a:t>＝</a:t>
            </a:r>
            <a:r>
              <a:rPr lang="en-US" altLang="zh-CN" dirty="0" err="1"/>
              <a:t>aE</a:t>
            </a:r>
            <a:r>
              <a:rPr lang="en-US" altLang="zh-CN" dirty="0"/>
              <a:t>(X|Z)+</a:t>
            </a:r>
            <a:r>
              <a:rPr lang="en-US" altLang="zh-CN" dirty="0" err="1"/>
              <a:t>bE</a:t>
            </a:r>
            <a:r>
              <a:rPr lang="en-US" altLang="zh-CN" dirty="0"/>
              <a:t>(Y|Z)</a:t>
            </a:r>
            <a:r>
              <a:rPr lang="zh-CN" altLang="en-US" dirty="0"/>
              <a:t>，</a:t>
            </a:r>
            <a:r>
              <a:rPr lang="en-US" altLang="zh-CN" dirty="0"/>
              <a:t>a, b</a:t>
            </a:r>
            <a:r>
              <a:rPr lang="zh-CN" altLang="en-US" dirty="0"/>
              <a:t>为常数；</a:t>
            </a:r>
          </a:p>
          <a:p>
            <a:pPr eaLnBrk="1" hangingPunct="1"/>
            <a:r>
              <a:rPr lang="zh-CN" altLang="en-US" dirty="0"/>
              <a:t>如果</a:t>
            </a:r>
            <a:r>
              <a:rPr lang="en-US" altLang="zh-CN" dirty="0"/>
              <a:t>X</a:t>
            </a:r>
            <a:r>
              <a:rPr lang="zh-CN" altLang="en-US" dirty="0"/>
              <a:t>与</a:t>
            </a:r>
            <a:r>
              <a:rPr lang="en-US" altLang="zh-CN" dirty="0"/>
              <a:t>Y</a:t>
            </a:r>
            <a:r>
              <a:rPr lang="zh-CN" altLang="en-US" dirty="0"/>
              <a:t>独立，则</a:t>
            </a:r>
            <a:r>
              <a:rPr lang="en-US" altLang="zh-CN" dirty="0"/>
              <a:t>E(X|Y)</a:t>
            </a:r>
            <a:r>
              <a:rPr lang="zh-CN" altLang="en-US" dirty="0"/>
              <a:t>＝</a:t>
            </a:r>
            <a:r>
              <a:rPr lang="en-US" altLang="zh-CN" dirty="0"/>
              <a:t>E(X)</a:t>
            </a:r>
            <a:r>
              <a:rPr lang="zh-CN" altLang="en-US" dirty="0"/>
              <a:t>；</a:t>
            </a:r>
          </a:p>
          <a:p>
            <a:pPr eaLnBrk="1" hangingPunct="1"/>
            <a:r>
              <a:rPr lang="en-US" altLang="zh-CN" dirty="0"/>
              <a:t>E(X)</a:t>
            </a:r>
            <a:r>
              <a:rPr lang="zh-CN" altLang="en-US" dirty="0"/>
              <a:t>＝</a:t>
            </a:r>
            <a:r>
              <a:rPr lang="en-US" altLang="zh-CN" dirty="0"/>
              <a:t>E[E(X|Y)]</a:t>
            </a:r>
            <a:r>
              <a:rPr lang="zh-CN" altLang="en-US" dirty="0"/>
              <a:t>；</a:t>
            </a:r>
          </a:p>
          <a:p>
            <a:pPr eaLnBrk="1" hangingPunct="1"/>
            <a:r>
              <a:rPr lang="en-US" altLang="zh-CN" dirty="0"/>
              <a:t>E[g(X)]</a:t>
            </a:r>
            <a:r>
              <a:rPr lang="zh-CN" altLang="en-US" dirty="0"/>
              <a:t>＝</a:t>
            </a:r>
            <a:r>
              <a:rPr lang="en-US" altLang="zh-CN" dirty="0"/>
              <a:t>E{E[g(X)|Y]}</a:t>
            </a:r>
            <a:r>
              <a:rPr lang="zh-CN" altLang="en-US" dirty="0"/>
              <a:t>；</a:t>
            </a:r>
          </a:p>
          <a:p>
            <a:pPr eaLnBrk="1" hangingPunct="1"/>
            <a:r>
              <a:rPr lang="en-US" altLang="zh-CN" dirty="0"/>
              <a:t>E[g(X)h(Y)|X]</a:t>
            </a:r>
            <a:r>
              <a:rPr lang="zh-CN" altLang="en-US" dirty="0"/>
              <a:t>＝</a:t>
            </a:r>
            <a:r>
              <a:rPr lang="en-US" altLang="zh-CN" dirty="0"/>
              <a:t>g(X)E[h(Y)|X]</a:t>
            </a:r>
            <a:r>
              <a:rPr lang="zh-CN" altLang="en-US" dirty="0"/>
              <a:t>；</a:t>
            </a:r>
            <a:r>
              <a:rPr lang="en-US" altLang="zh-CN" dirty="0"/>
              <a:t>E[g(X)h(Y)|Y]</a:t>
            </a:r>
            <a:r>
              <a:rPr lang="zh-CN" altLang="en-US" dirty="0"/>
              <a:t>＝</a:t>
            </a:r>
            <a:r>
              <a:rPr lang="en-US" altLang="zh-CN" dirty="0"/>
              <a:t>h(Y)E[g(X)|Y]</a:t>
            </a:r>
            <a:r>
              <a:rPr lang="zh-CN" altLang="en-US" dirty="0"/>
              <a:t>；</a:t>
            </a:r>
          </a:p>
          <a:p>
            <a:pPr eaLnBrk="1" hangingPunct="1"/>
            <a:r>
              <a:rPr lang="en-US" altLang="zh-CN" dirty="0"/>
              <a:t>E[g(X, Y)]</a:t>
            </a:r>
            <a:r>
              <a:rPr lang="zh-CN" altLang="en-US" dirty="0"/>
              <a:t>＝</a:t>
            </a:r>
            <a:r>
              <a:rPr lang="en-US" altLang="zh-CN" dirty="0"/>
              <a:t>E{E[g(X, Y)|Y]}</a:t>
            </a:r>
            <a:r>
              <a:rPr lang="zh-CN" altLang="en-US" dirty="0"/>
              <a:t>；</a:t>
            </a:r>
          </a:p>
          <a:p>
            <a:pPr eaLnBrk="1" hangingPunct="1"/>
            <a:r>
              <a:rPr lang="en-US" altLang="zh-CN" dirty="0"/>
              <a:t>E[X-E(X|Y)]</a:t>
            </a:r>
            <a:r>
              <a:rPr lang="en-US" altLang="zh-CN" baseline="30000" dirty="0"/>
              <a:t>2</a:t>
            </a:r>
            <a:r>
              <a:rPr lang="en-US" altLang="zh-CN" dirty="0"/>
              <a:t>≤E[X-E(Y)]</a:t>
            </a:r>
            <a:r>
              <a:rPr lang="en-US" altLang="zh-CN" baseline="30000" dirty="0"/>
              <a:t>2</a:t>
            </a:r>
            <a:r>
              <a:rPr lang="zh-CN" altLang="en-US" dirty="0"/>
              <a:t>。</a:t>
            </a:r>
          </a:p>
        </p:txBody>
      </p:sp>
      <p:sp>
        <p:nvSpPr>
          <p:cNvPr id="32773" name="Rectangle 4"/>
          <p:cNvSpPr>
            <a:spLocks noChangeArrowheads="1"/>
          </p:cNvSpPr>
          <p:nvPr/>
        </p:nvSpPr>
        <p:spPr bwMode="auto">
          <a:xfrm>
            <a:off x="155575" y="999323"/>
            <a:ext cx="1128045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en-US" altLang="zh-CN" sz="2400" dirty="0">
                <a:latin typeface="+mn-ea"/>
                <a:ea typeface="+mn-ea"/>
              </a:rPr>
              <a:t>    </a:t>
            </a:r>
            <a:r>
              <a:rPr lang="zh-CN" altLang="en-US" sz="2400" dirty="0">
                <a:latin typeface="+mn-ea"/>
                <a:ea typeface="+mn-ea"/>
              </a:rPr>
              <a:t>设</a:t>
            </a:r>
            <a:r>
              <a:rPr lang="en-US" altLang="zh-CN" sz="2400" dirty="0">
                <a:latin typeface="+mn-ea"/>
                <a:ea typeface="+mn-ea"/>
              </a:rPr>
              <a:t>X, Y, Z</a:t>
            </a:r>
            <a:r>
              <a:rPr lang="zh-CN" altLang="en-US" sz="2400" dirty="0">
                <a:latin typeface="+mn-ea"/>
                <a:ea typeface="+mn-ea"/>
              </a:rPr>
              <a:t>为随机变量，</a:t>
            </a:r>
            <a:r>
              <a:rPr lang="en-US" altLang="zh-CN" sz="2400" dirty="0">
                <a:latin typeface="+mn-ea"/>
                <a:ea typeface="+mn-ea"/>
              </a:rPr>
              <a:t>g(.)</a:t>
            </a:r>
            <a:r>
              <a:rPr lang="zh-CN" altLang="en-US" sz="2400" dirty="0">
                <a:latin typeface="+mn-ea"/>
                <a:ea typeface="+mn-ea"/>
              </a:rPr>
              <a:t>和</a:t>
            </a:r>
            <a:r>
              <a:rPr lang="en-US" altLang="zh-CN" sz="2400" dirty="0">
                <a:latin typeface="+mn-ea"/>
                <a:ea typeface="+mn-ea"/>
              </a:rPr>
              <a:t>h(.)</a:t>
            </a:r>
            <a:r>
              <a:rPr lang="zh-CN" altLang="en-US" sz="2400" dirty="0">
                <a:latin typeface="+mn-ea"/>
                <a:ea typeface="+mn-ea"/>
              </a:rPr>
              <a:t>为连续函数，下列期望和条件期望均存在，则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702209" y="3706632"/>
            <a:ext cx="2372275" cy="789170"/>
            <a:chOff x="3408" y="2562"/>
            <a:chExt cx="1494" cy="497"/>
          </a:xfrm>
        </p:grpSpPr>
        <p:sp>
          <p:nvSpPr>
            <p:cNvPr id="32777" name="Rectangle 6"/>
            <p:cNvSpPr>
              <a:spLocks noChangeArrowheads="1"/>
            </p:cNvSpPr>
            <p:nvPr/>
          </p:nvSpPr>
          <p:spPr bwMode="auto">
            <a:xfrm>
              <a:off x="3650" y="2594"/>
              <a:ext cx="1252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buClrTx/>
                <a:buFontTx/>
                <a:buNone/>
              </a:pPr>
              <a:r>
                <a:rPr lang="zh-CN" altLang="en-US" sz="2801">
                  <a:solidFill>
                    <a:srgbClr val="0000FF"/>
                  </a:solidFill>
                </a:rPr>
                <a:t>全期望公式</a:t>
              </a:r>
            </a:p>
          </p:txBody>
        </p:sp>
        <p:sp>
          <p:nvSpPr>
            <p:cNvPr id="32778" name="AutoShape 7"/>
            <p:cNvSpPr>
              <a:spLocks/>
            </p:cNvSpPr>
            <p:nvPr/>
          </p:nvSpPr>
          <p:spPr bwMode="auto">
            <a:xfrm>
              <a:off x="3408" y="2562"/>
              <a:ext cx="272" cy="419"/>
            </a:xfrm>
            <a:prstGeom prst="rightBrace">
              <a:avLst>
                <a:gd name="adj1" fmla="val 9721"/>
                <a:gd name="adj2" fmla="val 50000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9616262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0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0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0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0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0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0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0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0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0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0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0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0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0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0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80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80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579" grpId="0" build="p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dirty="0"/>
              <a:t>例</a:t>
            </a:r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319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917" y="1143794"/>
            <a:ext cx="10978516" cy="2586637"/>
          </a:xfrm>
        </p:spPr>
        <p:txBody>
          <a:bodyPr>
            <a:normAutofit/>
          </a:bodyPr>
          <a:lstStyle/>
          <a:p>
            <a:pPr marL="0" indent="719282" algn="just">
              <a:buNone/>
            </a:pPr>
            <a:r>
              <a:rPr lang="zh-CN" altLang="en-US" dirty="0"/>
              <a:t>设在某一天内进入某商店的顾客数是数学期望为</a:t>
            </a:r>
            <a:r>
              <a:rPr lang="en-US" altLang="zh-CN" dirty="0"/>
              <a:t>100</a:t>
            </a:r>
            <a:r>
              <a:rPr lang="zh-CN" altLang="en-US" dirty="0"/>
              <a:t>的随机变量。又设这些顾客所花的钱为数学期望是</a:t>
            </a:r>
            <a:r>
              <a:rPr lang="en-US" altLang="zh-CN" dirty="0"/>
              <a:t>40</a:t>
            </a:r>
            <a:r>
              <a:rPr lang="zh-CN" altLang="en-US" dirty="0"/>
              <a:t>元的相互独立的随机变量。再设一个顾客花钱数和进入商店的总人数相互独立。试问在给定一天内，顾客在该店所花的钱的期望值是多少？</a:t>
            </a:r>
          </a:p>
        </p:txBody>
      </p:sp>
      <p:graphicFrame>
        <p:nvGraphicFramePr>
          <p:cNvPr id="319493" name="Object 5"/>
          <p:cNvGraphicFramePr>
            <a:graphicFrameLocks noChangeAspect="1"/>
          </p:cNvGraphicFramePr>
          <p:nvPr/>
        </p:nvGraphicFramePr>
        <p:xfrm>
          <a:off x="2859352" y="4202326"/>
          <a:ext cx="1371918" cy="914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336" imgH="406224" progId="Equation.3">
                  <p:embed/>
                </p:oleObj>
              </mc:Choice>
              <mc:Fallback>
                <p:oleObj name="Equation" r:id="rId3" imgW="609336" imgH="406224" progId="Equation.3">
                  <p:embed/>
                  <p:pic>
                    <p:nvPicPr>
                      <p:cNvPr id="31949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9352" y="4202326"/>
                        <a:ext cx="1371918" cy="914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9494" name="Rectangle 6"/>
          <p:cNvSpPr>
            <a:spLocks noChangeArrowheads="1"/>
          </p:cNvSpPr>
          <p:nvPr/>
        </p:nvSpPr>
        <p:spPr bwMode="auto">
          <a:xfrm>
            <a:off x="660729" y="3753465"/>
            <a:ext cx="1092770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FF9900"/>
                </a:solidFill>
                <a:latin typeface="+mn-ea"/>
                <a:ea typeface="+mn-ea"/>
              </a:rPr>
              <a:t>解</a:t>
            </a:r>
            <a:r>
              <a:rPr lang="zh-CN" altLang="en-US" sz="2400" dirty="0">
                <a:latin typeface="+mn-ea"/>
                <a:ea typeface="+mn-ea"/>
              </a:rPr>
              <a:t>：设</a:t>
            </a:r>
            <a:r>
              <a:rPr lang="en-US" altLang="zh-CN" sz="2400" dirty="0">
                <a:latin typeface="+mn-ea"/>
                <a:ea typeface="+mn-ea"/>
              </a:rPr>
              <a:t>N</a:t>
            </a:r>
            <a:r>
              <a:rPr lang="zh-CN" altLang="en-US" sz="2400" dirty="0">
                <a:latin typeface="+mn-ea"/>
                <a:ea typeface="+mn-ea"/>
              </a:rPr>
              <a:t>表示进入某商店的顾客人数，</a:t>
            </a:r>
            <a:r>
              <a:rPr lang="en-US" altLang="zh-CN" sz="2400" dirty="0">
                <a:latin typeface="+mn-ea"/>
                <a:ea typeface="+mn-ea"/>
              </a:rPr>
              <a:t>X</a:t>
            </a:r>
            <a:r>
              <a:rPr lang="en-US" altLang="zh-CN" sz="2400" baseline="-25000" dirty="0">
                <a:latin typeface="+mn-ea"/>
                <a:ea typeface="+mn-ea"/>
              </a:rPr>
              <a:t>i</a:t>
            </a:r>
            <a:r>
              <a:rPr lang="zh-CN" altLang="en-US" sz="2400" dirty="0">
                <a:latin typeface="+mn-ea"/>
                <a:ea typeface="+mn-ea"/>
              </a:rPr>
              <a:t>表示第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zh-CN" altLang="en-US" sz="2400" dirty="0">
                <a:latin typeface="+mn-ea"/>
                <a:ea typeface="+mn-ea"/>
              </a:rPr>
              <a:t>个顾客所花的钱数，则</a:t>
            </a:r>
            <a:r>
              <a:rPr lang="en-US" altLang="zh-CN" sz="2400" dirty="0">
                <a:latin typeface="+mn-ea"/>
                <a:ea typeface="+mn-ea"/>
              </a:rPr>
              <a:t>N</a:t>
            </a:r>
            <a:r>
              <a:rPr lang="zh-CN" altLang="en-US" sz="2400" dirty="0">
                <a:latin typeface="+mn-ea"/>
                <a:ea typeface="+mn-ea"/>
              </a:rPr>
              <a:t>个顾客所花钱的总数为     	，现在要求</a:t>
            </a:r>
            <a:r>
              <a:rPr lang="en-US" altLang="zh-CN" sz="2400" dirty="0">
                <a:latin typeface="+mn-ea"/>
                <a:ea typeface="+mn-ea"/>
              </a:rPr>
              <a:t>E[Y]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E7123AC-AFCC-A370-5170-668DA388ED72}"/>
              </a:ext>
            </a:extLst>
          </p:cNvPr>
          <p:cNvSpPr txBox="1"/>
          <p:nvPr/>
        </p:nvSpPr>
        <p:spPr>
          <a:xfrm>
            <a:off x="7394575" y="4555832"/>
            <a:ext cx="3289900" cy="461665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+mn-ea"/>
              </a:rPr>
              <a:t>E[g(X)]</a:t>
            </a:r>
            <a:r>
              <a:rPr lang="zh-CN" altLang="en-US" b="1" dirty="0">
                <a:latin typeface="+mn-ea"/>
              </a:rPr>
              <a:t>＝</a:t>
            </a:r>
            <a:r>
              <a:rPr lang="en-US" altLang="zh-CN" b="1" dirty="0">
                <a:latin typeface="+mn-ea"/>
              </a:rPr>
              <a:t>E{E[g(X)|Y]}</a:t>
            </a:r>
            <a:endParaRPr lang="en-US" b="1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EABD8F8-72E2-A33C-9A40-F728CDD87189}"/>
              </a:ext>
            </a:extLst>
          </p:cNvPr>
          <p:cNvSpPr txBox="1"/>
          <p:nvPr/>
        </p:nvSpPr>
        <p:spPr>
          <a:xfrm>
            <a:off x="2746375" y="5588833"/>
            <a:ext cx="31908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+mn-ea"/>
              </a:rPr>
              <a:t>E[Y]</a:t>
            </a:r>
            <a:r>
              <a:rPr lang="zh-CN" altLang="en-US" b="1" dirty="0">
                <a:latin typeface="+mn-ea"/>
              </a:rPr>
              <a:t>＝ </a:t>
            </a:r>
            <a:r>
              <a:rPr lang="en-US" altLang="zh-CN" b="1" dirty="0">
                <a:latin typeface="+mn-ea"/>
              </a:rPr>
              <a:t>E[Y|N=n]</a:t>
            </a:r>
            <a:endParaRPr lang="en-US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01552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9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9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9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9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9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9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1" grpId="0" build="p"/>
      <p:bldP spid="319494" grpId="0" autoUpdateAnimBg="0"/>
      <p:bldP spid="3" grpId="0" animBg="1"/>
      <p:bldP spid="4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dirty="0"/>
              <a:t>例</a:t>
            </a:r>
            <a:r>
              <a:rPr lang="en-US" altLang="zh-CN" dirty="0"/>
              <a:t>6(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p:sp>
        <p:nvSpPr>
          <p:cNvPr id="320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4816" y="1067594"/>
            <a:ext cx="7697982" cy="1538644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由全期望公式：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E(Y)</a:t>
            </a:r>
            <a:r>
              <a:rPr lang="zh-CN" altLang="en-US" dirty="0"/>
              <a:t>＝</a:t>
            </a:r>
            <a:r>
              <a:rPr lang="en-US" altLang="zh-CN" dirty="0"/>
              <a:t>E[E(Y|N)]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而</a:t>
            </a:r>
          </a:p>
        </p:txBody>
      </p:sp>
      <p:sp>
        <p:nvSpPr>
          <p:cNvPr id="320516" name="Rectangle 4"/>
          <p:cNvSpPr>
            <a:spLocks noChangeArrowheads="1"/>
          </p:cNvSpPr>
          <p:nvPr/>
        </p:nvSpPr>
        <p:spPr bwMode="auto">
          <a:xfrm>
            <a:off x="-34925" y="4116300"/>
            <a:ext cx="8307723" cy="512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533400" indent="-5334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1"/>
              <a:t>	</a:t>
            </a:r>
          </a:p>
        </p:txBody>
      </p:sp>
      <p:graphicFrame>
        <p:nvGraphicFramePr>
          <p:cNvPr id="320519" name="Object 7"/>
          <p:cNvGraphicFramePr>
            <a:graphicFrameLocks noChangeAspect="1"/>
          </p:cNvGraphicFramePr>
          <p:nvPr/>
        </p:nvGraphicFramePr>
        <p:xfrm>
          <a:off x="1279525" y="2493963"/>
          <a:ext cx="6515100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79480" imgH="368280" progId="Equation.DSMT4">
                  <p:embed/>
                </p:oleObj>
              </mc:Choice>
              <mc:Fallback>
                <p:oleObj name="Equation" r:id="rId2" imgW="2679480" imgH="368280" progId="Equation.DSMT4">
                  <p:embed/>
                  <p:pic>
                    <p:nvPicPr>
                      <p:cNvPr id="32051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9525" y="2493963"/>
                        <a:ext cx="6515100" cy="896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0520" name="Rectangle 8"/>
          <p:cNvSpPr>
            <a:spLocks noChangeArrowheads="1"/>
          </p:cNvSpPr>
          <p:nvPr/>
        </p:nvSpPr>
        <p:spPr bwMode="auto">
          <a:xfrm>
            <a:off x="574816" y="3510033"/>
            <a:ext cx="11467976" cy="3324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801" dirty="0"/>
              <a:t>因为</a:t>
            </a:r>
            <a:r>
              <a:rPr lang="en-US" altLang="zh-CN" sz="2801" dirty="0"/>
              <a:t>X</a:t>
            </a:r>
            <a:r>
              <a:rPr lang="en-US" altLang="zh-CN" sz="2801" baseline="-25000" dirty="0"/>
              <a:t>i</a:t>
            </a:r>
            <a:r>
              <a:rPr lang="zh-CN" altLang="en-US" sz="2801" dirty="0"/>
              <a:t>与</a:t>
            </a:r>
            <a:r>
              <a:rPr lang="en-US" altLang="zh-CN" sz="2801" dirty="0"/>
              <a:t>N</a:t>
            </a:r>
            <a:r>
              <a:rPr lang="zh-CN" altLang="en-US" sz="2801" dirty="0"/>
              <a:t>相互独立，且</a:t>
            </a:r>
            <a:r>
              <a:rPr lang="en-US" altLang="zh-CN" sz="2801" dirty="0"/>
              <a:t>E(X</a:t>
            </a:r>
            <a:r>
              <a:rPr lang="en-US" altLang="zh-CN" sz="2801" baseline="-25000" dirty="0"/>
              <a:t>i</a:t>
            </a:r>
            <a:r>
              <a:rPr lang="en-US" altLang="zh-CN" sz="2801" dirty="0"/>
              <a:t>)</a:t>
            </a:r>
            <a:r>
              <a:rPr lang="zh-CN" altLang="en-US" sz="2801" dirty="0"/>
              <a:t>＝ </a:t>
            </a:r>
            <a:r>
              <a:rPr lang="en-US" altLang="zh-CN" sz="2801" dirty="0"/>
              <a:t>E(X)</a:t>
            </a:r>
            <a:r>
              <a:rPr lang="zh-CN" altLang="en-US" sz="2801" dirty="0"/>
              <a:t>，从而</a:t>
            </a:r>
          </a:p>
          <a:p>
            <a:pPr algn="ctr" eaLnBrk="1" hangingPunct="1">
              <a:lnSpc>
                <a:spcPct val="150000"/>
              </a:lnSpc>
              <a:buClrTx/>
              <a:buFontTx/>
              <a:buNone/>
            </a:pPr>
            <a:r>
              <a:rPr lang="en-US" altLang="zh-CN" sz="2801" dirty="0"/>
              <a:t>E(Y|N)</a:t>
            </a:r>
            <a:r>
              <a:rPr lang="zh-CN" altLang="en-US" sz="2801" dirty="0"/>
              <a:t>＝</a:t>
            </a:r>
            <a:r>
              <a:rPr lang="en-US" altLang="zh-CN" sz="2801" dirty="0"/>
              <a:t>NE(X)</a:t>
            </a:r>
          </a:p>
          <a:p>
            <a:pPr algn="ctr" eaLnBrk="1" hangingPunct="1">
              <a:lnSpc>
                <a:spcPct val="150000"/>
              </a:lnSpc>
              <a:buClrTx/>
              <a:buFontTx/>
              <a:buNone/>
            </a:pPr>
            <a:r>
              <a:rPr lang="en-US" altLang="zh-CN" sz="2801" dirty="0"/>
              <a:t>E(Y)</a:t>
            </a:r>
            <a:r>
              <a:rPr lang="zh-CN" altLang="en-US" sz="2801" dirty="0"/>
              <a:t>＝</a:t>
            </a:r>
            <a:r>
              <a:rPr lang="en-US" altLang="zh-CN" sz="2801" dirty="0"/>
              <a:t>E(NE(X))</a:t>
            </a:r>
            <a:r>
              <a:rPr lang="zh-CN" altLang="en-US" sz="2801" dirty="0"/>
              <a:t>＝</a:t>
            </a:r>
            <a:r>
              <a:rPr lang="en-US" altLang="zh-CN" sz="2801" dirty="0"/>
              <a:t>E(N)E(X)</a:t>
            </a:r>
          </a:p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801" dirty="0"/>
              <a:t>由假设，</a:t>
            </a:r>
            <a:r>
              <a:rPr lang="en-US" altLang="zh-CN" sz="2801" dirty="0"/>
              <a:t>E(N)</a:t>
            </a:r>
            <a:r>
              <a:rPr lang="zh-CN" altLang="en-US" sz="2801" dirty="0"/>
              <a:t>＝</a:t>
            </a:r>
            <a:r>
              <a:rPr lang="en-US" altLang="zh-CN" sz="2801" dirty="0"/>
              <a:t>100</a:t>
            </a:r>
            <a:r>
              <a:rPr lang="zh-CN" altLang="en-US" sz="2801" dirty="0"/>
              <a:t>，</a:t>
            </a:r>
            <a:r>
              <a:rPr lang="en-US" altLang="zh-CN" sz="2801" dirty="0"/>
              <a:t>E(X)</a:t>
            </a:r>
            <a:r>
              <a:rPr lang="zh-CN" altLang="en-US" sz="2801" dirty="0"/>
              <a:t>＝</a:t>
            </a:r>
            <a:r>
              <a:rPr lang="en-US" altLang="zh-CN" sz="2801" dirty="0"/>
              <a:t>40</a:t>
            </a:r>
            <a:r>
              <a:rPr lang="zh-CN" altLang="en-US" sz="2801" dirty="0"/>
              <a:t>，故</a:t>
            </a:r>
            <a:r>
              <a:rPr lang="en-US" altLang="zh-CN" sz="2801" dirty="0"/>
              <a:t>E(Y)</a:t>
            </a:r>
            <a:r>
              <a:rPr lang="zh-CN" altLang="en-US" sz="2801" dirty="0"/>
              <a:t>＝</a:t>
            </a:r>
            <a:r>
              <a:rPr lang="en-US" altLang="zh-CN" sz="2801" dirty="0"/>
              <a:t>4000</a:t>
            </a:r>
            <a:r>
              <a:rPr lang="zh-CN" altLang="en-US" sz="2801" dirty="0"/>
              <a:t>。由此得，顾客们花费在该商店的钱的数学期望值为</a:t>
            </a:r>
            <a:r>
              <a:rPr lang="en-US" altLang="zh-CN" sz="2801" dirty="0"/>
              <a:t>4000</a:t>
            </a:r>
            <a:r>
              <a:rPr lang="zh-CN" altLang="en-US" sz="2801" dirty="0"/>
              <a:t>元。</a:t>
            </a:r>
          </a:p>
        </p:txBody>
      </p:sp>
    </p:spTree>
    <p:extLst>
      <p:ext uri="{BB962C8B-B14F-4D97-AF65-F5344CB8AC3E}">
        <p14:creationId xmlns:p14="http://schemas.microsoft.com/office/powerpoint/2010/main" val="3499649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0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0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0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0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0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0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20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05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20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0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0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205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515" grpId="0" build="p" autoUpdateAnimBg="0" advAuto="0"/>
      <p:bldP spid="320516" grpId="0" autoUpdateAnimBg="0"/>
      <p:bldP spid="320520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五、 特征函数</a:t>
            </a:r>
          </a:p>
        </p:txBody>
      </p:sp>
      <p:sp>
        <p:nvSpPr>
          <p:cNvPr id="405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775" y="1219994"/>
            <a:ext cx="7850417" cy="1282997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随机变量</a:t>
            </a:r>
            <a:r>
              <a:rPr lang="en-US" altLang="zh-CN" dirty="0"/>
              <a:t>X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00FF"/>
                </a:solidFill>
              </a:rPr>
              <a:t>特征函数</a:t>
            </a:r>
            <a:r>
              <a:rPr lang="zh-CN" altLang="en-US" dirty="0"/>
              <a:t>定义为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ym typeface="Symbol" panose="05050102010706020507" pitchFamily="18" charset="2"/>
              </a:rPr>
              <a:t>			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</a:t>
            </a:r>
            <a:r>
              <a:rPr lang="en-US" altLang="zh-CN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(u)=E(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e</a:t>
            </a:r>
            <a:r>
              <a:rPr lang="en-US" altLang="zh-CN" baseline="30000" dirty="0" err="1">
                <a:solidFill>
                  <a:srgbClr val="0000FF"/>
                </a:solidFill>
                <a:sym typeface="Symbol" panose="05050102010706020507" pitchFamily="18" charset="2"/>
              </a:rPr>
              <a:t>iuX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i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＝</a:t>
            </a:r>
          </a:p>
        </p:txBody>
      </p:sp>
      <p:graphicFrame>
        <p:nvGraphicFramePr>
          <p:cNvPr id="405508" name="Object 4"/>
          <p:cNvGraphicFramePr>
            <a:graphicFrameLocks/>
          </p:cNvGraphicFramePr>
          <p:nvPr/>
        </p:nvGraphicFramePr>
        <p:xfrm>
          <a:off x="5766198" y="1895325"/>
          <a:ext cx="738359" cy="4128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47280" imgH="355680" progId="Equation.DSMT4">
                  <p:embed/>
                </p:oleObj>
              </mc:Choice>
              <mc:Fallback>
                <p:oleObj name="Equation" r:id="rId2" imgW="647280" imgH="355680" progId="Equation.DSMT4">
                  <p:embed/>
                  <p:pic>
                    <p:nvPicPr>
                      <p:cNvPr id="405508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6198" y="1895325"/>
                        <a:ext cx="738359" cy="4128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5509" name="Rectangle 5"/>
          <p:cNvSpPr>
            <a:spLocks noChangeArrowheads="1"/>
          </p:cNvSpPr>
          <p:nvPr/>
        </p:nvSpPr>
        <p:spPr bwMode="auto">
          <a:xfrm>
            <a:off x="612775" y="2717353"/>
            <a:ext cx="55226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/>
              <a:t>当</a:t>
            </a:r>
            <a:r>
              <a:rPr lang="en-US" altLang="zh-CN" sz="2400"/>
              <a:t>R.V.X</a:t>
            </a:r>
            <a:r>
              <a:rPr lang="zh-CN" altLang="en-US" sz="2400"/>
              <a:t>为离散型随机变量时，</a:t>
            </a:r>
          </a:p>
        </p:txBody>
      </p:sp>
      <p:graphicFrame>
        <p:nvGraphicFramePr>
          <p:cNvPr id="405510" name="Object 6"/>
          <p:cNvGraphicFramePr>
            <a:graphicFrameLocks noChangeAspect="1"/>
          </p:cNvGraphicFramePr>
          <p:nvPr/>
        </p:nvGraphicFramePr>
        <p:xfrm>
          <a:off x="2518216" y="3323919"/>
          <a:ext cx="2743835" cy="994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23080" imgH="800280" progId="Equation.3">
                  <p:embed/>
                </p:oleObj>
              </mc:Choice>
              <mc:Fallback>
                <p:oleObj name="Equation" r:id="rId4" imgW="2323080" imgH="800280" progId="Equation.3">
                  <p:embed/>
                  <p:pic>
                    <p:nvPicPr>
                      <p:cNvPr id="40551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8216" y="3323919"/>
                        <a:ext cx="2743835" cy="9940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5511" name="Rectangle 7"/>
          <p:cNvSpPr>
            <a:spLocks noChangeArrowheads="1"/>
          </p:cNvSpPr>
          <p:nvPr/>
        </p:nvSpPr>
        <p:spPr bwMode="auto">
          <a:xfrm>
            <a:off x="612775" y="4360796"/>
            <a:ext cx="55226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/>
              <a:t>当</a:t>
            </a:r>
            <a:r>
              <a:rPr lang="en-US" altLang="zh-CN" sz="2400" dirty="0"/>
              <a:t>R.V.X</a:t>
            </a:r>
            <a:r>
              <a:rPr lang="zh-CN" altLang="en-US" sz="2400" dirty="0"/>
              <a:t>为连续型随机变量时，</a:t>
            </a:r>
          </a:p>
        </p:txBody>
      </p:sp>
      <p:graphicFrame>
        <p:nvGraphicFramePr>
          <p:cNvPr id="405512" name="Object 8"/>
          <p:cNvGraphicFramePr>
            <a:graphicFrameLocks noChangeAspect="1"/>
          </p:cNvGraphicFramePr>
          <p:nvPr/>
        </p:nvGraphicFramePr>
        <p:xfrm>
          <a:off x="2211758" y="5116621"/>
          <a:ext cx="3888687" cy="8812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56240" imgH="584280" progId="Equation.3">
                  <p:embed/>
                </p:oleObj>
              </mc:Choice>
              <mc:Fallback>
                <p:oleObj name="Equation" r:id="rId6" imgW="2856240" imgH="584280" progId="Equation.3">
                  <p:embed/>
                  <p:pic>
                    <p:nvPicPr>
                      <p:cNvPr id="40551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1758" y="5116621"/>
                        <a:ext cx="3888687" cy="8812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670678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5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5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5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5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05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05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5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05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5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05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5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5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07" grpId="0" build="p"/>
      <p:bldP spid="405509" grpId="0" autoUpdateAnimBg="0"/>
      <p:bldP spid="405511" grpId="0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dirty="0"/>
              <a:t>例</a:t>
            </a:r>
            <a:r>
              <a:rPr lang="en-US" altLang="zh-CN" dirty="0"/>
              <a:t>7</a:t>
            </a:r>
            <a:r>
              <a:rPr lang="zh-CN" altLang="en-US" dirty="0"/>
              <a:t> </a:t>
            </a:r>
            <a:r>
              <a:rPr lang="en-US" altLang="zh-CN" dirty="0"/>
              <a:t> </a:t>
            </a:r>
            <a:r>
              <a:rPr lang="zh-CN" altLang="en-US" dirty="0"/>
              <a:t>二项分布 </a:t>
            </a:r>
            <a:r>
              <a:rPr lang="en-US" altLang="zh-CN" dirty="0"/>
              <a:t>X</a:t>
            </a:r>
            <a:r>
              <a:rPr lang="zh-CN" altLang="en-US" dirty="0"/>
              <a:t>～</a:t>
            </a:r>
            <a:r>
              <a:rPr lang="en-US" altLang="zh-CN" dirty="0">
                <a:sym typeface="Symbol" panose="05050102010706020507" pitchFamily="18" charset="2"/>
              </a:rPr>
              <a:t>B(n, p)</a:t>
            </a:r>
          </a:p>
        </p:txBody>
      </p:sp>
      <p:sp>
        <p:nvSpPr>
          <p:cNvPr id="406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4700" y="2340064"/>
            <a:ext cx="2205548" cy="512881"/>
          </a:xfrm>
        </p:spPr>
        <p:txBody>
          <a:bodyPr>
            <a:noAutofit/>
          </a:bodyPr>
          <a:lstStyle/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</a:rPr>
              <a:t>特征函数：</a:t>
            </a:r>
            <a:endParaRPr lang="zh-CN" altLang="en-US" dirty="0">
              <a:solidFill>
                <a:srgbClr val="0000FF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406532" name="Object 4"/>
          <p:cNvGraphicFramePr>
            <a:graphicFrameLocks noChangeAspect="1"/>
          </p:cNvGraphicFramePr>
          <p:nvPr/>
        </p:nvGraphicFramePr>
        <p:xfrm>
          <a:off x="1069975" y="1372394"/>
          <a:ext cx="7393111" cy="633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7000" imgH="228600" progId="Equation.3">
                  <p:embed/>
                </p:oleObj>
              </mc:Choice>
              <mc:Fallback>
                <p:oleObj name="Equation" r:id="rId2" imgW="2667000" imgH="228600" progId="Equation.3">
                  <p:embed/>
                  <p:pic>
                    <p:nvPicPr>
                      <p:cNvPr id="4065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9975" y="1372394"/>
                        <a:ext cx="7393111" cy="633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6533" name="Object 5"/>
          <p:cNvGraphicFramePr>
            <a:graphicFrameLocks noChangeAspect="1"/>
          </p:cNvGraphicFramePr>
          <p:nvPr/>
        </p:nvGraphicFramePr>
        <p:xfrm>
          <a:off x="1528869" y="3138102"/>
          <a:ext cx="2750186" cy="107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04900" imgH="431800" progId="Equation.3">
                  <p:embed/>
                </p:oleObj>
              </mc:Choice>
              <mc:Fallback>
                <p:oleObj name="公式" r:id="rId4" imgW="1104900" imgH="431800" progId="Equation.3">
                  <p:embed/>
                  <p:pic>
                    <p:nvPicPr>
                      <p:cNvPr id="40653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8869" y="3138102"/>
                        <a:ext cx="2750186" cy="107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6534" name="Object 6"/>
          <p:cNvGraphicFramePr>
            <a:graphicFrameLocks noChangeAspect="1"/>
          </p:cNvGraphicFramePr>
          <p:nvPr/>
        </p:nvGraphicFramePr>
        <p:xfrm>
          <a:off x="2502231" y="4286131"/>
          <a:ext cx="3120160" cy="108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244600" imgH="431800" progId="Equation.3">
                  <p:embed/>
                </p:oleObj>
              </mc:Choice>
              <mc:Fallback>
                <p:oleObj name="公式" r:id="rId6" imgW="1244600" imgH="431800" progId="Equation.3">
                  <p:embed/>
                  <p:pic>
                    <p:nvPicPr>
                      <p:cNvPr id="40653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2231" y="4286131"/>
                        <a:ext cx="3120160" cy="108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6535" name="Object 7"/>
          <p:cNvGraphicFramePr>
            <a:graphicFrameLocks noChangeAspect="1"/>
          </p:cNvGraphicFramePr>
          <p:nvPr/>
        </p:nvGraphicFramePr>
        <p:xfrm>
          <a:off x="4285407" y="3138102"/>
          <a:ext cx="2875628" cy="107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155700" imgH="431800" progId="Equation.3">
                  <p:embed/>
                </p:oleObj>
              </mc:Choice>
              <mc:Fallback>
                <p:oleObj name="公式" r:id="rId8" imgW="1155700" imgH="431800" progId="Equation.3">
                  <p:embed/>
                  <p:pic>
                    <p:nvPicPr>
                      <p:cNvPr id="40653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5407" y="3138102"/>
                        <a:ext cx="2875628" cy="107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6536" name="Object 8"/>
          <p:cNvGraphicFramePr>
            <a:graphicFrameLocks noChangeAspect="1"/>
          </p:cNvGraphicFramePr>
          <p:nvPr/>
        </p:nvGraphicFramePr>
        <p:xfrm>
          <a:off x="5587458" y="4508433"/>
          <a:ext cx="2005476" cy="5748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800100" imgH="228600" progId="Equation.3">
                  <p:embed/>
                </p:oleObj>
              </mc:Choice>
              <mc:Fallback>
                <p:oleObj name="公式" r:id="rId10" imgW="800100" imgH="228600" progId="Equation.3">
                  <p:embed/>
                  <p:pic>
                    <p:nvPicPr>
                      <p:cNvPr id="40653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7458" y="4508433"/>
                        <a:ext cx="2005476" cy="5748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32619941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6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6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6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6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6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6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6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6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6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6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6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6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6531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dirty="0"/>
              <a:t>例</a:t>
            </a:r>
            <a:r>
              <a:rPr lang="en-US" altLang="zh-CN" dirty="0"/>
              <a:t>8</a:t>
            </a:r>
            <a:r>
              <a:rPr lang="zh-CN" altLang="en-US" dirty="0"/>
              <a:t> </a:t>
            </a:r>
            <a:r>
              <a:rPr lang="en-US" altLang="zh-CN" dirty="0"/>
              <a:t> </a:t>
            </a:r>
            <a:r>
              <a:rPr lang="zh-CN" altLang="en-US" dirty="0"/>
              <a:t>泊松分布 </a:t>
            </a:r>
            <a:r>
              <a:rPr lang="en-US" altLang="zh-CN" dirty="0"/>
              <a:t>X</a:t>
            </a:r>
            <a:r>
              <a:rPr lang="zh-CN" altLang="en-US" dirty="0"/>
              <a:t>～</a:t>
            </a:r>
            <a:r>
              <a:rPr lang="zh-CN" altLang="en-US" dirty="0">
                <a:sym typeface="Symbol" panose="05050102010706020507" pitchFamily="18" charset="2"/>
              </a:rPr>
              <a:t>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</a:t>
            </a:r>
            <a:r>
              <a:rPr lang="en-US" altLang="zh-CN" dirty="0"/>
              <a:t>)</a:t>
            </a:r>
          </a:p>
        </p:txBody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686" y="2545845"/>
            <a:ext cx="2820053" cy="512881"/>
          </a:xfrm>
        </p:spPr>
        <p:txBody>
          <a:bodyPr>
            <a:no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0000FF"/>
                </a:solidFill>
              </a:rPr>
              <a:t>特征函数：</a:t>
            </a:r>
          </a:p>
        </p:txBody>
      </p:sp>
      <p:graphicFrame>
        <p:nvGraphicFramePr>
          <p:cNvPr id="407556" name="Object 4"/>
          <p:cNvGraphicFramePr>
            <a:graphicFrameLocks noChangeAspect="1"/>
          </p:cNvGraphicFramePr>
          <p:nvPr/>
        </p:nvGraphicFramePr>
        <p:xfrm>
          <a:off x="612686" y="1250947"/>
          <a:ext cx="6935805" cy="1000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08300" imgH="419100" progId="Equation.3">
                  <p:embed/>
                </p:oleObj>
              </mc:Choice>
              <mc:Fallback>
                <p:oleObj name="Equation" r:id="rId2" imgW="2908300" imgH="419100" progId="Equation.3">
                  <p:embed/>
                  <p:pic>
                    <p:nvPicPr>
                      <p:cNvPr id="40755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686" y="1250947"/>
                        <a:ext cx="6935805" cy="10003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7557" name="Object 5"/>
          <p:cNvGraphicFramePr>
            <a:graphicFrameLocks noChangeAspect="1"/>
          </p:cNvGraphicFramePr>
          <p:nvPr/>
        </p:nvGraphicFramePr>
        <p:xfrm>
          <a:off x="788940" y="3315961"/>
          <a:ext cx="2748598" cy="107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04900" imgH="431800" progId="Equation.3">
                  <p:embed/>
                </p:oleObj>
              </mc:Choice>
              <mc:Fallback>
                <p:oleObj name="公式" r:id="rId4" imgW="1104900" imgH="431800" progId="Equation.3">
                  <p:embed/>
                  <p:pic>
                    <p:nvPicPr>
                      <p:cNvPr id="40755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940" y="3315961"/>
                        <a:ext cx="2748598" cy="107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7558" name="Object 6"/>
          <p:cNvGraphicFramePr>
            <a:graphicFrameLocks noChangeAspect="1"/>
          </p:cNvGraphicFramePr>
          <p:nvPr/>
        </p:nvGraphicFramePr>
        <p:xfrm>
          <a:off x="1768654" y="4632304"/>
          <a:ext cx="2546939" cy="1116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015559" imgH="444307" progId="Equation.3">
                  <p:embed/>
                </p:oleObj>
              </mc:Choice>
              <mc:Fallback>
                <p:oleObj name="公式" r:id="rId6" imgW="1015559" imgH="444307" progId="Equation.3">
                  <p:embed/>
                  <p:pic>
                    <p:nvPicPr>
                      <p:cNvPr id="40755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8654" y="4632304"/>
                        <a:ext cx="2546939" cy="11162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7559" name="Object 7"/>
          <p:cNvGraphicFramePr>
            <a:graphicFrameLocks noChangeAspect="1"/>
          </p:cNvGraphicFramePr>
          <p:nvPr/>
        </p:nvGraphicFramePr>
        <p:xfrm>
          <a:off x="3594702" y="3287379"/>
          <a:ext cx="2464370" cy="11067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990170" imgH="444307" progId="Equation.3">
                  <p:embed/>
                </p:oleObj>
              </mc:Choice>
              <mc:Fallback>
                <p:oleObj name="公式" r:id="rId8" imgW="990170" imgH="444307" progId="Equation.3">
                  <p:embed/>
                  <p:pic>
                    <p:nvPicPr>
                      <p:cNvPr id="40755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4702" y="3287379"/>
                        <a:ext cx="2464370" cy="11067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7560" name="Object 8"/>
          <p:cNvGraphicFramePr>
            <a:graphicFrameLocks noChangeAspect="1"/>
          </p:cNvGraphicFramePr>
          <p:nvPr/>
        </p:nvGraphicFramePr>
        <p:xfrm>
          <a:off x="4307655" y="4826024"/>
          <a:ext cx="1464014" cy="5748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83947" imgH="228501" progId="Equation.3">
                  <p:embed/>
                </p:oleObj>
              </mc:Choice>
              <mc:Fallback>
                <p:oleObj name="公式" r:id="rId10" imgW="583947" imgH="228501" progId="Equation.3">
                  <p:embed/>
                  <p:pic>
                    <p:nvPicPr>
                      <p:cNvPr id="40756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7655" y="4826024"/>
                        <a:ext cx="1464014" cy="5748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7561" name="Object 9"/>
          <p:cNvGraphicFramePr>
            <a:graphicFrameLocks noChangeAspect="1"/>
          </p:cNvGraphicFramePr>
          <p:nvPr/>
        </p:nvGraphicFramePr>
        <p:xfrm>
          <a:off x="5779608" y="4826024"/>
          <a:ext cx="1432256" cy="5748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571252" imgH="228501" progId="Equation.3">
                  <p:embed/>
                </p:oleObj>
              </mc:Choice>
              <mc:Fallback>
                <p:oleObj name="公式" r:id="rId12" imgW="571252" imgH="228501" progId="Equation.3">
                  <p:embed/>
                  <p:pic>
                    <p:nvPicPr>
                      <p:cNvPr id="40756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9608" y="4826024"/>
                        <a:ext cx="1432256" cy="5748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6719356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7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7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7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7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7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7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7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7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7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7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7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7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07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07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7555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dirty="0"/>
              <a:t>例</a:t>
            </a:r>
            <a:r>
              <a:rPr lang="en-US" altLang="zh-CN" dirty="0"/>
              <a:t>9 </a:t>
            </a:r>
            <a:r>
              <a:rPr lang="zh-CN" altLang="en-US" dirty="0"/>
              <a:t>指数分布</a:t>
            </a:r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4909" y="2438211"/>
            <a:ext cx="7850417" cy="512882"/>
          </a:xfrm>
        </p:spPr>
        <p:txBody>
          <a:bodyPr>
            <a:no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0000FF"/>
                </a:solidFill>
              </a:rPr>
              <a:t>特征函数：</a:t>
            </a:r>
          </a:p>
        </p:txBody>
      </p:sp>
      <p:graphicFrame>
        <p:nvGraphicFramePr>
          <p:cNvPr id="408580" name="Object 4"/>
          <p:cNvGraphicFramePr>
            <a:graphicFrameLocks noChangeAspect="1"/>
          </p:cNvGraphicFramePr>
          <p:nvPr/>
        </p:nvGraphicFramePr>
        <p:xfrm>
          <a:off x="2231893" y="3090825"/>
          <a:ext cx="3248777" cy="782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371600" imgH="330200" progId="Equation.3">
                  <p:embed/>
                </p:oleObj>
              </mc:Choice>
              <mc:Fallback>
                <p:oleObj name="公式" r:id="rId2" imgW="1371600" imgH="330200" progId="Equation.3">
                  <p:embed/>
                  <p:pic>
                    <p:nvPicPr>
                      <p:cNvPr id="40858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1893" y="3090825"/>
                        <a:ext cx="3248777" cy="7828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581" name="Object 5"/>
          <p:cNvGraphicFramePr>
            <a:graphicFrameLocks noChangeAspect="1"/>
          </p:cNvGraphicFramePr>
          <p:nvPr/>
        </p:nvGraphicFramePr>
        <p:xfrm>
          <a:off x="2223954" y="1294947"/>
          <a:ext cx="4768366" cy="1209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05000" imgH="482600" progId="Equation.3">
                  <p:embed/>
                </p:oleObj>
              </mc:Choice>
              <mc:Fallback>
                <p:oleObj name="Equation" r:id="rId4" imgW="1905000" imgH="482600" progId="Equation.3">
                  <p:embed/>
                  <p:pic>
                    <p:nvPicPr>
                      <p:cNvPr id="40858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3954" y="1294947"/>
                        <a:ext cx="4768366" cy="12099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582" name="Object 6"/>
          <p:cNvGraphicFramePr>
            <a:graphicFrameLocks noChangeAspect="1"/>
          </p:cNvGraphicFramePr>
          <p:nvPr/>
        </p:nvGraphicFramePr>
        <p:xfrm>
          <a:off x="3149681" y="3989558"/>
          <a:ext cx="2526298" cy="782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066800" imgH="330200" progId="Equation.3">
                  <p:embed/>
                </p:oleObj>
              </mc:Choice>
              <mc:Fallback>
                <p:oleObj name="公式" r:id="rId6" imgW="1066800" imgH="330200" progId="Equation.3">
                  <p:embed/>
                  <p:pic>
                    <p:nvPicPr>
                      <p:cNvPr id="40858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681" y="3989558"/>
                        <a:ext cx="2526298" cy="7828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583" name="Object 7"/>
          <p:cNvGraphicFramePr>
            <a:graphicFrameLocks noChangeAspect="1"/>
          </p:cNvGraphicFramePr>
          <p:nvPr/>
        </p:nvGraphicFramePr>
        <p:xfrm>
          <a:off x="3149681" y="4889878"/>
          <a:ext cx="2435789" cy="7828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028700" imgH="330200" progId="Equation.3">
                  <p:embed/>
                </p:oleObj>
              </mc:Choice>
              <mc:Fallback>
                <p:oleObj name="公式" r:id="rId8" imgW="1028700" imgH="330200" progId="Equation.3">
                  <p:embed/>
                  <p:pic>
                    <p:nvPicPr>
                      <p:cNvPr id="40858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681" y="4889878"/>
                        <a:ext cx="2435789" cy="7828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584" name="Object 8"/>
          <p:cNvGraphicFramePr>
            <a:graphicFrameLocks noChangeAspect="1"/>
          </p:cNvGraphicFramePr>
          <p:nvPr/>
        </p:nvGraphicFramePr>
        <p:xfrm>
          <a:off x="3149680" y="5790200"/>
          <a:ext cx="2947082" cy="963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244060" imgH="406224" progId="Equation.3">
                  <p:embed/>
                </p:oleObj>
              </mc:Choice>
              <mc:Fallback>
                <p:oleObj name="公式" r:id="rId10" imgW="1244060" imgH="406224" progId="Equation.3">
                  <p:embed/>
                  <p:pic>
                    <p:nvPicPr>
                      <p:cNvPr id="40858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680" y="5790200"/>
                        <a:ext cx="2947082" cy="9638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17977382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8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8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8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8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8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8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8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8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8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8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8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8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579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dirty="0"/>
              <a:t>例</a:t>
            </a:r>
            <a:r>
              <a:rPr lang="en-US" altLang="zh-CN" dirty="0"/>
              <a:t>10  </a:t>
            </a:r>
            <a:r>
              <a:rPr lang="en-US" altLang="zh-CN" dirty="0">
                <a:sym typeface="Symbol" panose="05050102010706020507" pitchFamily="18" charset="2"/>
              </a:rPr>
              <a:t>k</a:t>
            </a:r>
            <a:r>
              <a:rPr lang="zh-CN" altLang="en-US" dirty="0">
                <a:sym typeface="Symbol" panose="05050102010706020507" pitchFamily="18" charset="2"/>
              </a:rPr>
              <a:t>阶爱尔朗</a:t>
            </a:r>
            <a:r>
              <a:rPr lang="zh-CN" altLang="en-US" dirty="0"/>
              <a:t>分布 </a:t>
            </a:r>
            <a:r>
              <a:rPr lang="en-US" altLang="zh-CN" dirty="0"/>
              <a:t>X</a:t>
            </a:r>
            <a:r>
              <a:rPr lang="zh-CN" altLang="en-US" dirty="0"/>
              <a:t>～</a:t>
            </a:r>
            <a:r>
              <a:rPr lang="en-US" altLang="zh-CN" dirty="0">
                <a:sym typeface="Symbol" panose="05050102010706020507" pitchFamily="18" charset="2"/>
              </a:rPr>
              <a:t>E</a:t>
            </a:r>
            <a:r>
              <a:rPr lang="en-US" altLang="zh-CN" baseline="-25000" dirty="0">
                <a:sym typeface="Symbol" panose="05050102010706020507" pitchFamily="18" charset="2"/>
              </a:rPr>
              <a:t>k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</a:p>
        </p:txBody>
      </p:sp>
      <p:sp>
        <p:nvSpPr>
          <p:cNvPr id="409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4697" y="2776428"/>
            <a:ext cx="6935805" cy="512881"/>
          </a:xfrm>
        </p:spPr>
        <p:txBody>
          <a:bodyPr>
            <a:no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0000FF"/>
                </a:solidFill>
              </a:rPr>
              <a:t>特征函数：</a:t>
            </a:r>
          </a:p>
        </p:txBody>
      </p:sp>
      <p:graphicFrame>
        <p:nvGraphicFramePr>
          <p:cNvPr id="409604" name="Object 4"/>
          <p:cNvGraphicFramePr>
            <a:graphicFrameLocks noChangeAspect="1"/>
          </p:cNvGraphicFramePr>
          <p:nvPr/>
        </p:nvGraphicFramePr>
        <p:xfrm>
          <a:off x="960613" y="3370291"/>
          <a:ext cx="3248777" cy="782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371600" imgH="330200" progId="Equation.3">
                  <p:embed/>
                </p:oleObj>
              </mc:Choice>
              <mc:Fallback>
                <p:oleObj name="公式" r:id="rId2" imgW="1371600" imgH="330200" progId="Equation.3">
                  <p:embed/>
                  <p:pic>
                    <p:nvPicPr>
                      <p:cNvPr id="40960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613" y="3370291"/>
                        <a:ext cx="3248777" cy="7828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05" name="Object 5"/>
          <p:cNvGraphicFramePr>
            <a:graphicFrameLocks noChangeAspect="1"/>
          </p:cNvGraphicFramePr>
          <p:nvPr/>
        </p:nvGraphicFramePr>
        <p:xfrm>
          <a:off x="2051477" y="1155215"/>
          <a:ext cx="4520659" cy="16100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14500" imgH="609600" progId="Equation.3">
                  <p:embed/>
                </p:oleObj>
              </mc:Choice>
              <mc:Fallback>
                <p:oleObj name="Equation" r:id="rId4" imgW="1714500" imgH="609600" progId="Equation.3">
                  <p:embed/>
                  <p:pic>
                    <p:nvPicPr>
                      <p:cNvPr id="40960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477" y="1155215"/>
                        <a:ext cx="4520659" cy="16100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06" name="Object 6"/>
          <p:cNvGraphicFramePr>
            <a:graphicFrameLocks noChangeAspect="1"/>
          </p:cNvGraphicFramePr>
          <p:nvPr/>
        </p:nvGraphicFramePr>
        <p:xfrm>
          <a:off x="4260201" y="3240085"/>
          <a:ext cx="3760070" cy="1052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586811" imgH="444307" progId="Equation.3">
                  <p:embed/>
                </p:oleObj>
              </mc:Choice>
              <mc:Fallback>
                <p:oleObj name="公式" r:id="rId6" imgW="1586811" imgH="444307" progId="Equation.3">
                  <p:embed/>
                  <p:pic>
                    <p:nvPicPr>
                      <p:cNvPr id="40960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0201" y="3240085"/>
                        <a:ext cx="3760070" cy="10527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07" name="Object 7"/>
          <p:cNvGraphicFramePr>
            <a:graphicFrameLocks noChangeAspect="1"/>
          </p:cNvGraphicFramePr>
          <p:nvPr/>
        </p:nvGraphicFramePr>
        <p:xfrm>
          <a:off x="1119399" y="4315071"/>
          <a:ext cx="4091934" cy="10527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726451" imgH="444307" progId="Equation.3">
                  <p:embed/>
                </p:oleObj>
              </mc:Choice>
              <mc:Fallback>
                <p:oleObj name="公式" r:id="rId8" imgW="1726451" imgH="444307" progId="Equation.3">
                  <p:embed/>
                  <p:pic>
                    <p:nvPicPr>
                      <p:cNvPr id="40960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9399" y="4315071"/>
                        <a:ext cx="4091934" cy="10527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08" name="Object 8"/>
          <p:cNvGraphicFramePr>
            <a:graphicFrameLocks noChangeAspect="1"/>
          </p:cNvGraphicFramePr>
          <p:nvPr/>
        </p:nvGraphicFramePr>
        <p:xfrm>
          <a:off x="5149407" y="4305544"/>
          <a:ext cx="3518714" cy="10527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485255" imgH="444307" progId="Equation.3">
                  <p:embed/>
                </p:oleObj>
              </mc:Choice>
              <mc:Fallback>
                <p:oleObj name="公式" r:id="rId10" imgW="1485255" imgH="444307" progId="Equation.3">
                  <p:embed/>
                  <p:pic>
                    <p:nvPicPr>
                      <p:cNvPr id="40960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9407" y="4305544"/>
                        <a:ext cx="3518714" cy="10527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09" name="Object 9"/>
          <p:cNvGraphicFramePr>
            <a:graphicFrameLocks noChangeAspect="1"/>
          </p:cNvGraphicFramePr>
          <p:nvPr/>
        </p:nvGraphicFramePr>
        <p:xfrm>
          <a:off x="1119399" y="5529790"/>
          <a:ext cx="1713309" cy="963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723586" imgH="406224" progId="Equation.3">
                  <p:embed/>
                </p:oleObj>
              </mc:Choice>
              <mc:Fallback>
                <p:oleObj name="公式" r:id="rId12" imgW="723586" imgH="406224" progId="Equation.3">
                  <p:embed/>
                  <p:pic>
                    <p:nvPicPr>
                      <p:cNvPr id="40960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9399" y="5529790"/>
                        <a:ext cx="1713309" cy="9638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84848014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9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9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9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9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9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9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9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09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09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03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特征函数的性质</a:t>
            </a:r>
          </a:p>
        </p:txBody>
      </p:sp>
      <p:sp>
        <p:nvSpPr>
          <p:cNvPr id="410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4909" y="781843"/>
            <a:ext cx="7850417" cy="2114551"/>
          </a:xfrm>
        </p:spPr>
        <p:txBody>
          <a:bodyPr>
            <a:normAutofit/>
          </a:bodyPr>
          <a:lstStyle/>
          <a:p>
            <a:pPr eaLnBrk="1" hangingPunct="1">
              <a:lnSpc>
                <a:spcPct val="170000"/>
              </a:lnSpc>
              <a:buClr>
                <a:srgbClr val="009900"/>
              </a:buClr>
              <a:buFont typeface="+mj-lt"/>
              <a:buAutoNum type="arabicPeriod"/>
            </a:pPr>
            <a:r>
              <a:rPr lang="en-US" altLang="zh-CN" dirty="0">
                <a:sym typeface="Symbol" panose="05050102010706020507" pitchFamily="18" charset="2"/>
              </a:rPr>
              <a:t></a:t>
            </a:r>
            <a:r>
              <a:rPr lang="en-US" altLang="zh-CN" baseline="-25000" dirty="0">
                <a:sym typeface="Symbol" panose="05050102010706020507" pitchFamily="18" charset="2"/>
              </a:rPr>
              <a:t>X</a:t>
            </a:r>
            <a:r>
              <a:rPr lang="en-US" altLang="zh-CN" dirty="0">
                <a:sym typeface="Symbol" panose="05050102010706020507" pitchFamily="18" charset="2"/>
              </a:rPr>
              <a:t>(0)</a:t>
            </a:r>
            <a:r>
              <a:rPr lang="zh-CN" altLang="en-US" dirty="0"/>
              <a:t>＝</a:t>
            </a:r>
            <a:r>
              <a:rPr lang="en-US" altLang="zh-CN" dirty="0"/>
              <a:t>1</a:t>
            </a:r>
            <a:endParaRPr lang="zh-CN" altLang="en-US" dirty="0"/>
          </a:p>
          <a:p>
            <a:pPr eaLnBrk="1" hangingPunct="1">
              <a:lnSpc>
                <a:spcPct val="170000"/>
              </a:lnSpc>
              <a:buClr>
                <a:srgbClr val="009900"/>
              </a:buClr>
              <a:buFont typeface="+mj-lt"/>
              <a:buAutoNum type="arabicPeriod"/>
            </a:pPr>
            <a:r>
              <a:rPr lang="zh-CN" altLang="en-US" dirty="0">
                <a:sym typeface="Symbol" panose="05050102010706020507" pitchFamily="18" charset="2"/>
              </a:rPr>
              <a:t></a:t>
            </a:r>
            <a:r>
              <a:rPr lang="en-US" altLang="zh-CN" baseline="-25000" dirty="0">
                <a:sym typeface="Symbol" panose="05050102010706020507" pitchFamily="18" charset="2"/>
              </a:rPr>
              <a:t>X</a:t>
            </a:r>
            <a:r>
              <a:rPr lang="en-US" altLang="zh-CN" dirty="0">
                <a:sym typeface="Symbol" panose="05050102010706020507" pitchFamily="18" charset="2"/>
              </a:rPr>
              <a:t>(u)</a:t>
            </a:r>
            <a:r>
              <a:rPr lang="en-US" altLang="zh-CN" dirty="0"/>
              <a:t>≤</a:t>
            </a:r>
            <a:r>
              <a:rPr lang="en-US" altLang="zh-CN" dirty="0">
                <a:sym typeface="Symbol" panose="05050102010706020507" pitchFamily="18" charset="2"/>
              </a:rPr>
              <a:t></a:t>
            </a:r>
            <a:r>
              <a:rPr lang="en-US" altLang="zh-CN" baseline="-25000" dirty="0">
                <a:sym typeface="Symbol" panose="05050102010706020507" pitchFamily="18" charset="2"/>
              </a:rPr>
              <a:t>X</a:t>
            </a:r>
            <a:r>
              <a:rPr lang="en-US" altLang="zh-CN" dirty="0">
                <a:sym typeface="Symbol" panose="05050102010706020507" pitchFamily="18" charset="2"/>
              </a:rPr>
              <a:t>(0)</a:t>
            </a:r>
            <a:endParaRPr lang="zh-CN" altLang="en-US" dirty="0">
              <a:sym typeface="Symbol" panose="05050102010706020507" pitchFamily="18" charset="2"/>
            </a:endParaRPr>
          </a:p>
          <a:p>
            <a:pPr eaLnBrk="1" hangingPunct="1">
              <a:lnSpc>
                <a:spcPct val="170000"/>
              </a:lnSpc>
              <a:buClr>
                <a:srgbClr val="009900"/>
              </a:buClr>
              <a:buFont typeface="+mj-lt"/>
              <a:buAutoNum type="arabicPeriod"/>
            </a:pPr>
            <a:r>
              <a:rPr lang="zh-CN" altLang="en-US" dirty="0">
                <a:sym typeface="Symbol" panose="05050102010706020507" pitchFamily="18" charset="2"/>
              </a:rPr>
              <a:t></a:t>
            </a:r>
            <a:r>
              <a:rPr lang="en-US" altLang="zh-CN" baseline="-25000" dirty="0">
                <a:sym typeface="Symbol" panose="05050102010706020507" pitchFamily="18" charset="2"/>
              </a:rPr>
              <a:t>X</a:t>
            </a:r>
            <a:r>
              <a:rPr lang="en-US" altLang="zh-CN" dirty="0">
                <a:sym typeface="Symbol" panose="05050102010706020507" pitchFamily="18" charset="2"/>
              </a:rPr>
              <a:t>(u)</a:t>
            </a:r>
            <a:r>
              <a:rPr lang="zh-CN" altLang="en-US" dirty="0">
                <a:sym typeface="Symbol" panose="05050102010706020507" pitchFamily="18" charset="2"/>
              </a:rPr>
              <a:t>＝</a:t>
            </a:r>
            <a:r>
              <a:rPr lang="en-US" altLang="zh-CN" baseline="-25000" dirty="0">
                <a:sym typeface="Symbol" panose="05050102010706020507" pitchFamily="18" charset="2"/>
              </a:rPr>
              <a:t>X</a:t>
            </a:r>
            <a:r>
              <a:rPr lang="en-US" altLang="zh-CN" dirty="0">
                <a:sym typeface="Symbol" panose="05050102010706020507" pitchFamily="18" charset="2"/>
              </a:rPr>
              <a:t>(-u)</a:t>
            </a:r>
            <a:endParaRPr lang="zh-CN" altLang="en-US" dirty="0">
              <a:sym typeface="Symbol" panose="05050102010706020507" pitchFamily="18" charset="2"/>
            </a:endParaRPr>
          </a:p>
        </p:txBody>
      </p:sp>
      <p:sp>
        <p:nvSpPr>
          <p:cNvPr id="410628" name="Line 4"/>
          <p:cNvSpPr>
            <a:spLocks noChangeShapeType="1"/>
          </p:cNvSpPr>
          <p:nvPr/>
        </p:nvSpPr>
        <p:spPr bwMode="auto">
          <a:xfrm>
            <a:off x="1450975" y="2286794"/>
            <a:ext cx="719303" cy="0"/>
          </a:xfrm>
          <a:prstGeom prst="line">
            <a:avLst/>
          </a:prstGeom>
          <a:noFill/>
          <a:ln w="3175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>
              <a:latin typeface="+mn-ea"/>
            </a:endParaRPr>
          </a:p>
        </p:txBody>
      </p:sp>
      <p:graphicFrame>
        <p:nvGraphicFramePr>
          <p:cNvPr id="410629" name="Object 5"/>
          <p:cNvGraphicFramePr>
            <a:graphicFrameLocks noChangeAspect="1"/>
          </p:cNvGraphicFramePr>
          <p:nvPr/>
        </p:nvGraphicFramePr>
        <p:xfrm>
          <a:off x="2997200" y="4424363"/>
          <a:ext cx="2652713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46040" imgH="380880" progId="Equation.DSMT4">
                  <p:embed/>
                </p:oleObj>
              </mc:Choice>
              <mc:Fallback>
                <p:oleObj name="Equation" r:id="rId3" imgW="1346040" imgH="380880" progId="Equation.DSMT4">
                  <p:embed/>
                  <p:pic>
                    <p:nvPicPr>
                      <p:cNvPr id="41062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7200" y="4424363"/>
                        <a:ext cx="2652713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630" name="Rectangle 6"/>
          <p:cNvSpPr>
            <a:spLocks noChangeArrowheads="1"/>
          </p:cNvSpPr>
          <p:nvPr/>
        </p:nvSpPr>
        <p:spPr bwMode="auto">
          <a:xfrm>
            <a:off x="894909" y="5096393"/>
            <a:ext cx="10465241" cy="1114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8" tIns="36008" rIns="36008" bIns="36008">
            <a:spAutoFit/>
          </a:bodyPr>
          <a:lstStyle>
            <a:lvl1pPr marL="533400" indent="-5334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990600" indent="-53340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AutoNum type="arabicPeriod" startAt="7"/>
            </a:pP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如果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R.V.X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的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k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阶原点矩存在，则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X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的特征函数</a:t>
            </a:r>
            <a:r>
              <a:rPr lang="en-US" altLang="zh-CN" sz="2400" baseline="-25000" dirty="0">
                <a:latin typeface="+mn-ea"/>
                <a:ea typeface="+mn-ea"/>
                <a:sym typeface="Symbol" panose="05050102010706020507" pitchFamily="18" charset="2"/>
              </a:rPr>
              <a:t>X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(u)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有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n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阶导数，且</a:t>
            </a:r>
          </a:p>
          <a:p>
            <a:pPr lvl="1" algn="ctr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E(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X</a:t>
            </a:r>
            <a:r>
              <a:rPr lang="en-US" altLang="zh-CN" sz="2400" baseline="30000" dirty="0" err="1">
                <a:latin typeface="+mn-ea"/>
                <a:ea typeface="+mn-ea"/>
                <a:sym typeface="Symbol" panose="05050102010706020507" pitchFamily="18" charset="2"/>
              </a:rPr>
              <a:t>k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＝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(-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)</a:t>
            </a:r>
            <a:r>
              <a:rPr lang="en-US" altLang="zh-CN" sz="2400" baseline="30000" dirty="0" err="1">
                <a:latin typeface="+mn-ea"/>
                <a:ea typeface="+mn-ea"/>
                <a:sym typeface="Symbol" panose="05050102010706020507" pitchFamily="18" charset="2"/>
              </a:rPr>
              <a:t>k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</a:t>
            </a:r>
            <a:r>
              <a:rPr lang="en-US" altLang="zh-CN" sz="2400" baseline="-25000" dirty="0" err="1">
                <a:latin typeface="+mn-ea"/>
                <a:ea typeface="+mn-ea"/>
                <a:sym typeface="Symbol" panose="05050102010706020507" pitchFamily="18" charset="2"/>
              </a:rPr>
              <a:t>X</a:t>
            </a:r>
            <a:r>
              <a:rPr lang="en-US" altLang="zh-CN" sz="2400" baseline="30000" dirty="0">
                <a:latin typeface="+mn-ea"/>
                <a:ea typeface="+mn-ea"/>
                <a:sym typeface="Symbol" panose="05050102010706020507" pitchFamily="18" charset="2"/>
              </a:rPr>
              <a:t>(k)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(0)</a:t>
            </a:r>
          </a:p>
        </p:txBody>
      </p:sp>
      <p:sp>
        <p:nvSpPr>
          <p:cNvPr id="410631" name="Rectangle 7"/>
          <p:cNvSpPr>
            <a:spLocks noChangeArrowheads="1"/>
          </p:cNvSpPr>
          <p:nvPr/>
        </p:nvSpPr>
        <p:spPr bwMode="auto">
          <a:xfrm>
            <a:off x="894909" y="2859088"/>
            <a:ext cx="8938066" cy="1571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8" tIns="36008" rIns="36008" bIns="36008">
            <a:spAutoFit/>
          </a:bodyPr>
          <a:lstStyle>
            <a:lvl1pPr marL="533400" indent="-5334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5000"/>
              </a:lnSpc>
              <a:buFont typeface="Wingdings" panose="05000000000000000000" pitchFamily="2" charset="2"/>
              <a:buAutoNum type="arabicPeriod" startAt="4"/>
            </a:pP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设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Y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＝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aX+b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，则</a:t>
            </a:r>
            <a:r>
              <a:rPr lang="en-US" altLang="zh-CN" sz="2400" baseline="-25000" dirty="0">
                <a:latin typeface="+mn-ea"/>
                <a:ea typeface="+mn-ea"/>
                <a:sym typeface="Symbol" panose="05050102010706020507" pitchFamily="18" charset="2"/>
              </a:rPr>
              <a:t>Y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(u)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＝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e</a:t>
            </a:r>
            <a:r>
              <a:rPr lang="en-US" altLang="zh-CN" sz="2400" baseline="30000" dirty="0" err="1">
                <a:latin typeface="+mn-ea"/>
                <a:ea typeface="+mn-ea"/>
                <a:sym typeface="Symbol" panose="05050102010706020507" pitchFamily="18" charset="2"/>
              </a:rPr>
              <a:t>iub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</a:t>
            </a:r>
            <a:r>
              <a:rPr lang="en-US" altLang="zh-CN" sz="2400" baseline="-25000" dirty="0" err="1">
                <a:latin typeface="+mn-ea"/>
                <a:ea typeface="+mn-ea"/>
                <a:sym typeface="Symbol" panose="05050102010706020507" pitchFamily="18" charset="2"/>
              </a:rPr>
              <a:t>X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(au)</a:t>
            </a:r>
            <a:endParaRPr lang="zh-CN" altLang="en-US" sz="2400" dirty="0">
              <a:latin typeface="+mn-ea"/>
              <a:ea typeface="+mn-ea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AutoNum type="arabicPeriod" startAt="4"/>
            </a:pP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</a:t>
            </a:r>
            <a:r>
              <a:rPr lang="en-US" altLang="zh-CN" sz="2400" baseline="-25000" dirty="0">
                <a:latin typeface="+mn-ea"/>
                <a:ea typeface="+mn-ea"/>
                <a:sym typeface="Symbol" panose="05050102010706020507" pitchFamily="18" charset="2"/>
              </a:rPr>
              <a:t>X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(u)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在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(-, +)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上一致连续</a:t>
            </a:r>
          </a:p>
          <a:p>
            <a:pPr algn="just" eaLnBrk="1" hangingPunct="1">
              <a:lnSpc>
                <a:spcPct val="135000"/>
              </a:lnSpc>
              <a:buFont typeface="Wingdings" panose="05000000000000000000" pitchFamily="2" charset="2"/>
              <a:buAutoNum type="arabicPeriod" startAt="4"/>
            </a:pP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</a:t>
            </a:r>
            <a:r>
              <a:rPr lang="en-US" altLang="zh-CN" sz="2400" baseline="-25000" dirty="0">
                <a:latin typeface="+mn-ea"/>
                <a:ea typeface="+mn-ea"/>
                <a:sym typeface="Symbol" panose="05050102010706020507" pitchFamily="18" charset="2"/>
              </a:rPr>
              <a:t>X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(u)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是非负定函数，即对任意的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u</a:t>
            </a:r>
            <a:r>
              <a:rPr lang="en-US" altLang="zh-CN" sz="2400" baseline="-25000" dirty="0" err="1"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, 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z</a:t>
            </a:r>
            <a:r>
              <a:rPr lang="en-US" altLang="zh-CN" sz="2400" baseline="-25000" dirty="0" err="1"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，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=1, 2, …, n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，有</a:t>
            </a:r>
          </a:p>
        </p:txBody>
      </p:sp>
      <p:graphicFrame>
        <p:nvGraphicFramePr>
          <p:cNvPr id="2" name="Object 6">
            <a:extLst>
              <a:ext uri="{FF2B5EF4-FFF2-40B4-BE49-F238E27FC236}">
                <a16:creationId xmlns:a16="http://schemas.microsoft.com/office/drawing/2014/main" id="{92F78690-F4DD-1515-1FF6-47415E09B3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4375" y="1085791"/>
          <a:ext cx="2743835" cy="994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23080" imgH="800280" progId="Equation.3">
                  <p:embed/>
                </p:oleObj>
              </mc:Choice>
              <mc:Fallback>
                <p:oleObj name="Equation" r:id="rId5" imgW="2323080" imgH="800280" progId="Equation.3">
                  <p:embed/>
                  <p:pic>
                    <p:nvPicPr>
                      <p:cNvPr id="2" name="Object 6">
                        <a:extLst>
                          <a:ext uri="{FF2B5EF4-FFF2-40B4-BE49-F238E27FC236}">
                            <a16:creationId xmlns:a16="http://schemas.microsoft.com/office/drawing/2014/main" id="{92F78690-F4DD-1515-1FF6-47415E09B3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4375" y="1085791"/>
                        <a:ext cx="2743835" cy="9940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EBDD1AD7-DA9F-596E-D085-992A0F3FDB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4045" y="2112442"/>
            <a:ext cx="6526105" cy="553523"/>
          </a:xfrm>
          <a:prstGeom prst="rect">
            <a:avLst/>
          </a:prstGeom>
          <a:solidFill>
            <a:srgbClr val="C00000"/>
          </a:solidFill>
        </p:spPr>
      </p:pic>
    </p:spTree>
    <p:extLst>
      <p:ext uri="{BB962C8B-B14F-4D97-AF65-F5344CB8AC3E}">
        <p14:creationId xmlns:p14="http://schemas.microsoft.com/office/powerpoint/2010/main" val="2073937685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0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0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10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10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10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10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06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06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06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106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06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06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106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10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10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10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10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10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0"/>
                            </p:stCondLst>
                            <p:childTnLst>
                              <p:par>
                                <p:cTn id="5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627" grpId="0" build="p" autoUpdateAnimBg="0" advAuto="0"/>
      <p:bldP spid="410630" grpId="0" build="p" autoUpdateAnimBg="0" advAuto="0"/>
      <p:bldP spid="410631" grpId="0" build="p" autoUpdateAnimBg="0" advAuto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特征函数的性质</a:t>
            </a:r>
          </a:p>
        </p:txBody>
      </p:sp>
      <p:sp>
        <p:nvSpPr>
          <p:cNvPr id="411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917" y="1143794"/>
            <a:ext cx="10978516" cy="1121034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AutoNum type="arabicPeriod" startAt="8"/>
            </a:pP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逆转公式或反演公式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r>
              <a:rPr lang="zh-CN" altLang="en-US" dirty="0">
                <a:sym typeface="Symbol" panose="05050102010706020507" pitchFamily="18" charset="2"/>
              </a:rPr>
              <a:t>设随机变量</a:t>
            </a:r>
            <a:r>
              <a:rPr lang="en-US" altLang="zh-CN" dirty="0">
                <a:sym typeface="Symbol" panose="05050102010706020507" pitchFamily="18" charset="2"/>
              </a:rPr>
              <a:t>X</a:t>
            </a:r>
            <a:r>
              <a:rPr lang="zh-CN" altLang="en-US" dirty="0">
                <a:sym typeface="Symbol" panose="05050102010706020507" pitchFamily="18" charset="2"/>
              </a:rPr>
              <a:t>的分布函数为</a:t>
            </a:r>
            <a:r>
              <a:rPr lang="en-US" altLang="zh-CN" dirty="0">
                <a:sym typeface="Symbol" panose="05050102010706020507" pitchFamily="18" charset="2"/>
              </a:rPr>
              <a:t>F(x)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>
                <a:sym typeface="Symbol" panose="05050102010706020507" pitchFamily="18" charset="2"/>
              </a:rPr>
              <a:t>x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>
                <a:sym typeface="Symbol" panose="05050102010706020507" pitchFamily="18" charset="2"/>
              </a:rPr>
              <a:t>, x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zh-CN" altLang="en-US" dirty="0">
                <a:sym typeface="Symbol" panose="05050102010706020507" pitchFamily="18" charset="2"/>
              </a:rPr>
              <a:t>是</a:t>
            </a:r>
            <a:r>
              <a:rPr lang="en-US" altLang="zh-CN" dirty="0">
                <a:sym typeface="Symbol" panose="05050102010706020507" pitchFamily="18" charset="2"/>
              </a:rPr>
              <a:t>F(x)</a:t>
            </a:r>
            <a:r>
              <a:rPr lang="zh-CN" altLang="en-US" dirty="0">
                <a:sym typeface="Symbol" panose="05050102010706020507" pitchFamily="18" charset="2"/>
              </a:rPr>
              <a:t>任意连续点，有</a:t>
            </a:r>
          </a:p>
        </p:txBody>
      </p:sp>
      <p:graphicFrame>
        <p:nvGraphicFramePr>
          <p:cNvPr id="411652" name="Object 4"/>
          <p:cNvGraphicFramePr>
            <a:graphicFrameLocks noChangeAspect="1"/>
          </p:cNvGraphicFramePr>
          <p:nvPr/>
        </p:nvGraphicFramePr>
        <p:xfrm>
          <a:off x="1346687" y="2336282"/>
          <a:ext cx="6802424" cy="943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22600" imgH="419100" progId="Equation.3">
                  <p:embed/>
                </p:oleObj>
              </mc:Choice>
              <mc:Fallback>
                <p:oleObj name="Equation" r:id="rId2" imgW="3022600" imgH="419100" progId="Equation.3">
                  <p:embed/>
                  <p:pic>
                    <p:nvPicPr>
                      <p:cNvPr id="41165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6687" y="2336282"/>
                        <a:ext cx="6802424" cy="9431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53" name="Rectangle 5"/>
          <p:cNvSpPr>
            <a:spLocks noChangeArrowheads="1"/>
          </p:cNvSpPr>
          <p:nvPr/>
        </p:nvSpPr>
        <p:spPr bwMode="auto">
          <a:xfrm>
            <a:off x="687546" y="3441532"/>
            <a:ext cx="10823258" cy="1032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8" tIns="36008" rIns="36008" bIns="36008">
            <a:spAutoFit/>
          </a:bodyPr>
          <a:lstStyle>
            <a:lvl1pPr marL="533400" indent="-5334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AutoNum type="arabicPeriod" startAt="9"/>
            </a:pP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(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唯一性定理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随机变量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X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的分布函数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F(x)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与特征函数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X(u)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是一一对应且相互唯一确定的。其相互关系如下：</a:t>
            </a:r>
          </a:p>
        </p:txBody>
      </p:sp>
      <p:graphicFrame>
        <p:nvGraphicFramePr>
          <p:cNvPr id="411654" name="Object 6"/>
          <p:cNvGraphicFramePr>
            <a:graphicFrameLocks noChangeAspect="1"/>
          </p:cNvGraphicFramePr>
          <p:nvPr/>
        </p:nvGraphicFramePr>
        <p:xfrm>
          <a:off x="2286704" y="4930857"/>
          <a:ext cx="4115753" cy="1600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28800" imgH="711200" progId="Equation.3">
                  <p:embed/>
                </p:oleObj>
              </mc:Choice>
              <mc:Fallback>
                <p:oleObj name="Equation" r:id="rId4" imgW="1828800" imgH="711200" progId="Equation.3">
                  <p:embed/>
                  <p:pic>
                    <p:nvPicPr>
                      <p:cNvPr id="41165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704" y="4930857"/>
                        <a:ext cx="4115753" cy="16005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66689842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1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1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11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1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11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11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1" grpId="0" build="p"/>
      <p:bldP spid="411653" grpId="0" build="p" autoUpdateAnimBg="0" advAuto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二维随机变量的特征函数</a:t>
            </a:r>
          </a:p>
        </p:txBody>
      </p:sp>
      <p:sp>
        <p:nvSpPr>
          <p:cNvPr id="287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7692" y="1067594"/>
            <a:ext cx="7850417" cy="1292524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二维随机变量</a:t>
            </a:r>
            <a:r>
              <a:rPr lang="en-US" altLang="zh-CN" dirty="0"/>
              <a:t>(X, Y)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C00CC"/>
                </a:solidFill>
              </a:rPr>
              <a:t>特征函数</a:t>
            </a:r>
            <a:r>
              <a:rPr lang="zh-CN" altLang="en-US" dirty="0"/>
              <a:t>定义为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ym typeface="Symbol" panose="05050102010706020507" pitchFamily="18" charset="2"/>
              </a:rPr>
              <a:t>			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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(u, v)=E[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e</a:t>
            </a:r>
            <a:r>
              <a:rPr lang="en-US" altLang="zh-CN" baseline="30000" dirty="0" err="1">
                <a:solidFill>
                  <a:srgbClr val="0000FF"/>
                </a:solidFill>
                <a:sym typeface="Symbol" panose="05050102010706020507" pitchFamily="18" charset="2"/>
              </a:rPr>
              <a:t>i</a:t>
            </a:r>
            <a:r>
              <a:rPr lang="en-US" altLang="zh-CN" baseline="30000" dirty="0">
                <a:solidFill>
                  <a:srgbClr val="0000FF"/>
                </a:solidFill>
                <a:sym typeface="Symbol" panose="05050102010706020507" pitchFamily="18" charset="2"/>
              </a:rPr>
              <a:t>(</a:t>
            </a:r>
            <a:r>
              <a:rPr lang="en-US" altLang="zh-CN" baseline="30000" dirty="0" err="1">
                <a:solidFill>
                  <a:srgbClr val="0000FF"/>
                </a:solidFill>
                <a:sym typeface="Symbol" panose="05050102010706020507" pitchFamily="18" charset="2"/>
              </a:rPr>
              <a:t>uX+vY</a:t>
            </a:r>
            <a:r>
              <a:rPr lang="en-US" altLang="zh-CN" baseline="30000" dirty="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]</a:t>
            </a:r>
            <a:r>
              <a:rPr lang="zh-CN" altLang="en-US" dirty="0"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287748" name="Rectangle 4"/>
          <p:cNvSpPr>
            <a:spLocks noChangeArrowheads="1"/>
          </p:cNvSpPr>
          <p:nvPr/>
        </p:nvSpPr>
        <p:spPr bwMode="auto">
          <a:xfrm>
            <a:off x="587692" y="2374409"/>
            <a:ext cx="6459445" cy="519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801"/>
              <a:t>当</a:t>
            </a:r>
            <a:r>
              <a:rPr lang="en-US" altLang="zh-CN" sz="2801"/>
              <a:t>R.V.(X, Y)</a:t>
            </a:r>
            <a:r>
              <a:rPr lang="zh-CN" altLang="en-US" sz="2801"/>
              <a:t>为离散型随机变量时，</a:t>
            </a:r>
          </a:p>
        </p:txBody>
      </p:sp>
      <p:graphicFrame>
        <p:nvGraphicFramePr>
          <p:cNvPr id="287749" name="Object 5"/>
          <p:cNvGraphicFramePr>
            <a:graphicFrameLocks noChangeAspect="1"/>
          </p:cNvGraphicFramePr>
          <p:nvPr/>
        </p:nvGraphicFramePr>
        <p:xfrm>
          <a:off x="1959609" y="2917460"/>
          <a:ext cx="4287242" cy="1095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39900" imgH="444500" progId="Equation.3">
                  <p:embed/>
                </p:oleObj>
              </mc:Choice>
              <mc:Fallback>
                <p:oleObj name="Equation" r:id="rId2" imgW="1739900" imgH="444500" progId="Equation.3">
                  <p:embed/>
                  <p:pic>
                    <p:nvPicPr>
                      <p:cNvPr id="2877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9609" y="2917460"/>
                        <a:ext cx="4287242" cy="10956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750" name="Rectangle 6"/>
          <p:cNvSpPr>
            <a:spLocks noChangeArrowheads="1"/>
          </p:cNvSpPr>
          <p:nvPr/>
        </p:nvSpPr>
        <p:spPr bwMode="auto">
          <a:xfrm>
            <a:off x="587692" y="4038494"/>
            <a:ext cx="6098999" cy="519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801"/>
              <a:t>当</a:t>
            </a:r>
            <a:r>
              <a:rPr lang="en-US" altLang="zh-CN" sz="2801"/>
              <a:t>R.V.(X, Y)</a:t>
            </a:r>
            <a:r>
              <a:rPr lang="zh-CN" altLang="en-US" sz="2801"/>
              <a:t>为连续型随机变量时，</a:t>
            </a:r>
          </a:p>
        </p:txBody>
      </p:sp>
      <p:graphicFrame>
        <p:nvGraphicFramePr>
          <p:cNvPr id="287751" name="Object 7"/>
          <p:cNvGraphicFramePr>
            <a:graphicFrameLocks noChangeAspect="1"/>
          </p:cNvGraphicFramePr>
          <p:nvPr/>
        </p:nvGraphicFramePr>
        <p:xfrm>
          <a:off x="1240306" y="4581544"/>
          <a:ext cx="5781425" cy="8812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71700" imgH="330200" progId="Equation.3">
                  <p:embed/>
                </p:oleObj>
              </mc:Choice>
              <mc:Fallback>
                <p:oleObj name="Equation" r:id="rId4" imgW="2171700" imgH="330200" progId="Equation.3">
                  <p:embed/>
                  <p:pic>
                    <p:nvPicPr>
                      <p:cNvPr id="28775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0306" y="4581544"/>
                        <a:ext cx="5781425" cy="8812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752" name="Rectangle 8"/>
          <p:cNvSpPr>
            <a:spLocks noChangeArrowheads="1"/>
          </p:cNvSpPr>
          <p:nvPr/>
        </p:nvSpPr>
        <p:spPr bwMode="auto">
          <a:xfrm>
            <a:off x="663909" y="5488217"/>
            <a:ext cx="6859588" cy="1032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801" dirty="0">
                <a:solidFill>
                  <a:srgbClr val="CC00CC"/>
                </a:solidFill>
                <a:sym typeface="Symbol" panose="05050102010706020507" pitchFamily="18" charset="2"/>
              </a:rPr>
              <a:t>定理</a:t>
            </a:r>
            <a:r>
              <a:rPr lang="en-US" altLang="zh-CN" sz="2801" dirty="0">
                <a:solidFill>
                  <a:srgbClr val="CC00CC"/>
                </a:solidFill>
                <a:sym typeface="Symbol" panose="05050102010706020507" pitchFamily="18" charset="2"/>
              </a:rPr>
              <a:t>7</a:t>
            </a:r>
            <a:r>
              <a:rPr lang="zh-CN" altLang="en-US" sz="2801" dirty="0">
                <a:solidFill>
                  <a:srgbClr val="CC00CC"/>
                </a:solidFill>
                <a:sym typeface="Symbol" panose="05050102010706020507" pitchFamily="18" charset="2"/>
              </a:rPr>
              <a:t>：</a:t>
            </a:r>
            <a:r>
              <a:rPr lang="zh-CN" altLang="en-US" sz="2801" dirty="0">
                <a:sym typeface="Symbol" panose="05050102010706020507" pitchFamily="18" charset="2"/>
              </a:rPr>
              <a:t>若</a:t>
            </a:r>
            <a:r>
              <a:rPr lang="en-US" altLang="zh-CN" sz="2801" dirty="0">
                <a:sym typeface="Symbol" panose="05050102010706020507" pitchFamily="18" charset="2"/>
              </a:rPr>
              <a:t>R.V.X</a:t>
            </a:r>
            <a:r>
              <a:rPr lang="zh-CN" altLang="en-US" sz="2801" dirty="0">
                <a:sym typeface="Symbol" panose="05050102010706020507" pitchFamily="18" charset="2"/>
              </a:rPr>
              <a:t>与</a:t>
            </a:r>
            <a:r>
              <a:rPr lang="en-US" altLang="zh-CN" sz="2801" dirty="0">
                <a:sym typeface="Symbol" panose="05050102010706020507" pitchFamily="18" charset="2"/>
              </a:rPr>
              <a:t>Y</a:t>
            </a:r>
            <a:r>
              <a:rPr lang="zh-CN" altLang="en-US" sz="2801" dirty="0">
                <a:sym typeface="Symbol" panose="05050102010706020507" pitchFamily="18" charset="2"/>
              </a:rPr>
              <a:t>相互独立，则</a:t>
            </a:r>
          </a:p>
          <a:p>
            <a:pPr algn="ctr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801" dirty="0">
                <a:sym typeface="Symbol" panose="05050102010706020507" pitchFamily="18" charset="2"/>
              </a:rPr>
              <a:t></a:t>
            </a:r>
            <a:r>
              <a:rPr lang="en-US" altLang="zh-CN" sz="2801" baseline="-25000" dirty="0">
                <a:sym typeface="Symbol" panose="05050102010706020507" pitchFamily="18" charset="2"/>
              </a:rPr>
              <a:t>X+Y</a:t>
            </a:r>
            <a:r>
              <a:rPr lang="en-US" altLang="zh-CN" sz="2801" dirty="0">
                <a:sym typeface="Symbol" panose="05050102010706020507" pitchFamily="18" charset="2"/>
              </a:rPr>
              <a:t>(u)</a:t>
            </a:r>
            <a:r>
              <a:rPr lang="zh-CN" altLang="en-US" sz="2801" dirty="0">
                <a:sym typeface="Symbol" panose="05050102010706020507" pitchFamily="18" charset="2"/>
              </a:rPr>
              <a:t>＝</a:t>
            </a:r>
            <a:r>
              <a:rPr lang="en-US" altLang="zh-CN" sz="2801" baseline="-25000" dirty="0">
                <a:sym typeface="Symbol" panose="05050102010706020507" pitchFamily="18" charset="2"/>
              </a:rPr>
              <a:t>X</a:t>
            </a:r>
            <a:r>
              <a:rPr lang="en-US" altLang="zh-CN" sz="2801" dirty="0">
                <a:sym typeface="Symbol" panose="05050102010706020507" pitchFamily="18" charset="2"/>
              </a:rPr>
              <a:t>(u)</a:t>
            </a:r>
            <a:r>
              <a:rPr lang="en-US" altLang="zh-CN" sz="2801" baseline="-25000" dirty="0">
                <a:sym typeface="Symbol" panose="05050102010706020507" pitchFamily="18" charset="2"/>
              </a:rPr>
              <a:t>Y</a:t>
            </a:r>
            <a:r>
              <a:rPr lang="en-US" altLang="zh-CN" sz="2801" dirty="0">
                <a:sym typeface="Symbol" panose="05050102010706020507" pitchFamily="18" charset="2"/>
              </a:rPr>
              <a:t>(u)</a:t>
            </a:r>
            <a:r>
              <a:rPr lang="zh-CN" altLang="en-US" sz="2801" dirty="0">
                <a:sym typeface="Symbol" panose="05050102010706020507" pitchFamily="18" charset="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612971945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7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7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7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7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7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7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7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7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7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7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87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77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877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877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747" grpId="0" build="p"/>
      <p:bldP spid="287748" grpId="0" autoUpdateAnimBg="0"/>
      <p:bldP spid="287750" grpId="0" autoUpdateAnimBg="0"/>
      <p:bldP spid="287752" grpId="0" autoUpdateAnimBg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dirty="0">
                <a:latin typeface="宋体" panose="02010600030101010101" pitchFamily="2" charset="-122"/>
              </a:rPr>
              <a:t>例</a:t>
            </a:r>
            <a:r>
              <a:rPr lang="en-US" altLang="zh-CN" dirty="0">
                <a:latin typeface="宋体" panose="02010600030101010101" pitchFamily="2" charset="-122"/>
              </a:rPr>
              <a:t>11</a:t>
            </a:r>
            <a:endParaRPr lang="zh-CN" altLang="en-US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322563" name="Rectangle 3">
            <a:extLst>
              <a:ext uri="{FF2B5EF4-FFF2-40B4-BE49-F238E27FC236}">
                <a16:creationId xmlns:a16="http://schemas.microsoft.com/office/drawing/2014/main" id="{5B17EA8A-A27C-4C21-8BDA-BC989537DB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917" y="1372394"/>
            <a:ext cx="10747058" cy="2413559"/>
          </a:xfrm>
        </p:spPr>
        <p:txBody>
          <a:bodyPr/>
          <a:lstStyle/>
          <a:p>
            <a:pPr marL="0" indent="720144">
              <a:buNone/>
              <a:defRPr/>
            </a:pPr>
            <a:r>
              <a:rPr lang="zh-CN" altLang="en-US" dirty="0">
                <a:cs typeface="Times New Roman" panose="02020603050405020304" pitchFamily="18" charset="0"/>
              </a:rPr>
              <a:t>设</a:t>
            </a:r>
            <a:r>
              <a:rPr lang="en-US" altLang="zh-CN" dirty="0"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cs typeface="Times New Roman" panose="02020603050405020304" pitchFamily="18" charset="0"/>
              </a:rPr>
              <a:t>1</a:t>
            </a:r>
            <a:r>
              <a:rPr lang="en-US" altLang="zh-CN" dirty="0">
                <a:cs typeface="Times New Roman" panose="02020603050405020304" pitchFamily="18" charset="0"/>
              </a:rPr>
              <a:t>, X</a:t>
            </a:r>
            <a:r>
              <a:rPr lang="en-US" altLang="zh-CN" baseline="-25000" dirty="0">
                <a:cs typeface="Times New Roman" panose="02020603050405020304" pitchFamily="18" charset="0"/>
              </a:rPr>
              <a:t>2</a:t>
            </a:r>
            <a:r>
              <a:rPr lang="en-US" altLang="zh-CN" dirty="0">
                <a:cs typeface="Times New Roman" panose="02020603050405020304" pitchFamily="18" charset="0"/>
              </a:rPr>
              <a:t>, …, </a:t>
            </a:r>
            <a:r>
              <a:rPr lang="en-US" altLang="zh-CN" dirty="0" err="1">
                <a:cs typeface="Times New Roman" panose="02020603050405020304" pitchFamily="18" charset="0"/>
              </a:rPr>
              <a:t>X</a:t>
            </a:r>
            <a:r>
              <a:rPr lang="en-US" altLang="zh-CN" baseline="-25000" dirty="0" err="1">
                <a:cs typeface="Times New Roman" panose="02020603050405020304" pitchFamily="18" charset="0"/>
              </a:rPr>
              <a:t>n</a:t>
            </a:r>
            <a:r>
              <a:rPr lang="en-US" altLang="zh-CN" dirty="0">
                <a:cs typeface="Times New Roman" panose="02020603050405020304" pitchFamily="18" charset="0"/>
              </a:rPr>
              <a:t>, …</a:t>
            </a:r>
            <a:r>
              <a:rPr lang="zh-CN" altLang="en-US" dirty="0">
                <a:cs typeface="Times New Roman" panose="02020603050405020304" pitchFamily="18" charset="0"/>
              </a:rPr>
              <a:t>是相互独立、服从参数为</a:t>
            </a:r>
            <a:r>
              <a:rPr lang="en-US" altLang="zh-CN" dirty="0">
                <a:cs typeface="Times New Roman" panose="02020603050405020304" pitchFamily="18" charset="0"/>
              </a:rPr>
              <a:t>λ</a:t>
            </a:r>
            <a:r>
              <a:rPr lang="zh-CN" altLang="en-US" dirty="0">
                <a:cs typeface="Times New Roman" panose="02020603050405020304" pitchFamily="18" charset="0"/>
              </a:rPr>
              <a:t>的负指数分布</a:t>
            </a:r>
            <a:r>
              <a:rPr lang="en-US" altLang="zh-CN" dirty="0"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cs typeface="Times New Roman" panose="02020603050405020304" pitchFamily="18" charset="0"/>
              </a:rPr>
              <a:t>则</a:t>
            </a:r>
          </a:p>
          <a:p>
            <a:pPr marL="0" indent="0" algn="ctr">
              <a:buNone/>
              <a:defRPr/>
            </a:pPr>
            <a:r>
              <a:rPr lang="en-US" altLang="zh-CN" dirty="0" err="1">
                <a:cs typeface="Times New Roman" panose="02020603050405020304" pitchFamily="18" charset="0"/>
              </a:rPr>
              <a:t>Y</a:t>
            </a:r>
            <a:r>
              <a:rPr lang="en-US" altLang="zh-CN" baseline="-25000" dirty="0" err="1">
                <a:cs typeface="Times New Roman" panose="02020603050405020304" pitchFamily="18" charset="0"/>
              </a:rPr>
              <a:t>k</a:t>
            </a:r>
            <a:r>
              <a:rPr lang="zh-CN" altLang="en-US" dirty="0">
                <a:cs typeface="Times New Roman" panose="02020603050405020304" pitchFamily="18" charset="0"/>
              </a:rPr>
              <a:t>＝</a:t>
            </a:r>
            <a:r>
              <a:rPr lang="en-US" altLang="zh-CN" dirty="0"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cs typeface="Times New Roman" panose="02020603050405020304" pitchFamily="18" charset="0"/>
              </a:rPr>
              <a:t>1</a:t>
            </a:r>
            <a:r>
              <a:rPr lang="zh-CN" altLang="en-US" dirty="0">
                <a:cs typeface="Times New Roman" panose="02020603050405020304" pitchFamily="18" charset="0"/>
              </a:rPr>
              <a:t>＋</a:t>
            </a:r>
            <a:r>
              <a:rPr lang="en-US" altLang="zh-CN" dirty="0"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cs typeface="Times New Roman" panose="02020603050405020304" pitchFamily="18" charset="0"/>
              </a:rPr>
              <a:t>2</a:t>
            </a:r>
            <a:r>
              <a:rPr lang="zh-CN" altLang="en-US" dirty="0">
                <a:cs typeface="Times New Roman" panose="02020603050405020304" pitchFamily="18" charset="0"/>
              </a:rPr>
              <a:t>＋</a:t>
            </a:r>
            <a:r>
              <a:rPr lang="en-US" altLang="zh-CN" dirty="0">
                <a:cs typeface="Times New Roman" panose="02020603050405020304" pitchFamily="18" charset="0"/>
              </a:rPr>
              <a:t>…</a:t>
            </a:r>
            <a:r>
              <a:rPr lang="zh-CN" altLang="en-US" dirty="0">
                <a:cs typeface="Times New Roman" panose="02020603050405020304" pitchFamily="18" charset="0"/>
              </a:rPr>
              <a:t>＋</a:t>
            </a:r>
            <a:r>
              <a:rPr lang="en-US" altLang="zh-CN" dirty="0" err="1">
                <a:cs typeface="Times New Roman" panose="02020603050405020304" pitchFamily="18" charset="0"/>
              </a:rPr>
              <a:t>X</a:t>
            </a:r>
            <a:r>
              <a:rPr lang="en-US" altLang="zh-CN" baseline="-25000" dirty="0" err="1">
                <a:cs typeface="Times New Roman" panose="02020603050405020304" pitchFamily="18" charset="0"/>
              </a:rPr>
              <a:t>k</a:t>
            </a:r>
            <a:r>
              <a:rPr lang="en-US" altLang="zh-CN" dirty="0">
                <a:cs typeface="Times New Roman" panose="02020603050405020304" pitchFamily="18" charset="0"/>
              </a:rPr>
              <a:t>,	k</a:t>
            </a:r>
            <a:r>
              <a:rPr lang="zh-CN" altLang="en-US" dirty="0">
                <a:cs typeface="Times New Roman" panose="02020603050405020304" pitchFamily="18" charset="0"/>
              </a:rPr>
              <a:t>＝</a:t>
            </a:r>
            <a:r>
              <a:rPr lang="en-US" altLang="zh-CN" dirty="0">
                <a:cs typeface="Times New Roman" panose="02020603050405020304" pitchFamily="18" charset="0"/>
              </a:rPr>
              <a:t>1, 2, …</a:t>
            </a:r>
          </a:p>
          <a:p>
            <a:pPr marL="0" indent="0">
              <a:buNone/>
              <a:defRPr/>
            </a:pPr>
            <a:r>
              <a:rPr lang="zh-CN" altLang="en-US" dirty="0">
                <a:cs typeface="Times New Roman" panose="02020603050405020304" pitchFamily="18" charset="0"/>
              </a:rPr>
              <a:t>服从参数为</a:t>
            </a:r>
            <a:r>
              <a:rPr lang="en-US" altLang="zh-CN" dirty="0">
                <a:cs typeface="Times New Roman" panose="02020603050405020304" pitchFamily="18" charset="0"/>
              </a:rPr>
              <a:t>λ</a:t>
            </a:r>
            <a:r>
              <a:rPr lang="zh-CN" altLang="en-US" dirty="0"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阶爱尔朗</a:t>
            </a:r>
            <a:r>
              <a:rPr lang="zh-CN" altLang="en-US" dirty="0">
                <a:cs typeface="Times New Roman" panose="02020603050405020304" pitchFamily="18" charset="0"/>
              </a:rPr>
              <a:t>分布。</a:t>
            </a:r>
          </a:p>
        </p:txBody>
      </p:sp>
    </p:spTree>
    <p:extLst>
      <p:ext uri="{BB962C8B-B14F-4D97-AF65-F5344CB8AC3E}">
        <p14:creationId xmlns:p14="http://schemas.microsoft.com/office/powerpoint/2010/main" val="300656917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2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2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2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2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2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2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3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证明：</a:t>
            </a:r>
          </a:p>
        </p:txBody>
      </p:sp>
      <p:sp>
        <p:nvSpPr>
          <p:cNvPr id="324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0375" y="1143794"/>
            <a:ext cx="7697982" cy="603390"/>
          </a:xfrm>
        </p:spPr>
        <p:txBody>
          <a:bodyPr>
            <a:normAutofit/>
          </a:bodyPr>
          <a:lstStyle/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/>
              <a:t>	</a:t>
            </a:r>
            <a:r>
              <a:rPr lang="zh-CN" altLang="en-US"/>
              <a:t>因为 </a:t>
            </a:r>
            <a:r>
              <a:rPr lang="en-US" altLang="zh-CN"/>
              <a:t>X</a:t>
            </a:r>
            <a:r>
              <a:rPr lang="en-US" altLang="zh-CN" baseline="-25000">
                <a:sym typeface="Symbol" panose="05050102010706020507" pitchFamily="18" charset="2"/>
              </a:rPr>
              <a:t>i </a:t>
            </a:r>
            <a:r>
              <a:rPr lang="zh-CN" altLang="en-US"/>
              <a:t>（</a:t>
            </a:r>
            <a:r>
              <a:rPr lang="en-US" altLang="zh-CN"/>
              <a:t>i=1, 2, …</a:t>
            </a:r>
            <a:r>
              <a:rPr lang="zh-CN" altLang="en-US"/>
              <a:t>）</a:t>
            </a:r>
            <a:r>
              <a:rPr lang="zh-CN" altLang="en-US">
                <a:sym typeface="Symbol" panose="05050102010706020507" pitchFamily="18" charset="2"/>
              </a:rPr>
              <a:t>的</a:t>
            </a:r>
            <a:r>
              <a:rPr lang="zh-CN" altLang="en-US">
                <a:solidFill>
                  <a:srgbClr val="0000FF"/>
                </a:solidFill>
              </a:rPr>
              <a:t>特征函数为：</a:t>
            </a:r>
            <a:r>
              <a:rPr lang="zh-CN" altLang="en-US"/>
              <a:t> </a:t>
            </a:r>
          </a:p>
        </p:txBody>
      </p:sp>
      <p:graphicFrame>
        <p:nvGraphicFramePr>
          <p:cNvPr id="324612" name="Object 4"/>
          <p:cNvGraphicFramePr>
            <a:graphicFrameLocks noChangeAspect="1"/>
          </p:cNvGraphicFramePr>
          <p:nvPr/>
        </p:nvGraphicFramePr>
        <p:xfrm>
          <a:off x="1603375" y="3813517"/>
          <a:ext cx="5746492" cy="156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425700" imgH="660400" progId="Equation.3">
                  <p:embed/>
                </p:oleObj>
              </mc:Choice>
              <mc:Fallback>
                <p:oleObj name="公式" r:id="rId2" imgW="2425700" imgH="660400" progId="Equation.3">
                  <p:embed/>
                  <p:pic>
                    <p:nvPicPr>
                      <p:cNvPr id="3246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3375" y="3813517"/>
                        <a:ext cx="5746492" cy="1565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4" name="Object 6"/>
          <p:cNvGraphicFramePr>
            <a:graphicFrameLocks noChangeAspect="1"/>
          </p:cNvGraphicFramePr>
          <p:nvPr/>
        </p:nvGraphicFramePr>
        <p:xfrm>
          <a:off x="2945389" y="1807523"/>
          <a:ext cx="2286529" cy="933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965200" imgH="393700" progId="Equation.3">
                  <p:embed/>
                </p:oleObj>
              </mc:Choice>
              <mc:Fallback>
                <p:oleObj name="公式" r:id="rId4" imgW="965200" imgH="393700" progId="Equation.3">
                  <p:embed/>
                  <p:pic>
                    <p:nvPicPr>
                      <p:cNvPr id="32461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5389" y="1807523"/>
                        <a:ext cx="2286529" cy="9336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4615" name="Rectangle 7"/>
          <p:cNvSpPr>
            <a:spLocks noChangeArrowheads="1"/>
          </p:cNvSpPr>
          <p:nvPr/>
        </p:nvSpPr>
        <p:spPr bwMode="auto">
          <a:xfrm>
            <a:off x="841464" y="2722135"/>
            <a:ext cx="7621764" cy="1089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buClrTx/>
              <a:buFontTx/>
              <a:buNone/>
            </a:pPr>
            <a:r>
              <a:rPr lang="zh-CN" altLang="en-US" sz="2400" dirty="0"/>
              <a:t>由于</a:t>
            </a:r>
            <a:r>
              <a:rPr lang="en-US" altLang="zh-CN" sz="2400" dirty="0"/>
              <a:t>X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X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 …, </a:t>
            </a:r>
            <a:r>
              <a:rPr lang="en-US" altLang="zh-CN" sz="2400" dirty="0" err="1"/>
              <a:t>X</a:t>
            </a:r>
            <a:r>
              <a:rPr lang="en-US" altLang="zh-CN" sz="2400" baseline="-25000" dirty="0" err="1"/>
              <a:t>n</a:t>
            </a:r>
            <a:r>
              <a:rPr lang="en-US" altLang="zh-CN" sz="2400" dirty="0"/>
              <a:t>, …</a:t>
            </a:r>
            <a:r>
              <a:rPr lang="zh-CN" altLang="en-US" sz="2400" dirty="0"/>
              <a:t>是相互独立，</a:t>
            </a:r>
          </a:p>
          <a:p>
            <a:pPr eaLnBrk="1" hangingPunct="1">
              <a:lnSpc>
                <a:spcPct val="135000"/>
              </a:lnSpc>
              <a:buClrTx/>
              <a:buFontTx/>
              <a:buNone/>
            </a:pPr>
            <a:r>
              <a:rPr lang="zh-CN" altLang="en-US" sz="2400" dirty="0"/>
              <a:t>故</a:t>
            </a:r>
            <a:r>
              <a:rPr lang="en-US" altLang="zh-CN" sz="2400" dirty="0" err="1"/>
              <a:t>Yk</a:t>
            </a:r>
            <a:r>
              <a:rPr lang="zh-CN" altLang="en-US" sz="2400" dirty="0"/>
              <a:t>＝</a:t>
            </a:r>
            <a:r>
              <a:rPr lang="en-US" altLang="zh-CN" sz="2400" dirty="0"/>
              <a:t>X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＋</a:t>
            </a:r>
            <a:r>
              <a:rPr lang="en-US" altLang="zh-CN" sz="2400" dirty="0"/>
              <a:t>X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＋</a:t>
            </a:r>
            <a:r>
              <a:rPr lang="en-US" altLang="zh-CN" sz="2400" dirty="0"/>
              <a:t>…</a:t>
            </a:r>
            <a:r>
              <a:rPr lang="zh-CN" altLang="en-US" sz="2400" dirty="0"/>
              <a:t>＋</a:t>
            </a:r>
            <a:r>
              <a:rPr lang="en-US" altLang="zh-CN" sz="2400" dirty="0" err="1"/>
              <a:t>X</a:t>
            </a:r>
            <a:r>
              <a:rPr lang="en-US" altLang="zh-CN" sz="2400" baseline="-25000" dirty="0" err="1"/>
              <a:t>k</a:t>
            </a:r>
            <a:r>
              <a:rPr lang="zh-CN" altLang="en-US" sz="2400" dirty="0">
                <a:sym typeface="Symbol" panose="05050102010706020507" pitchFamily="18" charset="2"/>
              </a:rPr>
              <a:t>的</a:t>
            </a:r>
            <a:r>
              <a:rPr lang="zh-CN" altLang="en-US" sz="2400" dirty="0">
                <a:solidFill>
                  <a:srgbClr val="0000FF"/>
                </a:solidFill>
              </a:rPr>
              <a:t>特征函数为：</a:t>
            </a:r>
          </a:p>
        </p:txBody>
      </p:sp>
      <p:sp>
        <p:nvSpPr>
          <p:cNvPr id="324616" name="Rectangle 8"/>
          <p:cNvSpPr>
            <a:spLocks noChangeArrowheads="1"/>
          </p:cNvSpPr>
          <p:nvPr/>
        </p:nvSpPr>
        <p:spPr bwMode="auto">
          <a:xfrm>
            <a:off x="384175" y="5389752"/>
            <a:ext cx="11582399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buClrTx/>
              <a:buFontTx/>
              <a:buNone/>
            </a:pPr>
            <a:r>
              <a:rPr lang="zh-CN" altLang="en-US" sz="2400" dirty="0"/>
              <a:t>这正好是参数为</a:t>
            </a:r>
            <a:r>
              <a:rPr lang="en-US" altLang="zh-CN" sz="2400" dirty="0">
                <a:cs typeface="Times New Roman" panose="02020603050405020304" pitchFamily="18" charset="0"/>
              </a:rPr>
              <a:t>λ</a:t>
            </a:r>
            <a:r>
              <a:rPr lang="zh-CN" altLang="en-US" sz="2400" dirty="0"/>
              <a:t>的</a:t>
            </a:r>
            <a:r>
              <a:rPr lang="en-US" altLang="zh-CN" sz="2400" dirty="0">
                <a:sym typeface="Symbol" panose="05050102010706020507" pitchFamily="18" charset="2"/>
              </a:rPr>
              <a:t>k</a:t>
            </a:r>
            <a:r>
              <a:rPr lang="zh-CN" altLang="en-US" sz="2400" dirty="0">
                <a:sym typeface="Symbol" panose="05050102010706020507" pitchFamily="18" charset="2"/>
              </a:rPr>
              <a:t>阶爱尔朗</a:t>
            </a:r>
            <a:r>
              <a:rPr lang="zh-CN" altLang="en-US" sz="2400" dirty="0"/>
              <a:t>分布的特征函数，故</a:t>
            </a:r>
            <a:r>
              <a:rPr lang="en-US" altLang="zh-CN" sz="2400" dirty="0" err="1"/>
              <a:t>Y</a:t>
            </a:r>
            <a:r>
              <a:rPr lang="en-US" altLang="zh-CN" sz="2400" baseline="-25000" dirty="0" err="1"/>
              <a:t>k</a:t>
            </a:r>
            <a:r>
              <a:rPr lang="zh-CN" altLang="en-US" sz="2400" dirty="0"/>
              <a:t>服从参数为</a:t>
            </a:r>
            <a:r>
              <a:rPr lang="en-US" altLang="zh-CN" sz="2400" dirty="0"/>
              <a:t>λ</a:t>
            </a:r>
            <a:r>
              <a:rPr lang="zh-CN" altLang="en-US" sz="2400" dirty="0"/>
              <a:t>的</a:t>
            </a:r>
            <a:r>
              <a:rPr lang="en-US" altLang="zh-CN" sz="2400" dirty="0">
                <a:sym typeface="Symbol" panose="05050102010706020507" pitchFamily="18" charset="2"/>
              </a:rPr>
              <a:t>k</a:t>
            </a:r>
            <a:r>
              <a:rPr lang="zh-CN" altLang="en-US" sz="2400" dirty="0">
                <a:sym typeface="Symbol" panose="05050102010706020507" pitchFamily="18" charset="2"/>
              </a:rPr>
              <a:t>阶爱尔朗</a:t>
            </a:r>
            <a:r>
              <a:rPr lang="zh-CN" altLang="en-US" sz="2400" dirty="0"/>
              <a:t>分布。</a:t>
            </a:r>
          </a:p>
        </p:txBody>
      </p:sp>
    </p:spTree>
    <p:extLst>
      <p:ext uri="{BB962C8B-B14F-4D97-AF65-F5344CB8AC3E}">
        <p14:creationId xmlns:p14="http://schemas.microsoft.com/office/powerpoint/2010/main" val="3841163874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4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4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4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4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46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46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4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4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11" grpId="0" build="p" autoUpdateAnimBg="0"/>
      <p:bldP spid="324615" grpId="0" autoUpdateAnimBg="0"/>
      <p:bldP spid="324616" grpId="0" autoUpdateAnimBg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362FC-4F11-2102-8638-AD867992F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>
            <a:extLst>
              <a:ext uri="{FF2B5EF4-FFF2-40B4-BE49-F238E27FC236}">
                <a16:creationId xmlns:a16="http://schemas.microsoft.com/office/drawing/2014/main" id="{85C2B704-37BD-D535-655D-ADA67776A7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</a:rPr>
              <a:t>本讲主要内容</a:t>
            </a:r>
          </a:p>
        </p:txBody>
      </p:sp>
      <p:sp>
        <p:nvSpPr>
          <p:cNvPr id="396291" name="Rectangle 3">
            <a:extLst>
              <a:ext uri="{FF2B5EF4-FFF2-40B4-BE49-F238E27FC236}">
                <a16:creationId xmlns:a16="http://schemas.microsoft.com/office/drawing/2014/main" id="{950EBA55-4424-35F8-0B7B-B6B08AC701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9072" y="2468564"/>
            <a:ext cx="7469329" cy="4038600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FF"/>
                </a:solidFill>
              </a:rPr>
              <a:t>随机变量的数字特征</a:t>
            </a:r>
          </a:p>
          <a:p>
            <a:pPr lvl="1" eaLnBrk="1" hangingPunct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</a:rPr>
              <a:t>数学期望</a:t>
            </a:r>
          </a:p>
          <a:p>
            <a:pPr lvl="1" eaLnBrk="1" hangingPunct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</a:rPr>
              <a:t>方差</a:t>
            </a:r>
          </a:p>
          <a:p>
            <a:pPr lvl="1" eaLnBrk="1" hangingPunct="1">
              <a:buClr>
                <a:srgbClr val="FF0000"/>
              </a:buClr>
              <a:buFontTx/>
              <a:buChar char="•"/>
            </a:pPr>
            <a:r>
              <a:rPr lang="en-US" altLang="zh-CN" dirty="0">
                <a:solidFill>
                  <a:srgbClr val="CC00CC"/>
                </a:solidFill>
              </a:rPr>
              <a:t>k</a:t>
            </a:r>
            <a:r>
              <a:rPr lang="zh-CN" altLang="en-US" dirty="0">
                <a:solidFill>
                  <a:srgbClr val="CC00CC"/>
                </a:solidFill>
              </a:rPr>
              <a:t>阶矩</a:t>
            </a:r>
          </a:p>
          <a:p>
            <a:pPr lvl="1" eaLnBrk="1" hangingPunct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</a:rPr>
              <a:t>协方差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FF"/>
                </a:solidFill>
              </a:rPr>
              <a:t>条件数学期望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FF"/>
                </a:solidFill>
              </a:rPr>
              <a:t>随机变量的特征函数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AC4A15B1-23FD-506B-A9ED-5F7AD4D59D85}"/>
              </a:ext>
            </a:extLst>
          </p:cNvPr>
          <p:cNvSpPr txBox="1">
            <a:spLocks noChangeArrowheads="1"/>
          </p:cNvSpPr>
          <p:nvPr/>
        </p:nvSpPr>
        <p:spPr>
          <a:xfrm>
            <a:off x="399072" y="1173164"/>
            <a:ext cx="7469329" cy="1295400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>
            <a:lvl1pPr marL="457200" indent="-4572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l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»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0000FF"/>
                </a:solidFill>
                <a:latin typeface="黑体" panose="02010609060101010101" pitchFamily="49" charset="-122"/>
              </a:rPr>
              <a:t>n</a:t>
            </a: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</a:rPr>
              <a:t>维随机变量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</a:rPr>
              <a:t>随机变量函数的分布</a:t>
            </a:r>
          </a:p>
        </p:txBody>
      </p:sp>
    </p:spTree>
    <p:extLst>
      <p:ext uri="{BB962C8B-B14F-4D97-AF65-F5344CB8AC3E}">
        <p14:creationId xmlns:p14="http://schemas.microsoft.com/office/powerpoint/2010/main" val="647990343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6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6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6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6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6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6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6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6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96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96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96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96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96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96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6291" grpId="0" build="p"/>
      <p:bldP spid="2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2">
            <a:extLst>
              <a:ext uri="{FF2B5EF4-FFF2-40B4-BE49-F238E27FC236}">
                <a16:creationId xmlns:a16="http://schemas.microsoft.com/office/drawing/2014/main" id="{C42366A7-8B8B-11B6-B172-932897628F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下一讲主要内容</a:t>
            </a:r>
          </a:p>
        </p:txBody>
      </p:sp>
      <p:sp>
        <p:nvSpPr>
          <p:cNvPr id="319491" name="Rectangle 3">
            <a:extLst>
              <a:ext uri="{FF2B5EF4-FFF2-40B4-BE49-F238E27FC236}">
                <a16:creationId xmlns:a16="http://schemas.microsoft.com/office/drawing/2014/main" id="{5654F0C9-5467-BE76-2D88-18A365ED79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4700" y="1052758"/>
            <a:ext cx="9429113" cy="4434913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FF"/>
                </a:solidFill>
              </a:rPr>
              <a:t>随机过程的基本概念</a:t>
            </a:r>
          </a:p>
          <a:p>
            <a:pPr lvl="1" eaLnBrk="1" hangingPunct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  <a:latin typeface="黑体" panose="02010609060101010101" pitchFamily="49" charset="-122"/>
              </a:rPr>
              <a:t>随机过程的定义</a:t>
            </a:r>
          </a:p>
          <a:p>
            <a:pPr lvl="1" eaLnBrk="1" hangingPunct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  <a:latin typeface="黑体" panose="02010609060101010101" pitchFamily="49" charset="-122"/>
              </a:rPr>
              <a:t>随机过程的分布</a:t>
            </a:r>
          </a:p>
          <a:p>
            <a:pPr lvl="1" eaLnBrk="1" hangingPunct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  <a:latin typeface="黑体" panose="02010609060101010101" pitchFamily="49" charset="-122"/>
              </a:rPr>
              <a:t>随机过程的数字特征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FF"/>
                </a:solidFill>
              </a:rPr>
              <a:t>重要随机过程</a:t>
            </a:r>
          </a:p>
          <a:p>
            <a:pPr lvl="1" eaLnBrk="1" hangingPunct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  <a:latin typeface="黑体" panose="02010609060101010101" pitchFamily="49" charset="-122"/>
              </a:rPr>
              <a:t>独立过程</a:t>
            </a:r>
          </a:p>
          <a:p>
            <a:pPr lvl="1" eaLnBrk="1" hangingPunct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  <a:latin typeface="黑体" panose="02010609060101010101" pitchFamily="49" charset="-122"/>
              </a:rPr>
              <a:t>独立增量过程</a:t>
            </a:r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9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9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9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9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9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9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9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9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9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9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9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19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19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19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1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黑体" panose="02010609060101010101" pitchFamily="49" charset="-122"/>
              </a:rPr>
              <a:t>习题一</a:t>
            </a:r>
          </a:p>
        </p:txBody>
      </p:sp>
      <p:pic>
        <p:nvPicPr>
          <p:cNvPr id="61447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1067594"/>
            <a:ext cx="10902911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8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67" y="3658394"/>
            <a:ext cx="1059442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strips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7415d09-e535-4c6e-981a-63523c95b36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aca2235-5681-42fe-8f6b-566794b784c3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8bcd0d0d-30dc-4a8c-b88f-cc4357391ec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de51c4fd-6eb6-42c2-8aad-e9af027ceffc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常用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12144</TotalTime>
  <Words>6662</Words>
  <Application>Microsoft Macintosh PowerPoint</Application>
  <PresentationFormat>自定义</PresentationFormat>
  <Paragraphs>617</Paragraphs>
  <Slides>74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74</vt:i4>
      </vt:variant>
    </vt:vector>
  </HeadingPairs>
  <TitlesOfParts>
    <vt:vector size="88" baseType="lpstr">
      <vt:lpstr>等线</vt:lpstr>
      <vt:lpstr>黑体</vt:lpstr>
      <vt:lpstr>华文行楷</vt:lpstr>
      <vt:lpstr>宋体</vt:lpstr>
      <vt:lpstr>微软雅黑</vt:lpstr>
      <vt:lpstr>Arial Unicode MS</vt:lpstr>
      <vt:lpstr>Arial</vt:lpstr>
      <vt:lpstr>Cambria Math</vt:lpstr>
      <vt:lpstr>Symbol</vt:lpstr>
      <vt:lpstr>Times New Roman</vt:lpstr>
      <vt:lpstr>Wingdings</vt:lpstr>
      <vt:lpstr>Office Theme</vt:lpstr>
      <vt:lpstr>Equation</vt:lpstr>
      <vt:lpstr>公式</vt:lpstr>
      <vt:lpstr>PowerPoint 演示文稿</vt:lpstr>
      <vt:lpstr>上一讲内容回顾</vt:lpstr>
      <vt:lpstr>上一讲内容回顾（续1）</vt:lpstr>
      <vt:lpstr>上一讲内容回顾（续2）</vt:lpstr>
      <vt:lpstr>本讲主要内容</vt:lpstr>
      <vt:lpstr>一、二维随机变量（向量）</vt:lpstr>
      <vt:lpstr>二维联合分布的性质</vt:lpstr>
      <vt:lpstr>离散型二维随机变量</vt:lpstr>
      <vt:lpstr>边缘分布律、条件分布律</vt:lpstr>
      <vt:lpstr>例</vt:lpstr>
      <vt:lpstr>例(续)</vt:lpstr>
      <vt:lpstr>例(续)</vt:lpstr>
      <vt:lpstr>连续型二维随机变量</vt:lpstr>
      <vt:lpstr>联合概率密度的性质</vt:lpstr>
      <vt:lpstr>边缘分布函数</vt:lpstr>
      <vt:lpstr>条件概率密度与条件分布函数</vt:lpstr>
      <vt:lpstr>相互独立</vt:lpstr>
      <vt:lpstr>例</vt:lpstr>
      <vt:lpstr>例（续）</vt:lpstr>
      <vt:lpstr>例（续）</vt:lpstr>
      <vt:lpstr>例 二维正态分布</vt:lpstr>
      <vt:lpstr>二维正态分布的边缘密度</vt:lpstr>
      <vt:lpstr>二维正态分布的独立性</vt:lpstr>
      <vt:lpstr>二、n维随机变量</vt:lpstr>
      <vt:lpstr>三、随机变量函数的分布</vt:lpstr>
      <vt:lpstr>定理1</vt:lpstr>
      <vt:lpstr>定理1续</vt:lpstr>
      <vt:lpstr>定理2</vt:lpstr>
      <vt:lpstr>定理3</vt:lpstr>
      <vt:lpstr>例</vt:lpstr>
      <vt:lpstr>例</vt:lpstr>
      <vt:lpstr>例</vt:lpstr>
      <vt:lpstr>例(续)</vt:lpstr>
      <vt:lpstr>例(续)</vt:lpstr>
      <vt:lpstr>四、随机变量的数字特征</vt:lpstr>
      <vt:lpstr>（一）数学期望</vt:lpstr>
      <vt:lpstr>随机变量函数的数学期望</vt:lpstr>
      <vt:lpstr>随机变量函数的数学期望</vt:lpstr>
      <vt:lpstr>定理</vt:lpstr>
      <vt:lpstr>随机变量函数的数学期望</vt:lpstr>
      <vt:lpstr>定理</vt:lpstr>
      <vt:lpstr>（二）方差</vt:lpstr>
      <vt:lpstr>1. 离散型随机变量的方差</vt:lpstr>
      <vt:lpstr>1. 离散型随机变量的方差</vt:lpstr>
      <vt:lpstr>常见随机变量的数学期望和方差</vt:lpstr>
      <vt:lpstr>（三） k阶矩</vt:lpstr>
      <vt:lpstr>（四）协方差</vt:lpstr>
      <vt:lpstr>协方差矩阵</vt:lpstr>
      <vt:lpstr>协方差矩阵</vt:lpstr>
      <vt:lpstr>（五）随机变量数字特征的性质</vt:lpstr>
      <vt:lpstr>（五）随机变量数字特征的性质</vt:lpstr>
      <vt:lpstr>例5</vt:lpstr>
      <vt:lpstr>例5（续）</vt:lpstr>
      <vt:lpstr>例5（续）</vt:lpstr>
      <vt:lpstr>三、条件数学期望</vt:lpstr>
      <vt:lpstr>三、条件数学期望</vt:lpstr>
      <vt:lpstr>定理</vt:lpstr>
      <vt:lpstr>四、条件方差</vt:lpstr>
      <vt:lpstr>条件数学期望的性质</vt:lpstr>
      <vt:lpstr>例6</vt:lpstr>
      <vt:lpstr>例6(续)</vt:lpstr>
      <vt:lpstr>五、 特征函数</vt:lpstr>
      <vt:lpstr>例7  二项分布 X～B(n, p)</vt:lpstr>
      <vt:lpstr>例8  泊松分布 X～()</vt:lpstr>
      <vt:lpstr>例9 指数分布</vt:lpstr>
      <vt:lpstr>例10  k阶爱尔朗分布 X～Ek </vt:lpstr>
      <vt:lpstr>特征函数的性质</vt:lpstr>
      <vt:lpstr>特征函数的性质</vt:lpstr>
      <vt:lpstr>二维随机变量的特征函数</vt:lpstr>
      <vt:lpstr>例11</vt:lpstr>
      <vt:lpstr>证明：</vt:lpstr>
      <vt:lpstr>本讲主要内容</vt:lpstr>
      <vt:lpstr>下一讲主要内容</vt:lpstr>
      <vt:lpstr>习题一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siri</dc:creator>
  <cp:lastModifiedBy>Qingxian Wang</cp:lastModifiedBy>
  <cp:revision>1259</cp:revision>
  <cp:lastPrinted>2022-01-15T12:13:00Z</cp:lastPrinted>
  <dcterms:created xsi:type="dcterms:W3CDTF">2006-08-16T00:00:00Z</dcterms:created>
  <dcterms:modified xsi:type="dcterms:W3CDTF">2026-09-08T10:49:20Z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E98F3E2A8F6D4B7EBE46F1C3936A5CEF</vt:lpwstr>
  </property>
  <property fmtid="{D5CDD505-2E9C-101B-9397-08002B2CF9AE}" pid="3" name="KSOProductBuildVer">
    <vt:lpwstr>2052-11.1.0.11579</vt:lpwstr>
  </property>
</Properties>
</file>